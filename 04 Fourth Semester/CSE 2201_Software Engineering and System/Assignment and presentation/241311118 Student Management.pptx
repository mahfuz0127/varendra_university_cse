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4" r:id="rId9"/>
    <p:sldId id="262" r:id="rId10"/>
    <p:sldId id="263" r:id="rId11"/>
    <p:sldId id="266" r:id="rId12"/>
  </p:sldIdLst>
  <p:sldSz cx="18288000" cy="10287000"/>
  <p:notesSz cx="6858000" cy="9144000"/>
  <p:embeddedFontLst>
    <p:embeddedFont>
      <p:font typeface="Poppins" panose="00000500000000000000" pitchFamily="2" charset="0"/>
      <p:regular r:id="rId13"/>
      <p:bold r:id="rId14"/>
      <p:italic r:id="rId15"/>
      <p:boldItalic r:id="rId16"/>
    </p:embeddedFont>
    <p:embeddedFont>
      <p:font typeface="Poppins Bold" panose="00000800000000000000" charset="0"/>
      <p:regular r:id="rId17"/>
    </p:embeddedFont>
    <p:embeddedFont>
      <p:font typeface="Shrikhan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3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7" Type="http://schemas.openxmlformats.org/officeDocument/2006/relationships/image" Target="../media/image7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19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10200" y="5142552"/>
            <a:ext cx="11963399" cy="1709155"/>
            <a:chOff x="0" y="0"/>
            <a:chExt cx="2665729" cy="49479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65729" cy="494794"/>
            </a:xfrm>
            <a:custGeom>
              <a:avLst/>
              <a:gdLst/>
              <a:ahLst/>
              <a:cxnLst/>
              <a:rect l="l" t="t" r="r" b="b"/>
              <a:pathLst>
                <a:path w="2665729" h="494794">
                  <a:moveTo>
                    <a:pt x="2462529" y="0"/>
                  </a:moveTo>
                  <a:lnTo>
                    <a:pt x="0" y="0"/>
                  </a:lnTo>
                  <a:lnTo>
                    <a:pt x="203200" y="494794"/>
                  </a:lnTo>
                  <a:lnTo>
                    <a:pt x="2665729" y="494794"/>
                  </a:lnTo>
                  <a:lnTo>
                    <a:pt x="2462529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2462529" cy="5328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-1095210" y="-304746"/>
            <a:ext cx="8641789" cy="10380528"/>
          </a:xfrm>
          <a:custGeom>
            <a:avLst/>
            <a:gdLst/>
            <a:ahLst/>
            <a:cxnLst/>
            <a:rect l="l" t="t" r="r" b="b"/>
            <a:pathLst>
              <a:path w="8641789" h="10380528">
                <a:moveTo>
                  <a:pt x="8641790" y="0"/>
                </a:moveTo>
                <a:lnTo>
                  <a:pt x="0" y="0"/>
                </a:lnTo>
                <a:lnTo>
                  <a:pt x="0" y="10380528"/>
                </a:lnTo>
                <a:lnTo>
                  <a:pt x="8641790" y="10380528"/>
                </a:lnTo>
                <a:lnTo>
                  <a:pt x="864179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1632100" y="8345423"/>
            <a:ext cx="6932693" cy="3249700"/>
          </a:xfrm>
          <a:custGeom>
            <a:avLst/>
            <a:gdLst/>
            <a:ahLst/>
            <a:cxnLst/>
            <a:rect l="l" t="t" r="r" b="b"/>
            <a:pathLst>
              <a:path w="6932693" h="3249700">
                <a:moveTo>
                  <a:pt x="6932693" y="0"/>
                </a:moveTo>
                <a:lnTo>
                  <a:pt x="0" y="0"/>
                </a:lnTo>
                <a:lnTo>
                  <a:pt x="0" y="3249699"/>
                </a:lnTo>
                <a:lnTo>
                  <a:pt x="6932693" y="3249699"/>
                </a:lnTo>
                <a:lnTo>
                  <a:pt x="693269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1095210" y="9197774"/>
            <a:ext cx="14278578" cy="1206630"/>
            <a:chOff x="0" y="0"/>
            <a:chExt cx="4193134" cy="35434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193134" cy="354346"/>
            </a:xfrm>
            <a:custGeom>
              <a:avLst/>
              <a:gdLst/>
              <a:ahLst/>
              <a:cxnLst/>
              <a:rect l="l" t="t" r="r" b="b"/>
              <a:pathLst>
                <a:path w="4193134" h="354346">
                  <a:moveTo>
                    <a:pt x="3989934" y="0"/>
                  </a:moveTo>
                  <a:lnTo>
                    <a:pt x="0" y="0"/>
                  </a:lnTo>
                  <a:lnTo>
                    <a:pt x="203200" y="354346"/>
                  </a:lnTo>
                  <a:lnTo>
                    <a:pt x="4193134" y="354346"/>
                  </a:lnTo>
                  <a:lnTo>
                    <a:pt x="3989934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3989934" cy="392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FFFFFF">
                <a:alpha val="71765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000000">
                      <a:alpha val="71765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01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506988" y="5365010"/>
            <a:ext cx="10895643" cy="13379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238"/>
              </a:lnSpc>
            </a:pPr>
            <a:r>
              <a:rPr lang="en-US" sz="4762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 Modern Android-Based Academic Management System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15833" y="3230565"/>
            <a:ext cx="7736104" cy="1550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06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Varendra Student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9964055" y="-312465"/>
            <a:ext cx="8975062" cy="10911929"/>
          </a:xfrm>
          <a:custGeom>
            <a:avLst/>
            <a:gdLst/>
            <a:ahLst/>
            <a:cxnLst/>
            <a:rect l="l" t="t" r="r" b="b"/>
            <a:pathLst>
              <a:path w="8975062" h="10911929">
                <a:moveTo>
                  <a:pt x="8975062" y="0"/>
                </a:moveTo>
                <a:lnTo>
                  <a:pt x="0" y="0"/>
                </a:lnTo>
                <a:lnTo>
                  <a:pt x="0" y="10911929"/>
                </a:lnTo>
                <a:lnTo>
                  <a:pt x="8975062" y="10911929"/>
                </a:lnTo>
                <a:lnTo>
                  <a:pt x="897506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0828975" y="-486580"/>
            <a:ext cx="3260033" cy="5614389"/>
          </a:xfrm>
          <a:prstGeom prst="line">
            <a:avLst/>
          </a:prstGeom>
          <a:ln w="114300" cap="rnd">
            <a:solidFill>
              <a:srgbClr val="2C426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1277600" y="-505548"/>
            <a:ext cx="3197417" cy="5538089"/>
          </a:xfrm>
          <a:prstGeom prst="line">
            <a:avLst/>
          </a:prstGeom>
          <a:ln w="114300" cap="rnd">
            <a:solidFill>
              <a:srgbClr val="2C426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-886932" y="2147088"/>
            <a:ext cx="9387360" cy="584390"/>
            <a:chOff x="0" y="0"/>
            <a:chExt cx="5404299" cy="33643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404299" cy="336433"/>
            </a:xfrm>
            <a:custGeom>
              <a:avLst/>
              <a:gdLst/>
              <a:ahLst/>
              <a:cxnLst/>
              <a:rect l="l" t="t" r="r" b="b"/>
              <a:pathLst>
                <a:path w="5404299" h="336433">
                  <a:moveTo>
                    <a:pt x="5201099" y="0"/>
                  </a:moveTo>
                  <a:lnTo>
                    <a:pt x="0" y="0"/>
                  </a:lnTo>
                  <a:lnTo>
                    <a:pt x="203200" y="336433"/>
                  </a:lnTo>
                  <a:lnTo>
                    <a:pt x="5404299" y="336433"/>
                  </a:lnTo>
                  <a:lnTo>
                    <a:pt x="5201099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5201099" cy="374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FFFFFF">
                <a:alpha val="67843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000000">
                      <a:alpha val="67843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02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0553" y="2263497"/>
            <a:ext cx="7454727" cy="64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18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endParaRPr lang="en-US" sz="2182" b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E3B6B465-862A-55F4-0E86-D31A3FBEE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106426"/>
            <a:ext cx="107442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Build an easy-to-use, secure Android app for 	Varendra University students, faculty &amp; admins.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courses, attendance, grades, and 	announcements in one centralized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privacy, reliability, and accessibility.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095976" y="1311063"/>
            <a:ext cx="12470266" cy="1065272"/>
            <a:chOff x="0" y="0"/>
            <a:chExt cx="4396630" cy="37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6630" cy="375582"/>
            </a:xfrm>
            <a:custGeom>
              <a:avLst/>
              <a:gdLst/>
              <a:ahLst/>
              <a:cxnLst/>
              <a:rect l="l" t="t" r="r" b="b"/>
              <a:pathLst>
                <a:path w="4396630" h="375582">
                  <a:moveTo>
                    <a:pt x="203200" y="0"/>
                  </a:moveTo>
                  <a:lnTo>
                    <a:pt x="4396630" y="0"/>
                  </a:lnTo>
                  <a:lnTo>
                    <a:pt x="4193430" y="375582"/>
                  </a:lnTo>
                  <a:lnTo>
                    <a:pt x="0" y="3755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193430" cy="413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395524" y="3147190"/>
            <a:ext cx="791422" cy="644020"/>
          </a:xfrm>
          <a:custGeom>
            <a:avLst/>
            <a:gdLst/>
            <a:ahLst/>
            <a:cxnLst/>
            <a:rect l="l" t="t" r="r" b="b"/>
            <a:pathLst>
              <a:path w="791422" h="644020">
                <a:moveTo>
                  <a:pt x="0" y="0"/>
                </a:moveTo>
                <a:lnTo>
                  <a:pt x="791422" y="0"/>
                </a:lnTo>
                <a:lnTo>
                  <a:pt x="791422" y="644020"/>
                </a:lnTo>
                <a:lnTo>
                  <a:pt x="0" y="644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844047" y="-495300"/>
            <a:ext cx="7315200" cy="1524000"/>
          </a:xfrm>
          <a:custGeom>
            <a:avLst/>
            <a:gdLst/>
            <a:ahLst/>
            <a:cxnLst/>
            <a:rect l="l" t="t" r="r" b="b"/>
            <a:pathLst>
              <a:path w="7315200" h="1524000">
                <a:moveTo>
                  <a:pt x="0" y="0"/>
                </a:moveTo>
                <a:lnTo>
                  <a:pt x="7315200" y="0"/>
                </a:lnTo>
                <a:lnTo>
                  <a:pt x="73152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 flipV="1">
            <a:off x="11809963" y="9239529"/>
            <a:ext cx="7315200" cy="1524000"/>
          </a:xfrm>
          <a:custGeom>
            <a:avLst/>
            <a:gdLst/>
            <a:ahLst/>
            <a:cxnLst/>
            <a:rect l="l" t="t" r="r" b="b"/>
            <a:pathLst>
              <a:path w="7315200" h="1524000">
                <a:moveTo>
                  <a:pt x="7315200" y="1524000"/>
                </a:moveTo>
                <a:lnTo>
                  <a:pt x="0" y="1524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15240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06082" y="1390839"/>
            <a:ext cx="11284127" cy="77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User Features (Students)</a:t>
            </a:r>
          </a:p>
        </p:txBody>
      </p:sp>
      <p:sp>
        <p:nvSpPr>
          <p:cNvPr id="12" name="Freeform 12"/>
          <p:cNvSpPr/>
          <p:nvPr/>
        </p:nvSpPr>
        <p:spPr>
          <a:xfrm>
            <a:off x="1575065" y="3284265"/>
            <a:ext cx="394241" cy="369870"/>
          </a:xfrm>
          <a:custGeom>
            <a:avLst/>
            <a:gdLst/>
            <a:ahLst/>
            <a:cxnLst/>
            <a:rect l="l" t="t" r="r" b="b"/>
            <a:pathLst>
              <a:path w="394241" h="369870">
                <a:moveTo>
                  <a:pt x="0" y="0"/>
                </a:moveTo>
                <a:lnTo>
                  <a:pt x="394241" y="0"/>
                </a:lnTo>
                <a:lnTo>
                  <a:pt x="394241" y="369870"/>
                </a:lnTo>
                <a:lnTo>
                  <a:pt x="0" y="369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000000">
                <a:alpha val="56863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FFFFFF">
                      <a:alpha val="56863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03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431619" y="2875360"/>
            <a:ext cx="394241" cy="369870"/>
          </a:xfrm>
          <a:custGeom>
            <a:avLst/>
            <a:gdLst/>
            <a:ahLst/>
            <a:cxnLst/>
            <a:rect l="l" t="t" r="r" b="b"/>
            <a:pathLst>
              <a:path w="394241" h="369870">
                <a:moveTo>
                  <a:pt x="0" y="0"/>
                </a:moveTo>
                <a:lnTo>
                  <a:pt x="394241" y="0"/>
                </a:lnTo>
                <a:lnTo>
                  <a:pt x="394241" y="369870"/>
                </a:lnTo>
                <a:lnTo>
                  <a:pt x="0" y="3698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C2FFF39C-E003-17F3-FC45-2F4FF96BB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6487" y="3060295"/>
            <a:ext cx="1153736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Account creation &amp; secure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View/update profile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Course enrollment &amp; drop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Check grades, transcripts &amp; attendance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Submit assignments, view deadlines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Notifications, calendar sync, messaging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63167" y="3636846"/>
            <a:ext cx="612194" cy="658273"/>
          </a:xfrm>
          <a:custGeom>
            <a:avLst/>
            <a:gdLst/>
            <a:ahLst/>
            <a:cxnLst/>
            <a:rect l="l" t="t" r="r" b="b"/>
            <a:pathLst>
              <a:path w="612194" h="658273">
                <a:moveTo>
                  <a:pt x="0" y="0"/>
                </a:moveTo>
                <a:lnTo>
                  <a:pt x="612194" y="0"/>
                </a:lnTo>
                <a:lnTo>
                  <a:pt x="612194" y="658273"/>
                </a:lnTo>
                <a:lnTo>
                  <a:pt x="0" y="658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830617" y="2137828"/>
            <a:ext cx="12947728" cy="925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50"/>
              </a:lnSpc>
              <a:spcBef>
                <a:spcPct val="0"/>
              </a:spcBef>
            </a:pPr>
            <a:r>
              <a:rPr lang="en-US" sz="65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Faculty Features</a:t>
            </a:r>
          </a:p>
        </p:txBody>
      </p:sp>
      <p:sp>
        <p:nvSpPr>
          <p:cNvPr id="9" name="Freeform 9"/>
          <p:cNvSpPr/>
          <p:nvPr/>
        </p:nvSpPr>
        <p:spPr>
          <a:xfrm flipV="1">
            <a:off x="-957652" y="-109268"/>
            <a:ext cx="6422686" cy="3636846"/>
          </a:xfrm>
          <a:custGeom>
            <a:avLst/>
            <a:gdLst/>
            <a:ahLst/>
            <a:cxnLst/>
            <a:rect l="l" t="t" r="r" b="b"/>
            <a:pathLst>
              <a:path w="6422686" h="3636846">
                <a:moveTo>
                  <a:pt x="0" y="3636846"/>
                </a:moveTo>
                <a:lnTo>
                  <a:pt x="6422686" y="3636846"/>
                </a:lnTo>
                <a:lnTo>
                  <a:pt x="6422686" y="0"/>
                </a:lnTo>
                <a:lnTo>
                  <a:pt x="0" y="0"/>
                </a:lnTo>
                <a:lnTo>
                  <a:pt x="0" y="363684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12663448" y="6990447"/>
            <a:ext cx="6422686" cy="3636846"/>
          </a:xfrm>
          <a:custGeom>
            <a:avLst/>
            <a:gdLst/>
            <a:ahLst/>
            <a:cxnLst/>
            <a:rect l="l" t="t" r="r" b="b"/>
            <a:pathLst>
              <a:path w="6422686" h="3636846">
                <a:moveTo>
                  <a:pt x="6422686" y="0"/>
                </a:moveTo>
                <a:lnTo>
                  <a:pt x="0" y="0"/>
                </a:lnTo>
                <a:lnTo>
                  <a:pt x="0" y="3636846"/>
                </a:lnTo>
                <a:lnTo>
                  <a:pt x="6422686" y="3636846"/>
                </a:lnTo>
                <a:lnTo>
                  <a:pt x="642268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363167" y="6732159"/>
            <a:ext cx="612194" cy="658273"/>
          </a:xfrm>
          <a:custGeom>
            <a:avLst/>
            <a:gdLst/>
            <a:ahLst/>
            <a:cxnLst/>
            <a:rect l="l" t="t" r="r" b="b"/>
            <a:pathLst>
              <a:path w="612194" h="658273">
                <a:moveTo>
                  <a:pt x="0" y="0"/>
                </a:moveTo>
                <a:lnTo>
                  <a:pt x="612194" y="0"/>
                </a:lnTo>
                <a:lnTo>
                  <a:pt x="612194" y="658273"/>
                </a:lnTo>
                <a:lnTo>
                  <a:pt x="0" y="658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EEEFF6">
                <a:alpha val="87843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400">
                  <a:solidFill>
                    <a:srgbClr val="000000">
                      <a:alpha val="87843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04</a:t>
              </a:r>
            </a:p>
          </p:txBody>
        </p:sp>
      </p:grpSp>
      <p:sp>
        <p:nvSpPr>
          <p:cNvPr id="15" name="Rectangle 1">
            <a:extLst>
              <a:ext uri="{FF2B5EF4-FFF2-40B4-BE49-F238E27FC236}">
                <a16:creationId xmlns:a16="http://schemas.microsoft.com/office/drawing/2014/main" id="{CC469CE6-F47D-1EAC-DF66-1C01B9E24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3691" y="3614737"/>
            <a:ext cx="1119880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Instructor login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course materials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Post announcements &amp; assignments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Record student grades &amp; attendance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feedback, message students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performance/attendance reports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070556" y="1949621"/>
            <a:ext cx="14145328" cy="1065272"/>
            <a:chOff x="0" y="0"/>
            <a:chExt cx="4987205" cy="37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987205" cy="375582"/>
            </a:xfrm>
            <a:custGeom>
              <a:avLst/>
              <a:gdLst/>
              <a:ahLst/>
              <a:cxnLst/>
              <a:rect l="l" t="t" r="r" b="b"/>
              <a:pathLst>
                <a:path w="4987205" h="375582">
                  <a:moveTo>
                    <a:pt x="203200" y="0"/>
                  </a:moveTo>
                  <a:lnTo>
                    <a:pt x="4987205" y="0"/>
                  </a:lnTo>
                  <a:lnTo>
                    <a:pt x="4784005" y="375582"/>
                  </a:lnTo>
                  <a:lnTo>
                    <a:pt x="0" y="3755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784005" cy="413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4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0" y="-38379"/>
            <a:ext cx="7315200" cy="1524000"/>
          </a:xfrm>
          <a:custGeom>
            <a:avLst/>
            <a:gdLst/>
            <a:ahLst/>
            <a:cxnLst/>
            <a:rect l="l" t="t" r="r" b="b"/>
            <a:pathLst>
              <a:path w="7315200" h="1524000">
                <a:moveTo>
                  <a:pt x="0" y="0"/>
                </a:moveTo>
                <a:lnTo>
                  <a:pt x="7315200" y="0"/>
                </a:lnTo>
                <a:lnTo>
                  <a:pt x="73152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flipH="1" flipV="1">
            <a:off x="12132441" y="8763000"/>
            <a:ext cx="7315200" cy="1524000"/>
          </a:xfrm>
          <a:custGeom>
            <a:avLst/>
            <a:gdLst/>
            <a:ahLst/>
            <a:cxnLst/>
            <a:rect l="l" t="t" r="r" b="b"/>
            <a:pathLst>
              <a:path w="7315200" h="1524000">
                <a:moveTo>
                  <a:pt x="7315200" y="1524000"/>
                </a:moveTo>
                <a:lnTo>
                  <a:pt x="0" y="15240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15240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4126662" y="7796001"/>
            <a:ext cx="394241" cy="369870"/>
          </a:xfrm>
          <a:custGeom>
            <a:avLst/>
            <a:gdLst/>
            <a:ahLst/>
            <a:cxnLst/>
            <a:rect l="l" t="t" r="r" b="b"/>
            <a:pathLst>
              <a:path w="394241" h="369870">
                <a:moveTo>
                  <a:pt x="0" y="0"/>
                </a:moveTo>
                <a:lnTo>
                  <a:pt x="394241" y="0"/>
                </a:lnTo>
                <a:lnTo>
                  <a:pt x="394241" y="369870"/>
                </a:lnTo>
                <a:lnTo>
                  <a:pt x="0" y="369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673015" y="2183043"/>
            <a:ext cx="14198275" cy="77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Admin Features</a:t>
            </a:r>
          </a:p>
        </p:txBody>
      </p:sp>
      <p:sp>
        <p:nvSpPr>
          <p:cNvPr id="16" name="Freeform 16"/>
          <p:cNvSpPr/>
          <p:nvPr/>
        </p:nvSpPr>
        <p:spPr>
          <a:xfrm>
            <a:off x="2675513" y="4940666"/>
            <a:ext cx="394241" cy="369870"/>
          </a:xfrm>
          <a:custGeom>
            <a:avLst/>
            <a:gdLst/>
            <a:ahLst/>
            <a:cxnLst/>
            <a:rect l="l" t="t" r="r" b="b"/>
            <a:pathLst>
              <a:path w="394241" h="369870">
                <a:moveTo>
                  <a:pt x="0" y="0"/>
                </a:moveTo>
                <a:lnTo>
                  <a:pt x="394241" y="0"/>
                </a:lnTo>
                <a:lnTo>
                  <a:pt x="394241" y="369870"/>
                </a:lnTo>
                <a:lnTo>
                  <a:pt x="0" y="369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000000">
                <a:alpha val="50980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FFFFFF">
                      <a:alpha val="50980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05</a:t>
              </a:r>
            </a:p>
          </p:txBody>
        </p:sp>
      </p:grpSp>
      <p:sp>
        <p:nvSpPr>
          <p:cNvPr id="20" name="Freeform 20"/>
          <p:cNvSpPr/>
          <p:nvPr/>
        </p:nvSpPr>
        <p:spPr>
          <a:xfrm>
            <a:off x="1028700" y="3423783"/>
            <a:ext cx="791422" cy="644020"/>
          </a:xfrm>
          <a:custGeom>
            <a:avLst/>
            <a:gdLst/>
            <a:ahLst/>
            <a:cxnLst/>
            <a:rect l="l" t="t" r="r" b="b"/>
            <a:pathLst>
              <a:path w="791422" h="644020">
                <a:moveTo>
                  <a:pt x="0" y="0"/>
                </a:moveTo>
                <a:lnTo>
                  <a:pt x="791422" y="0"/>
                </a:lnTo>
                <a:lnTo>
                  <a:pt x="791422" y="644020"/>
                </a:lnTo>
                <a:lnTo>
                  <a:pt x="0" y="6440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208241" y="3560858"/>
            <a:ext cx="394241" cy="369870"/>
          </a:xfrm>
          <a:custGeom>
            <a:avLst/>
            <a:gdLst/>
            <a:ahLst/>
            <a:cxnLst/>
            <a:rect l="l" t="t" r="r" b="b"/>
            <a:pathLst>
              <a:path w="394241" h="369870">
                <a:moveTo>
                  <a:pt x="0" y="0"/>
                </a:moveTo>
                <a:lnTo>
                  <a:pt x="394241" y="0"/>
                </a:lnTo>
                <a:lnTo>
                  <a:pt x="394241" y="369870"/>
                </a:lnTo>
                <a:lnTo>
                  <a:pt x="0" y="3698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DA382C63-B85C-E45E-A42F-AD9D1005D8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9663" y="3423783"/>
            <a:ext cx="10972802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Manage users, roles, permissions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course catalog &amp; academic terms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Backup/restore system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 institutional reports (CSV/PDF)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28133" y="224498"/>
            <a:ext cx="12801260" cy="1065272"/>
            <a:chOff x="0" y="0"/>
            <a:chExt cx="4513328" cy="37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13328" cy="375582"/>
            </a:xfrm>
            <a:custGeom>
              <a:avLst/>
              <a:gdLst/>
              <a:ahLst/>
              <a:cxnLst/>
              <a:rect l="l" t="t" r="r" b="b"/>
              <a:pathLst>
                <a:path w="4513328" h="375582">
                  <a:moveTo>
                    <a:pt x="203200" y="0"/>
                  </a:moveTo>
                  <a:lnTo>
                    <a:pt x="4513328" y="0"/>
                  </a:lnTo>
                  <a:lnTo>
                    <a:pt x="4310128" y="375582"/>
                  </a:lnTo>
                  <a:lnTo>
                    <a:pt x="0" y="3755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4310128" cy="413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4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1432125" y="0"/>
            <a:ext cx="8064402" cy="10490279"/>
          </a:xfrm>
          <a:custGeom>
            <a:avLst/>
            <a:gdLst/>
            <a:ahLst/>
            <a:cxnLst/>
            <a:rect l="l" t="t" r="r" b="b"/>
            <a:pathLst>
              <a:path w="8064402" h="10490279">
                <a:moveTo>
                  <a:pt x="8064402" y="0"/>
                </a:moveTo>
                <a:lnTo>
                  <a:pt x="0" y="0"/>
                </a:lnTo>
                <a:lnTo>
                  <a:pt x="0" y="10490279"/>
                </a:lnTo>
                <a:lnTo>
                  <a:pt x="8064402" y="10490279"/>
                </a:lnTo>
                <a:lnTo>
                  <a:pt x="8064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260909" y="143454"/>
            <a:ext cx="1467224" cy="3080785"/>
          </a:xfrm>
          <a:custGeom>
            <a:avLst/>
            <a:gdLst/>
            <a:ahLst/>
            <a:cxnLst/>
            <a:rect l="l" t="t" r="r" b="b"/>
            <a:pathLst>
              <a:path w="1467224" h="3080785">
                <a:moveTo>
                  <a:pt x="0" y="0"/>
                </a:moveTo>
                <a:lnTo>
                  <a:pt x="1467224" y="0"/>
                </a:lnTo>
                <a:lnTo>
                  <a:pt x="1467224" y="3080786"/>
                </a:lnTo>
                <a:lnTo>
                  <a:pt x="0" y="308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6986593" y="0"/>
            <a:ext cx="1349033" cy="1709155"/>
            <a:chOff x="0" y="0"/>
            <a:chExt cx="571381" cy="72391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000000">
                <a:alpha val="50980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FFFFFF">
                      <a:alpha val="50980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06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176155" y="446915"/>
            <a:ext cx="12353238" cy="54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1"/>
              </a:lnSpc>
              <a:spcBef>
                <a:spcPct val="0"/>
              </a:spcBef>
            </a:pPr>
            <a:r>
              <a:rPr lang="en-US" sz="384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Stakeholders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90815A-4F0F-9528-93C9-8014DBEB29F0}"/>
              </a:ext>
            </a:extLst>
          </p:cNvPr>
          <p:cNvSpPr txBox="1"/>
          <p:nvPr/>
        </p:nvSpPr>
        <p:spPr>
          <a:xfrm>
            <a:off x="1219200" y="3619500"/>
            <a:ext cx="974557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(primary users)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Faculty &amp; Instructors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Department Administrators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University IT/System Admin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Parents (limited features)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8E91C-00D6-9733-5248-770BA48F8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4E828A-47CE-11DA-4EF3-DB3764AA6F87}"/>
              </a:ext>
            </a:extLst>
          </p:cNvPr>
          <p:cNvGrpSpPr/>
          <p:nvPr/>
        </p:nvGrpSpPr>
        <p:grpSpPr>
          <a:xfrm>
            <a:off x="3728133" y="224498"/>
            <a:ext cx="12801260" cy="1065272"/>
            <a:chOff x="0" y="0"/>
            <a:chExt cx="4513328" cy="375582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63FA3FA-2413-47CD-BBAB-137A1215A924}"/>
                </a:ext>
              </a:extLst>
            </p:cNvPr>
            <p:cNvSpPr/>
            <p:nvPr/>
          </p:nvSpPr>
          <p:spPr>
            <a:xfrm>
              <a:off x="0" y="0"/>
              <a:ext cx="4513328" cy="375582"/>
            </a:xfrm>
            <a:custGeom>
              <a:avLst/>
              <a:gdLst/>
              <a:ahLst/>
              <a:cxnLst/>
              <a:rect l="l" t="t" r="r" b="b"/>
              <a:pathLst>
                <a:path w="4513328" h="375582">
                  <a:moveTo>
                    <a:pt x="203200" y="0"/>
                  </a:moveTo>
                  <a:lnTo>
                    <a:pt x="4513328" y="0"/>
                  </a:lnTo>
                  <a:lnTo>
                    <a:pt x="4310128" y="375582"/>
                  </a:lnTo>
                  <a:lnTo>
                    <a:pt x="0" y="37558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0AFA967-12C9-DDC0-18EB-627972EF94FF}"/>
                </a:ext>
              </a:extLst>
            </p:cNvPr>
            <p:cNvSpPr txBox="1"/>
            <p:nvPr/>
          </p:nvSpPr>
          <p:spPr>
            <a:xfrm>
              <a:off x="101600" y="-38100"/>
              <a:ext cx="4310128" cy="4136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4"/>
                </a:lnSpc>
              </a:pPr>
              <a:endParaRPr/>
            </a:p>
          </p:txBody>
        </p:sp>
      </p:grpSp>
      <p:sp>
        <p:nvSpPr>
          <p:cNvPr id="5" name="Freeform 5">
            <a:extLst>
              <a:ext uri="{FF2B5EF4-FFF2-40B4-BE49-F238E27FC236}">
                <a16:creationId xmlns:a16="http://schemas.microsoft.com/office/drawing/2014/main" id="{E8E96229-4A33-A56A-ED18-4B94F2354C2A}"/>
              </a:ext>
            </a:extLst>
          </p:cNvPr>
          <p:cNvSpPr/>
          <p:nvPr/>
        </p:nvSpPr>
        <p:spPr>
          <a:xfrm flipH="1">
            <a:off x="11432125" y="0"/>
            <a:ext cx="8064402" cy="10490279"/>
          </a:xfrm>
          <a:custGeom>
            <a:avLst/>
            <a:gdLst/>
            <a:ahLst/>
            <a:cxnLst/>
            <a:rect l="l" t="t" r="r" b="b"/>
            <a:pathLst>
              <a:path w="8064402" h="10490279">
                <a:moveTo>
                  <a:pt x="8064402" y="0"/>
                </a:moveTo>
                <a:lnTo>
                  <a:pt x="0" y="0"/>
                </a:lnTo>
                <a:lnTo>
                  <a:pt x="0" y="10490279"/>
                </a:lnTo>
                <a:lnTo>
                  <a:pt x="8064402" y="10490279"/>
                </a:lnTo>
                <a:lnTo>
                  <a:pt x="806440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690749D-3C20-4250-6ADD-A4E3DD64FE6F}"/>
              </a:ext>
            </a:extLst>
          </p:cNvPr>
          <p:cNvSpPr/>
          <p:nvPr/>
        </p:nvSpPr>
        <p:spPr>
          <a:xfrm>
            <a:off x="2260909" y="143454"/>
            <a:ext cx="1467224" cy="3080785"/>
          </a:xfrm>
          <a:custGeom>
            <a:avLst/>
            <a:gdLst/>
            <a:ahLst/>
            <a:cxnLst/>
            <a:rect l="l" t="t" r="r" b="b"/>
            <a:pathLst>
              <a:path w="1467224" h="3080785">
                <a:moveTo>
                  <a:pt x="0" y="0"/>
                </a:moveTo>
                <a:lnTo>
                  <a:pt x="1467224" y="0"/>
                </a:lnTo>
                <a:lnTo>
                  <a:pt x="1467224" y="3080786"/>
                </a:lnTo>
                <a:lnTo>
                  <a:pt x="0" y="30807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7B24BF08-73E0-0CB9-18FD-291E1AF5EC21}"/>
              </a:ext>
            </a:extLst>
          </p:cNvPr>
          <p:cNvGrpSpPr/>
          <p:nvPr/>
        </p:nvGrpSpPr>
        <p:grpSpPr>
          <a:xfrm>
            <a:off x="16986593" y="0"/>
            <a:ext cx="1349033" cy="1709155"/>
            <a:chOff x="0" y="0"/>
            <a:chExt cx="571381" cy="723910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4A5FE29-D2C3-2BB2-05AD-916A791B4A03}"/>
                </a:ext>
              </a:extLst>
            </p:cNvPr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000000">
                <a:alpha val="50980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2BC156E-4057-0AB2-F165-38B811A968C8}"/>
                </a:ext>
              </a:extLst>
            </p:cNvPr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 dirty="0">
                  <a:solidFill>
                    <a:srgbClr val="FFFFFF">
                      <a:alpha val="50980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07</a:t>
              </a:r>
            </a:p>
          </p:txBody>
        </p:sp>
      </p:grpSp>
      <p:sp>
        <p:nvSpPr>
          <p:cNvPr id="11" name="TextBox 11">
            <a:extLst>
              <a:ext uri="{FF2B5EF4-FFF2-40B4-BE49-F238E27FC236}">
                <a16:creationId xmlns:a16="http://schemas.microsoft.com/office/drawing/2014/main" id="{C76D8150-B6E7-1ED0-E53A-17C23C317A8C}"/>
              </a:ext>
            </a:extLst>
          </p:cNvPr>
          <p:cNvSpPr txBox="1"/>
          <p:nvPr/>
        </p:nvSpPr>
        <p:spPr>
          <a:xfrm>
            <a:off x="4473503" y="432066"/>
            <a:ext cx="12353238" cy="542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1"/>
              </a:lnSpc>
              <a:spcBef>
                <a:spcPct val="0"/>
              </a:spcBef>
            </a:pPr>
            <a:r>
              <a:rPr lang="en-US" sz="3846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Phases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49D3F2C-5E42-D3E8-69D3-4CDF868E72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07735"/>
            <a:ext cx="1242060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Task Initiation – Requirements, feasibility, charter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System Design – UI/UX, database, architecture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Development – Frontend, backend, integrations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Testing – Unit, integration, user acceptance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 Deployment – Hosting, Play Store (optional)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 Maintenance – Updates &amp; support</a:t>
            </a: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035100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4868736" y="5459528"/>
            <a:ext cx="11113512" cy="697158"/>
            <a:chOff x="0" y="0"/>
            <a:chExt cx="3176676" cy="19927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76675" cy="199275"/>
            </a:xfrm>
            <a:custGeom>
              <a:avLst/>
              <a:gdLst/>
              <a:ahLst/>
              <a:cxnLst/>
              <a:rect l="l" t="t" r="r" b="b"/>
              <a:pathLst>
                <a:path w="3176675" h="199275">
                  <a:moveTo>
                    <a:pt x="203200" y="0"/>
                  </a:moveTo>
                  <a:lnTo>
                    <a:pt x="3176675" y="0"/>
                  </a:lnTo>
                  <a:lnTo>
                    <a:pt x="2973475" y="199275"/>
                  </a:lnTo>
                  <a:lnTo>
                    <a:pt x="0" y="19927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01600" y="-28575"/>
              <a:ext cx="2973476" cy="2278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6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5575034" y="6944703"/>
            <a:ext cx="78233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7088191" y="6413861"/>
            <a:ext cx="404307" cy="404307"/>
          </a:xfrm>
          <a:custGeom>
            <a:avLst/>
            <a:gdLst/>
            <a:ahLst/>
            <a:cxnLst/>
            <a:rect l="l" t="t" r="r" b="b"/>
            <a:pathLst>
              <a:path w="404307" h="404307">
                <a:moveTo>
                  <a:pt x="0" y="0"/>
                </a:moveTo>
                <a:lnTo>
                  <a:pt x="404307" y="0"/>
                </a:lnTo>
                <a:lnTo>
                  <a:pt x="404307" y="404307"/>
                </a:lnTo>
                <a:lnTo>
                  <a:pt x="0" y="404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91277" y="5590953"/>
            <a:ext cx="7434453" cy="354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1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Budget Summary</a:t>
            </a:r>
            <a:r>
              <a:rPr lang="en-US" sz="21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Wingdings" panose="05000000000000000000" pitchFamily="2" charset="2"/>
              </a:rPr>
              <a:t>: (in Total: $2,150)</a:t>
            </a:r>
            <a:endParaRPr lang="en-US" sz="2100" b="1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9" name="AutoShape 9"/>
          <p:cNvSpPr/>
          <p:nvPr/>
        </p:nvSpPr>
        <p:spPr>
          <a:xfrm flipV="1">
            <a:off x="5575034" y="7709552"/>
            <a:ext cx="78233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Freeform 10"/>
          <p:cNvSpPr/>
          <p:nvPr/>
        </p:nvSpPr>
        <p:spPr>
          <a:xfrm>
            <a:off x="7088191" y="7178710"/>
            <a:ext cx="404307" cy="404307"/>
          </a:xfrm>
          <a:custGeom>
            <a:avLst/>
            <a:gdLst/>
            <a:ahLst/>
            <a:cxnLst/>
            <a:rect l="l" t="t" r="r" b="b"/>
            <a:pathLst>
              <a:path w="404307" h="404307">
                <a:moveTo>
                  <a:pt x="0" y="0"/>
                </a:moveTo>
                <a:lnTo>
                  <a:pt x="404307" y="0"/>
                </a:lnTo>
                <a:lnTo>
                  <a:pt x="404307" y="404307"/>
                </a:lnTo>
                <a:lnTo>
                  <a:pt x="0" y="404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 flipV="1">
            <a:off x="5575034" y="8474401"/>
            <a:ext cx="78233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7088191" y="7943559"/>
            <a:ext cx="404307" cy="404307"/>
          </a:xfrm>
          <a:custGeom>
            <a:avLst/>
            <a:gdLst/>
            <a:ahLst/>
            <a:cxnLst/>
            <a:rect l="l" t="t" r="r" b="b"/>
            <a:pathLst>
              <a:path w="404307" h="404307">
                <a:moveTo>
                  <a:pt x="0" y="0"/>
                </a:moveTo>
                <a:lnTo>
                  <a:pt x="404307" y="0"/>
                </a:lnTo>
                <a:lnTo>
                  <a:pt x="404307" y="404307"/>
                </a:lnTo>
                <a:lnTo>
                  <a:pt x="0" y="404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 flipV="1">
            <a:off x="5575034" y="9239250"/>
            <a:ext cx="782336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7088191" y="8708407"/>
            <a:ext cx="404307" cy="404307"/>
          </a:xfrm>
          <a:custGeom>
            <a:avLst/>
            <a:gdLst/>
            <a:ahLst/>
            <a:cxnLst/>
            <a:rect l="l" t="t" r="r" b="b"/>
            <a:pathLst>
              <a:path w="404307" h="404307">
                <a:moveTo>
                  <a:pt x="0" y="0"/>
                </a:moveTo>
                <a:lnTo>
                  <a:pt x="404307" y="0"/>
                </a:lnTo>
                <a:lnTo>
                  <a:pt x="404307" y="404308"/>
                </a:lnTo>
                <a:lnTo>
                  <a:pt x="0" y="404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flipV="1">
            <a:off x="-3175516" y="-17012"/>
            <a:ext cx="11196632" cy="6326097"/>
          </a:xfrm>
          <a:custGeom>
            <a:avLst/>
            <a:gdLst/>
            <a:ahLst/>
            <a:cxnLst/>
            <a:rect l="l" t="t" r="r" b="b"/>
            <a:pathLst>
              <a:path w="11196632" h="6326097">
                <a:moveTo>
                  <a:pt x="0" y="6326098"/>
                </a:moveTo>
                <a:lnTo>
                  <a:pt x="11196633" y="6326098"/>
                </a:lnTo>
                <a:lnTo>
                  <a:pt x="11196633" y="0"/>
                </a:lnTo>
                <a:lnTo>
                  <a:pt x="0" y="0"/>
                </a:lnTo>
                <a:lnTo>
                  <a:pt x="0" y="632609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872769" y="0"/>
            <a:ext cx="1144210" cy="2402541"/>
          </a:xfrm>
          <a:custGeom>
            <a:avLst/>
            <a:gdLst/>
            <a:ahLst/>
            <a:cxnLst/>
            <a:rect l="l" t="t" r="r" b="b"/>
            <a:pathLst>
              <a:path w="1144210" h="2402541">
                <a:moveTo>
                  <a:pt x="0" y="0"/>
                </a:moveTo>
                <a:lnTo>
                  <a:pt x="1144210" y="0"/>
                </a:lnTo>
                <a:lnTo>
                  <a:pt x="1144210" y="2402541"/>
                </a:lnTo>
                <a:lnTo>
                  <a:pt x="0" y="24025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16986593" y="0"/>
            <a:ext cx="1349033" cy="1709155"/>
            <a:chOff x="0" y="0"/>
            <a:chExt cx="571381" cy="7239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FFFFFF">
                <a:alpha val="83922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 dirty="0">
                  <a:solidFill>
                    <a:srgbClr val="000000">
                      <a:alpha val="83922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08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091277" y="1034053"/>
            <a:ext cx="9138697" cy="7745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Schedule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05201" y="6399823"/>
            <a:ext cx="4916799" cy="36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 b="1" dirty="0"/>
              <a:t>Human Resources:</a:t>
            </a:r>
            <a:r>
              <a:rPr lang="en-US" sz="2400" dirty="0"/>
              <a:t> $1,800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605201" y="7164672"/>
            <a:ext cx="4916799" cy="36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 b="1" dirty="0"/>
              <a:t>Software Tools:</a:t>
            </a:r>
            <a:r>
              <a:rPr lang="en-US" sz="2400" dirty="0"/>
              <a:t> $100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605201" y="7929521"/>
            <a:ext cx="4916799" cy="36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 b="1" dirty="0"/>
              <a:t>Hosting/Server:</a:t>
            </a:r>
            <a:r>
              <a:rPr lang="en-US" sz="2400" dirty="0"/>
              <a:t> $150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605201" y="8694370"/>
            <a:ext cx="5217833" cy="363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sz="2400" b="1" dirty="0"/>
              <a:t>Miscellaneous:</a:t>
            </a:r>
            <a:r>
              <a:rPr lang="en-US" sz="2400" dirty="0"/>
              <a:t> $100</a:t>
            </a:r>
            <a:endParaRPr lang="en-US" sz="21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" name="Rectangle 1">
            <a:extLst>
              <a:ext uri="{FF2B5EF4-FFF2-40B4-BE49-F238E27FC236}">
                <a16:creationId xmlns:a16="http://schemas.microsoft.com/office/drawing/2014/main" id="{76229321-59A0-216B-22DF-6C992B093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225" y="1855606"/>
            <a:ext cx="944880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1–2: 	Requirements &amp; Feasibility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3–4: 	System &amp; UI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5–8: 	Development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9–10: 	Integration &amp; Testing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11: 	Deployment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Week 12: 	Maintenance &amp; Review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76612" y="7193735"/>
            <a:ext cx="5295803" cy="1970398"/>
            <a:chOff x="0" y="0"/>
            <a:chExt cx="1394779" cy="51895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4779" cy="518952"/>
            </a:xfrm>
            <a:custGeom>
              <a:avLst/>
              <a:gdLst/>
              <a:ahLst/>
              <a:cxnLst/>
              <a:rect l="l" t="t" r="r" b="b"/>
              <a:pathLst>
                <a:path w="1394779" h="518952">
                  <a:moveTo>
                    <a:pt x="0" y="0"/>
                  </a:moveTo>
                  <a:lnTo>
                    <a:pt x="1394779" y="0"/>
                  </a:lnTo>
                  <a:lnTo>
                    <a:pt x="1394779" y="518952"/>
                  </a:lnTo>
                  <a:lnTo>
                    <a:pt x="0" y="51895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394779" cy="59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2654" y="1926995"/>
            <a:ext cx="5295803" cy="1627300"/>
            <a:chOff x="0" y="0"/>
            <a:chExt cx="1394779" cy="4285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94779" cy="428589"/>
            </a:xfrm>
            <a:custGeom>
              <a:avLst/>
              <a:gdLst/>
              <a:ahLst/>
              <a:cxnLst/>
              <a:rect l="l" t="t" r="r" b="b"/>
              <a:pathLst>
                <a:path w="1394779" h="428589">
                  <a:moveTo>
                    <a:pt x="0" y="0"/>
                  </a:moveTo>
                  <a:lnTo>
                    <a:pt x="1394779" y="0"/>
                  </a:lnTo>
                  <a:lnTo>
                    <a:pt x="1394779" y="428589"/>
                  </a:lnTo>
                  <a:lnTo>
                    <a:pt x="0" y="428589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1394779" cy="5047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24503" y="3006404"/>
            <a:ext cx="5638994" cy="5638994"/>
          </a:xfrm>
          <a:custGeom>
            <a:avLst/>
            <a:gdLst/>
            <a:ahLst/>
            <a:cxnLst/>
            <a:rect l="l" t="t" r="r" b="b"/>
            <a:pathLst>
              <a:path w="5638994" h="5638994">
                <a:moveTo>
                  <a:pt x="0" y="0"/>
                </a:moveTo>
                <a:lnTo>
                  <a:pt x="5638994" y="0"/>
                </a:lnTo>
                <a:lnTo>
                  <a:pt x="5638994" y="5638993"/>
                </a:lnTo>
                <a:lnTo>
                  <a:pt x="0" y="563899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7143443" y="3825344"/>
            <a:ext cx="4001114" cy="400111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37527" r="-37527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1963497" y="1998477"/>
            <a:ext cx="5295803" cy="1770986"/>
            <a:chOff x="0" y="0"/>
            <a:chExt cx="1394779" cy="46643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94779" cy="466432"/>
            </a:xfrm>
            <a:custGeom>
              <a:avLst/>
              <a:gdLst/>
              <a:ahLst/>
              <a:cxnLst/>
              <a:rect l="l" t="t" r="r" b="b"/>
              <a:pathLst>
                <a:path w="1394779" h="466432">
                  <a:moveTo>
                    <a:pt x="0" y="0"/>
                  </a:moveTo>
                  <a:lnTo>
                    <a:pt x="1394779" y="0"/>
                  </a:lnTo>
                  <a:lnTo>
                    <a:pt x="1394779" y="466432"/>
                  </a:lnTo>
                  <a:lnTo>
                    <a:pt x="0" y="46643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1394779" cy="5426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963497" y="7193735"/>
            <a:ext cx="5295803" cy="1970398"/>
            <a:chOff x="0" y="0"/>
            <a:chExt cx="1394779" cy="51895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94779" cy="518952"/>
            </a:xfrm>
            <a:custGeom>
              <a:avLst/>
              <a:gdLst/>
              <a:ahLst/>
              <a:cxnLst/>
              <a:rect l="l" t="t" r="r" b="b"/>
              <a:pathLst>
                <a:path w="1394779" h="518952">
                  <a:moveTo>
                    <a:pt x="0" y="0"/>
                  </a:moveTo>
                  <a:lnTo>
                    <a:pt x="1394779" y="0"/>
                  </a:lnTo>
                  <a:lnTo>
                    <a:pt x="1394779" y="518952"/>
                  </a:lnTo>
                  <a:lnTo>
                    <a:pt x="0" y="51895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1394779" cy="59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986593" y="0"/>
            <a:ext cx="1349033" cy="1709155"/>
            <a:chOff x="0" y="0"/>
            <a:chExt cx="571381" cy="7239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EEEFF6">
                <a:alpha val="63922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 dirty="0">
                  <a:solidFill>
                    <a:srgbClr val="000000">
                      <a:alpha val="63922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09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660334" y="1488733"/>
            <a:ext cx="12967332" cy="4382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9"/>
              </a:lnSpc>
              <a:spcBef>
                <a:spcPct val="0"/>
              </a:spcBef>
            </a:pPr>
            <a:r>
              <a:rPr lang="en-US" sz="30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Team Structure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06544" y="2559123"/>
            <a:ext cx="4256718" cy="77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Developer / Integrations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380328" y="7951653"/>
            <a:ext cx="5162301" cy="4023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Physical Safety: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664159" y="2521379"/>
            <a:ext cx="3633354" cy="38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Manager: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96243" y="7957669"/>
            <a:ext cx="3633354" cy="7702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Frontend Developer (Kotlin):</a:t>
            </a:r>
          </a:p>
        </p:txBody>
      </p:sp>
      <p:grpSp>
        <p:nvGrpSpPr>
          <p:cNvPr id="32" name="Group 14">
            <a:extLst>
              <a:ext uri="{FF2B5EF4-FFF2-40B4-BE49-F238E27FC236}">
                <a16:creationId xmlns:a16="http://schemas.microsoft.com/office/drawing/2014/main" id="{41369F39-5E7D-B1F3-11D3-B45EB373405B}"/>
              </a:ext>
            </a:extLst>
          </p:cNvPr>
          <p:cNvGrpSpPr/>
          <p:nvPr/>
        </p:nvGrpSpPr>
        <p:grpSpPr>
          <a:xfrm>
            <a:off x="11963497" y="4527381"/>
            <a:ext cx="5295803" cy="1970398"/>
            <a:chOff x="0" y="0"/>
            <a:chExt cx="1394779" cy="518952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7EA5715C-5891-566F-C318-74A9893E186D}"/>
                </a:ext>
              </a:extLst>
            </p:cNvPr>
            <p:cNvSpPr/>
            <p:nvPr/>
          </p:nvSpPr>
          <p:spPr>
            <a:xfrm>
              <a:off x="0" y="0"/>
              <a:ext cx="1394779" cy="518952"/>
            </a:xfrm>
            <a:custGeom>
              <a:avLst/>
              <a:gdLst/>
              <a:ahLst/>
              <a:cxnLst/>
              <a:rect l="l" t="t" r="r" b="b"/>
              <a:pathLst>
                <a:path w="1394779" h="518952">
                  <a:moveTo>
                    <a:pt x="0" y="0"/>
                  </a:moveTo>
                  <a:lnTo>
                    <a:pt x="1394779" y="0"/>
                  </a:lnTo>
                  <a:lnTo>
                    <a:pt x="1394779" y="518952"/>
                  </a:lnTo>
                  <a:lnTo>
                    <a:pt x="0" y="51895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34" name="TextBox 16">
              <a:extLst>
                <a:ext uri="{FF2B5EF4-FFF2-40B4-BE49-F238E27FC236}">
                  <a16:creationId xmlns:a16="http://schemas.microsoft.com/office/drawing/2014/main" id="{79EBB384-5F6D-4586-A507-59423215A526}"/>
                </a:ext>
              </a:extLst>
            </p:cNvPr>
            <p:cNvSpPr txBox="1"/>
            <p:nvPr/>
          </p:nvSpPr>
          <p:spPr>
            <a:xfrm>
              <a:off x="0" y="-76200"/>
              <a:ext cx="1394779" cy="59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35" name="TextBox 23">
            <a:extLst>
              <a:ext uri="{FF2B5EF4-FFF2-40B4-BE49-F238E27FC236}">
                <a16:creationId xmlns:a16="http://schemas.microsoft.com/office/drawing/2014/main" id="{EF59F729-56AE-8131-9A35-5D2559D8C44F}"/>
              </a:ext>
            </a:extLst>
          </p:cNvPr>
          <p:cNvSpPr txBox="1"/>
          <p:nvPr/>
        </p:nvSpPr>
        <p:spPr>
          <a:xfrm>
            <a:off x="12994498" y="5285873"/>
            <a:ext cx="5162301" cy="38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QA Tester / DevOps</a:t>
            </a:r>
          </a:p>
        </p:txBody>
      </p:sp>
      <p:grpSp>
        <p:nvGrpSpPr>
          <p:cNvPr id="36" name="Group 14">
            <a:extLst>
              <a:ext uri="{FF2B5EF4-FFF2-40B4-BE49-F238E27FC236}">
                <a16:creationId xmlns:a16="http://schemas.microsoft.com/office/drawing/2014/main" id="{7B4ECB11-F92B-128D-D37A-590713931814}"/>
              </a:ext>
            </a:extLst>
          </p:cNvPr>
          <p:cNvGrpSpPr/>
          <p:nvPr/>
        </p:nvGrpSpPr>
        <p:grpSpPr>
          <a:xfrm>
            <a:off x="12115897" y="7346135"/>
            <a:ext cx="5295803" cy="1970398"/>
            <a:chOff x="0" y="0"/>
            <a:chExt cx="1394779" cy="518952"/>
          </a:xfrm>
        </p:grpSpPr>
        <p:sp>
          <p:nvSpPr>
            <p:cNvPr id="37" name="Freeform 15">
              <a:extLst>
                <a:ext uri="{FF2B5EF4-FFF2-40B4-BE49-F238E27FC236}">
                  <a16:creationId xmlns:a16="http://schemas.microsoft.com/office/drawing/2014/main" id="{D1033DF2-2A64-3A81-999F-9F50138FA7B1}"/>
                </a:ext>
              </a:extLst>
            </p:cNvPr>
            <p:cNvSpPr/>
            <p:nvPr/>
          </p:nvSpPr>
          <p:spPr>
            <a:xfrm>
              <a:off x="0" y="0"/>
              <a:ext cx="1394779" cy="518952"/>
            </a:xfrm>
            <a:custGeom>
              <a:avLst/>
              <a:gdLst/>
              <a:ahLst/>
              <a:cxnLst/>
              <a:rect l="l" t="t" r="r" b="b"/>
              <a:pathLst>
                <a:path w="1394779" h="518952">
                  <a:moveTo>
                    <a:pt x="0" y="0"/>
                  </a:moveTo>
                  <a:lnTo>
                    <a:pt x="1394779" y="0"/>
                  </a:lnTo>
                  <a:lnTo>
                    <a:pt x="1394779" y="518952"/>
                  </a:lnTo>
                  <a:lnTo>
                    <a:pt x="0" y="51895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38" name="TextBox 16">
              <a:extLst>
                <a:ext uri="{FF2B5EF4-FFF2-40B4-BE49-F238E27FC236}">
                  <a16:creationId xmlns:a16="http://schemas.microsoft.com/office/drawing/2014/main" id="{D66C1B13-752F-951B-171B-0C0186FC7BDA}"/>
                </a:ext>
              </a:extLst>
            </p:cNvPr>
            <p:cNvSpPr txBox="1"/>
            <p:nvPr/>
          </p:nvSpPr>
          <p:spPr>
            <a:xfrm>
              <a:off x="0" y="-76200"/>
              <a:ext cx="1394779" cy="59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39" name="TextBox 23">
            <a:extLst>
              <a:ext uri="{FF2B5EF4-FFF2-40B4-BE49-F238E27FC236}">
                <a16:creationId xmlns:a16="http://schemas.microsoft.com/office/drawing/2014/main" id="{94B98FAB-3C52-4FE9-067D-0EA685506469}"/>
              </a:ext>
            </a:extLst>
          </p:cNvPr>
          <p:cNvSpPr txBox="1"/>
          <p:nvPr/>
        </p:nvSpPr>
        <p:spPr>
          <a:xfrm>
            <a:off x="12662463" y="8105421"/>
            <a:ext cx="5162301" cy="385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Administrator</a:t>
            </a:r>
          </a:p>
        </p:txBody>
      </p:sp>
      <p:grpSp>
        <p:nvGrpSpPr>
          <p:cNvPr id="40" name="Group 14">
            <a:extLst>
              <a:ext uri="{FF2B5EF4-FFF2-40B4-BE49-F238E27FC236}">
                <a16:creationId xmlns:a16="http://schemas.microsoft.com/office/drawing/2014/main" id="{B385FB6F-037B-E3E7-EA39-431DF1D88E08}"/>
              </a:ext>
            </a:extLst>
          </p:cNvPr>
          <p:cNvGrpSpPr/>
          <p:nvPr/>
        </p:nvGrpSpPr>
        <p:grpSpPr>
          <a:xfrm>
            <a:off x="1076612" y="4529386"/>
            <a:ext cx="5295803" cy="1970398"/>
            <a:chOff x="0" y="0"/>
            <a:chExt cx="1394779" cy="518952"/>
          </a:xfrm>
        </p:grpSpPr>
        <p:sp>
          <p:nvSpPr>
            <p:cNvPr id="41" name="Freeform 15">
              <a:extLst>
                <a:ext uri="{FF2B5EF4-FFF2-40B4-BE49-F238E27FC236}">
                  <a16:creationId xmlns:a16="http://schemas.microsoft.com/office/drawing/2014/main" id="{26DB738F-4BA7-66D5-EBA6-5C253C94947F}"/>
                </a:ext>
              </a:extLst>
            </p:cNvPr>
            <p:cNvSpPr/>
            <p:nvPr/>
          </p:nvSpPr>
          <p:spPr>
            <a:xfrm>
              <a:off x="0" y="0"/>
              <a:ext cx="1394779" cy="518952"/>
            </a:xfrm>
            <a:custGeom>
              <a:avLst/>
              <a:gdLst/>
              <a:ahLst/>
              <a:cxnLst/>
              <a:rect l="l" t="t" r="r" b="b"/>
              <a:pathLst>
                <a:path w="1394779" h="518952">
                  <a:moveTo>
                    <a:pt x="0" y="0"/>
                  </a:moveTo>
                  <a:lnTo>
                    <a:pt x="1394779" y="0"/>
                  </a:lnTo>
                  <a:lnTo>
                    <a:pt x="1394779" y="518952"/>
                  </a:lnTo>
                  <a:lnTo>
                    <a:pt x="0" y="518952"/>
                  </a:lnTo>
                  <a:close/>
                </a:path>
              </a:pathLst>
            </a:custGeom>
            <a:solidFill>
              <a:srgbClr val="EEEFF6"/>
            </a:solidFill>
          </p:spPr>
        </p:sp>
        <p:sp>
          <p:nvSpPr>
            <p:cNvPr id="42" name="TextBox 16">
              <a:extLst>
                <a:ext uri="{FF2B5EF4-FFF2-40B4-BE49-F238E27FC236}">
                  <a16:creationId xmlns:a16="http://schemas.microsoft.com/office/drawing/2014/main" id="{4AD90E2F-82B1-617E-A98B-A627250AE740}"/>
                </a:ext>
              </a:extLst>
            </p:cNvPr>
            <p:cNvSpPr txBox="1"/>
            <p:nvPr/>
          </p:nvSpPr>
          <p:spPr>
            <a:xfrm>
              <a:off x="0" y="-76200"/>
              <a:ext cx="1394779" cy="5951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79"/>
                </a:lnSpc>
              </a:pPr>
              <a:endParaRPr/>
            </a:p>
          </p:txBody>
        </p:sp>
      </p:grpSp>
      <p:sp>
        <p:nvSpPr>
          <p:cNvPr id="43" name="TextBox 23">
            <a:extLst>
              <a:ext uri="{FF2B5EF4-FFF2-40B4-BE49-F238E27FC236}">
                <a16:creationId xmlns:a16="http://schemas.microsoft.com/office/drawing/2014/main" id="{F68068AC-8646-62AC-7507-2D12741D659C}"/>
              </a:ext>
            </a:extLst>
          </p:cNvPr>
          <p:cNvSpPr txBox="1"/>
          <p:nvPr/>
        </p:nvSpPr>
        <p:spPr>
          <a:xfrm>
            <a:off x="2186804" y="5143500"/>
            <a:ext cx="3366671" cy="7702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7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System Analyst / Designer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76526" y="5593430"/>
            <a:ext cx="13916073" cy="1685414"/>
            <a:chOff x="0" y="0"/>
            <a:chExt cx="3334793" cy="363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334793" cy="363355"/>
            </a:xfrm>
            <a:custGeom>
              <a:avLst/>
              <a:gdLst/>
              <a:ahLst/>
              <a:cxnLst/>
              <a:rect l="l" t="t" r="r" b="b"/>
              <a:pathLst>
                <a:path w="3334793" h="363355">
                  <a:moveTo>
                    <a:pt x="3131593" y="0"/>
                  </a:moveTo>
                  <a:lnTo>
                    <a:pt x="0" y="0"/>
                  </a:lnTo>
                  <a:lnTo>
                    <a:pt x="203200" y="363355"/>
                  </a:lnTo>
                  <a:lnTo>
                    <a:pt x="3334793" y="363355"/>
                  </a:lnTo>
                  <a:lnTo>
                    <a:pt x="3131593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-38100"/>
              <a:ext cx="3131593" cy="401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2614364" y="-405528"/>
            <a:ext cx="7726324" cy="9280869"/>
          </a:xfrm>
          <a:custGeom>
            <a:avLst/>
            <a:gdLst/>
            <a:ahLst/>
            <a:cxnLst/>
            <a:rect l="l" t="t" r="r" b="b"/>
            <a:pathLst>
              <a:path w="7726324" h="9280869">
                <a:moveTo>
                  <a:pt x="0" y="0"/>
                </a:moveTo>
                <a:lnTo>
                  <a:pt x="7726323" y="0"/>
                </a:lnTo>
                <a:lnTo>
                  <a:pt x="7726323" y="9280870"/>
                </a:lnTo>
                <a:lnTo>
                  <a:pt x="0" y="92808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6" name="Group 6"/>
          <p:cNvGrpSpPr/>
          <p:nvPr/>
        </p:nvGrpSpPr>
        <p:grpSpPr>
          <a:xfrm>
            <a:off x="243967" y="1968947"/>
            <a:ext cx="14020558" cy="1386086"/>
            <a:chOff x="0" y="0"/>
            <a:chExt cx="4060801" cy="3633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0801" cy="363355"/>
            </a:xfrm>
            <a:custGeom>
              <a:avLst/>
              <a:gdLst/>
              <a:ahLst/>
              <a:cxnLst/>
              <a:rect l="l" t="t" r="r" b="b"/>
              <a:pathLst>
                <a:path w="4060801" h="363355">
                  <a:moveTo>
                    <a:pt x="3857601" y="0"/>
                  </a:moveTo>
                  <a:lnTo>
                    <a:pt x="0" y="0"/>
                  </a:lnTo>
                  <a:lnTo>
                    <a:pt x="203200" y="363355"/>
                  </a:lnTo>
                  <a:lnTo>
                    <a:pt x="4060801" y="363355"/>
                  </a:lnTo>
                  <a:lnTo>
                    <a:pt x="3857601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38100"/>
              <a:ext cx="3857601" cy="401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-1552095" y="9197774"/>
            <a:ext cx="14278578" cy="1206630"/>
            <a:chOff x="0" y="0"/>
            <a:chExt cx="4193134" cy="35434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93134" cy="354346"/>
            </a:xfrm>
            <a:custGeom>
              <a:avLst/>
              <a:gdLst/>
              <a:ahLst/>
              <a:cxnLst/>
              <a:rect l="l" t="t" r="r" b="b"/>
              <a:pathLst>
                <a:path w="4193134" h="354346">
                  <a:moveTo>
                    <a:pt x="3989934" y="0"/>
                  </a:moveTo>
                  <a:lnTo>
                    <a:pt x="0" y="0"/>
                  </a:lnTo>
                  <a:lnTo>
                    <a:pt x="203200" y="354346"/>
                  </a:lnTo>
                  <a:lnTo>
                    <a:pt x="4193134" y="354346"/>
                  </a:lnTo>
                  <a:lnTo>
                    <a:pt x="3989934" y="0"/>
                  </a:lnTo>
                  <a:close/>
                </a:path>
              </a:pathLst>
            </a:custGeom>
            <a:solidFill>
              <a:srgbClr val="424042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3989934" cy="3924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938967" y="0"/>
            <a:ext cx="1349033" cy="1709155"/>
            <a:chOff x="0" y="0"/>
            <a:chExt cx="571381" cy="7239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424042">
                <a:alpha val="71765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 dirty="0">
                  <a:solidFill>
                    <a:srgbClr val="FFFFFF">
                      <a:alpha val="71765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10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243064" y="797427"/>
            <a:ext cx="7736104" cy="768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25"/>
              </a:lnSpc>
            </a:pPr>
            <a:r>
              <a:rPr lang="en-US" sz="5062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Management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43967" y="3736079"/>
            <a:ext cx="14020558" cy="1386085"/>
            <a:chOff x="0" y="0"/>
            <a:chExt cx="4060801" cy="36335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0801" cy="363355"/>
            </a:xfrm>
            <a:custGeom>
              <a:avLst/>
              <a:gdLst/>
              <a:ahLst/>
              <a:cxnLst/>
              <a:rect l="l" t="t" r="r" b="b"/>
              <a:pathLst>
                <a:path w="4060801" h="363355">
                  <a:moveTo>
                    <a:pt x="3857601" y="0"/>
                  </a:moveTo>
                  <a:lnTo>
                    <a:pt x="0" y="0"/>
                  </a:lnTo>
                  <a:lnTo>
                    <a:pt x="203200" y="363355"/>
                  </a:lnTo>
                  <a:lnTo>
                    <a:pt x="4060801" y="363355"/>
                  </a:lnTo>
                  <a:lnTo>
                    <a:pt x="3857601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01600" y="-38100"/>
              <a:ext cx="3857601" cy="4014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 flipH="1">
            <a:off x="12025343" y="8475964"/>
            <a:ext cx="6932693" cy="3249700"/>
          </a:xfrm>
          <a:custGeom>
            <a:avLst/>
            <a:gdLst/>
            <a:ahLst/>
            <a:cxnLst/>
            <a:rect l="l" t="t" r="r" b="b"/>
            <a:pathLst>
              <a:path w="6932693" h="3249700">
                <a:moveTo>
                  <a:pt x="6932693" y="0"/>
                </a:moveTo>
                <a:lnTo>
                  <a:pt x="0" y="0"/>
                </a:lnTo>
                <a:lnTo>
                  <a:pt x="0" y="3249700"/>
                </a:lnTo>
                <a:lnTo>
                  <a:pt x="6932693" y="3249700"/>
                </a:lnTo>
                <a:lnTo>
                  <a:pt x="6932693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9EE7D029-A504-9259-7A8E-21AFC77CF0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778" y="1973452"/>
            <a:ext cx="13318978" cy="6863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Scope creep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Schedule delays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Technical failure/data loss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Security breach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40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Budget overrun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Team availability issues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b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Solutions: backups, secure coding, buffers, frequent meetings, documentation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33971" y="-151760"/>
            <a:ext cx="13770351" cy="10309569"/>
            <a:chOff x="0" y="0"/>
            <a:chExt cx="464326" cy="3476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4326" cy="347631"/>
            </a:xfrm>
            <a:custGeom>
              <a:avLst/>
              <a:gdLst/>
              <a:ahLst/>
              <a:cxnLst/>
              <a:rect l="l" t="t" r="r" b="b"/>
              <a:pathLst>
                <a:path w="464326" h="347631">
                  <a:moveTo>
                    <a:pt x="203200" y="0"/>
                  </a:moveTo>
                  <a:lnTo>
                    <a:pt x="464326" y="0"/>
                  </a:lnTo>
                  <a:lnTo>
                    <a:pt x="261126" y="347631"/>
                  </a:lnTo>
                  <a:lnTo>
                    <a:pt x="0" y="347631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2"/>
              <a:stretch>
                <a:fillRect l="-16549" r="-1654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 flipH="1">
            <a:off x="7333349" y="-475018"/>
            <a:ext cx="8582716" cy="10309569"/>
          </a:xfrm>
          <a:custGeom>
            <a:avLst/>
            <a:gdLst/>
            <a:ahLst/>
            <a:cxnLst/>
            <a:rect l="l" t="t" r="r" b="b"/>
            <a:pathLst>
              <a:path w="8582716" h="10309569">
                <a:moveTo>
                  <a:pt x="8582716" y="0"/>
                </a:moveTo>
                <a:lnTo>
                  <a:pt x="0" y="0"/>
                </a:lnTo>
                <a:lnTo>
                  <a:pt x="0" y="10309569"/>
                </a:lnTo>
                <a:lnTo>
                  <a:pt x="8582716" y="10309569"/>
                </a:lnTo>
                <a:lnTo>
                  <a:pt x="858271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703517" y="1771972"/>
            <a:ext cx="11749574" cy="1208669"/>
            <a:chOff x="0" y="0"/>
            <a:chExt cx="3844759" cy="3955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4759" cy="395507"/>
            </a:xfrm>
            <a:custGeom>
              <a:avLst/>
              <a:gdLst/>
              <a:ahLst/>
              <a:cxnLst/>
              <a:rect l="l" t="t" r="r" b="b"/>
              <a:pathLst>
                <a:path w="3844759" h="395507">
                  <a:moveTo>
                    <a:pt x="203200" y="0"/>
                  </a:moveTo>
                  <a:lnTo>
                    <a:pt x="3844759" y="0"/>
                  </a:lnTo>
                  <a:lnTo>
                    <a:pt x="3641559" y="395507"/>
                  </a:lnTo>
                  <a:lnTo>
                    <a:pt x="0" y="39550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2C426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3641559" cy="4336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33526" y="9258300"/>
            <a:ext cx="15461508" cy="1152502"/>
            <a:chOff x="0" y="0"/>
            <a:chExt cx="4685931" cy="3492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85931" cy="349290"/>
            </a:xfrm>
            <a:custGeom>
              <a:avLst/>
              <a:gdLst/>
              <a:ahLst/>
              <a:cxnLst/>
              <a:rect l="l" t="t" r="r" b="b"/>
              <a:pathLst>
                <a:path w="4685931" h="349290">
                  <a:moveTo>
                    <a:pt x="203200" y="0"/>
                  </a:moveTo>
                  <a:lnTo>
                    <a:pt x="4685931" y="0"/>
                  </a:lnTo>
                  <a:lnTo>
                    <a:pt x="4482731" y="349290"/>
                  </a:lnTo>
                  <a:lnTo>
                    <a:pt x="0" y="34929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2404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4482731" cy="3873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986593" y="0"/>
            <a:ext cx="1349033" cy="1709155"/>
            <a:chOff x="0" y="0"/>
            <a:chExt cx="571381" cy="7239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381" cy="723910"/>
            </a:xfrm>
            <a:custGeom>
              <a:avLst/>
              <a:gdLst/>
              <a:ahLst/>
              <a:cxnLst/>
              <a:rect l="l" t="t" r="r" b="b"/>
              <a:pathLst>
                <a:path w="571381" h="723910">
                  <a:moveTo>
                    <a:pt x="571381" y="0"/>
                  </a:moveTo>
                  <a:lnTo>
                    <a:pt x="571381" y="723910"/>
                  </a:lnTo>
                  <a:lnTo>
                    <a:pt x="285691" y="596910"/>
                  </a:lnTo>
                  <a:lnTo>
                    <a:pt x="0" y="723910"/>
                  </a:lnTo>
                  <a:lnTo>
                    <a:pt x="0" y="0"/>
                  </a:lnTo>
                  <a:lnTo>
                    <a:pt x="571381" y="0"/>
                  </a:lnTo>
                  <a:close/>
                </a:path>
              </a:pathLst>
            </a:custGeom>
            <a:solidFill>
              <a:srgbClr val="2C426B">
                <a:alpha val="83922"/>
              </a:srgbClr>
            </a:solidFill>
            <a:ln cap="sq">
              <a:noFill/>
              <a:prstDash val="dash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104775"/>
              <a:ext cx="571381" cy="701685"/>
            </a:xfrm>
            <a:prstGeom prst="rect">
              <a:avLst/>
            </a:prstGeom>
          </p:spPr>
          <p:txBody>
            <a:bodyPr lIns="127000" tIns="127000" rIns="127000" bIns="127000" rtlCol="0" anchor="ctr"/>
            <a:lstStyle/>
            <a:p>
              <a:pPr algn="ctr">
                <a:lnSpc>
                  <a:spcPts val="8122"/>
                </a:lnSpc>
              </a:pPr>
              <a:r>
                <a:rPr lang="en-US" sz="5801">
                  <a:solidFill>
                    <a:srgbClr val="000000">
                      <a:alpha val="83922"/>
                    </a:srgbClr>
                  </a:solidFill>
                  <a:latin typeface="Shrikhand"/>
                  <a:ea typeface="Shrikhand"/>
                  <a:cs typeface="Shrikhand"/>
                  <a:sym typeface="Shrikhand"/>
                </a:rPr>
                <a:t>11</a:t>
              </a:r>
            </a:p>
          </p:txBody>
        </p:sp>
      </p:grpSp>
      <p:sp>
        <p:nvSpPr>
          <p:cNvPr id="14" name="Freeform 14"/>
          <p:cNvSpPr/>
          <p:nvPr/>
        </p:nvSpPr>
        <p:spPr>
          <a:xfrm rot="-10800000" flipH="1">
            <a:off x="606" y="8148970"/>
            <a:ext cx="6932693" cy="3249700"/>
          </a:xfrm>
          <a:custGeom>
            <a:avLst/>
            <a:gdLst/>
            <a:ahLst/>
            <a:cxnLst/>
            <a:rect l="l" t="t" r="r" b="b"/>
            <a:pathLst>
              <a:path w="6932693" h="3249700">
                <a:moveTo>
                  <a:pt x="6932693" y="0"/>
                </a:moveTo>
                <a:lnTo>
                  <a:pt x="0" y="0"/>
                </a:lnTo>
                <a:lnTo>
                  <a:pt x="0" y="3249699"/>
                </a:lnTo>
                <a:lnTo>
                  <a:pt x="6932693" y="3249699"/>
                </a:lnTo>
                <a:lnTo>
                  <a:pt x="6932693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3332482" y="1885691"/>
            <a:ext cx="5172739" cy="981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163"/>
              </a:lnSpc>
              <a:spcBef>
                <a:spcPct val="0"/>
              </a:spcBef>
            </a:pPr>
            <a:r>
              <a:rPr lang="en-US" sz="6512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886720" y="5626003"/>
            <a:ext cx="4446629" cy="1584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 </a:t>
            </a:r>
          </a:p>
          <a:p>
            <a:pPr algn="ctr">
              <a:lnSpc>
                <a:spcPts val="252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Sanjida Roksana Mim</a:t>
            </a:r>
          </a:p>
          <a:p>
            <a:pPr algn="ctr">
              <a:lnSpc>
                <a:spcPts val="252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241311118</a:t>
            </a:r>
          </a:p>
          <a:p>
            <a:pPr algn="ctr">
              <a:lnSpc>
                <a:spcPts val="252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dept. of CSE</a:t>
            </a:r>
          </a:p>
          <a:p>
            <a:pPr algn="ctr">
              <a:lnSpc>
                <a:spcPts val="252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Varendra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386</Words>
  <Application>Microsoft Office PowerPoint</Application>
  <PresentationFormat>Custom</PresentationFormat>
  <Paragraphs>82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Poppins Bold</vt:lpstr>
      <vt:lpstr>Calibri</vt:lpstr>
      <vt:lpstr>Arial</vt:lpstr>
      <vt:lpstr>Shrikhand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241311118</dc:title>
  <cp:lastModifiedBy>MD. ABDULLAH AL MAHFUZ</cp:lastModifiedBy>
  <cp:revision>11</cp:revision>
  <dcterms:created xsi:type="dcterms:W3CDTF">2006-08-16T00:00:00Z</dcterms:created>
  <dcterms:modified xsi:type="dcterms:W3CDTF">2025-11-18T00:39:06Z</dcterms:modified>
  <dc:identifier>DAG3wEmBr6g</dc:identifier>
</cp:coreProperties>
</file>