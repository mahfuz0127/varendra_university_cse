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80" r:id="rId1"/>
  </p:sldMasterIdLst>
  <p:notesMasterIdLst>
    <p:notesMasterId r:id="rId20"/>
  </p:notesMasterIdLst>
  <p:sldIdLst>
    <p:sldId id="321" r:id="rId2"/>
    <p:sldId id="395" r:id="rId3"/>
    <p:sldId id="300" r:id="rId4"/>
    <p:sldId id="301" r:id="rId5"/>
    <p:sldId id="303" r:id="rId6"/>
    <p:sldId id="402" r:id="rId7"/>
    <p:sldId id="397" r:id="rId8"/>
    <p:sldId id="39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72" r:id="rId18"/>
    <p:sldId id="312" r:id="rId19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1"/>
      <p:bold r:id="rId22"/>
      <p:italic r:id="rId23"/>
      <p:boldItalic r:id="rId24"/>
    </p:embeddedFont>
    <p:embeddedFont>
      <p:font typeface="Barlow Semi Condensed Medium" panose="00000606000000000000" pitchFamily="2" charset="0"/>
      <p:regular r:id="rId25"/>
      <p:bold r:id="rId26"/>
      <p:italic r:id="rId27"/>
      <p:boldItalic r:id="rId28"/>
    </p:embeddedFont>
    <p:embeddedFont>
      <p:font typeface="Fjalla One" panose="02000506040000020004" pitchFamily="2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468B479-CD98-439D-AB3A-897B7AB2A78C}">
          <p14:sldIdLst>
            <p14:sldId id="321"/>
            <p14:sldId id="395"/>
            <p14:sldId id="300"/>
            <p14:sldId id="301"/>
            <p14:sldId id="303"/>
            <p14:sldId id="402"/>
            <p14:sldId id="397"/>
            <p14:sldId id="39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72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BFE"/>
    <a:srgbClr val="0662BB"/>
    <a:srgbClr val="FCF8F5"/>
    <a:srgbClr val="323230"/>
    <a:srgbClr val="00A8DA"/>
    <a:srgbClr val="FBFCFE"/>
    <a:srgbClr val="F9FCFF"/>
    <a:srgbClr val="BCFABC"/>
    <a:srgbClr val="ECF5FE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394D78-76CB-4DF2-90E6-CE17A867E9D8}">
  <a:tblStyle styleId="{62394D78-76CB-4DF2-90E6-CE17A867E9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2" autoAdjust="0"/>
    <p:restoredTop sz="95065" autoAdjust="0"/>
  </p:normalViewPr>
  <p:slideViewPr>
    <p:cSldViewPr snapToGrid="0">
      <p:cViewPr varScale="1">
        <p:scale>
          <a:sx n="113" d="100"/>
          <a:sy n="113" d="100"/>
        </p:scale>
        <p:origin x="38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65242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7170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6B47599D-CD7B-85F6-7C31-104F217B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7C46AFBA-FE85-7B2B-B58D-58D1C07D5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FA8F01FB-48A3-0031-17E5-AB7461C04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010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6E827022-2FAA-D896-CDA3-32AFC195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91F6EF1F-4AE0-54F8-9E1B-D34176F0D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75BD8FFB-FB80-A89D-527D-D7B2C37798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839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454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3">
  <p:cSld name="CUSTOM_16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EF6D-F6AB-4DEA-802E-B8AD3049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D4050-F067-4752-A564-855FBE81A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3583E-172B-45FE-922E-E87B6BA1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940D6-C7C8-4BDD-82EB-F3C9E15C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E6292-F1D1-4E21-AD08-392F4BC0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7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29000">
              <a:srgbClr val="F6FAFF"/>
            </a:gs>
            <a:gs pos="99000">
              <a:schemeClr val="bg1"/>
            </a:gs>
            <a:gs pos="0">
              <a:srgbClr val="ECF5FE"/>
            </a:gs>
          </a:gsLst>
          <a:path path="circle">
            <a:fillToRect l="100000" b="10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71" r:id="rId4"/>
    <p:sldLayoutId id="2147483673" r:id="rId5"/>
    <p:sldLayoutId id="2147483674" r:id="rId6"/>
    <p:sldLayoutId id="2147483675" r:id="rId7"/>
    <p:sldLayoutId id="2147483676" r:id="rId8"/>
    <p:sldLayoutId id="214748370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86787" y="1059879"/>
            <a:ext cx="4695775" cy="989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2800" dirty="0">
                <a:solidFill>
                  <a:srgbClr val="002060"/>
                </a:solidFill>
              </a:rPr>
              <a:t>Greedy Algorithms:</a:t>
            </a:r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rgbClr val="00B050"/>
                </a:solidFill>
              </a:rPr>
              <a:t>Activity Selection Problem</a:t>
            </a:r>
            <a:endParaRPr lang="en-US" sz="2400" dirty="0">
              <a:solidFill>
                <a:srgbClr val="00B05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995B6A-39A4-EE2E-35A3-28A8F972D2FF}"/>
              </a:ext>
            </a:extLst>
          </p:cNvPr>
          <p:cNvCxnSpPr>
            <a:cxnSpLocks/>
          </p:cNvCxnSpPr>
          <p:nvPr/>
        </p:nvCxnSpPr>
        <p:spPr>
          <a:xfrm>
            <a:off x="1806071" y="2879527"/>
            <a:ext cx="6952982" cy="2622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73152" y="4565904"/>
            <a:ext cx="5546598" cy="56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D893E-FDA4-A1B0-D72D-A3AFDBD2EF37}"/>
              </a:ext>
            </a:extLst>
          </p:cNvPr>
          <p:cNvSpPr txBox="1"/>
          <p:nvPr/>
        </p:nvSpPr>
        <p:spPr>
          <a:xfrm>
            <a:off x="6711426" y="2996140"/>
            <a:ext cx="2143536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Sumaiya Tasnim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Lecturer, Department of CSE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2057DB-60D6-0C71-BF3D-0590A19F855D}"/>
              </a:ext>
            </a:extLst>
          </p:cNvPr>
          <p:cNvSpPr txBox="1"/>
          <p:nvPr/>
        </p:nvSpPr>
        <p:spPr>
          <a:xfrm>
            <a:off x="7058043" y="2575303"/>
            <a:ext cx="1796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</a:rPr>
              <a:t>Course Instructor</a:t>
            </a:r>
            <a:r>
              <a:rPr lang="en-US" dirty="0">
                <a:solidFill>
                  <a:srgbClr val="494949"/>
                </a:solidFill>
                <a:latin typeface="Fjalla One" panose="02000506040000020004" pitchFamily="2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4C45B-C1A3-FD0F-4F89-0901E1CF6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4" y="184357"/>
            <a:ext cx="1222913" cy="122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4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>
          <a:extLst>
            <a:ext uri="{FF2B5EF4-FFF2-40B4-BE49-F238E27FC236}">
              <a16:creationId xmlns:a16="http://schemas.microsoft.com/office/drawing/2014/main" id="{4E440E80-7532-71D1-D779-DC601174D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05D81036-607E-D25D-2A8E-200F716A9100}"/>
              </a:ext>
            </a:extLst>
          </p:cNvPr>
          <p:cNvSpPr txBox="1">
            <a:spLocks/>
          </p:cNvSpPr>
          <p:nvPr/>
        </p:nvSpPr>
        <p:spPr>
          <a:xfrm>
            <a:off x="1217521" y="711400"/>
            <a:ext cx="6803783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4800" dirty="0">
                <a:solidFill>
                  <a:srgbClr val="002060"/>
                </a:solidFill>
              </a:rPr>
              <a:t>Acknowledgement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EC61C-9060-C5E9-05D2-C2F545B32EF0}"/>
              </a:ext>
            </a:extLst>
          </p:cNvPr>
          <p:cNvSpPr txBox="1"/>
          <p:nvPr/>
        </p:nvSpPr>
        <p:spPr>
          <a:xfrm>
            <a:off x="1883442" y="2257847"/>
            <a:ext cx="2688557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 err="1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Mosiur</a:t>
            </a: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 Rahman Sweet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Former Lecturer, Department of CSE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17672-2648-4012-DFF3-F0AD937736FB}"/>
              </a:ext>
            </a:extLst>
          </p:cNvPr>
          <p:cNvSpPr txBox="1"/>
          <p:nvPr/>
        </p:nvSpPr>
        <p:spPr>
          <a:xfrm>
            <a:off x="5089213" y="2257847"/>
            <a:ext cx="2143536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Md. Muktar Hossain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Lecturer, Department of CSE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</p:spTree>
    <p:extLst>
      <p:ext uri="{BB962C8B-B14F-4D97-AF65-F5344CB8AC3E}">
        <p14:creationId xmlns:p14="http://schemas.microsoft.com/office/powerpoint/2010/main" val="53386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750" y="350818"/>
            <a:ext cx="3848250" cy="5727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Activity Selection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05182-16C1-4C0C-ADE0-1669391534FD}"/>
              </a:ext>
            </a:extLst>
          </p:cNvPr>
          <p:cNvSpPr txBox="1"/>
          <p:nvPr/>
        </p:nvSpPr>
        <p:spPr>
          <a:xfrm>
            <a:off x="628648" y="1109141"/>
            <a:ext cx="8047265" cy="108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2060"/>
                </a:solidFill>
              </a:rPr>
              <a:t>It is a problem of scheduling several activities that require exclusive use of a common resource, with the goal of selecting a maximum size set of </a:t>
            </a:r>
            <a:r>
              <a:rPr lang="en-US" sz="1500" b="1" dirty="0">
                <a:solidFill>
                  <a:srgbClr val="002060"/>
                </a:solidFill>
              </a:rPr>
              <a:t>mutually compatible activities. 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7A04C3A-24F9-4B6A-B7C2-5531562295A3}"/>
              </a:ext>
            </a:extLst>
          </p:cNvPr>
          <p:cNvGraphicFramePr>
            <a:graphicFrameLocks noGrp="1"/>
          </p:cNvGraphicFramePr>
          <p:nvPr/>
        </p:nvGraphicFramePr>
        <p:xfrm>
          <a:off x="947057" y="2571749"/>
          <a:ext cx="7728856" cy="141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107">
                  <a:extLst>
                    <a:ext uri="{9D8B030D-6E8A-4147-A177-3AD203B41FA5}">
                      <a16:colId xmlns:a16="http://schemas.microsoft.com/office/drawing/2014/main" val="2134403644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2246798179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1915149551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671171479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2096976524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754288812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473783056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283192888"/>
                    </a:ext>
                  </a:extLst>
                </a:gridCol>
              </a:tblGrid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5979"/>
                  </a:ext>
                </a:extLst>
              </a:tr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Start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88824"/>
                  </a:ext>
                </a:extLst>
              </a:tr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Finish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4683"/>
                  </a:ext>
                </a:extLst>
              </a:tr>
            </a:tbl>
          </a:graphicData>
        </a:graphic>
      </p:graphicFrame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73E2FED2-DAE6-463E-B785-2CB37D8BDE89}"/>
              </a:ext>
            </a:extLst>
          </p:cNvPr>
          <p:cNvGraphicFramePr>
            <a:graphicFrameLocks noGrp="1"/>
          </p:cNvGraphicFramePr>
          <p:nvPr/>
        </p:nvGraphicFramePr>
        <p:xfrm>
          <a:off x="947057" y="2571749"/>
          <a:ext cx="7728856" cy="188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107">
                  <a:extLst>
                    <a:ext uri="{9D8B030D-6E8A-4147-A177-3AD203B41FA5}">
                      <a16:colId xmlns:a16="http://schemas.microsoft.com/office/drawing/2014/main" val="2134403644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2246798179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1915149551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671171479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2096976524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754288812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473783056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283192888"/>
                    </a:ext>
                  </a:extLst>
                </a:gridCol>
              </a:tblGrid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5979"/>
                  </a:ext>
                </a:extLst>
              </a:tr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Start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88824"/>
                  </a:ext>
                </a:extLst>
              </a:tr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Finish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4683"/>
                  </a:ext>
                </a:extLst>
              </a:tr>
              <a:tr h="471732">
                <a:tc gridSpan="8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After sorting by finish time in ascending order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40445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40445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40445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40445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40445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40445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40445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0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24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Activity Selection Problem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7A04C3A-24F9-4B6A-B7C2-5531562295A3}"/>
              </a:ext>
            </a:extLst>
          </p:cNvPr>
          <p:cNvGraphicFramePr>
            <a:graphicFrameLocks noGrp="1"/>
          </p:cNvGraphicFramePr>
          <p:nvPr/>
        </p:nvGraphicFramePr>
        <p:xfrm>
          <a:off x="707571" y="1148390"/>
          <a:ext cx="7707088" cy="1137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386">
                  <a:extLst>
                    <a:ext uri="{9D8B030D-6E8A-4147-A177-3AD203B41FA5}">
                      <a16:colId xmlns:a16="http://schemas.microsoft.com/office/drawing/2014/main" val="2134403644"/>
                    </a:ext>
                  </a:extLst>
                </a:gridCol>
                <a:gridCol w="963386">
                  <a:extLst>
                    <a:ext uri="{9D8B030D-6E8A-4147-A177-3AD203B41FA5}">
                      <a16:colId xmlns:a16="http://schemas.microsoft.com/office/drawing/2014/main" val="2246798179"/>
                    </a:ext>
                  </a:extLst>
                </a:gridCol>
                <a:gridCol w="963386">
                  <a:extLst>
                    <a:ext uri="{9D8B030D-6E8A-4147-A177-3AD203B41FA5}">
                      <a16:colId xmlns:a16="http://schemas.microsoft.com/office/drawing/2014/main" val="1915149551"/>
                    </a:ext>
                  </a:extLst>
                </a:gridCol>
                <a:gridCol w="963386">
                  <a:extLst>
                    <a:ext uri="{9D8B030D-6E8A-4147-A177-3AD203B41FA5}">
                      <a16:colId xmlns:a16="http://schemas.microsoft.com/office/drawing/2014/main" val="3671171479"/>
                    </a:ext>
                  </a:extLst>
                </a:gridCol>
                <a:gridCol w="963386">
                  <a:extLst>
                    <a:ext uri="{9D8B030D-6E8A-4147-A177-3AD203B41FA5}">
                      <a16:colId xmlns:a16="http://schemas.microsoft.com/office/drawing/2014/main" val="2096976524"/>
                    </a:ext>
                  </a:extLst>
                </a:gridCol>
                <a:gridCol w="963386">
                  <a:extLst>
                    <a:ext uri="{9D8B030D-6E8A-4147-A177-3AD203B41FA5}">
                      <a16:colId xmlns:a16="http://schemas.microsoft.com/office/drawing/2014/main" val="3754288812"/>
                    </a:ext>
                  </a:extLst>
                </a:gridCol>
                <a:gridCol w="963386">
                  <a:extLst>
                    <a:ext uri="{9D8B030D-6E8A-4147-A177-3AD203B41FA5}">
                      <a16:colId xmlns:a16="http://schemas.microsoft.com/office/drawing/2014/main" val="473783056"/>
                    </a:ext>
                  </a:extLst>
                </a:gridCol>
                <a:gridCol w="963386">
                  <a:extLst>
                    <a:ext uri="{9D8B030D-6E8A-4147-A177-3AD203B41FA5}">
                      <a16:colId xmlns:a16="http://schemas.microsoft.com/office/drawing/2014/main" val="3283192888"/>
                    </a:ext>
                  </a:extLst>
                </a:gridCol>
              </a:tblGrid>
              <a:tr h="37920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Activity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5979"/>
                  </a:ext>
                </a:extLst>
              </a:tr>
              <a:tr h="37920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Start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88824"/>
                  </a:ext>
                </a:extLst>
              </a:tr>
              <a:tr h="37920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Finish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4683"/>
                  </a:ext>
                </a:extLst>
              </a:tr>
            </a:tbl>
          </a:graphicData>
        </a:graphic>
      </p:graphicFrame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8BB33C11-A9E8-4590-BCBC-C40DEA126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080423"/>
              </p:ext>
            </p:extLst>
          </p:nvPr>
        </p:nvGraphicFramePr>
        <p:xfrm>
          <a:off x="707571" y="2434238"/>
          <a:ext cx="7707084" cy="2460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257">
                  <a:extLst>
                    <a:ext uri="{9D8B030D-6E8A-4147-A177-3AD203B41FA5}">
                      <a16:colId xmlns:a16="http://schemas.microsoft.com/office/drawing/2014/main" val="3731573547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583360981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267106540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560915715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643610814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3838999884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3262113553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1498954624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662846423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1159464687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872364142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3476026771"/>
                    </a:ext>
                  </a:extLst>
                </a:gridCol>
              </a:tblGrid>
              <a:tr h="304427"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02060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569832"/>
                  </a:ext>
                </a:extLst>
              </a:tr>
              <a:tr h="304427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37590"/>
                  </a:ext>
                </a:extLst>
              </a:tr>
              <a:tr h="329347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419717"/>
                  </a:ext>
                </a:extLst>
              </a:tr>
              <a:tr h="304427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454944"/>
                  </a:ext>
                </a:extLst>
              </a:tr>
              <a:tr h="304427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FFC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925043"/>
                  </a:ext>
                </a:extLst>
              </a:tr>
              <a:tr h="304427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206057"/>
                  </a:ext>
                </a:extLst>
              </a:tr>
              <a:tr h="304427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860585"/>
                  </a:ext>
                </a:extLst>
              </a:tr>
              <a:tr h="304427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500" dirty="0">
                        <a:solidFill>
                          <a:srgbClr val="00206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26721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8132A4C-EAC6-413E-BEC6-BA769D4A5C8F}"/>
              </a:ext>
            </a:extLst>
          </p:cNvPr>
          <p:cNvSpPr/>
          <p:nvPr/>
        </p:nvSpPr>
        <p:spPr>
          <a:xfrm>
            <a:off x="2623458" y="1148390"/>
            <a:ext cx="968828" cy="1137611"/>
          </a:xfrm>
          <a:prstGeom prst="rect">
            <a:avLst/>
          </a:prstGeom>
          <a:solidFill>
            <a:srgbClr val="404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33E154-DBBC-4C2A-8714-6FEA5BF49FE3}"/>
              </a:ext>
            </a:extLst>
          </p:cNvPr>
          <p:cNvSpPr/>
          <p:nvPr/>
        </p:nvSpPr>
        <p:spPr>
          <a:xfrm>
            <a:off x="4572001" y="1148389"/>
            <a:ext cx="968828" cy="1137611"/>
          </a:xfrm>
          <a:prstGeom prst="rect">
            <a:avLst/>
          </a:prstGeom>
          <a:solidFill>
            <a:srgbClr val="404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B1D98C-AA08-411E-B633-BCD0E9241F20}"/>
              </a:ext>
            </a:extLst>
          </p:cNvPr>
          <p:cNvSpPr/>
          <p:nvPr/>
        </p:nvSpPr>
        <p:spPr>
          <a:xfrm>
            <a:off x="5529943" y="1148389"/>
            <a:ext cx="968828" cy="1137611"/>
          </a:xfrm>
          <a:prstGeom prst="rect">
            <a:avLst/>
          </a:prstGeom>
          <a:solidFill>
            <a:srgbClr val="404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079E2E-3369-4DDF-B715-38F461F3959F}"/>
              </a:ext>
            </a:extLst>
          </p:cNvPr>
          <p:cNvSpPr/>
          <p:nvPr/>
        </p:nvSpPr>
        <p:spPr>
          <a:xfrm>
            <a:off x="7456715" y="1148389"/>
            <a:ext cx="968828" cy="1137611"/>
          </a:xfrm>
          <a:prstGeom prst="rect">
            <a:avLst/>
          </a:prstGeom>
          <a:solidFill>
            <a:srgbClr val="4044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72142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Activity Selection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5429A-0545-4E98-A5AA-47A529348C0A}"/>
              </a:ext>
            </a:extLst>
          </p:cNvPr>
          <p:cNvSpPr txBox="1"/>
          <p:nvPr/>
        </p:nvSpPr>
        <p:spPr>
          <a:xfrm>
            <a:off x="719155" y="1688521"/>
            <a:ext cx="80658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Sort the activities by their finishing times (in ascending order).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latin typeface="Barlow Semi Condensed Medium" panose="00000606000000000000" pitchFamily="2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Select the first activity (which finishes the earliest).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latin typeface="Barlow Semi Condensed Medium" panose="00000606000000000000" pitchFamily="2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Iterate through the remaining activities:</a:t>
            </a:r>
          </a:p>
          <a:p>
            <a:pPr lvl="4"/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	- If the start time of the current activity is greater than or equal to the finish time of the last selected activity, select it.</a:t>
            </a:r>
          </a:p>
          <a:p>
            <a:pPr lvl="4"/>
            <a:endParaRPr lang="en-US" sz="1800" dirty="0">
              <a:solidFill>
                <a:srgbClr val="002060"/>
              </a:solidFill>
              <a:latin typeface="Barlow Semi Condensed Medium" panose="00000606000000000000" pitchFamily="2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Continue until all activities are checked.</a:t>
            </a:r>
          </a:p>
        </p:txBody>
      </p:sp>
    </p:spTree>
    <p:extLst>
      <p:ext uri="{BB962C8B-B14F-4D97-AF65-F5344CB8AC3E}">
        <p14:creationId xmlns:p14="http://schemas.microsoft.com/office/powerpoint/2010/main" val="1011622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8BA1B-2D2E-925F-4575-9BE2C7A0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6AB7-A6ED-AE7E-5242-B359EBE8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40D47-96C5-B784-9F88-00BD0756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19" y="1253066"/>
            <a:ext cx="8371840" cy="3440854"/>
          </a:xfrm>
        </p:spPr>
        <p:txBody>
          <a:bodyPr anchor="ctr">
            <a:noAutofit/>
          </a:bodyPr>
          <a:lstStyle/>
          <a:p>
            <a:pPr algn="just"/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Given </a:t>
            </a:r>
            <a:r>
              <a:rPr lang="en-US" sz="1600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activities with their </a:t>
            </a:r>
            <a:r>
              <a:rPr lang="en-US" sz="1600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start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and </a:t>
            </a:r>
            <a:r>
              <a:rPr lang="en-US" sz="1600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finish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times, the goal is to select the </a:t>
            </a:r>
            <a:r>
              <a:rPr lang="en-US" sz="1600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maximum number of activities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that can be performed by a single person, assuming that the person can work on only one activity at a time.</a:t>
            </a:r>
          </a:p>
          <a:p>
            <a:r>
              <a:rPr lang="en-US" sz="1600" b="1" dirty="0">
                <a:solidFill>
                  <a:schemeClr val="accent1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Input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An integer 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representing the number of activities.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An array 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start[]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of size 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where 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start[</a:t>
            </a:r>
            <a:r>
              <a:rPr lang="en-US" sz="1600" b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is the start time of the </a:t>
            </a:r>
            <a:r>
              <a:rPr lang="en-US" sz="1600" b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i-th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activity.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An array 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finish[]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of size 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where 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finish[</a:t>
            </a:r>
            <a:r>
              <a:rPr lang="en-US" sz="1600" b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is the finish time of the </a:t>
            </a:r>
            <a:r>
              <a:rPr lang="en-US" sz="1600" b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i-th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activity.</a:t>
            </a:r>
            <a:endParaRPr lang="en-US" sz="1600" b="1" i="1" dirty="0">
              <a:latin typeface="Barlow Semi Condensed Medium" panose="00000606000000000000" pitchFamily="2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accent1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Objective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Select the maximum number of activities that can be performed without any overlapping.</a:t>
            </a:r>
          </a:p>
          <a:p>
            <a:r>
              <a:rPr lang="en-US" sz="1600" b="1" dirty="0">
                <a:solidFill>
                  <a:schemeClr val="accent1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Constraints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1 ≤ </a:t>
            </a:r>
            <a:r>
              <a:rPr lang="en-US" sz="1600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≤ 10</a:t>
            </a:r>
            <a:r>
              <a:rPr lang="en-US" sz="1600" baseline="300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5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(large input sizes possible)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1 ≤ </a:t>
            </a:r>
            <a:r>
              <a:rPr lang="en-US" sz="1600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start[</a:t>
            </a:r>
            <a:r>
              <a:rPr lang="en-US" sz="1600" b="1" i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sz="1600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], finish[</a:t>
            </a:r>
            <a:r>
              <a:rPr lang="en-US" sz="1600" b="1" i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sz="1600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≤ 10</a:t>
            </a:r>
            <a:r>
              <a:rPr lang="en-US" sz="1600" baseline="300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4736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E8F8-E580-933B-7E81-40A174E7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049D3-81A5-A75B-9395-11966C6C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59" y="364364"/>
            <a:ext cx="2209102" cy="5727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Pseudocode: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C5A90-9FC2-6FBF-1B0B-06FD0BB2CE17}"/>
              </a:ext>
            </a:extLst>
          </p:cNvPr>
          <p:cNvSpPr txBox="1"/>
          <p:nvPr/>
        </p:nvSpPr>
        <p:spPr>
          <a:xfrm>
            <a:off x="5520267" y="2020565"/>
            <a:ext cx="3336186" cy="148354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chemeClr val="accent1"/>
                </a:solidFill>
              </a:rPr>
              <a:t>Time Complexity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Sorting the activities</a:t>
            </a:r>
            <a:r>
              <a:rPr lang="pt-BR" dirty="0"/>
              <a:t>: O(nlog⁡n)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Iterating through activities</a:t>
            </a:r>
            <a:r>
              <a:rPr lang="pt-BR" dirty="0"/>
              <a:t>: O(n)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Overall Complexity</a:t>
            </a:r>
            <a:r>
              <a:rPr lang="pt-BR" dirty="0"/>
              <a:t>: O(nlog⁡n)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C6A12-4BF7-7C48-46BB-D7F37E2E7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5D9720-9441-3449-72F6-D8ACAD1EA433}"/>
              </a:ext>
            </a:extLst>
          </p:cNvPr>
          <p:cNvSpPr txBox="1">
            <a:spLocks/>
          </p:cNvSpPr>
          <p:nvPr/>
        </p:nvSpPr>
        <p:spPr>
          <a:xfrm>
            <a:off x="762001" y="1224275"/>
            <a:ext cx="4450079" cy="3554861"/>
          </a:xfrm>
        </p:spPr>
        <p:txBody>
          <a:bodyPr anchor="ctr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ACTIVITY_SELECTION(start[], finish[], N)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Sort activities based on finish times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the first activity and print it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N-1 DO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start[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&gt;= finish[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THEN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Select activity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 it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ENDIF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FOR</a:t>
            </a:r>
          </a:p>
          <a:p>
            <a:pPr marL="182880">
              <a:lnSpc>
                <a:spcPct val="12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26502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>
          <a:extLst>
            <a:ext uri="{FF2B5EF4-FFF2-40B4-BE49-F238E27FC236}">
              <a16:creationId xmlns:a16="http://schemas.microsoft.com/office/drawing/2014/main" id="{3FFD451C-C804-B93D-6457-C19E7591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6DED562E-3846-09FE-1BE7-C3077037FED7}"/>
              </a:ext>
            </a:extLst>
          </p:cNvPr>
          <p:cNvSpPr txBox="1">
            <a:spLocks/>
          </p:cNvSpPr>
          <p:nvPr/>
        </p:nvSpPr>
        <p:spPr>
          <a:xfrm>
            <a:off x="809413" y="2032200"/>
            <a:ext cx="7525174" cy="77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3600" dirty="0">
                <a:solidFill>
                  <a:srgbClr val="002060"/>
                </a:solidFill>
              </a:rPr>
              <a:t>An Example</a:t>
            </a:r>
          </a:p>
        </p:txBody>
      </p:sp>
    </p:spTree>
    <p:extLst>
      <p:ext uri="{BB962C8B-B14F-4D97-AF65-F5344CB8AC3E}">
        <p14:creationId xmlns:p14="http://schemas.microsoft.com/office/powerpoint/2010/main" val="385709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234" y="560490"/>
            <a:ext cx="8445500" cy="4022519"/>
          </a:xfrm>
        </p:spPr>
        <p:txBody>
          <a:bodyPr anchor="t">
            <a:normAutofit/>
          </a:bodyPr>
          <a:lstStyle/>
          <a:p>
            <a:pPr marL="182880"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is given a set of activities, each with a specific start and finish time. </a:t>
            </a:r>
          </a:p>
          <a:p>
            <a:pPr marL="182880"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select the maximum number of non-overlapping activities that can be performed by a single person.</a:t>
            </a:r>
          </a:p>
          <a:p>
            <a:pPr marL="137160" algn="just"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4458B5-1D2A-8C99-14A4-53D3DD067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085364"/>
              </p:ext>
            </p:extLst>
          </p:nvPr>
        </p:nvGraphicFramePr>
        <p:xfrm>
          <a:off x="2321746" y="1496165"/>
          <a:ext cx="5289054" cy="3012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3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3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35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81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974722"/>
              </p:ext>
            </p:extLst>
          </p:nvPr>
        </p:nvGraphicFramePr>
        <p:xfrm>
          <a:off x="3910083" y="662094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7419" y="1328797"/>
            <a:ext cx="3021614" cy="269304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activities based on finish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19" y="2505425"/>
            <a:ext cx="3021614" cy="463204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first activity and print it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graphicFrame>
        <p:nvGraphicFramePr>
          <p:cNvPr id="12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4042937"/>
              </p:ext>
            </p:extLst>
          </p:nvPr>
        </p:nvGraphicFramePr>
        <p:xfrm>
          <a:off x="3910083" y="2012562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38083" y="3328720"/>
          <a:ext cx="4699377" cy="835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472"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03418" y="32586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755" y="325603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9045" y="325603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231" y="325603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8056" y="32586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3393" y="325603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3683" y="325603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5869" y="325603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132" y="325603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319" y="325603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4763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6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1" y="1769064"/>
            <a:ext cx="3021614" cy="123880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N-1 DO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start[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&gt;= finish[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THEN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Select activity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 it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ENDIF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FOR</a:t>
            </a:r>
          </a:p>
        </p:txBody>
      </p:sp>
      <p:graphicFrame>
        <p:nvGraphicFramePr>
          <p:cNvPr id="12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3034588"/>
              </p:ext>
            </p:extLst>
          </p:nvPr>
        </p:nvGraphicFramePr>
        <p:xfrm>
          <a:off x="3922025" y="1128313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38032" y="2632684"/>
          <a:ext cx="4699377" cy="835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472"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6382469"/>
              </p:ext>
            </p:extLst>
          </p:nvPr>
        </p:nvGraphicFramePr>
        <p:xfrm>
          <a:off x="3922025" y="3678533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32834" y="249678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8172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461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0648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472" y="249678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2810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099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5286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7549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9735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2540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0488" y="1736381"/>
            <a:ext cx="3021614" cy="123880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N-1 DO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start[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&gt;= finish[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THEN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Select activity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 it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ENDIF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FOR</a:t>
            </a:r>
          </a:p>
        </p:txBody>
      </p:sp>
      <p:graphicFrame>
        <p:nvGraphicFramePr>
          <p:cNvPr id="12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3246938"/>
              </p:ext>
            </p:extLst>
          </p:nvPr>
        </p:nvGraphicFramePr>
        <p:xfrm>
          <a:off x="3922025" y="1123484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38032" y="2632684"/>
          <a:ext cx="4699377" cy="835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472"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4990949"/>
              </p:ext>
            </p:extLst>
          </p:nvPr>
        </p:nvGraphicFramePr>
        <p:xfrm>
          <a:off x="3922025" y="3678533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485639" y="2433629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0089" y="2433629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2275" y="2433629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510" y="247911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8847" y="247651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137" y="247651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1323" y="247651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8148" y="247911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3485" y="247651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5961" y="247651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0742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1" y="1769064"/>
            <a:ext cx="3021614" cy="123880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N-1 DO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start[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&gt;= finish[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THEN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Select activity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 it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ENDIF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FOR</a:t>
            </a:r>
          </a:p>
        </p:txBody>
      </p:sp>
      <p:graphicFrame>
        <p:nvGraphicFramePr>
          <p:cNvPr id="12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616846"/>
              </p:ext>
            </p:extLst>
          </p:nvPr>
        </p:nvGraphicFramePr>
        <p:xfrm>
          <a:off x="3894255" y="935377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38032" y="2632684"/>
          <a:ext cx="4699377" cy="835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472"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5085918"/>
              </p:ext>
            </p:extLst>
          </p:nvPr>
        </p:nvGraphicFramePr>
        <p:xfrm>
          <a:off x="3922025" y="3678533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18918" y="249678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4255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4545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6731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3556" y="249678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893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9183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1369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3632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5819" y="2494184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0325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1" y="1769064"/>
            <a:ext cx="3021614" cy="123880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N-1 DO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start[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&gt;= finish[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THEN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Select activity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 it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ENDIF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FOR</a:t>
            </a:r>
          </a:p>
        </p:txBody>
      </p:sp>
      <p:graphicFrame>
        <p:nvGraphicFramePr>
          <p:cNvPr id="12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8527449"/>
              </p:ext>
            </p:extLst>
          </p:nvPr>
        </p:nvGraphicFramePr>
        <p:xfrm>
          <a:off x="3894318" y="687296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348340"/>
              </p:ext>
            </p:extLst>
          </p:nvPr>
        </p:nvGraphicFramePr>
        <p:xfrm>
          <a:off x="4043734" y="2632684"/>
          <a:ext cx="4699377" cy="835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472"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9365182"/>
              </p:ext>
            </p:extLst>
          </p:nvPr>
        </p:nvGraphicFramePr>
        <p:xfrm>
          <a:off x="3922025" y="3678533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18980" y="2482926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4318" y="248033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4607" y="248033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6794" y="248033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3618" y="2482926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956" y="248033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9245" y="248033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1432" y="248033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3695" y="248033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5881" y="2480330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7945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2961" y="1769064"/>
            <a:ext cx="3021614" cy="123880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N-1 DO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start[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&gt;= finish[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THEN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Select activity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print it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lastSelected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ENDIF</a:t>
            </a:r>
          </a:p>
          <a:p>
            <a:pPr marL="137160"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 FOR</a:t>
            </a:r>
          </a:p>
        </p:txBody>
      </p:sp>
      <p:graphicFrame>
        <p:nvGraphicFramePr>
          <p:cNvPr id="12" name="Content Placeholder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4356917"/>
              </p:ext>
            </p:extLst>
          </p:nvPr>
        </p:nvGraphicFramePr>
        <p:xfrm>
          <a:off x="3922025" y="1170554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38032" y="2632684"/>
          <a:ext cx="4699377" cy="835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472"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472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"/>
          <p:cNvGraphicFramePr>
            <a:graphicFrameLocks/>
          </p:cNvGraphicFramePr>
          <p:nvPr/>
        </p:nvGraphicFramePr>
        <p:xfrm>
          <a:off x="3922025" y="3678533"/>
          <a:ext cx="5107676" cy="10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Finish Time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12053" y="2489853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7391" y="248725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7680" y="248725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867" y="248725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691" y="2489853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2029" y="248725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2318" y="248725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505" y="248725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768" y="248725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8954" y="2487257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6374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22960" y="342316"/>
            <a:ext cx="7543800" cy="61780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Cont’d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34169" y="2417732"/>
          <a:ext cx="4699377" cy="55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2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472"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47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499504" y="2281828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4842" y="22792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5131" y="22792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318" y="22792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4142" y="2281828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9480" y="22792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9769" y="22792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1956" y="22792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4219" y="22792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6405" y="2279232"/>
            <a:ext cx="318655" cy="25391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33785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8696" y="1405961"/>
            <a:ext cx="7166608" cy="1894083"/>
          </a:xfrm>
        </p:spPr>
        <p:txBody>
          <a:bodyPr anchor="ctr">
            <a:noAutofit/>
          </a:bodyPr>
          <a:lstStyle/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Job scheduling: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Scheduling jobs or tasks where each task has a deadline.</a:t>
            </a:r>
          </a:p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Conference room scheduling: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Allocating meeting rooms based on time slots.</a:t>
            </a:r>
          </a:p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CPU scheduling: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Selecting processes that can run in a non-overlapping manner.</a:t>
            </a:r>
          </a:p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Event planning: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Scheduling events with time constraints.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00100" y="342316"/>
            <a:ext cx="7543800" cy="61780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cs typeface="Times New Roman" panose="02020603050405020304" pitchFamily="18" charset="0"/>
              </a:rPr>
              <a:t>Applications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9424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EC6BE6DE-28FD-A57F-3701-F48361F6CB37}"/>
              </a:ext>
            </a:extLst>
          </p:cNvPr>
          <p:cNvSpPr txBox="1">
            <a:spLocks/>
          </p:cNvSpPr>
          <p:nvPr/>
        </p:nvSpPr>
        <p:spPr>
          <a:xfrm>
            <a:off x="2103150" y="2032200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7200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8190315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E712EA-5242-43B9-B2ED-E04CABCFFC89}"/>
</file>

<file path=customXml/itemProps2.xml><?xml version="1.0" encoding="utf-8"?>
<ds:datastoreItem xmlns:ds="http://schemas.openxmlformats.org/officeDocument/2006/customXml" ds:itemID="{017A2342-945E-4C3B-93DD-BA1FED07151A}"/>
</file>

<file path=customXml/itemProps3.xml><?xml version="1.0" encoding="utf-8"?>
<ds:datastoreItem xmlns:ds="http://schemas.openxmlformats.org/officeDocument/2006/customXml" ds:itemID="{3243EFCB-DEC0-4660-B624-1495457C79FB}"/>
</file>

<file path=docProps/app.xml><?xml version="1.0" encoding="utf-8"?>
<Properties xmlns="http://schemas.openxmlformats.org/officeDocument/2006/extended-properties" xmlns:vt="http://schemas.openxmlformats.org/officeDocument/2006/docPropsVTypes">
  <TotalTime>24228</TotalTime>
  <Words>1148</Words>
  <Application>Microsoft Office PowerPoint</Application>
  <PresentationFormat>On-screen Show (16:9)</PresentationFormat>
  <Paragraphs>545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Times New Roman</vt:lpstr>
      <vt:lpstr>Barlow Semi Condensed Medium</vt:lpstr>
      <vt:lpstr>Fjalla One</vt:lpstr>
      <vt:lpstr>Barlow Semi Condensed</vt:lpstr>
      <vt:lpstr>Technology Consulting by Slidesgo</vt:lpstr>
      <vt:lpstr>Greedy Algorithms: Activity Selection Problem</vt:lpstr>
      <vt:lpstr>PowerPoint Presentation</vt:lpstr>
      <vt:lpstr>Activity Selection Problem</vt:lpstr>
      <vt:lpstr>Activity Selection Problem</vt:lpstr>
      <vt:lpstr>Activity Selection Algorithm</vt:lpstr>
      <vt:lpstr>Problem Statement</vt:lpstr>
      <vt:lpstr>Pseudocode: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Cont’d</vt:lpstr>
      <vt:lpstr>Applications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Captioning(Bangla)  using deep learning methods</dc:title>
  <dc:creator>Lenovo</dc:creator>
  <cp:lastModifiedBy>Sumaiya Tasnim</cp:lastModifiedBy>
  <cp:revision>414</cp:revision>
  <dcterms:modified xsi:type="dcterms:W3CDTF">2025-05-21T10:18:45Z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