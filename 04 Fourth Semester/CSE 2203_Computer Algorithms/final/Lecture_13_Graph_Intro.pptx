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6" r:id="rId5"/>
    <p:sldId id="297" r:id="rId6"/>
    <p:sldId id="298" r:id="rId7"/>
    <p:sldId id="28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8" r:id="rId17"/>
    <p:sldId id="307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728A"/>
    <a:srgbClr val="40445F"/>
    <a:srgbClr val="F0F0F2"/>
    <a:srgbClr val="606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0D7A60-AD7E-49AB-8101-F1A894FAD62A}" v="1" dt="2021-08-27T14:27:07.123"/>
    <p1510:client id="{EA8D7DFF-B00A-46E8-B9A6-8F7DD2BB1EDB}" v="1" dt="2021-08-28T20:38:38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EE CHAKRABORTY" userId="S::201311018@vu.edu.bd::5d4e3ac3-c08d-4f89-99fd-c9652cdce5c8" providerId="AD" clId="Web-{8E0D7A60-AD7E-49AB-8101-F1A894FAD62A}"/>
    <pc:docChg chg="modSld">
      <pc:chgData name="SHREYASEE CHAKRABORTY" userId="S::201311018@vu.edu.bd::5d4e3ac3-c08d-4f89-99fd-c9652cdce5c8" providerId="AD" clId="Web-{8E0D7A60-AD7E-49AB-8101-F1A894FAD62A}" dt="2021-08-27T14:27:07.107" v="0" actId="14100"/>
      <pc:docMkLst>
        <pc:docMk/>
      </pc:docMkLst>
      <pc:sldChg chg="modSp">
        <pc:chgData name="SHREYASEE CHAKRABORTY" userId="S::201311018@vu.edu.bd::5d4e3ac3-c08d-4f89-99fd-c9652cdce5c8" providerId="AD" clId="Web-{8E0D7A60-AD7E-49AB-8101-F1A894FAD62A}" dt="2021-08-27T14:27:07.107" v="0" actId="14100"/>
        <pc:sldMkLst>
          <pc:docMk/>
          <pc:sldMk cId="2021418222" sldId="304"/>
        </pc:sldMkLst>
        <pc:spChg chg="mod">
          <ac:chgData name="SHREYASEE CHAKRABORTY" userId="S::201311018@vu.edu.bd::5d4e3ac3-c08d-4f89-99fd-c9652cdce5c8" providerId="AD" clId="Web-{8E0D7A60-AD7E-49AB-8101-F1A894FAD62A}" dt="2021-08-27T14:27:07.107" v="0" actId="14100"/>
          <ac:spMkLst>
            <pc:docMk/>
            <pc:sldMk cId="2021418222" sldId="304"/>
            <ac:spMk id="4" creationId="{F9A8FF7D-250B-4E70-8882-13541887B7F2}"/>
          </ac:spMkLst>
        </pc:spChg>
      </pc:sldChg>
    </pc:docChg>
  </pc:docChgLst>
  <pc:docChgLst>
    <pc:chgData name="SAMILA AKTER" userId="S::201311026@vu.edu.bd::7bdfcb50-c165-4add-bdd5-c4f40d06c9ba" providerId="AD" clId="Web-{EA8D7DFF-B00A-46E8-B9A6-8F7DD2BB1EDB}"/>
    <pc:docChg chg="sldOrd">
      <pc:chgData name="SAMILA AKTER" userId="S::201311026@vu.edu.bd::7bdfcb50-c165-4add-bdd5-c4f40d06c9ba" providerId="AD" clId="Web-{EA8D7DFF-B00A-46E8-B9A6-8F7DD2BB1EDB}" dt="2021-08-28T20:38:38.118" v="0"/>
      <pc:docMkLst>
        <pc:docMk/>
      </pc:docMkLst>
      <pc:sldChg chg="ord">
        <pc:chgData name="SAMILA AKTER" userId="S::201311026@vu.edu.bd::7bdfcb50-c165-4add-bdd5-c4f40d06c9ba" providerId="AD" clId="Web-{EA8D7DFF-B00A-46E8-B9A6-8F7DD2BB1EDB}" dt="2021-08-28T20:38:38.118" v="0"/>
        <pc:sldMkLst>
          <pc:docMk/>
          <pc:sldMk cId="3174500464" sldId="3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59687B-5BF0-43CC-90DF-649EFDC86E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01A84-84C1-406E-BF0B-062636A6BC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579F2-7001-489D-8E0C-E812F8ED53E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F72E9-785C-4E9E-AFEB-ABC946A4F5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11E8D-48CA-4533-B9BD-BA65108AAE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9AA7F-6779-4AD5-B455-6EC7B06E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42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6D345-46D5-48CF-9CA4-91E879667427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DF29F-79F6-42B9-AA34-761B3336E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7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0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82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8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1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7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51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84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41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86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27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53F0-2A6F-4AF7-9896-B6343307E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AE5A2-3318-491E-82EE-02F0FC85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B4EEE-EECE-43A2-B0CF-44E046D6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F3116-3147-4AB2-986A-AECD6C1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53AD-94CD-413E-82C5-12BD650D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5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EF6D-F6AB-4DEA-802E-B8AD3049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4050-F067-4752-A564-855FBE81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583E-172B-45FE-922E-E87B6BA1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940D6-C7C8-4BDD-82EB-F3C9E15C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6292-F1D1-4E21-AD08-392F4BC0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543C-13E3-4F1E-88DB-7B964454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21550-AB2C-4DA8-A840-324C767F4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BFCC-9865-486B-ACAF-CE598505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A27C-1452-4FAB-9A94-576938AE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962F-B19D-4D89-8042-0013ACEE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838D-8039-442C-B4A4-C80844B2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D85C-A0E4-4304-9DCD-0F7D3E92D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97FC9-34BC-4B7D-BAE3-CFDC561C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BA364-8B93-4359-8ABA-4C6221E0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B8B2B-4863-4A79-B27B-A94C667F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1331A-4788-4A1B-86AB-D2508B72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1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F7CA-B304-48DE-A67F-59138ABF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F9995-12F1-4E86-B290-A6EA8928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A509-2AF9-4DE2-A34C-E792D409E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88771-81E1-443D-A9A5-9574FDD6A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5B22D-5FEA-4B4E-9145-AEC385341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79BDD-FD46-471E-865A-E02D3A8C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68FAE-0B50-4D3D-BE4F-3292759A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6EFA7-66CF-4B3E-8407-56EF7BA1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6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CBA3-B3D9-4F53-9A1F-8168A56D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F531F-ECCC-4FB3-9B03-41983DE9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F1C90-C440-42BC-BFA9-D2C85BE4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8BC4C-A23E-4CFD-B4F8-DCE93069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8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94F1E-3E44-4381-8D21-FB115DC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BB21F-8D4B-4344-8AA6-7ABAF1A8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3A788-6A54-42A9-8B3D-B0241A58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5244-13A8-4E5A-AD3C-5B172E42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42C4-EE78-4E23-87A6-E6ADAB686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83AAF-3887-4894-94B2-921535410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23D4F-FE3C-4A57-972D-7170A966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759C3-047E-4DFE-B550-8CB74990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2B1C1-5736-43D1-B863-DE4691EA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79F4-4BDE-4471-B7F5-1AB02487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E6C62-DAAA-49E3-9FC4-57FFE41AF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D199E-14F9-4A6A-95AB-40C35C97C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38902-68A2-4FC5-829F-0B1A9E5F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18E9C-5512-40B2-89FA-E865CC86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73F3E-2092-427D-8435-67994C39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2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8B2B-B4AF-45A4-80DC-6F185017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B85C2-84BE-4CE8-87D1-A8C805261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C5232-2C84-4E47-9A7E-D6F08090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0729B-4C8F-4018-8C46-E6B9DEDF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54A3B-F50D-44E7-A4F5-CADAE508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2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7636A0-0079-4144-B5D8-E2C55CB58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5E0BC-8D39-47F4-AE0B-A036B63B5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C164-9737-474D-BD14-3D7FA1A3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17C3-39BE-4B2C-8F9C-95BECB5E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C05B6-7142-43F5-8A93-E51C152C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1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6000">
              <a:srgbClr val="40445F"/>
            </a:gs>
            <a:gs pos="0">
              <a:srgbClr val="6C728A"/>
            </a:gs>
            <a:gs pos="35000">
              <a:srgbClr val="60667E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77DD1-6407-46E0-8A4A-53D869A7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93006-FA37-4EE9-A2D1-ED91FE5F3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7342-BA8D-4E1C-9F73-41A8E3E29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2634D-EAB4-4FA1-8307-497FC21CD75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784B8-B028-4987-AE6B-3E763AE6E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75C39-1CE8-43B9-81D3-CE6942D4C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9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CD9EE-3B02-46F5-BE54-5420B62E7DBC}"/>
              </a:ext>
            </a:extLst>
          </p:cNvPr>
          <p:cNvSpPr txBox="1"/>
          <p:nvPr/>
        </p:nvSpPr>
        <p:spPr>
          <a:xfrm>
            <a:off x="551544" y="3878628"/>
            <a:ext cx="10813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spc="600" dirty="0">
                <a:solidFill>
                  <a:srgbClr val="92D050"/>
                </a:solidFill>
                <a:latin typeface="Montserrat" panose="00000500000000000000" pitchFamily="2" charset="0"/>
              </a:rPr>
              <a:t>GRAPH THEORY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CD0B6-A38A-4C0B-B89A-B7E97B36BAA3}"/>
              </a:ext>
            </a:extLst>
          </p:cNvPr>
          <p:cNvSpPr txBox="1"/>
          <p:nvPr/>
        </p:nvSpPr>
        <p:spPr>
          <a:xfrm>
            <a:off x="5283200" y="4354285"/>
            <a:ext cx="6037943" cy="1138773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2" charset="0"/>
              </a:rPr>
              <a:t>Mosiur Rahman Sweet</a:t>
            </a:r>
          </a:p>
          <a:p>
            <a:pPr algn="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 Light" panose="00000400000000000000" pitchFamily="2" charset="0"/>
              </a:rPr>
              <a:t>Lecturer (Former)</a:t>
            </a:r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 Light" panose="00000400000000000000" pitchFamily="2" charset="0"/>
              </a:rPr>
            </a:b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 Light" panose="00000400000000000000" pitchFamily="2" charset="0"/>
              </a:rPr>
              <a:t>Department of Computer Science and Engineering</a:t>
            </a:r>
          </a:p>
          <a:p>
            <a:pPr algn="r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 Light" panose="00000400000000000000" pitchFamily="2" charset="0"/>
              </a:rPr>
              <a:t>Varendra University</a:t>
            </a:r>
          </a:p>
        </p:txBody>
      </p:sp>
      <p:pic>
        <p:nvPicPr>
          <p:cNvPr id="10" name="Graphic 9" descr="Lightbulb">
            <a:extLst>
              <a:ext uri="{FF2B5EF4-FFF2-40B4-BE49-F238E27FC236}">
                <a16:creationId xmlns:a16="http://schemas.microsoft.com/office/drawing/2014/main" id="{1AA909CE-6F5E-4612-8953-43DA15BCF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0663" y="1030973"/>
            <a:ext cx="2847655" cy="2847655"/>
          </a:xfrm>
          <a:prstGeom prst="rect">
            <a:avLst/>
          </a:prstGeom>
        </p:spPr>
      </p:pic>
      <p:pic>
        <p:nvPicPr>
          <p:cNvPr id="9" name="Graphic 8" descr="Lightbulb">
            <a:extLst>
              <a:ext uri="{FF2B5EF4-FFF2-40B4-BE49-F238E27FC236}">
                <a16:creationId xmlns:a16="http://schemas.microsoft.com/office/drawing/2014/main" id="{0FFD2D27-4DB8-4F8E-BC79-86E308244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0663" y="1030972"/>
            <a:ext cx="2847655" cy="28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7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81E21E-81AF-4B67-A0B3-EAA09686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272"/>
            <a:ext cx="12192000" cy="6996909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42A80DA-C1F0-4F53-AE8E-DB95E75B8A39}"/>
              </a:ext>
            </a:extLst>
          </p:cNvPr>
          <p:cNvSpPr/>
          <p:nvPr/>
        </p:nvSpPr>
        <p:spPr>
          <a:xfrm>
            <a:off x="4107543" y="36268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F1FC5B8-2F80-4D4C-9FAE-4796001C6F99}"/>
              </a:ext>
            </a:extLst>
          </p:cNvPr>
          <p:cNvSpPr/>
          <p:nvPr/>
        </p:nvSpPr>
        <p:spPr>
          <a:xfrm>
            <a:off x="4586514" y="6175829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B8C43D0-F390-4DAE-83B7-D5E0D9D0EFA6}"/>
              </a:ext>
            </a:extLst>
          </p:cNvPr>
          <p:cNvSpPr/>
          <p:nvPr/>
        </p:nvSpPr>
        <p:spPr>
          <a:xfrm>
            <a:off x="9216571" y="3157367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A97432D-1066-433C-8795-7537511F5319}"/>
              </a:ext>
            </a:extLst>
          </p:cNvPr>
          <p:cNvSpPr/>
          <p:nvPr/>
        </p:nvSpPr>
        <p:spPr>
          <a:xfrm>
            <a:off x="5754914" y="1652872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3F08A92-AF11-4B87-BA7A-8D0809DD6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029" y="3976180"/>
            <a:ext cx="2294892" cy="30750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8D3973-1433-49AF-94D2-78803179F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724" y="-41786"/>
            <a:ext cx="2517818" cy="3035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3013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Bridge Of </a:t>
            </a:r>
            <a:r>
              <a:rPr lang="en-US" b="1" dirty="0">
                <a:solidFill>
                  <a:srgbClr val="92D050"/>
                </a:solidFill>
              </a:rPr>
              <a:t>Konigsberg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A6D9906-E18E-43C0-B93A-765C050EC4BF}"/>
              </a:ext>
            </a:extLst>
          </p:cNvPr>
          <p:cNvGrpSpPr/>
          <p:nvPr/>
        </p:nvGrpSpPr>
        <p:grpSpPr>
          <a:xfrm>
            <a:off x="5849257" y="2200672"/>
            <a:ext cx="5740400" cy="3385570"/>
            <a:chOff x="2061029" y="2333058"/>
            <a:chExt cx="5740400" cy="3385570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8F17C97D-6C81-4123-A49A-BC3071838F1A}"/>
                </a:ext>
              </a:extLst>
            </p:cNvPr>
            <p:cNvSpPr/>
            <p:nvPr/>
          </p:nvSpPr>
          <p:spPr>
            <a:xfrm>
              <a:off x="2061029" y="3701143"/>
              <a:ext cx="682171" cy="682171"/>
            </a:xfrm>
            <a:prstGeom prst="flowChartConnector">
              <a:avLst/>
            </a:prstGeom>
            <a:solidFill>
              <a:srgbClr val="6C728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DAE6B9CA-C0C0-4F2D-864D-29F0628F2B3E}"/>
                </a:ext>
              </a:extLst>
            </p:cNvPr>
            <p:cNvSpPr/>
            <p:nvPr/>
          </p:nvSpPr>
          <p:spPr>
            <a:xfrm>
              <a:off x="7119258" y="3701143"/>
              <a:ext cx="682171" cy="682171"/>
            </a:xfrm>
            <a:prstGeom prst="flowChartConnector">
              <a:avLst/>
            </a:prstGeom>
            <a:solidFill>
              <a:srgbClr val="6C728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BA676992-2C23-4869-91A7-C3A4B137FA70}"/>
                </a:ext>
              </a:extLst>
            </p:cNvPr>
            <p:cNvSpPr/>
            <p:nvPr/>
          </p:nvSpPr>
          <p:spPr>
            <a:xfrm>
              <a:off x="4317999" y="5036457"/>
              <a:ext cx="682171" cy="682171"/>
            </a:xfrm>
            <a:prstGeom prst="flowChartConnector">
              <a:avLst/>
            </a:prstGeom>
            <a:solidFill>
              <a:srgbClr val="6C728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B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0E87188-4C60-4B31-A43A-605CF2F12244}"/>
                </a:ext>
              </a:extLst>
            </p:cNvPr>
            <p:cNvSpPr/>
            <p:nvPr/>
          </p:nvSpPr>
          <p:spPr>
            <a:xfrm>
              <a:off x="4318000" y="2333058"/>
              <a:ext cx="682171" cy="682171"/>
            </a:xfrm>
            <a:prstGeom prst="flowChartConnector">
              <a:avLst/>
            </a:prstGeom>
            <a:solidFill>
              <a:srgbClr val="6C728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D</a:t>
              </a:r>
            </a:p>
          </p:txBody>
        </p: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9A53694-30A6-4F23-8325-ABC25A5C6421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10800000" flipV="1">
            <a:off x="6190344" y="2541757"/>
            <a:ext cx="1915885" cy="1026999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AF31EF7-0632-4888-A0C5-70015034175A}"/>
              </a:ext>
            </a:extLst>
          </p:cNvPr>
          <p:cNvCxnSpPr>
            <a:stCxn id="4" idx="4"/>
            <a:endCxn id="8" idx="2"/>
          </p:cNvCxnSpPr>
          <p:nvPr/>
        </p:nvCxnSpPr>
        <p:spPr>
          <a:xfrm rot="16200000" flipH="1">
            <a:off x="6651171" y="3790100"/>
            <a:ext cx="994229" cy="1915884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BA3C454-1DEE-410B-8664-74A62566EE63}"/>
              </a:ext>
            </a:extLst>
          </p:cNvPr>
          <p:cNvCxnSpPr>
            <a:cxnSpLocks/>
            <a:stCxn id="9" idx="6"/>
            <a:endCxn id="6" idx="0"/>
          </p:cNvCxnSpPr>
          <p:nvPr/>
        </p:nvCxnSpPr>
        <p:spPr>
          <a:xfrm>
            <a:off x="8788399" y="2541758"/>
            <a:ext cx="2460173" cy="1026999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1E9A414-769D-4366-BDD6-BC28FB71D04E}"/>
              </a:ext>
            </a:extLst>
          </p:cNvPr>
          <p:cNvCxnSpPr>
            <a:stCxn id="8" idx="6"/>
            <a:endCxn id="6" idx="4"/>
          </p:cNvCxnSpPr>
          <p:nvPr/>
        </p:nvCxnSpPr>
        <p:spPr>
          <a:xfrm flipV="1">
            <a:off x="8788398" y="4250928"/>
            <a:ext cx="2460174" cy="994229"/>
          </a:xfrm>
          <a:prstGeom prst="curved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5D8EF768-133C-4BD8-83F6-0210FD7584DA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6531428" y="3909843"/>
            <a:ext cx="4376058" cy="12700"/>
          </a:xfrm>
          <a:prstGeom prst="curvedConnector3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1F7ADBF-7A9A-4473-B823-FE40DA7E6F82}"/>
              </a:ext>
            </a:extLst>
          </p:cNvPr>
          <p:cNvCxnSpPr>
            <a:cxnSpLocks/>
            <a:stCxn id="4" idx="7"/>
            <a:endCxn id="9" idx="4"/>
          </p:cNvCxnSpPr>
          <p:nvPr/>
        </p:nvCxnSpPr>
        <p:spPr>
          <a:xfrm rot="5400000" flipH="1" flipV="1">
            <a:off x="7046512" y="2267857"/>
            <a:ext cx="785816" cy="2015788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468EE664-AD0C-45B0-A884-C43401288544}"/>
              </a:ext>
            </a:extLst>
          </p:cNvPr>
          <p:cNvCxnSpPr>
            <a:stCxn id="4" idx="5"/>
            <a:endCxn id="8" idx="0"/>
          </p:cNvCxnSpPr>
          <p:nvPr/>
        </p:nvCxnSpPr>
        <p:spPr>
          <a:xfrm rot="16200000" flipH="1">
            <a:off x="7062897" y="3519654"/>
            <a:ext cx="753045" cy="2015787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535901F-EA0A-4BFF-AE65-12119FE68F98}"/>
              </a:ext>
            </a:extLst>
          </p:cNvPr>
          <p:cNvSpPr txBox="1"/>
          <p:nvPr/>
        </p:nvSpPr>
        <p:spPr>
          <a:xfrm>
            <a:off x="1190171" y="2244215"/>
            <a:ext cx="39769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DEGREE OF A : 	5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DEGREE OF B: 	3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DEGREE OF C: 	3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DEGREE OF D:  	3</a:t>
            </a:r>
          </a:p>
        </p:txBody>
      </p:sp>
    </p:spTree>
    <p:extLst>
      <p:ext uri="{BB962C8B-B14F-4D97-AF65-F5344CB8AC3E}">
        <p14:creationId xmlns:p14="http://schemas.microsoft.com/office/powerpoint/2010/main" val="345479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Euler </a:t>
            </a:r>
            <a:r>
              <a:rPr lang="en-US" b="1" dirty="0">
                <a:solidFill>
                  <a:schemeClr val="bg1"/>
                </a:solidFill>
              </a:rPr>
              <a:t>Path and Circuit</a:t>
            </a:r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8C942DC4-61AA-454F-BF7B-479DF897B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741"/>
            <a:ext cx="10515600" cy="93208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</a:rPr>
              <a:t>A graph has an Euler path if and only if there are at most two vertices with odd degree.</a:t>
            </a:r>
          </a:p>
        </p:txBody>
      </p:sp>
      <p:sp>
        <p:nvSpPr>
          <p:cNvPr id="89" name="Content Placeholder 85">
            <a:extLst>
              <a:ext uri="{FF2B5EF4-FFF2-40B4-BE49-F238E27FC236}">
                <a16:creationId xmlns:a16="http://schemas.microsoft.com/office/drawing/2014/main" id="{87C4B648-0675-48BD-A7AF-1E45EB2F42DC}"/>
              </a:ext>
            </a:extLst>
          </p:cNvPr>
          <p:cNvSpPr txBox="1">
            <a:spLocks/>
          </p:cNvSpPr>
          <p:nvPr/>
        </p:nvSpPr>
        <p:spPr>
          <a:xfrm>
            <a:off x="838200" y="4343854"/>
            <a:ext cx="10515600" cy="932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dirty="0">
                <a:solidFill>
                  <a:schemeClr val="bg1"/>
                </a:solidFill>
                <a:effectLst/>
              </a:rPr>
              <a:t>A graph has an Euler circuit if and only if the degree of every vertex is even.</a:t>
            </a:r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A88D0F29-8008-4939-AB11-032610F50AAA}"/>
              </a:ext>
            </a:extLst>
          </p:cNvPr>
          <p:cNvSpPr/>
          <p:nvPr/>
        </p:nvSpPr>
        <p:spPr>
          <a:xfrm>
            <a:off x="5754914" y="308814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0172979E-D119-443E-A9DC-CD573EC771DC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3C30F531-E79D-40DB-9458-1E6DC07B842F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4F9F7DB-ADB8-41A7-89A1-FD754B2C0C33}"/>
              </a:ext>
            </a:extLst>
          </p:cNvPr>
          <p:cNvCxnSpPr>
            <a:cxnSpLocks/>
            <a:stCxn id="91" idx="6"/>
            <a:endCxn id="92" idx="2"/>
          </p:cNvCxnSpPr>
          <p:nvPr/>
        </p:nvCxnSpPr>
        <p:spPr>
          <a:xfrm>
            <a:off x="3802743" y="3429000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A136828-68DC-45B4-A4AD-130AE9663949}"/>
              </a:ext>
            </a:extLst>
          </p:cNvPr>
          <p:cNvCxnSpPr>
            <a:cxnSpLocks/>
            <a:stCxn id="92" idx="6"/>
            <a:endCxn id="93" idx="2"/>
          </p:cNvCxnSpPr>
          <p:nvPr/>
        </p:nvCxnSpPr>
        <p:spPr>
          <a:xfrm flipV="1">
            <a:off x="6437085" y="3429000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3DC740D6-01AF-408D-8F67-8272440F46B5}"/>
              </a:ext>
            </a:extLst>
          </p:cNvPr>
          <p:cNvSpPr/>
          <p:nvPr/>
        </p:nvSpPr>
        <p:spPr>
          <a:xfrm>
            <a:off x="5754914" y="547585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FB8F7E7C-3559-43DE-A47C-1AA34A66718A}"/>
              </a:ext>
            </a:extLst>
          </p:cNvPr>
          <p:cNvSpPr/>
          <p:nvPr/>
        </p:nvSpPr>
        <p:spPr>
          <a:xfrm>
            <a:off x="3120572" y="5475629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1F88C3A0-7C78-4AB1-9683-BE3E8B546E66}"/>
              </a:ext>
            </a:extLst>
          </p:cNvPr>
          <p:cNvSpPr/>
          <p:nvPr/>
        </p:nvSpPr>
        <p:spPr>
          <a:xfrm>
            <a:off x="8389258" y="5475629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04340B9-DABF-48B6-B13A-0F959DDB8629}"/>
              </a:ext>
            </a:extLst>
          </p:cNvPr>
          <p:cNvCxnSpPr>
            <a:cxnSpLocks/>
            <a:stCxn id="108" idx="6"/>
            <a:endCxn id="107" idx="2"/>
          </p:cNvCxnSpPr>
          <p:nvPr/>
        </p:nvCxnSpPr>
        <p:spPr>
          <a:xfrm>
            <a:off x="3802743" y="5816715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18D5240-804A-429F-8880-25662F6079D9}"/>
              </a:ext>
            </a:extLst>
          </p:cNvPr>
          <p:cNvCxnSpPr>
            <a:cxnSpLocks/>
            <a:stCxn id="107" idx="6"/>
            <a:endCxn id="109" idx="2"/>
          </p:cNvCxnSpPr>
          <p:nvPr/>
        </p:nvCxnSpPr>
        <p:spPr>
          <a:xfrm flipV="1">
            <a:off x="6437085" y="5816715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C126B69-BC50-4380-8DFE-BDC93B633800}"/>
              </a:ext>
            </a:extLst>
          </p:cNvPr>
          <p:cNvCxnSpPr>
            <a:stCxn id="108" idx="7"/>
            <a:endCxn id="107" idx="1"/>
          </p:cNvCxnSpPr>
          <p:nvPr/>
        </p:nvCxnSpPr>
        <p:spPr>
          <a:xfrm>
            <a:off x="3702841" y="5575531"/>
            <a:ext cx="2151975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A172DE5-6CBD-42D3-BD4C-69B52D92B190}"/>
              </a:ext>
            </a:extLst>
          </p:cNvPr>
          <p:cNvCxnSpPr>
            <a:stCxn id="107" idx="7"/>
            <a:endCxn id="109" idx="1"/>
          </p:cNvCxnSpPr>
          <p:nvPr/>
        </p:nvCxnSpPr>
        <p:spPr>
          <a:xfrm flipV="1">
            <a:off x="6337183" y="5575531"/>
            <a:ext cx="2151977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68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Geometry of </a:t>
            </a:r>
            <a:r>
              <a:rPr lang="en-US" b="1" dirty="0">
                <a:solidFill>
                  <a:srgbClr val="92D050"/>
                </a:solidFill>
              </a:rPr>
              <a:t>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028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The Geometry of Position aka Graph Theory is the study of graphs, which are mathematical structures used to model pairwise relations between objects.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A graph is a collection of </a:t>
            </a:r>
            <a:r>
              <a:rPr lang="en-US" sz="2400" b="1" dirty="0">
                <a:solidFill>
                  <a:schemeClr val="bg1"/>
                </a:solidFill>
              </a:rPr>
              <a:t>vertices</a:t>
            </a:r>
            <a:r>
              <a:rPr lang="en-US" sz="2400" dirty="0">
                <a:solidFill>
                  <a:schemeClr val="bg1"/>
                </a:solidFill>
              </a:rPr>
              <a:t> (also called nodes or points) which are connected by </a:t>
            </a:r>
            <a:r>
              <a:rPr lang="en-US" sz="2400" b="1" dirty="0">
                <a:solidFill>
                  <a:schemeClr val="bg1"/>
                </a:solidFill>
              </a:rPr>
              <a:t>edges</a:t>
            </a:r>
            <a:r>
              <a:rPr lang="en-US" sz="2400" dirty="0">
                <a:solidFill>
                  <a:schemeClr val="bg1"/>
                </a:solidFill>
              </a:rPr>
              <a:t> (also called links or lines) to represent complex problems in a simpler manner.</a:t>
            </a:r>
          </a:p>
        </p:txBody>
      </p:sp>
    </p:spTree>
    <p:extLst>
      <p:ext uri="{BB962C8B-B14F-4D97-AF65-F5344CB8AC3E}">
        <p14:creationId xmlns:p14="http://schemas.microsoft.com/office/powerpoint/2010/main" val="267133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Adjacent </a:t>
            </a:r>
            <a:r>
              <a:rPr lang="en-US" b="1" dirty="0">
                <a:solidFill>
                  <a:srgbClr val="92D050"/>
                </a:solidFill>
              </a:rPr>
              <a:t>Node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88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Any two nodes connected by an edge or any two edges connected by a node are said to be adjacent.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DE7550-D749-4A8D-B5C1-8A3723948EE1}"/>
              </a:ext>
            </a:extLst>
          </p:cNvPr>
          <p:cNvSpPr/>
          <p:nvPr/>
        </p:nvSpPr>
        <p:spPr>
          <a:xfrm>
            <a:off x="5754914" y="308814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0A76E9-F674-481C-9D4D-A3667AF5F709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D89985-C489-4396-B4C7-3A430C92C269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2B0748-AB31-4578-B836-2BE7C0967224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3802743" y="3429000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9238-7235-49DF-8135-37BE33A88FF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6437085" y="3429000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D5E7DE3-F102-4E0E-ABCE-E3FBDBC8FC85}"/>
              </a:ext>
            </a:extLst>
          </p:cNvPr>
          <p:cNvSpPr txBox="1">
            <a:spLocks/>
          </p:cNvSpPr>
          <p:nvPr/>
        </p:nvSpPr>
        <p:spPr>
          <a:xfrm>
            <a:off x="844551" y="4452028"/>
            <a:ext cx="10515600" cy="16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In this graph, A &amp; C both are the adjacent node of B.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B is the adjacent node of A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Also, B is the adjacent node of C</a:t>
            </a:r>
          </a:p>
        </p:txBody>
      </p:sp>
    </p:spTree>
    <p:extLst>
      <p:ext uri="{BB962C8B-B14F-4D97-AF65-F5344CB8AC3E}">
        <p14:creationId xmlns:p14="http://schemas.microsoft.com/office/powerpoint/2010/main" val="235132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Directed &amp; </a:t>
            </a:r>
            <a:r>
              <a:rPr lang="en-US" b="1" dirty="0">
                <a:solidFill>
                  <a:srgbClr val="92D050"/>
                </a:solidFill>
              </a:rPr>
              <a:t>Un</a:t>
            </a:r>
            <a:r>
              <a:rPr lang="en-US" b="1" dirty="0">
                <a:solidFill>
                  <a:schemeClr val="bg1"/>
                </a:solidFill>
              </a:rPr>
              <a:t>directed </a:t>
            </a:r>
            <a:r>
              <a:rPr lang="en-US" b="1" dirty="0">
                <a:solidFill>
                  <a:srgbClr val="92D050"/>
                </a:solidFill>
              </a:rPr>
              <a:t>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88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Directed graph are the ones with unidirectional edges. 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DE7550-D749-4A8D-B5C1-8A3723948EE1}"/>
              </a:ext>
            </a:extLst>
          </p:cNvPr>
          <p:cNvSpPr/>
          <p:nvPr/>
        </p:nvSpPr>
        <p:spPr>
          <a:xfrm>
            <a:off x="5754914" y="308814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0A76E9-F674-481C-9D4D-A3667AF5F709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D89985-C489-4396-B4C7-3A430C92C269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D5E7DE3-F102-4E0E-ABCE-E3FBDBC8FC85}"/>
              </a:ext>
            </a:extLst>
          </p:cNvPr>
          <p:cNvSpPr txBox="1">
            <a:spLocks/>
          </p:cNvSpPr>
          <p:nvPr/>
        </p:nvSpPr>
        <p:spPr>
          <a:xfrm>
            <a:off x="844551" y="4452028"/>
            <a:ext cx="10515600" cy="16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Undirected graph are the ones with bidirectional edges.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5754914" y="5508623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3120572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8389258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3802743" y="5849482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556EE0-66BA-4D49-A688-C28E3AD0ED5F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437085" y="5849482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6BAFDB-7AED-47A7-9D88-BBD87FE99E48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3802743" y="3429000"/>
            <a:ext cx="1952171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03F93-6CE7-4FD6-A414-AC93A98CB2C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6437085" y="3429000"/>
            <a:ext cx="1952173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9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Weighted &amp; </a:t>
            </a:r>
            <a:r>
              <a:rPr lang="en-US" b="1" dirty="0">
                <a:solidFill>
                  <a:srgbClr val="92D050"/>
                </a:solidFill>
              </a:rPr>
              <a:t>Un</a:t>
            </a:r>
            <a:r>
              <a:rPr lang="en-US" b="1" dirty="0">
                <a:solidFill>
                  <a:schemeClr val="bg1"/>
                </a:solidFill>
              </a:rPr>
              <a:t>weighted </a:t>
            </a:r>
            <a:r>
              <a:rPr lang="en-US" b="1" dirty="0">
                <a:solidFill>
                  <a:srgbClr val="92D050"/>
                </a:solidFill>
              </a:rPr>
              <a:t>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88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If the edges has a weight or cost it is called weighted graph.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DE7550-D749-4A8D-B5C1-8A3723948EE1}"/>
              </a:ext>
            </a:extLst>
          </p:cNvPr>
          <p:cNvSpPr/>
          <p:nvPr/>
        </p:nvSpPr>
        <p:spPr>
          <a:xfrm>
            <a:off x="5754914" y="308814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0A76E9-F674-481C-9D4D-A3667AF5F709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D89985-C489-4396-B4C7-3A430C92C269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D5E7DE3-F102-4E0E-ABCE-E3FBDBC8FC85}"/>
              </a:ext>
            </a:extLst>
          </p:cNvPr>
          <p:cNvSpPr txBox="1">
            <a:spLocks/>
          </p:cNvSpPr>
          <p:nvPr/>
        </p:nvSpPr>
        <p:spPr>
          <a:xfrm>
            <a:off x="844551" y="4452028"/>
            <a:ext cx="10515600" cy="16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If the edges has no  weight or cost it is called unweighted graph.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5754914" y="5508623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3120572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8389258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3802743" y="5849482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556EE0-66BA-4D49-A688-C28E3AD0ED5F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437085" y="5849482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6BAFDB-7AED-47A7-9D88-BBD87FE99E48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3802743" y="3429000"/>
            <a:ext cx="1952171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03F93-6CE7-4FD6-A414-AC93A98CB2C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6437085" y="3429000"/>
            <a:ext cx="1952173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7FF63C-90A0-4390-AD23-945E7B500BD5}"/>
              </a:ext>
            </a:extLst>
          </p:cNvPr>
          <p:cNvSpPr txBox="1"/>
          <p:nvPr/>
        </p:nvSpPr>
        <p:spPr>
          <a:xfrm>
            <a:off x="4470400" y="309494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E4A64F-FE55-4BBE-B40A-72BBA201A25D}"/>
              </a:ext>
            </a:extLst>
          </p:cNvPr>
          <p:cNvSpPr txBox="1"/>
          <p:nvPr/>
        </p:nvSpPr>
        <p:spPr>
          <a:xfrm>
            <a:off x="7260771" y="313848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600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Path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88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Path can be defined as the list of edges by which we can visit one node to another.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DE7550-D749-4A8D-B5C1-8A3723948EE1}"/>
              </a:ext>
            </a:extLst>
          </p:cNvPr>
          <p:cNvSpPr/>
          <p:nvPr/>
        </p:nvSpPr>
        <p:spPr>
          <a:xfrm>
            <a:off x="5754913" y="246720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0A76E9-F674-481C-9D4D-A3667AF5F709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D89985-C489-4396-B4C7-3A430C92C269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D5E7DE3-F102-4E0E-ABCE-E3FBDBC8FC85}"/>
              </a:ext>
            </a:extLst>
          </p:cNvPr>
          <p:cNvSpPr txBox="1">
            <a:spLocks/>
          </p:cNvSpPr>
          <p:nvPr/>
        </p:nvSpPr>
        <p:spPr>
          <a:xfrm>
            <a:off x="838197" y="4849584"/>
            <a:ext cx="10515600" cy="16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 In this graph, To visit D from A. The path will be: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A -&gt; B -&gt; C -&gt; 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6BAFDB-7AED-47A7-9D88-BBD87FE99E48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 flipV="1">
            <a:off x="3802743" y="2808287"/>
            <a:ext cx="1952170" cy="6207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03F93-6CE7-4FD6-A414-AC93A98CB2C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6437084" y="2808287"/>
            <a:ext cx="1952174" cy="6207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7FF63C-90A0-4390-AD23-945E7B500BD5}"/>
              </a:ext>
            </a:extLst>
          </p:cNvPr>
          <p:cNvSpPr txBox="1"/>
          <p:nvPr/>
        </p:nvSpPr>
        <p:spPr>
          <a:xfrm>
            <a:off x="4470400" y="309494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E4A64F-FE55-4BBE-B40A-72BBA201A25D}"/>
              </a:ext>
            </a:extLst>
          </p:cNvPr>
          <p:cNvSpPr txBox="1"/>
          <p:nvPr/>
        </p:nvSpPr>
        <p:spPr>
          <a:xfrm>
            <a:off x="7260771" y="313848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2A51701-9B71-4BA7-9016-FA6FEFD41097}"/>
              </a:ext>
            </a:extLst>
          </p:cNvPr>
          <p:cNvSpPr/>
          <p:nvPr/>
        </p:nvSpPr>
        <p:spPr>
          <a:xfrm>
            <a:off x="5754912" y="3377583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7FEB3F-7952-4FA2-8166-A55D968C1D69}"/>
              </a:ext>
            </a:extLst>
          </p:cNvPr>
          <p:cNvCxnSpPr>
            <a:stCxn id="7" idx="3"/>
            <a:endCxn id="21" idx="6"/>
          </p:cNvCxnSpPr>
          <p:nvPr/>
        </p:nvCxnSpPr>
        <p:spPr>
          <a:xfrm flipH="1">
            <a:off x="6437083" y="3670183"/>
            <a:ext cx="2052077" cy="4848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D0600-F0BE-4439-BBE7-6F2FEA73144B}"/>
              </a:ext>
            </a:extLst>
          </p:cNvPr>
          <p:cNvSpPr txBox="1"/>
          <p:nvPr/>
        </p:nvSpPr>
        <p:spPr>
          <a:xfrm>
            <a:off x="7260770" y="372791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7156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8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Degree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9887"/>
            <a:ext cx="10515600" cy="15069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It is the number of vertices adjacent to a vertex V. In directed graph, the number of head ends adjacent to a vertex is called the indegree of the vertex and the number of tail ends adjacent to a vertex is its outdegree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DE7550-D749-4A8D-B5C1-8A3723948EE1}"/>
              </a:ext>
            </a:extLst>
          </p:cNvPr>
          <p:cNvSpPr/>
          <p:nvPr/>
        </p:nvSpPr>
        <p:spPr>
          <a:xfrm>
            <a:off x="5754914" y="308814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20A76E9-F674-481C-9D4D-A3667AF5F709}"/>
              </a:ext>
            </a:extLst>
          </p:cNvPr>
          <p:cNvSpPr/>
          <p:nvPr/>
        </p:nvSpPr>
        <p:spPr>
          <a:xfrm>
            <a:off x="3120572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D89985-C489-4396-B4C7-3A430C92C269}"/>
              </a:ext>
            </a:extLst>
          </p:cNvPr>
          <p:cNvSpPr/>
          <p:nvPr/>
        </p:nvSpPr>
        <p:spPr>
          <a:xfrm>
            <a:off x="8389258" y="3087914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D5E7DE3-F102-4E0E-ABCE-E3FBDBC8FC85}"/>
              </a:ext>
            </a:extLst>
          </p:cNvPr>
          <p:cNvSpPr txBox="1">
            <a:spLocks/>
          </p:cNvSpPr>
          <p:nvPr/>
        </p:nvSpPr>
        <p:spPr>
          <a:xfrm>
            <a:off x="844551" y="4452028"/>
            <a:ext cx="10515600" cy="16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In undirected graph, indegree = outdegree 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5754914" y="5508623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3120572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8389258" y="5508396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3802743" y="5849482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556EE0-66BA-4D49-A688-C28E3AD0ED5F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437085" y="5849482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6BAFDB-7AED-47A7-9D88-BBD87FE99E48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3802743" y="3429000"/>
            <a:ext cx="1952171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E03F93-6CE7-4FD6-A414-AC93A98CB2C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6437085" y="3429000"/>
            <a:ext cx="1952173" cy="2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7FF63C-90A0-4390-AD23-945E7B500BD5}"/>
              </a:ext>
            </a:extLst>
          </p:cNvPr>
          <p:cNvSpPr txBox="1"/>
          <p:nvPr/>
        </p:nvSpPr>
        <p:spPr>
          <a:xfrm>
            <a:off x="4470400" y="309494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E4A64F-FE55-4BBE-B40A-72BBA201A25D}"/>
              </a:ext>
            </a:extLst>
          </p:cNvPr>
          <p:cNvSpPr txBox="1"/>
          <p:nvPr/>
        </p:nvSpPr>
        <p:spPr>
          <a:xfrm>
            <a:off x="7260771" y="313848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141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8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FF7D-250B-4E70-8882-13541887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9887"/>
            <a:ext cx="10515600" cy="8248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bg1"/>
                </a:solidFill>
              </a:rPr>
              <a:t>A tree is an undirected graph in which any two vertices are connected by exactly one path.  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5754914" y="2779938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3120572" y="277971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8389258" y="2779711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3802743" y="3120797"/>
            <a:ext cx="1952171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556EE0-66BA-4D49-A688-C28E3AD0ED5F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437085" y="3120797"/>
            <a:ext cx="1952173" cy="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CE0CC5C-F2CA-4059-B181-A21E14FD7290}"/>
              </a:ext>
            </a:extLst>
          </p:cNvPr>
          <p:cNvSpPr txBox="1">
            <a:spLocks/>
          </p:cNvSpPr>
          <p:nvPr/>
        </p:nvSpPr>
        <p:spPr>
          <a:xfrm>
            <a:off x="874485" y="4190885"/>
            <a:ext cx="10515600" cy="824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In Tree, for </a:t>
            </a:r>
            <a:r>
              <a:rPr lang="en-US" sz="2400" b="1" dirty="0">
                <a:solidFill>
                  <a:srgbClr val="92D050"/>
                </a:solidFill>
              </a:rPr>
              <a:t>n-node there will be exactly (n-1) edges</a:t>
            </a:r>
            <a:r>
              <a:rPr lang="en-US" sz="2400" dirty="0">
                <a:solidFill>
                  <a:schemeClr val="bg1"/>
                </a:solidFill>
              </a:rPr>
              <a:t>. We can also create a forest combining two or more trees.</a:t>
            </a:r>
          </a:p>
        </p:txBody>
      </p:sp>
    </p:spTree>
    <p:extLst>
      <p:ext uri="{BB962C8B-B14F-4D97-AF65-F5344CB8AC3E}">
        <p14:creationId xmlns:p14="http://schemas.microsoft.com/office/powerpoint/2010/main" val="81608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9171-4568-4217-8FA6-881C934F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Graph </a:t>
            </a:r>
            <a:r>
              <a:rPr lang="en-US" b="1" dirty="0">
                <a:solidFill>
                  <a:srgbClr val="92D050"/>
                </a:solidFill>
              </a:rPr>
              <a:t>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7254-8A0A-43F9-A512-82A39329E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code , we can represent graph with</a:t>
            </a:r>
          </a:p>
          <a:p>
            <a:r>
              <a:rPr lang="en-US" dirty="0">
                <a:solidFill>
                  <a:schemeClr val="bg1"/>
                </a:solidFill>
              </a:rPr>
              <a:t>Adjacency Matrix (2D Array)</a:t>
            </a:r>
          </a:p>
          <a:p>
            <a:r>
              <a:rPr lang="en-US" dirty="0">
                <a:solidFill>
                  <a:schemeClr val="bg1"/>
                </a:solidFill>
              </a:rPr>
              <a:t>Adjacency List (STL Vector/List)</a:t>
            </a:r>
          </a:p>
        </p:txBody>
      </p:sp>
    </p:spTree>
    <p:extLst>
      <p:ext uri="{BB962C8B-B14F-4D97-AF65-F5344CB8AC3E}">
        <p14:creationId xmlns:p14="http://schemas.microsoft.com/office/powerpoint/2010/main" val="18560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3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Adjacency </a:t>
            </a:r>
            <a:r>
              <a:rPr lang="en-US" b="1" dirty="0">
                <a:solidFill>
                  <a:schemeClr val="bg1"/>
                </a:solidFill>
              </a:rPr>
              <a:t>List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2547257" y="2097540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1081314" y="2084722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2547257" y="355055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1763485" y="2425808"/>
            <a:ext cx="783772" cy="128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DE6E57-2BC0-4981-9C0A-34B1385DD0FB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2888343" y="2779711"/>
            <a:ext cx="3628" cy="7708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940E9E11-E36E-4659-BF50-C851F65DFC4D}"/>
              </a:ext>
            </a:extLst>
          </p:cNvPr>
          <p:cNvSpPr/>
          <p:nvPr/>
        </p:nvSpPr>
        <p:spPr>
          <a:xfrm>
            <a:off x="1074057" y="355236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60E053C-6043-480B-97CD-A38BFA4E2E43}"/>
              </a:ext>
            </a:extLst>
          </p:cNvPr>
          <p:cNvSpPr/>
          <p:nvPr/>
        </p:nvSpPr>
        <p:spPr>
          <a:xfrm>
            <a:off x="1807028" y="4778820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C58A44-0795-4809-B3D4-E24B3318259B}"/>
              </a:ext>
            </a:extLst>
          </p:cNvPr>
          <p:cNvCxnSpPr>
            <a:stCxn id="11" idx="4"/>
            <a:endCxn id="24" idx="0"/>
          </p:cNvCxnSpPr>
          <p:nvPr/>
        </p:nvCxnSpPr>
        <p:spPr>
          <a:xfrm flipH="1">
            <a:off x="1418771" y="2766893"/>
            <a:ext cx="3629" cy="7854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7AE515-F880-4143-96BF-0FCB968E3A97}"/>
              </a:ext>
            </a:extLst>
          </p:cNvPr>
          <p:cNvCxnSpPr>
            <a:cxnSpLocks/>
            <a:stCxn id="12" idx="4"/>
            <a:endCxn id="25" idx="7"/>
          </p:cNvCxnSpPr>
          <p:nvPr/>
        </p:nvCxnSpPr>
        <p:spPr>
          <a:xfrm flipH="1">
            <a:off x="2395492" y="4232724"/>
            <a:ext cx="496479" cy="6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B61FCD-2B68-4EB0-8EBF-186E69D22979}"/>
              </a:ext>
            </a:extLst>
          </p:cNvPr>
          <p:cNvCxnSpPr>
            <a:stCxn id="11" idx="5"/>
            <a:endCxn id="25" idx="0"/>
          </p:cNvCxnSpPr>
          <p:nvPr/>
        </p:nvCxnSpPr>
        <p:spPr>
          <a:xfrm>
            <a:off x="1663583" y="2666991"/>
            <a:ext cx="488159" cy="21118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3B650-03D1-412C-A404-A915CEE410D3}"/>
              </a:ext>
            </a:extLst>
          </p:cNvPr>
          <p:cNvCxnSpPr>
            <a:stCxn id="10" idx="3"/>
            <a:endCxn id="24" idx="7"/>
          </p:cNvCxnSpPr>
          <p:nvPr/>
        </p:nvCxnSpPr>
        <p:spPr>
          <a:xfrm flipH="1">
            <a:off x="1662521" y="2679809"/>
            <a:ext cx="984638" cy="9724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D3E674A-101B-47D0-8240-B3A9C7BD24BE}"/>
              </a:ext>
            </a:extLst>
          </p:cNvPr>
          <p:cNvSpPr/>
          <p:nvPr/>
        </p:nvSpPr>
        <p:spPr>
          <a:xfrm>
            <a:off x="5849257" y="2097540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B4CF80-9C83-4F69-9BEC-0DA433CEF502}"/>
              </a:ext>
            </a:extLst>
          </p:cNvPr>
          <p:cNvSpPr/>
          <p:nvPr/>
        </p:nvSpPr>
        <p:spPr>
          <a:xfrm>
            <a:off x="5849257" y="2846731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49F9FB-FC65-4562-ACF3-2F84EC495B2F}"/>
              </a:ext>
            </a:extLst>
          </p:cNvPr>
          <p:cNvSpPr/>
          <p:nvPr/>
        </p:nvSpPr>
        <p:spPr>
          <a:xfrm>
            <a:off x="5849257" y="3595922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EE0236-8E9A-4970-8991-F064B8515C32}"/>
              </a:ext>
            </a:extLst>
          </p:cNvPr>
          <p:cNvSpPr/>
          <p:nvPr/>
        </p:nvSpPr>
        <p:spPr>
          <a:xfrm>
            <a:off x="5849257" y="4345113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800B39-A443-4475-8D87-DADC49DE0A08}"/>
              </a:ext>
            </a:extLst>
          </p:cNvPr>
          <p:cNvSpPr/>
          <p:nvPr/>
        </p:nvSpPr>
        <p:spPr>
          <a:xfrm>
            <a:off x="5849257" y="5094304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5D14F3-CB4D-4A9D-A2E5-B53DAC066E19}"/>
              </a:ext>
            </a:extLst>
          </p:cNvPr>
          <p:cNvCxnSpPr>
            <a:stCxn id="3" idx="3"/>
          </p:cNvCxnSpPr>
          <p:nvPr/>
        </p:nvCxnSpPr>
        <p:spPr>
          <a:xfrm flipV="1">
            <a:off x="6749143" y="2388674"/>
            <a:ext cx="101600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D4CCFC-5BFF-490F-8ED6-13447C57D3C4}"/>
              </a:ext>
            </a:extLst>
          </p:cNvPr>
          <p:cNvCxnSpPr/>
          <p:nvPr/>
        </p:nvCxnSpPr>
        <p:spPr>
          <a:xfrm flipV="1">
            <a:off x="6749143" y="3137864"/>
            <a:ext cx="101600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802BE1-C299-4209-B1E0-33F682F44CB6}"/>
              </a:ext>
            </a:extLst>
          </p:cNvPr>
          <p:cNvCxnSpPr/>
          <p:nvPr/>
        </p:nvCxnSpPr>
        <p:spPr>
          <a:xfrm flipV="1">
            <a:off x="6749143" y="3887054"/>
            <a:ext cx="101600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26F3D1-0BD7-43D7-B3BD-6A1F768DA39E}"/>
              </a:ext>
            </a:extLst>
          </p:cNvPr>
          <p:cNvCxnSpPr/>
          <p:nvPr/>
        </p:nvCxnSpPr>
        <p:spPr>
          <a:xfrm flipV="1">
            <a:off x="6749143" y="4636244"/>
            <a:ext cx="101600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DA708B-6C90-4E5D-AFB3-780753C046E0}"/>
              </a:ext>
            </a:extLst>
          </p:cNvPr>
          <p:cNvCxnSpPr/>
          <p:nvPr/>
        </p:nvCxnSpPr>
        <p:spPr>
          <a:xfrm flipV="1">
            <a:off x="6749143" y="5385434"/>
            <a:ext cx="1016000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FF6FC0E-F483-4D9E-B18B-3EF3060DA218}"/>
              </a:ext>
            </a:extLst>
          </p:cNvPr>
          <p:cNvSpPr/>
          <p:nvPr/>
        </p:nvSpPr>
        <p:spPr>
          <a:xfrm>
            <a:off x="7815943" y="2071586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73BAF1-071E-476F-84DE-31A3DFBF95EA}"/>
              </a:ext>
            </a:extLst>
          </p:cNvPr>
          <p:cNvSpPr/>
          <p:nvPr/>
        </p:nvSpPr>
        <p:spPr>
          <a:xfrm>
            <a:off x="8817429" y="2071586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677BCC-9254-48DB-A968-893E25C4FB7D}"/>
              </a:ext>
            </a:extLst>
          </p:cNvPr>
          <p:cNvSpPr/>
          <p:nvPr/>
        </p:nvSpPr>
        <p:spPr>
          <a:xfrm>
            <a:off x="9818915" y="2071586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5B5216-D1E4-4653-B31C-5B98D2CD62B6}"/>
              </a:ext>
            </a:extLst>
          </p:cNvPr>
          <p:cNvSpPr/>
          <p:nvPr/>
        </p:nvSpPr>
        <p:spPr>
          <a:xfrm>
            <a:off x="7815943" y="2846731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31C238-A17E-4AFE-B7A2-5E5C13A63D21}"/>
              </a:ext>
            </a:extLst>
          </p:cNvPr>
          <p:cNvSpPr/>
          <p:nvPr/>
        </p:nvSpPr>
        <p:spPr>
          <a:xfrm>
            <a:off x="8817429" y="2846731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AD0FF7-2899-4947-B785-FFF6B51DFFF8}"/>
              </a:ext>
            </a:extLst>
          </p:cNvPr>
          <p:cNvSpPr/>
          <p:nvPr/>
        </p:nvSpPr>
        <p:spPr>
          <a:xfrm>
            <a:off x="9818915" y="2846731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89F23A-B253-4CFE-B969-790D40C16D1A}"/>
              </a:ext>
            </a:extLst>
          </p:cNvPr>
          <p:cNvSpPr/>
          <p:nvPr/>
        </p:nvSpPr>
        <p:spPr>
          <a:xfrm>
            <a:off x="7815943" y="3595919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B41D37-5A05-43FC-86F5-8C70D5D90A54}"/>
              </a:ext>
            </a:extLst>
          </p:cNvPr>
          <p:cNvSpPr/>
          <p:nvPr/>
        </p:nvSpPr>
        <p:spPr>
          <a:xfrm>
            <a:off x="8817429" y="3595919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39BE50-76A7-4B27-A22A-AF32586D7312}"/>
              </a:ext>
            </a:extLst>
          </p:cNvPr>
          <p:cNvSpPr/>
          <p:nvPr/>
        </p:nvSpPr>
        <p:spPr>
          <a:xfrm>
            <a:off x="7815943" y="4345113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944106-D834-48FB-821E-A679433FB23E}"/>
              </a:ext>
            </a:extLst>
          </p:cNvPr>
          <p:cNvSpPr/>
          <p:nvPr/>
        </p:nvSpPr>
        <p:spPr>
          <a:xfrm>
            <a:off x="8817429" y="4345113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05CDB0-E86E-4EEB-B641-1C2CCE7E257B}"/>
              </a:ext>
            </a:extLst>
          </p:cNvPr>
          <p:cNvSpPr/>
          <p:nvPr/>
        </p:nvSpPr>
        <p:spPr>
          <a:xfrm>
            <a:off x="7823203" y="5094299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4987E9-AD07-4104-A5A6-50475DA71200}"/>
              </a:ext>
            </a:extLst>
          </p:cNvPr>
          <p:cNvSpPr/>
          <p:nvPr/>
        </p:nvSpPr>
        <p:spPr>
          <a:xfrm>
            <a:off x="8824689" y="5094299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CEA483A0-2DDF-42DD-B781-D6E0839F0A28}"/>
              </a:ext>
            </a:extLst>
          </p:cNvPr>
          <p:cNvSpPr/>
          <p:nvPr/>
        </p:nvSpPr>
        <p:spPr>
          <a:xfrm>
            <a:off x="3022598" y="5003566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1B2719-1850-490F-939B-E2C147DB1041}"/>
              </a:ext>
            </a:extLst>
          </p:cNvPr>
          <p:cNvSpPr/>
          <p:nvPr/>
        </p:nvSpPr>
        <p:spPr>
          <a:xfrm>
            <a:off x="5849257" y="5967703"/>
            <a:ext cx="899886" cy="582269"/>
          </a:xfrm>
          <a:prstGeom prst="rect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6531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8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Adjacency </a:t>
            </a:r>
            <a:r>
              <a:rPr lang="en-US" b="1" dirty="0">
                <a:solidFill>
                  <a:schemeClr val="bg1"/>
                </a:solidFill>
              </a:rPr>
              <a:t>Matrix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2547257" y="2097540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1074057" y="2097540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2547257" y="355055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1756228" y="2438626"/>
            <a:ext cx="7910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DE6E57-2BC0-4981-9C0A-34B1385DD0FB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2888343" y="2779711"/>
            <a:ext cx="3628" cy="7708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940E9E11-E36E-4659-BF50-C851F65DFC4D}"/>
              </a:ext>
            </a:extLst>
          </p:cNvPr>
          <p:cNvSpPr/>
          <p:nvPr/>
        </p:nvSpPr>
        <p:spPr>
          <a:xfrm>
            <a:off x="1074057" y="355236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60E053C-6043-480B-97CD-A38BFA4E2E43}"/>
              </a:ext>
            </a:extLst>
          </p:cNvPr>
          <p:cNvSpPr/>
          <p:nvPr/>
        </p:nvSpPr>
        <p:spPr>
          <a:xfrm>
            <a:off x="1807028" y="4778820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C58A44-0795-4809-B3D4-E24B3318259B}"/>
              </a:ext>
            </a:extLst>
          </p:cNvPr>
          <p:cNvCxnSpPr>
            <a:stCxn id="11" idx="4"/>
            <a:endCxn id="24" idx="0"/>
          </p:cNvCxnSpPr>
          <p:nvPr/>
        </p:nvCxnSpPr>
        <p:spPr>
          <a:xfrm>
            <a:off x="1415143" y="2779711"/>
            <a:ext cx="3628" cy="7726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7AE515-F880-4143-96BF-0FCB968E3A97}"/>
              </a:ext>
            </a:extLst>
          </p:cNvPr>
          <p:cNvCxnSpPr>
            <a:cxnSpLocks/>
            <a:stCxn id="12" idx="4"/>
            <a:endCxn id="25" idx="7"/>
          </p:cNvCxnSpPr>
          <p:nvPr/>
        </p:nvCxnSpPr>
        <p:spPr>
          <a:xfrm flipH="1">
            <a:off x="2395492" y="4232724"/>
            <a:ext cx="496479" cy="6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B61FCD-2B68-4EB0-8EBF-186E69D22979}"/>
              </a:ext>
            </a:extLst>
          </p:cNvPr>
          <p:cNvCxnSpPr>
            <a:stCxn id="11" idx="5"/>
            <a:endCxn id="25" idx="0"/>
          </p:cNvCxnSpPr>
          <p:nvPr/>
        </p:nvCxnSpPr>
        <p:spPr>
          <a:xfrm>
            <a:off x="1656326" y="2679809"/>
            <a:ext cx="495416" cy="20990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3B650-03D1-412C-A404-A915CEE410D3}"/>
              </a:ext>
            </a:extLst>
          </p:cNvPr>
          <p:cNvCxnSpPr>
            <a:stCxn id="10" idx="3"/>
            <a:endCxn id="24" idx="7"/>
          </p:cNvCxnSpPr>
          <p:nvPr/>
        </p:nvCxnSpPr>
        <p:spPr>
          <a:xfrm flipH="1">
            <a:off x="1662521" y="2679809"/>
            <a:ext cx="984638" cy="9724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010CEB04-DAE5-4D70-AFB0-EE472479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15631"/>
              </p:ext>
            </p:extLst>
          </p:nvPr>
        </p:nvGraphicFramePr>
        <p:xfrm>
          <a:off x="5294086" y="1862801"/>
          <a:ext cx="6600372" cy="357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62">
                  <a:extLst>
                    <a:ext uri="{9D8B030D-6E8A-4147-A177-3AD203B41FA5}">
                      <a16:colId xmlns:a16="http://schemas.microsoft.com/office/drawing/2014/main" val="3783414669"/>
                    </a:ext>
                  </a:extLst>
                </a:gridCol>
                <a:gridCol w="1100062">
                  <a:extLst>
                    <a:ext uri="{9D8B030D-6E8A-4147-A177-3AD203B41FA5}">
                      <a16:colId xmlns:a16="http://schemas.microsoft.com/office/drawing/2014/main" val="2700930790"/>
                    </a:ext>
                  </a:extLst>
                </a:gridCol>
                <a:gridCol w="1100062">
                  <a:extLst>
                    <a:ext uri="{9D8B030D-6E8A-4147-A177-3AD203B41FA5}">
                      <a16:colId xmlns:a16="http://schemas.microsoft.com/office/drawing/2014/main" val="2273779786"/>
                    </a:ext>
                  </a:extLst>
                </a:gridCol>
                <a:gridCol w="1100062">
                  <a:extLst>
                    <a:ext uri="{9D8B030D-6E8A-4147-A177-3AD203B41FA5}">
                      <a16:colId xmlns:a16="http://schemas.microsoft.com/office/drawing/2014/main" val="3314328282"/>
                    </a:ext>
                  </a:extLst>
                </a:gridCol>
                <a:gridCol w="1100062">
                  <a:extLst>
                    <a:ext uri="{9D8B030D-6E8A-4147-A177-3AD203B41FA5}">
                      <a16:colId xmlns:a16="http://schemas.microsoft.com/office/drawing/2014/main" val="4208612417"/>
                    </a:ext>
                  </a:extLst>
                </a:gridCol>
                <a:gridCol w="1100062">
                  <a:extLst>
                    <a:ext uri="{9D8B030D-6E8A-4147-A177-3AD203B41FA5}">
                      <a16:colId xmlns:a16="http://schemas.microsoft.com/office/drawing/2014/main" val="203377498"/>
                    </a:ext>
                  </a:extLst>
                </a:gridCol>
              </a:tblGrid>
              <a:tr h="596488">
                <a:tc>
                  <a:txBody>
                    <a:bodyPr/>
                    <a:lstStyle/>
                    <a:p>
                      <a:pPr algn="ctr"/>
                      <a:endParaRPr lang="en-US" sz="3200" b="1" dirty="0">
                        <a:solidFill>
                          <a:srgbClr val="40445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444954"/>
                  </a:ext>
                </a:extLst>
              </a:tr>
              <a:tr h="59648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25276"/>
                  </a:ext>
                </a:extLst>
              </a:tr>
              <a:tr h="59648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81919"/>
                  </a:ext>
                </a:extLst>
              </a:tr>
              <a:tr h="59648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279709"/>
                  </a:ext>
                </a:extLst>
              </a:tr>
              <a:tr h="59648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659539"/>
                  </a:ext>
                </a:extLst>
              </a:tr>
              <a:tr h="59648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40445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361935"/>
                  </a:ext>
                </a:extLst>
              </a:tr>
            </a:tbl>
          </a:graphicData>
        </a:graphic>
      </p:graphicFrame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9F70C5C1-3410-4819-81B3-F89D0B9F3548}"/>
              </a:ext>
            </a:extLst>
          </p:cNvPr>
          <p:cNvCxnSpPr>
            <a:stCxn id="11" idx="2"/>
            <a:endCxn id="11" idx="0"/>
          </p:cNvCxnSpPr>
          <p:nvPr/>
        </p:nvCxnSpPr>
        <p:spPr>
          <a:xfrm rot="10800000" flipH="1">
            <a:off x="1074057" y="2097540"/>
            <a:ext cx="341086" cy="341086"/>
          </a:xfrm>
          <a:prstGeom prst="curvedConnector4">
            <a:avLst>
              <a:gd name="adj1" fmla="val -67021"/>
              <a:gd name="adj2" fmla="val 167021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500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3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Level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D3A7C1-4B7C-4599-B43A-81B3FCACD9EA}"/>
              </a:ext>
            </a:extLst>
          </p:cNvPr>
          <p:cNvSpPr/>
          <p:nvPr/>
        </p:nvSpPr>
        <p:spPr>
          <a:xfrm>
            <a:off x="2547257" y="2097540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4A7EC27-9F0D-4BE8-8A51-9A14028E1F36}"/>
              </a:ext>
            </a:extLst>
          </p:cNvPr>
          <p:cNvSpPr/>
          <p:nvPr/>
        </p:nvSpPr>
        <p:spPr>
          <a:xfrm>
            <a:off x="1081314" y="2084722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AC06996-FDCE-445F-89BC-E7BA9F292E46}"/>
              </a:ext>
            </a:extLst>
          </p:cNvPr>
          <p:cNvSpPr/>
          <p:nvPr/>
        </p:nvSpPr>
        <p:spPr>
          <a:xfrm>
            <a:off x="2547257" y="355055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D493B-2001-40F8-93F3-A00DCDB4EE77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1763485" y="2425808"/>
            <a:ext cx="783772" cy="128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DE6E57-2BC0-4981-9C0A-34B1385DD0FB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2888343" y="2779711"/>
            <a:ext cx="3628" cy="7708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940E9E11-E36E-4659-BF50-C851F65DFC4D}"/>
              </a:ext>
            </a:extLst>
          </p:cNvPr>
          <p:cNvSpPr/>
          <p:nvPr/>
        </p:nvSpPr>
        <p:spPr>
          <a:xfrm>
            <a:off x="1074057" y="355236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60E053C-6043-480B-97CD-A38BFA4E2E43}"/>
              </a:ext>
            </a:extLst>
          </p:cNvPr>
          <p:cNvSpPr/>
          <p:nvPr/>
        </p:nvSpPr>
        <p:spPr>
          <a:xfrm>
            <a:off x="1807028" y="4778820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C58A44-0795-4809-B3D4-E24B3318259B}"/>
              </a:ext>
            </a:extLst>
          </p:cNvPr>
          <p:cNvCxnSpPr>
            <a:stCxn id="11" idx="4"/>
            <a:endCxn id="24" idx="0"/>
          </p:cNvCxnSpPr>
          <p:nvPr/>
        </p:nvCxnSpPr>
        <p:spPr>
          <a:xfrm flipH="1">
            <a:off x="1418771" y="2766893"/>
            <a:ext cx="3629" cy="7854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7AE515-F880-4143-96BF-0FCB968E3A97}"/>
              </a:ext>
            </a:extLst>
          </p:cNvPr>
          <p:cNvCxnSpPr>
            <a:cxnSpLocks/>
            <a:stCxn id="12" idx="4"/>
            <a:endCxn id="25" idx="7"/>
          </p:cNvCxnSpPr>
          <p:nvPr/>
        </p:nvCxnSpPr>
        <p:spPr>
          <a:xfrm flipH="1">
            <a:off x="2395492" y="4232724"/>
            <a:ext cx="496479" cy="6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B61FCD-2B68-4EB0-8EBF-186E69D22979}"/>
              </a:ext>
            </a:extLst>
          </p:cNvPr>
          <p:cNvCxnSpPr>
            <a:stCxn id="11" idx="5"/>
            <a:endCxn id="25" idx="0"/>
          </p:cNvCxnSpPr>
          <p:nvPr/>
        </p:nvCxnSpPr>
        <p:spPr>
          <a:xfrm>
            <a:off x="1663583" y="2666991"/>
            <a:ext cx="488159" cy="21118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3B650-03D1-412C-A404-A915CEE410D3}"/>
              </a:ext>
            </a:extLst>
          </p:cNvPr>
          <p:cNvCxnSpPr>
            <a:stCxn id="10" idx="3"/>
            <a:endCxn id="24" idx="7"/>
          </p:cNvCxnSpPr>
          <p:nvPr/>
        </p:nvCxnSpPr>
        <p:spPr>
          <a:xfrm flipH="1">
            <a:off x="1662521" y="2679809"/>
            <a:ext cx="984638" cy="9724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7920551A-B2E0-4C0B-9DA5-5E807FA4FB65}"/>
              </a:ext>
            </a:extLst>
          </p:cNvPr>
          <p:cNvSpPr/>
          <p:nvPr/>
        </p:nvSpPr>
        <p:spPr>
          <a:xfrm>
            <a:off x="9522454" y="1986499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5533B17-20B6-42A0-951B-1C5C287DB908}"/>
              </a:ext>
            </a:extLst>
          </p:cNvPr>
          <p:cNvSpPr/>
          <p:nvPr/>
        </p:nvSpPr>
        <p:spPr>
          <a:xfrm>
            <a:off x="7590971" y="835433"/>
            <a:ext cx="682171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32F49FB2-EE12-463B-957B-3EB6FA16E2E7}"/>
              </a:ext>
            </a:extLst>
          </p:cNvPr>
          <p:cNvSpPr/>
          <p:nvPr/>
        </p:nvSpPr>
        <p:spPr>
          <a:xfrm>
            <a:off x="9822543" y="3514493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F99C2D-E039-4FA6-AE3E-5FD75B50F37C}"/>
              </a:ext>
            </a:extLst>
          </p:cNvPr>
          <p:cNvCxnSpPr>
            <a:cxnSpLocks/>
            <a:stCxn id="46" idx="6"/>
            <a:endCxn id="45" idx="2"/>
          </p:cNvCxnSpPr>
          <p:nvPr/>
        </p:nvCxnSpPr>
        <p:spPr>
          <a:xfrm>
            <a:off x="8273142" y="1176519"/>
            <a:ext cx="1249312" cy="11510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6BCD8B8-348C-4AA9-BA99-B5E011378846}"/>
              </a:ext>
            </a:extLst>
          </p:cNvPr>
          <p:cNvCxnSpPr>
            <a:stCxn id="45" idx="4"/>
            <a:endCxn id="47" idx="0"/>
          </p:cNvCxnSpPr>
          <p:nvPr/>
        </p:nvCxnSpPr>
        <p:spPr>
          <a:xfrm>
            <a:off x="9863540" y="2668670"/>
            <a:ext cx="303717" cy="8458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E84E5068-C3FC-4A56-9DB6-FC5CB520FFCD}"/>
              </a:ext>
            </a:extLst>
          </p:cNvPr>
          <p:cNvSpPr/>
          <p:nvPr/>
        </p:nvSpPr>
        <p:spPr>
          <a:xfrm>
            <a:off x="6396322" y="2175777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37896C8C-6D7A-410F-A843-36DEEC96BA37}"/>
              </a:ext>
            </a:extLst>
          </p:cNvPr>
          <p:cNvSpPr/>
          <p:nvPr/>
        </p:nvSpPr>
        <p:spPr>
          <a:xfrm>
            <a:off x="8129931" y="2615119"/>
            <a:ext cx="689428" cy="682171"/>
          </a:xfrm>
          <a:prstGeom prst="flowChartConnector">
            <a:avLst/>
          </a:prstGeom>
          <a:solidFill>
            <a:srgbClr val="6C7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A5CEDF-72B3-4C08-9743-CFF740EB4296}"/>
              </a:ext>
            </a:extLst>
          </p:cNvPr>
          <p:cNvCxnSpPr>
            <a:stCxn id="46" idx="4"/>
            <a:endCxn id="50" idx="0"/>
          </p:cNvCxnSpPr>
          <p:nvPr/>
        </p:nvCxnSpPr>
        <p:spPr>
          <a:xfrm flipH="1">
            <a:off x="6741036" y="1517604"/>
            <a:ext cx="1191021" cy="65817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DDCDEC2-340B-4E57-AEA1-CBBC16AA7434}"/>
              </a:ext>
            </a:extLst>
          </p:cNvPr>
          <p:cNvCxnSpPr>
            <a:cxnSpLocks/>
            <a:stCxn id="47" idx="4"/>
            <a:endCxn id="51" idx="7"/>
          </p:cNvCxnSpPr>
          <p:nvPr/>
        </p:nvCxnSpPr>
        <p:spPr>
          <a:xfrm flipH="1" flipV="1">
            <a:off x="8718395" y="2715021"/>
            <a:ext cx="1448862" cy="14816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47BC339-884D-4F19-8E3A-A486C85F2A86}"/>
              </a:ext>
            </a:extLst>
          </p:cNvPr>
          <p:cNvCxnSpPr>
            <a:stCxn id="46" idx="5"/>
            <a:endCxn id="51" idx="0"/>
          </p:cNvCxnSpPr>
          <p:nvPr/>
        </p:nvCxnSpPr>
        <p:spPr>
          <a:xfrm>
            <a:off x="8173240" y="1417702"/>
            <a:ext cx="301405" cy="1197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C2F0EE-6B38-492A-9418-407E3214A8E3}"/>
              </a:ext>
            </a:extLst>
          </p:cNvPr>
          <p:cNvCxnSpPr>
            <a:stCxn id="45" idx="3"/>
            <a:endCxn id="50" idx="7"/>
          </p:cNvCxnSpPr>
          <p:nvPr/>
        </p:nvCxnSpPr>
        <p:spPr>
          <a:xfrm flipH="1" flipV="1">
            <a:off x="6984786" y="2275679"/>
            <a:ext cx="2637570" cy="2930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380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6EAFE4-A653-45DE-8A12-2DC972492B1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59223A7-F159-41B5-8858-C682832A02C7}"/>
</file>

<file path=customXml/itemProps3.xml><?xml version="1.0" encoding="utf-8"?>
<ds:datastoreItem xmlns:ds="http://schemas.openxmlformats.org/officeDocument/2006/customXml" ds:itemID="{E2ED1895-2F40-4ECE-8134-776860484E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4125</TotalTime>
  <Words>562</Words>
  <Application>Microsoft Office PowerPoint</Application>
  <PresentationFormat>Widescreen</PresentationFormat>
  <Paragraphs>177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</vt:lpstr>
      <vt:lpstr>Montserrat ExtraBold</vt:lpstr>
      <vt:lpstr>Montserrat Light</vt:lpstr>
      <vt:lpstr>Office Theme</vt:lpstr>
      <vt:lpstr>PowerPoint Presentation</vt:lpstr>
      <vt:lpstr>PowerPoint Presentation</vt:lpstr>
      <vt:lpstr>Bridge Of Konigsberg</vt:lpstr>
      <vt:lpstr>Euler Path and Circuit</vt:lpstr>
      <vt:lpstr>The Geometry of Position</vt:lpstr>
      <vt:lpstr>Adjacent Node</vt:lpstr>
      <vt:lpstr>Directed &amp; Undirected Graph</vt:lpstr>
      <vt:lpstr>Weighted &amp; Unweighted Graph</vt:lpstr>
      <vt:lpstr>Path</vt:lpstr>
      <vt:lpstr>Degree</vt:lpstr>
      <vt:lpstr>Tree</vt:lpstr>
      <vt:lpstr>Graph Representation</vt:lpstr>
      <vt:lpstr>Adjacency List</vt:lpstr>
      <vt:lpstr>Adjacency Matrix</vt:lpstr>
      <vt:lpstr>Level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Mosiur Rahman Sweet</dc:creator>
  <cp:lastModifiedBy>Sumaiya Tasnim</cp:lastModifiedBy>
  <cp:revision>477</cp:revision>
  <dcterms:created xsi:type="dcterms:W3CDTF">2020-06-21T15:51:56Z</dcterms:created>
  <dcterms:modified xsi:type="dcterms:W3CDTF">2025-10-13T04:10:05Z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