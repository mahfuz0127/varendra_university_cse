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9" r:id="rId6"/>
    <p:sldId id="270" r:id="rId7"/>
    <p:sldId id="286" r:id="rId8"/>
    <p:sldId id="271" r:id="rId9"/>
    <p:sldId id="272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8" r:id="rId24"/>
    <p:sldId id="289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26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CCFF33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D2A6E-AB17-4BDA-9FB4-383D9888EAD4}" v="2" dt="2025-05-14T13:59:20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E2D2A6E-AB17-4BDA-9FB4-383D9888EAD4}"/>
    <pc:docChg chg="sldOrd">
      <pc:chgData name="" userId="" providerId="" clId="Web-{DE2D2A6E-AB17-4BDA-9FB4-383D9888EAD4}" dt="2025-05-14T13:58:54.590" v="0"/>
      <pc:docMkLst>
        <pc:docMk/>
      </pc:docMkLst>
      <pc:sldChg chg="ord">
        <pc:chgData name="" userId="" providerId="" clId="Web-{DE2D2A6E-AB17-4BDA-9FB4-383D9888EAD4}" dt="2025-05-14T13:58:54.590" v="0"/>
        <pc:sldMkLst>
          <pc:docMk/>
          <pc:sldMk cId="2036752959" sldId="269"/>
        </pc:sldMkLst>
      </pc:sldChg>
    </pc:docChg>
  </pc:docChgLst>
  <pc:docChgLst>
    <pc:chgData name="ANIKA ISLAM SORMI" userId="S::232311041@vu.edu.bd::020caf11-0506-4a29-a2c8-d2b89015f446" providerId="AD" clId="Web-{DE2D2A6E-AB17-4BDA-9FB4-383D9888EAD4}"/>
    <pc:docChg chg="sldOrd">
      <pc:chgData name="ANIKA ISLAM SORMI" userId="S::232311041@vu.edu.bd::020caf11-0506-4a29-a2c8-d2b89015f446" providerId="AD" clId="Web-{DE2D2A6E-AB17-4BDA-9FB4-383D9888EAD4}" dt="2025-05-14T13:59:20.731" v="0"/>
      <pc:docMkLst>
        <pc:docMk/>
      </pc:docMkLst>
      <pc:sldChg chg="ord">
        <pc:chgData name="ANIKA ISLAM SORMI" userId="S::232311041@vu.edu.bd::020caf11-0506-4a29-a2c8-d2b89015f446" providerId="AD" clId="Web-{DE2D2A6E-AB17-4BDA-9FB4-383D9888EAD4}" dt="2025-05-14T13:59:20.731" v="0"/>
        <pc:sldMkLst>
          <pc:docMk/>
          <pc:sldMk cId="759845072" sldId="270"/>
        </pc:sldMkLst>
      </pc:sldChg>
    </pc:docChg>
  </pc:docChgLst>
  <pc:docChgLst>
    <pc:chgData name="ANIKA ISLAM SORMI" userId="S::232311041@vu.edu.bd::020caf11-0506-4a29-a2c8-d2b89015f446" providerId="AD" clId="Web-{39D91A15-A5E8-4D04-A66A-04596B5C92F9}"/>
    <pc:docChg chg="sldOrd">
      <pc:chgData name="ANIKA ISLAM SORMI" userId="S::232311041@vu.edu.bd::020caf11-0506-4a29-a2c8-d2b89015f446" providerId="AD" clId="Web-{39D91A15-A5E8-4D04-A66A-04596B5C92F9}" dt="2025-05-11T10:13:06.464" v="13"/>
      <pc:docMkLst>
        <pc:docMk/>
      </pc:docMkLst>
      <pc:sldChg chg="ord">
        <pc:chgData name="ANIKA ISLAM SORMI" userId="S::232311041@vu.edu.bd::020caf11-0506-4a29-a2c8-d2b89015f446" providerId="AD" clId="Web-{39D91A15-A5E8-4D04-A66A-04596B5C92F9}" dt="2025-05-11T10:13:06.464" v="13"/>
        <pc:sldMkLst>
          <pc:docMk/>
          <pc:sldMk cId="3697748073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81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8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1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2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7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6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4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E5508E-E1D3-475E-8780-56C170824F1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58568"/>
          </a:xfrm>
        </p:spPr>
        <p:txBody>
          <a:bodyPr anchor="ctr"/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125" y="3265715"/>
            <a:ext cx="9914710" cy="283463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Muktar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Varendra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199199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</a:t>
            </a:r>
          </a:p>
        </p:txBody>
      </p:sp>
      <p:sp>
        <p:nvSpPr>
          <p:cNvPr id="2" name="Flowchart: Connector 1"/>
          <p:cNvSpPr/>
          <p:nvPr/>
        </p:nvSpPr>
        <p:spPr>
          <a:xfrm>
            <a:off x="1735677" y="307953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2277544" y="25376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894764" y="307953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436631" y="25376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431551" y="363740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973418" y="30955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2277544" y="363740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2" idx="7"/>
            <a:endCxn id="6" idx="3"/>
          </p:cNvCxnSpPr>
          <p:nvPr/>
        </p:nvCxnSpPr>
        <p:spPr>
          <a:xfrm flipV="1">
            <a:off x="2003066" y="279782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162153" y="279244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689784" y="335856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2544933" y="333969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1"/>
            <a:endCxn id="2" idx="5"/>
          </p:cNvCxnSpPr>
          <p:nvPr/>
        </p:nvCxnSpPr>
        <p:spPr>
          <a:xfrm flipH="1" flipV="1">
            <a:off x="2003066" y="333969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1"/>
            <a:endCxn id="7" idx="5"/>
          </p:cNvCxnSpPr>
          <p:nvPr/>
        </p:nvCxnSpPr>
        <p:spPr>
          <a:xfrm flipH="1" flipV="1">
            <a:off x="3162153" y="333969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1"/>
            <a:endCxn id="8" idx="5"/>
          </p:cNvCxnSpPr>
          <p:nvPr/>
        </p:nvCxnSpPr>
        <p:spPr>
          <a:xfrm flipH="1" flipV="1">
            <a:off x="3704020" y="27978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1"/>
            <a:endCxn id="6" idx="5"/>
          </p:cNvCxnSpPr>
          <p:nvPr/>
        </p:nvCxnSpPr>
        <p:spPr>
          <a:xfrm flipH="1" flipV="1">
            <a:off x="2544933" y="279782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1" idx="0"/>
            <a:endCxn id="6" idx="4"/>
          </p:cNvCxnSpPr>
          <p:nvPr/>
        </p:nvCxnSpPr>
        <p:spPr>
          <a:xfrm flipV="1">
            <a:off x="2434177" y="284246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0" idx="2"/>
            <a:endCxn id="7" idx="6"/>
          </p:cNvCxnSpPr>
          <p:nvPr/>
        </p:nvCxnSpPr>
        <p:spPr>
          <a:xfrm flipH="1" flipV="1">
            <a:off x="3208030" y="323193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9" idx="2"/>
            <a:endCxn id="11" idx="6"/>
          </p:cNvCxnSpPr>
          <p:nvPr/>
        </p:nvCxnSpPr>
        <p:spPr>
          <a:xfrm flipH="1">
            <a:off x="2590810" y="378980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2590810" y="268914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56032" y="272131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6887" y="238199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6887" y="375754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44199" y="342047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3220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4804" y="296361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900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2894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41049" y="337974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45879" y="305526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84075" y="322573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3891" y="336607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5333" y="1742887"/>
            <a:ext cx="9970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graph is a subgraph that includes all the vertices of the original graph and is also a tree (a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acyclic 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3" name="Flowchart: Connector 62"/>
          <p:cNvSpPr/>
          <p:nvPr/>
        </p:nvSpPr>
        <p:spPr>
          <a:xfrm>
            <a:off x="4811963" y="307571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4" name="Flowchart: Connector 63"/>
          <p:cNvSpPr/>
          <p:nvPr/>
        </p:nvSpPr>
        <p:spPr>
          <a:xfrm>
            <a:off x="5353830" y="253384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65" name="Flowchart: Connector 64"/>
          <p:cNvSpPr/>
          <p:nvPr/>
        </p:nvSpPr>
        <p:spPr>
          <a:xfrm>
            <a:off x="5971050" y="307571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66" name="Flowchart: Connector 65"/>
          <p:cNvSpPr/>
          <p:nvPr/>
        </p:nvSpPr>
        <p:spPr>
          <a:xfrm>
            <a:off x="6512917" y="253384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67" name="Flowchart: Connector 66"/>
          <p:cNvSpPr/>
          <p:nvPr/>
        </p:nvSpPr>
        <p:spPr>
          <a:xfrm>
            <a:off x="6507837" y="363359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68" name="Flowchart: Connector 67"/>
          <p:cNvSpPr/>
          <p:nvPr/>
        </p:nvSpPr>
        <p:spPr>
          <a:xfrm>
            <a:off x="7049704" y="309172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69" name="Flowchart: Connector 68"/>
          <p:cNvSpPr/>
          <p:nvPr/>
        </p:nvSpPr>
        <p:spPr>
          <a:xfrm>
            <a:off x="5353830" y="363359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70" name="Straight Connector 69"/>
          <p:cNvCxnSpPr>
            <a:stCxn id="63" idx="7"/>
            <a:endCxn id="64" idx="3"/>
          </p:cNvCxnSpPr>
          <p:nvPr/>
        </p:nvCxnSpPr>
        <p:spPr>
          <a:xfrm flipV="1">
            <a:off x="5079352" y="2794012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1"/>
            <a:endCxn id="63" idx="5"/>
          </p:cNvCxnSpPr>
          <p:nvPr/>
        </p:nvCxnSpPr>
        <p:spPr>
          <a:xfrm flipH="1" flipV="1">
            <a:off x="5079352" y="333587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8" idx="1"/>
            <a:endCxn id="66" idx="5"/>
          </p:cNvCxnSpPr>
          <p:nvPr/>
        </p:nvCxnSpPr>
        <p:spPr>
          <a:xfrm flipH="1" flipV="1">
            <a:off x="6780306" y="2794012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5" idx="1"/>
            <a:endCxn id="64" idx="5"/>
          </p:cNvCxnSpPr>
          <p:nvPr/>
        </p:nvCxnSpPr>
        <p:spPr>
          <a:xfrm flipH="1" flipV="1">
            <a:off x="5621219" y="2794012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8" idx="2"/>
            <a:endCxn id="65" idx="6"/>
          </p:cNvCxnSpPr>
          <p:nvPr/>
        </p:nvCxnSpPr>
        <p:spPr>
          <a:xfrm flipH="1" flipV="1">
            <a:off x="6284316" y="3228115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7" idx="2"/>
            <a:endCxn id="69" idx="6"/>
          </p:cNvCxnSpPr>
          <p:nvPr/>
        </p:nvCxnSpPr>
        <p:spPr>
          <a:xfrm flipH="1">
            <a:off x="5667096" y="378599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132318" y="271749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73173" y="37537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79506" y="27058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41090" y="295980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89180" y="27058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17335" y="337592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4" name="Flowchart: Connector 93"/>
          <p:cNvSpPr/>
          <p:nvPr/>
        </p:nvSpPr>
        <p:spPr>
          <a:xfrm>
            <a:off x="1735677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95" name="Flowchart: Connector 94"/>
          <p:cNvSpPr/>
          <p:nvPr/>
        </p:nvSpPr>
        <p:spPr>
          <a:xfrm>
            <a:off x="2277544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96" name="Flowchart: Connector 95"/>
          <p:cNvSpPr/>
          <p:nvPr/>
        </p:nvSpPr>
        <p:spPr>
          <a:xfrm>
            <a:off x="2894764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97" name="Flowchart: Connector 96"/>
          <p:cNvSpPr/>
          <p:nvPr/>
        </p:nvSpPr>
        <p:spPr>
          <a:xfrm>
            <a:off x="3436631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8" name="Flowchart: Connector 97"/>
          <p:cNvSpPr/>
          <p:nvPr/>
        </p:nvSpPr>
        <p:spPr>
          <a:xfrm>
            <a:off x="3431551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99" name="Flowchart: Connector 98"/>
          <p:cNvSpPr/>
          <p:nvPr/>
        </p:nvSpPr>
        <p:spPr>
          <a:xfrm>
            <a:off x="3973418" y="50663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00" name="Flowchart: Connector 99"/>
          <p:cNvSpPr/>
          <p:nvPr/>
        </p:nvSpPr>
        <p:spPr>
          <a:xfrm>
            <a:off x="2277544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01" name="Straight Connector 100"/>
          <p:cNvCxnSpPr>
            <a:stCxn id="94" idx="7"/>
            <a:endCxn id="95" idx="3"/>
          </p:cNvCxnSpPr>
          <p:nvPr/>
        </p:nvCxnSpPr>
        <p:spPr>
          <a:xfrm flipV="1">
            <a:off x="2003066" y="476862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3689784" y="5329370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98" idx="1"/>
            <a:endCxn id="96" idx="5"/>
          </p:cNvCxnSpPr>
          <p:nvPr/>
        </p:nvCxnSpPr>
        <p:spPr>
          <a:xfrm flipH="1" flipV="1">
            <a:off x="3162153" y="5310495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0" idx="0"/>
            <a:endCxn id="95" idx="4"/>
          </p:cNvCxnSpPr>
          <p:nvPr/>
        </p:nvCxnSpPr>
        <p:spPr>
          <a:xfrm flipV="1">
            <a:off x="2434177" y="4813266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98" idx="2"/>
            <a:endCxn id="100" idx="6"/>
          </p:cNvCxnSpPr>
          <p:nvPr/>
        </p:nvCxnSpPr>
        <p:spPr>
          <a:xfrm flipH="1">
            <a:off x="2590810" y="5760607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2590810" y="4659941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056032" y="46921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96887" y="43527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6887" y="572834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44199" y="539127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45879" y="50260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83891" y="533687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5" name="Flowchart: Connector 124"/>
          <p:cNvSpPr/>
          <p:nvPr/>
        </p:nvSpPr>
        <p:spPr>
          <a:xfrm>
            <a:off x="4857840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26" name="Flowchart: Connector 125"/>
          <p:cNvSpPr/>
          <p:nvPr/>
        </p:nvSpPr>
        <p:spPr>
          <a:xfrm>
            <a:off x="5399707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27" name="Flowchart: Connector 126"/>
          <p:cNvSpPr/>
          <p:nvPr/>
        </p:nvSpPr>
        <p:spPr>
          <a:xfrm>
            <a:off x="6016927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28" name="Flowchart: Connector 127"/>
          <p:cNvSpPr/>
          <p:nvPr/>
        </p:nvSpPr>
        <p:spPr>
          <a:xfrm>
            <a:off x="6558794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29" name="Flowchart: Connector 128"/>
          <p:cNvSpPr/>
          <p:nvPr/>
        </p:nvSpPr>
        <p:spPr>
          <a:xfrm>
            <a:off x="6553714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30" name="Flowchart: Connector 129"/>
          <p:cNvSpPr/>
          <p:nvPr/>
        </p:nvSpPr>
        <p:spPr>
          <a:xfrm>
            <a:off x="7095581" y="50663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31" name="Flowchart: Connector 130"/>
          <p:cNvSpPr/>
          <p:nvPr/>
        </p:nvSpPr>
        <p:spPr>
          <a:xfrm>
            <a:off x="5399707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32" name="Straight Connector 131"/>
          <p:cNvCxnSpPr>
            <a:stCxn id="131" idx="7"/>
            <a:endCxn id="127" idx="3"/>
          </p:cNvCxnSpPr>
          <p:nvPr/>
        </p:nvCxnSpPr>
        <p:spPr>
          <a:xfrm flipV="1">
            <a:off x="5667096" y="5310495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V="1">
            <a:off x="6284316" y="4763245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31" idx="1"/>
            <a:endCxn id="125" idx="5"/>
          </p:cNvCxnSpPr>
          <p:nvPr/>
        </p:nvCxnSpPr>
        <p:spPr>
          <a:xfrm flipH="1" flipV="1">
            <a:off x="5125229" y="5310495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29" idx="1"/>
            <a:endCxn id="127" idx="5"/>
          </p:cNvCxnSpPr>
          <p:nvPr/>
        </p:nvCxnSpPr>
        <p:spPr>
          <a:xfrm flipH="1" flipV="1">
            <a:off x="6284316" y="5310495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30" idx="1"/>
            <a:endCxn id="128" idx="5"/>
          </p:cNvCxnSpPr>
          <p:nvPr/>
        </p:nvCxnSpPr>
        <p:spPr>
          <a:xfrm flipH="1" flipV="1">
            <a:off x="6826183" y="4768629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H="1">
            <a:off x="5712973" y="4659941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5778337" y="521037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19050" y="43527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025383" y="468046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323063" y="468046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63212" y="53505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306054" y="533687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7" name="Flowchart: Connector 246"/>
          <p:cNvSpPr/>
          <p:nvPr/>
        </p:nvSpPr>
        <p:spPr>
          <a:xfrm>
            <a:off x="7962709" y="30591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248" name="Flowchart: Connector 247"/>
          <p:cNvSpPr/>
          <p:nvPr/>
        </p:nvSpPr>
        <p:spPr>
          <a:xfrm>
            <a:off x="8504576" y="251730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249" name="Flowchart: Connector 248"/>
          <p:cNvSpPr/>
          <p:nvPr/>
        </p:nvSpPr>
        <p:spPr>
          <a:xfrm>
            <a:off x="9121796" y="30591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50" name="Flowchart: Connector 249"/>
          <p:cNvSpPr/>
          <p:nvPr/>
        </p:nvSpPr>
        <p:spPr>
          <a:xfrm>
            <a:off x="9663663" y="251730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51" name="Flowchart: Connector 250"/>
          <p:cNvSpPr/>
          <p:nvPr/>
        </p:nvSpPr>
        <p:spPr>
          <a:xfrm>
            <a:off x="9658583" y="36170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252" name="Flowchart: Connector 251"/>
          <p:cNvSpPr/>
          <p:nvPr/>
        </p:nvSpPr>
        <p:spPr>
          <a:xfrm>
            <a:off x="10200450" y="307517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253" name="Flowchart: Connector 252"/>
          <p:cNvSpPr/>
          <p:nvPr/>
        </p:nvSpPr>
        <p:spPr>
          <a:xfrm>
            <a:off x="8504576" y="36170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255" name="Straight Connector 254"/>
          <p:cNvCxnSpPr/>
          <p:nvPr/>
        </p:nvCxnSpPr>
        <p:spPr>
          <a:xfrm flipV="1">
            <a:off x="9389185" y="277207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V="1">
            <a:off x="9916816" y="333820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53" idx="1"/>
            <a:endCxn id="247" idx="5"/>
          </p:cNvCxnSpPr>
          <p:nvPr/>
        </p:nvCxnSpPr>
        <p:spPr>
          <a:xfrm flipH="1" flipV="1">
            <a:off x="8230098" y="3319329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>
            <a:stCxn id="251" idx="1"/>
            <a:endCxn id="249" idx="5"/>
          </p:cNvCxnSpPr>
          <p:nvPr/>
        </p:nvCxnSpPr>
        <p:spPr>
          <a:xfrm flipH="1" flipV="1">
            <a:off x="9389185" y="3319329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>
            <a:stCxn id="253" idx="0"/>
            <a:endCxn id="248" idx="4"/>
          </p:cNvCxnSpPr>
          <p:nvPr/>
        </p:nvCxnSpPr>
        <p:spPr>
          <a:xfrm flipV="1">
            <a:off x="8661209" y="2822100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Straight Connector 264"/>
          <p:cNvCxnSpPr/>
          <p:nvPr/>
        </p:nvCxnSpPr>
        <p:spPr>
          <a:xfrm flipH="1">
            <a:off x="8817842" y="2668775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9223919" y="236162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0171231" y="340010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27932" y="268929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268081" y="335937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572911" y="303490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410923" y="334571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8" name="Flowchart: Connector 277"/>
          <p:cNvSpPr/>
          <p:nvPr/>
        </p:nvSpPr>
        <p:spPr>
          <a:xfrm>
            <a:off x="8008586" y="5033783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279" name="Flowchart: Connector 278"/>
          <p:cNvSpPr/>
          <p:nvPr/>
        </p:nvSpPr>
        <p:spPr>
          <a:xfrm>
            <a:off x="8550453" y="449191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280" name="Flowchart: Connector 279"/>
          <p:cNvSpPr/>
          <p:nvPr/>
        </p:nvSpPr>
        <p:spPr>
          <a:xfrm>
            <a:off x="9167673" y="5033783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81" name="Flowchart: Connector 280"/>
          <p:cNvSpPr/>
          <p:nvPr/>
        </p:nvSpPr>
        <p:spPr>
          <a:xfrm>
            <a:off x="9709540" y="449191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82" name="Flowchart: Connector 281"/>
          <p:cNvSpPr/>
          <p:nvPr/>
        </p:nvSpPr>
        <p:spPr>
          <a:xfrm>
            <a:off x="9704460" y="5591658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283" name="Flowchart: Connector 282"/>
          <p:cNvSpPr/>
          <p:nvPr/>
        </p:nvSpPr>
        <p:spPr>
          <a:xfrm>
            <a:off x="10246327" y="504979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284" name="Flowchart: Connector 283"/>
          <p:cNvSpPr/>
          <p:nvPr/>
        </p:nvSpPr>
        <p:spPr>
          <a:xfrm>
            <a:off x="8550453" y="5591658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285" name="Straight Connector 284"/>
          <p:cNvCxnSpPr>
            <a:stCxn id="278" idx="7"/>
            <a:endCxn id="279" idx="3"/>
          </p:cNvCxnSpPr>
          <p:nvPr/>
        </p:nvCxnSpPr>
        <p:spPr>
          <a:xfrm flipV="1">
            <a:off x="8275975" y="4752080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>
            <a:stCxn id="284" idx="7"/>
            <a:endCxn id="280" idx="3"/>
          </p:cNvCxnSpPr>
          <p:nvPr/>
        </p:nvCxnSpPr>
        <p:spPr>
          <a:xfrm flipV="1">
            <a:off x="8817842" y="5293946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9" name="Straight Connector 288"/>
          <p:cNvCxnSpPr>
            <a:stCxn id="284" idx="1"/>
            <a:endCxn id="278" idx="5"/>
          </p:cNvCxnSpPr>
          <p:nvPr/>
        </p:nvCxnSpPr>
        <p:spPr>
          <a:xfrm flipH="1" flipV="1">
            <a:off x="8275975" y="5293946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>
            <a:stCxn id="282" idx="1"/>
            <a:endCxn id="280" idx="5"/>
          </p:cNvCxnSpPr>
          <p:nvPr/>
        </p:nvCxnSpPr>
        <p:spPr>
          <a:xfrm flipH="1" flipV="1">
            <a:off x="9435062" y="5293946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>
            <a:stCxn id="283" idx="1"/>
            <a:endCxn id="281" idx="5"/>
          </p:cNvCxnSpPr>
          <p:nvPr/>
        </p:nvCxnSpPr>
        <p:spPr>
          <a:xfrm flipH="1" flipV="1">
            <a:off x="9976929" y="4752080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 flipH="1">
            <a:off x="8863719" y="4643392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8328941" y="467556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269796" y="433624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9269796" y="571179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301" name="TextBox 300"/>
          <p:cNvSpPr txBox="1"/>
          <p:nvPr/>
        </p:nvSpPr>
        <p:spPr>
          <a:xfrm>
            <a:off x="10176129" y="466391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313958" y="533399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956984" y="517998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456800" y="532033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9" name="TextBox 308"/>
          <p:cNvSpPr txBox="1"/>
          <p:nvPr/>
        </p:nvSpPr>
        <p:spPr>
          <a:xfrm rot="5400000">
            <a:off x="2821013" y="3900352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2" name="TextBox 311"/>
          <p:cNvSpPr txBox="1"/>
          <p:nvPr/>
        </p:nvSpPr>
        <p:spPr>
          <a:xfrm rot="5400000">
            <a:off x="5887411" y="3882514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3" name="TextBox 312"/>
          <p:cNvSpPr txBox="1"/>
          <p:nvPr/>
        </p:nvSpPr>
        <p:spPr>
          <a:xfrm rot="5400000">
            <a:off x="2821012" y="5882330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ST-3</a:t>
            </a:r>
          </a:p>
        </p:txBody>
      </p:sp>
      <p:sp>
        <p:nvSpPr>
          <p:cNvPr id="314" name="TextBox 313"/>
          <p:cNvSpPr txBox="1"/>
          <p:nvPr/>
        </p:nvSpPr>
        <p:spPr>
          <a:xfrm rot="5400000">
            <a:off x="5887410" y="5864492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5" name="TextBox 314"/>
          <p:cNvSpPr txBox="1"/>
          <p:nvPr/>
        </p:nvSpPr>
        <p:spPr>
          <a:xfrm rot="5400000">
            <a:off x="5887411" y="3882513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ST-1</a:t>
            </a:r>
          </a:p>
        </p:txBody>
      </p:sp>
      <p:sp>
        <p:nvSpPr>
          <p:cNvPr id="316" name="TextBox 315"/>
          <p:cNvSpPr txBox="1"/>
          <p:nvPr/>
        </p:nvSpPr>
        <p:spPr>
          <a:xfrm rot="5400000">
            <a:off x="5887410" y="5864491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ST-4</a:t>
            </a:r>
          </a:p>
        </p:txBody>
      </p:sp>
      <p:sp>
        <p:nvSpPr>
          <p:cNvPr id="317" name="TextBox 316"/>
          <p:cNvSpPr txBox="1"/>
          <p:nvPr/>
        </p:nvSpPr>
        <p:spPr>
          <a:xfrm rot="5400000">
            <a:off x="9087545" y="3874073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ST-2</a:t>
            </a:r>
          </a:p>
        </p:txBody>
      </p:sp>
      <p:sp>
        <p:nvSpPr>
          <p:cNvPr id="318" name="TextBox 317"/>
          <p:cNvSpPr txBox="1"/>
          <p:nvPr/>
        </p:nvSpPr>
        <p:spPr>
          <a:xfrm rot="5400000">
            <a:off x="9087544" y="5856051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ST-5</a:t>
            </a:r>
          </a:p>
        </p:txBody>
      </p:sp>
    </p:spTree>
    <p:extLst>
      <p:ext uri="{BB962C8B-B14F-4D97-AF65-F5344CB8AC3E}">
        <p14:creationId xmlns:p14="http://schemas.microsoft.com/office/powerpoint/2010/main" val="203675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4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4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1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1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3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8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9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3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9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3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4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3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8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3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0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1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4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5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6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9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0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5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5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6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0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1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4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5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6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9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0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1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5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0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1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4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0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4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5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7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9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0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1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5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6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0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5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6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5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6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0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1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82" grpId="0"/>
      <p:bldP spid="84" grpId="0"/>
      <p:bldP spid="86" grpId="0"/>
      <p:bldP spid="87" grpId="0"/>
      <p:bldP spid="89" grpId="0"/>
      <p:bldP spid="90" grpId="0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13" grpId="0"/>
      <p:bldP spid="114" grpId="0"/>
      <p:bldP spid="115" grpId="0"/>
      <p:bldP spid="116" grpId="0"/>
      <p:bldP spid="122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44" grpId="0"/>
      <p:bldP spid="145" grpId="0"/>
      <p:bldP spid="148" grpId="0"/>
      <p:bldP spid="150" grpId="0"/>
      <p:bldP spid="152" grpId="0"/>
      <p:bldP spid="155" grpId="0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67" grpId="0"/>
      <p:bldP spid="269" grpId="0"/>
      <p:bldP spid="272" grpId="0"/>
      <p:bldP spid="274" grpId="0"/>
      <p:bldP spid="275" grpId="0"/>
      <p:bldP spid="277" grpId="0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97" grpId="0"/>
      <p:bldP spid="298" grpId="0"/>
      <p:bldP spid="299" grpId="0"/>
      <p:bldP spid="301" grpId="0"/>
      <p:bldP spid="305" grpId="0"/>
      <p:bldP spid="307" grpId="0"/>
      <p:bldP spid="308" grpId="0"/>
      <p:bldP spid="309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</a:t>
            </a:r>
          </a:p>
        </p:txBody>
      </p:sp>
      <p:sp>
        <p:nvSpPr>
          <p:cNvPr id="2" name="Flowchart: Connector 1"/>
          <p:cNvSpPr/>
          <p:nvPr/>
        </p:nvSpPr>
        <p:spPr>
          <a:xfrm>
            <a:off x="1735677" y="307953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2277544" y="25376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894764" y="307953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436631" y="25376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431551" y="363740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973418" y="30955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2277544" y="363740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2" idx="7"/>
            <a:endCxn id="6" idx="3"/>
          </p:cNvCxnSpPr>
          <p:nvPr/>
        </p:nvCxnSpPr>
        <p:spPr>
          <a:xfrm flipV="1">
            <a:off x="2003066" y="279782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162153" y="279244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689784" y="335856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2544933" y="333969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1"/>
            <a:endCxn id="2" idx="5"/>
          </p:cNvCxnSpPr>
          <p:nvPr/>
        </p:nvCxnSpPr>
        <p:spPr>
          <a:xfrm flipH="1" flipV="1">
            <a:off x="2003066" y="333969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1"/>
            <a:endCxn id="7" idx="5"/>
          </p:cNvCxnSpPr>
          <p:nvPr/>
        </p:nvCxnSpPr>
        <p:spPr>
          <a:xfrm flipH="1" flipV="1">
            <a:off x="3162153" y="333969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1"/>
            <a:endCxn id="8" idx="5"/>
          </p:cNvCxnSpPr>
          <p:nvPr/>
        </p:nvCxnSpPr>
        <p:spPr>
          <a:xfrm flipH="1" flipV="1">
            <a:off x="3704020" y="27978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1"/>
            <a:endCxn id="6" idx="5"/>
          </p:cNvCxnSpPr>
          <p:nvPr/>
        </p:nvCxnSpPr>
        <p:spPr>
          <a:xfrm flipH="1" flipV="1">
            <a:off x="2544933" y="279782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1" idx="0"/>
            <a:endCxn id="6" idx="4"/>
          </p:cNvCxnSpPr>
          <p:nvPr/>
        </p:nvCxnSpPr>
        <p:spPr>
          <a:xfrm flipV="1">
            <a:off x="2434177" y="284246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0" idx="2"/>
            <a:endCxn id="7" idx="6"/>
          </p:cNvCxnSpPr>
          <p:nvPr/>
        </p:nvCxnSpPr>
        <p:spPr>
          <a:xfrm flipH="1" flipV="1">
            <a:off x="3208030" y="323193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9" idx="2"/>
            <a:endCxn id="11" idx="6"/>
          </p:cNvCxnSpPr>
          <p:nvPr/>
        </p:nvCxnSpPr>
        <p:spPr>
          <a:xfrm flipH="1">
            <a:off x="2590810" y="378980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2590810" y="268914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56032" y="272131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6887" y="238199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6887" y="375754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44199" y="342047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3220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4804" y="296361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900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2894" y="270965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41049" y="337974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45879" y="305526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84075" y="322573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3891" y="336607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5333" y="1742887"/>
            <a:ext cx="9970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 (MST)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a spanning tree that has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weight among all the possible spanning trees.</a:t>
            </a:r>
          </a:p>
        </p:txBody>
      </p:sp>
      <p:sp>
        <p:nvSpPr>
          <p:cNvPr id="63" name="Flowchart: Connector 62"/>
          <p:cNvSpPr/>
          <p:nvPr/>
        </p:nvSpPr>
        <p:spPr>
          <a:xfrm>
            <a:off x="4811963" y="307571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4" name="Flowchart: Connector 63"/>
          <p:cNvSpPr/>
          <p:nvPr/>
        </p:nvSpPr>
        <p:spPr>
          <a:xfrm>
            <a:off x="5353830" y="253384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65" name="Flowchart: Connector 64"/>
          <p:cNvSpPr/>
          <p:nvPr/>
        </p:nvSpPr>
        <p:spPr>
          <a:xfrm>
            <a:off x="5971050" y="307571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66" name="Flowchart: Connector 65"/>
          <p:cNvSpPr/>
          <p:nvPr/>
        </p:nvSpPr>
        <p:spPr>
          <a:xfrm>
            <a:off x="6512917" y="253384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67" name="Flowchart: Connector 66"/>
          <p:cNvSpPr/>
          <p:nvPr/>
        </p:nvSpPr>
        <p:spPr>
          <a:xfrm>
            <a:off x="6507837" y="363359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68" name="Flowchart: Connector 67"/>
          <p:cNvSpPr/>
          <p:nvPr/>
        </p:nvSpPr>
        <p:spPr>
          <a:xfrm>
            <a:off x="7049704" y="309172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69" name="Flowchart: Connector 68"/>
          <p:cNvSpPr/>
          <p:nvPr/>
        </p:nvSpPr>
        <p:spPr>
          <a:xfrm>
            <a:off x="5353830" y="363359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70" name="Straight Connector 69"/>
          <p:cNvCxnSpPr>
            <a:stCxn id="63" idx="7"/>
            <a:endCxn id="64" idx="3"/>
          </p:cNvCxnSpPr>
          <p:nvPr/>
        </p:nvCxnSpPr>
        <p:spPr>
          <a:xfrm flipV="1">
            <a:off x="5079352" y="2794012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1"/>
            <a:endCxn id="63" idx="5"/>
          </p:cNvCxnSpPr>
          <p:nvPr/>
        </p:nvCxnSpPr>
        <p:spPr>
          <a:xfrm flipH="1" flipV="1">
            <a:off x="5079352" y="333587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8" idx="1"/>
            <a:endCxn id="66" idx="5"/>
          </p:cNvCxnSpPr>
          <p:nvPr/>
        </p:nvCxnSpPr>
        <p:spPr>
          <a:xfrm flipH="1" flipV="1">
            <a:off x="6780306" y="2794012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5" idx="1"/>
            <a:endCxn id="64" idx="5"/>
          </p:cNvCxnSpPr>
          <p:nvPr/>
        </p:nvCxnSpPr>
        <p:spPr>
          <a:xfrm flipH="1" flipV="1">
            <a:off x="5621219" y="2794012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8" idx="2"/>
            <a:endCxn id="65" idx="6"/>
          </p:cNvCxnSpPr>
          <p:nvPr/>
        </p:nvCxnSpPr>
        <p:spPr>
          <a:xfrm flipH="1" flipV="1">
            <a:off x="6284316" y="3228115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7" idx="2"/>
            <a:endCxn id="69" idx="6"/>
          </p:cNvCxnSpPr>
          <p:nvPr/>
        </p:nvCxnSpPr>
        <p:spPr>
          <a:xfrm flipH="1">
            <a:off x="5667096" y="378599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132318" y="271749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73173" y="37537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79506" y="27058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41090" y="295980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89180" y="27058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17335" y="337592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4" name="Flowchart: Connector 93"/>
          <p:cNvSpPr/>
          <p:nvPr/>
        </p:nvSpPr>
        <p:spPr>
          <a:xfrm>
            <a:off x="1735677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95" name="Flowchart: Connector 94"/>
          <p:cNvSpPr/>
          <p:nvPr/>
        </p:nvSpPr>
        <p:spPr>
          <a:xfrm>
            <a:off x="2277544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96" name="Flowchart: Connector 95"/>
          <p:cNvSpPr/>
          <p:nvPr/>
        </p:nvSpPr>
        <p:spPr>
          <a:xfrm>
            <a:off x="2894764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97" name="Flowchart: Connector 96"/>
          <p:cNvSpPr/>
          <p:nvPr/>
        </p:nvSpPr>
        <p:spPr>
          <a:xfrm>
            <a:off x="3436631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8" name="Flowchart: Connector 97"/>
          <p:cNvSpPr/>
          <p:nvPr/>
        </p:nvSpPr>
        <p:spPr>
          <a:xfrm>
            <a:off x="3431551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99" name="Flowchart: Connector 98"/>
          <p:cNvSpPr/>
          <p:nvPr/>
        </p:nvSpPr>
        <p:spPr>
          <a:xfrm>
            <a:off x="3973418" y="50663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00" name="Flowchart: Connector 99"/>
          <p:cNvSpPr/>
          <p:nvPr/>
        </p:nvSpPr>
        <p:spPr>
          <a:xfrm>
            <a:off x="2277544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01" name="Straight Connector 100"/>
          <p:cNvCxnSpPr>
            <a:stCxn id="94" idx="7"/>
            <a:endCxn id="95" idx="3"/>
          </p:cNvCxnSpPr>
          <p:nvPr/>
        </p:nvCxnSpPr>
        <p:spPr>
          <a:xfrm flipV="1">
            <a:off x="2003066" y="476862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3689784" y="5329370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98" idx="1"/>
            <a:endCxn id="96" idx="5"/>
          </p:cNvCxnSpPr>
          <p:nvPr/>
        </p:nvCxnSpPr>
        <p:spPr>
          <a:xfrm flipH="1" flipV="1">
            <a:off x="3162153" y="5310495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0" idx="0"/>
            <a:endCxn id="95" idx="4"/>
          </p:cNvCxnSpPr>
          <p:nvPr/>
        </p:nvCxnSpPr>
        <p:spPr>
          <a:xfrm flipV="1">
            <a:off x="2434177" y="4813266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98" idx="2"/>
            <a:endCxn id="100" idx="6"/>
          </p:cNvCxnSpPr>
          <p:nvPr/>
        </p:nvCxnSpPr>
        <p:spPr>
          <a:xfrm flipH="1">
            <a:off x="2590810" y="5760607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2590810" y="4659941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056032" y="46921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96887" y="43527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6887" y="572834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44199" y="539127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45879" y="50260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83891" y="533687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5" name="Flowchart: Connector 124"/>
          <p:cNvSpPr/>
          <p:nvPr/>
        </p:nvSpPr>
        <p:spPr>
          <a:xfrm>
            <a:off x="4857840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26" name="Flowchart: Connector 125"/>
          <p:cNvSpPr/>
          <p:nvPr/>
        </p:nvSpPr>
        <p:spPr>
          <a:xfrm>
            <a:off x="5399707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27" name="Flowchart: Connector 126"/>
          <p:cNvSpPr/>
          <p:nvPr/>
        </p:nvSpPr>
        <p:spPr>
          <a:xfrm>
            <a:off x="6016927" y="505033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28" name="Flowchart: Connector 127"/>
          <p:cNvSpPr/>
          <p:nvPr/>
        </p:nvSpPr>
        <p:spPr>
          <a:xfrm>
            <a:off x="6558794" y="45084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29" name="Flowchart: Connector 128"/>
          <p:cNvSpPr/>
          <p:nvPr/>
        </p:nvSpPr>
        <p:spPr>
          <a:xfrm>
            <a:off x="6553714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30" name="Flowchart: Connector 129"/>
          <p:cNvSpPr/>
          <p:nvPr/>
        </p:nvSpPr>
        <p:spPr>
          <a:xfrm>
            <a:off x="7095581" y="50663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31" name="Flowchart: Connector 130"/>
          <p:cNvSpPr/>
          <p:nvPr/>
        </p:nvSpPr>
        <p:spPr>
          <a:xfrm>
            <a:off x="5399707" y="560820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33" name="Straight Connector 132"/>
          <p:cNvCxnSpPr/>
          <p:nvPr/>
        </p:nvCxnSpPr>
        <p:spPr>
          <a:xfrm flipV="1">
            <a:off x="6284316" y="4763245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31" idx="1"/>
            <a:endCxn id="125" idx="5"/>
          </p:cNvCxnSpPr>
          <p:nvPr/>
        </p:nvCxnSpPr>
        <p:spPr>
          <a:xfrm flipH="1" flipV="1">
            <a:off x="5125229" y="5310495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29" idx="1"/>
            <a:endCxn id="127" idx="5"/>
          </p:cNvCxnSpPr>
          <p:nvPr/>
        </p:nvCxnSpPr>
        <p:spPr>
          <a:xfrm flipH="1" flipV="1">
            <a:off x="6284316" y="5310495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30" idx="1"/>
            <a:endCxn id="128" idx="5"/>
          </p:cNvCxnSpPr>
          <p:nvPr/>
        </p:nvCxnSpPr>
        <p:spPr>
          <a:xfrm flipH="1" flipV="1">
            <a:off x="6826183" y="4768629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H="1">
            <a:off x="5712973" y="4659941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6119050" y="43527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025383" y="468046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323063" y="468046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63212" y="535054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306054" y="533687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7" name="Flowchart: Connector 246"/>
          <p:cNvSpPr/>
          <p:nvPr/>
        </p:nvSpPr>
        <p:spPr>
          <a:xfrm>
            <a:off x="7962709" y="30591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248" name="Flowchart: Connector 247"/>
          <p:cNvSpPr/>
          <p:nvPr/>
        </p:nvSpPr>
        <p:spPr>
          <a:xfrm>
            <a:off x="8504576" y="251730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249" name="Flowchart: Connector 248"/>
          <p:cNvSpPr/>
          <p:nvPr/>
        </p:nvSpPr>
        <p:spPr>
          <a:xfrm>
            <a:off x="9121796" y="305916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50" name="Flowchart: Connector 249"/>
          <p:cNvSpPr/>
          <p:nvPr/>
        </p:nvSpPr>
        <p:spPr>
          <a:xfrm>
            <a:off x="9663663" y="251730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51" name="Flowchart: Connector 250"/>
          <p:cNvSpPr/>
          <p:nvPr/>
        </p:nvSpPr>
        <p:spPr>
          <a:xfrm>
            <a:off x="9658583" y="36170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252" name="Flowchart: Connector 251"/>
          <p:cNvSpPr/>
          <p:nvPr/>
        </p:nvSpPr>
        <p:spPr>
          <a:xfrm>
            <a:off x="10200450" y="307517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253" name="Flowchart: Connector 252"/>
          <p:cNvSpPr/>
          <p:nvPr/>
        </p:nvSpPr>
        <p:spPr>
          <a:xfrm>
            <a:off x="8504576" y="361704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255" name="Straight Connector 254"/>
          <p:cNvCxnSpPr/>
          <p:nvPr/>
        </p:nvCxnSpPr>
        <p:spPr>
          <a:xfrm flipV="1">
            <a:off x="9389185" y="277207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V="1">
            <a:off x="9916816" y="333820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53" idx="1"/>
            <a:endCxn id="247" idx="5"/>
          </p:cNvCxnSpPr>
          <p:nvPr/>
        </p:nvCxnSpPr>
        <p:spPr>
          <a:xfrm flipH="1" flipV="1">
            <a:off x="8230098" y="3319329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>
            <a:stCxn id="251" idx="1"/>
            <a:endCxn id="249" idx="5"/>
          </p:cNvCxnSpPr>
          <p:nvPr/>
        </p:nvCxnSpPr>
        <p:spPr>
          <a:xfrm flipH="1" flipV="1">
            <a:off x="9389185" y="3319329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>
            <a:stCxn id="253" idx="0"/>
            <a:endCxn id="248" idx="4"/>
          </p:cNvCxnSpPr>
          <p:nvPr/>
        </p:nvCxnSpPr>
        <p:spPr>
          <a:xfrm flipV="1">
            <a:off x="8661209" y="2822100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Straight Connector 264"/>
          <p:cNvCxnSpPr/>
          <p:nvPr/>
        </p:nvCxnSpPr>
        <p:spPr>
          <a:xfrm flipH="1">
            <a:off x="8817842" y="2668775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9223919" y="2361625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0171231" y="340010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27932" y="268929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268081" y="335937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572911" y="303490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410923" y="334571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8" name="Flowchart: Connector 277"/>
          <p:cNvSpPr/>
          <p:nvPr/>
        </p:nvSpPr>
        <p:spPr>
          <a:xfrm>
            <a:off x="8008586" y="5033783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279" name="Flowchart: Connector 278"/>
          <p:cNvSpPr/>
          <p:nvPr/>
        </p:nvSpPr>
        <p:spPr>
          <a:xfrm>
            <a:off x="8550453" y="449191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280" name="Flowchart: Connector 279"/>
          <p:cNvSpPr/>
          <p:nvPr/>
        </p:nvSpPr>
        <p:spPr>
          <a:xfrm>
            <a:off x="9167673" y="5033783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81" name="Flowchart: Connector 280"/>
          <p:cNvSpPr/>
          <p:nvPr/>
        </p:nvSpPr>
        <p:spPr>
          <a:xfrm>
            <a:off x="9709540" y="4491917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82" name="Flowchart: Connector 281"/>
          <p:cNvSpPr/>
          <p:nvPr/>
        </p:nvSpPr>
        <p:spPr>
          <a:xfrm>
            <a:off x="9704460" y="5591658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283" name="Flowchart: Connector 282"/>
          <p:cNvSpPr/>
          <p:nvPr/>
        </p:nvSpPr>
        <p:spPr>
          <a:xfrm>
            <a:off x="10246327" y="5049792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284" name="Flowchart: Connector 283"/>
          <p:cNvSpPr/>
          <p:nvPr/>
        </p:nvSpPr>
        <p:spPr>
          <a:xfrm>
            <a:off x="8550453" y="5591658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285" name="Straight Connector 284"/>
          <p:cNvCxnSpPr>
            <a:stCxn id="278" idx="7"/>
            <a:endCxn id="279" idx="3"/>
          </p:cNvCxnSpPr>
          <p:nvPr/>
        </p:nvCxnSpPr>
        <p:spPr>
          <a:xfrm flipV="1">
            <a:off x="8275975" y="4752080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>
            <a:stCxn id="284" idx="7"/>
            <a:endCxn id="280" idx="3"/>
          </p:cNvCxnSpPr>
          <p:nvPr/>
        </p:nvCxnSpPr>
        <p:spPr>
          <a:xfrm flipV="1">
            <a:off x="8817842" y="5293946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9" name="Straight Connector 288"/>
          <p:cNvCxnSpPr>
            <a:stCxn id="284" idx="1"/>
            <a:endCxn id="278" idx="5"/>
          </p:cNvCxnSpPr>
          <p:nvPr/>
        </p:nvCxnSpPr>
        <p:spPr>
          <a:xfrm flipH="1" flipV="1">
            <a:off x="8275975" y="5293946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>
            <a:stCxn id="282" idx="1"/>
            <a:endCxn id="280" idx="5"/>
          </p:cNvCxnSpPr>
          <p:nvPr/>
        </p:nvCxnSpPr>
        <p:spPr>
          <a:xfrm flipH="1" flipV="1">
            <a:off x="9435062" y="5293946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>
            <a:stCxn id="283" idx="1"/>
            <a:endCxn id="281" idx="5"/>
          </p:cNvCxnSpPr>
          <p:nvPr/>
        </p:nvCxnSpPr>
        <p:spPr>
          <a:xfrm flipH="1" flipV="1">
            <a:off x="9976929" y="4752080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 flipH="1">
            <a:off x="8863719" y="4643392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8328941" y="467556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269796" y="433624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9269796" y="571179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301" name="TextBox 300"/>
          <p:cNvSpPr txBox="1"/>
          <p:nvPr/>
        </p:nvSpPr>
        <p:spPr>
          <a:xfrm>
            <a:off x="10176129" y="466391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313958" y="533399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956984" y="517998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456800" y="532033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9" name="TextBox 308"/>
          <p:cNvSpPr txBox="1"/>
          <p:nvPr/>
        </p:nvSpPr>
        <p:spPr>
          <a:xfrm rot="5400000">
            <a:off x="2821013" y="3900352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2" name="TextBox 311"/>
          <p:cNvSpPr txBox="1"/>
          <p:nvPr/>
        </p:nvSpPr>
        <p:spPr>
          <a:xfrm rot="5400000">
            <a:off x="5887411" y="3882514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3" name="TextBox 312"/>
          <p:cNvSpPr txBox="1"/>
          <p:nvPr/>
        </p:nvSpPr>
        <p:spPr>
          <a:xfrm rot="5400000">
            <a:off x="2821012" y="5862010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ST-3</a:t>
            </a:r>
          </a:p>
        </p:txBody>
      </p:sp>
      <p:sp>
        <p:nvSpPr>
          <p:cNvPr id="314" name="TextBox 313"/>
          <p:cNvSpPr txBox="1"/>
          <p:nvPr/>
        </p:nvSpPr>
        <p:spPr>
          <a:xfrm rot="5400000">
            <a:off x="5887410" y="5864492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Graph</a:t>
            </a:r>
          </a:p>
        </p:txBody>
      </p:sp>
      <p:sp>
        <p:nvSpPr>
          <p:cNvPr id="315" name="TextBox 314"/>
          <p:cNvSpPr txBox="1"/>
          <p:nvPr/>
        </p:nvSpPr>
        <p:spPr>
          <a:xfrm rot="5400000">
            <a:off x="5887411" y="3882513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ST-1</a:t>
            </a:r>
          </a:p>
        </p:txBody>
      </p:sp>
      <p:sp>
        <p:nvSpPr>
          <p:cNvPr id="316" name="TextBox 315"/>
          <p:cNvSpPr txBox="1"/>
          <p:nvPr/>
        </p:nvSpPr>
        <p:spPr>
          <a:xfrm rot="5400000">
            <a:off x="5887410" y="5864491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ST-4</a:t>
            </a:r>
          </a:p>
        </p:txBody>
      </p:sp>
      <p:sp>
        <p:nvSpPr>
          <p:cNvPr id="317" name="TextBox 316"/>
          <p:cNvSpPr txBox="1"/>
          <p:nvPr/>
        </p:nvSpPr>
        <p:spPr>
          <a:xfrm rot="5400000">
            <a:off x="9087545" y="3874073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ST-2</a:t>
            </a:r>
          </a:p>
        </p:txBody>
      </p:sp>
      <p:sp>
        <p:nvSpPr>
          <p:cNvPr id="318" name="TextBox 317"/>
          <p:cNvSpPr txBox="1"/>
          <p:nvPr/>
        </p:nvSpPr>
        <p:spPr>
          <a:xfrm rot="5400000">
            <a:off x="9087544" y="5856051"/>
            <a:ext cx="400110" cy="680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ST-5</a:t>
            </a:r>
          </a:p>
        </p:txBody>
      </p:sp>
      <p:sp>
        <p:nvSpPr>
          <p:cNvPr id="139" name="TextBox 138"/>
          <p:cNvSpPr txBox="1"/>
          <p:nvPr/>
        </p:nvSpPr>
        <p:spPr>
          <a:xfrm rot="5400000">
            <a:off x="6793429" y="3882514"/>
            <a:ext cx="400110" cy="680395"/>
          </a:xfrm>
          <a:prstGeom prst="rect">
            <a:avLst/>
          </a:prstGeom>
          <a:solidFill>
            <a:srgbClr val="00206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40" name="TextBox 139"/>
          <p:cNvSpPr txBox="1"/>
          <p:nvPr/>
        </p:nvSpPr>
        <p:spPr>
          <a:xfrm rot="5400000">
            <a:off x="10090334" y="3866731"/>
            <a:ext cx="400110" cy="680395"/>
          </a:xfrm>
          <a:prstGeom prst="rect">
            <a:avLst/>
          </a:prstGeom>
          <a:solidFill>
            <a:srgbClr val="00206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 rot="5400000">
            <a:off x="6787364" y="5865951"/>
            <a:ext cx="400110" cy="680395"/>
          </a:xfrm>
          <a:prstGeom prst="rect">
            <a:avLst/>
          </a:prstGeom>
          <a:solidFill>
            <a:srgbClr val="00206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 rot="5400000">
            <a:off x="10093723" y="5865952"/>
            <a:ext cx="400110" cy="680395"/>
          </a:xfrm>
          <a:prstGeom prst="rect">
            <a:avLst/>
          </a:prstGeom>
          <a:solidFill>
            <a:srgbClr val="00206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 rot="5400000">
            <a:off x="3728326" y="5866899"/>
            <a:ext cx="400110" cy="680395"/>
          </a:xfrm>
          <a:prstGeom prst="rect">
            <a:avLst/>
          </a:prstGeom>
          <a:solidFill>
            <a:srgbClr val="00206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17</a:t>
            </a:r>
          </a:p>
        </p:txBody>
      </p:sp>
      <p:cxnSp>
        <p:nvCxnSpPr>
          <p:cNvPr id="147" name="Straight Connector 146"/>
          <p:cNvCxnSpPr/>
          <p:nvPr/>
        </p:nvCxnSpPr>
        <p:spPr>
          <a:xfrm flipV="1">
            <a:off x="5667096" y="5310495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5778337" y="521037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984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3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8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3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3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3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3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3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8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8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9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3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4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8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3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8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2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3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8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9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3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8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3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8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9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8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3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4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8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3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8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3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4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3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8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3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8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9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3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8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9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8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9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2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3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4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7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8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9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3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4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8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2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3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4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indefinite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82" grpId="0"/>
      <p:bldP spid="84" grpId="0"/>
      <p:bldP spid="86" grpId="0"/>
      <p:bldP spid="87" grpId="0"/>
      <p:bldP spid="89" grpId="0"/>
      <p:bldP spid="90" grpId="0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13" grpId="0"/>
      <p:bldP spid="114" grpId="0"/>
      <p:bldP spid="115" grpId="0"/>
      <p:bldP spid="116" grpId="0"/>
      <p:bldP spid="122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45" grpId="0"/>
      <p:bldP spid="148" grpId="0"/>
      <p:bldP spid="150" grpId="0"/>
      <p:bldP spid="152" grpId="0"/>
      <p:bldP spid="155" grpId="0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67" grpId="0"/>
      <p:bldP spid="269" grpId="0"/>
      <p:bldP spid="272" grpId="0"/>
      <p:bldP spid="274" grpId="0"/>
      <p:bldP spid="275" grpId="0"/>
      <p:bldP spid="277" grpId="0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97" grpId="0"/>
      <p:bldP spid="298" grpId="0"/>
      <p:bldP spid="299" grpId="0"/>
      <p:bldP spid="301" grpId="0"/>
      <p:bldP spid="305" grpId="0"/>
      <p:bldP spid="307" grpId="0"/>
      <p:bldP spid="308" grpId="0"/>
      <p:bldP spid="309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139" grpId="0" animBg="1"/>
      <p:bldP spid="140" grpId="0" animBg="1"/>
      <p:bldP spid="141" grpId="0" animBg="1"/>
      <p:bldP spid="142" grpId="0" animBg="1"/>
      <p:bldP spid="146" grpId="0" animBg="1"/>
      <p:bldP spid="1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MST Applications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half" idx="1"/>
          </p:nvPr>
        </p:nvSpPr>
        <p:spPr>
          <a:xfrm>
            <a:off x="508000" y="1849120"/>
            <a:ext cx="5323839" cy="4429760"/>
          </a:xfrm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computers/routers with minimum cabling cost.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cycles, ensures full connectivity.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Networks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cost-effective layouts for telephone lines and internet infrastructure.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and Railway Systems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cities or regions with minimal construction cost.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planning roadways, pipelines, and railway tracks.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Grid Design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 power with minimum wiring.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construction and energy transmission costs.</a:t>
            </a:r>
          </a:p>
        </p:txBody>
      </p:sp>
      <p:sp>
        <p:nvSpPr>
          <p:cNvPr id="57" name="Content Placeholder 56"/>
          <p:cNvSpPr>
            <a:spLocks noGrp="1"/>
          </p:cNvSpPr>
          <p:nvPr>
            <p:ph sz="half" idx="2"/>
          </p:nvPr>
        </p:nvSpPr>
        <p:spPr>
          <a:xfrm>
            <a:off x="6238240" y="1737360"/>
            <a:ext cx="5496560" cy="4433145"/>
          </a:xfrm>
        </p:spPr>
        <p:txBody>
          <a:bodyPr>
            <a:noAutofit/>
          </a:bodyPr>
          <a:lstStyle/>
          <a:p>
            <a:pPr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Map Design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rooms/areas with minimal paths in procedurally generated maps.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Traveling Salesman Problem (TSP) Approximation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MST is used in heuristics for finding near-optimal TSP tours.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energy usage by reducing total communication path cost.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in Machine Learning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hierarchical (single-linkage) clustering.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similar data points by cutting longest edges in the MST.</a:t>
            </a:r>
          </a:p>
        </p:txBody>
      </p:sp>
    </p:spTree>
    <p:extLst>
      <p:ext uri="{BB962C8B-B14F-4D97-AF65-F5344CB8AC3E}">
        <p14:creationId xmlns:p14="http://schemas.microsoft.com/office/powerpoint/2010/main" val="357577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040" y="1742887"/>
            <a:ext cx="111556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must be connected and weighted (edges have weights).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more than one MST if multiple trees have the same total weight.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Properties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edges = V – 1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cost, such as minimizing the length of wire needed to connect all computers in a network.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to find Minimum Spanning Tree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Minimum Spanning Tree Algorithm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Minimum Spanning Tree Algorithm</a:t>
            </a:r>
          </a:p>
          <a:p>
            <a:pPr algn="just"/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08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decel="4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2850327"/>
            <a:ext cx="9966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all the edges in a ascending or non-decreasing order of their weight.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the smallest edge. Check if it forms a cycle with the spanning tree formed so far. 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cycle is not formed, include this edge. 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Else, discard it.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there are (V-1) edges in the spanning tree.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5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850018"/>
              </p:ext>
            </p:extLst>
          </p:nvPr>
        </p:nvGraphicFramePr>
        <p:xfrm>
          <a:off x="4175762" y="1646390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417265"/>
              </p:ext>
            </p:extLst>
          </p:nvPr>
        </p:nvGraphicFramePr>
        <p:xfrm>
          <a:off x="8331202" y="1646390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cxnSp>
        <p:nvCxnSpPr>
          <p:cNvPr id="37" name="Straight Arrow Connector 36"/>
          <p:cNvCxnSpPr>
            <a:endCxn id="36" idx="1"/>
          </p:cNvCxnSpPr>
          <p:nvPr/>
        </p:nvCxnSpPr>
        <p:spPr>
          <a:xfrm flipV="1">
            <a:off x="6187442" y="4023830"/>
            <a:ext cx="2143760" cy="67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82080" y="3585205"/>
            <a:ext cx="159512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Sort by Cost</a:t>
            </a:r>
          </a:p>
        </p:txBody>
      </p:sp>
    </p:spTree>
    <p:extLst>
      <p:ext uri="{BB962C8B-B14F-4D97-AF65-F5344CB8AC3E}">
        <p14:creationId xmlns:p14="http://schemas.microsoft.com/office/powerpoint/2010/main" val="160812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981593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2486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393417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3255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03075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7197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523167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06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72869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5494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028743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1375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64213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6" name="Straight Connector 55"/>
          <p:cNvCxnSpPr>
            <a:stCxn id="39" idx="7"/>
            <a:endCxn id="40" idx="3"/>
          </p:cNvCxnSpPr>
          <p:nvPr/>
        </p:nvCxnSpPr>
        <p:spPr>
          <a:xfrm flipV="1">
            <a:off x="8332954" y="3428062"/>
            <a:ext cx="320355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97113" y="337428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833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724227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 flipV="1">
            <a:off x="8854801" y="3426812"/>
            <a:ext cx="395708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22762" y="3338643"/>
            <a:ext cx="482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77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791065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8910853" y="4448420"/>
            <a:ext cx="8407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316930" y="44161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3530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451248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332954" y="3969928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 flipV="1">
            <a:off x="10033908" y="3428062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23310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74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01213"/>
              </p:ext>
            </p:extLst>
          </p:nvPr>
        </p:nvGraphicFramePr>
        <p:xfrm>
          <a:off x="4714242" y="1653134"/>
          <a:ext cx="2011680" cy="47548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67069457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930426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Edges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37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22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220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30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1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67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750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89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80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68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82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3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2989"/>
                  </a:ext>
                </a:extLst>
              </a:tr>
            </a:tbl>
          </a:graphicData>
        </a:graphic>
      </p:graphicFrame>
      <p:sp>
        <p:nvSpPr>
          <p:cNvPr id="39" name="Flowchart: Connector 38"/>
          <p:cNvSpPr/>
          <p:nvPr/>
        </p:nvSpPr>
        <p:spPr>
          <a:xfrm>
            <a:off x="8065565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40" name="Flowchart: Connector 39"/>
          <p:cNvSpPr/>
          <p:nvPr/>
        </p:nvSpPr>
        <p:spPr>
          <a:xfrm>
            <a:off x="8607432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41" name="Flowchart: Connector 40"/>
          <p:cNvSpPr/>
          <p:nvPr/>
        </p:nvSpPr>
        <p:spPr>
          <a:xfrm>
            <a:off x="9224652" y="370976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9766519" y="3167899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9761439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44" name="Flowchart: Connector 43"/>
          <p:cNvSpPr/>
          <p:nvPr/>
        </p:nvSpPr>
        <p:spPr>
          <a:xfrm>
            <a:off x="10303306" y="3725774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45" name="Flowchart: Connector 44"/>
          <p:cNvSpPr/>
          <p:nvPr/>
        </p:nvSpPr>
        <p:spPr>
          <a:xfrm>
            <a:off x="8607432" y="426764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8920698" y="3319374"/>
            <a:ext cx="840741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26775" y="301222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9492041" y="3422678"/>
            <a:ext cx="320355" cy="3263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3078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8" name="Straight Connector 47"/>
          <p:cNvCxnSpPr>
            <a:stCxn id="45" idx="1"/>
          </p:cNvCxnSpPr>
          <p:nvPr/>
        </p:nvCxnSpPr>
        <p:spPr>
          <a:xfrm flipH="1" flipV="1">
            <a:off x="8332955" y="3969929"/>
            <a:ext cx="320354" cy="342348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0937" y="400997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>
            <a:stCxn id="45" idx="7"/>
            <a:endCxn id="41" idx="3"/>
          </p:cNvCxnSpPr>
          <p:nvPr/>
        </p:nvCxnSpPr>
        <p:spPr>
          <a:xfrm flipV="1">
            <a:off x="8874821" y="3969928"/>
            <a:ext cx="395708" cy="34234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8416" y="3860247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 flipV="1">
            <a:off x="9492041" y="3969928"/>
            <a:ext cx="315275" cy="34234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13779" y="399631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 flipV="1">
            <a:off x="10033908" y="3428062"/>
            <a:ext cx="315275" cy="34234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233108" y="333989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725757" y="5036592"/>
                <a:ext cx="308954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/>
                        <m:t>Total</m:t>
                      </m:r>
                      <m:r>
                        <m:rPr>
                          <m:nor/>
                        </m:rPr>
                        <a:rPr lang="en-US" b="1" dirty="0"/>
                        <m:t> </m:t>
                      </m:r>
                      <m:r>
                        <m:rPr>
                          <m:nor/>
                        </m:rPr>
                        <a:rPr lang="en-US" b="1" dirty="0"/>
                        <m:t>Cost</m:t>
                      </m:r>
                      <m:r>
                        <m:rPr>
                          <m:nor/>
                        </m:rPr>
                        <a:rPr lang="en-US" b="1" dirty="0"/>
                        <m:t> = 1+1+2+2+2+3 = 11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57" y="5036592"/>
                <a:ext cx="308954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67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2850327"/>
            <a:ext cx="996696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any vertex; add it to the MST.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MST doesn't include all vertices:</a:t>
            </a:r>
          </a:p>
          <a:p>
            <a:pPr marL="1371600" lvl="4" indent="-27432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the smallest edge connecting MST to a new vertex.</a:t>
            </a:r>
          </a:p>
          <a:p>
            <a:pPr marL="1371600" lvl="4" indent="-27432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that edge and vertex to the MST.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all vertices are included.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6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</p:spTree>
    <p:extLst>
      <p:ext uri="{BB962C8B-B14F-4D97-AF65-F5344CB8AC3E}">
        <p14:creationId xmlns:p14="http://schemas.microsoft.com/office/powerpoint/2010/main" val="402129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08741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</p:spTree>
    <p:extLst>
      <p:ext uri="{BB962C8B-B14F-4D97-AF65-F5344CB8AC3E}">
        <p14:creationId xmlns:p14="http://schemas.microsoft.com/office/powerpoint/2010/main" val="98619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252544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75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59611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08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91820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85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32693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915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39984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 - 1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993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67077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573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258229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EB - 1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951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10515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404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12345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584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58791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522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39762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509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946661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536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12607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757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1097280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639147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2256367" y="3770411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2798234" y="322854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2793154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335021" y="3786420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1639147" y="4328286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2" name="Straight Connector 11"/>
          <p:cNvCxnSpPr>
            <a:stCxn id="4" idx="7"/>
            <a:endCxn id="6" idx="3"/>
          </p:cNvCxnSpPr>
          <p:nvPr/>
        </p:nvCxnSpPr>
        <p:spPr>
          <a:xfrm flipV="1">
            <a:off x="1364669" y="3488708"/>
            <a:ext cx="320355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523756" y="3483324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51387" y="4049449"/>
            <a:ext cx="320355" cy="3263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1906536" y="4030574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1364669" y="4030574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2523756" y="4030574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3065623" y="3488708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1"/>
            <a:endCxn id="6" idx="5"/>
          </p:cNvCxnSpPr>
          <p:nvPr/>
        </p:nvCxnSpPr>
        <p:spPr>
          <a:xfrm flipH="1" flipV="1">
            <a:off x="1906536" y="3488708"/>
            <a:ext cx="395708" cy="326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0"/>
            <a:endCxn id="6" idx="4"/>
          </p:cNvCxnSpPr>
          <p:nvPr/>
        </p:nvCxnSpPr>
        <p:spPr>
          <a:xfrm flipV="1">
            <a:off x="1795780" y="3533345"/>
            <a:ext cx="0" cy="79494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2"/>
            <a:endCxn id="7" idx="6"/>
          </p:cNvCxnSpPr>
          <p:nvPr/>
        </p:nvCxnSpPr>
        <p:spPr>
          <a:xfrm flipH="1" flipV="1">
            <a:off x="2569633" y="3922811"/>
            <a:ext cx="765388" cy="16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1" idx="6"/>
          </p:cNvCxnSpPr>
          <p:nvPr/>
        </p:nvCxnSpPr>
        <p:spPr>
          <a:xfrm flipH="1">
            <a:off x="1952413" y="4480686"/>
            <a:ext cx="8407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952413" y="3380020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635" y="3412191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8490" y="307287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8490" y="444842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802" y="4111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82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407" y="365449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2503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4497" y="340053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2652" y="407062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7482" y="3746149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678" y="391661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494" y="4056958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97600" y="1840800"/>
            <a:ext cx="2414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401439"/>
            <a:ext cx="35995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connected edges to MST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599" y="3010688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Select minimum edge then add that vertex and edges to MST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1840800"/>
            <a:ext cx="22279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With Vertex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2401439"/>
            <a:ext cx="38328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Explore the connected edges to MST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599" y="3854967"/>
            <a:ext cx="383281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33363" indent="-2333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2 and 3 until all vertices are included in MST. 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76734"/>
              </p:ext>
            </p:extLst>
          </p:nvPr>
        </p:nvGraphicFramePr>
        <p:xfrm>
          <a:off x="1111097" y="5075601"/>
          <a:ext cx="672661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827">
                  <a:extLst>
                    <a:ext uri="{9D8B030D-6E8A-4147-A177-3AD203B41FA5}">
                      <a16:colId xmlns:a16="http://schemas.microsoft.com/office/drawing/2014/main" val="9201041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619512155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41079852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1005380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3955282293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545620989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4161624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173759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563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Prim’s MST Algorithm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4418978" y="276589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4960845" y="2224029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5578065" y="2765895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6119932" y="2224029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6114852" y="3323770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6656719" y="2781904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4960845" y="3323770"/>
            <a:ext cx="313266" cy="3048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845454" y="2478808"/>
            <a:ext cx="320355" cy="3263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7"/>
            <a:endCxn id="7" idx="3"/>
          </p:cNvCxnSpPr>
          <p:nvPr/>
        </p:nvCxnSpPr>
        <p:spPr>
          <a:xfrm flipV="1">
            <a:off x="5228234" y="3026058"/>
            <a:ext cx="395708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1"/>
            <a:endCxn id="4" idx="5"/>
          </p:cNvCxnSpPr>
          <p:nvPr/>
        </p:nvCxnSpPr>
        <p:spPr>
          <a:xfrm flipH="1" flipV="1">
            <a:off x="4686367" y="3026058"/>
            <a:ext cx="32035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1"/>
            <a:endCxn id="7" idx="5"/>
          </p:cNvCxnSpPr>
          <p:nvPr/>
        </p:nvCxnSpPr>
        <p:spPr>
          <a:xfrm flipH="1" flipV="1">
            <a:off x="5845454" y="3026058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1"/>
            <a:endCxn id="8" idx="5"/>
          </p:cNvCxnSpPr>
          <p:nvPr/>
        </p:nvCxnSpPr>
        <p:spPr>
          <a:xfrm flipH="1" flipV="1">
            <a:off x="6387321" y="2484192"/>
            <a:ext cx="315275" cy="3423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274111" y="2375504"/>
            <a:ext cx="84074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80188" y="2068354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6521" y="239602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4201" y="2396023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4350" y="3066106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376" y="2912100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7192" y="3052442"/>
            <a:ext cx="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8877" y="4387772"/>
            <a:ext cx="461917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cost of the MST is = 2+2+2+1+1+3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4297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406" y="732826"/>
            <a:ext cx="10058400" cy="3617106"/>
          </a:xfrm>
        </p:spPr>
        <p:txBody>
          <a:bodyPr anchor="ctr"/>
          <a:lstStyle/>
          <a:p>
            <a:pPr algn="ctr"/>
            <a:r>
              <a:rPr lang="en-US" sz="11500" i="1" dirty="0">
                <a:solidFill>
                  <a:schemeClr val="accent2"/>
                </a:solidFill>
                <a:latin typeface="Algerian" panose="04020705040A02060702" pitchFamily="82" charset="0"/>
              </a:rPr>
              <a:t>Thank You</a:t>
            </a:r>
            <a:endParaRPr lang="en-US" i="1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78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9FF3F5-5E93-496B-A095-2A4B064F9C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BB4FBB-1FE3-4C05-A0EA-9B6727D115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DA609F-009F-4ED8-A472-8931DC7CCD71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1176</TotalTime>
  <Words>2666</Words>
  <Application>Microsoft Office PowerPoint</Application>
  <PresentationFormat>Widescreen</PresentationFormat>
  <Paragraphs>1439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Retrospect</vt:lpstr>
      <vt:lpstr>Minimum Spanning Tree</vt:lpstr>
      <vt:lpstr>Spanning Tree</vt:lpstr>
      <vt:lpstr>Minimum Spanning Tree</vt:lpstr>
      <vt:lpstr>MST Applications</vt:lpstr>
      <vt:lpstr>Minimum Spanning Tree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Kruskal’s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Prim’s MST Algorithm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Lecturer-nth</dc:creator>
  <cp:lastModifiedBy>Md. Muktar Hossain</cp:lastModifiedBy>
  <cp:revision>128</cp:revision>
  <dcterms:created xsi:type="dcterms:W3CDTF">2024-12-10T03:43:05Z</dcterms:created>
  <dcterms:modified xsi:type="dcterms:W3CDTF">2025-05-14T14:37:46Z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