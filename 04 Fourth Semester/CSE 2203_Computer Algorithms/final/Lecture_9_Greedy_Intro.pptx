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autoCompressPictures="0">
  <p:sldMasterIdLst>
    <p:sldMasterId id="2147483680" r:id="rId1"/>
    <p:sldMasterId id="2147483694" r:id="rId2"/>
  </p:sldMasterIdLst>
  <p:notesMasterIdLst>
    <p:notesMasterId r:id="rId14"/>
  </p:notesMasterIdLst>
  <p:sldIdLst>
    <p:sldId id="321" r:id="rId3"/>
    <p:sldId id="395" r:id="rId4"/>
    <p:sldId id="291" r:id="rId5"/>
    <p:sldId id="293" r:id="rId6"/>
    <p:sldId id="288" r:id="rId7"/>
    <p:sldId id="295" r:id="rId8"/>
    <p:sldId id="391" r:id="rId9"/>
    <p:sldId id="392" r:id="rId10"/>
    <p:sldId id="393" r:id="rId11"/>
    <p:sldId id="256" r:id="rId12"/>
    <p:sldId id="312" r:id="rId13"/>
  </p:sldIdLst>
  <p:sldSz cx="9144000" cy="5143500" type="screen16x9"/>
  <p:notesSz cx="6858000" cy="9144000"/>
  <p:embeddedFontLst>
    <p:embeddedFont>
      <p:font typeface="Agency FB" panose="020B0503020202020204" pitchFamily="34" charset="0"/>
      <p:regular r:id="rId15"/>
      <p:bold r:id="rId16"/>
    </p:embeddedFont>
    <p:embeddedFont>
      <p:font typeface="Barlow Semi Condensed" panose="00000506000000000000" pitchFamily="2" charset="0"/>
      <p:regular r:id="rId17"/>
      <p:bold r:id="rId18"/>
      <p:italic r:id="rId19"/>
      <p:boldItalic r:id="rId20"/>
    </p:embeddedFont>
    <p:embeddedFont>
      <p:font typeface="Barlow Semi Condensed Medium" panose="00000606000000000000" pitchFamily="2" charset="0"/>
      <p:regular r:id="rId21"/>
      <p:bold r:id="rId22"/>
      <p:italic r:id="rId23"/>
      <p:boldItalic r:id="rId24"/>
    </p:embeddedFont>
    <p:embeddedFont>
      <p:font typeface="Fjalla One" panose="02000506040000020004" pitchFamily="2" charset="0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A468B479-CD98-439D-AB3A-897B7AB2A78C}">
          <p14:sldIdLst>
            <p14:sldId id="321"/>
            <p14:sldId id="395"/>
            <p14:sldId id="291"/>
            <p14:sldId id="293"/>
            <p14:sldId id="288"/>
            <p14:sldId id="295"/>
            <p14:sldId id="391"/>
            <p14:sldId id="392"/>
            <p14:sldId id="393"/>
            <p14:sldId id="256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62BB"/>
    <a:srgbClr val="FCF8F5"/>
    <a:srgbClr val="323230"/>
    <a:srgbClr val="00A8DA"/>
    <a:srgbClr val="F9FBFE"/>
    <a:srgbClr val="FBFCFE"/>
    <a:srgbClr val="F9FCFF"/>
    <a:srgbClr val="BCFABC"/>
    <a:srgbClr val="ECF5FE"/>
    <a:srgbClr val="EAEF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2394D78-76CB-4DF2-90E6-CE17A867E9D8}">
  <a:tblStyle styleId="{62394D78-76CB-4DF2-90E6-CE17A867E9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2" autoAdjust="0"/>
    <p:restoredTop sz="95065" autoAdjust="0"/>
  </p:normalViewPr>
  <p:slideViewPr>
    <p:cSldViewPr snapToGrid="0">
      <p:cViewPr varScale="1">
        <p:scale>
          <a:sx n="113" d="100"/>
          <a:sy n="113" d="100"/>
        </p:scale>
        <p:origin x="38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7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0.fntdata"/><Relationship Id="rId32" Type="http://schemas.openxmlformats.org/officeDocument/2006/relationships/customXml" Target="../customXml/item3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31" Type="http://schemas.openxmlformats.org/officeDocument/2006/relationships/customXml" Target="../customXml/item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652420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77170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3">
          <a:extLst>
            <a:ext uri="{FF2B5EF4-FFF2-40B4-BE49-F238E27FC236}">
              <a16:creationId xmlns:a16="http://schemas.microsoft.com/office/drawing/2014/main" id="{6B47599D-CD7B-85F6-7C31-104F217B6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4" name="Google Shape;3454;g9f7573e938_1_324:notes">
            <a:extLst>
              <a:ext uri="{FF2B5EF4-FFF2-40B4-BE49-F238E27FC236}">
                <a16:creationId xmlns:a16="http://schemas.microsoft.com/office/drawing/2014/main" id="{7C46AFBA-FE85-7B2B-B58D-58D1C07D50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5" name="Google Shape;3455;g9f7573e938_1_324:notes">
            <a:extLst>
              <a:ext uri="{FF2B5EF4-FFF2-40B4-BE49-F238E27FC236}">
                <a16:creationId xmlns:a16="http://schemas.microsoft.com/office/drawing/2014/main" id="{FA8F01FB-48A3-0031-17E5-AB7461C049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9010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3">
          <a:extLst>
            <a:ext uri="{FF2B5EF4-FFF2-40B4-BE49-F238E27FC236}">
              <a16:creationId xmlns:a16="http://schemas.microsoft.com/office/drawing/2014/main" id="{48E4C832-9134-5775-2088-D5F876E3D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4" name="Google Shape;3454;g9f7573e938_1_324:notes">
            <a:extLst>
              <a:ext uri="{FF2B5EF4-FFF2-40B4-BE49-F238E27FC236}">
                <a16:creationId xmlns:a16="http://schemas.microsoft.com/office/drawing/2014/main" id="{F2200371-A6A3-EA98-6E1E-4398A5F90C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5" name="Google Shape;3455;g9f7573e938_1_324:notes">
            <a:extLst>
              <a:ext uri="{FF2B5EF4-FFF2-40B4-BE49-F238E27FC236}">
                <a16:creationId xmlns:a16="http://schemas.microsoft.com/office/drawing/2014/main" id="{B1250544-00EB-4323-F19A-B830432E96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72747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3">
          <a:extLst>
            <a:ext uri="{FF2B5EF4-FFF2-40B4-BE49-F238E27FC236}">
              <a16:creationId xmlns:a16="http://schemas.microsoft.com/office/drawing/2014/main" id="{BEC2D4FD-825D-3F54-ACF8-0DCC596F1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4" name="Google Shape;3454;g9f7573e938_1_324:notes">
            <a:extLst>
              <a:ext uri="{FF2B5EF4-FFF2-40B4-BE49-F238E27FC236}">
                <a16:creationId xmlns:a16="http://schemas.microsoft.com/office/drawing/2014/main" id="{F5EAE2FF-A572-4996-46B6-627689744B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5" name="Google Shape;3455;g9f7573e938_1_324:notes">
            <a:extLst>
              <a:ext uri="{FF2B5EF4-FFF2-40B4-BE49-F238E27FC236}">
                <a16:creationId xmlns:a16="http://schemas.microsoft.com/office/drawing/2014/main" id="{3F16FBA3-DE97-C598-9588-A746DCBA87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8153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3">
          <a:extLst>
            <a:ext uri="{FF2B5EF4-FFF2-40B4-BE49-F238E27FC236}">
              <a16:creationId xmlns:a16="http://schemas.microsoft.com/office/drawing/2014/main" id="{6E827022-2FAA-D896-CDA3-32AFC195D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4" name="Google Shape;3454;g9f7573e938_1_324:notes">
            <a:extLst>
              <a:ext uri="{FF2B5EF4-FFF2-40B4-BE49-F238E27FC236}">
                <a16:creationId xmlns:a16="http://schemas.microsoft.com/office/drawing/2014/main" id="{91F6EF1F-4AE0-54F8-9E1B-D34176F0D8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5" name="Google Shape;3455;g9f7573e938_1_324:notes">
            <a:extLst>
              <a:ext uri="{FF2B5EF4-FFF2-40B4-BE49-F238E27FC236}">
                <a16:creationId xmlns:a16="http://schemas.microsoft.com/office/drawing/2014/main" id="{75BD8FFB-FB80-A89D-527D-D7B2C37798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18394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4" name="Google Shape;3454;g9f7573e938_1_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5" name="Google Shape;3455;g9f7573e938_1_3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2454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3">
  <p:cSld name="CUSTOM_16"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5"/>
          <p:cNvSpPr txBox="1">
            <a:spLocks noGrp="1"/>
          </p:cNvSpPr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cxnSp>
        <p:nvCxnSpPr>
          <p:cNvPr id="1228" name="Google Shape;1228;p25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9" name="Google Shape;1229;p25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0" name="Google Shape;1230;p25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31" name="Google Shape;1231;p25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232" name="Google Shape;1232;p2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8" name="Google Shape;1238;p25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239" name="Google Shape;1239;p2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43" name="Google Shape;1243;p25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4" name="Google Shape;1244;p25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5" name="Google Shape;1245;p25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6" name="Google Shape;1246;p25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7" name="Google Shape;1247;p25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8" name="Google Shape;1248;p25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9" name="Google Shape;1249;p25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250" name="Google Shape;1250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3" name="Google Shape;1253;p25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254" name="Google Shape;125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7" name="Google Shape;1257;p25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258" name="Google Shape;1258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261" name="Google Shape;1261;p25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2" name="Google Shape;1262;p25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63" name="Google Shape;1263;p25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264" name="Google Shape;1264;p2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0" name="Google Shape;1270;p25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271" name="Google Shape;1271;p2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5" name="Google Shape;1275;p25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276" name="Google Shape;1276;p25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0" name="Google Shape;1280;p25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281" name="Google Shape;1281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4" name="Google Shape;1284;p25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285" name="Google Shape;1285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DEF6D-F6AB-4DEA-802E-B8AD30496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D4050-F067-4752-A564-855FBE81A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3583E-172B-45FE-922E-E87B6BA1B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634D-EAB4-4FA1-8307-497FC21CD751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940D6-C7C8-4BDD-82EB-F3C9E15C5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E6292-F1D1-4E21-AD08-392F4BC06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F8E22-14AA-40EB-BC47-704AC987A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675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ED497-7928-4828-AD18-F7F288D8B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B272D9-A3D5-41BC-9D74-EFCE7B1A2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0FBC3-B0BF-4F83-A918-683A2621C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C671-AE47-4674-A005-E71857B17AF9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26052-3F82-408E-876D-F4855758B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F80D3-D01A-4AA8-ABCF-57C60B16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CFA36-8BA7-4F17-8412-F85AC937E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224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23636-41AE-4D08-9170-095D4064F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5AFDA-54CB-4EE6-A6E7-A356143AF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208C2-9F42-4D06-8AC3-97F4FABE0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C671-AE47-4674-A005-E71857B17AF9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91915-5FA6-4550-9CDE-F6C279B0B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1EBA1-0D5C-4D63-BD07-198709B45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CFA36-8BA7-4F17-8412-F85AC937E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56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2EA1C-A4DB-4EF7-9151-255A0B4E9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A5124-12CC-4B65-8D69-2C7BC7ECF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79AFE-3D80-410C-9120-CB812CCB9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C671-AE47-4674-A005-E71857B17AF9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9DEEF-21DC-49EB-B66F-30B94B1C8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A4DDA-D686-4371-8C23-437ACC4AF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CFA36-8BA7-4F17-8412-F85AC937E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812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047AC-EACF-46B5-8DFB-7A056DBC8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879DF-8190-49D7-9C56-9685AF35C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7A6E05-60BB-4D9F-B764-CF424E74D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0293BB-E2B5-479B-934C-C4FBC08CA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C671-AE47-4674-A005-E71857B17AF9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52A84-77E4-49AF-B667-3C81157E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F2412A-F750-41C1-911A-6E5E61462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CFA36-8BA7-4F17-8412-F85AC937E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154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5DF5A-63DC-4142-9296-FABDDC48F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157CC-D6FB-4E9E-B7E2-2A1C2E0BB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152CF7-85DA-424B-A2D4-E8511C86A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32F5B-416F-4D1E-8E76-A765727062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E2E32E-24FF-45A6-81BE-F3FC57C6B6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41EC43-06D7-46FC-9EB1-6A6B33EE6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C671-AE47-4674-A005-E71857B17AF9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1557F3-E719-40D2-9EF0-AAFDF44FA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0882DD-8EF4-4F0F-8021-133870718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CFA36-8BA7-4F17-8412-F85AC937E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1693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D6CD2-3B20-42CF-B175-3E01960B2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2F1AE1-481C-4191-8989-D3520A8BF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C671-AE47-4674-A005-E71857B17AF9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7B389F-4862-4C20-A932-2D472AFEE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6305D7-ACA0-4AF8-8AB9-854933F26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CFA36-8BA7-4F17-8412-F85AC937E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969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DB1D66-61DB-4025-AF8C-37FD48F0A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C671-AE47-4674-A005-E71857B17AF9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1A7BA0-D5AD-430F-8993-09C30A89D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E7AF7-CDBA-4266-BAA3-2AA128DD4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CFA36-8BA7-4F17-8412-F85AC937E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6615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9D81F-575B-4DAC-8024-0051FE452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3DB81-E851-4A58-AAE2-F09150674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6E11B-4909-4077-BAA7-2FDDFA0AD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FBB4A4-7EB6-455C-BDDE-DDB7A76C1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C671-AE47-4674-A005-E71857B17AF9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C50CEA-578C-4BC9-B274-0F5A1FDEE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7C1C5-E10E-4F1C-AFF7-758AFBBEA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CFA36-8BA7-4F17-8412-F85AC937E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250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2927C-02EE-4A26-B8EB-7B7916DF3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BE6C0E-5F22-414E-AD8F-FFFE5A0646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CF7825-8630-4AE4-A4D0-02527AD2C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C31B53-4C0A-4E9F-B687-565CA558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C671-AE47-4674-A005-E71857B17AF9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DA3454-513C-4880-A46B-950B99066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F1A07-4284-4414-921D-BF71E1FDA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CFA36-8BA7-4F17-8412-F85AC937E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7403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E7154-EAC6-4990-9DD3-E73C10D5A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7B57EC-A40A-4E16-9DBA-D92406EEC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6C16C-A4FA-4143-B96D-64B5BA16F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C671-AE47-4674-A005-E71857B17AF9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0F50E-795C-4A41-BD82-3F2D2B476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12599-3ECB-406A-8A3F-F1AB86ECE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CFA36-8BA7-4F17-8412-F85AC937E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8038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0C5FE1-78B5-496E-90A8-52F2ACF319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B3FB80-BFAB-4E03-89F0-9A9FA4525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2B581-7E14-4540-9685-D0AC1C443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C671-AE47-4674-A005-E71857B17AF9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719FA-6131-494C-86C6-8FE661797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9A698-193C-479D-82BB-F88156558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CFA36-8BA7-4F17-8412-F85AC937E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737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 flip="none" rotWithShape="1">
          <a:gsLst>
            <a:gs pos="29000">
              <a:srgbClr val="F6FAFF"/>
            </a:gs>
            <a:gs pos="99000">
              <a:schemeClr val="bg1"/>
            </a:gs>
            <a:gs pos="0">
              <a:srgbClr val="ECF5FE"/>
            </a:gs>
          </a:gsLst>
          <a:path path="circle">
            <a:fillToRect l="100000" b="10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71" r:id="rId4"/>
    <p:sldLayoutId id="2147483673" r:id="rId5"/>
    <p:sldLayoutId id="2147483674" r:id="rId6"/>
    <p:sldLayoutId id="2147483675" r:id="rId7"/>
    <p:sldLayoutId id="2147483676" r:id="rId8"/>
    <p:sldLayoutId id="2147483706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7DE4E6-3B8E-49F0-B6E7-22004C07E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98B015-334F-4A89-A072-88B9A8A864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F75D1-4751-4F15-AE61-677FA0D9CC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DC671-AE47-4674-A005-E71857B17AF9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B89B6-B414-4DD6-AC20-1F9D673EBF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6477B-8102-4A8E-9AA4-7AC13A769F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0CFA36-8BA7-4F17-8412-F85AC937E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86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Divide-and-conquer_algorithm" TargetMode="Externa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35"/>
          <p:cNvSpPr txBox="1">
            <a:spLocks noGrp="1"/>
          </p:cNvSpPr>
          <p:nvPr>
            <p:ph type="ctrTitle"/>
          </p:nvPr>
        </p:nvSpPr>
        <p:spPr>
          <a:xfrm>
            <a:off x="695798" y="1285053"/>
            <a:ext cx="4695775" cy="6568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en-US" sz="2800" dirty="0">
                <a:solidFill>
                  <a:srgbClr val="002060"/>
                </a:solidFill>
              </a:rPr>
              <a:t>Greedy Algorithms: Introduction</a:t>
            </a:r>
            <a:endParaRPr lang="en-US" sz="2400" dirty="0">
              <a:solidFill>
                <a:srgbClr val="0662BB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8995B6A-39A4-EE2E-35A3-28A8F972D2FF}"/>
              </a:ext>
            </a:extLst>
          </p:cNvPr>
          <p:cNvCxnSpPr>
            <a:cxnSpLocks/>
          </p:cNvCxnSpPr>
          <p:nvPr/>
        </p:nvCxnSpPr>
        <p:spPr>
          <a:xfrm>
            <a:off x="1806071" y="2879527"/>
            <a:ext cx="6952982" cy="2622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73152" y="4565904"/>
            <a:ext cx="5546598" cy="5664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1D893E-FDA4-A1B0-D72D-A3AFDBD2EF37}"/>
              </a:ext>
            </a:extLst>
          </p:cNvPr>
          <p:cNvSpPr txBox="1"/>
          <p:nvPr/>
        </p:nvSpPr>
        <p:spPr>
          <a:xfrm>
            <a:off x="6711426" y="2996140"/>
            <a:ext cx="2143536" cy="1023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Fjalla One" panose="02000506040000020004" pitchFamily="2" charset="0"/>
                <a:ea typeface="Tahoma" panose="020B0604030504040204" pitchFamily="34" charset="0"/>
                <a:cs typeface="Tahoma" panose="020B0604030504040204" pitchFamily="34" charset="0"/>
              </a:rPr>
              <a:t>Sumaiya Tasnim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Fjalla One" panose="02000506040000020004" pitchFamily="2" charset="0"/>
                <a:ea typeface="Tahoma" panose="020B0604030504040204" pitchFamily="34" charset="0"/>
                <a:cs typeface="Tahoma" panose="020B0604030504040204" pitchFamily="34" charset="0"/>
              </a:rPr>
              <a:t>Lecturer, Department of CSE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Fjalla One" panose="02000506040000020004" pitchFamily="2" charset="0"/>
                <a:ea typeface="Tahoma" panose="020B0604030504040204" pitchFamily="34" charset="0"/>
                <a:cs typeface="Tahoma" panose="020B0604030504040204" pitchFamily="34" charset="0"/>
              </a:rPr>
              <a:t>Varendra University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2057DB-60D6-0C71-BF3D-0590A19F855D}"/>
              </a:ext>
            </a:extLst>
          </p:cNvPr>
          <p:cNvSpPr txBox="1"/>
          <p:nvPr/>
        </p:nvSpPr>
        <p:spPr>
          <a:xfrm>
            <a:off x="7058043" y="2575303"/>
            <a:ext cx="1796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002060"/>
                </a:solidFill>
                <a:latin typeface="Fjalla One" panose="02000506040000020004" pitchFamily="2" charset="0"/>
              </a:rPr>
              <a:t>Course Instructor</a:t>
            </a:r>
            <a:r>
              <a:rPr lang="en-US" dirty="0">
                <a:solidFill>
                  <a:srgbClr val="494949"/>
                </a:solidFill>
                <a:latin typeface="Fjalla One" panose="02000506040000020004" pitchFamily="2" charset="0"/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32482A-67F1-58B1-6891-463DA77FF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194" y="218223"/>
            <a:ext cx="1222913" cy="1225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247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456">
          <a:extLst>
            <a:ext uri="{FF2B5EF4-FFF2-40B4-BE49-F238E27FC236}">
              <a16:creationId xmlns:a16="http://schemas.microsoft.com/office/drawing/2014/main" id="{4E440E80-7532-71D1-D779-DC601174D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3605;p63">
            <a:extLst>
              <a:ext uri="{FF2B5EF4-FFF2-40B4-BE49-F238E27FC236}">
                <a16:creationId xmlns:a16="http://schemas.microsoft.com/office/drawing/2014/main" id="{05D81036-607E-D25D-2A8E-200F716A9100}"/>
              </a:ext>
            </a:extLst>
          </p:cNvPr>
          <p:cNvSpPr txBox="1">
            <a:spLocks/>
          </p:cNvSpPr>
          <p:nvPr/>
        </p:nvSpPr>
        <p:spPr>
          <a:xfrm>
            <a:off x="1217521" y="711400"/>
            <a:ext cx="6803783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ctr"/>
            <a:r>
              <a:rPr lang="en-US" sz="4800" dirty="0">
                <a:solidFill>
                  <a:srgbClr val="002060"/>
                </a:solidFill>
              </a:rPr>
              <a:t>Acknowledgement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8EC61C-9060-C5E9-05D2-C2F545B32EF0}"/>
              </a:ext>
            </a:extLst>
          </p:cNvPr>
          <p:cNvSpPr txBox="1"/>
          <p:nvPr/>
        </p:nvSpPr>
        <p:spPr>
          <a:xfrm>
            <a:off x="1883442" y="2257847"/>
            <a:ext cx="2688557" cy="1023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 err="1">
                <a:solidFill>
                  <a:srgbClr val="002060"/>
                </a:solidFill>
                <a:latin typeface="Fjalla One" panose="02000506040000020004" pitchFamily="2" charset="0"/>
                <a:ea typeface="Tahoma" panose="020B0604030504040204" pitchFamily="34" charset="0"/>
                <a:cs typeface="Tahoma" panose="020B0604030504040204" pitchFamily="34" charset="0"/>
              </a:rPr>
              <a:t>Mosiur</a:t>
            </a:r>
            <a:r>
              <a:rPr lang="en-US" dirty="0">
                <a:solidFill>
                  <a:srgbClr val="002060"/>
                </a:solidFill>
                <a:latin typeface="Fjalla One" panose="02000506040000020004" pitchFamily="2" charset="0"/>
                <a:ea typeface="Tahoma" panose="020B0604030504040204" pitchFamily="34" charset="0"/>
                <a:cs typeface="Tahoma" panose="020B0604030504040204" pitchFamily="34" charset="0"/>
              </a:rPr>
              <a:t> Rahman Sweet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Fjalla One" panose="02000506040000020004" pitchFamily="2" charset="0"/>
                <a:ea typeface="Tahoma" panose="020B0604030504040204" pitchFamily="34" charset="0"/>
                <a:cs typeface="Tahoma" panose="020B0604030504040204" pitchFamily="34" charset="0"/>
              </a:rPr>
              <a:t>Former Lecturer, Department of CSE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Fjalla One" panose="02000506040000020004" pitchFamily="2" charset="0"/>
                <a:ea typeface="Tahoma" panose="020B0604030504040204" pitchFamily="34" charset="0"/>
                <a:cs typeface="Tahoma" panose="020B0604030504040204" pitchFamily="34" charset="0"/>
              </a:rPr>
              <a:t>Varendra University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517672-2648-4012-DFF3-F0AD937736FB}"/>
              </a:ext>
            </a:extLst>
          </p:cNvPr>
          <p:cNvSpPr txBox="1"/>
          <p:nvPr/>
        </p:nvSpPr>
        <p:spPr>
          <a:xfrm>
            <a:off x="5089213" y="2257847"/>
            <a:ext cx="2143536" cy="1023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Fjalla One" panose="02000506040000020004" pitchFamily="2" charset="0"/>
                <a:ea typeface="Tahoma" panose="020B0604030504040204" pitchFamily="34" charset="0"/>
                <a:cs typeface="Tahoma" panose="020B0604030504040204" pitchFamily="34" charset="0"/>
              </a:rPr>
              <a:t>Md. Muktar Hossain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Fjalla One" panose="02000506040000020004" pitchFamily="2" charset="0"/>
                <a:ea typeface="Tahoma" panose="020B0604030504040204" pitchFamily="34" charset="0"/>
                <a:cs typeface="Tahoma" panose="020B0604030504040204" pitchFamily="34" charset="0"/>
              </a:rPr>
              <a:t>Lecturer, Department of CSE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Fjalla One" panose="02000506040000020004" pitchFamily="2" charset="0"/>
                <a:ea typeface="Tahoma" panose="020B0604030504040204" pitchFamily="34" charset="0"/>
                <a:cs typeface="Tahoma" panose="020B0604030504040204" pitchFamily="34" charset="0"/>
              </a:rPr>
              <a:t>Varendra University</a:t>
            </a:r>
          </a:p>
        </p:txBody>
      </p:sp>
    </p:spTree>
    <p:extLst>
      <p:ext uri="{BB962C8B-B14F-4D97-AF65-F5344CB8AC3E}">
        <p14:creationId xmlns:p14="http://schemas.microsoft.com/office/powerpoint/2010/main" val="533867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ess piece - Wikipedia">
            <a:extLst>
              <a:ext uri="{FF2B5EF4-FFF2-40B4-BE49-F238E27FC236}">
                <a16:creationId xmlns:a16="http://schemas.microsoft.com/office/drawing/2014/main" id="{524E9967-61AB-6DF8-B4B0-470CAB486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5140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9670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crabble | Game, History, &amp; Facts | Britannica">
            <a:extLst>
              <a:ext uri="{FF2B5EF4-FFF2-40B4-BE49-F238E27FC236}">
                <a16:creationId xmlns:a16="http://schemas.microsoft.com/office/drawing/2014/main" id="{2A4FD655-9495-8984-E535-DB895718E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3999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9271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3ED5-95FF-4D09-A05C-0E352EE17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957" y="559534"/>
            <a:ext cx="2805430" cy="67998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Greedy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rgbClr val="002060"/>
                </a:solidFill>
              </a:rPr>
              <a:t>Algorithms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D6F493-B439-44D6-9A9D-CD09E6E07786}"/>
              </a:ext>
            </a:extLst>
          </p:cNvPr>
          <p:cNvSpPr txBox="1"/>
          <p:nvPr/>
        </p:nvSpPr>
        <p:spPr>
          <a:xfrm>
            <a:off x="289983" y="1519839"/>
            <a:ext cx="852212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Barlow Semi Condensed Medium" panose="00000606000000000000" pitchFamily="2" charset="0"/>
              </a:rPr>
              <a:t>A greedy algorithm always makes the choice that looks best at the moment. That is, it makes a locally optimal choice in the hope that this choice will lead to a globally optimal solution. We will explore some </a:t>
            </a:r>
            <a:r>
              <a:rPr lang="en-US" sz="1600" b="1" dirty="0">
                <a:solidFill>
                  <a:srgbClr val="002060"/>
                </a:solidFill>
                <a:latin typeface="Barlow Semi Condensed Medium" panose="00000606000000000000" pitchFamily="2" charset="0"/>
              </a:rPr>
              <a:t>optimization</a:t>
            </a:r>
            <a:r>
              <a:rPr lang="en-US" sz="1600" dirty="0">
                <a:solidFill>
                  <a:srgbClr val="002060"/>
                </a:solidFill>
                <a:latin typeface="Barlow Semi Condensed Medium" panose="00000606000000000000" pitchFamily="2" charset="0"/>
              </a:rPr>
              <a:t> problems for which greedy algorithms provide optimal solutions.</a:t>
            </a:r>
          </a:p>
          <a:p>
            <a:pPr algn="just"/>
            <a:endParaRPr lang="en-US" sz="1600" dirty="0">
              <a:solidFill>
                <a:srgbClr val="002060"/>
              </a:solidFill>
              <a:latin typeface="Barlow Semi Condensed Medium" panose="00000606000000000000" pitchFamily="2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Barlow Semi Condensed Medium" panose="00000606000000000000" pitchFamily="2" charset="0"/>
              </a:rPr>
              <a:t>The greedy method is quite powerful and works well for a wide range of problems. </a:t>
            </a:r>
            <a:r>
              <a:rPr lang="en-US" sz="1600" b="1" dirty="0">
                <a:solidFill>
                  <a:srgbClr val="002060"/>
                </a:solidFill>
                <a:latin typeface="Barlow Semi Condensed Medium" panose="00000606000000000000" pitchFamily="2" charset="0"/>
              </a:rPr>
              <a:t>It does not always yield optimal solutions</a:t>
            </a:r>
            <a:r>
              <a:rPr lang="en-US" sz="1600" dirty="0">
                <a:solidFill>
                  <a:srgbClr val="002060"/>
                </a:solidFill>
                <a:latin typeface="Barlow Semi Condensed Medium" panose="00000606000000000000" pitchFamily="2" charset="0"/>
              </a:rPr>
              <a:t>, but for many problems they do.</a:t>
            </a:r>
          </a:p>
          <a:p>
            <a:pPr algn="just"/>
            <a:endParaRPr lang="en-US" sz="1600" dirty="0">
              <a:solidFill>
                <a:srgbClr val="002060"/>
              </a:solidFill>
              <a:latin typeface="Barlow Semi Condensed Medium" panose="00000606000000000000" pitchFamily="2" charset="0"/>
            </a:endParaRP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Barlow Semi Condensed Medium" panose="00000606000000000000" pitchFamily="2" charset="0"/>
              </a:rPr>
              <a:t>Optimization can be of two types – </a:t>
            </a:r>
            <a:r>
              <a:rPr lang="en-US" sz="1600" b="1" dirty="0">
                <a:solidFill>
                  <a:srgbClr val="002060"/>
                </a:solidFill>
                <a:latin typeface="Barlow Semi Condensed Medium" panose="00000606000000000000" pitchFamily="2" charset="0"/>
              </a:rPr>
              <a:t>Maximization and Minimization.</a:t>
            </a:r>
          </a:p>
        </p:txBody>
      </p:sp>
    </p:spTree>
    <p:extLst>
      <p:ext uri="{BB962C8B-B14F-4D97-AF65-F5344CB8AC3E}">
        <p14:creationId xmlns:p14="http://schemas.microsoft.com/office/powerpoint/2010/main" val="2156687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3ED5-95FF-4D09-A05C-0E352EE17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Greedy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rgbClr val="002060"/>
                </a:solidFill>
              </a:rPr>
              <a:t>Algorithms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505182-16C1-4C0C-ADE0-1669391534FD}"/>
              </a:ext>
            </a:extLst>
          </p:cNvPr>
          <p:cNvSpPr txBox="1"/>
          <p:nvPr/>
        </p:nvSpPr>
        <p:spPr>
          <a:xfrm>
            <a:off x="723750" y="1502919"/>
            <a:ext cx="6702286" cy="2819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b="1" dirty="0">
                <a:solidFill>
                  <a:srgbClr val="002060"/>
                </a:solidFill>
                <a:latin typeface="Barlow Semi Condensed Medium" panose="00000606000000000000" pitchFamily="2" charset="0"/>
              </a:rPr>
              <a:t>Advantages</a:t>
            </a:r>
          </a:p>
          <a:p>
            <a:pPr marL="257175" indent="-25717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2060"/>
                </a:solidFill>
                <a:latin typeface="Barlow Semi Condensed Medium" panose="00000606000000000000" pitchFamily="2" charset="0"/>
              </a:rPr>
              <a:t>They are easier to implement</a:t>
            </a:r>
          </a:p>
          <a:p>
            <a:pPr marL="257175" indent="-25717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2060"/>
                </a:solidFill>
                <a:latin typeface="Barlow Semi Condensed Medium" panose="00000606000000000000" pitchFamily="2" charset="0"/>
              </a:rPr>
              <a:t>They require much less computing resources</a:t>
            </a:r>
          </a:p>
          <a:p>
            <a:pPr marL="257175" indent="-25717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2060"/>
                </a:solidFill>
                <a:latin typeface="Barlow Semi Condensed Medium" panose="00000606000000000000" pitchFamily="2" charset="0"/>
              </a:rPr>
              <a:t>They are much faster to execute</a:t>
            </a:r>
          </a:p>
          <a:p>
            <a:pPr marL="257175" indent="-25717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2060"/>
                </a:solidFill>
                <a:latin typeface="Barlow Semi Condensed Medium" panose="00000606000000000000" pitchFamily="2" charset="0"/>
              </a:rPr>
              <a:t>Greedy algorithms are used to solve optimization problems</a:t>
            </a:r>
          </a:p>
          <a:p>
            <a:pPr marL="257175" indent="-25717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002060"/>
              </a:solidFill>
              <a:latin typeface="Barlow Semi Condensed Medium" panose="00000606000000000000" pitchFamily="2" charset="0"/>
            </a:endParaRPr>
          </a:p>
          <a:p>
            <a:pPr marL="257175" indent="-257175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b="1" dirty="0">
                <a:solidFill>
                  <a:srgbClr val="002060"/>
                </a:solidFill>
                <a:latin typeface="Barlow Semi Condensed Medium" panose="00000606000000000000" pitchFamily="2" charset="0"/>
              </a:rPr>
              <a:t>Disadvantages</a:t>
            </a:r>
          </a:p>
          <a:p>
            <a:pPr marL="257175" indent="-25717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2060"/>
                </a:solidFill>
                <a:latin typeface="Barlow Semi Condensed Medium" panose="00000606000000000000" pitchFamily="2" charset="0"/>
              </a:rPr>
              <a:t>They don’t always reach the global optimum solution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D0C41-B872-4D32-8B6E-295DF4983141}"/>
              </a:ext>
            </a:extLst>
          </p:cNvPr>
          <p:cNvSpPr txBox="1"/>
          <p:nvPr/>
        </p:nvSpPr>
        <p:spPr>
          <a:xfrm>
            <a:off x="5823857" y="4947293"/>
            <a:ext cx="457200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25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https://en.wikipedia.org/wiki/Divide-and-conquer_algorithm</a:t>
            </a:r>
            <a:endParaRPr lang="en-US" sz="825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307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Shape 3456">
          <a:extLst>
            <a:ext uri="{FF2B5EF4-FFF2-40B4-BE49-F238E27FC236}">
              <a16:creationId xmlns:a16="http://schemas.microsoft.com/office/drawing/2014/main" id="{2ECADE6A-0EAC-5116-2B1F-96EF17094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ED921A4-9DD6-0F44-A0F1-5D18304C4D69}"/>
              </a:ext>
            </a:extLst>
          </p:cNvPr>
          <p:cNvGrpSpPr/>
          <p:nvPr/>
        </p:nvGrpSpPr>
        <p:grpSpPr>
          <a:xfrm>
            <a:off x="598984" y="1573144"/>
            <a:ext cx="7946032" cy="1298749"/>
            <a:chOff x="921374" y="3448385"/>
            <a:chExt cx="9463029" cy="154669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FA7DC09-DC36-219A-568A-C4C409CE0119}"/>
                </a:ext>
              </a:extLst>
            </p:cNvPr>
            <p:cNvGrpSpPr/>
            <p:nvPr/>
          </p:nvGrpSpPr>
          <p:grpSpPr>
            <a:xfrm>
              <a:off x="921374" y="3448385"/>
              <a:ext cx="5969716" cy="1546696"/>
              <a:chOff x="921374" y="3448385"/>
              <a:chExt cx="5969716" cy="1546696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8D8A4EFF-F481-EB9F-548D-2130F9FC94B8}"/>
                  </a:ext>
                </a:extLst>
              </p:cNvPr>
              <p:cNvGrpSpPr/>
              <p:nvPr/>
            </p:nvGrpSpPr>
            <p:grpSpPr>
              <a:xfrm>
                <a:off x="921374" y="3448385"/>
                <a:ext cx="2616225" cy="1546696"/>
                <a:chOff x="902340" y="3448385"/>
                <a:chExt cx="2616225" cy="1546696"/>
              </a:xfrm>
            </p:grpSpPr>
            <p:sp>
              <p:nvSpPr>
                <p:cNvPr id="32" name="Flowchart: Connector 31">
                  <a:extLst>
                    <a:ext uri="{FF2B5EF4-FFF2-40B4-BE49-F238E27FC236}">
                      <a16:creationId xmlns:a16="http://schemas.microsoft.com/office/drawing/2014/main" id="{F4DC8008-27C8-A020-FC48-D8EDD736BDE8}"/>
                    </a:ext>
                  </a:extLst>
                </p:cNvPr>
                <p:cNvSpPr/>
                <p:nvPr/>
              </p:nvSpPr>
              <p:spPr>
                <a:xfrm>
                  <a:off x="2003261" y="3448385"/>
                  <a:ext cx="396190" cy="421666"/>
                </a:xfrm>
                <a:prstGeom prst="flowChartConnector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/>
                    <a:t>0</a:t>
                  </a:r>
                </a:p>
              </p:txBody>
            </p:sp>
            <p:sp>
              <p:nvSpPr>
                <p:cNvPr id="33" name="Flowchart: Connector 32">
                  <a:extLst>
                    <a:ext uri="{FF2B5EF4-FFF2-40B4-BE49-F238E27FC236}">
                      <a16:creationId xmlns:a16="http://schemas.microsoft.com/office/drawing/2014/main" id="{C48A21A1-6760-917E-B0A0-9B0AFD9F077D}"/>
                    </a:ext>
                  </a:extLst>
                </p:cNvPr>
                <p:cNvSpPr/>
                <p:nvPr/>
              </p:nvSpPr>
              <p:spPr>
                <a:xfrm>
                  <a:off x="1329967" y="3987421"/>
                  <a:ext cx="396190" cy="421666"/>
                </a:xfrm>
                <a:prstGeom prst="flowChartConnector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/>
                    <a:t>5</a:t>
                  </a:r>
                </a:p>
              </p:txBody>
            </p:sp>
            <p:sp>
              <p:nvSpPr>
                <p:cNvPr id="34" name="Flowchart: Connector 33">
                  <a:extLst>
                    <a:ext uri="{FF2B5EF4-FFF2-40B4-BE49-F238E27FC236}">
                      <a16:creationId xmlns:a16="http://schemas.microsoft.com/office/drawing/2014/main" id="{2AEFF1AE-35E0-4C9A-3E63-FFAFB8EC4293}"/>
                    </a:ext>
                  </a:extLst>
                </p:cNvPr>
                <p:cNvSpPr/>
                <p:nvPr/>
              </p:nvSpPr>
              <p:spPr>
                <a:xfrm>
                  <a:off x="2712943" y="3987421"/>
                  <a:ext cx="396190" cy="421666"/>
                </a:xfrm>
                <a:prstGeom prst="flowChartConnector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/>
                    <a:t>8</a:t>
                  </a:r>
                </a:p>
              </p:txBody>
            </p:sp>
            <p:sp>
              <p:nvSpPr>
                <p:cNvPr id="35" name="Flowchart: Connector 34">
                  <a:extLst>
                    <a:ext uri="{FF2B5EF4-FFF2-40B4-BE49-F238E27FC236}">
                      <a16:creationId xmlns:a16="http://schemas.microsoft.com/office/drawing/2014/main" id="{4AA8211E-6B14-A3A3-CF65-2292BC8146BD}"/>
                    </a:ext>
                  </a:extLst>
                </p:cNvPr>
                <p:cNvSpPr/>
                <p:nvPr/>
              </p:nvSpPr>
              <p:spPr>
                <a:xfrm>
                  <a:off x="902340" y="4573415"/>
                  <a:ext cx="396190" cy="421666"/>
                </a:xfrm>
                <a:prstGeom prst="flowChartConnector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/>
                    <a:t>2</a:t>
                  </a:r>
                </a:p>
              </p:txBody>
            </p:sp>
            <p:sp>
              <p:nvSpPr>
                <p:cNvPr id="36" name="Flowchart: Connector 35">
                  <a:extLst>
                    <a:ext uri="{FF2B5EF4-FFF2-40B4-BE49-F238E27FC236}">
                      <a16:creationId xmlns:a16="http://schemas.microsoft.com/office/drawing/2014/main" id="{FD56646A-76FF-D05C-658C-46C1676C7F98}"/>
                    </a:ext>
                  </a:extLst>
                </p:cNvPr>
                <p:cNvSpPr/>
                <p:nvPr/>
              </p:nvSpPr>
              <p:spPr>
                <a:xfrm>
                  <a:off x="1698458" y="4573415"/>
                  <a:ext cx="396190" cy="421666"/>
                </a:xfrm>
                <a:prstGeom prst="flowChartConnector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/>
                    <a:t>3</a:t>
                  </a:r>
                </a:p>
              </p:txBody>
            </p:sp>
            <p:sp>
              <p:nvSpPr>
                <p:cNvPr id="37" name="Flowchart: Connector 36">
                  <a:extLst>
                    <a:ext uri="{FF2B5EF4-FFF2-40B4-BE49-F238E27FC236}">
                      <a16:creationId xmlns:a16="http://schemas.microsoft.com/office/drawing/2014/main" id="{EBA79B6A-EB7A-F8FA-51C9-7DDC82EAFB67}"/>
                    </a:ext>
                  </a:extLst>
                </p:cNvPr>
                <p:cNvSpPr/>
                <p:nvPr/>
              </p:nvSpPr>
              <p:spPr>
                <a:xfrm>
                  <a:off x="2326257" y="4573415"/>
                  <a:ext cx="396190" cy="421666"/>
                </a:xfrm>
                <a:prstGeom prst="flowChartConnector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/>
                    <a:t>1</a:t>
                  </a:r>
                </a:p>
              </p:txBody>
            </p:sp>
            <p:sp>
              <p:nvSpPr>
                <p:cNvPr id="38" name="Flowchart: Connector 37">
                  <a:extLst>
                    <a:ext uri="{FF2B5EF4-FFF2-40B4-BE49-F238E27FC236}">
                      <a16:creationId xmlns:a16="http://schemas.microsoft.com/office/drawing/2014/main" id="{2C845330-D465-63D1-7DE8-9106E91DAABF}"/>
                    </a:ext>
                  </a:extLst>
                </p:cNvPr>
                <p:cNvSpPr/>
                <p:nvPr/>
              </p:nvSpPr>
              <p:spPr>
                <a:xfrm>
                  <a:off x="3122375" y="4573415"/>
                  <a:ext cx="396190" cy="421666"/>
                </a:xfrm>
                <a:prstGeom prst="flowChartConnector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/>
                    <a:t>3</a:t>
                  </a:r>
                </a:p>
              </p:txBody>
            </p: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1BE6503B-F2D9-3510-AF9E-EFDD83F3148B}"/>
                    </a:ext>
                  </a:extLst>
                </p:cNvPr>
                <p:cNvCxnSpPr>
                  <a:stCxn id="32" idx="3"/>
                  <a:endCxn id="33" idx="7"/>
                </p:cNvCxnSpPr>
                <p:nvPr/>
              </p:nvCxnSpPr>
              <p:spPr>
                <a:xfrm flipH="1">
                  <a:off x="1668136" y="3808299"/>
                  <a:ext cx="393146" cy="240874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CE286605-0B04-3F6E-0095-D11DD2300778}"/>
                    </a:ext>
                  </a:extLst>
                </p:cNvPr>
                <p:cNvCxnSpPr>
                  <a:stCxn id="33" idx="3"/>
                  <a:endCxn id="35" idx="0"/>
                </p:cNvCxnSpPr>
                <p:nvPr/>
              </p:nvCxnSpPr>
              <p:spPr>
                <a:xfrm flipH="1">
                  <a:off x="1100435" y="4347335"/>
                  <a:ext cx="287553" cy="22608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A24D6F51-7EFF-D01C-1C65-85E2D75602BD}"/>
                    </a:ext>
                  </a:extLst>
                </p:cNvPr>
                <p:cNvCxnSpPr>
                  <a:stCxn id="32" idx="5"/>
                  <a:endCxn id="34" idx="1"/>
                </p:cNvCxnSpPr>
                <p:nvPr/>
              </p:nvCxnSpPr>
              <p:spPr>
                <a:xfrm>
                  <a:off x="2341430" y="3808299"/>
                  <a:ext cx="429534" cy="240874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6ACB29C4-D7D9-FF92-C1AE-2EE49BA66FF5}"/>
                    </a:ext>
                  </a:extLst>
                </p:cNvPr>
                <p:cNvCxnSpPr>
                  <a:stCxn id="33" idx="5"/>
                  <a:endCxn id="36" idx="0"/>
                </p:cNvCxnSpPr>
                <p:nvPr/>
              </p:nvCxnSpPr>
              <p:spPr>
                <a:xfrm>
                  <a:off x="1668136" y="4347335"/>
                  <a:ext cx="228417" cy="22608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CDD7829D-13AC-4BF3-4864-5DCE308734C2}"/>
                    </a:ext>
                  </a:extLst>
                </p:cNvPr>
                <p:cNvCxnSpPr>
                  <a:stCxn id="34" idx="3"/>
                  <a:endCxn id="37" idx="0"/>
                </p:cNvCxnSpPr>
                <p:nvPr/>
              </p:nvCxnSpPr>
              <p:spPr>
                <a:xfrm flipH="1">
                  <a:off x="2524352" y="4347335"/>
                  <a:ext cx="246612" cy="22608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86A011AF-2835-ECFF-067B-F54A4708B357}"/>
                    </a:ext>
                  </a:extLst>
                </p:cNvPr>
                <p:cNvCxnSpPr>
                  <a:stCxn id="34" idx="5"/>
                  <a:endCxn id="38" idx="0"/>
                </p:cNvCxnSpPr>
                <p:nvPr/>
              </p:nvCxnSpPr>
              <p:spPr>
                <a:xfrm>
                  <a:off x="3051112" y="4347335"/>
                  <a:ext cx="269358" cy="22608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" name="Flowchart: Connector 18">
                <a:extLst>
                  <a:ext uri="{FF2B5EF4-FFF2-40B4-BE49-F238E27FC236}">
                    <a16:creationId xmlns:a16="http://schemas.microsoft.com/office/drawing/2014/main" id="{5B5EC2E4-3C00-6118-D4BB-9B1C03581A61}"/>
                  </a:ext>
                </a:extLst>
              </p:cNvPr>
              <p:cNvSpPr/>
              <p:nvPr/>
            </p:nvSpPr>
            <p:spPr>
              <a:xfrm>
                <a:off x="5375786" y="3448385"/>
                <a:ext cx="396190" cy="421666"/>
              </a:xfrm>
              <a:prstGeom prst="flowChartConnector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0</a:t>
                </a:r>
              </a:p>
            </p:txBody>
          </p:sp>
          <p:sp>
            <p:nvSpPr>
              <p:cNvPr id="20" name="Flowchart: Connector 19">
                <a:extLst>
                  <a:ext uri="{FF2B5EF4-FFF2-40B4-BE49-F238E27FC236}">
                    <a16:creationId xmlns:a16="http://schemas.microsoft.com/office/drawing/2014/main" id="{3E78749D-7BBB-BE50-DB0F-213E87E4EB0C}"/>
                  </a:ext>
                </a:extLst>
              </p:cNvPr>
              <p:cNvSpPr/>
              <p:nvPr/>
            </p:nvSpPr>
            <p:spPr>
              <a:xfrm>
                <a:off x="4702492" y="3987421"/>
                <a:ext cx="396190" cy="421666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5</a:t>
                </a:r>
              </a:p>
            </p:txBody>
          </p:sp>
          <p:sp>
            <p:nvSpPr>
              <p:cNvPr id="21" name="Flowchart: Connector 20">
                <a:extLst>
                  <a:ext uri="{FF2B5EF4-FFF2-40B4-BE49-F238E27FC236}">
                    <a16:creationId xmlns:a16="http://schemas.microsoft.com/office/drawing/2014/main" id="{D145B6D6-0FC8-9425-B3B6-904000353874}"/>
                  </a:ext>
                </a:extLst>
              </p:cNvPr>
              <p:cNvSpPr/>
              <p:nvPr/>
            </p:nvSpPr>
            <p:spPr>
              <a:xfrm>
                <a:off x="6085468" y="3987421"/>
                <a:ext cx="396190" cy="421666"/>
              </a:xfrm>
              <a:prstGeom prst="flowChartConnector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8</a:t>
                </a:r>
              </a:p>
            </p:txBody>
          </p:sp>
          <p:sp>
            <p:nvSpPr>
              <p:cNvPr id="22" name="Flowchart: Connector 21">
                <a:extLst>
                  <a:ext uri="{FF2B5EF4-FFF2-40B4-BE49-F238E27FC236}">
                    <a16:creationId xmlns:a16="http://schemas.microsoft.com/office/drawing/2014/main" id="{91B4BEA0-1A3D-ADE0-3F12-51CC30D895FE}"/>
                  </a:ext>
                </a:extLst>
              </p:cNvPr>
              <p:cNvSpPr/>
              <p:nvPr/>
            </p:nvSpPr>
            <p:spPr>
              <a:xfrm>
                <a:off x="4274865" y="4573415"/>
                <a:ext cx="396190" cy="421666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2</a:t>
                </a:r>
              </a:p>
            </p:txBody>
          </p:sp>
          <p:sp>
            <p:nvSpPr>
              <p:cNvPr id="23" name="Flowchart: Connector 22">
                <a:extLst>
                  <a:ext uri="{FF2B5EF4-FFF2-40B4-BE49-F238E27FC236}">
                    <a16:creationId xmlns:a16="http://schemas.microsoft.com/office/drawing/2014/main" id="{16BFAA8C-C9CC-6F76-02D2-0C450BAF5789}"/>
                  </a:ext>
                </a:extLst>
              </p:cNvPr>
              <p:cNvSpPr/>
              <p:nvPr/>
            </p:nvSpPr>
            <p:spPr>
              <a:xfrm>
                <a:off x="5070983" y="4573415"/>
                <a:ext cx="396190" cy="421666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3</a:t>
                </a:r>
              </a:p>
            </p:txBody>
          </p:sp>
          <p:sp>
            <p:nvSpPr>
              <p:cNvPr id="24" name="Flowchart: Connector 23">
                <a:extLst>
                  <a:ext uri="{FF2B5EF4-FFF2-40B4-BE49-F238E27FC236}">
                    <a16:creationId xmlns:a16="http://schemas.microsoft.com/office/drawing/2014/main" id="{EA5EBE0F-95F1-2034-97C1-0658C307EC38}"/>
                  </a:ext>
                </a:extLst>
              </p:cNvPr>
              <p:cNvSpPr/>
              <p:nvPr/>
            </p:nvSpPr>
            <p:spPr>
              <a:xfrm>
                <a:off x="5698782" y="4573415"/>
                <a:ext cx="396190" cy="421666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1</a:t>
                </a:r>
              </a:p>
            </p:txBody>
          </p:sp>
          <p:sp>
            <p:nvSpPr>
              <p:cNvPr id="25" name="Flowchart: Connector 24">
                <a:extLst>
                  <a:ext uri="{FF2B5EF4-FFF2-40B4-BE49-F238E27FC236}">
                    <a16:creationId xmlns:a16="http://schemas.microsoft.com/office/drawing/2014/main" id="{D3A51DD8-7EF9-3E37-3486-5635FB255725}"/>
                  </a:ext>
                </a:extLst>
              </p:cNvPr>
              <p:cNvSpPr/>
              <p:nvPr/>
            </p:nvSpPr>
            <p:spPr>
              <a:xfrm>
                <a:off x="6494900" y="4573415"/>
                <a:ext cx="396190" cy="421666"/>
              </a:xfrm>
              <a:prstGeom prst="flowChartConnector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3</a:t>
                </a: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7DEA81E1-8F34-470E-EA05-51F15F4A3DE3}"/>
                  </a:ext>
                </a:extLst>
              </p:cNvPr>
              <p:cNvCxnSpPr>
                <a:stCxn id="19" idx="3"/>
                <a:endCxn id="20" idx="7"/>
              </p:cNvCxnSpPr>
              <p:nvPr/>
            </p:nvCxnSpPr>
            <p:spPr>
              <a:xfrm flipH="1">
                <a:off x="5040661" y="3808299"/>
                <a:ext cx="393146" cy="24087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15845F60-F177-C058-46E4-5E7F12C8F3ED}"/>
                  </a:ext>
                </a:extLst>
              </p:cNvPr>
              <p:cNvCxnSpPr>
                <a:stCxn id="20" idx="3"/>
                <a:endCxn id="22" idx="0"/>
              </p:cNvCxnSpPr>
              <p:nvPr/>
            </p:nvCxnSpPr>
            <p:spPr>
              <a:xfrm flipH="1">
                <a:off x="4472960" y="4347335"/>
                <a:ext cx="287553" cy="22608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48122E77-1DC3-61F9-353D-52C5775A46B6}"/>
                  </a:ext>
                </a:extLst>
              </p:cNvPr>
              <p:cNvCxnSpPr>
                <a:stCxn id="19" idx="5"/>
                <a:endCxn id="21" idx="1"/>
              </p:cNvCxnSpPr>
              <p:nvPr/>
            </p:nvCxnSpPr>
            <p:spPr>
              <a:xfrm>
                <a:off x="5713955" y="3808299"/>
                <a:ext cx="429534" cy="240874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1FA1132E-30A0-EF3F-9868-409CDE5D3BCA}"/>
                  </a:ext>
                </a:extLst>
              </p:cNvPr>
              <p:cNvCxnSpPr>
                <a:stCxn id="20" idx="5"/>
                <a:endCxn id="23" idx="0"/>
              </p:cNvCxnSpPr>
              <p:nvPr/>
            </p:nvCxnSpPr>
            <p:spPr>
              <a:xfrm>
                <a:off x="5040661" y="4347335"/>
                <a:ext cx="228417" cy="22608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F583D19B-8A74-D31E-A4EB-E0A2284504C4}"/>
                  </a:ext>
                </a:extLst>
              </p:cNvPr>
              <p:cNvCxnSpPr>
                <a:stCxn id="21" idx="3"/>
                <a:endCxn id="24" idx="0"/>
              </p:cNvCxnSpPr>
              <p:nvPr/>
            </p:nvCxnSpPr>
            <p:spPr>
              <a:xfrm flipH="1">
                <a:off x="5896877" y="4347335"/>
                <a:ext cx="246612" cy="22608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3FA67A3D-4816-9B9F-B375-0F5E7F502E0D}"/>
                  </a:ext>
                </a:extLst>
              </p:cNvPr>
              <p:cNvCxnSpPr>
                <a:stCxn id="21" idx="5"/>
                <a:endCxn id="25" idx="0"/>
              </p:cNvCxnSpPr>
              <p:nvPr/>
            </p:nvCxnSpPr>
            <p:spPr>
              <a:xfrm>
                <a:off x="6423637" y="4347335"/>
                <a:ext cx="269358" cy="226080"/>
              </a:xfrm>
              <a:prstGeom prst="line">
                <a:avLst/>
              </a:prstGeom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Flowchart: Connector 3">
              <a:extLst>
                <a:ext uri="{FF2B5EF4-FFF2-40B4-BE49-F238E27FC236}">
                  <a16:creationId xmlns:a16="http://schemas.microsoft.com/office/drawing/2014/main" id="{C7625B44-CEED-00A0-1865-5A276CF14E8C}"/>
                </a:ext>
              </a:extLst>
            </p:cNvPr>
            <p:cNvSpPr/>
            <p:nvPr/>
          </p:nvSpPr>
          <p:spPr>
            <a:xfrm>
              <a:off x="8869099" y="3448385"/>
              <a:ext cx="396190" cy="421666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BB87510F-7E59-839F-18F8-7C74C00840CB}"/>
                </a:ext>
              </a:extLst>
            </p:cNvPr>
            <p:cNvSpPr/>
            <p:nvPr/>
          </p:nvSpPr>
          <p:spPr>
            <a:xfrm>
              <a:off x="8195805" y="3987421"/>
              <a:ext cx="396190" cy="42166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5</a:t>
              </a:r>
            </a:p>
          </p:txBody>
        </p:sp>
        <p:sp>
          <p:nvSpPr>
            <p:cNvPr id="6" name="Flowchart: Connector 5">
              <a:extLst>
                <a:ext uri="{FF2B5EF4-FFF2-40B4-BE49-F238E27FC236}">
                  <a16:creationId xmlns:a16="http://schemas.microsoft.com/office/drawing/2014/main" id="{4C26D8B8-E45F-2466-55BD-0106CBB6EACA}"/>
                </a:ext>
              </a:extLst>
            </p:cNvPr>
            <p:cNvSpPr/>
            <p:nvPr/>
          </p:nvSpPr>
          <p:spPr>
            <a:xfrm>
              <a:off x="9578781" y="3987421"/>
              <a:ext cx="396190" cy="421666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8</a:t>
              </a:r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C71F1E28-3B4C-F1B5-6D82-94EDFB841066}"/>
                </a:ext>
              </a:extLst>
            </p:cNvPr>
            <p:cNvSpPr/>
            <p:nvPr/>
          </p:nvSpPr>
          <p:spPr>
            <a:xfrm>
              <a:off x="7768178" y="4573415"/>
              <a:ext cx="396190" cy="42166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2</a:t>
              </a:r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3B25225E-4C3E-124A-FD41-6D52C6ADB484}"/>
                </a:ext>
              </a:extLst>
            </p:cNvPr>
            <p:cNvSpPr/>
            <p:nvPr/>
          </p:nvSpPr>
          <p:spPr>
            <a:xfrm>
              <a:off x="8564296" y="4573415"/>
              <a:ext cx="396190" cy="42166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3</a:t>
              </a:r>
            </a:p>
          </p:txBody>
        </p:sp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9F43A349-57E9-16FD-B837-945A885FB415}"/>
                </a:ext>
              </a:extLst>
            </p:cNvPr>
            <p:cNvSpPr/>
            <p:nvPr/>
          </p:nvSpPr>
          <p:spPr>
            <a:xfrm>
              <a:off x="9192095" y="4573415"/>
              <a:ext cx="396190" cy="42166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DB784FCA-1FDF-7590-5892-B9E3C65539B8}"/>
                </a:ext>
              </a:extLst>
            </p:cNvPr>
            <p:cNvSpPr/>
            <p:nvPr/>
          </p:nvSpPr>
          <p:spPr>
            <a:xfrm>
              <a:off x="9988213" y="4573415"/>
              <a:ext cx="396190" cy="421666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3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72DDF9C-A538-ECD6-D1DB-C851652504B7}"/>
                </a:ext>
              </a:extLst>
            </p:cNvPr>
            <p:cNvCxnSpPr>
              <a:stCxn id="4" idx="3"/>
              <a:endCxn id="5" idx="7"/>
            </p:cNvCxnSpPr>
            <p:nvPr/>
          </p:nvCxnSpPr>
          <p:spPr>
            <a:xfrm flipH="1">
              <a:off x="8533974" y="3808299"/>
              <a:ext cx="393146" cy="2408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D418CB7-7B06-04A7-724B-CB36B246091B}"/>
                </a:ext>
              </a:extLst>
            </p:cNvPr>
            <p:cNvCxnSpPr>
              <a:stCxn id="5" idx="3"/>
              <a:endCxn id="8" idx="0"/>
            </p:cNvCxnSpPr>
            <p:nvPr/>
          </p:nvCxnSpPr>
          <p:spPr>
            <a:xfrm flipH="1">
              <a:off x="7966273" y="4347335"/>
              <a:ext cx="287553" cy="2260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03F2591-4945-DCCB-A605-5211A126BD52}"/>
                </a:ext>
              </a:extLst>
            </p:cNvPr>
            <p:cNvCxnSpPr>
              <a:stCxn id="4" idx="5"/>
              <a:endCxn id="6" idx="1"/>
            </p:cNvCxnSpPr>
            <p:nvPr/>
          </p:nvCxnSpPr>
          <p:spPr>
            <a:xfrm>
              <a:off x="9207268" y="3808299"/>
              <a:ext cx="429534" cy="240874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3CBADFF-B980-BFCF-02C1-2D3C6A301036}"/>
                </a:ext>
              </a:extLst>
            </p:cNvPr>
            <p:cNvCxnSpPr>
              <a:stCxn id="5" idx="5"/>
              <a:endCxn id="9" idx="0"/>
            </p:cNvCxnSpPr>
            <p:nvPr/>
          </p:nvCxnSpPr>
          <p:spPr>
            <a:xfrm>
              <a:off x="8533974" y="4347335"/>
              <a:ext cx="228417" cy="2260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84C190F-ECBF-635A-A753-1EB20BC2E037}"/>
                </a:ext>
              </a:extLst>
            </p:cNvPr>
            <p:cNvCxnSpPr>
              <a:stCxn id="6" idx="3"/>
              <a:endCxn id="10" idx="0"/>
            </p:cNvCxnSpPr>
            <p:nvPr/>
          </p:nvCxnSpPr>
          <p:spPr>
            <a:xfrm flipH="1">
              <a:off x="9390190" y="4347335"/>
              <a:ext cx="246612" cy="2260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60F5189-742C-8F64-9738-77E2FF83CB8A}"/>
                </a:ext>
              </a:extLst>
            </p:cNvPr>
            <p:cNvCxnSpPr>
              <a:stCxn id="6" idx="5"/>
              <a:endCxn id="11" idx="0"/>
            </p:cNvCxnSpPr>
            <p:nvPr/>
          </p:nvCxnSpPr>
          <p:spPr>
            <a:xfrm>
              <a:off x="9916950" y="4347335"/>
              <a:ext cx="269358" cy="22608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36EF06A1-069E-412F-DBD5-C0BE2B0532AA}"/>
              </a:ext>
            </a:extLst>
          </p:cNvPr>
          <p:cNvSpPr txBox="1"/>
          <p:nvPr/>
        </p:nvSpPr>
        <p:spPr>
          <a:xfrm>
            <a:off x="1203190" y="3462502"/>
            <a:ext cx="973136" cy="3385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Graph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0D12F1F-33D6-39AD-898B-0CBC141B03C4}"/>
              </a:ext>
            </a:extLst>
          </p:cNvPr>
          <p:cNvSpPr txBox="1"/>
          <p:nvPr/>
        </p:nvSpPr>
        <p:spPr>
          <a:xfrm>
            <a:off x="4083378" y="3470084"/>
            <a:ext cx="1013925" cy="3385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Greedy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2D4BF97-DEC0-CF78-D712-CDA8EB484DED}"/>
              </a:ext>
            </a:extLst>
          </p:cNvPr>
          <p:cNvSpPr txBox="1"/>
          <p:nvPr/>
        </p:nvSpPr>
        <p:spPr>
          <a:xfrm>
            <a:off x="6967675" y="3463311"/>
            <a:ext cx="996290" cy="3385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Optimal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08D2BD8-81FB-A6FD-DC4F-2301909B289F}"/>
              </a:ext>
            </a:extLst>
          </p:cNvPr>
          <p:cNvSpPr txBox="1"/>
          <p:nvPr/>
        </p:nvSpPr>
        <p:spPr>
          <a:xfrm>
            <a:off x="3764307" y="487549"/>
            <a:ext cx="1615387" cy="3385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Greedy Choice</a:t>
            </a:r>
          </a:p>
        </p:txBody>
      </p:sp>
    </p:spTree>
    <p:extLst>
      <p:ext uri="{BB962C8B-B14F-4D97-AF65-F5344CB8AC3E}">
        <p14:creationId xmlns:p14="http://schemas.microsoft.com/office/powerpoint/2010/main" val="1587300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 animBg="1"/>
      <p:bldP spid="4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Shape 3456">
          <a:extLst>
            <a:ext uri="{FF2B5EF4-FFF2-40B4-BE49-F238E27FC236}">
              <a16:creationId xmlns:a16="http://schemas.microsoft.com/office/drawing/2014/main" id="{3E4DA8C8-4BC6-43AB-01EF-8288503D9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4CE53F75-DBB8-2845-1698-672F7C672855}"/>
              </a:ext>
            </a:extLst>
          </p:cNvPr>
          <p:cNvSpPr txBox="1"/>
          <p:nvPr/>
        </p:nvSpPr>
        <p:spPr>
          <a:xfrm>
            <a:off x="1141813" y="3481760"/>
            <a:ext cx="1229423" cy="3385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Graph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6642CE9-C225-681D-4EF7-B72B84B726FD}"/>
              </a:ext>
            </a:extLst>
          </p:cNvPr>
          <p:cNvSpPr txBox="1"/>
          <p:nvPr/>
        </p:nvSpPr>
        <p:spPr>
          <a:xfrm>
            <a:off x="3873134" y="3495042"/>
            <a:ext cx="1280955" cy="3385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Greedy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1901582-D2EE-9AB3-D392-41267C2FFDA9}"/>
              </a:ext>
            </a:extLst>
          </p:cNvPr>
          <p:cNvSpPr txBox="1"/>
          <p:nvPr/>
        </p:nvSpPr>
        <p:spPr>
          <a:xfrm>
            <a:off x="6928462" y="3486918"/>
            <a:ext cx="1258675" cy="3385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Optimal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0446A1-39AD-21BE-FDE8-C096125D96ED}"/>
              </a:ext>
            </a:extLst>
          </p:cNvPr>
          <p:cNvSpPr txBox="1"/>
          <p:nvPr/>
        </p:nvSpPr>
        <p:spPr>
          <a:xfrm>
            <a:off x="2415942" y="487549"/>
            <a:ext cx="4312117" cy="3385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Doesn’t always guarantee the best solution…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EC47C89-D232-55D8-57CF-75A3CF988E01}"/>
              </a:ext>
            </a:extLst>
          </p:cNvPr>
          <p:cNvGrpSpPr/>
          <p:nvPr/>
        </p:nvGrpSpPr>
        <p:grpSpPr>
          <a:xfrm>
            <a:off x="625956" y="1627332"/>
            <a:ext cx="7892087" cy="1278283"/>
            <a:chOff x="902340" y="3448385"/>
            <a:chExt cx="9549258" cy="1546696"/>
          </a:xfrm>
        </p:grpSpPr>
        <p:sp>
          <p:nvSpPr>
            <p:cNvPr id="49" name="Flowchart: Connector 48">
              <a:extLst>
                <a:ext uri="{FF2B5EF4-FFF2-40B4-BE49-F238E27FC236}">
                  <a16:creationId xmlns:a16="http://schemas.microsoft.com/office/drawing/2014/main" id="{4E2C6C63-7F0D-9362-6B25-6ACD1D0FE8C2}"/>
                </a:ext>
              </a:extLst>
            </p:cNvPr>
            <p:cNvSpPr/>
            <p:nvPr/>
          </p:nvSpPr>
          <p:spPr>
            <a:xfrm>
              <a:off x="2003261" y="3448385"/>
              <a:ext cx="396190" cy="42166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50" name="Flowchart: Connector 49">
              <a:extLst>
                <a:ext uri="{FF2B5EF4-FFF2-40B4-BE49-F238E27FC236}">
                  <a16:creationId xmlns:a16="http://schemas.microsoft.com/office/drawing/2014/main" id="{EDDEF284-EFF5-7D8B-5183-23C8092545DC}"/>
                </a:ext>
              </a:extLst>
            </p:cNvPr>
            <p:cNvSpPr/>
            <p:nvPr/>
          </p:nvSpPr>
          <p:spPr>
            <a:xfrm>
              <a:off x="1329967" y="3987421"/>
              <a:ext cx="396190" cy="42166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5</a:t>
              </a:r>
            </a:p>
          </p:txBody>
        </p:sp>
        <p:sp>
          <p:nvSpPr>
            <p:cNvPr id="51" name="Flowchart: Connector 50">
              <a:extLst>
                <a:ext uri="{FF2B5EF4-FFF2-40B4-BE49-F238E27FC236}">
                  <a16:creationId xmlns:a16="http://schemas.microsoft.com/office/drawing/2014/main" id="{25B7F2CB-E3C1-9938-A004-AEBA3029408D}"/>
                </a:ext>
              </a:extLst>
            </p:cNvPr>
            <p:cNvSpPr/>
            <p:nvPr/>
          </p:nvSpPr>
          <p:spPr>
            <a:xfrm>
              <a:off x="2712943" y="3987421"/>
              <a:ext cx="396190" cy="42166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8</a:t>
              </a:r>
            </a:p>
          </p:txBody>
        </p:sp>
        <p:sp>
          <p:nvSpPr>
            <p:cNvPr id="52" name="Flowchart: Connector 51">
              <a:extLst>
                <a:ext uri="{FF2B5EF4-FFF2-40B4-BE49-F238E27FC236}">
                  <a16:creationId xmlns:a16="http://schemas.microsoft.com/office/drawing/2014/main" id="{5CA6460B-A352-CD92-27F2-A282D81D9F90}"/>
                </a:ext>
              </a:extLst>
            </p:cNvPr>
            <p:cNvSpPr/>
            <p:nvPr/>
          </p:nvSpPr>
          <p:spPr>
            <a:xfrm>
              <a:off x="902340" y="4573415"/>
              <a:ext cx="396190" cy="42166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7</a:t>
              </a:r>
            </a:p>
          </p:txBody>
        </p:sp>
        <p:sp>
          <p:nvSpPr>
            <p:cNvPr id="53" name="Flowchart: Connector 52">
              <a:extLst>
                <a:ext uri="{FF2B5EF4-FFF2-40B4-BE49-F238E27FC236}">
                  <a16:creationId xmlns:a16="http://schemas.microsoft.com/office/drawing/2014/main" id="{38D79ED5-18A4-C39B-8A91-5D56325C3DB2}"/>
                </a:ext>
              </a:extLst>
            </p:cNvPr>
            <p:cNvSpPr/>
            <p:nvPr/>
          </p:nvSpPr>
          <p:spPr>
            <a:xfrm>
              <a:off x="1698458" y="4573415"/>
              <a:ext cx="396190" cy="42166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9</a:t>
              </a:r>
            </a:p>
          </p:txBody>
        </p:sp>
        <p:sp>
          <p:nvSpPr>
            <p:cNvPr id="54" name="Flowchart: Connector 53">
              <a:extLst>
                <a:ext uri="{FF2B5EF4-FFF2-40B4-BE49-F238E27FC236}">
                  <a16:creationId xmlns:a16="http://schemas.microsoft.com/office/drawing/2014/main" id="{05AC6550-3B20-763A-CF2D-A9BFD0AB2152}"/>
                </a:ext>
              </a:extLst>
            </p:cNvPr>
            <p:cNvSpPr/>
            <p:nvPr/>
          </p:nvSpPr>
          <p:spPr>
            <a:xfrm>
              <a:off x="2326257" y="4573415"/>
              <a:ext cx="396190" cy="42166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55" name="Flowchart: Connector 54">
              <a:extLst>
                <a:ext uri="{FF2B5EF4-FFF2-40B4-BE49-F238E27FC236}">
                  <a16:creationId xmlns:a16="http://schemas.microsoft.com/office/drawing/2014/main" id="{EB2ACC9D-94CB-5562-5C62-1314AFD01BF8}"/>
                </a:ext>
              </a:extLst>
            </p:cNvPr>
            <p:cNvSpPr/>
            <p:nvPr/>
          </p:nvSpPr>
          <p:spPr>
            <a:xfrm>
              <a:off x="3122375" y="4573415"/>
              <a:ext cx="396190" cy="42166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3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AEF5C3D-CCEB-D41B-B01D-01ED22A6C18A}"/>
                </a:ext>
              </a:extLst>
            </p:cNvPr>
            <p:cNvCxnSpPr>
              <a:stCxn id="49" idx="3"/>
              <a:endCxn id="50" idx="7"/>
            </p:cNvCxnSpPr>
            <p:nvPr/>
          </p:nvCxnSpPr>
          <p:spPr>
            <a:xfrm flipH="1">
              <a:off x="1668136" y="3808299"/>
              <a:ext cx="393146" cy="2408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0AAB2AB-099E-42C0-3709-27D8CC3239C7}"/>
                </a:ext>
              </a:extLst>
            </p:cNvPr>
            <p:cNvCxnSpPr>
              <a:stCxn id="50" idx="3"/>
              <a:endCxn id="52" idx="0"/>
            </p:cNvCxnSpPr>
            <p:nvPr/>
          </p:nvCxnSpPr>
          <p:spPr>
            <a:xfrm flipH="1">
              <a:off x="1100435" y="4347335"/>
              <a:ext cx="287553" cy="2260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91FE13CE-637D-38CF-0662-661729052ED3}"/>
                </a:ext>
              </a:extLst>
            </p:cNvPr>
            <p:cNvCxnSpPr>
              <a:stCxn id="49" idx="5"/>
              <a:endCxn id="51" idx="1"/>
            </p:cNvCxnSpPr>
            <p:nvPr/>
          </p:nvCxnSpPr>
          <p:spPr>
            <a:xfrm>
              <a:off x="2341430" y="3808299"/>
              <a:ext cx="429534" cy="2408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00821F3-E978-05D7-761F-7F4D635E2830}"/>
                </a:ext>
              </a:extLst>
            </p:cNvPr>
            <p:cNvCxnSpPr>
              <a:stCxn id="50" idx="5"/>
              <a:endCxn id="53" idx="0"/>
            </p:cNvCxnSpPr>
            <p:nvPr/>
          </p:nvCxnSpPr>
          <p:spPr>
            <a:xfrm>
              <a:off x="1668136" y="4347335"/>
              <a:ext cx="228417" cy="2260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D2E21F2-CDD2-E2F3-F9B2-4BD9186BA9BF}"/>
                </a:ext>
              </a:extLst>
            </p:cNvPr>
            <p:cNvCxnSpPr>
              <a:stCxn id="51" idx="3"/>
              <a:endCxn id="54" idx="0"/>
            </p:cNvCxnSpPr>
            <p:nvPr/>
          </p:nvCxnSpPr>
          <p:spPr>
            <a:xfrm flipH="1">
              <a:off x="2524352" y="4347335"/>
              <a:ext cx="246612" cy="2260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DE862A3-C187-43D3-BD17-F43A73E7C567}"/>
                </a:ext>
              </a:extLst>
            </p:cNvPr>
            <p:cNvCxnSpPr>
              <a:stCxn id="51" idx="5"/>
              <a:endCxn id="55" idx="0"/>
            </p:cNvCxnSpPr>
            <p:nvPr/>
          </p:nvCxnSpPr>
          <p:spPr>
            <a:xfrm>
              <a:off x="3051112" y="4347335"/>
              <a:ext cx="269358" cy="2260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Flowchart: Connector 61">
              <a:extLst>
                <a:ext uri="{FF2B5EF4-FFF2-40B4-BE49-F238E27FC236}">
                  <a16:creationId xmlns:a16="http://schemas.microsoft.com/office/drawing/2014/main" id="{3D2A2BC6-96F2-4CF0-9216-BA4E3C065256}"/>
                </a:ext>
              </a:extLst>
            </p:cNvPr>
            <p:cNvSpPr/>
            <p:nvPr/>
          </p:nvSpPr>
          <p:spPr>
            <a:xfrm>
              <a:off x="5375786" y="3448385"/>
              <a:ext cx="396190" cy="421666"/>
            </a:xfrm>
            <a:prstGeom prst="flowChartConnector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63" name="Flowchart: Connector 62">
              <a:extLst>
                <a:ext uri="{FF2B5EF4-FFF2-40B4-BE49-F238E27FC236}">
                  <a16:creationId xmlns:a16="http://schemas.microsoft.com/office/drawing/2014/main" id="{EBE37597-64D5-17C1-F30E-D4B6DA54BCFC}"/>
                </a:ext>
              </a:extLst>
            </p:cNvPr>
            <p:cNvSpPr/>
            <p:nvPr/>
          </p:nvSpPr>
          <p:spPr>
            <a:xfrm>
              <a:off x="4702492" y="3987421"/>
              <a:ext cx="396190" cy="42166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5</a:t>
              </a:r>
            </a:p>
          </p:txBody>
        </p:sp>
        <p:sp>
          <p:nvSpPr>
            <p:cNvPr id="64" name="Flowchart: Connector 63">
              <a:extLst>
                <a:ext uri="{FF2B5EF4-FFF2-40B4-BE49-F238E27FC236}">
                  <a16:creationId xmlns:a16="http://schemas.microsoft.com/office/drawing/2014/main" id="{AC851D04-9FEE-2DA5-5D6F-0C19C9F7E1A1}"/>
                </a:ext>
              </a:extLst>
            </p:cNvPr>
            <p:cNvSpPr/>
            <p:nvPr/>
          </p:nvSpPr>
          <p:spPr>
            <a:xfrm>
              <a:off x="6085468" y="3987421"/>
              <a:ext cx="396190" cy="421666"/>
            </a:xfrm>
            <a:prstGeom prst="flowChartConnector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8</a:t>
              </a:r>
            </a:p>
          </p:txBody>
        </p:sp>
        <p:sp>
          <p:nvSpPr>
            <p:cNvPr id="65" name="Flowchart: Connector 64">
              <a:extLst>
                <a:ext uri="{FF2B5EF4-FFF2-40B4-BE49-F238E27FC236}">
                  <a16:creationId xmlns:a16="http://schemas.microsoft.com/office/drawing/2014/main" id="{6A8C1289-41CA-1F50-50EC-FE5FFFFA0F3B}"/>
                </a:ext>
              </a:extLst>
            </p:cNvPr>
            <p:cNvSpPr/>
            <p:nvPr/>
          </p:nvSpPr>
          <p:spPr>
            <a:xfrm>
              <a:off x="4274865" y="4573415"/>
              <a:ext cx="396190" cy="42166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7</a:t>
              </a:r>
            </a:p>
          </p:txBody>
        </p:sp>
        <p:sp>
          <p:nvSpPr>
            <p:cNvPr id="66" name="Flowchart: Connector 65">
              <a:extLst>
                <a:ext uri="{FF2B5EF4-FFF2-40B4-BE49-F238E27FC236}">
                  <a16:creationId xmlns:a16="http://schemas.microsoft.com/office/drawing/2014/main" id="{B0706A08-67F4-4285-EC8F-BCBA8712694C}"/>
                </a:ext>
              </a:extLst>
            </p:cNvPr>
            <p:cNvSpPr/>
            <p:nvPr/>
          </p:nvSpPr>
          <p:spPr>
            <a:xfrm>
              <a:off x="5070983" y="4573415"/>
              <a:ext cx="396190" cy="42166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9</a:t>
              </a:r>
            </a:p>
          </p:txBody>
        </p:sp>
        <p:sp>
          <p:nvSpPr>
            <p:cNvPr id="67" name="Flowchart: Connector 66">
              <a:extLst>
                <a:ext uri="{FF2B5EF4-FFF2-40B4-BE49-F238E27FC236}">
                  <a16:creationId xmlns:a16="http://schemas.microsoft.com/office/drawing/2014/main" id="{FD31CDC7-61FD-8EEA-B9C4-4D60FB13A3C9}"/>
                </a:ext>
              </a:extLst>
            </p:cNvPr>
            <p:cNvSpPr/>
            <p:nvPr/>
          </p:nvSpPr>
          <p:spPr>
            <a:xfrm>
              <a:off x="5698782" y="4573415"/>
              <a:ext cx="396190" cy="42166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68" name="Flowchart: Connector 67">
              <a:extLst>
                <a:ext uri="{FF2B5EF4-FFF2-40B4-BE49-F238E27FC236}">
                  <a16:creationId xmlns:a16="http://schemas.microsoft.com/office/drawing/2014/main" id="{307DC593-CCBC-FBCE-017C-9FEDDAE07B5B}"/>
                </a:ext>
              </a:extLst>
            </p:cNvPr>
            <p:cNvSpPr/>
            <p:nvPr/>
          </p:nvSpPr>
          <p:spPr>
            <a:xfrm>
              <a:off x="6494900" y="4573415"/>
              <a:ext cx="396190" cy="421666"/>
            </a:xfrm>
            <a:prstGeom prst="flowChartConnector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3</a:t>
              </a:r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08E848D4-CA73-426E-AA96-E7A3D569237A}"/>
                </a:ext>
              </a:extLst>
            </p:cNvPr>
            <p:cNvCxnSpPr>
              <a:stCxn id="62" idx="3"/>
              <a:endCxn id="63" idx="7"/>
            </p:cNvCxnSpPr>
            <p:nvPr/>
          </p:nvCxnSpPr>
          <p:spPr>
            <a:xfrm flipH="1">
              <a:off x="5040661" y="3808299"/>
              <a:ext cx="393146" cy="2408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4D84A45-8388-27DB-6A1E-6CCD93F0CA7D}"/>
                </a:ext>
              </a:extLst>
            </p:cNvPr>
            <p:cNvCxnSpPr>
              <a:stCxn id="63" idx="3"/>
              <a:endCxn id="65" idx="0"/>
            </p:cNvCxnSpPr>
            <p:nvPr/>
          </p:nvCxnSpPr>
          <p:spPr>
            <a:xfrm flipH="1">
              <a:off x="4472960" y="4347335"/>
              <a:ext cx="287553" cy="2260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929B0DE8-48CF-1A2E-1E1B-D3D66FD2804A}"/>
                </a:ext>
              </a:extLst>
            </p:cNvPr>
            <p:cNvCxnSpPr>
              <a:stCxn id="62" idx="5"/>
              <a:endCxn id="64" idx="1"/>
            </p:cNvCxnSpPr>
            <p:nvPr/>
          </p:nvCxnSpPr>
          <p:spPr>
            <a:xfrm>
              <a:off x="5713955" y="3808299"/>
              <a:ext cx="429534" cy="24087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27E9E77-30FC-166E-3905-325954ECA6A7}"/>
                </a:ext>
              </a:extLst>
            </p:cNvPr>
            <p:cNvCxnSpPr>
              <a:stCxn id="63" idx="5"/>
              <a:endCxn id="66" idx="0"/>
            </p:cNvCxnSpPr>
            <p:nvPr/>
          </p:nvCxnSpPr>
          <p:spPr>
            <a:xfrm>
              <a:off x="5040661" y="4347335"/>
              <a:ext cx="228417" cy="2260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5BC29BC-6816-7CB0-9249-6D1460CA4661}"/>
                </a:ext>
              </a:extLst>
            </p:cNvPr>
            <p:cNvCxnSpPr>
              <a:stCxn id="64" idx="3"/>
              <a:endCxn id="67" idx="0"/>
            </p:cNvCxnSpPr>
            <p:nvPr/>
          </p:nvCxnSpPr>
          <p:spPr>
            <a:xfrm flipH="1">
              <a:off x="5896877" y="4347335"/>
              <a:ext cx="246612" cy="2260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5D24F81-AF47-E977-48E4-0891E5C2A989}"/>
                </a:ext>
              </a:extLst>
            </p:cNvPr>
            <p:cNvCxnSpPr>
              <a:stCxn id="64" idx="5"/>
              <a:endCxn id="68" idx="0"/>
            </p:cNvCxnSpPr>
            <p:nvPr/>
          </p:nvCxnSpPr>
          <p:spPr>
            <a:xfrm>
              <a:off x="6423637" y="4347335"/>
              <a:ext cx="269358" cy="22608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Flowchart: Connector 74">
              <a:extLst>
                <a:ext uri="{FF2B5EF4-FFF2-40B4-BE49-F238E27FC236}">
                  <a16:creationId xmlns:a16="http://schemas.microsoft.com/office/drawing/2014/main" id="{6DFACE71-DFE7-3888-528E-424C712D9CA7}"/>
                </a:ext>
              </a:extLst>
            </p:cNvPr>
            <p:cNvSpPr/>
            <p:nvPr/>
          </p:nvSpPr>
          <p:spPr>
            <a:xfrm>
              <a:off x="8936294" y="3448385"/>
              <a:ext cx="396190" cy="421666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0</a:t>
              </a:r>
            </a:p>
          </p:txBody>
        </p:sp>
        <p:sp>
          <p:nvSpPr>
            <p:cNvPr id="76" name="Flowchart: Connector 75">
              <a:extLst>
                <a:ext uri="{FF2B5EF4-FFF2-40B4-BE49-F238E27FC236}">
                  <a16:creationId xmlns:a16="http://schemas.microsoft.com/office/drawing/2014/main" id="{0AE5ADF4-83E3-069E-2B7E-9B3A4F0C8AB2}"/>
                </a:ext>
              </a:extLst>
            </p:cNvPr>
            <p:cNvSpPr/>
            <p:nvPr/>
          </p:nvSpPr>
          <p:spPr>
            <a:xfrm>
              <a:off x="8263000" y="3987421"/>
              <a:ext cx="396190" cy="421666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5</a:t>
              </a:r>
            </a:p>
          </p:txBody>
        </p:sp>
        <p:sp>
          <p:nvSpPr>
            <p:cNvPr id="77" name="Flowchart: Connector 76">
              <a:extLst>
                <a:ext uri="{FF2B5EF4-FFF2-40B4-BE49-F238E27FC236}">
                  <a16:creationId xmlns:a16="http://schemas.microsoft.com/office/drawing/2014/main" id="{494546A8-8B23-F8AB-4962-271EFC5BFD52}"/>
                </a:ext>
              </a:extLst>
            </p:cNvPr>
            <p:cNvSpPr/>
            <p:nvPr/>
          </p:nvSpPr>
          <p:spPr>
            <a:xfrm>
              <a:off x="9645976" y="3987421"/>
              <a:ext cx="396190" cy="42166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8</a:t>
              </a:r>
            </a:p>
          </p:txBody>
        </p:sp>
        <p:sp>
          <p:nvSpPr>
            <p:cNvPr id="78" name="Flowchart: Connector 77">
              <a:extLst>
                <a:ext uri="{FF2B5EF4-FFF2-40B4-BE49-F238E27FC236}">
                  <a16:creationId xmlns:a16="http://schemas.microsoft.com/office/drawing/2014/main" id="{6C4C600D-3C06-0837-48D6-FA2354EE55D7}"/>
                </a:ext>
              </a:extLst>
            </p:cNvPr>
            <p:cNvSpPr/>
            <p:nvPr/>
          </p:nvSpPr>
          <p:spPr>
            <a:xfrm>
              <a:off x="7835373" y="4573415"/>
              <a:ext cx="396190" cy="42166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7</a:t>
              </a:r>
            </a:p>
          </p:txBody>
        </p:sp>
        <p:sp>
          <p:nvSpPr>
            <p:cNvPr id="79" name="Flowchart: Connector 78">
              <a:extLst>
                <a:ext uri="{FF2B5EF4-FFF2-40B4-BE49-F238E27FC236}">
                  <a16:creationId xmlns:a16="http://schemas.microsoft.com/office/drawing/2014/main" id="{A26861C9-A4C6-40F3-4EF8-DB33CA9EB6BE}"/>
                </a:ext>
              </a:extLst>
            </p:cNvPr>
            <p:cNvSpPr/>
            <p:nvPr/>
          </p:nvSpPr>
          <p:spPr>
            <a:xfrm>
              <a:off x="8631491" y="4573415"/>
              <a:ext cx="396190" cy="421666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9</a:t>
              </a:r>
            </a:p>
          </p:txBody>
        </p:sp>
        <p:sp>
          <p:nvSpPr>
            <p:cNvPr id="80" name="Flowchart: Connector 79">
              <a:extLst>
                <a:ext uri="{FF2B5EF4-FFF2-40B4-BE49-F238E27FC236}">
                  <a16:creationId xmlns:a16="http://schemas.microsoft.com/office/drawing/2014/main" id="{896988B9-5BE7-D3A8-5682-9FC016548689}"/>
                </a:ext>
              </a:extLst>
            </p:cNvPr>
            <p:cNvSpPr/>
            <p:nvPr/>
          </p:nvSpPr>
          <p:spPr>
            <a:xfrm>
              <a:off x="9259290" y="4573415"/>
              <a:ext cx="396190" cy="42166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1</a:t>
              </a:r>
            </a:p>
          </p:txBody>
        </p:sp>
        <p:sp>
          <p:nvSpPr>
            <p:cNvPr id="81" name="Flowchart: Connector 80">
              <a:extLst>
                <a:ext uri="{FF2B5EF4-FFF2-40B4-BE49-F238E27FC236}">
                  <a16:creationId xmlns:a16="http://schemas.microsoft.com/office/drawing/2014/main" id="{75CCEF6A-5131-3BAD-BA74-E6A35F019F39}"/>
                </a:ext>
              </a:extLst>
            </p:cNvPr>
            <p:cNvSpPr/>
            <p:nvPr/>
          </p:nvSpPr>
          <p:spPr>
            <a:xfrm>
              <a:off x="10055408" y="4573415"/>
              <a:ext cx="396190" cy="421666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3</a:t>
              </a: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42F5C37A-B142-CB19-2E0D-75DD36CA1FC5}"/>
                </a:ext>
              </a:extLst>
            </p:cNvPr>
            <p:cNvCxnSpPr>
              <a:stCxn id="75" idx="3"/>
              <a:endCxn id="76" idx="7"/>
            </p:cNvCxnSpPr>
            <p:nvPr/>
          </p:nvCxnSpPr>
          <p:spPr>
            <a:xfrm flipH="1">
              <a:off x="8601169" y="3808299"/>
              <a:ext cx="393146" cy="2408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C4E08BA-33A3-1735-B174-2CFAF3470FC9}"/>
                </a:ext>
              </a:extLst>
            </p:cNvPr>
            <p:cNvCxnSpPr>
              <a:stCxn id="76" idx="3"/>
              <a:endCxn id="78" idx="0"/>
            </p:cNvCxnSpPr>
            <p:nvPr/>
          </p:nvCxnSpPr>
          <p:spPr>
            <a:xfrm flipH="1">
              <a:off x="8033468" y="4347335"/>
              <a:ext cx="287553" cy="2260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CA739A2A-BCA4-A0F4-829A-61ED057AB6EB}"/>
                </a:ext>
              </a:extLst>
            </p:cNvPr>
            <p:cNvCxnSpPr>
              <a:stCxn id="75" idx="5"/>
              <a:endCxn id="77" idx="1"/>
            </p:cNvCxnSpPr>
            <p:nvPr/>
          </p:nvCxnSpPr>
          <p:spPr>
            <a:xfrm>
              <a:off x="9274463" y="3808299"/>
              <a:ext cx="429534" cy="2408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1F55E297-5B56-365D-3352-B85EA87D1C71}"/>
                </a:ext>
              </a:extLst>
            </p:cNvPr>
            <p:cNvCxnSpPr>
              <a:stCxn id="76" idx="5"/>
              <a:endCxn id="79" idx="0"/>
            </p:cNvCxnSpPr>
            <p:nvPr/>
          </p:nvCxnSpPr>
          <p:spPr>
            <a:xfrm>
              <a:off x="8601169" y="4347335"/>
              <a:ext cx="228417" cy="2260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BB01240-68F3-5BA1-0F8F-E39500DEE075}"/>
                </a:ext>
              </a:extLst>
            </p:cNvPr>
            <p:cNvCxnSpPr>
              <a:stCxn id="77" idx="3"/>
              <a:endCxn id="80" idx="0"/>
            </p:cNvCxnSpPr>
            <p:nvPr/>
          </p:nvCxnSpPr>
          <p:spPr>
            <a:xfrm flipH="1">
              <a:off x="9457385" y="4347335"/>
              <a:ext cx="246612" cy="2260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EB4EC7F7-1E60-B548-E5FE-7E4BFC9746CB}"/>
                </a:ext>
              </a:extLst>
            </p:cNvPr>
            <p:cNvCxnSpPr>
              <a:stCxn id="77" idx="5"/>
              <a:endCxn id="81" idx="0"/>
            </p:cNvCxnSpPr>
            <p:nvPr/>
          </p:nvCxnSpPr>
          <p:spPr>
            <a:xfrm>
              <a:off x="9984145" y="4347335"/>
              <a:ext cx="269358" cy="2260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58812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 animBg="1"/>
      <p:bldP spid="4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456">
          <a:extLst>
            <a:ext uri="{FF2B5EF4-FFF2-40B4-BE49-F238E27FC236}">
              <a16:creationId xmlns:a16="http://schemas.microsoft.com/office/drawing/2014/main" id="{3FFD451C-C804-B93D-6457-C19E7591F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3605;p63">
            <a:extLst>
              <a:ext uri="{FF2B5EF4-FFF2-40B4-BE49-F238E27FC236}">
                <a16:creationId xmlns:a16="http://schemas.microsoft.com/office/drawing/2014/main" id="{6DED562E-3846-09FE-1BE7-C3077037FED7}"/>
              </a:ext>
            </a:extLst>
          </p:cNvPr>
          <p:cNvSpPr txBox="1">
            <a:spLocks/>
          </p:cNvSpPr>
          <p:nvPr/>
        </p:nvSpPr>
        <p:spPr>
          <a:xfrm>
            <a:off x="809413" y="2032200"/>
            <a:ext cx="7525174" cy="77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ctr"/>
            <a:r>
              <a:rPr lang="en-US" sz="3600" dirty="0">
                <a:solidFill>
                  <a:srgbClr val="002060"/>
                </a:solidFill>
              </a:rPr>
              <a:t>Application of Greedy Design Techniques</a:t>
            </a:r>
          </a:p>
        </p:txBody>
      </p:sp>
    </p:spTree>
    <p:extLst>
      <p:ext uri="{BB962C8B-B14F-4D97-AF65-F5344CB8AC3E}">
        <p14:creationId xmlns:p14="http://schemas.microsoft.com/office/powerpoint/2010/main" val="3857092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CF28EE-A360-46B6-9D76-D2CA1E8777C8}"/>
              </a:ext>
            </a:extLst>
          </p:cNvPr>
          <p:cNvCxnSpPr>
            <a:cxnSpLocks/>
          </p:cNvCxnSpPr>
          <p:nvPr/>
        </p:nvCxnSpPr>
        <p:spPr>
          <a:xfrm>
            <a:off x="4581940" y="0"/>
            <a:ext cx="0" cy="514350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457136F-E886-4646-B8A2-BD6F5A7BCC5E}"/>
              </a:ext>
            </a:extLst>
          </p:cNvPr>
          <p:cNvSpPr txBox="1"/>
          <p:nvPr/>
        </p:nvSpPr>
        <p:spPr>
          <a:xfrm>
            <a:off x="3377411" y="1178617"/>
            <a:ext cx="12219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buClrTx/>
            </a:pPr>
            <a:r>
              <a:rPr lang="en-US" sz="5400" b="1" kern="1200" dirty="0">
                <a:solidFill>
                  <a:srgbClr val="002060"/>
                </a:solidFill>
                <a:latin typeface="Agency FB" panose="020B0503020202020204" pitchFamily="34" charset="0"/>
                <a:ea typeface="+mn-ea"/>
                <a:cs typeface="+mn-cs"/>
              </a:rPr>
              <a:t>02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97D3E2F-487F-4E91-A855-5F21A52081E1}"/>
              </a:ext>
            </a:extLst>
          </p:cNvPr>
          <p:cNvGrpSpPr/>
          <p:nvPr/>
        </p:nvGrpSpPr>
        <p:grpSpPr>
          <a:xfrm>
            <a:off x="1229852" y="100856"/>
            <a:ext cx="7177051" cy="4939026"/>
            <a:chOff x="1639803" y="134475"/>
            <a:chExt cx="9569402" cy="6585369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01181C0-CF60-423E-837F-F4EB8CEDDE04}"/>
                </a:ext>
              </a:extLst>
            </p:cNvPr>
            <p:cNvSpPr txBox="1"/>
            <p:nvPr/>
          </p:nvSpPr>
          <p:spPr>
            <a:xfrm>
              <a:off x="5902882" y="134475"/>
              <a:ext cx="1629286" cy="1231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>
                <a:buClrTx/>
              </a:pPr>
              <a:r>
                <a:rPr lang="en-US" sz="5400" b="1" kern="1200" dirty="0">
                  <a:solidFill>
                    <a:srgbClr val="002060"/>
                  </a:solidFill>
                  <a:latin typeface="Agency FB" panose="020B0503020202020204" pitchFamily="34" charset="0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F2FEE86-EE06-4EA8-867E-A9C80AEBA748}"/>
                </a:ext>
              </a:extLst>
            </p:cNvPr>
            <p:cNvSpPr txBox="1"/>
            <p:nvPr/>
          </p:nvSpPr>
          <p:spPr>
            <a:xfrm>
              <a:off x="2540717" y="521724"/>
              <a:ext cx="3362165" cy="451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685800">
                <a:buClrTx/>
              </a:pPr>
              <a:r>
                <a:rPr lang="en-US" sz="1600" kern="1200" dirty="0">
                  <a:solidFill>
                    <a:srgbClr val="002060"/>
                  </a:solidFill>
                  <a:latin typeface="Barlow Semi Condensed Medium" panose="00000606000000000000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Fractional Knapsack Problem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68D291F-1FD8-942C-20B5-56EB2F39D00C}"/>
                </a:ext>
              </a:extLst>
            </p:cNvPr>
            <p:cNvSpPr txBox="1"/>
            <p:nvPr/>
          </p:nvSpPr>
          <p:spPr>
            <a:xfrm>
              <a:off x="6285967" y="1961340"/>
              <a:ext cx="3151545" cy="451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buClrTx/>
              </a:pPr>
              <a:r>
                <a:rPr lang="en-US" sz="1600" kern="1200" dirty="0">
                  <a:solidFill>
                    <a:srgbClr val="002060"/>
                  </a:solidFill>
                  <a:latin typeface="Barlow Semi Condensed Medium" panose="00000606000000000000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Activity Selection Problem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5AA1945-8534-F691-0BB8-47CB8382AD3C}"/>
                </a:ext>
              </a:extLst>
            </p:cNvPr>
            <p:cNvSpPr txBox="1"/>
            <p:nvPr/>
          </p:nvSpPr>
          <p:spPr>
            <a:xfrm>
              <a:off x="2540717" y="3279162"/>
              <a:ext cx="3285843" cy="451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685800">
                <a:buClrTx/>
              </a:pPr>
              <a:r>
                <a:rPr lang="en-US" sz="1600" kern="1200" dirty="0">
                  <a:solidFill>
                    <a:srgbClr val="002060"/>
                  </a:solidFill>
                  <a:latin typeface="Barlow Semi Condensed Medium" panose="00000606000000000000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Job Sequencing Problem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B20E2D8-42AB-D91A-09C2-953716BE6BDE}"/>
                </a:ext>
              </a:extLst>
            </p:cNvPr>
            <p:cNvSpPr txBox="1"/>
            <p:nvPr/>
          </p:nvSpPr>
          <p:spPr>
            <a:xfrm>
              <a:off x="6245725" y="4578360"/>
              <a:ext cx="4963480" cy="451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buClrTx/>
              </a:pPr>
              <a:r>
                <a:rPr lang="en-US" sz="1600" kern="1200" dirty="0">
                  <a:solidFill>
                    <a:srgbClr val="002060"/>
                  </a:solidFill>
                  <a:latin typeface="Barlow Semi Condensed Medium" panose="00000606000000000000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Data Compression (Huffman Coding)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F25D619-BDF4-924D-06D7-53328A68AEC2}"/>
                </a:ext>
              </a:extLst>
            </p:cNvPr>
            <p:cNvSpPr txBox="1"/>
            <p:nvPr/>
          </p:nvSpPr>
          <p:spPr>
            <a:xfrm>
              <a:off x="1639803" y="5611848"/>
              <a:ext cx="4185723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buClrTx/>
              </a:pPr>
              <a:r>
                <a:rPr lang="en-US" sz="1600" kern="1200" dirty="0">
                  <a:solidFill>
                    <a:srgbClr val="002060"/>
                  </a:solidFill>
                  <a:latin typeface="Barlow Semi Condensed Medium" panose="00000606000000000000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Minimum Spanning Tree (Kruskal’s Algorithm, Prim’s Algorithm), Shortest Path (Dijkstra’s Algorithm)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BE78EC2-2387-4D3A-9CAD-2A27506E5AE4}"/>
              </a:ext>
            </a:extLst>
          </p:cNvPr>
          <p:cNvGrpSpPr/>
          <p:nvPr/>
        </p:nvGrpSpPr>
        <p:grpSpPr>
          <a:xfrm>
            <a:off x="4455290" y="2211598"/>
            <a:ext cx="1289964" cy="984025"/>
            <a:chOff x="5940386" y="526291"/>
            <a:chExt cx="1719953" cy="1312034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D8BA2771-C9E3-44F3-BD77-D657DE156F8C}"/>
                </a:ext>
              </a:extLst>
            </p:cNvPr>
            <p:cNvGrpSpPr/>
            <p:nvPr/>
          </p:nvGrpSpPr>
          <p:grpSpPr>
            <a:xfrm>
              <a:off x="5940386" y="1501775"/>
              <a:ext cx="331441" cy="336550"/>
              <a:chOff x="5940978" y="3127375"/>
              <a:chExt cx="336550" cy="33655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4D9C89A5-98C5-42D9-9023-A70CB8909CF4}"/>
                  </a:ext>
                </a:extLst>
              </p:cNvPr>
              <p:cNvSpPr/>
              <p:nvPr/>
            </p:nvSpPr>
            <p:spPr>
              <a:xfrm>
                <a:off x="5967483" y="3153880"/>
                <a:ext cx="283540" cy="283540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B39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</a:pPr>
                <a:endParaRPr lang="en-US" sz="1350" kern="1200" dirty="0">
                  <a:solidFill>
                    <a:srgbClr val="002060"/>
                  </a:solidFill>
                  <a:latin typeface="Barlow Semi Condensed Medium" panose="00000606000000000000" pitchFamily="2" charset="0"/>
                </a:endParaRPr>
              </a:p>
            </p:txBody>
          </p:sp>
          <p:sp>
            <p:nvSpPr>
              <p:cNvPr id="53" name="Circle: Hollow 52">
                <a:extLst>
                  <a:ext uri="{FF2B5EF4-FFF2-40B4-BE49-F238E27FC236}">
                    <a16:creationId xmlns:a16="http://schemas.microsoft.com/office/drawing/2014/main" id="{8A117738-5A9B-49A2-91BF-766758E4D870}"/>
                  </a:ext>
                </a:extLst>
              </p:cNvPr>
              <p:cNvSpPr/>
              <p:nvPr/>
            </p:nvSpPr>
            <p:spPr>
              <a:xfrm>
                <a:off x="5940978" y="3127375"/>
                <a:ext cx="336550" cy="336550"/>
              </a:xfrm>
              <a:prstGeom prst="donut">
                <a:avLst>
                  <a:gd name="adj" fmla="val 7064"/>
                </a:avLst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</a:pPr>
                <a:endParaRPr lang="en-US" sz="1350" kern="1200">
                  <a:solidFill>
                    <a:srgbClr val="002060"/>
                  </a:solidFill>
                  <a:latin typeface="Barlow Semi Condensed Medium" panose="00000606000000000000" pitchFamily="2" charset="0"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8028B8DE-057A-4F37-B4A0-CFB5171B2CFC}"/>
                  </a:ext>
                </a:extLst>
              </p:cNvPr>
              <p:cNvSpPr/>
              <p:nvPr/>
            </p:nvSpPr>
            <p:spPr>
              <a:xfrm>
                <a:off x="6033053" y="3219450"/>
                <a:ext cx="152400" cy="152400"/>
              </a:xfrm>
              <a:prstGeom prst="ellipse">
                <a:avLst/>
              </a:prstGeom>
              <a:solidFill>
                <a:srgbClr val="FFFFFF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</a:pPr>
                <a:endParaRPr lang="en-US" sz="1350" kern="1200">
                  <a:solidFill>
                    <a:srgbClr val="002060"/>
                  </a:solidFill>
                  <a:latin typeface="Barlow Semi Condensed Medium" panose="00000606000000000000" pitchFamily="2" charset="0"/>
                </a:endParaRP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600B5E1-8239-47C1-9DC8-A00A94693569}"/>
                </a:ext>
              </a:extLst>
            </p:cNvPr>
            <p:cNvSpPr txBox="1"/>
            <p:nvPr/>
          </p:nvSpPr>
          <p:spPr>
            <a:xfrm>
              <a:off x="6031053" y="526291"/>
              <a:ext cx="1629286" cy="1231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>
                <a:buClrTx/>
              </a:pPr>
              <a:r>
                <a:rPr lang="en-US" sz="5400" b="1" kern="1200" dirty="0">
                  <a:solidFill>
                    <a:srgbClr val="002060"/>
                  </a:solidFill>
                  <a:latin typeface="Agency FB" panose="020B0503020202020204" pitchFamily="34" charset="0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2CE6A8C-33DB-B8BA-2914-497A14D2A060}"/>
              </a:ext>
            </a:extLst>
          </p:cNvPr>
          <p:cNvGrpSpPr/>
          <p:nvPr/>
        </p:nvGrpSpPr>
        <p:grpSpPr>
          <a:xfrm>
            <a:off x="4455289" y="4120477"/>
            <a:ext cx="1241535" cy="1026811"/>
            <a:chOff x="5940385" y="469243"/>
            <a:chExt cx="1655381" cy="136908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712D808-707F-19DC-522F-8BA4D1204F57}"/>
                </a:ext>
              </a:extLst>
            </p:cNvPr>
            <p:cNvGrpSpPr/>
            <p:nvPr/>
          </p:nvGrpSpPr>
          <p:grpSpPr>
            <a:xfrm>
              <a:off x="5940385" y="1501775"/>
              <a:ext cx="331441" cy="336550"/>
              <a:chOff x="5940978" y="3127375"/>
              <a:chExt cx="336550" cy="336550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89B502E3-C90F-5ED6-FEB3-25244A85C5B8}"/>
                  </a:ext>
                </a:extLst>
              </p:cNvPr>
              <p:cNvSpPr/>
              <p:nvPr/>
            </p:nvSpPr>
            <p:spPr>
              <a:xfrm>
                <a:off x="5967483" y="3153880"/>
                <a:ext cx="283540" cy="283540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rgbClr val="00B39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</a:pPr>
                <a:endParaRPr lang="en-US" sz="1350" kern="1200" dirty="0">
                  <a:solidFill>
                    <a:srgbClr val="002060"/>
                  </a:solidFill>
                  <a:latin typeface="Barlow Semi Condensed Medium" panose="00000606000000000000" pitchFamily="2" charset="0"/>
                </a:endParaRPr>
              </a:p>
            </p:txBody>
          </p:sp>
          <p:sp>
            <p:nvSpPr>
              <p:cNvPr id="30" name="Circle: Hollow 29">
                <a:extLst>
                  <a:ext uri="{FF2B5EF4-FFF2-40B4-BE49-F238E27FC236}">
                    <a16:creationId xmlns:a16="http://schemas.microsoft.com/office/drawing/2014/main" id="{B946A0C7-7D85-16C6-7F2B-A357206426D5}"/>
                  </a:ext>
                </a:extLst>
              </p:cNvPr>
              <p:cNvSpPr/>
              <p:nvPr/>
            </p:nvSpPr>
            <p:spPr>
              <a:xfrm>
                <a:off x="5940978" y="3127375"/>
                <a:ext cx="336550" cy="336550"/>
              </a:xfrm>
              <a:prstGeom prst="donut">
                <a:avLst>
                  <a:gd name="adj" fmla="val 7064"/>
                </a:avLst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</a:pPr>
                <a:endParaRPr lang="en-US" sz="1350" kern="1200">
                  <a:solidFill>
                    <a:srgbClr val="002060"/>
                  </a:solidFill>
                  <a:latin typeface="Barlow Semi Condensed Medium" panose="00000606000000000000" pitchFamily="2" charset="0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EF49B23F-6E22-6105-03FD-E322C57A589A}"/>
                  </a:ext>
                </a:extLst>
              </p:cNvPr>
              <p:cNvSpPr/>
              <p:nvPr/>
            </p:nvSpPr>
            <p:spPr>
              <a:xfrm>
                <a:off x="6033053" y="3219450"/>
                <a:ext cx="152400" cy="152400"/>
              </a:xfrm>
              <a:prstGeom prst="ellipse">
                <a:avLst/>
              </a:prstGeom>
              <a:solidFill>
                <a:srgbClr val="FFFFFF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</a:pPr>
                <a:endParaRPr lang="en-US" sz="1350" kern="1200">
                  <a:solidFill>
                    <a:srgbClr val="002060"/>
                  </a:solidFill>
                  <a:latin typeface="Barlow Semi Condensed Medium" panose="00000606000000000000" pitchFamily="2" charset="0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0D83740-A36A-C703-1F59-31941FFE84FE}"/>
                </a:ext>
              </a:extLst>
            </p:cNvPr>
            <p:cNvSpPr txBox="1"/>
            <p:nvPr/>
          </p:nvSpPr>
          <p:spPr>
            <a:xfrm>
              <a:off x="5966480" y="469243"/>
              <a:ext cx="1629286" cy="1231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>
                <a:buClrTx/>
              </a:pPr>
              <a:r>
                <a:rPr lang="en-US" sz="5400" b="1" kern="1200" dirty="0">
                  <a:solidFill>
                    <a:srgbClr val="002060"/>
                  </a:solidFill>
                  <a:latin typeface="Agency FB" panose="020B0503020202020204" pitchFamily="34" charset="0"/>
                  <a:ea typeface="+mn-ea"/>
                  <a:cs typeface="+mn-cs"/>
                </a:rPr>
                <a:t>05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4D6C17BB-57D5-F7B6-6FB8-757CE8477650}"/>
              </a:ext>
            </a:extLst>
          </p:cNvPr>
          <p:cNvSpPr txBox="1"/>
          <p:nvPr/>
        </p:nvSpPr>
        <p:spPr>
          <a:xfrm>
            <a:off x="3377411" y="3159517"/>
            <a:ext cx="12219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buClrTx/>
            </a:pPr>
            <a:r>
              <a:rPr lang="en-US" sz="5400" b="1" kern="1200" dirty="0">
                <a:solidFill>
                  <a:srgbClr val="002060"/>
                </a:solidFill>
                <a:latin typeface="Agency FB" panose="020B0503020202020204" pitchFamily="34" charset="0"/>
                <a:ea typeface="+mn-ea"/>
                <a:cs typeface="+mn-cs"/>
              </a:rPr>
              <a:t>04</a:t>
            </a: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5DEAAD7-E5CD-BE1D-2AF7-E8BE62B93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484" y="1880944"/>
            <a:ext cx="304826" cy="381033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C3FF93FA-D988-6D75-7F8A-C7A583DDB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161" y="820970"/>
            <a:ext cx="304826" cy="381033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DD3180E7-C3D6-ED6D-0F8A-1002D6744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9649" y="3888375"/>
            <a:ext cx="304826" cy="38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579400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3605;p63">
            <a:extLst>
              <a:ext uri="{FF2B5EF4-FFF2-40B4-BE49-F238E27FC236}">
                <a16:creationId xmlns:a16="http://schemas.microsoft.com/office/drawing/2014/main" id="{EC6BE6DE-28FD-A57F-3701-F48361F6CB37}"/>
              </a:ext>
            </a:extLst>
          </p:cNvPr>
          <p:cNvSpPr txBox="1">
            <a:spLocks/>
          </p:cNvSpPr>
          <p:nvPr/>
        </p:nvSpPr>
        <p:spPr>
          <a:xfrm>
            <a:off x="2103150" y="2032200"/>
            <a:ext cx="49377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ctr"/>
            <a:r>
              <a:rPr lang="en-US" sz="7200" dirty="0">
                <a:solidFill>
                  <a:srgbClr val="00206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98190315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2DF34261CC124397F3D91909AA7EE8" ma:contentTypeVersion="3" ma:contentTypeDescription="Create a new document." ma:contentTypeScope="" ma:versionID="aae8c34e91a1797a299ef4ff2d86b071">
  <xsd:schema xmlns:xsd="http://www.w3.org/2001/XMLSchema" xmlns:xs="http://www.w3.org/2001/XMLSchema" xmlns:p="http://schemas.microsoft.com/office/2006/metadata/properties" xmlns:ns2="5e71315f-5b78-462f-9850-4380c4e47649" targetNamespace="http://schemas.microsoft.com/office/2006/metadata/properties" ma:root="true" ma:fieldsID="4b4576f0867e75ef051d607cd6875836" ns2:_="">
    <xsd:import namespace="5e71315f-5b78-462f-9850-4380c4e476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71315f-5b78-462f-9850-4380c4e476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F91E893-7653-40C8-8656-3EB72D719A10}"/>
</file>

<file path=customXml/itemProps2.xml><?xml version="1.0" encoding="utf-8"?>
<ds:datastoreItem xmlns:ds="http://schemas.openxmlformats.org/officeDocument/2006/customXml" ds:itemID="{B936424C-5DF6-4BAE-8BD5-1C590E99B45E}"/>
</file>

<file path=customXml/itemProps3.xml><?xml version="1.0" encoding="utf-8"?>
<ds:datastoreItem xmlns:ds="http://schemas.openxmlformats.org/officeDocument/2006/customXml" ds:itemID="{68A30A45-AA22-423F-8FAD-D0579ABE4CC7}"/>
</file>

<file path=docProps/app.xml><?xml version="1.0" encoding="utf-8"?>
<Properties xmlns="http://schemas.openxmlformats.org/officeDocument/2006/extended-properties" xmlns:vt="http://schemas.openxmlformats.org/officeDocument/2006/docPropsVTypes">
  <TotalTime>24066</TotalTime>
  <Words>285</Words>
  <Application>Microsoft Office PowerPoint</Application>
  <PresentationFormat>On-screen Show (16:9)</PresentationFormat>
  <Paragraphs>90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Calibri Light</vt:lpstr>
      <vt:lpstr>Barlow Semi Condensed Medium</vt:lpstr>
      <vt:lpstr>Arial</vt:lpstr>
      <vt:lpstr>Fjalla One</vt:lpstr>
      <vt:lpstr>Calibri</vt:lpstr>
      <vt:lpstr>Barlow Semi Condensed</vt:lpstr>
      <vt:lpstr>Agency FB</vt:lpstr>
      <vt:lpstr>Wingdings</vt:lpstr>
      <vt:lpstr>Technology Consulting by Slidesgo</vt:lpstr>
      <vt:lpstr>Office Theme</vt:lpstr>
      <vt:lpstr>Greedy Algorithms: Introduction</vt:lpstr>
      <vt:lpstr>PowerPoint Presentation</vt:lpstr>
      <vt:lpstr>PowerPoint Presentation</vt:lpstr>
      <vt:lpstr>PowerPoint Presentation</vt:lpstr>
      <vt:lpstr>Greedy Algorithms</vt:lpstr>
      <vt:lpstr>Greedy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Captioning(Bangla)  using deep learning methods</dc:title>
  <dc:creator>Lenovo</dc:creator>
  <cp:lastModifiedBy>Sumaiya Tasnim</cp:lastModifiedBy>
  <cp:revision>399</cp:revision>
  <dcterms:modified xsi:type="dcterms:W3CDTF">2025-05-21T05:03:25Z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0x010100E82DF34261CC124397F3D91909AA7EE8</vt:lpwstr>
  </property>
</Properties>
</file>