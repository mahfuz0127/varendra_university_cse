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Poppins Bold" panose="020B0604020202020204" charset="0"/>
      <p:regular r:id="rId13"/>
    </p:embeddedFont>
    <p:embeddedFont>
      <p:font typeface="Poppins Medium" panose="00000600000000000000" pitchFamily="2" charset="0"/>
      <p:regular r:id="rId14"/>
    </p:embeddedFont>
    <p:embeddedFont>
      <p:font typeface="Raleway" pitchFamily="2" charset="0"/>
      <p:regular r:id="rId15"/>
    </p:embeddedFont>
    <p:embeddedFont>
      <p:font typeface="Raleway Bold"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8" d="100"/>
          <a:sy n="68" d="100"/>
        </p:scale>
        <p:origin x="894"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5">
                <a:lumMod val="40000"/>
                <a:lumOff val="60000"/>
              </a:schemeClr>
            </a:gs>
            <a:gs pos="66000">
              <a:schemeClr val="accent1">
                <a:lumMod val="20000"/>
                <a:lumOff val="8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0.svg"/><Relationship Id="rId7"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0.svg"/><Relationship Id="rId7"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0.svg"/><Relationship Id="rId7" Type="http://schemas.openxmlformats.org/officeDocument/2006/relationships/image" Target="../media/image24.svg"/><Relationship Id="rId12" Type="http://schemas.openxmlformats.org/officeDocument/2006/relationships/hyperlink" Target="https://codeforces.com/problemset/problem/580/C" TargetMode="External"/><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7.png"/><Relationship Id="rId5" Type="http://schemas.openxmlformats.org/officeDocument/2006/relationships/image" Target="../media/image22.svg"/><Relationship Id="rId10" Type="http://schemas.openxmlformats.org/officeDocument/2006/relationships/image" Target="../media/image26.svg"/><Relationship Id="rId4" Type="http://schemas.openxmlformats.org/officeDocument/2006/relationships/image" Target="../media/image21.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0.svg"/><Relationship Id="rId7"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9.sv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hyperlink" Target="https://codeforces.com/problemset/problem/580/C"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0.svg"/><Relationship Id="rId7"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9.sv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9.png"/><Relationship Id="rId7" Type="http://schemas.openxmlformats.org/officeDocument/2006/relationships/image" Target="../media/image30.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325529" y="740869"/>
            <a:ext cx="18939059" cy="1464829"/>
            <a:chOff x="0" y="0"/>
            <a:chExt cx="4988065" cy="385799"/>
          </a:xfrm>
        </p:grpSpPr>
        <p:sp>
          <p:nvSpPr>
            <p:cNvPr id="4" name="Freeform 4"/>
            <p:cNvSpPr/>
            <p:nvPr/>
          </p:nvSpPr>
          <p:spPr>
            <a:xfrm>
              <a:off x="0" y="0"/>
              <a:ext cx="4988065" cy="385799"/>
            </a:xfrm>
            <a:custGeom>
              <a:avLst/>
              <a:gdLst/>
              <a:ahLst/>
              <a:cxnLst/>
              <a:rect l="l" t="t" r="r" b="b"/>
              <a:pathLst>
                <a:path w="4988065" h="385799">
                  <a:moveTo>
                    <a:pt x="0" y="0"/>
                  </a:moveTo>
                  <a:lnTo>
                    <a:pt x="4988065" y="0"/>
                  </a:lnTo>
                  <a:lnTo>
                    <a:pt x="4988065" y="385799"/>
                  </a:lnTo>
                  <a:lnTo>
                    <a:pt x="0" y="385799"/>
                  </a:lnTo>
                  <a:close/>
                </a:path>
              </a:pathLst>
            </a:custGeom>
            <a:solidFill>
              <a:srgbClr val="2B59C3">
                <a:alpha val="71765"/>
              </a:srgbClr>
            </a:solidFill>
          </p:spPr>
        </p:sp>
        <p:sp>
          <p:nvSpPr>
            <p:cNvPr id="5" name="TextBox 5"/>
            <p:cNvSpPr txBox="1"/>
            <p:nvPr/>
          </p:nvSpPr>
          <p:spPr>
            <a:xfrm>
              <a:off x="0" y="28575"/>
              <a:ext cx="4988065" cy="357224"/>
            </a:xfrm>
            <a:prstGeom prst="rect">
              <a:avLst/>
            </a:prstGeom>
          </p:spPr>
          <p:txBody>
            <a:bodyPr lIns="50800" tIns="50800" rIns="50800" bIns="50800" rtlCol="0" anchor="ctr"/>
            <a:lstStyle/>
            <a:p>
              <a:pPr algn="ctr">
                <a:lnSpc>
                  <a:spcPts val="2661"/>
                </a:lnSpc>
              </a:pPr>
              <a:endParaRPr/>
            </a:p>
          </p:txBody>
        </p:sp>
      </p:grpSp>
      <p:sp>
        <p:nvSpPr>
          <p:cNvPr id="6" name="Freeform 6"/>
          <p:cNvSpPr/>
          <p:nvPr/>
        </p:nvSpPr>
        <p:spPr>
          <a:xfrm>
            <a:off x="11394226" y="1431741"/>
            <a:ext cx="6379233" cy="8140553"/>
          </a:xfrm>
          <a:custGeom>
            <a:avLst/>
            <a:gdLst/>
            <a:ahLst/>
            <a:cxnLst/>
            <a:rect l="l" t="t" r="r" b="b"/>
            <a:pathLst>
              <a:path w="6379233" h="8140553">
                <a:moveTo>
                  <a:pt x="0" y="0"/>
                </a:moveTo>
                <a:lnTo>
                  <a:pt x="6379233" y="0"/>
                </a:lnTo>
                <a:lnTo>
                  <a:pt x="6379233" y="8140553"/>
                </a:lnTo>
                <a:lnTo>
                  <a:pt x="0" y="81405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3010810" y="-155024"/>
            <a:ext cx="6775868" cy="4114800"/>
          </a:xfrm>
          <a:custGeom>
            <a:avLst/>
            <a:gdLst/>
            <a:ahLst/>
            <a:cxnLst/>
            <a:rect l="l" t="t" r="r" b="b"/>
            <a:pathLst>
              <a:path w="6775868" h="4114800">
                <a:moveTo>
                  <a:pt x="0" y="0"/>
                </a:moveTo>
                <a:lnTo>
                  <a:pt x="6775868" y="0"/>
                </a:lnTo>
                <a:lnTo>
                  <a:pt x="67758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flipH="1" flipV="1">
            <a:off x="12417225" y="6172200"/>
            <a:ext cx="6775868" cy="4114800"/>
          </a:xfrm>
          <a:custGeom>
            <a:avLst/>
            <a:gdLst/>
            <a:ahLst/>
            <a:cxnLst/>
            <a:rect l="l" t="t" r="r" b="b"/>
            <a:pathLst>
              <a:path w="6775868" h="4114800">
                <a:moveTo>
                  <a:pt x="6775869" y="4114800"/>
                </a:moveTo>
                <a:lnTo>
                  <a:pt x="0" y="4114800"/>
                </a:lnTo>
                <a:lnTo>
                  <a:pt x="0" y="0"/>
                </a:lnTo>
                <a:lnTo>
                  <a:pt x="6775869" y="0"/>
                </a:lnTo>
                <a:lnTo>
                  <a:pt x="6775869"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2648862" y="1066800"/>
            <a:ext cx="8121358" cy="863874"/>
          </a:xfrm>
          <a:prstGeom prst="rect">
            <a:avLst/>
          </a:prstGeom>
        </p:spPr>
        <p:txBody>
          <a:bodyPr lIns="0" tIns="0" rIns="0" bIns="0" rtlCol="0" anchor="t">
            <a:spAutoFit/>
          </a:bodyPr>
          <a:lstStyle/>
          <a:p>
            <a:pPr algn="l">
              <a:lnSpc>
                <a:spcPts val="6189"/>
              </a:lnSpc>
              <a:spcBef>
                <a:spcPct val="0"/>
              </a:spcBef>
            </a:pPr>
            <a:r>
              <a:rPr lang="en-US" sz="5950" b="1">
                <a:solidFill>
                  <a:srgbClr val="F4F4F4"/>
                </a:solidFill>
                <a:latin typeface="Poppins Bold"/>
                <a:ea typeface="Poppins Bold"/>
                <a:cs typeface="Poppins Bold"/>
                <a:sym typeface="Poppins Bold"/>
              </a:rPr>
              <a:t>Computer Algorithm </a:t>
            </a:r>
          </a:p>
        </p:txBody>
      </p:sp>
      <p:sp>
        <p:nvSpPr>
          <p:cNvPr id="10" name="Freeform 10"/>
          <p:cNvSpPr/>
          <p:nvPr/>
        </p:nvSpPr>
        <p:spPr>
          <a:xfrm>
            <a:off x="9263774" y="-842039"/>
            <a:ext cx="6775868" cy="4114800"/>
          </a:xfrm>
          <a:custGeom>
            <a:avLst/>
            <a:gdLst/>
            <a:ahLst/>
            <a:cxnLst/>
            <a:rect l="l" t="t" r="r" b="b"/>
            <a:pathLst>
              <a:path w="6775868" h="4114800">
                <a:moveTo>
                  <a:pt x="0" y="0"/>
                </a:moveTo>
                <a:lnTo>
                  <a:pt x="6775868" y="0"/>
                </a:lnTo>
                <a:lnTo>
                  <a:pt x="67758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14856933" y="3174284"/>
            <a:ext cx="3083622" cy="3126612"/>
          </a:xfrm>
          <a:custGeom>
            <a:avLst/>
            <a:gdLst/>
            <a:ahLst/>
            <a:cxnLst/>
            <a:rect l="l" t="t" r="r" b="b"/>
            <a:pathLst>
              <a:path w="3083622" h="3126612">
                <a:moveTo>
                  <a:pt x="0" y="0"/>
                </a:moveTo>
                <a:lnTo>
                  <a:pt x="3083622" y="0"/>
                </a:lnTo>
                <a:lnTo>
                  <a:pt x="3083622" y="3126613"/>
                </a:lnTo>
                <a:lnTo>
                  <a:pt x="0" y="3126613"/>
                </a:lnTo>
                <a:lnTo>
                  <a:pt x="0" y="0"/>
                </a:lnTo>
                <a:close/>
              </a:path>
            </a:pathLst>
          </a:custGeom>
          <a:blipFill>
            <a:blip r:embed="rId6">
              <a:alphaModFix amt="71000"/>
            </a:blip>
            <a:stretch>
              <a:fillRect/>
            </a:stretch>
          </a:blipFill>
        </p:spPr>
      </p:sp>
      <p:sp>
        <p:nvSpPr>
          <p:cNvPr id="12" name="Freeform 12"/>
          <p:cNvSpPr/>
          <p:nvPr/>
        </p:nvSpPr>
        <p:spPr>
          <a:xfrm>
            <a:off x="-246058" y="1259935"/>
            <a:ext cx="2549517" cy="2585062"/>
          </a:xfrm>
          <a:custGeom>
            <a:avLst/>
            <a:gdLst/>
            <a:ahLst/>
            <a:cxnLst/>
            <a:rect l="l" t="t" r="r" b="b"/>
            <a:pathLst>
              <a:path w="2549517" h="2585062">
                <a:moveTo>
                  <a:pt x="0" y="0"/>
                </a:moveTo>
                <a:lnTo>
                  <a:pt x="2549516" y="0"/>
                </a:lnTo>
                <a:lnTo>
                  <a:pt x="2549516" y="2585062"/>
                </a:lnTo>
                <a:lnTo>
                  <a:pt x="0" y="2585062"/>
                </a:lnTo>
                <a:lnTo>
                  <a:pt x="0" y="0"/>
                </a:lnTo>
                <a:close/>
              </a:path>
            </a:pathLst>
          </a:custGeom>
          <a:blipFill>
            <a:blip r:embed="rId6">
              <a:alphaModFix amt="71000"/>
            </a:blip>
            <a:stretch>
              <a:fillRect/>
            </a:stretch>
          </a:blipFill>
        </p:spPr>
      </p:sp>
      <p:sp>
        <p:nvSpPr>
          <p:cNvPr id="13" name="Freeform 13"/>
          <p:cNvSpPr/>
          <p:nvPr/>
        </p:nvSpPr>
        <p:spPr>
          <a:xfrm>
            <a:off x="1497195" y="1028700"/>
            <a:ext cx="527662" cy="527662"/>
          </a:xfrm>
          <a:custGeom>
            <a:avLst/>
            <a:gdLst/>
            <a:ahLst/>
            <a:cxnLst/>
            <a:rect l="l" t="t" r="r" b="b"/>
            <a:pathLst>
              <a:path w="527662" h="527662">
                <a:moveTo>
                  <a:pt x="0" y="0"/>
                </a:moveTo>
                <a:lnTo>
                  <a:pt x="527661" y="0"/>
                </a:lnTo>
                <a:lnTo>
                  <a:pt x="527661" y="527662"/>
                </a:lnTo>
                <a:lnTo>
                  <a:pt x="0" y="527662"/>
                </a:lnTo>
                <a:lnTo>
                  <a:pt x="0" y="0"/>
                </a:lnTo>
                <a:close/>
              </a:path>
            </a:pathLst>
          </a:custGeom>
          <a:blipFill>
            <a:blip r:embed="rId7"/>
            <a:stretch>
              <a:fillRect/>
            </a:stretch>
          </a:blipFill>
        </p:spPr>
      </p:sp>
      <p:sp>
        <p:nvSpPr>
          <p:cNvPr id="14" name="Freeform 14"/>
          <p:cNvSpPr/>
          <p:nvPr/>
        </p:nvSpPr>
        <p:spPr>
          <a:xfrm>
            <a:off x="2421617" y="5219661"/>
            <a:ext cx="7171474" cy="4637053"/>
          </a:xfrm>
          <a:custGeom>
            <a:avLst/>
            <a:gdLst/>
            <a:ahLst/>
            <a:cxnLst/>
            <a:rect l="l" t="t" r="r" b="b"/>
            <a:pathLst>
              <a:path w="7171474" h="4637053">
                <a:moveTo>
                  <a:pt x="0" y="0"/>
                </a:moveTo>
                <a:lnTo>
                  <a:pt x="7171474" y="0"/>
                </a:lnTo>
                <a:lnTo>
                  <a:pt x="7171474" y="4637053"/>
                </a:lnTo>
                <a:lnTo>
                  <a:pt x="0" y="4637053"/>
                </a:lnTo>
                <a:lnTo>
                  <a:pt x="0" y="0"/>
                </a:lnTo>
                <a:close/>
              </a:path>
            </a:pathLst>
          </a:custGeom>
          <a:blipFill>
            <a:blip r:embed="rId8"/>
            <a:stretch>
              <a:fillRect/>
            </a:stretch>
          </a:blipFill>
        </p:spPr>
      </p:sp>
      <p:sp>
        <p:nvSpPr>
          <p:cNvPr id="15" name="TextBox 15"/>
          <p:cNvSpPr txBox="1"/>
          <p:nvPr/>
        </p:nvSpPr>
        <p:spPr>
          <a:xfrm>
            <a:off x="2660616" y="2438858"/>
            <a:ext cx="8497325" cy="2599828"/>
          </a:xfrm>
          <a:prstGeom prst="rect">
            <a:avLst/>
          </a:prstGeom>
        </p:spPr>
        <p:txBody>
          <a:bodyPr lIns="0" tIns="0" rIns="0" bIns="0" rtlCol="0" anchor="t">
            <a:spAutoFit/>
          </a:bodyPr>
          <a:lstStyle/>
          <a:p>
            <a:pPr algn="l">
              <a:lnSpc>
                <a:spcPts val="9724"/>
              </a:lnSpc>
              <a:spcBef>
                <a:spcPct val="0"/>
              </a:spcBef>
            </a:pPr>
            <a:r>
              <a:rPr lang="en-US" sz="9350" b="1">
                <a:solidFill>
                  <a:srgbClr val="063050"/>
                </a:solidFill>
                <a:latin typeface="Poppins Bold"/>
                <a:ea typeface="Poppins Bold"/>
                <a:cs typeface="Poppins Bold"/>
                <a:sym typeface="Poppins Bold"/>
              </a:rPr>
              <a:t>Complexity Classes</a:t>
            </a:r>
          </a:p>
        </p:txBody>
      </p:sp>
      <p:sp>
        <p:nvSpPr>
          <p:cNvPr id="16" name="TextBox 16"/>
          <p:cNvSpPr txBox="1"/>
          <p:nvPr/>
        </p:nvSpPr>
        <p:spPr>
          <a:xfrm>
            <a:off x="2395308" y="8486211"/>
            <a:ext cx="3461614" cy="772089"/>
          </a:xfrm>
          <a:prstGeom prst="rect">
            <a:avLst/>
          </a:prstGeom>
        </p:spPr>
        <p:txBody>
          <a:bodyPr lIns="0" tIns="0" rIns="0" bIns="0" rtlCol="0" anchor="t">
            <a:spAutoFit/>
          </a:bodyPr>
          <a:lstStyle/>
          <a:p>
            <a:pPr algn="ctr">
              <a:lnSpc>
                <a:spcPts val="1978"/>
              </a:lnSpc>
            </a:pPr>
            <a:r>
              <a:rPr lang="en-US" sz="1902" b="1">
                <a:solidFill>
                  <a:srgbClr val="0B4876"/>
                </a:solidFill>
                <a:latin typeface="Poppins Medium"/>
                <a:ea typeface="Poppins Medium"/>
                <a:cs typeface="Poppins Medium"/>
                <a:sym typeface="Poppins Medium"/>
              </a:rPr>
              <a:t>Presented by:​</a:t>
            </a:r>
          </a:p>
          <a:p>
            <a:pPr algn="ctr">
              <a:lnSpc>
                <a:spcPts val="1978"/>
              </a:lnSpc>
            </a:pPr>
            <a:r>
              <a:rPr lang="en-US" sz="1902" b="1">
                <a:solidFill>
                  <a:srgbClr val="0B4876"/>
                </a:solidFill>
                <a:latin typeface="Poppins Medium"/>
                <a:ea typeface="Poppins Medium"/>
                <a:cs typeface="Poppins Medium"/>
                <a:sym typeface="Poppins Medium"/>
              </a:rPr>
              <a:t>🔹Prottoy Sarker</a:t>
            </a:r>
          </a:p>
          <a:p>
            <a:pPr algn="ctr">
              <a:lnSpc>
                <a:spcPts val="1978"/>
              </a:lnSpc>
              <a:spcBef>
                <a:spcPct val="0"/>
              </a:spcBef>
            </a:pPr>
            <a:r>
              <a:rPr lang="en-US" sz="1902" b="1">
                <a:solidFill>
                  <a:srgbClr val="0B4876"/>
                </a:solidFill>
                <a:latin typeface="Poppins Medium"/>
                <a:ea typeface="Poppins Medium"/>
                <a:cs typeface="Poppins Medium"/>
                <a:sym typeface="Poppins Medium"/>
              </a:rPr>
              <a:t> (ID: 241311062)​</a:t>
            </a:r>
          </a:p>
        </p:txBody>
      </p:sp>
      <p:sp>
        <p:nvSpPr>
          <p:cNvPr id="17" name="TextBox 17"/>
          <p:cNvSpPr txBox="1"/>
          <p:nvPr/>
        </p:nvSpPr>
        <p:spPr>
          <a:xfrm>
            <a:off x="6007354" y="8486211"/>
            <a:ext cx="3461614" cy="772089"/>
          </a:xfrm>
          <a:prstGeom prst="rect">
            <a:avLst/>
          </a:prstGeom>
        </p:spPr>
        <p:txBody>
          <a:bodyPr lIns="0" tIns="0" rIns="0" bIns="0" rtlCol="0" anchor="t">
            <a:spAutoFit/>
          </a:bodyPr>
          <a:lstStyle/>
          <a:p>
            <a:pPr algn="ctr">
              <a:lnSpc>
                <a:spcPts val="1978"/>
              </a:lnSpc>
            </a:pPr>
            <a:r>
              <a:rPr lang="en-US" sz="1902" b="1">
                <a:solidFill>
                  <a:srgbClr val="0B4876"/>
                </a:solidFill>
                <a:latin typeface="Poppins Medium"/>
                <a:ea typeface="Poppins Medium"/>
                <a:cs typeface="Poppins Medium"/>
                <a:sym typeface="Poppins Medium"/>
              </a:rPr>
              <a:t>Presented by:​</a:t>
            </a:r>
          </a:p>
          <a:p>
            <a:pPr algn="ctr">
              <a:lnSpc>
                <a:spcPts val="1978"/>
              </a:lnSpc>
            </a:pPr>
            <a:r>
              <a:rPr lang="en-US" sz="1902" b="1">
                <a:solidFill>
                  <a:srgbClr val="0B4876"/>
                </a:solidFill>
                <a:latin typeface="Poppins Medium"/>
                <a:ea typeface="Poppins Medium"/>
                <a:cs typeface="Poppins Medium"/>
                <a:sym typeface="Poppins Medium"/>
              </a:rPr>
              <a:t>🔹Abdullah Al Mahfuz</a:t>
            </a:r>
          </a:p>
          <a:p>
            <a:pPr algn="ctr">
              <a:lnSpc>
                <a:spcPts val="1978"/>
              </a:lnSpc>
              <a:spcBef>
                <a:spcPct val="0"/>
              </a:spcBef>
            </a:pPr>
            <a:r>
              <a:rPr lang="en-US" sz="1902" b="1">
                <a:solidFill>
                  <a:srgbClr val="0B4876"/>
                </a:solidFill>
                <a:latin typeface="Poppins Medium"/>
                <a:ea typeface="Poppins Medium"/>
                <a:cs typeface="Poppins Medium"/>
                <a:sym typeface="Poppins Medium"/>
              </a:rPr>
              <a:t>(ID:241311058)​ </a:t>
            </a:r>
          </a:p>
        </p:txBody>
      </p:sp>
      <p:sp>
        <p:nvSpPr>
          <p:cNvPr id="22" name="TextBox 21">
            <a:extLst>
              <a:ext uri="{FF2B5EF4-FFF2-40B4-BE49-F238E27FC236}">
                <a16:creationId xmlns:a16="http://schemas.microsoft.com/office/drawing/2014/main" id="{33E06DA1-41EB-60B1-3513-80DB507C71C9}"/>
              </a:ext>
            </a:extLst>
          </p:cNvPr>
          <p:cNvSpPr txBox="1"/>
          <p:nvPr/>
        </p:nvSpPr>
        <p:spPr>
          <a:xfrm>
            <a:off x="16398744" y="8670117"/>
            <a:ext cx="1371600" cy="1486946"/>
          </a:xfrm>
          <a:prstGeom prst="rect">
            <a:avLst/>
          </a:prstGeom>
          <a:noFill/>
        </p:spPr>
        <p:txBody>
          <a:bodyPr wrap="square">
            <a:spAutoFit/>
          </a:bodyPr>
          <a:lstStyle/>
          <a:p>
            <a:pPr algn="ctr">
              <a:lnSpc>
                <a:spcPts val="12041"/>
              </a:lnSpc>
            </a:pPr>
            <a:r>
              <a:rPr lang="en-US" sz="8000" b="1" spc="-150" dirty="0">
                <a:solidFill>
                  <a:srgbClr val="F2F7FA"/>
                </a:solidFill>
                <a:latin typeface="Times New Roman" panose="02020603050405020304" pitchFamily="18" charset="0"/>
                <a:ea typeface="Telegraf Bold"/>
                <a:cs typeface="Times New Roman" panose="02020603050405020304" pitchFamily="18" charset="0"/>
                <a:sym typeface="Telegraf Bold"/>
              </a:rPr>
              <a:t>01</a:t>
            </a:r>
            <a:endParaRPr lang="en-US" sz="9600" b="1" spc="-150" dirty="0">
              <a:solidFill>
                <a:srgbClr val="F2F7FA"/>
              </a:solidFill>
              <a:latin typeface="Times New Roman" panose="02020603050405020304" pitchFamily="18" charset="0"/>
              <a:ea typeface="Telegraf Bold"/>
              <a:cs typeface="Times New Roman" panose="02020603050405020304" pitchFamily="18" charset="0"/>
              <a:sym typeface="Telegraf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512968" y="501038"/>
            <a:ext cx="527662" cy="527662"/>
          </a:xfrm>
          <a:custGeom>
            <a:avLst/>
            <a:gdLst/>
            <a:ahLst/>
            <a:cxnLst/>
            <a:rect l="l" t="t" r="r" b="b"/>
            <a:pathLst>
              <a:path w="527662" h="527662">
                <a:moveTo>
                  <a:pt x="0" y="0"/>
                </a:moveTo>
                <a:lnTo>
                  <a:pt x="527662" y="0"/>
                </a:lnTo>
                <a:lnTo>
                  <a:pt x="527662" y="527662"/>
                </a:lnTo>
                <a:lnTo>
                  <a:pt x="0" y="5276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887720" y="-811995"/>
            <a:ext cx="4313283" cy="4373418"/>
          </a:xfrm>
          <a:custGeom>
            <a:avLst/>
            <a:gdLst/>
            <a:ahLst/>
            <a:cxnLst/>
            <a:rect l="l" t="t" r="r" b="b"/>
            <a:pathLst>
              <a:path w="4313283" h="4373418">
                <a:moveTo>
                  <a:pt x="0" y="0"/>
                </a:moveTo>
                <a:lnTo>
                  <a:pt x="4313283" y="0"/>
                </a:lnTo>
                <a:lnTo>
                  <a:pt x="4313283" y="4373418"/>
                </a:lnTo>
                <a:lnTo>
                  <a:pt x="0" y="4373418"/>
                </a:lnTo>
                <a:lnTo>
                  <a:pt x="0" y="0"/>
                </a:lnTo>
                <a:close/>
              </a:path>
            </a:pathLst>
          </a:custGeom>
          <a:blipFill>
            <a:blip r:embed="rId4">
              <a:alphaModFix amt="71000"/>
            </a:blip>
            <a:stretch>
              <a:fillRect/>
            </a:stretch>
          </a:blipFill>
        </p:spPr>
      </p:sp>
      <p:sp>
        <p:nvSpPr>
          <p:cNvPr id="8" name="Freeform 8"/>
          <p:cNvSpPr/>
          <p:nvPr/>
        </p:nvSpPr>
        <p:spPr>
          <a:xfrm>
            <a:off x="-772581" y="5777357"/>
            <a:ext cx="4313283" cy="4373418"/>
          </a:xfrm>
          <a:custGeom>
            <a:avLst/>
            <a:gdLst/>
            <a:ahLst/>
            <a:cxnLst/>
            <a:rect l="l" t="t" r="r" b="b"/>
            <a:pathLst>
              <a:path w="4313283" h="4373418">
                <a:moveTo>
                  <a:pt x="0" y="0"/>
                </a:moveTo>
                <a:lnTo>
                  <a:pt x="4313283" y="0"/>
                </a:lnTo>
                <a:lnTo>
                  <a:pt x="4313283" y="4373418"/>
                </a:lnTo>
                <a:lnTo>
                  <a:pt x="0" y="4373418"/>
                </a:lnTo>
                <a:lnTo>
                  <a:pt x="0" y="0"/>
                </a:lnTo>
                <a:close/>
              </a:path>
            </a:pathLst>
          </a:custGeom>
          <a:blipFill>
            <a:blip r:embed="rId4">
              <a:alphaModFix amt="71000"/>
            </a:blip>
            <a:stretch>
              <a:fillRect/>
            </a:stretch>
          </a:blipFill>
        </p:spPr>
      </p:sp>
      <p:sp>
        <p:nvSpPr>
          <p:cNvPr id="10" name="TextBox 10"/>
          <p:cNvSpPr txBox="1"/>
          <p:nvPr/>
        </p:nvSpPr>
        <p:spPr>
          <a:xfrm>
            <a:off x="6863448" y="2560102"/>
            <a:ext cx="8627191" cy="2791055"/>
          </a:xfrm>
          <a:prstGeom prst="rect">
            <a:avLst/>
          </a:prstGeom>
        </p:spPr>
        <p:txBody>
          <a:bodyPr lIns="0" tIns="0" rIns="0" bIns="0" rtlCol="0" anchor="t">
            <a:spAutoFit/>
          </a:bodyPr>
          <a:lstStyle/>
          <a:p>
            <a:pPr algn="l">
              <a:lnSpc>
                <a:spcPts val="2742"/>
              </a:lnSpc>
            </a:pPr>
            <a:r>
              <a:rPr lang="en-US" sz="2247" b="1">
                <a:solidFill>
                  <a:srgbClr val="063050"/>
                </a:solidFill>
                <a:latin typeface="Poppins Medium"/>
                <a:ea typeface="Poppins Medium"/>
                <a:cs typeface="Poppins Medium"/>
                <a:sym typeface="Poppins Medium"/>
              </a:rPr>
              <a:t>🔹 What is Complexity?</a:t>
            </a:r>
          </a:p>
          <a:p>
            <a:pPr algn="l">
              <a:lnSpc>
                <a:spcPts val="2742"/>
              </a:lnSpc>
            </a:pPr>
            <a:endParaRPr lang="en-US" sz="2247" b="1">
              <a:solidFill>
                <a:srgbClr val="063050"/>
              </a:solidFill>
              <a:latin typeface="Poppins Medium"/>
              <a:ea typeface="Poppins Medium"/>
              <a:cs typeface="Poppins Medium"/>
              <a:sym typeface="Poppins Medium"/>
            </a:endParaRPr>
          </a:p>
          <a:p>
            <a:pPr algn="l">
              <a:lnSpc>
                <a:spcPts val="2742"/>
              </a:lnSpc>
            </a:pPr>
            <a:r>
              <a:rPr lang="en-US" sz="2247" b="1">
                <a:solidFill>
                  <a:srgbClr val="063050"/>
                </a:solidFill>
                <a:latin typeface="Poppins Medium"/>
                <a:ea typeface="Poppins Medium"/>
                <a:cs typeface="Poppins Medium"/>
                <a:sym typeface="Poppins Medium"/>
              </a:rPr>
              <a:t>•Complexity shows how difficult a problem is for a computer.</a:t>
            </a:r>
          </a:p>
          <a:p>
            <a:pPr algn="l">
              <a:lnSpc>
                <a:spcPts val="2742"/>
              </a:lnSpc>
            </a:pPr>
            <a:endParaRPr lang="en-US" sz="2247" b="1">
              <a:solidFill>
                <a:srgbClr val="063050"/>
              </a:solidFill>
              <a:latin typeface="Poppins Medium"/>
              <a:ea typeface="Poppins Medium"/>
              <a:cs typeface="Poppins Medium"/>
              <a:sym typeface="Poppins Medium"/>
            </a:endParaRPr>
          </a:p>
          <a:p>
            <a:pPr algn="l">
              <a:lnSpc>
                <a:spcPts val="2742"/>
              </a:lnSpc>
            </a:pPr>
            <a:r>
              <a:rPr lang="en-US" sz="2247" b="1">
                <a:solidFill>
                  <a:srgbClr val="063050"/>
                </a:solidFill>
                <a:latin typeface="Poppins Medium"/>
                <a:ea typeface="Poppins Medium"/>
                <a:cs typeface="Poppins Medium"/>
                <a:sym typeface="Poppins Medium"/>
              </a:rPr>
              <a:t>•It measures how much time and memory an algorithm needs to solve a problem.</a:t>
            </a:r>
          </a:p>
          <a:p>
            <a:pPr algn="l">
              <a:lnSpc>
                <a:spcPts val="2742"/>
              </a:lnSpc>
            </a:pPr>
            <a:endParaRPr lang="en-US" sz="2247" b="1">
              <a:solidFill>
                <a:srgbClr val="063050"/>
              </a:solidFill>
              <a:latin typeface="Poppins Medium"/>
              <a:ea typeface="Poppins Medium"/>
              <a:cs typeface="Poppins Medium"/>
              <a:sym typeface="Poppins Medium"/>
            </a:endParaRPr>
          </a:p>
        </p:txBody>
      </p:sp>
      <p:sp>
        <p:nvSpPr>
          <p:cNvPr id="11" name="Freeform 11"/>
          <p:cNvSpPr/>
          <p:nvPr/>
        </p:nvSpPr>
        <p:spPr>
          <a:xfrm flipH="1" flipV="1">
            <a:off x="14158001" y="6463808"/>
            <a:ext cx="6775868" cy="4114800"/>
          </a:xfrm>
          <a:custGeom>
            <a:avLst/>
            <a:gdLst/>
            <a:ahLst/>
            <a:cxnLst/>
            <a:rect l="l" t="t" r="r" b="b"/>
            <a:pathLst>
              <a:path w="6775868" h="4114800">
                <a:moveTo>
                  <a:pt x="6775868" y="4114800"/>
                </a:moveTo>
                <a:lnTo>
                  <a:pt x="0" y="4114800"/>
                </a:lnTo>
                <a:lnTo>
                  <a:pt x="0" y="0"/>
                </a:lnTo>
                <a:lnTo>
                  <a:pt x="6775868" y="0"/>
                </a:lnTo>
                <a:lnTo>
                  <a:pt x="6775868" y="411480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8" name="Group 17">
            <a:extLst>
              <a:ext uri="{FF2B5EF4-FFF2-40B4-BE49-F238E27FC236}">
                <a16:creationId xmlns:a16="http://schemas.microsoft.com/office/drawing/2014/main" id="{2F940C61-F3D1-1C4D-4804-0539E0AEA153}"/>
              </a:ext>
            </a:extLst>
          </p:cNvPr>
          <p:cNvGrpSpPr/>
          <p:nvPr/>
        </p:nvGrpSpPr>
        <p:grpSpPr>
          <a:xfrm>
            <a:off x="615895" y="741182"/>
            <a:ext cx="18995039" cy="6642557"/>
            <a:chOff x="285262" y="764869"/>
            <a:chExt cx="18995039" cy="6642557"/>
          </a:xfrm>
        </p:grpSpPr>
        <p:grpSp>
          <p:nvGrpSpPr>
            <p:cNvPr id="5" name="Group 5"/>
            <p:cNvGrpSpPr/>
            <p:nvPr/>
          </p:nvGrpSpPr>
          <p:grpSpPr>
            <a:xfrm>
              <a:off x="3113031" y="764869"/>
              <a:ext cx="15886737" cy="1464829"/>
              <a:chOff x="0" y="0"/>
              <a:chExt cx="4184161" cy="385799"/>
            </a:xfrm>
          </p:grpSpPr>
          <p:sp>
            <p:nvSpPr>
              <p:cNvPr id="6" name="Freeform 6"/>
              <p:cNvSpPr/>
              <p:nvPr/>
            </p:nvSpPr>
            <p:spPr>
              <a:xfrm>
                <a:off x="0" y="0"/>
                <a:ext cx="4184161" cy="385799"/>
              </a:xfrm>
              <a:custGeom>
                <a:avLst/>
                <a:gdLst/>
                <a:ahLst/>
                <a:cxnLst/>
                <a:rect l="l" t="t" r="r" b="b"/>
                <a:pathLst>
                  <a:path w="4184161" h="385799">
                    <a:moveTo>
                      <a:pt x="0" y="0"/>
                    </a:moveTo>
                    <a:lnTo>
                      <a:pt x="4184161" y="0"/>
                    </a:lnTo>
                    <a:lnTo>
                      <a:pt x="4184161" y="385799"/>
                    </a:lnTo>
                    <a:lnTo>
                      <a:pt x="0" y="385799"/>
                    </a:lnTo>
                    <a:close/>
                  </a:path>
                </a:pathLst>
              </a:custGeom>
              <a:solidFill>
                <a:srgbClr val="2B59C3">
                  <a:alpha val="71765"/>
                </a:srgbClr>
              </a:solidFill>
            </p:spPr>
            <p:txBody>
              <a:bodyPr/>
              <a:lstStyle/>
              <a:p>
                <a:endParaRPr lang="en-US" dirty="0"/>
              </a:p>
            </p:txBody>
          </p:sp>
          <p:sp>
            <p:nvSpPr>
              <p:cNvPr id="7" name="TextBox 7"/>
              <p:cNvSpPr txBox="1"/>
              <p:nvPr/>
            </p:nvSpPr>
            <p:spPr>
              <a:xfrm>
                <a:off x="0" y="28575"/>
                <a:ext cx="4184161" cy="357224"/>
              </a:xfrm>
              <a:prstGeom prst="rect">
                <a:avLst/>
              </a:prstGeom>
            </p:spPr>
            <p:txBody>
              <a:bodyPr lIns="50800" tIns="50800" rIns="50800" bIns="50800" rtlCol="0" anchor="ctr"/>
              <a:lstStyle/>
              <a:p>
                <a:pPr algn="ctr">
                  <a:lnSpc>
                    <a:spcPts val="2661"/>
                  </a:lnSpc>
                </a:pPr>
                <a:endParaRPr/>
              </a:p>
            </p:txBody>
          </p:sp>
        </p:grpSp>
        <p:grpSp>
          <p:nvGrpSpPr>
            <p:cNvPr id="12" name="Group 12"/>
            <p:cNvGrpSpPr/>
            <p:nvPr/>
          </p:nvGrpSpPr>
          <p:grpSpPr>
            <a:xfrm>
              <a:off x="3393564" y="5942597"/>
              <a:ext cx="15886737" cy="1464829"/>
              <a:chOff x="0" y="0"/>
              <a:chExt cx="4184161" cy="385799"/>
            </a:xfrm>
          </p:grpSpPr>
          <p:sp>
            <p:nvSpPr>
              <p:cNvPr id="13" name="Freeform 13"/>
              <p:cNvSpPr/>
              <p:nvPr/>
            </p:nvSpPr>
            <p:spPr>
              <a:xfrm>
                <a:off x="0" y="0"/>
                <a:ext cx="4184161" cy="385799"/>
              </a:xfrm>
              <a:custGeom>
                <a:avLst/>
                <a:gdLst/>
                <a:ahLst/>
                <a:cxnLst/>
                <a:rect l="l" t="t" r="r" b="b"/>
                <a:pathLst>
                  <a:path w="4184161" h="385799">
                    <a:moveTo>
                      <a:pt x="0" y="0"/>
                    </a:moveTo>
                    <a:lnTo>
                      <a:pt x="4184161" y="0"/>
                    </a:lnTo>
                    <a:lnTo>
                      <a:pt x="4184161" y="385799"/>
                    </a:lnTo>
                    <a:lnTo>
                      <a:pt x="0" y="385799"/>
                    </a:lnTo>
                    <a:close/>
                  </a:path>
                </a:pathLst>
              </a:custGeom>
              <a:solidFill>
                <a:srgbClr val="2B59C3">
                  <a:alpha val="71765"/>
                </a:srgbClr>
              </a:solidFill>
            </p:spPr>
          </p:sp>
          <p:sp>
            <p:nvSpPr>
              <p:cNvPr id="14" name="TextBox 14"/>
              <p:cNvSpPr txBox="1"/>
              <p:nvPr/>
            </p:nvSpPr>
            <p:spPr>
              <a:xfrm>
                <a:off x="0" y="28575"/>
                <a:ext cx="4184161" cy="357224"/>
              </a:xfrm>
              <a:prstGeom prst="rect">
                <a:avLst/>
              </a:prstGeom>
            </p:spPr>
            <p:txBody>
              <a:bodyPr lIns="50800" tIns="50800" rIns="50800" bIns="50800" rtlCol="0" anchor="ctr"/>
              <a:lstStyle/>
              <a:p>
                <a:pPr algn="ctr">
                  <a:lnSpc>
                    <a:spcPts val="2661"/>
                  </a:lnSpc>
                </a:pPr>
                <a:endParaRPr/>
              </a:p>
            </p:txBody>
          </p:sp>
        </p:grpSp>
        <p:sp>
          <p:nvSpPr>
            <p:cNvPr id="15" name="Freeform 15"/>
            <p:cNvSpPr/>
            <p:nvPr/>
          </p:nvSpPr>
          <p:spPr>
            <a:xfrm>
              <a:off x="285262" y="764869"/>
              <a:ext cx="5966224" cy="6642557"/>
            </a:xfrm>
            <a:custGeom>
              <a:avLst/>
              <a:gdLst/>
              <a:ahLst/>
              <a:cxnLst/>
              <a:rect l="l" t="t" r="r" b="b"/>
              <a:pathLst>
                <a:path w="5966224" h="6642557">
                  <a:moveTo>
                    <a:pt x="0" y="0"/>
                  </a:moveTo>
                  <a:lnTo>
                    <a:pt x="5966224" y="0"/>
                  </a:lnTo>
                  <a:lnTo>
                    <a:pt x="5966224" y="6642557"/>
                  </a:lnTo>
                  <a:lnTo>
                    <a:pt x="0" y="664255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sp>
        <p:nvSpPr>
          <p:cNvPr id="16" name="TextBox 16"/>
          <p:cNvSpPr txBox="1"/>
          <p:nvPr/>
        </p:nvSpPr>
        <p:spPr>
          <a:xfrm>
            <a:off x="5925019" y="6230801"/>
            <a:ext cx="8542286" cy="774884"/>
          </a:xfrm>
          <a:prstGeom prst="rect">
            <a:avLst/>
          </a:prstGeom>
        </p:spPr>
        <p:txBody>
          <a:bodyPr lIns="0" tIns="0" rIns="0" bIns="0" rtlCol="0" anchor="t">
            <a:spAutoFit/>
          </a:bodyPr>
          <a:lstStyle/>
          <a:p>
            <a:pPr algn="l">
              <a:lnSpc>
                <a:spcPts val="5534"/>
              </a:lnSpc>
              <a:spcBef>
                <a:spcPct val="0"/>
              </a:spcBef>
            </a:pPr>
            <a:r>
              <a:rPr lang="en-US" sz="5321" b="1">
                <a:solidFill>
                  <a:srgbClr val="F0F7FE"/>
                </a:solidFill>
                <a:latin typeface="Poppins Bold"/>
                <a:ea typeface="Poppins Bold"/>
                <a:cs typeface="Poppins Bold"/>
                <a:sym typeface="Poppins Bold"/>
              </a:rPr>
              <a:t>Types of Complexity</a:t>
            </a:r>
          </a:p>
        </p:txBody>
      </p:sp>
      <p:sp>
        <p:nvSpPr>
          <p:cNvPr id="17" name="TextBox 17"/>
          <p:cNvSpPr txBox="1"/>
          <p:nvPr/>
        </p:nvSpPr>
        <p:spPr>
          <a:xfrm>
            <a:off x="5674211" y="7731276"/>
            <a:ext cx="9223230" cy="1794135"/>
          </a:xfrm>
          <a:prstGeom prst="rect">
            <a:avLst/>
          </a:prstGeom>
        </p:spPr>
        <p:txBody>
          <a:bodyPr lIns="0" tIns="0" rIns="0" bIns="0" rtlCol="0" anchor="t">
            <a:spAutoFit/>
          </a:bodyPr>
          <a:lstStyle/>
          <a:p>
            <a:pPr algn="l">
              <a:lnSpc>
                <a:spcPts val="3108"/>
              </a:lnSpc>
            </a:pPr>
            <a:r>
              <a:rPr lang="en-US" sz="2547" b="1">
                <a:solidFill>
                  <a:srgbClr val="063050"/>
                </a:solidFill>
                <a:latin typeface="Poppins Medium"/>
                <a:ea typeface="Poppins Medium"/>
                <a:cs typeface="Poppins Medium"/>
                <a:sym typeface="Poppins Medium"/>
              </a:rPr>
              <a:t>There are two main types:</a:t>
            </a:r>
          </a:p>
          <a:p>
            <a:pPr algn="l">
              <a:lnSpc>
                <a:spcPts val="2742"/>
              </a:lnSpc>
            </a:pPr>
            <a:endParaRPr lang="en-US" sz="2547" b="1">
              <a:solidFill>
                <a:srgbClr val="063050"/>
              </a:solidFill>
              <a:latin typeface="Poppins Medium"/>
              <a:ea typeface="Poppins Medium"/>
              <a:cs typeface="Poppins Medium"/>
              <a:sym typeface="Poppins Medium"/>
            </a:endParaRPr>
          </a:p>
          <a:p>
            <a:pPr marL="485273" lvl="1" indent="-242637" algn="l">
              <a:lnSpc>
                <a:spcPts val="2742"/>
              </a:lnSpc>
              <a:buFont typeface="Arial"/>
              <a:buChar char="•"/>
            </a:pPr>
            <a:r>
              <a:rPr lang="en-US" sz="2247" b="1">
                <a:solidFill>
                  <a:srgbClr val="063050"/>
                </a:solidFill>
                <a:latin typeface="Poppins Medium"/>
                <a:ea typeface="Poppins Medium"/>
                <a:cs typeface="Poppins Medium"/>
                <a:sym typeface="Poppins Medium"/>
              </a:rPr>
              <a:t>Time complexity (how long an algorithm takes to run)</a:t>
            </a:r>
          </a:p>
          <a:p>
            <a:pPr marL="485273" lvl="1" indent="-242637" algn="l">
              <a:lnSpc>
                <a:spcPts val="2742"/>
              </a:lnSpc>
              <a:buFont typeface="Arial"/>
              <a:buChar char="•"/>
            </a:pPr>
            <a:r>
              <a:rPr lang="en-US" sz="2247" b="1">
                <a:solidFill>
                  <a:srgbClr val="063050"/>
                </a:solidFill>
                <a:latin typeface="Poppins Medium"/>
                <a:ea typeface="Poppins Medium"/>
                <a:cs typeface="Poppins Medium"/>
                <a:sym typeface="Poppins Medium"/>
              </a:rPr>
              <a:t>space complexity (how much memory it needs)</a:t>
            </a:r>
          </a:p>
          <a:p>
            <a:pPr algn="l">
              <a:lnSpc>
                <a:spcPts val="2742"/>
              </a:lnSpc>
            </a:pPr>
            <a:endParaRPr lang="en-US" sz="2247" b="1">
              <a:solidFill>
                <a:srgbClr val="063050"/>
              </a:solidFill>
              <a:latin typeface="Poppins Medium"/>
              <a:ea typeface="Poppins Medium"/>
              <a:cs typeface="Poppins Medium"/>
              <a:sym typeface="Poppins Medium"/>
            </a:endParaRPr>
          </a:p>
        </p:txBody>
      </p:sp>
      <p:sp>
        <p:nvSpPr>
          <p:cNvPr id="9" name="TextBox 9"/>
          <p:cNvSpPr txBox="1"/>
          <p:nvPr/>
        </p:nvSpPr>
        <p:spPr>
          <a:xfrm>
            <a:off x="5441558" y="1062598"/>
            <a:ext cx="8542286" cy="907471"/>
          </a:xfrm>
          <a:prstGeom prst="rect">
            <a:avLst/>
          </a:prstGeom>
        </p:spPr>
        <p:txBody>
          <a:bodyPr lIns="0" tIns="0" rIns="0" bIns="0" rtlCol="0" anchor="t">
            <a:spAutoFit/>
          </a:bodyPr>
          <a:lstStyle/>
          <a:p>
            <a:pPr algn="l">
              <a:lnSpc>
                <a:spcPts val="6470"/>
              </a:lnSpc>
              <a:spcBef>
                <a:spcPct val="0"/>
              </a:spcBef>
            </a:pPr>
            <a:r>
              <a:rPr lang="en-US" sz="6221" b="1" dirty="0">
                <a:solidFill>
                  <a:srgbClr val="F0F7FE"/>
                </a:solidFill>
                <a:latin typeface="Poppins Bold"/>
                <a:ea typeface="Poppins Bold"/>
                <a:cs typeface="Poppins Bold"/>
                <a:sym typeface="Poppins Bold"/>
              </a:rPr>
              <a:t>Introduction</a:t>
            </a:r>
          </a:p>
        </p:txBody>
      </p:sp>
      <p:sp>
        <p:nvSpPr>
          <p:cNvPr id="2" name="TextBox 1">
            <a:extLst>
              <a:ext uri="{FF2B5EF4-FFF2-40B4-BE49-F238E27FC236}">
                <a16:creationId xmlns:a16="http://schemas.microsoft.com/office/drawing/2014/main" id="{1A7C2061-4B5F-767B-03BB-54C5ECF9EFD7}"/>
              </a:ext>
            </a:extLst>
          </p:cNvPr>
          <p:cNvSpPr txBox="1"/>
          <p:nvPr/>
        </p:nvSpPr>
        <p:spPr>
          <a:xfrm>
            <a:off x="16398744" y="8670117"/>
            <a:ext cx="1371600" cy="1535036"/>
          </a:xfrm>
          <a:prstGeom prst="rect">
            <a:avLst/>
          </a:prstGeom>
          <a:noFill/>
        </p:spPr>
        <p:txBody>
          <a:bodyPr wrap="square">
            <a:spAutoFit/>
          </a:bodyPr>
          <a:lstStyle/>
          <a:p>
            <a:pPr algn="ctr">
              <a:lnSpc>
                <a:spcPts val="12041"/>
              </a:lnSpc>
            </a:pPr>
            <a:r>
              <a:rPr lang="en-US" sz="9600" b="1" spc="-150" dirty="0">
                <a:solidFill>
                  <a:srgbClr val="F2F7FA"/>
                </a:solidFill>
                <a:latin typeface="Times New Roman" panose="02020603050405020304" pitchFamily="18" charset="0"/>
                <a:ea typeface="Telegraf Bold"/>
                <a:cs typeface="Times New Roman" panose="02020603050405020304" pitchFamily="18" charset="0"/>
                <a:sym typeface="Telegraf Bold"/>
              </a:rPr>
              <a:t>02</a:t>
            </a:r>
            <a:endParaRPr lang="en-US" sz="9600" b="1" spc="-993" dirty="0">
              <a:solidFill>
                <a:srgbClr val="F2F7FA"/>
              </a:solidFill>
              <a:latin typeface="Times New Roman" panose="02020603050405020304" pitchFamily="18" charset="0"/>
              <a:ea typeface="Telegraf Bold"/>
              <a:cs typeface="Times New Roman" panose="02020603050405020304" pitchFamily="18" charset="0"/>
              <a:sym typeface="Telegraf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325529" y="527521"/>
            <a:ext cx="18939059" cy="1464829"/>
            <a:chOff x="0" y="0"/>
            <a:chExt cx="4988065" cy="385799"/>
          </a:xfrm>
        </p:grpSpPr>
        <p:sp>
          <p:nvSpPr>
            <p:cNvPr id="4" name="Freeform 4"/>
            <p:cNvSpPr/>
            <p:nvPr/>
          </p:nvSpPr>
          <p:spPr>
            <a:xfrm>
              <a:off x="0" y="0"/>
              <a:ext cx="4988065" cy="385799"/>
            </a:xfrm>
            <a:custGeom>
              <a:avLst/>
              <a:gdLst/>
              <a:ahLst/>
              <a:cxnLst/>
              <a:rect l="l" t="t" r="r" b="b"/>
              <a:pathLst>
                <a:path w="4988065" h="385799">
                  <a:moveTo>
                    <a:pt x="0" y="0"/>
                  </a:moveTo>
                  <a:lnTo>
                    <a:pt x="4988065" y="0"/>
                  </a:lnTo>
                  <a:lnTo>
                    <a:pt x="4988065" y="385799"/>
                  </a:lnTo>
                  <a:lnTo>
                    <a:pt x="0" y="385799"/>
                  </a:lnTo>
                  <a:close/>
                </a:path>
              </a:pathLst>
            </a:custGeom>
            <a:solidFill>
              <a:srgbClr val="2B59C3">
                <a:alpha val="71765"/>
              </a:srgbClr>
            </a:solidFill>
          </p:spPr>
        </p:sp>
        <p:sp>
          <p:nvSpPr>
            <p:cNvPr id="5" name="TextBox 5"/>
            <p:cNvSpPr txBox="1"/>
            <p:nvPr/>
          </p:nvSpPr>
          <p:spPr>
            <a:xfrm>
              <a:off x="0" y="28575"/>
              <a:ext cx="4988065" cy="357224"/>
            </a:xfrm>
            <a:prstGeom prst="rect">
              <a:avLst/>
            </a:prstGeom>
          </p:spPr>
          <p:txBody>
            <a:bodyPr lIns="50800" tIns="50800" rIns="50800" bIns="50800" rtlCol="0" anchor="ctr"/>
            <a:lstStyle/>
            <a:p>
              <a:pPr algn="ctr">
                <a:lnSpc>
                  <a:spcPts val="2661"/>
                </a:lnSpc>
              </a:pPr>
              <a:endParaRPr/>
            </a:p>
          </p:txBody>
        </p:sp>
      </p:grpSp>
      <p:sp>
        <p:nvSpPr>
          <p:cNvPr id="6" name="Freeform 6"/>
          <p:cNvSpPr/>
          <p:nvPr/>
        </p:nvSpPr>
        <p:spPr>
          <a:xfrm>
            <a:off x="13010810" y="-155024"/>
            <a:ext cx="6775868" cy="4114800"/>
          </a:xfrm>
          <a:custGeom>
            <a:avLst/>
            <a:gdLst/>
            <a:ahLst/>
            <a:cxnLst/>
            <a:rect l="l" t="t" r="r" b="b"/>
            <a:pathLst>
              <a:path w="6775868" h="4114800">
                <a:moveTo>
                  <a:pt x="0" y="0"/>
                </a:moveTo>
                <a:lnTo>
                  <a:pt x="6775868" y="0"/>
                </a:lnTo>
                <a:lnTo>
                  <a:pt x="67758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flipH="1" flipV="1">
            <a:off x="12417225" y="6172200"/>
            <a:ext cx="6775868" cy="4114800"/>
          </a:xfrm>
          <a:custGeom>
            <a:avLst/>
            <a:gdLst/>
            <a:ahLst/>
            <a:cxnLst/>
            <a:rect l="l" t="t" r="r" b="b"/>
            <a:pathLst>
              <a:path w="6775868" h="4114800">
                <a:moveTo>
                  <a:pt x="6775869" y="4114800"/>
                </a:moveTo>
                <a:lnTo>
                  <a:pt x="0" y="4114800"/>
                </a:lnTo>
                <a:lnTo>
                  <a:pt x="0" y="0"/>
                </a:lnTo>
                <a:lnTo>
                  <a:pt x="6775869" y="0"/>
                </a:lnTo>
                <a:lnTo>
                  <a:pt x="6775869"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9263774" y="-842039"/>
            <a:ext cx="6775868" cy="4114800"/>
          </a:xfrm>
          <a:custGeom>
            <a:avLst/>
            <a:gdLst/>
            <a:ahLst/>
            <a:cxnLst/>
            <a:rect l="l" t="t" r="r" b="b"/>
            <a:pathLst>
              <a:path w="6775868" h="4114800">
                <a:moveTo>
                  <a:pt x="0" y="0"/>
                </a:moveTo>
                <a:lnTo>
                  <a:pt x="6775868" y="0"/>
                </a:lnTo>
                <a:lnTo>
                  <a:pt x="67758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4856933" y="3174284"/>
            <a:ext cx="3083622" cy="3126612"/>
          </a:xfrm>
          <a:custGeom>
            <a:avLst/>
            <a:gdLst/>
            <a:ahLst/>
            <a:cxnLst/>
            <a:rect l="l" t="t" r="r" b="b"/>
            <a:pathLst>
              <a:path w="3083622" h="3126612">
                <a:moveTo>
                  <a:pt x="0" y="0"/>
                </a:moveTo>
                <a:lnTo>
                  <a:pt x="3083622" y="0"/>
                </a:lnTo>
                <a:lnTo>
                  <a:pt x="3083622" y="3126613"/>
                </a:lnTo>
                <a:lnTo>
                  <a:pt x="0" y="3126613"/>
                </a:lnTo>
                <a:lnTo>
                  <a:pt x="0" y="0"/>
                </a:lnTo>
                <a:close/>
              </a:path>
            </a:pathLst>
          </a:custGeom>
          <a:blipFill>
            <a:blip r:embed="rId4">
              <a:alphaModFix amt="71000"/>
            </a:blip>
            <a:stretch>
              <a:fillRect/>
            </a:stretch>
          </a:blipFill>
        </p:spPr>
      </p:sp>
      <p:sp>
        <p:nvSpPr>
          <p:cNvPr id="10" name="Freeform 10"/>
          <p:cNvSpPr/>
          <p:nvPr/>
        </p:nvSpPr>
        <p:spPr>
          <a:xfrm>
            <a:off x="-246058" y="1259935"/>
            <a:ext cx="2549517" cy="2585062"/>
          </a:xfrm>
          <a:custGeom>
            <a:avLst/>
            <a:gdLst/>
            <a:ahLst/>
            <a:cxnLst/>
            <a:rect l="l" t="t" r="r" b="b"/>
            <a:pathLst>
              <a:path w="2549517" h="2585062">
                <a:moveTo>
                  <a:pt x="0" y="0"/>
                </a:moveTo>
                <a:lnTo>
                  <a:pt x="2549516" y="0"/>
                </a:lnTo>
                <a:lnTo>
                  <a:pt x="2549516" y="2585062"/>
                </a:lnTo>
                <a:lnTo>
                  <a:pt x="0" y="2585062"/>
                </a:lnTo>
                <a:lnTo>
                  <a:pt x="0" y="0"/>
                </a:lnTo>
                <a:close/>
              </a:path>
            </a:pathLst>
          </a:custGeom>
          <a:blipFill>
            <a:blip r:embed="rId4">
              <a:alphaModFix amt="71000"/>
            </a:blip>
            <a:stretch>
              <a:fillRect/>
            </a:stretch>
          </a:blipFill>
        </p:spPr>
      </p:sp>
      <p:sp>
        <p:nvSpPr>
          <p:cNvPr id="11" name="Freeform 11"/>
          <p:cNvSpPr/>
          <p:nvPr/>
        </p:nvSpPr>
        <p:spPr>
          <a:xfrm>
            <a:off x="11321416" y="2724205"/>
            <a:ext cx="5958009" cy="5958009"/>
          </a:xfrm>
          <a:custGeom>
            <a:avLst/>
            <a:gdLst/>
            <a:ahLst/>
            <a:cxnLst/>
            <a:rect l="l" t="t" r="r" b="b"/>
            <a:pathLst>
              <a:path w="5958009" h="5958009">
                <a:moveTo>
                  <a:pt x="0" y="0"/>
                </a:moveTo>
                <a:lnTo>
                  <a:pt x="5958009" y="0"/>
                </a:lnTo>
                <a:lnTo>
                  <a:pt x="5958009" y="5958010"/>
                </a:lnTo>
                <a:lnTo>
                  <a:pt x="0" y="5958010"/>
                </a:lnTo>
                <a:lnTo>
                  <a:pt x="0" y="0"/>
                </a:lnTo>
                <a:close/>
              </a:path>
            </a:pathLst>
          </a:custGeom>
          <a:blipFill>
            <a:blip r:embed="rId5"/>
            <a:stretch>
              <a:fillRect/>
            </a:stretch>
          </a:blipFill>
        </p:spPr>
      </p:sp>
      <p:sp>
        <p:nvSpPr>
          <p:cNvPr id="12" name="TextBox 12"/>
          <p:cNvSpPr txBox="1"/>
          <p:nvPr/>
        </p:nvSpPr>
        <p:spPr>
          <a:xfrm>
            <a:off x="900143" y="770213"/>
            <a:ext cx="12874696" cy="1017545"/>
          </a:xfrm>
          <a:prstGeom prst="rect">
            <a:avLst/>
          </a:prstGeom>
        </p:spPr>
        <p:txBody>
          <a:bodyPr lIns="0" tIns="0" rIns="0" bIns="0" rtlCol="0" anchor="t">
            <a:spAutoFit/>
          </a:bodyPr>
          <a:lstStyle/>
          <a:p>
            <a:pPr algn="l">
              <a:lnSpc>
                <a:spcPts val="7229"/>
              </a:lnSpc>
              <a:spcBef>
                <a:spcPct val="0"/>
              </a:spcBef>
            </a:pPr>
            <a:r>
              <a:rPr lang="en-US" sz="6951" b="1">
                <a:solidFill>
                  <a:srgbClr val="063050"/>
                </a:solidFill>
                <a:latin typeface="Poppins Bold"/>
                <a:ea typeface="Poppins Bold"/>
                <a:cs typeface="Poppins Bold"/>
                <a:sym typeface="Poppins Bold"/>
              </a:rPr>
              <a:t>Asymptotic Notations</a:t>
            </a:r>
          </a:p>
        </p:txBody>
      </p:sp>
      <p:sp>
        <p:nvSpPr>
          <p:cNvPr id="13" name="TextBox 13"/>
          <p:cNvSpPr txBox="1"/>
          <p:nvPr/>
        </p:nvSpPr>
        <p:spPr>
          <a:xfrm>
            <a:off x="900143" y="3193334"/>
            <a:ext cx="10052000" cy="5744945"/>
          </a:xfrm>
          <a:prstGeom prst="rect">
            <a:avLst/>
          </a:prstGeom>
        </p:spPr>
        <p:txBody>
          <a:bodyPr lIns="0" tIns="0" rIns="0" bIns="0" rtlCol="0" anchor="t">
            <a:spAutoFit/>
          </a:bodyPr>
          <a:lstStyle/>
          <a:p>
            <a:pPr algn="l">
              <a:lnSpc>
                <a:spcPts val="3482"/>
              </a:lnSpc>
            </a:pPr>
            <a:r>
              <a:rPr lang="en-US" sz="3348" b="1" dirty="0">
                <a:solidFill>
                  <a:srgbClr val="000000"/>
                </a:solidFill>
                <a:latin typeface="Poppins Medium"/>
                <a:ea typeface="Poppins Medium"/>
                <a:cs typeface="Poppins Medium"/>
                <a:sym typeface="Poppins Medium"/>
              </a:rPr>
              <a:t>Symbol Meaning:</a:t>
            </a:r>
          </a:p>
          <a:p>
            <a:pPr algn="l">
              <a:lnSpc>
                <a:spcPts val="3482"/>
              </a:lnSpc>
            </a:pPr>
            <a:endParaRPr lang="en-US" sz="3348" b="1" dirty="0">
              <a:solidFill>
                <a:srgbClr val="000000"/>
              </a:solidFill>
              <a:latin typeface="Poppins Medium"/>
              <a:ea typeface="Poppins Medium"/>
              <a:cs typeface="Poppins Medium"/>
              <a:sym typeface="Poppins Medium"/>
            </a:endParaRPr>
          </a:p>
          <a:p>
            <a:pPr algn="l">
              <a:lnSpc>
                <a:spcPts val="3482"/>
              </a:lnSpc>
            </a:pPr>
            <a:endParaRPr lang="en-US" sz="3348" b="1" dirty="0">
              <a:solidFill>
                <a:srgbClr val="000000"/>
              </a:solidFill>
              <a:latin typeface="Poppins Medium"/>
              <a:ea typeface="Poppins Medium"/>
              <a:cs typeface="Poppins Medium"/>
              <a:sym typeface="Poppins Medium"/>
            </a:endParaRPr>
          </a:p>
          <a:p>
            <a:pPr algn="l">
              <a:lnSpc>
                <a:spcPts val="3482"/>
              </a:lnSpc>
            </a:pPr>
            <a:r>
              <a:rPr lang="en-US" sz="3348" b="1" dirty="0">
                <a:solidFill>
                  <a:srgbClr val="000000"/>
                </a:solidFill>
                <a:latin typeface="Poppins Medium"/>
                <a:ea typeface="Poppins Medium"/>
                <a:cs typeface="Poppins Medium"/>
                <a:sym typeface="Poppins Medium"/>
              </a:rPr>
              <a:t>Used For:</a:t>
            </a:r>
          </a:p>
          <a:p>
            <a:pPr algn="l">
              <a:lnSpc>
                <a:spcPts val="3482"/>
              </a:lnSpc>
            </a:pPr>
            <a:endParaRPr lang="en-US" sz="3348" b="1" dirty="0">
              <a:solidFill>
                <a:srgbClr val="000000"/>
              </a:solidFill>
              <a:latin typeface="Poppins Medium"/>
              <a:ea typeface="Poppins Medium"/>
              <a:cs typeface="Poppins Medium"/>
              <a:sym typeface="Poppins Medium"/>
            </a:endParaRPr>
          </a:p>
          <a:p>
            <a:pPr algn="l">
              <a:lnSpc>
                <a:spcPts val="3482"/>
              </a:lnSpc>
            </a:pPr>
            <a:r>
              <a:rPr lang="en-US" sz="3348" b="1" dirty="0">
                <a:solidFill>
                  <a:srgbClr val="000000"/>
                </a:solidFill>
                <a:latin typeface="Poppins Medium"/>
                <a:ea typeface="Poppins Medium"/>
                <a:cs typeface="Poppins Medium"/>
                <a:sym typeface="Poppins Medium"/>
              </a:rPr>
              <a:t>O (Big O)        Upper bound             Worst case</a:t>
            </a:r>
          </a:p>
          <a:p>
            <a:pPr algn="l">
              <a:lnSpc>
                <a:spcPts val="3482"/>
              </a:lnSpc>
            </a:pPr>
            <a:endParaRPr lang="en-US" sz="3348" b="1" dirty="0">
              <a:solidFill>
                <a:srgbClr val="000000"/>
              </a:solidFill>
              <a:latin typeface="Poppins Medium"/>
              <a:ea typeface="Poppins Medium"/>
              <a:cs typeface="Poppins Medium"/>
              <a:sym typeface="Poppins Medium"/>
            </a:endParaRPr>
          </a:p>
          <a:p>
            <a:pPr algn="l">
              <a:lnSpc>
                <a:spcPts val="3482"/>
              </a:lnSpc>
            </a:pPr>
            <a:r>
              <a:rPr lang="en-US" sz="3348" b="1" dirty="0">
                <a:solidFill>
                  <a:srgbClr val="000000"/>
                </a:solidFill>
                <a:latin typeface="Poppins Medium"/>
                <a:ea typeface="Poppins Medium"/>
                <a:cs typeface="Poppins Medium"/>
                <a:sym typeface="Poppins Medium"/>
              </a:rPr>
              <a:t>Ω (Omega)    Lower bound             Best case</a:t>
            </a:r>
          </a:p>
          <a:p>
            <a:pPr algn="l">
              <a:lnSpc>
                <a:spcPts val="3482"/>
              </a:lnSpc>
            </a:pPr>
            <a:endParaRPr lang="en-US" sz="3348" b="1" dirty="0">
              <a:solidFill>
                <a:srgbClr val="000000"/>
              </a:solidFill>
              <a:latin typeface="Poppins Medium"/>
              <a:ea typeface="Poppins Medium"/>
              <a:cs typeface="Poppins Medium"/>
              <a:sym typeface="Poppins Medium"/>
            </a:endParaRPr>
          </a:p>
          <a:p>
            <a:pPr algn="l">
              <a:lnSpc>
                <a:spcPts val="3482"/>
              </a:lnSpc>
            </a:pPr>
            <a:r>
              <a:rPr lang="en-US" sz="3348" b="1" dirty="0">
                <a:solidFill>
                  <a:srgbClr val="000000"/>
                </a:solidFill>
                <a:latin typeface="Poppins Medium"/>
                <a:ea typeface="Poppins Medium"/>
                <a:cs typeface="Poppins Medium"/>
                <a:sym typeface="Poppins Medium"/>
              </a:rPr>
              <a:t>Θ (Theta)       Tight bound               Average case</a:t>
            </a:r>
          </a:p>
          <a:p>
            <a:pPr algn="l">
              <a:lnSpc>
                <a:spcPts val="3482"/>
              </a:lnSpc>
            </a:pPr>
            <a:endParaRPr lang="en-US" sz="3348" b="1" dirty="0">
              <a:solidFill>
                <a:srgbClr val="000000"/>
              </a:solidFill>
              <a:latin typeface="Poppins Medium"/>
              <a:ea typeface="Poppins Medium"/>
              <a:cs typeface="Poppins Medium"/>
              <a:sym typeface="Poppins Medium"/>
            </a:endParaRPr>
          </a:p>
          <a:p>
            <a:pPr algn="l">
              <a:lnSpc>
                <a:spcPts val="3482"/>
              </a:lnSpc>
            </a:pPr>
            <a:endParaRPr lang="en-US" sz="3348" b="1" dirty="0">
              <a:solidFill>
                <a:srgbClr val="000000"/>
              </a:solidFill>
              <a:latin typeface="Poppins Medium"/>
              <a:ea typeface="Poppins Medium"/>
              <a:cs typeface="Poppins Medium"/>
              <a:sym typeface="Poppins Medium"/>
            </a:endParaRPr>
          </a:p>
          <a:p>
            <a:pPr algn="l">
              <a:lnSpc>
                <a:spcPts val="3482"/>
              </a:lnSpc>
              <a:spcBef>
                <a:spcPct val="0"/>
              </a:spcBef>
            </a:pPr>
            <a:r>
              <a:rPr lang="en-US" sz="3348" b="1" dirty="0">
                <a:solidFill>
                  <a:srgbClr val="000000"/>
                </a:solidFill>
                <a:latin typeface="Poppins Medium"/>
                <a:ea typeface="Poppins Medium"/>
                <a:cs typeface="Poppins Medium"/>
                <a:sym typeface="Poppins Medium"/>
              </a:rPr>
              <a:t>Example: Loop from 1 to n → O(n), Ω(n), Θ(n)</a:t>
            </a:r>
          </a:p>
        </p:txBody>
      </p:sp>
      <p:sp>
        <p:nvSpPr>
          <p:cNvPr id="15" name="TextBox 14">
            <a:extLst>
              <a:ext uri="{FF2B5EF4-FFF2-40B4-BE49-F238E27FC236}">
                <a16:creationId xmlns:a16="http://schemas.microsoft.com/office/drawing/2014/main" id="{3AE0CCF5-EDCB-031A-5EF0-E2D37058BCC5}"/>
              </a:ext>
            </a:extLst>
          </p:cNvPr>
          <p:cNvSpPr txBox="1"/>
          <p:nvPr/>
        </p:nvSpPr>
        <p:spPr>
          <a:xfrm>
            <a:off x="16398744" y="8670117"/>
            <a:ext cx="1371600" cy="1535036"/>
          </a:xfrm>
          <a:prstGeom prst="rect">
            <a:avLst/>
          </a:prstGeom>
          <a:noFill/>
        </p:spPr>
        <p:txBody>
          <a:bodyPr wrap="square">
            <a:spAutoFit/>
          </a:bodyPr>
          <a:lstStyle/>
          <a:p>
            <a:pPr algn="ctr">
              <a:lnSpc>
                <a:spcPts val="12041"/>
              </a:lnSpc>
            </a:pPr>
            <a:r>
              <a:rPr lang="en-US" sz="9600" b="1" spc="-150" dirty="0">
                <a:solidFill>
                  <a:srgbClr val="F2F7FA"/>
                </a:solidFill>
                <a:latin typeface="Times New Roman" panose="02020603050405020304" pitchFamily="18" charset="0"/>
                <a:ea typeface="Telegraf Bold"/>
                <a:cs typeface="Times New Roman" panose="02020603050405020304" pitchFamily="18" charset="0"/>
                <a:sym typeface="Telegraf Bold"/>
              </a:rPr>
              <a:t>03</a:t>
            </a:r>
            <a:endParaRPr lang="en-US" sz="9600" b="1" spc="-993" dirty="0">
              <a:solidFill>
                <a:srgbClr val="F2F7FA"/>
              </a:solidFill>
              <a:latin typeface="Times New Roman" panose="02020603050405020304" pitchFamily="18" charset="0"/>
              <a:ea typeface="Telegraf Bold"/>
              <a:cs typeface="Times New Roman" panose="02020603050405020304" pitchFamily="18" charset="0"/>
              <a:sym typeface="Telegraf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160370" y="1110884"/>
            <a:ext cx="527662" cy="527662"/>
          </a:xfrm>
          <a:custGeom>
            <a:avLst/>
            <a:gdLst/>
            <a:ahLst/>
            <a:cxnLst/>
            <a:rect l="l" t="t" r="r" b="b"/>
            <a:pathLst>
              <a:path w="527662" h="527662">
                <a:moveTo>
                  <a:pt x="0" y="0"/>
                </a:moveTo>
                <a:lnTo>
                  <a:pt x="527662" y="0"/>
                </a:lnTo>
                <a:lnTo>
                  <a:pt x="527662" y="527661"/>
                </a:lnTo>
                <a:lnTo>
                  <a:pt x="0" y="5276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0712739" y="4305951"/>
            <a:ext cx="5314633" cy="2666980"/>
          </a:xfrm>
          <a:custGeom>
            <a:avLst/>
            <a:gdLst/>
            <a:ahLst/>
            <a:cxnLst/>
            <a:rect l="l" t="t" r="r" b="b"/>
            <a:pathLst>
              <a:path w="5314633" h="2666980">
                <a:moveTo>
                  <a:pt x="0" y="0"/>
                </a:moveTo>
                <a:lnTo>
                  <a:pt x="5314634" y="0"/>
                </a:lnTo>
                <a:lnTo>
                  <a:pt x="5314634" y="2666980"/>
                </a:lnTo>
                <a:lnTo>
                  <a:pt x="0" y="26669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2577415" y="622573"/>
            <a:ext cx="4312901" cy="7366756"/>
          </a:xfrm>
          <a:custGeom>
            <a:avLst/>
            <a:gdLst/>
            <a:ahLst/>
            <a:cxnLst/>
            <a:rect l="l" t="t" r="r" b="b"/>
            <a:pathLst>
              <a:path w="4312901" h="7366756">
                <a:moveTo>
                  <a:pt x="4312901" y="0"/>
                </a:moveTo>
                <a:lnTo>
                  <a:pt x="0" y="0"/>
                </a:lnTo>
                <a:lnTo>
                  <a:pt x="0" y="7366756"/>
                </a:lnTo>
                <a:lnTo>
                  <a:pt x="4312901" y="7366756"/>
                </a:lnTo>
                <a:lnTo>
                  <a:pt x="4312901"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5630683" y="784161"/>
            <a:ext cx="5314633" cy="2666980"/>
          </a:xfrm>
          <a:custGeom>
            <a:avLst/>
            <a:gdLst/>
            <a:ahLst/>
            <a:cxnLst/>
            <a:rect l="l" t="t" r="r" b="b"/>
            <a:pathLst>
              <a:path w="5314633" h="2666980">
                <a:moveTo>
                  <a:pt x="0" y="0"/>
                </a:moveTo>
                <a:lnTo>
                  <a:pt x="5314634" y="0"/>
                </a:lnTo>
                <a:lnTo>
                  <a:pt x="5314634" y="2666980"/>
                </a:lnTo>
                <a:lnTo>
                  <a:pt x="0" y="26669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5630683" y="6297422"/>
            <a:ext cx="5314633" cy="2666980"/>
          </a:xfrm>
          <a:custGeom>
            <a:avLst/>
            <a:gdLst/>
            <a:ahLst/>
            <a:cxnLst/>
            <a:rect l="l" t="t" r="r" b="b"/>
            <a:pathLst>
              <a:path w="5314633" h="2666980">
                <a:moveTo>
                  <a:pt x="0" y="0"/>
                </a:moveTo>
                <a:lnTo>
                  <a:pt x="5314634" y="0"/>
                </a:lnTo>
                <a:lnTo>
                  <a:pt x="5314634" y="2666980"/>
                </a:lnTo>
                <a:lnTo>
                  <a:pt x="0" y="26669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3806694" y="141165"/>
            <a:ext cx="3083622" cy="3126612"/>
          </a:xfrm>
          <a:custGeom>
            <a:avLst/>
            <a:gdLst/>
            <a:ahLst/>
            <a:cxnLst/>
            <a:rect l="l" t="t" r="r" b="b"/>
            <a:pathLst>
              <a:path w="3083622" h="3126612">
                <a:moveTo>
                  <a:pt x="0" y="0"/>
                </a:moveTo>
                <a:lnTo>
                  <a:pt x="3083622" y="0"/>
                </a:lnTo>
                <a:lnTo>
                  <a:pt x="3083622" y="3126612"/>
                </a:lnTo>
                <a:lnTo>
                  <a:pt x="0" y="3126612"/>
                </a:lnTo>
                <a:lnTo>
                  <a:pt x="0" y="0"/>
                </a:lnTo>
                <a:close/>
              </a:path>
            </a:pathLst>
          </a:custGeom>
          <a:blipFill>
            <a:blip r:embed="rId8">
              <a:alphaModFix amt="71000"/>
            </a:blip>
            <a:stretch>
              <a:fillRect/>
            </a:stretch>
          </a:blipFill>
        </p:spPr>
      </p:sp>
      <p:sp>
        <p:nvSpPr>
          <p:cNvPr id="9" name="TextBox 9"/>
          <p:cNvSpPr txBox="1"/>
          <p:nvPr/>
        </p:nvSpPr>
        <p:spPr>
          <a:xfrm>
            <a:off x="1028700" y="2136701"/>
            <a:ext cx="9994586" cy="654826"/>
          </a:xfrm>
          <a:prstGeom prst="rect">
            <a:avLst/>
          </a:prstGeom>
        </p:spPr>
        <p:txBody>
          <a:bodyPr lIns="0" tIns="0" rIns="0" bIns="0" rtlCol="0" anchor="t">
            <a:spAutoFit/>
          </a:bodyPr>
          <a:lstStyle/>
          <a:p>
            <a:pPr algn="l">
              <a:lnSpc>
                <a:spcPts val="4611"/>
              </a:lnSpc>
              <a:spcBef>
                <a:spcPct val="0"/>
              </a:spcBef>
            </a:pPr>
            <a:r>
              <a:rPr lang="en-US" sz="4433" b="1">
                <a:solidFill>
                  <a:srgbClr val="063050"/>
                </a:solidFill>
                <a:latin typeface="Poppins Bold"/>
                <a:ea typeface="Poppins Bold"/>
                <a:cs typeface="Poppins Bold"/>
                <a:sym typeface="Poppins Bold"/>
              </a:rPr>
              <a:t>What Are Complexity Classes?</a:t>
            </a:r>
          </a:p>
        </p:txBody>
      </p:sp>
      <p:sp>
        <p:nvSpPr>
          <p:cNvPr id="10" name="TextBox 10"/>
          <p:cNvSpPr txBox="1"/>
          <p:nvPr/>
        </p:nvSpPr>
        <p:spPr>
          <a:xfrm>
            <a:off x="1028700" y="3239202"/>
            <a:ext cx="9560167" cy="5089903"/>
          </a:xfrm>
          <a:prstGeom prst="rect">
            <a:avLst/>
          </a:prstGeom>
        </p:spPr>
        <p:txBody>
          <a:bodyPr lIns="0" tIns="0" rIns="0" bIns="0" rtlCol="0" anchor="t">
            <a:spAutoFit/>
          </a:bodyPr>
          <a:lstStyle/>
          <a:p>
            <a:pPr algn="l">
              <a:lnSpc>
                <a:spcPts val="2868"/>
              </a:lnSpc>
            </a:pPr>
            <a:r>
              <a:rPr lang="en-US" sz="2351" b="1">
                <a:solidFill>
                  <a:srgbClr val="063050"/>
                </a:solidFill>
                <a:latin typeface="Poppins Medium"/>
                <a:ea typeface="Poppins Medium"/>
                <a:cs typeface="Poppins Medium"/>
                <a:sym typeface="Poppins Medium"/>
              </a:rPr>
              <a:t>Points:</a:t>
            </a:r>
          </a:p>
          <a:p>
            <a:pPr algn="l">
              <a:lnSpc>
                <a:spcPts val="2868"/>
              </a:lnSpc>
            </a:pPr>
            <a:endParaRPr lang="en-US" sz="2351" b="1">
              <a:solidFill>
                <a:srgbClr val="063050"/>
              </a:solidFill>
              <a:latin typeface="Poppins Medium"/>
              <a:ea typeface="Poppins Medium"/>
              <a:cs typeface="Poppins Medium"/>
              <a:sym typeface="Poppins Medium"/>
            </a:endParaRPr>
          </a:p>
          <a:p>
            <a:pPr marL="507609" lvl="1" indent="-253804" algn="l">
              <a:lnSpc>
                <a:spcPts val="2868"/>
              </a:lnSpc>
              <a:buFont typeface="Arial"/>
              <a:buChar char="•"/>
            </a:pPr>
            <a:r>
              <a:rPr lang="en-US" sz="2351" b="1">
                <a:solidFill>
                  <a:srgbClr val="063050"/>
                </a:solidFill>
                <a:latin typeface="Poppins Medium"/>
                <a:ea typeface="Poppins Medium"/>
                <a:cs typeface="Poppins Medium"/>
                <a:sym typeface="Poppins Medium"/>
              </a:rPr>
              <a:t>Complexity classes group problems by how difficult they are to solve.</a:t>
            </a:r>
          </a:p>
          <a:p>
            <a:pPr marL="507609" lvl="1" indent="-253804" algn="l">
              <a:lnSpc>
                <a:spcPts val="2868"/>
              </a:lnSpc>
              <a:buFont typeface="Arial"/>
              <a:buChar char="•"/>
            </a:pPr>
            <a:r>
              <a:rPr lang="en-US" sz="2351" b="1">
                <a:solidFill>
                  <a:srgbClr val="063050"/>
                </a:solidFill>
                <a:latin typeface="Poppins Medium"/>
                <a:ea typeface="Poppins Medium"/>
                <a:cs typeface="Poppins Medium"/>
                <a:sym typeface="Poppins Medium"/>
              </a:rPr>
              <a:t>They show which problems computers can solve efficiently and which are too</a:t>
            </a:r>
          </a:p>
          <a:p>
            <a:pPr marL="507609" lvl="1" indent="-253804" algn="l">
              <a:lnSpc>
                <a:spcPts val="2868"/>
              </a:lnSpc>
              <a:buFont typeface="Arial"/>
              <a:buChar char="•"/>
            </a:pPr>
            <a:r>
              <a:rPr lang="en-US" sz="2351" b="1">
                <a:solidFill>
                  <a:srgbClr val="063050"/>
                </a:solidFill>
                <a:latin typeface="Poppins Medium"/>
                <a:ea typeface="Poppins Medium"/>
                <a:cs typeface="Poppins Medium"/>
                <a:sym typeface="Poppins Medium"/>
              </a:rPr>
              <a:t>hard.</a:t>
            </a:r>
          </a:p>
          <a:p>
            <a:pPr marL="507609" lvl="1" indent="-253804" algn="l">
              <a:lnSpc>
                <a:spcPts val="2868"/>
              </a:lnSpc>
              <a:buFont typeface="Arial"/>
              <a:buChar char="•"/>
            </a:pPr>
            <a:r>
              <a:rPr lang="en-US" sz="2351" b="1">
                <a:solidFill>
                  <a:srgbClr val="063050"/>
                </a:solidFill>
                <a:latin typeface="Poppins Medium"/>
                <a:ea typeface="Poppins Medium"/>
                <a:cs typeface="Poppins Medium"/>
                <a:sym typeface="Poppins Medium"/>
              </a:rPr>
              <a:t>Mainly based on time complexity using polynomial time as a limit of efficiency.</a:t>
            </a:r>
          </a:p>
          <a:p>
            <a:pPr algn="l">
              <a:lnSpc>
                <a:spcPts val="2868"/>
              </a:lnSpc>
            </a:pPr>
            <a:endParaRPr lang="en-US" sz="2351" b="1">
              <a:solidFill>
                <a:srgbClr val="063050"/>
              </a:solidFill>
              <a:latin typeface="Poppins Medium"/>
              <a:ea typeface="Poppins Medium"/>
              <a:cs typeface="Poppins Medium"/>
              <a:sym typeface="Poppins Medium"/>
            </a:endParaRPr>
          </a:p>
          <a:p>
            <a:pPr algn="l">
              <a:lnSpc>
                <a:spcPts val="2868"/>
              </a:lnSpc>
            </a:pPr>
            <a:r>
              <a:rPr lang="en-US" sz="2351" b="1">
                <a:solidFill>
                  <a:srgbClr val="063050"/>
                </a:solidFill>
                <a:latin typeface="Poppins Medium"/>
                <a:ea typeface="Poppins Medium"/>
                <a:cs typeface="Poppins Medium"/>
                <a:sym typeface="Poppins Medium"/>
              </a:rPr>
              <a:t>Example Question:</a:t>
            </a:r>
          </a:p>
          <a:p>
            <a:pPr algn="l">
              <a:lnSpc>
                <a:spcPts val="2868"/>
              </a:lnSpc>
            </a:pPr>
            <a:r>
              <a:rPr lang="en-US" sz="2351" b="1">
                <a:solidFill>
                  <a:srgbClr val="063050"/>
                </a:solidFill>
                <a:latin typeface="Poppins Medium"/>
                <a:ea typeface="Poppins Medium"/>
                <a:cs typeface="Poppins Medium"/>
                <a:sym typeface="Poppins Medium"/>
              </a:rPr>
              <a:t>Can we solve this problem fast (like n² or n³) — or only very slowly (like 2ⁿ)?</a:t>
            </a:r>
          </a:p>
          <a:p>
            <a:pPr algn="l">
              <a:lnSpc>
                <a:spcPts val="2868"/>
              </a:lnSpc>
            </a:pPr>
            <a:endParaRPr lang="en-US" sz="2351" b="1">
              <a:solidFill>
                <a:srgbClr val="063050"/>
              </a:solidFill>
              <a:latin typeface="Poppins Medium"/>
              <a:ea typeface="Poppins Medium"/>
              <a:cs typeface="Poppins Medium"/>
              <a:sym typeface="Poppins Medium"/>
            </a:endParaRPr>
          </a:p>
        </p:txBody>
      </p:sp>
      <p:sp>
        <p:nvSpPr>
          <p:cNvPr id="11" name="Freeform 11"/>
          <p:cNvSpPr/>
          <p:nvPr/>
        </p:nvSpPr>
        <p:spPr>
          <a:xfrm>
            <a:off x="8573047" y="7630912"/>
            <a:ext cx="3083622" cy="3126612"/>
          </a:xfrm>
          <a:custGeom>
            <a:avLst/>
            <a:gdLst/>
            <a:ahLst/>
            <a:cxnLst/>
            <a:rect l="l" t="t" r="r" b="b"/>
            <a:pathLst>
              <a:path w="3083622" h="3126612">
                <a:moveTo>
                  <a:pt x="0" y="0"/>
                </a:moveTo>
                <a:lnTo>
                  <a:pt x="3083622" y="0"/>
                </a:lnTo>
                <a:lnTo>
                  <a:pt x="3083622" y="3126613"/>
                </a:lnTo>
                <a:lnTo>
                  <a:pt x="0" y="3126613"/>
                </a:lnTo>
                <a:lnTo>
                  <a:pt x="0" y="0"/>
                </a:lnTo>
                <a:close/>
              </a:path>
            </a:pathLst>
          </a:custGeom>
          <a:blipFill>
            <a:blip r:embed="rId8">
              <a:alphaModFix amt="71000"/>
            </a:blip>
            <a:stretch>
              <a:fillRect/>
            </a:stretch>
          </a:blipFill>
        </p:spPr>
      </p:sp>
      <p:sp>
        <p:nvSpPr>
          <p:cNvPr id="2" name="TextBox 1">
            <a:extLst>
              <a:ext uri="{FF2B5EF4-FFF2-40B4-BE49-F238E27FC236}">
                <a16:creationId xmlns:a16="http://schemas.microsoft.com/office/drawing/2014/main" id="{3E5051DD-C707-1898-E5AD-EE7F5C883A00}"/>
              </a:ext>
            </a:extLst>
          </p:cNvPr>
          <p:cNvSpPr txBox="1"/>
          <p:nvPr/>
        </p:nvSpPr>
        <p:spPr>
          <a:xfrm>
            <a:off x="16398744" y="8670117"/>
            <a:ext cx="1371600" cy="1535036"/>
          </a:xfrm>
          <a:prstGeom prst="rect">
            <a:avLst/>
          </a:prstGeom>
          <a:noFill/>
        </p:spPr>
        <p:txBody>
          <a:bodyPr wrap="square">
            <a:spAutoFit/>
          </a:bodyPr>
          <a:lstStyle/>
          <a:p>
            <a:pPr algn="ctr">
              <a:lnSpc>
                <a:spcPts val="12041"/>
              </a:lnSpc>
            </a:pPr>
            <a:r>
              <a:rPr lang="en-US" sz="9600" b="1" spc="-150" dirty="0">
                <a:solidFill>
                  <a:srgbClr val="F2F7FA"/>
                </a:solidFill>
                <a:latin typeface="Times New Roman" panose="02020603050405020304" pitchFamily="18" charset="0"/>
                <a:ea typeface="Telegraf Bold"/>
                <a:cs typeface="Times New Roman" panose="02020603050405020304" pitchFamily="18" charset="0"/>
                <a:sym typeface="Telegraf Bold"/>
              </a:rPr>
              <a:t>04</a:t>
            </a:r>
            <a:endParaRPr lang="en-US" sz="9600" b="1" spc="-993" dirty="0">
              <a:solidFill>
                <a:srgbClr val="F2F7FA"/>
              </a:solidFill>
              <a:latin typeface="Times New Roman" panose="02020603050405020304" pitchFamily="18" charset="0"/>
              <a:ea typeface="Telegraf Bold"/>
              <a:cs typeface="Times New Roman" panose="02020603050405020304" pitchFamily="18" charset="0"/>
              <a:sym typeface="Telegraf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299584" y="764869"/>
            <a:ext cx="527662" cy="527662"/>
          </a:xfrm>
          <a:custGeom>
            <a:avLst/>
            <a:gdLst/>
            <a:ahLst/>
            <a:cxnLst/>
            <a:rect l="l" t="t" r="r" b="b"/>
            <a:pathLst>
              <a:path w="527662" h="527662">
                <a:moveTo>
                  <a:pt x="0" y="0"/>
                </a:moveTo>
                <a:lnTo>
                  <a:pt x="527662" y="0"/>
                </a:lnTo>
                <a:lnTo>
                  <a:pt x="527662" y="527662"/>
                </a:lnTo>
                <a:lnTo>
                  <a:pt x="0" y="5276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1201300" y="369706"/>
            <a:ext cx="2232436" cy="2263560"/>
          </a:xfrm>
          <a:custGeom>
            <a:avLst/>
            <a:gdLst/>
            <a:ahLst/>
            <a:cxnLst/>
            <a:rect l="l" t="t" r="r" b="b"/>
            <a:pathLst>
              <a:path w="2232436" h="2263560">
                <a:moveTo>
                  <a:pt x="0" y="0"/>
                </a:moveTo>
                <a:lnTo>
                  <a:pt x="2232436" y="0"/>
                </a:lnTo>
                <a:lnTo>
                  <a:pt x="2232436" y="2263560"/>
                </a:lnTo>
                <a:lnTo>
                  <a:pt x="0" y="2263560"/>
                </a:lnTo>
                <a:lnTo>
                  <a:pt x="0" y="0"/>
                </a:lnTo>
                <a:close/>
              </a:path>
            </a:pathLst>
          </a:custGeom>
          <a:blipFill>
            <a:blip r:embed="rId4">
              <a:alphaModFix amt="71000"/>
            </a:blip>
            <a:stretch>
              <a:fillRect/>
            </a:stretch>
          </a:blipFill>
        </p:spPr>
      </p:sp>
      <p:sp>
        <p:nvSpPr>
          <p:cNvPr id="5" name="TextBox 5"/>
          <p:cNvSpPr txBox="1"/>
          <p:nvPr/>
        </p:nvSpPr>
        <p:spPr>
          <a:xfrm>
            <a:off x="2203344" y="594014"/>
            <a:ext cx="8521706" cy="907471"/>
          </a:xfrm>
          <a:prstGeom prst="rect">
            <a:avLst/>
          </a:prstGeom>
        </p:spPr>
        <p:txBody>
          <a:bodyPr lIns="0" tIns="0" rIns="0" bIns="0" rtlCol="0" anchor="t">
            <a:spAutoFit/>
          </a:bodyPr>
          <a:lstStyle/>
          <a:p>
            <a:pPr algn="l">
              <a:lnSpc>
                <a:spcPts val="6470"/>
              </a:lnSpc>
              <a:spcBef>
                <a:spcPct val="0"/>
              </a:spcBef>
            </a:pPr>
            <a:r>
              <a:rPr lang="en-US" sz="6221" b="1">
                <a:solidFill>
                  <a:srgbClr val="063050"/>
                </a:solidFill>
                <a:latin typeface="Poppins Bold"/>
                <a:ea typeface="Poppins Bold"/>
                <a:cs typeface="Poppins Bold"/>
                <a:sym typeface="Poppins Bold"/>
              </a:rPr>
              <a:t>Complexity Classes</a:t>
            </a:r>
          </a:p>
        </p:txBody>
      </p:sp>
      <p:grpSp>
        <p:nvGrpSpPr>
          <p:cNvPr id="6" name="Group 6"/>
          <p:cNvGrpSpPr/>
          <p:nvPr/>
        </p:nvGrpSpPr>
        <p:grpSpPr>
          <a:xfrm>
            <a:off x="1827246" y="2578429"/>
            <a:ext cx="357065" cy="357065"/>
            <a:chOff x="0" y="0"/>
            <a:chExt cx="94042" cy="94042"/>
          </a:xfrm>
        </p:grpSpPr>
        <p:sp>
          <p:nvSpPr>
            <p:cNvPr id="7" name="Freeform 7"/>
            <p:cNvSpPr/>
            <p:nvPr/>
          </p:nvSpPr>
          <p:spPr>
            <a:xfrm>
              <a:off x="0" y="0"/>
              <a:ext cx="94042" cy="94042"/>
            </a:xfrm>
            <a:custGeom>
              <a:avLst/>
              <a:gdLst/>
              <a:ahLst/>
              <a:cxnLst/>
              <a:rect l="l" t="t" r="r" b="b"/>
              <a:pathLst>
                <a:path w="94042" h="94042">
                  <a:moveTo>
                    <a:pt x="0" y="0"/>
                  </a:moveTo>
                  <a:lnTo>
                    <a:pt x="94042" y="0"/>
                  </a:lnTo>
                  <a:lnTo>
                    <a:pt x="94042" y="94042"/>
                  </a:lnTo>
                  <a:lnTo>
                    <a:pt x="0" y="94042"/>
                  </a:lnTo>
                  <a:close/>
                </a:path>
              </a:pathLst>
            </a:custGeom>
            <a:solidFill>
              <a:srgbClr val="4F9FF5"/>
            </a:solidFill>
          </p:spPr>
        </p:sp>
        <p:sp>
          <p:nvSpPr>
            <p:cNvPr id="8" name="TextBox 8"/>
            <p:cNvSpPr txBox="1"/>
            <p:nvPr/>
          </p:nvSpPr>
          <p:spPr>
            <a:xfrm>
              <a:off x="0" y="28575"/>
              <a:ext cx="94042" cy="65467"/>
            </a:xfrm>
            <a:prstGeom prst="rect">
              <a:avLst/>
            </a:prstGeom>
          </p:spPr>
          <p:txBody>
            <a:bodyPr lIns="50800" tIns="50800" rIns="50800" bIns="50800" rtlCol="0" anchor="ctr"/>
            <a:lstStyle/>
            <a:p>
              <a:pPr algn="ctr">
                <a:lnSpc>
                  <a:spcPts val="2661"/>
                </a:lnSpc>
              </a:pPr>
              <a:endParaRPr/>
            </a:p>
          </p:txBody>
        </p:sp>
      </p:grpSp>
      <p:sp>
        <p:nvSpPr>
          <p:cNvPr id="9" name="TextBox 9"/>
          <p:cNvSpPr txBox="1"/>
          <p:nvPr/>
        </p:nvSpPr>
        <p:spPr>
          <a:xfrm>
            <a:off x="2660616" y="2426645"/>
            <a:ext cx="6483384" cy="2108070"/>
          </a:xfrm>
          <a:prstGeom prst="rect">
            <a:avLst/>
          </a:prstGeom>
        </p:spPr>
        <p:txBody>
          <a:bodyPr lIns="0" tIns="0" rIns="0" bIns="0" rtlCol="0" anchor="t">
            <a:spAutoFit/>
          </a:bodyPr>
          <a:lstStyle/>
          <a:p>
            <a:pPr algn="l">
              <a:lnSpc>
                <a:spcPts val="3722"/>
              </a:lnSpc>
            </a:pPr>
            <a:r>
              <a:rPr lang="en-US" sz="3051" b="1">
                <a:solidFill>
                  <a:srgbClr val="063050"/>
                </a:solidFill>
                <a:latin typeface="Poppins Medium"/>
                <a:ea typeface="Poppins Medium"/>
                <a:cs typeface="Poppins Medium"/>
                <a:sym typeface="Poppins Medium"/>
              </a:rPr>
              <a:t>P</a:t>
            </a:r>
          </a:p>
          <a:p>
            <a:pPr marL="464430" lvl="1" indent="-232215" algn="l">
              <a:lnSpc>
                <a:spcPts val="2624"/>
              </a:lnSpc>
              <a:buFont typeface="Arial"/>
              <a:buChar char="•"/>
            </a:pPr>
            <a:r>
              <a:rPr lang="en-US" sz="2151" b="1">
                <a:solidFill>
                  <a:srgbClr val="063050"/>
                </a:solidFill>
                <a:latin typeface="Poppins Medium"/>
                <a:ea typeface="Poppins Medium"/>
                <a:cs typeface="Poppins Medium"/>
                <a:sym typeface="Poppins Medium"/>
              </a:rPr>
              <a:t>Problems solvable quickly (in polynomial time)</a:t>
            </a:r>
          </a:p>
          <a:p>
            <a:pPr marL="464430" lvl="1" indent="-232215" algn="l">
              <a:lnSpc>
                <a:spcPts val="2624"/>
              </a:lnSpc>
              <a:buFont typeface="Arial"/>
              <a:buChar char="•"/>
            </a:pPr>
            <a:r>
              <a:rPr lang="en-US" sz="2151" b="1">
                <a:solidFill>
                  <a:srgbClr val="063050"/>
                </a:solidFill>
                <a:latin typeface="Poppins Medium"/>
                <a:ea typeface="Poppins Medium"/>
                <a:cs typeface="Poppins Medium"/>
                <a:sym typeface="Poppins Medium"/>
              </a:rPr>
              <a:t>Sorting, Shortest Path</a:t>
            </a:r>
          </a:p>
          <a:p>
            <a:pPr marL="464430" lvl="1" indent="-232215" algn="l">
              <a:lnSpc>
                <a:spcPts val="2624"/>
              </a:lnSpc>
              <a:buFont typeface="Arial"/>
              <a:buChar char="•"/>
            </a:pPr>
            <a:r>
              <a:rPr lang="en-US" sz="2151" b="1">
                <a:solidFill>
                  <a:srgbClr val="063050"/>
                </a:solidFill>
                <a:latin typeface="Poppins Medium"/>
                <a:ea typeface="Poppins Medium"/>
                <a:cs typeface="Poppins Medium"/>
                <a:sym typeface="Poppins Medium"/>
              </a:rPr>
              <a:t>Easy to solve &amp; verify</a:t>
            </a:r>
          </a:p>
          <a:p>
            <a:pPr algn="l">
              <a:lnSpc>
                <a:spcPts val="2502"/>
              </a:lnSpc>
            </a:pPr>
            <a:endParaRPr lang="en-US" sz="2151" b="1">
              <a:solidFill>
                <a:srgbClr val="063050"/>
              </a:solidFill>
              <a:latin typeface="Poppins Medium"/>
              <a:ea typeface="Poppins Medium"/>
              <a:cs typeface="Poppins Medium"/>
              <a:sym typeface="Poppins Medium"/>
            </a:endParaRPr>
          </a:p>
        </p:txBody>
      </p:sp>
      <p:grpSp>
        <p:nvGrpSpPr>
          <p:cNvPr id="10" name="Group 10"/>
          <p:cNvGrpSpPr/>
          <p:nvPr/>
        </p:nvGrpSpPr>
        <p:grpSpPr>
          <a:xfrm>
            <a:off x="9402074" y="5859929"/>
            <a:ext cx="357065" cy="357065"/>
            <a:chOff x="0" y="0"/>
            <a:chExt cx="94042" cy="94042"/>
          </a:xfrm>
        </p:grpSpPr>
        <p:sp>
          <p:nvSpPr>
            <p:cNvPr id="11" name="Freeform 11"/>
            <p:cNvSpPr/>
            <p:nvPr/>
          </p:nvSpPr>
          <p:spPr>
            <a:xfrm>
              <a:off x="0" y="0"/>
              <a:ext cx="94042" cy="94042"/>
            </a:xfrm>
            <a:custGeom>
              <a:avLst/>
              <a:gdLst/>
              <a:ahLst/>
              <a:cxnLst/>
              <a:rect l="l" t="t" r="r" b="b"/>
              <a:pathLst>
                <a:path w="94042" h="94042">
                  <a:moveTo>
                    <a:pt x="0" y="0"/>
                  </a:moveTo>
                  <a:lnTo>
                    <a:pt x="94042" y="0"/>
                  </a:lnTo>
                  <a:lnTo>
                    <a:pt x="94042" y="94042"/>
                  </a:lnTo>
                  <a:lnTo>
                    <a:pt x="0" y="94042"/>
                  </a:lnTo>
                  <a:close/>
                </a:path>
              </a:pathLst>
            </a:custGeom>
            <a:solidFill>
              <a:srgbClr val="4F9FF5"/>
            </a:solidFill>
          </p:spPr>
        </p:sp>
        <p:sp>
          <p:nvSpPr>
            <p:cNvPr id="12" name="TextBox 12"/>
            <p:cNvSpPr txBox="1"/>
            <p:nvPr/>
          </p:nvSpPr>
          <p:spPr>
            <a:xfrm>
              <a:off x="0" y="28575"/>
              <a:ext cx="94042" cy="65467"/>
            </a:xfrm>
            <a:prstGeom prst="rect">
              <a:avLst/>
            </a:prstGeom>
          </p:spPr>
          <p:txBody>
            <a:bodyPr lIns="50800" tIns="50800" rIns="50800" bIns="50800" rtlCol="0" anchor="ctr"/>
            <a:lstStyle/>
            <a:p>
              <a:pPr algn="ctr">
                <a:lnSpc>
                  <a:spcPts val="2661"/>
                </a:lnSpc>
              </a:pPr>
              <a:endParaRPr/>
            </a:p>
          </p:txBody>
        </p:sp>
      </p:grpSp>
      <p:grpSp>
        <p:nvGrpSpPr>
          <p:cNvPr id="13" name="Group 13"/>
          <p:cNvGrpSpPr/>
          <p:nvPr/>
        </p:nvGrpSpPr>
        <p:grpSpPr>
          <a:xfrm>
            <a:off x="1827246" y="5859929"/>
            <a:ext cx="357065" cy="357065"/>
            <a:chOff x="0" y="0"/>
            <a:chExt cx="94042" cy="94042"/>
          </a:xfrm>
        </p:grpSpPr>
        <p:sp>
          <p:nvSpPr>
            <p:cNvPr id="14" name="Freeform 14"/>
            <p:cNvSpPr/>
            <p:nvPr/>
          </p:nvSpPr>
          <p:spPr>
            <a:xfrm>
              <a:off x="0" y="0"/>
              <a:ext cx="94042" cy="94042"/>
            </a:xfrm>
            <a:custGeom>
              <a:avLst/>
              <a:gdLst/>
              <a:ahLst/>
              <a:cxnLst/>
              <a:rect l="l" t="t" r="r" b="b"/>
              <a:pathLst>
                <a:path w="94042" h="94042">
                  <a:moveTo>
                    <a:pt x="0" y="0"/>
                  </a:moveTo>
                  <a:lnTo>
                    <a:pt x="94042" y="0"/>
                  </a:lnTo>
                  <a:lnTo>
                    <a:pt x="94042" y="94042"/>
                  </a:lnTo>
                  <a:lnTo>
                    <a:pt x="0" y="94042"/>
                  </a:lnTo>
                  <a:close/>
                </a:path>
              </a:pathLst>
            </a:custGeom>
            <a:solidFill>
              <a:srgbClr val="4F9FF5"/>
            </a:solidFill>
          </p:spPr>
        </p:sp>
        <p:sp>
          <p:nvSpPr>
            <p:cNvPr id="15" name="TextBox 15"/>
            <p:cNvSpPr txBox="1"/>
            <p:nvPr/>
          </p:nvSpPr>
          <p:spPr>
            <a:xfrm>
              <a:off x="0" y="28575"/>
              <a:ext cx="94042" cy="65467"/>
            </a:xfrm>
            <a:prstGeom prst="rect">
              <a:avLst/>
            </a:prstGeom>
          </p:spPr>
          <p:txBody>
            <a:bodyPr lIns="50800" tIns="50800" rIns="50800" bIns="50800" rtlCol="0" anchor="ctr"/>
            <a:lstStyle/>
            <a:p>
              <a:pPr algn="ctr">
                <a:lnSpc>
                  <a:spcPts val="2661"/>
                </a:lnSpc>
              </a:pPr>
              <a:endParaRPr/>
            </a:p>
          </p:txBody>
        </p:sp>
      </p:grpSp>
      <p:sp>
        <p:nvSpPr>
          <p:cNvPr id="16" name="Freeform 16"/>
          <p:cNvSpPr/>
          <p:nvPr/>
        </p:nvSpPr>
        <p:spPr>
          <a:xfrm>
            <a:off x="-2157493" y="6777497"/>
            <a:ext cx="4313283" cy="4373418"/>
          </a:xfrm>
          <a:custGeom>
            <a:avLst/>
            <a:gdLst/>
            <a:ahLst/>
            <a:cxnLst/>
            <a:rect l="l" t="t" r="r" b="b"/>
            <a:pathLst>
              <a:path w="4313283" h="4373418">
                <a:moveTo>
                  <a:pt x="0" y="0"/>
                </a:moveTo>
                <a:lnTo>
                  <a:pt x="4313284" y="0"/>
                </a:lnTo>
                <a:lnTo>
                  <a:pt x="4313284" y="4373418"/>
                </a:lnTo>
                <a:lnTo>
                  <a:pt x="0" y="4373418"/>
                </a:lnTo>
                <a:lnTo>
                  <a:pt x="0" y="0"/>
                </a:lnTo>
                <a:close/>
              </a:path>
            </a:pathLst>
          </a:custGeom>
          <a:blipFill>
            <a:blip r:embed="rId4">
              <a:alphaModFix amt="71000"/>
            </a:blip>
            <a:stretch>
              <a:fillRect/>
            </a:stretch>
          </a:blipFill>
        </p:spPr>
      </p:sp>
      <p:sp>
        <p:nvSpPr>
          <p:cNvPr id="17" name="Freeform 17"/>
          <p:cNvSpPr/>
          <p:nvPr/>
        </p:nvSpPr>
        <p:spPr>
          <a:xfrm>
            <a:off x="15906066" y="6478896"/>
            <a:ext cx="4313283" cy="4373418"/>
          </a:xfrm>
          <a:custGeom>
            <a:avLst/>
            <a:gdLst/>
            <a:ahLst/>
            <a:cxnLst/>
            <a:rect l="l" t="t" r="r" b="b"/>
            <a:pathLst>
              <a:path w="4313283" h="4373418">
                <a:moveTo>
                  <a:pt x="0" y="0"/>
                </a:moveTo>
                <a:lnTo>
                  <a:pt x="4313283" y="0"/>
                </a:lnTo>
                <a:lnTo>
                  <a:pt x="4313283" y="4373418"/>
                </a:lnTo>
                <a:lnTo>
                  <a:pt x="0" y="4373418"/>
                </a:lnTo>
                <a:lnTo>
                  <a:pt x="0" y="0"/>
                </a:lnTo>
                <a:close/>
              </a:path>
            </a:pathLst>
          </a:custGeom>
          <a:blipFill>
            <a:blip r:embed="rId4">
              <a:alphaModFix amt="71000"/>
            </a:blip>
            <a:stretch>
              <a:fillRect/>
            </a:stretch>
          </a:blipFill>
        </p:spPr>
      </p:sp>
      <p:grpSp>
        <p:nvGrpSpPr>
          <p:cNvPr id="18" name="Group 18"/>
          <p:cNvGrpSpPr/>
          <p:nvPr/>
        </p:nvGrpSpPr>
        <p:grpSpPr>
          <a:xfrm>
            <a:off x="9402074" y="2578429"/>
            <a:ext cx="357065" cy="357065"/>
            <a:chOff x="0" y="0"/>
            <a:chExt cx="94042" cy="94042"/>
          </a:xfrm>
        </p:grpSpPr>
        <p:sp>
          <p:nvSpPr>
            <p:cNvPr id="19" name="Freeform 19"/>
            <p:cNvSpPr/>
            <p:nvPr/>
          </p:nvSpPr>
          <p:spPr>
            <a:xfrm>
              <a:off x="0" y="0"/>
              <a:ext cx="94042" cy="94042"/>
            </a:xfrm>
            <a:custGeom>
              <a:avLst/>
              <a:gdLst/>
              <a:ahLst/>
              <a:cxnLst/>
              <a:rect l="l" t="t" r="r" b="b"/>
              <a:pathLst>
                <a:path w="94042" h="94042">
                  <a:moveTo>
                    <a:pt x="0" y="0"/>
                  </a:moveTo>
                  <a:lnTo>
                    <a:pt x="94042" y="0"/>
                  </a:lnTo>
                  <a:lnTo>
                    <a:pt x="94042" y="94042"/>
                  </a:lnTo>
                  <a:lnTo>
                    <a:pt x="0" y="94042"/>
                  </a:lnTo>
                  <a:close/>
                </a:path>
              </a:pathLst>
            </a:custGeom>
            <a:solidFill>
              <a:srgbClr val="4F9FF5"/>
            </a:solidFill>
          </p:spPr>
        </p:sp>
        <p:sp>
          <p:nvSpPr>
            <p:cNvPr id="20" name="TextBox 20"/>
            <p:cNvSpPr txBox="1"/>
            <p:nvPr/>
          </p:nvSpPr>
          <p:spPr>
            <a:xfrm>
              <a:off x="0" y="28575"/>
              <a:ext cx="94042" cy="65467"/>
            </a:xfrm>
            <a:prstGeom prst="rect">
              <a:avLst/>
            </a:prstGeom>
          </p:spPr>
          <p:txBody>
            <a:bodyPr lIns="50800" tIns="50800" rIns="50800" bIns="50800" rtlCol="0" anchor="ctr"/>
            <a:lstStyle/>
            <a:p>
              <a:pPr algn="ctr">
                <a:lnSpc>
                  <a:spcPts val="2661"/>
                </a:lnSpc>
              </a:pPr>
              <a:endParaRPr/>
            </a:p>
          </p:txBody>
        </p:sp>
      </p:grpSp>
      <p:sp>
        <p:nvSpPr>
          <p:cNvPr id="21" name="TextBox 21"/>
          <p:cNvSpPr txBox="1"/>
          <p:nvPr/>
        </p:nvSpPr>
        <p:spPr>
          <a:xfrm>
            <a:off x="10235389" y="2426645"/>
            <a:ext cx="6483384" cy="2108070"/>
          </a:xfrm>
          <a:prstGeom prst="rect">
            <a:avLst/>
          </a:prstGeom>
        </p:spPr>
        <p:txBody>
          <a:bodyPr lIns="0" tIns="0" rIns="0" bIns="0" rtlCol="0" anchor="t">
            <a:spAutoFit/>
          </a:bodyPr>
          <a:lstStyle/>
          <a:p>
            <a:pPr algn="l">
              <a:lnSpc>
                <a:spcPts val="3722"/>
              </a:lnSpc>
            </a:pPr>
            <a:r>
              <a:rPr lang="en-US" sz="3051" b="1">
                <a:solidFill>
                  <a:srgbClr val="063050"/>
                </a:solidFill>
                <a:latin typeface="Poppins Medium"/>
                <a:ea typeface="Poppins Medium"/>
                <a:cs typeface="Poppins Medium"/>
                <a:sym typeface="Poppins Medium"/>
              </a:rPr>
              <a:t>NP</a:t>
            </a:r>
          </a:p>
          <a:p>
            <a:pPr marL="464430" lvl="1" indent="-232215" algn="l">
              <a:lnSpc>
                <a:spcPts val="2624"/>
              </a:lnSpc>
              <a:buFont typeface="Arial"/>
              <a:buChar char="•"/>
            </a:pPr>
            <a:r>
              <a:rPr lang="en-US" sz="2151" b="1">
                <a:solidFill>
                  <a:srgbClr val="063050"/>
                </a:solidFill>
                <a:latin typeface="Poppins Medium"/>
                <a:ea typeface="Poppins Medium"/>
                <a:cs typeface="Poppins Medium"/>
                <a:sym typeface="Poppins Medium"/>
              </a:rPr>
              <a:t>Problems verifiable quickly, but may take long to solve</a:t>
            </a:r>
          </a:p>
          <a:p>
            <a:pPr marL="464430" lvl="1" indent="-232215" algn="l">
              <a:lnSpc>
                <a:spcPts val="2624"/>
              </a:lnSpc>
              <a:buFont typeface="Arial"/>
              <a:buChar char="•"/>
            </a:pPr>
            <a:r>
              <a:rPr lang="en-US" sz="2151" b="1">
                <a:solidFill>
                  <a:srgbClr val="063050"/>
                </a:solidFill>
                <a:latin typeface="Poppins Medium"/>
                <a:ea typeface="Poppins Medium"/>
                <a:cs typeface="Poppins Medium"/>
                <a:sym typeface="Poppins Medium"/>
              </a:rPr>
              <a:t>Sudoku, Subset Sum</a:t>
            </a:r>
          </a:p>
          <a:p>
            <a:pPr marL="464430" lvl="1" indent="-232215" algn="l">
              <a:lnSpc>
                <a:spcPts val="2624"/>
              </a:lnSpc>
              <a:buFont typeface="Arial"/>
              <a:buChar char="•"/>
            </a:pPr>
            <a:r>
              <a:rPr lang="en-US" sz="2151" b="1">
                <a:solidFill>
                  <a:srgbClr val="063050"/>
                </a:solidFill>
                <a:latin typeface="Poppins Medium"/>
                <a:ea typeface="Poppins Medium"/>
                <a:cs typeface="Poppins Medium"/>
                <a:sym typeface="Poppins Medium"/>
              </a:rPr>
              <a:t>Hard to solve, easy to check</a:t>
            </a:r>
          </a:p>
          <a:p>
            <a:pPr algn="l">
              <a:lnSpc>
                <a:spcPts val="2502"/>
              </a:lnSpc>
            </a:pPr>
            <a:endParaRPr lang="en-US" sz="2151" b="1">
              <a:solidFill>
                <a:srgbClr val="063050"/>
              </a:solidFill>
              <a:latin typeface="Poppins Medium"/>
              <a:ea typeface="Poppins Medium"/>
              <a:cs typeface="Poppins Medium"/>
              <a:sym typeface="Poppins Medium"/>
            </a:endParaRPr>
          </a:p>
        </p:txBody>
      </p:sp>
      <p:sp>
        <p:nvSpPr>
          <p:cNvPr id="22" name="TextBox 22"/>
          <p:cNvSpPr txBox="1"/>
          <p:nvPr/>
        </p:nvSpPr>
        <p:spPr>
          <a:xfrm>
            <a:off x="2660616" y="5821829"/>
            <a:ext cx="6483384" cy="2108070"/>
          </a:xfrm>
          <a:prstGeom prst="rect">
            <a:avLst/>
          </a:prstGeom>
        </p:spPr>
        <p:txBody>
          <a:bodyPr lIns="0" tIns="0" rIns="0" bIns="0" rtlCol="0" anchor="t">
            <a:spAutoFit/>
          </a:bodyPr>
          <a:lstStyle/>
          <a:p>
            <a:pPr algn="l">
              <a:lnSpc>
                <a:spcPts val="3722"/>
              </a:lnSpc>
            </a:pPr>
            <a:r>
              <a:rPr lang="en-US" sz="3051" b="1">
                <a:solidFill>
                  <a:srgbClr val="063050"/>
                </a:solidFill>
                <a:latin typeface="Poppins Medium"/>
                <a:ea typeface="Poppins Medium"/>
                <a:cs typeface="Poppins Medium"/>
                <a:sym typeface="Poppins Medium"/>
              </a:rPr>
              <a:t>NP-Complete</a:t>
            </a:r>
          </a:p>
          <a:p>
            <a:pPr marL="464430" lvl="1" indent="-232215" algn="l">
              <a:lnSpc>
                <a:spcPts val="2624"/>
              </a:lnSpc>
              <a:buFont typeface="Arial"/>
              <a:buChar char="•"/>
            </a:pPr>
            <a:r>
              <a:rPr lang="en-US" sz="2151" b="1">
                <a:solidFill>
                  <a:srgbClr val="063050"/>
                </a:solidFill>
                <a:latin typeface="Poppins Medium"/>
                <a:ea typeface="Poppins Medium"/>
                <a:cs typeface="Poppins Medium"/>
                <a:sym typeface="Poppins Medium"/>
              </a:rPr>
              <a:t>Hardest problems in NP — if one solved quickly, all NP can be</a:t>
            </a:r>
          </a:p>
          <a:p>
            <a:pPr marL="464430" lvl="1" indent="-232215" algn="l">
              <a:lnSpc>
                <a:spcPts val="2624"/>
              </a:lnSpc>
              <a:buFont typeface="Arial"/>
              <a:buChar char="•"/>
            </a:pPr>
            <a:r>
              <a:rPr lang="en-US" sz="2151" b="1">
                <a:solidFill>
                  <a:srgbClr val="063050"/>
                </a:solidFill>
                <a:latin typeface="Poppins Medium"/>
                <a:ea typeface="Poppins Medium"/>
                <a:cs typeface="Poppins Medium"/>
                <a:sym typeface="Poppins Medium"/>
              </a:rPr>
              <a:t>Traveling Salesman, 3-SAT</a:t>
            </a:r>
          </a:p>
          <a:p>
            <a:pPr marL="464430" lvl="1" indent="-232215" algn="l">
              <a:lnSpc>
                <a:spcPts val="2624"/>
              </a:lnSpc>
              <a:buFont typeface="Arial"/>
              <a:buChar char="•"/>
            </a:pPr>
            <a:r>
              <a:rPr lang="en-US" sz="2151" b="1">
                <a:solidFill>
                  <a:srgbClr val="063050"/>
                </a:solidFill>
                <a:latin typeface="Poppins Medium"/>
                <a:ea typeface="Poppins Medium"/>
                <a:cs typeface="Poppins Medium"/>
                <a:sym typeface="Poppins Medium"/>
              </a:rPr>
              <a:t>“Benchmark” for hardness</a:t>
            </a:r>
          </a:p>
          <a:p>
            <a:pPr algn="l">
              <a:lnSpc>
                <a:spcPts val="2502"/>
              </a:lnSpc>
            </a:pPr>
            <a:endParaRPr lang="en-US" sz="2151" b="1">
              <a:solidFill>
                <a:srgbClr val="063050"/>
              </a:solidFill>
              <a:latin typeface="Poppins Medium"/>
              <a:ea typeface="Poppins Medium"/>
              <a:cs typeface="Poppins Medium"/>
              <a:sym typeface="Poppins Medium"/>
            </a:endParaRPr>
          </a:p>
        </p:txBody>
      </p:sp>
      <p:sp>
        <p:nvSpPr>
          <p:cNvPr id="23" name="TextBox 23"/>
          <p:cNvSpPr txBox="1"/>
          <p:nvPr/>
        </p:nvSpPr>
        <p:spPr>
          <a:xfrm>
            <a:off x="10225864" y="5694887"/>
            <a:ext cx="6483384" cy="2108070"/>
          </a:xfrm>
          <a:prstGeom prst="rect">
            <a:avLst/>
          </a:prstGeom>
        </p:spPr>
        <p:txBody>
          <a:bodyPr lIns="0" tIns="0" rIns="0" bIns="0" rtlCol="0" anchor="t">
            <a:spAutoFit/>
          </a:bodyPr>
          <a:lstStyle/>
          <a:p>
            <a:pPr algn="l">
              <a:lnSpc>
                <a:spcPts val="3722"/>
              </a:lnSpc>
            </a:pPr>
            <a:r>
              <a:rPr lang="en-US" sz="3051" b="1">
                <a:solidFill>
                  <a:srgbClr val="063050"/>
                </a:solidFill>
                <a:latin typeface="Poppins Medium"/>
                <a:ea typeface="Poppins Medium"/>
                <a:cs typeface="Poppins Medium"/>
                <a:sym typeface="Poppins Medium"/>
              </a:rPr>
              <a:t>NP-Hard</a:t>
            </a:r>
          </a:p>
          <a:p>
            <a:pPr marL="464430" lvl="1" indent="-232215" algn="l">
              <a:lnSpc>
                <a:spcPts val="2624"/>
              </a:lnSpc>
              <a:buFont typeface="Arial"/>
              <a:buChar char="•"/>
            </a:pPr>
            <a:r>
              <a:rPr lang="en-US" sz="2151" b="1">
                <a:solidFill>
                  <a:srgbClr val="063050"/>
                </a:solidFill>
                <a:latin typeface="Poppins Medium"/>
                <a:ea typeface="Poppins Medium"/>
                <a:cs typeface="Poppins Medium"/>
                <a:sym typeface="Poppins Medium"/>
              </a:rPr>
              <a:t>At least as hard as NP-Complete, not necessarily in NP</a:t>
            </a:r>
          </a:p>
          <a:p>
            <a:pPr marL="464430" lvl="1" indent="-232215" algn="l">
              <a:lnSpc>
                <a:spcPts val="2624"/>
              </a:lnSpc>
              <a:buFont typeface="Arial"/>
              <a:buChar char="•"/>
            </a:pPr>
            <a:r>
              <a:rPr lang="en-US" sz="2151" b="1">
                <a:solidFill>
                  <a:srgbClr val="063050"/>
                </a:solidFill>
                <a:latin typeface="Poppins Medium"/>
                <a:ea typeface="Poppins Medium"/>
                <a:cs typeface="Poppins Medium"/>
                <a:sym typeface="Poppins Medium"/>
              </a:rPr>
              <a:t>Halting Problem, Optimization problems</a:t>
            </a:r>
          </a:p>
          <a:p>
            <a:pPr marL="464430" lvl="1" indent="-232215" algn="l">
              <a:lnSpc>
                <a:spcPts val="2624"/>
              </a:lnSpc>
              <a:buFont typeface="Arial"/>
              <a:buChar char="•"/>
            </a:pPr>
            <a:r>
              <a:rPr lang="en-US" sz="2151" b="1">
                <a:solidFill>
                  <a:srgbClr val="063050"/>
                </a:solidFill>
                <a:latin typeface="Poppins Medium"/>
                <a:ea typeface="Poppins Medium"/>
                <a:cs typeface="Poppins Medium"/>
                <a:sym typeface="Poppins Medium"/>
              </a:rPr>
              <a:t>May not even be checkable</a:t>
            </a:r>
          </a:p>
          <a:p>
            <a:pPr algn="l">
              <a:lnSpc>
                <a:spcPts val="2502"/>
              </a:lnSpc>
            </a:pPr>
            <a:endParaRPr lang="en-US" sz="2151" b="1">
              <a:solidFill>
                <a:srgbClr val="063050"/>
              </a:solidFill>
              <a:latin typeface="Poppins Medium"/>
              <a:ea typeface="Poppins Medium"/>
              <a:cs typeface="Poppins Medium"/>
              <a:sym typeface="Poppins Medium"/>
            </a:endParaRPr>
          </a:p>
        </p:txBody>
      </p:sp>
      <p:sp>
        <p:nvSpPr>
          <p:cNvPr id="2" name="TextBox 1">
            <a:extLst>
              <a:ext uri="{FF2B5EF4-FFF2-40B4-BE49-F238E27FC236}">
                <a16:creationId xmlns:a16="http://schemas.microsoft.com/office/drawing/2014/main" id="{607F0ED4-B743-F5C7-935A-14B62F41C692}"/>
              </a:ext>
            </a:extLst>
          </p:cNvPr>
          <p:cNvSpPr txBox="1"/>
          <p:nvPr/>
        </p:nvSpPr>
        <p:spPr>
          <a:xfrm>
            <a:off x="16398744" y="8670117"/>
            <a:ext cx="1371600" cy="1535036"/>
          </a:xfrm>
          <a:prstGeom prst="rect">
            <a:avLst/>
          </a:prstGeom>
          <a:noFill/>
        </p:spPr>
        <p:txBody>
          <a:bodyPr wrap="square">
            <a:spAutoFit/>
          </a:bodyPr>
          <a:lstStyle/>
          <a:p>
            <a:pPr algn="ctr">
              <a:lnSpc>
                <a:spcPts val="12041"/>
              </a:lnSpc>
            </a:pPr>
            <a:r>
              <a:rPr lang="en-US" sz="9600" b="1" spc="-150" dirty="0">
                <a:solidFill>
                  <a:srgbClr val="F2F7FA"/>
                </a:solidFill>
                <a:latin typeface="Times New Roman" panose="02020603050405020304" pitchFamily="18" charset="0"/>
                <a:ea typeface="Telegraf Bold"/>
                <a:cs typeface="Times New Roman" panose="02020603050405020304" pitchFamily="18" charset="0"/>
                <a:sym typeface="Telegraf Bold"/>
              </a:rPr>
              <a:t>05</a:t>
            </a:r>
            <a:endParaRPr lang="en-US" sz="9600" b="1" spc="-993" dirty="0">
              <a:solidFill>
                <a:srgbClr val="F2F7FA"/>
              </a:solidFill>
              <a:latin typeface="Times New Roman" panose="02020603050405020304" pitchFamily="18" charset="0"/>
              <a:ea typeface="Telegraf Bold"/>
              <a:cs typeface="Times New Roman" panose="02020603050405020304" pitchFamily="18" charset="0"/>
              <a:sym typeface="Telegraf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299584" y="764869"/>
            <a:ext cx="527662" cy="527662"/>
          </a:xfrm>
          <a:custGeom>
            <a:avLst/>
            <a:gdLst/>
            <a:ahLst/>
            <a:cxnLst/>
            <a:rect l="l" t="t" r="r" b="b"/>
            <a:pathLst>
              <a:path w="527662" h="527662">
                <a:moveTo>
                  <a:pt x="0" y="0"/>
                </a:moveTo>
                <a:lnTo>
                  <a:pt x="527662" y="0"/>
                </a:lnTo>
                <a:lnTo>
                  <a:pt x="527662" y="527662"/>
                </a:lnTo>
                <a:lnTo>
                  <a:pt x="0" y="5276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1991022" y="1332965"/>
            <a:ext cx="2232436" cy="2263560"/>
          </a:xfrm>
          <a:custGeom>
            <a:avLst/>
            <a:gdLst/>
            <a:ahLst/>
            <a:cxnLst/>
            <a:rect l="l" t="t" r="r" b="b"/>
            <a:pathLst>
              <a:path w="2232436" h="2263560">
                <a:moveTo>
                  <a:pt x="0" y="0"/>
                </a:moveTo>
                <a:lnTo>
                  <a:pt x="2232436" y="0"/>
                </a:lnTo>
                <a:lnTo>
                  <a:pt x="2232436" y="2263559"/>
                </a:lnTo>
                <a:lnTo>
                  <a:pt x="0" y="2263559"/>
                </a:lnTo>
                <a:lnTo>
                  <a:pt x="0" y="0"/>
                </a:lnTo>
                <a:close/>
              </a:path>
            </a:pathLst>
          </a:custGeom>
          <a:blipFill>
            <a:blip r:embed="rId4">
              <a:alphaModFix amt="71000"/>
            </a:blip>
            <a:stretch>
              <a:fillRect/>
            </a:stretch>
          </a:blipFill>
        </p:spPr>
      </p:sp>
      <p:grpSp>
        <p:nvGrpSpPr>
          <p:cNvPr id="5" name="Group 5"/>
          <p:cNvGrpSpPr/>
          <p:nvPr/>
        </p:nvGrpSpPr>
        <p:grpSpPr>
          <a:xfrm>
            <a:off x="1470181" y="1984614"/>
            <a:ext cx="357065" cy="357065"/>
            <a:chOff x="0" y="0"/>
            <a:chExt cx="94042" cy="94042"/>
          </a:xfrm>
        </p:grpSpPr>
        <p:sp>
          <p:nvSpPr>
            <p:cNvPr id="6" name="Freeform 6"/>
            <p:cNvSpPr/>
            <p:nvPr/>
          </p:nvSpPr>
          <p:spPr>
            <a:xfrm>
              <a:off x="0" y="0"/>
              <a:ext cx="94042" cy="94042"/>
            </a:xfrm>
            <a:custGeom>
              <a:avLst/>
              <a:gdLst/>
              <a:ahLst/>
              <a:cxnLst/>
              <a:rect l="l" t="t" r="r" b="b"/>
              <a:pathLst>
                <a:path w="94042" h="94042">
                  <a:moveTo>
                    <a:pt x="0" y="0"/>
                  </a:moveTo>
                  <a:lnTo>
                    <a:pt x="94042" y="0"/>
                  </a:lnTo>
                  <a:lnTo>
                    <a:pt x="94042" y="94042"/>
                  </a:lnTo>
                  <a:lnTo>
                    <a:pt x="0" y="94042"/>
                  </a:lnTo>
                  <a:close/>
                </a:path>
              </a:pathLst>
            </a:custGeom>
            <a:solidFill>
              <a:srgbClr val="4F9FF5"/>
            </a:solidFill>
          </p:spPr>
        </p:sp>
        <p:sp>
          <p:nvSpPr>
            <p:cNvPr id="7" name="TextBox 7"/>
            <p:cNvSpPr txBox="1"/>
            <p:nvPr/>
          </p:nvSpPr>
          <p:spPr>
            <a:xfrm>
              <a:off x="0" y="28575"/>
              <a:ext cx="94042" cy="65467"/>
            </a:xfrm>
            <a:prstGeom prst="rect">
              <a:avLst/>
            </a:prstGeom>
          </p:spPr>
          <p:txBody>
            <a:bodyPr lIns="50800" tIns="50800" rIns="50800" bIns="50800" rtlCol="0" anchor="ctr"/>
            <a:lstStyle/>
            <a:p>
              <a:pPr algn="ctr">
                <a:lnSpc>
                  <a:spcPts val="2661"/>
                </a:lnSpc>
              </a:pPr>
              <a:endParaRPr/>
            </a:p>
          </p:txBody>
        </p:sp>
      </p:grpSp>
      <p:grpSp>
        <p:nvGrpSpPr>
          <p:cNvPr id="8" name="Group 8"/>
          <p:cNvGrpSpPr/>
          <p:nvPr/>
        </p:nvGrpSpPr>
        <p:grpSpPr>
          <a:xfrm>
            <a:off x="1470181" y="3474791"/>
            <a:ext cx="357065" cy="357065"/>
            <a:chOff x="0" y="0"/>
            <a:chExt cx="94042" cy="94042"/>
          </a:xfrm>
        </p:grpSpPr>
        <p:sp>
          <p:nvSpPr>
            <p:cNvPr id="9" name="Freeform 9"/>
            <p:cNvSpPr/>
            <p:nvPr/>
          </p:nvSpPr>
          <p:spPr>
            <a:xfrm>
              <a:off x="0" y="0"/>
              <a:ext cx="94042" cy="94042"/>
            </a:xfrm>
            <a:custGeom>
              <a:avLst/>
              <a:gdLst/>
              <a:ahLst/>
              <a:cxnLst/>
              <a:rect l="l" t="t" r="r" b="b"/>
              <a:pathLst>
                <a:path w="94042" h="94042">
                  <a:moveTo>
                    <a:pt x="0" y="0"/>
                  </a:moveTo>
                  <a:lnTo>
                    <a:pt x="94042" y="0"/>
                  </a:lnTo>
                  <a:lnTo>
                    <a:pt x="94042" y="94042"/>
                  </a:lnTo>
                  <a:lnTo>
                    <a:pt x="0" y="94042"/>
                  </a:lnTo>
                  <a:close/>
                </a:path>
              </a:pathLst>
            </a:custGeom>
            <a:solidFill>
              <a:srgbClr val="4F9FF5"/>
            </a:solidFill>
          </p:spPr>
        </p:sp>
        <p:sp>
          <p:nvSpPr>
            <p:cNvPr id="10" name="TextBox 10"/>
            <p:cNvSpPr txBox="1"/>
            <p:nvPr/>
          </p:nvSpPr>
          <p:spPr>
            <a:xfrm>
              <a:off x="0" y="28575"/>
              <a:ext cx="94042" cy="65467"/>
            </a:xfrm>
            <a:prstGeom prst="rect">
              <a:avLst/>
            </a:prstGeom>
          </p:spPr>
          <p:txBody>
            <a:bodyPr lIns="50800" tIns="50800" rIns="50800" bIns="50800" rtlCol="0" anchor="ctr"/>
            <a:lstStyle/>
            <a:p>
              <a:pPr algn="ctr">
                <a:lnSpc>
                  <a:spcPts val="2661"/>
                </a:lnSpc>
              </a:pPr>
              <a:endParaRPr/>
            </a:p>
          </p:txBody>
        </p:sp>
      </p:grpSp>
      <p:grpSp>
        <p:nvGrpSpPr>
          <p:cNvPr id="11" name="Group 11"/>
          <p:cNvGrpSpPr/>
          <p:nvPr/>
        </p:nvGrpSpPr>
        <p:grpSpPr>
          <a:xfrm>
            <a:off x="1470181" y="4964968"/>
            <a:ext cx="357065" cy="357065"/>
            <a:chOff x="0" y="0"/>
            <a:chExt cx="94042" cy="94042"/>
          </a:xfrm>
        </p:grpSpPr>
        <p:sp>
          <p:nvSpPr>
            <p:cNvPr id="12" name="Freeform 12"/>
            <p:cNvSpPr/>
            <p:nvPr/>
          </p:nvSpPr>
          <p:spPr>
            <a:xfrm>
              <a:off x="0" y="0"/>
              <a:ext cx="94042" cy="94042"/>
            </a:xfrm>
            <a:custGeom>
              <a:avLst/>
              <a:gdLst/>
              <a:ahLst/>
              <a:cxnLst/>
              <a:rect l="l" t="t" r="r" b="b"/>
              <a:pathLst>
                <a:path w="94042" h="94042">
                  <a:moveTo>
                    <a:pt x="0" y="0"/>
                  </a:moveTo>
                  <a:lnTo>
                    <a:pt x="94042" y="0"/>
                  </a:lnTo>
                  <a:lnTo>
                    <a:pt x="94042" y="94042"/>
                  </a:lnTo>
                  <a:lnTo>
                    <a:pt x="0" y="94042"/>
                  </a:lnTo>
                  <a:close/>
                </a:path>
              </a:pathLst>
            </a:custGeom>
            <a:solidFill>
              <a:srgbClr val="4F9FF5"/>
            </a:solidFill>
          </p:spPr>
        </p:sp>
        <p:sp>
          <p:nvSpPr>
            <p:cNvPr id="13" name="TextBox 13"/>
            <p:cNvSpPr txBox="1"/>
            <p:nvPr/>
          </p:nvSpPr>
          <p:spPr>
            <a:xfrm>
              <a:off x="0" y="28575"/>
              <a:ext cx="94042" cy="65467"/>
            </a:xfrm>
            <a:prstGeom prst="rect">
              <a:avLst/>
            </a:prstGeom>
          </p:spPr>
          <p:txBody>
            <a:bodyPr lIns="50800" tIns="50800" rIns="50800" bIns="50800" rtlCol="0" anchor="ctr"/>
            <a:lstStyle/>
            <a:p>
              <a:pPr algn="ctr">
                <a:lnSpc>
                  <a:spcPts val="2661"/>
                </a:lnSpc>
              </a:pPr>
              <a:endParaRPr/>
            </a:p>
          </p:txBody>
        </p:sp>
      </p:grpSp>
      <p:sp>
        <p:nvSpPr>
          <p:cNvPr id="14" name="Freeform 14"/>
          <p:cNvSpPr/>
          <p:nvPr/>
        </p:nvSpPr>
        <p:spPr>
          <a:xfrm>
            <a:off x="-2157493" y="6777497"/>
            <a:ext cx="4313283" cy="4373418"/>
          </a:xfrm>
          <a:custGeom>
            <a:avLst/>
            <a:gdLst/>
            <a:ahLst/>
            <a:cxnLst/>
            <a:rect l="l" t="t" r="r" b="b"/>
            <a:pathLst>
              <a:path w="4313283" h="4373418">
                <a:moveTo>
                  <a:pt x="0" y="0"/>
                </a:moveTo>
                <a:lnTo>
                  <a:pt x="4313284" y="0"/>
                </a:lnTo>
                <a:lnTo>
                  <a:pt x="4313284" y="4373418"/>
                </a:lnTo>
                <a:lnTo>
                  <a:pt x="0" y="4373418"/>
                </a:lnTo>
                <a:lnTo>
                  <a:pt x="0" y="0"/>
                </a:lnTo>
                <a:close/>
              </a:path>
            </a:pathLst>
          </a:custGeom>
          <a:blipFill>
            <a:blip r:embed="rId4">
              <a:alphaModFix amt="71000"/>
            </a:blip>
            <a:stretch>
              <a:fillRect/>
            </a:stretch>
          </a:blipFill>
        </p:spPr>
      </p:sp>
      <p:sp>
        <p:nvSpPr>
          <p:cNvPr id="15" name="Freeform 15"/>
          <p:cNvSpPr/>
          <p:nvPr/>
        </p:nvSpPr>
        <p:spPr>
          <a:xfrm>
            <a:off x="15906066" y="6478896"/>
            <a:ext cx="4313283" cy="4373418"/>
          </a:xfrm>
          <a:custGeom>
            <a:avLst/>
            <a:gdLst/>
            <a:ahLst/>
            <a:cxnLst/>
            <a:rect l="l" t="t" r="r" b="b"/>
            <a:pathLst>
              <a:path w="4313283" h="4373418">
                <a:moveTo>
                  <a:pt x="0" y="0"/>
                </a:moveTo>
                <a:lnTo>
                  <a:pt x="4313283" y="0"/>
                </a:lnTo>
                <a:lnTo>
                  <a:pt x="4313283" y="4373418"/>
                </a:lnTo>
                <a:lnTo>
                  <a:pt x="0" y="4373418"/>
                </a:lnTo>
                <a:lnTo>
                  <a:pt x="0" y="0"/>
                </a:lnTo>
                <a:close/>
              </a:path>
            </a:pathLst>
          </a:custGeom>
          <a:blipFill>
            <a:blip r:embed="rId4">
              <a:alphaModFix amt="71000"/>
            </a:blip>
            <a:stretch>
              <a:fillRect/>
            </a:stretch>
          </a:blipFill>
        </p:spPr>
      </p:sp>
      <p:grpSp>
        <p:nvGrpSpPr>
          <p:cNvPr id="16" name="Group 16"/>
          <p:cNvGrpSpPr/>
          <p:nvPr/>
        </p:nvGrpSpPr>
        <p:grpSpPr>
          <a:xfrm>
            <a:off x="9771807" y="1502709"/>
            <a:ext cx="7132410" cy="713241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sp>
        <p:sp>
          <p:nvSpPr>
            <p:cNvPr id="18" name="TextBox 18"/>
            <p:cNvSpPr txBox="1"/>
            <p:nvPr/>
          </p:nvSpPr>
          <p:spPr>
            <a:xfrm>
              <a:off x="76200" y="104775"/>
              <a:ext cx="660400" cy="631825"/>
            </a:xfrm>
            <a:prstGeom prst="rect">
              <a:avLst/>
            </a:prstGeom>
          </p:spPr>
          <p:txBody>
            <a:bodyPr lIns="50800" tIns="50800" rIns="50800" bIns="50800" rtlCol="0" anchor="t"/>
            <a:lstStyle/>
            <a:p>
              <a:pPr algn="ctr">
                <a:lnSpc>
                  <a:spcPts val="2661"/>
                </a:lnSpc>
              </a:pPr>
              <a:r>
                <a:rPr lang="en-US" sz="2558" b="1">
                  <a:solidFill>
                    <a:srgbClr val="000000"/>
                  </a:solidFill>
                  <a:latin typeface="Raleway Bold"/>
                  <a:ea typeface="Raleway Bold"/>
                  <a:cs typeface="Raleway Bold"/>
                  <a:sym typeface="Raleway Bold"/>
                </a:rPr>
                <a:t>NP-Hard</a:t>
              </a:r>
            </a:p>
          </p:txBody>
        </p:sp>
      </p:grpSp>
      <p:grpSp>
        <p:nvGrpSpPr>
          <p:cNvPr id="19" name="Group 19"/>
          <p:cNvGrpSpPr/>
          <p:nvPr/>
        </p:nvGrpSpPr>
        <p:grpSpPr>
          <a:xfrm>
            <a:off x="10389462" y="2738020"/>
            <a:ext cx="5897099" cy="5897099"/>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9FF5"/>
            </a:solidFill>
          </p:spPr>
        </p:sp>
        <p:sp>
          <p:nvSpPr>
            <p:cNvPr id="21" name="TextBox 21"/>
            <p:cNvSpPr txBox="1"/>
            <p:nvPr/>
          </p:nvSpPr>
          <p:spPr>
            <a:xfrm>
              <a:off x="76200" y="104775"/>
              <a:ext cx="660400" cy="631825"/>
            </a:xfrm>
            <a:prstGeom prst="rect">
              <a:avLst/>
            </a:prstGeom>
          </p:spPr>
          <p:txBody>
            <a:bodyPr lIns="50800" tIns="50800" rIns="50800" bIns="50800" rtlCol="0" anchor="t"/>
            <a:lstStyle/>
            <a:p>
              <a:pPr algn="ctr">
                <a:lnSpc>
                  <a:spcPts val="2661"/>
                </a:lnSpc>
              </a:pPr>
              <a:r>
                <a:rPr lang="en-US" sz="2558" b="1">
                  <a:solidFill>
                    <a:srgbClr val="000000"/>
                  </a:solidFill>
                  <a:latin typeface="Raleway Bold"/>
                  <a:ea typeface="Raleway Bold"/>
                  <a:cs typeface="Raleway Bold"/>
                  <a:sym typeface="Raleway Bold"/>
                </a:rPr>
                <a:t>NP</a:t>
              </a:r>
            </a:p>
            <a:p>
              <a:pPr algn="ctr">
                <a:lnSpc>
                  <a:spcPts val="2661"/>
                </a:lnSpc>
              </a:pPr>
              <a:r>
                <a:rPr lang="en-US" sz="2558" b="1">
                  <a:solidFill>
                    <a:srgbClr val="000000"/>
                  </a:solidFill>
                  <a:latin typeface="Raleway Bold"/>
                  <a:ea typeface="Raleway Bold"/>
                  <a:cs typeface="Raleway Bold"/>
                  <a:sym typeface="Raleway Bold"/>
                </a:rPr>
                <a:t>Complete</a:t>
              </a:r>
            </a:p>
          </p:txBody>
        </p:sp>
      </p:grpSp>
      <p:grpSp>
        <p:nvGrpSpPr>
          <p:cNvPr id="22" name="Group 22"/>
          <p:cNvGrpSpPr/>
          <p:nvPr/>
        </p:nvGrpSpPr>
        <p:grpSpPr>
          <a:xfrm>
            <a:off x="11160427" y="4279949"/>
            <a:ext cx="4355170" cy="4355170"/>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6BE4">
                <a:alpha val="31765"/>
              </a:srgbClr>
            </a:solidFill>
            <a:ln cap="sq">
              <a:noFill/>
              <a:prstDash val="solid"/>
              <a:miter/>
            </a:ln>
          </p:spPr>
        </p:sp>
        <p:sp>
          <p:nvSpPr>
            <p:cNvPr id="24" name="TextBox 24"/>
            <p:cNvSpPr txBox="1"/>
            <p:nvPr/>
          </p:nvSpPr>
          <p:spPr>
            <a:xfrm>
              <a:off x="76200" y="104775"/>
              <a:ext cx="660400" cy="631825"/>
            </a:xfrm>
            <a:prstGeom prst="rect">
              <a:avLst/>
            </a:prstGeom>
          </p:spPr>
          <p:txBody>
            <a:bodyPr lIns="50800" tIns="50800" rIns="50800" bIns="50800" rtlCol="0" anchor="t"/>
            <a:lstStyle/>
            <a:p>
              <a:pPr algn="ctr">
                <a:lnSpc>
                  <a:spcPts val="2661"/>
                </a:lnSpc>
              </a:pPr>
              <a:r>
                <a:rPr lang="en-US" sz="2558" b="1">
                  <a:solidFill>
                    <a:srgbClr val="FFFFFF">
                      <a:alpha val="31765"/>
                    </a:srgbClr>
                  </a:solidFill>
                  <a:latin typeface="Raleway Bold"/>
                  <a:ea typeface="Raleway Bold"/>
                  <a:cs typeface="Raleway Bold"/>
                  <a:sym typeface="Raleway Bold"/>
                </a:rPr>
                <a:t>NP</a:t>
              </a:r>
            </a:p>
          </p:txBody>
        </p:sp>
      </p:grpSp>
      <p:grpSp>
        <p:nvGrpSpPr>
          <p:cNvPr id="25" name="Group 25"/>
          <p:cNvGrpSpPr/>
          <p:nvPr/>
        </p:nvGrpSpPr>
        <p:grpSpPr>
          <a:xfrm>
            <a:off x="11794962" y="5549019"/>
            <a:ext cx="3086100" cy="3086100"/>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FCDFF"/>
            </a:solidFill>
          </p:spPr>
        </p:sp>
        <p:sp>
          <p:nvSpPr>
            <p:cNvPr id="27" name="TextBox 27"/>
            <p:cNvSpPr txBox="1"/>
            <p:nvPr/>
          </p:nvSpPr>
          <p:spPr>
            <a:xfrm>
              <a:off x="76200" y="104775"/>
              <a:ext cx="660400" cy="631825"/>
            </a:xfrm>
            <a:prstGeom prst="rect">
              <a:avLst/>
            </a:prstGeom>
          </p:spPr>
          <p:txBody>
            <a:bodyPr lIns="50800" tIns="50800" rIns="50800" bIns="50800" rtlCol="0" anchor="t"/>
            <a:lstStyle/>
            <a:p>
              <a:pPr algn="ctr">
                <a:lnSpc>
                  <a:spcPts val="2661"/>
                </a:lnSpc>
              </a:pPr>
              <a:r>
                <a:rPr lang="en-US" sz="2558" b="1">
                  <a:solidFill>
                    <a:srgbClr val="000000"/>
                  </a:solidFill>
                  <a:latin typeface="Raleway Bold"/>
                  <a:ea typeface="Raleway Bold"/>
                  <a:cs typeface="Raleway Bold"/>
                  <a:sym typeface="Raleway Bold"/>
                </a:rPr>
                <a:t>P</a:t>
              </a:r>
            </a:p>
          </p:txBody>
        </p:sp>
      </p:grpSp>
      <p:sp>
        <p:nvSpPr>
          <p:cNvPr id="28" name="Freeform 28"/>
          <p:cNvSpPr/>
          <p:nvPr/>
        </p:nvSpPr>
        <p:spPr>
          <a:xfrm>
            <a:off x="8698209" y="5479160"/>
            <a:ext cx="3980134" cy="4114800"/>
          </a:xfrm>
          <a:custGeom>
            <a:avLst/>
            <a:gdLst/>
            <a:ahLst/>
            <a:cxnLst/>
            <a:rect l="l" t="t" r="r" b="b"/>
            <a:pathLst>
              <a:path w="3980134" h="4114800">
                <a:moveTo>
                  <a:pt x="0" y="0"/>
                </a:moveTo>
                <a:lnTo>
                  <a:pt x="3980134" y="0"/>
                </a:lnTo>
                <a:lnTo>
                  <a:pt x="3980134" y="4114800"/>
                </a:lnTo>
                <a:lnTo>
                  <a:pt x="0" y="4114800"/>
                </a:lnTo>
                <a:lnTo>
                  <a:pt x="0" y="0"/>
                </a:lnTo>
                <a:close/>
              </a:path>
            </a:pathLst>
          </a:custGeom>
          <a:blipFill>
            <a:blip r:embed="rId5">
              <a:alphaModFix amt="31999"/>
            </a:blip>
            <a:stretch>
              <a:fillRect/>
            </a:stretch>
          </a:blipFill>
        </p:spPr>
      </p:sp>
      <p:grpSp>
        <p:nvGrpSpPr>
          <p:cNvPr id="29" name="Group 29"/>
          <p:cNvGrpSpPr/>
          <p:nvPr/>
        </p:nvGrpSpPr>
        <p:grpSpPr>
          <a:xfrm>
            <a:off x="9771807" y="8773469"/>
            <a:ext cx="7132410" cy="820491"/>
            <a:chOff x="0" y="0"/>
            <a:chExt cx="1878495" cy="216096"/>
          </a:xfrm>
        </p:grpSpPr>
        <p:sp>
          <p:nvSpPr>
            <p:cNvPr id="30" name="Freeform 30"/>
            <p:cNvSpPr/>
            <p:nvPr/>
          </p:nvSpPr>
          <p:spPr>
            <a:xfrm>
              <a:off x="0" y="0"/>
              <a:ext cx="1878495" cy="216096"/>
            </a:xfrm>
            <a:custGeom>
              <a:avLst/>
              <a:gdLst/>
              <a:ahLst/>
              <a:cxnLst/>
              <a:rect l="l" t="t" r="r" b="b"/>
              <a:pathLst>
                <a:path w="1878495" h="216096">
                  <a:moveTo>
                    <a:pt x="0" y="0"/>
                  </a:moveTo>
                  <a:lnTo>
                    <a:pt x="1878495" y="0"/>
                  </a:lnTo>
                  <a:lnTo>
                    <a:pt x="1878495" y="216096"/>
                  </a:lnTo>
                  <a:lnTo>
                    <a:pt x="0" y="216096"/>
                  </a:lnTo>
                  <a:close/>
                </a:path>
              </a:pathLst>
            </a:custGeom>
            <a:gradFill rotWithShape="1">
              <a:gsLst>
                <a:gs pos="0">
                  <a:srgbClr val="CDFFD8">
                    <a:alpha val="100000"/>
                  </a:srgbClr>
                </a:gs>
                <a:gs pos="100000">
                  <a:srgbClr val="94B9FF">
                    <a:alpha val="100000"/>
                  </a:srgbClr>
                </a:gs>
              </a:gsLst>
              <a:lin ang="0"/>
            </a:gradFill>
          </p:spPr>
        </p:sp>
        <p:sp>
          <p:nvSpPr>
            <p:cNvPr id="31" name="TextBox 31"/>
            <p:cNvSpPr txBox="1"/>
            <p:nvPr/>
          </p:nvSpPr>
          <p:spPr>
            <a:xfrm>
              <a:off x="0" y="28575"/>
              <a:ext cx="1878495" cy="187521"/>
            </a:xfrm>
            <a:prstGeom prst="rect">
              <a:avLst/>
            </a:prstGeom>
          </p:spPr>
          <p:txBody>
            <a:bodyPr lIns="50800" tIns="50800" rIns="50800" bIns="50800" rtlCol="0" anchor="ctr"/>
            <a:lstStyle/>
            <a:p>
              <a:pPr algn="ctr">
                <a:lnSpc>
                  <a:spcPts val="2661"/>
                </a:lnSpc>
              </a:pPr>
              <a:r>
                <a:rPr lang="en-US" sz="2558" b="1">
                  <a:solidFill>
                    <a:srgbClr val="000000"/>
                  </a:solidFill>
                  <a:latin typeface="Raleway Bold"/>
                  <a:ea typeface="Raleway Bold"/>
                  <a:cs typeface="Raleway Bold"/>
                  <a:sym typeface="Raleway Bold"/>
                </a:rPr>
                <a:t>Hierarchy Diagram</a:t>
              </a:r>
            </a:p>
          </p:txBody>
        </p:sp>
      </p:grpSp>
      <p:sp>
        <p:nvSpPr>
          <p:cNvPr id="32" name="TextBox 32"/>
          <p:cNvSpPr txBox="1"/>
          <p:nvPr/>
        </p:nvSpPr>
        <p:spPr>
          <a:xfrm>
            <a:off x="2203344" y="574964"/>
            <a:ext cx="12328916" cy="707574"/>
          </a:xfrm>
          <a:prstGeom prst="rect">
            <a:avLst/>
          </a:prstGeom>
        </p:spPr>
        <p:txBody>
          <a:bodyPr lIns="0" tIns="0" rIns="0" bIns="0" rtlCol="0" anchor="t">
            <a:spAutoFit/>
          </a:bodyPr>
          <a:lstStyle/>
          <a:p>
            <a:pPr algn="l">
              <a:lnSpc>
                <a:spcPts val="5014"/>
              </a:lnSpc>
              <a:spcBef>
                <a:spcPct val="0"/>
              </a:spcBef>
            </a:pPr>
            <a:r>
              <a:rPr lang="en-US" sz="4821" b="1">
                <a:solidFill>
                  <a:srgbClr val="063050"/>
                </a:solidFill>
                <a:latin typeface="Poppins Bold"/>
                <a:ea typeface="Poppins Bold"/>
                <a:cs typeface="Poppins Bold"/>
                <a:sym typeface="Poppins Bold"/>
              </a:rPr>
              <a:t>Relation Between Complexity Classes</a:t>
            </a:r>
          </a:p>
        </p:txBody>
      </p:sp>
      <p:sp>
        <p:nvSpPr>
          <p:cNvPr id="33" name="TextBox 33"/>
          <p:cNvSpPr txBox="1"/>
          <p:nvPr/>
        </p:nvSpPr>
        <p:spPr>
          <a:xfrm>
            <a:off x="2203344" y="1956039"/>
            <a:ext cx="5875754" cy="746503"/>
          </a:xfrm>
          <a:prstGeom prst="rect">
            <a:avLst/>
          </a:prstGeom>
        </p:spPr>
        <p:txBody>
          <a:bodyPr lIns="0" tIns="0" rIns="0" bIns="0" rtlCol="0" anchor="t">
            <a:spAutoFit/>
          </a:bodyPr>
          <a:lstStyle/>
          <a:p>
            <a:pPr algn="l">
              <a:lnSpc>
                <a:spcPts val="2868"/>
              </a:lnSpc>
            </a:pPr>
            <a:r>
              <a:rPr lang="en-US" sz="2351" b="1">
                <a:solidFill>
                  <a:srgbClr val="063050"/>
                </a:solidFill>
                <a:latin typeface="Poppins Medium"/>
                <a:ea typeface="Poppins Medium"/>
                <a:cs typeface="Poppins Medium"/>
                <a:sym typeface="Poppins Medium"/>
              </a:rPr>
              <a:t>P ⊆ NP: Every problem solvable quickly can also be verified quickly.</a:t>
            </a:r>
          </a:p>
        </p:txBody>
      </p:sp>
      <p:sp>
        <p:nvSpPr>
          <p:cNvPr id="34" name="TextBox 34"/>
          <p:cNvSpPr txBox="1"/>
          <p:nvPr/>
        </p:nvSpPr>
        <p:spPr>
          <a:xfrm>
            <a:off x="2203344" y="3422790"/>
            <a:ext cx="5875754" cy="746503"/>
          </a:xfrm>
          <a:prstGeom prst="rect">
            <a:avLst/>
          </a:prstGeom>
        </p:spPr>
        <p:txBody>
          <a:bodyPr lIns="0" tIns="0" rIns="0" bIns="0" rtlCol="0" anchor="t">
            <a:spAutoFit/>
          </a:bodyPr>
          <a:lstStyle/>
          <a:p>
            <a:pPr algn="l">
              <a:lnSpc>
                <a:spcPts val="2868"/>
              </a:lnSpc>
            </a:pPr>
            <a:r>
              <a:rPr lang="en-US" sz="2351" b="1">
                <a:solidFill>
                  <a:srgbClr val="063050"/>
                </a:solidFill>
                <a:latin typeface="Poppins Medium"/>
                <a:ea typeface="Poppins Medium"/>
                <a:cs typeface="Poppins Medium"/>
                <a:sym typeface="Poppins Medium"/>
              </a:rPr>
              <a:t>NP-Complete: The toughest problems inside NP.</a:t>
            </a:r>
          </a:p>
        </p:txBody>
      </p:sp>
      <p:sp>
        <p:nvSpPr>
          <p:cNvPr id="35" name="TextBox 35"/>
          <p:cNvSpPr txBox="1"/>
          <p:nvPr/>
        </p:nvSpPr>
        <p:spPr>
          <a:xfrm>
            <a:off x="2203344" y="4936393"/>
            <a:ext cx="5875754" cy="1470403"/>
          </a:xfrm>
          <a:prstGeom prst="rect">
            <a:avLst/>
          </a:prstGeom>
        </p:spPr>
        <p:txBody>
          <a:bodyPr lIns="0" tIns="0" rIns="0" bIns="0" rtlCol="0" anchor="t">
            <a:spAutoFit/>
          </a:bodyPr>
          <a:lstStyle/>
          <a:p>
            <a:pPr algn="l">
              <a:lnSpc>
                <a:spcPts val="2868"/>
              </a:lnSpc>
            </a:pPr>
            <a:r>
              <a:rPr lang="en-US" sz="2351" b="1">
                <a:solidFill>
                  <a:srgbClr val="063050"/>
                </a:solidFill>
                <a:latin typeface="Poppins Medium"/>
                <a:ea typeface="Poppins Medium"/>
                <a:cs typeface="Poppins Medium"/>
                <a:sym typeface="Poppins Medium"/>
              </a:rPr>
              <a:t>NP-Hard: At least as hard as NP-Complete (may not even be verifiable).</a:t>
            </a:r>
          </a:p>
          <a:p>
            <a:pPr algn="l">
              <a:lnSpc>
                <a:spcPts val="2868"/>
              </a:lnSpc>
            </a:pPr>
            <a:endParaRPr lang="en-US" sz="2351" b="1">
              <a:solidFill>
                <a:srgbClr val="063050"/>
              </a:solidFill>
              <a:latin typeface="Poppins Medium"/>
              <a:ea typeface="Poppins Medium"/>
              <a:cs typeface="Poppins Medium"/>
              <a:sym typeface="Poppins Medium"/>
            </a:endParaRPr>
          </a:p>
        </p:txBody>
      </p:sp>
      <p:sp>
        <p:nvSpPr>
          <p:cNvPr id="36" name="TextBox 36"/>
          <p:cNvSpPr txBox="1"/>
          <p:nvPr/>
        </p:nvSpPr>
        <p:spPr>
          <a:xfrm>
            <a:off x="1299584" y="7168796"/>
            <a:ext cx="7513286" cy="869312"/>
          </a:xfrm>
          <a:prstGeom prst="rect">
            <a:avLst/>
          </a:prstGeom>
        </p:spPr>
        <p:txBody>
          <a:bodyPr lIns="0" tIns="0" rIns="0" bIns="0" rtlCol="0" anchor="t">
            <a:spAutoFit/>
          </a:bodyPr>
          <a:lstStyle/>
          <a:p>
            <a:pPr algn="l">
              <a:lnSpc>
                <a:spcPts val="3356"/>
              </a:lnSpc>
            </a:pPr>
            <a:r>
              <a:rPr lang="en-US" sz="2751" b="1">
                <a:solidFill>
                  <a:srgbClr val="063050"/>
                </a:solidFill>
                <a:latin typeface="Poppins Medium"/>
                <a:ea typeface="Poppins Medium"/>
                <a:cs typeface="Poppins Medium"/>
                <a:sym typeface="Poppins Medium"/>
              </a:rPr>
              <a:t>P ⊆ NP ⊆ NP-Complete ⊆ NP-Hard</a:t>
            </a:r>
          </a:p>
          <a:p>
            <a:pPr algn="l">
              <a:lnSpc>
                <a:spcPts val="3356"/>
              </a:lnSpc>
            </a:pPr>
            <a:endParaRPr lang="en-US" sz="2751" b="1">
              <a:solidFill>
                <a:srgbClr val="063050"/>
              </a:solidFill>
              <a:latin typeface="Poppins Medium"/>
              <a:ea typeface="Poppins Medium"/>
              <a:cs typeface="Poppins Medium"/>
              <a:sym typeface="Poppins Medium"/>
            </a:endParaRPr>
          </a:p>
        </p:txBody>
      </p:sp>
      <p:sp>
        <p:nvSpPr>
          <p:cNvPr id="2" name="TextBox 1">
            <a:extLst>
              <a:ext uri="{FF2B5EF4-FFF2-40B4-BE49-F238E27FC236}">
                <a16:creationId xmlns:a16="http://schemas.microsoft.com/office/drawing/2014/main" id="{449A3D09-4998-84D9-15C8-935B156ECDCE}"/>
              </a:ext>
            </a:extLst>
          </p:cNvPr>
          <p:cNvSpPr txBox="1"/>
          <p:nvPr/>
        </p:nvSpPr>
        <p:spPr>
          <a:xfrm>
            <a:off x="16398744" y="8670117"/>
            <a:ext cx="1371600" cy="1535036"/>
          </a:xfrm>
          <a:prstGeom prst="rect">
            <a:avLst/>
          </a:prstGeom>
          <a:noFill/>
        </p:spPr>
        <p:txBody>
          <a:bodyPr wrap="square">
            <a:spAutoFit/>
          </a:bodyPr>
          <a:lstStyle/>
          <a:p>
            <a:pPr algn="ctr">
              <a:lnSpc>
                <a:spcPts val="12041"/>
              </a:lnSpc>
            </a:pPr>
            <a:r>
              <a:rPr lang="en-US" sz="9600" b="1" spc="-150" dirty="0">
                <a:solidFill>
                  <a:srgbClr val="F2F7FA"/>
                </a:solidFill>
                <a:latin typeface="Times New Roman" panose="02020603050405020304" pitchFamily="18" charset="0"/>
                <a:ea typeface="Telegraf Bold"/>
                <a:cs typeface="Times New Roman" panose="02020603050405020304" pitchFamily="18" charset="0"/>
                <a:sym typeface="Telegraf Bold"/>
              </a:rPr>
              <a:t>06</a:t>
            </a:r>
            <a:endParaRPr lang="en-US" sz="9600" b="1" spc="-993" dirty="0">
              <a:solidFill>
                <a:srgbClr val="F2F7FA"/>
              </a:solidFill>
              <a:latin typeface="Times New Roman" panose="02020603050405020304" pitchFamily="18" charset="0"/>
              <a:ea typeface="Telegraf Bold"/>
              <a:cs typeface="Times New Roman" panose="02020603050405020304" pitchFamily="18" charset="0"/>
              <a:sym typeface="Telegraf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742653" y="277236"/>
            <a:ext cx="19275355" cy="913390"/>
            <a:chOff x="0" y="0"/>
            <a:chExt cx="5076637" cy="240563"/>
          </a:xfrm>
        </p:grpSpPr>
        <p:sp>
          <p:nvSpPr>
            <p:cNvPr id="4" name="Freeform 4"/>
            <p:cNvSpPr/>
            <p:nvPr/>
          </p:nvSpPr>
          <p:spPr>
            <a:xfrm>
              <a:off x="0" y="0"/>
              <a:ext cx="5076637" cy="240563"/>
            </a:xfrm>
            <a:custGeom>
              <a:avLst/>
              <a:gdLst/>
              <a:ahLst/>
              <a:cxnLst/>
              <a:rect l="l" t="t" r="r" b="b"/>
              <a:pathLst>
                <a:path w="5076637" h="240563">
                  <a:moveTo>
                    <a:pt x="0" y="0"/>
                  </a:moveTo>
                  <a:lnTo>
                    <a:pt x="5076637" y="0"/>
                  </a:lnTo>
                  <a:lnTo>
                    <a:pt x="5076637" y="240563"/>
                  </a:lnTo>
                  <a:lnTo>
                    <a:pt x="0" y="240563"/>
                  </a:lnTo>
                  <a:close/>
                </a:path>
              </a:pathLst>
            </a:custGeom>
            <a:solidFill>
              <a:srgbClr val="2B59C3">
                <a:alpha val="71765"/>
              </a:srgbClr>
            </a:solidFill>
          </p:spPr>
        </p:sp>
        <p:sp>
          <p:nvSpPr>
            <p:cNvPr id="5" name="TextBox 5"/>
            <p:cNvSpPr txBox="1"/>
            <p:nvPr/>
          </p:nvSpPr>
          <p:spPr>
            <a:xfrm>
              <a:off x="0" y="28575"/>
              <a:ext cx="5076637" cy="211988"/>
            </a:xfrm>
            <a:prstGeom prst="rect">
              <a:avLst/>
            </a:prstGeom>
          </p:spPr>
          <p:txBody>
            <a:bodyPr lIns="50800" tIns="50800" rIns="50800" bIns="50800" rtlCol="0" anchor="ctr"/>
            <a:lstStyle/>
            <a:p>
              <a:pPr algn="ctr">
                <a:lnSpc>
                  <a:spcPts val="2661"/>
                </a:lnSpc>
              </a:pPr>
              <a:endParaRPr/>
            </a:p>
          </p:txBody>
        </p:sp>
      </p:grpSp>
      <p:sp>
        <p:nvSpPr>
          <p:cNvPr id="6" name="Freeform 6"/>
          <p:cNvSpPr/>
          <p:nvPr/>
        </p:nvSpPr>
        <p:spPr>
          <a:xfrm>
            <a:off x="13461623" y="-527345"/>
            <a:ext cx="2205493" cy="2586399"/>
          </a:xfrm>
          <a:custGeom>
            <a:avLst/>
            <a:gdLst/>
            <a:ahLst/>
            <a:cxnLst/>
            <a:rect l="l" t="t" r="r" b="b"/>
            <a:pathLst>
              <a:path w="2205493" h="2586399">
                <a:moveTo>
                  <a:pt x="0" y="0"/>
                </a:moveTo>
                <a:lnTo>
                  <a:pt x="2205493" y="0"/>
                </a:lnTo>
                <a:lnTo>
                  <a:pt x="2205493" y="2586398"/>
                </a:lnTo>
                <a:lnTo>
                  <a:pt x="0" y="25863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4003549" y="572304"/>
            <a:ext cx="812593" cy="799296"/>
          </a:xfrm>
          <a:custGeom>
            <a:avLst/>
            <a:gdLst/>
            <a:ahLst/>
            <a:cxnLst/>
            <a:rect l="l" t="t" r="r" b="b"/>
            <a:pathLst>
              <a:path w="812593" h="799296">
                <a:moveTo>
                  <a:pt x="0" y="0"/>
                </a:moveTo>
                <a:lnTo>
                  <a:pt x="812594" y="0"/>
                </a:lnTo>
                <a:lnTo>
                  <a:pt x="812594" y="799296"/>
                </a:lnTo>
                <a:lnTo>
                  <a:pt x="0" y="7992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4951246" y="971952"/>
            <a:ext cx="2308054" cy="1619834"/>
          </a:xfrm>
          <a:custGeom>
            <a:avLst/>
            <a:gdLst/>
            <a:ahLst/>
            <a:cxnLst/>
            <a:rect l="l" t="t" r="r" b="b"/>
            <a:pathLst>
              <a:path w="2308054" h="1619834">
                <a:moveTo>
                  <a:pt x="0" y="0"/>
                </a:moveTo>
                <a:lnTo>
                  <a:pt x="2308054" y="0"/>
                </a:lnTo>
                <a:lnTo>
                  <a:pt x="2308054" y="1619834"/>
                </a:lnTo>
                <a:lnTo>
                  <a:pt x="0" y="16198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6237674" y="7419034"/>
            <a:ext cx="3083622" cy="3126612"/>
          </a:xfrm>
          <a:custGeom>
            <a:avLst/>
            <a:gdLst/>
            <a:ahLst/>
            <a:cxnLst/>
            <a:rect l="l" t="t" r="r" b="b"/>
            <a:pathLst>
              <a:path w="3083622" h="3126612">
                <a:moveTo>
                  <a:pt x="0" y="0"/>
                </a:moveTo>
                <a:lnTo>
                  <a:pt x="3083622" y="0"/>
                </a:lnTo>
                <a:lnTo>
                  <a:pt x="3083622" y="3126612"/>
                </a:lnTo>
                <a:lnTo>
                  <a:pt x="0" y="3126612"/>
                </a:lnTo>
                <a:lnTo>
                  <a:pt x="0" y="0"/>
                </a:lnTo>
                <a:close/>
              </a:path>
            </a:pathLst>
          </a:custGeom>
          <a:blipFill>
            <a:blip r:embed="rId8">
              <a:alphaModFix amt="71000"/>
            </a:blip>
            <a:stretch>
              <a:fillRect/>
            </a:stretch>
          </a:blipFill>
        </p:spPr>
      </p:sp>
      <p:sp>
        <p:nvSpPr>
          <p:cNvPr id="10" name="Freeform 10"/>
          <p:cNvSpPr/>
          <p:nvPr/>
        </p:nvSpPr>
        <p:spPr>
          <a:xfrm>
            <a:off x="-513111" y="8073403"/>
            <a:ext cx="3083622" cy="3126612"/>
          </a:xfrm>
          <a:custGeom>
            <a:avLst/>
            <a:gdLst/>
            <a:ahLst/>
            <a:cxnLst/>
            <a:rect l="l" t="t" r="r" b="b"/>
            <a:pathLst>
              <a:path w="3083622" h="3126612">
                <a:moveTo>
                  <a:pt x="0" y="0"/>
                </a:moveTo>
                <a:lnTo>
                  <a:pt x="3083622" y="0"/>
                </a:lnTo>
                <a:lnTo>
                  <a:pt x="3083622" y="3126613"/>
                </a:lnTo>
                <a:lnTo>
                  <a:pt x="0" y="3126613"/>
                </a:lnTo>
                <a:lnTo>
                  <a:pt x="0" y="0"/>
                </a:lnTo>
                <a:close/>
              </a:path>
            </a:pathLst>
          </a:custGeom>
          <a:blipFill>
            <a:blip r:embed="rId8">
              <a:alphaModFix amt="71000"/>
            </a:blip>
            <a:stretch>
              <a:fillRect/>
            </a:stretch>
          </a:blipFill>
        </p:spPr>
      </p:sp>
      <p:sp>
        <p:nvSpPr>
          <p:cNvPr id="11" name="TextBox 11"/>
          <p:cNvSpPr txBox="1"/>
          <p:nvPr/>
        </p:nvSpPr>
        <p:spPr>
          <a:xfrm>
            <a:off x="879433" y="2040003"/>
            <a:ext cx="10598080" cy="6919719"/>
          </a:xfrm>
          <a:prstGeom prst="rect">
            <a:avLst/>
          </a:prstGeom>
        </p:spPr>
        <p:txBody>
          <a:bodyPr lIns="0" tIns="0" rIns="0" bIns="0" rtlCol="0" anchor="t">
            <a:spAutoFit/>
          </a:bodyPr>
          <a:lstStyle/>
          <a:p>
            <a:pPr algn="l">
              <a:lnSpc>
                <a:spcPts val="2380"/>
              </a:lnSpc>
            </a:pPr>
            <a:r>
              <a:rPr lang="en-US" sz="1951" b="1">
                <a:solidFill>
                  <a:srgbClr val="063050"/>
                </a:solidFill>
                <a:latin typeface="Poppins Medium"/>
                <a:ea typeface="Poppins Medium"/>
                <a:cs typeface="Poppins Medium"/>
                <a:sym typeface="Poppins Medium"/>
              </a:rPr>
              <a:t>Kefa decided to celebrate his first big salary by going to the restaurant.</a:t>
            </a:r>
          </a:p>
          <a:p>
            <a:pPr algn="l">
              <a:lnSpc>
                <a:spcPts val="2380"/>
              </a:lnSpc>
            </a:pPr>
            <a:r>
              <a:rPr lang="en-US" sz="1951" b="1">
                <a:solidFill>
                  <a:srgbClr val="063050"/>
                </a:solidFill>
                <a:latin typeface="Poppins Medium"/>
                <a:ea typeface="Poppins Medium"/>
                <a:cs typeface="Poppins Medium"/>
                <a:sym typeface="Poppins Medium"/>
              </a:rPr>
              <a:t>He lives by an unusual park. The park is a rooted tree consisting of n vertices with the root at vertex 1. Vertex 1 also contains Kefa's house. Unfortunaely for our hero, the park also contains cats. Kefa has already found out what are the vertices with cats in them.</a:t>
            </a:r>
          </a:p>
          <a:p>
            <a:pPr algn="l">
              <a:lnSpc>
                <a:spcPts val="2380"/>
              </a:lnSpc>
            </a:pPr>
            <a:r>
              <a:rPr lang="en-US" sz="1951" b="1">
                <a:solidFill>
                  <a:srgbClr val="063050"/>
                </a:solidFill>
                <a:latin typeface="Poppins Medium"/>
                <a:ea typeface="Poppins Medium"/>
                <a:cs typeface="Poppins Medium"/>
                <a:sym typeface="Poppins Medium"/>
              </a:rPr>
              <a:t>The leaf vertices of the park contain restaurants. Kefa wants to choose a restaurant where he will go, but unfortunately he is very afraid of cats, so there is no way he will go to the restaurant if the path from the restaurant to his house contains more than m consecutive vertices with cats.</a:t>
            </a:r>
          </a:p>
          <a:p>
            <a:pPr algn="l">
              <a:lnSpc>
                <a:spcPts val="2380"/>
              </a:lnSpc>
            </a:pPr>
            <a:r>
              <a:rPr lang="en-US" sz="1951" b="1">
                <a:solidFill>
                  <a:srgbClr val="063050"/>
                </a:solidFill>
                <a:latin typeface="Poppins Medium"/>
                <a:ea typeface="Poppins Medium"/>
                <a:cs typeface="Poppins Medium"/>
                <a:sym typeface="Poppins Medium"/>
              </a:rPr>
              <a:t>Your task is to help Kefa count the number of restaurants where he can go.</a:t>
            </a:r>
          </a:p>
          <a:p>
            <a:pPr algn="l">
              <a:lnSpc>
                <a:spcPts val="2380"/>
              </a:lnSpc>
            </a:pPr>
            <a:r>
              <a:rPr lang="en-US" sz="1951" b="1">
                <a:solidFill>
                  <a:srgbClr val="063050"/>
                </a:solidFill>
                <a:latin typeface="Poppins Medium"/>
                <a:ea typeface="Poppins Medium"/>
                <a:cs typeface="Poppins Medium"/>
                <a:sym typeface="Poppins Medium"/>
              </a:rPr>
              <a:t>Input</a:t>
            </a:r>
          </a:p>
          <a:p>
            <a:pPr algn="l">
              <a:lnSpc>
                <a:spcPts val="2380"/>
              </a:lnSpc>
            </a:pPr>
            <a:r>
              <a:rPr lang="en-US" sz="1951" b="1">
                <a:solidFill>
                  <a:srgbClr val="063050"/>
                </a:solidFill>
                <a:latin typeface="Poppins Medium"/>
                <a:ea typeface="Poppins Medium"/>
                <a:cs typeface="Poppins Medium"/>
                <a:sym typeface="Poppins Medium"/>
              </a:rPr>
              <a:t>The first line contains two integers, n and m (2 ≤ n ≤ 105, 1 ≤ m ≤ n) — the number of vertices of the tree and the maximum number of consecutive vertices with cats that is still ok for Kefa.</a:t>
            </a:r>
          </a:p>
          <a:p>
            <a:pPr algn="l">
              <a:lnSpc>
                <a:spcPts val="2380"/>
              </a:lnSpc>
            </a:pPr>
            <a:r>
              <a:rPr lang="en-US" sz="1951" b="1">
                <a:solidFill>
                  <a:srgbClr val="063050"/>
                </a:solidFill>
                <a:latin typeface="Poppins Medium"/>
                <a:ea typeface="Poppins Medium"/>
                <a:cs typeface="Poppins Medium"/>
                <a:sym typeface="Poppins Medium"/>
              </a:rPr>
              <a:t>The second line contains n integers a1, a2, ..., an, where each ai either equals to 0 (then vertex i has no cat), or equals to 1 (then vertex i has a cat).</a:t>
            </a:r>
          </a:p>
          <a:p>
            <a:pPr algn="l">
              <a:lnSpc>
                <a:spcPts val="2380"/>
              </a:lnSpc>
            </a:pPr>
            <a:r>
              <a:rPr lang="en-US" sz="1951" b="1">
                <a:solidFill>
                  <a:srgbClr val="063050"/>
                </a:solidFill>
                <a:latin typeface="Poppins Medium"/>
                <a:ea typeface="Poppins Medium"/>
                <a:cs typeface="Poppins Medium"/>
                <a:sym typeface="Poppins Medium"/>
              </a:rPr>
              <a:t>Next n - 1 lines contains the edges of the tree in the format "xi yi" (without the quotes) (1 ≤ xi, yi ≤ n, xi ≠ yi), where xi and yi are the vertices of the tree, connected by an edge.</a:t>
            </a:r>
          </a:p>
          <a:p>
            <a:pPr algn="l">
              <a:lnSpc>
                <a:spcPts val="2380"/>
              </a:lnSpc>
            </a:pPr>
            <a:r>
              <a:rPr lang="en-US" sz="1951" b="1">
                <a:solidFill>
                  <a:srgbClr val="063050"/>
                </a:solidFill>
                <a:latin typeface="Poppins Medium"/>
                <a:ea typeface="Poppins Medium"/>
                <a:cs typeface="Poppins Medium"/>
                <a:sym typeface="Poppins Medium"/>
              </a:rPr>
              <a:t>It is guaranteed that the given set of edges specifies a tree.</a:t>
            </a:r>
          </a:p>
          <a:p>
            <a:pPr algn="l">
              <a:lnSpc>
                <a:spcPts val="2380"/>
              </a:lnSpc>
            </a:pPr>
            <a:r>
              <a:rPr lang="en-US" sz="1951" b="1">
                <a:solidFill>
                  <a:srgbClr val="063050"/>
                </a:solidFill>
                <a:latin typeface="Poppins Medium"/>
                <a:ea typeface="Poppins Medium"/>
                <a:cs typeface="Poppins Medium"/>
                <a:sym typeface="Poppins Medium"/>
              </a:rPr>
              <a:t>Output</a:t>
            </a:r>
          </a:p>
          <a:p>
            <a:pPr algn="l">
              <a:lnSpc>
                <a:spcPts val="2380"/>
              </a:lnSpc>
            </a:pPr>
            <a:r>
              <a:rPr lang="en-US" sz="1951" b="1">
                <a:solidFill>
                  <a:srgbClr val="063050"/>
                </a:solidFill>
                <a:latin typeface="Poppins Medium"/>
                <a:ea typeface="Poppins Medium"/>
                <a:cs typeface="Poppins Medium"/>
                <a:sym typeface="Poppins Medium"/>
              </a:rPr>
              <a:t>A single integer — the number of distinct leaves of a tree the path to which from Kefa's home contains at most m consecutive vertices with cats.</a:t>
            </a:r>
          </a:p>
          <a:p>
            <a:pPr algn="l">
              <a:lnSpc>
                <a:spcPts val="2380"/>
              </a:lnSpc>
            </a:pPr>
            <a:endParaRPr lang="en-US" sz="1951" b="1">
              <a:solidFill>
                <a:srgbClr val="063050"/>
              </a:solidFill>
              <a:latin typeface="Poppins Medium"/>
              <a:ea typeface="Poppins Medium"/>
              <a:cs typeface="Poppins Medium"/>
              <a:sym typeface="Poppins Medium"/>
            </a:endParaRPr>
          </a:p>
        </p:txBody>
      </p:sp>
      <p:sp>
        <p:nvSpPr>
          <p:cNvPr id="12" name="Freeform 12"/>
          <p:cNvSpPr/>
          <p:nvPr/>
        </p:nvSpPr>
        <p:spPr>
          <a:xfrm>
            <a:off x="766734" y="9115353"/>
            <a:ext cx="7879398" cy="959854"/>
          </a:xfrm>
          <a:custGeom>
            <a:avLst/>
            <a:gdLst/>
            <a:ahLst/>
            <a:cxnLst/>
            <a:rect l="l" t="t" r="r" b="b"/>
            <a:pathLst>
              <a:path w="7879398" h="959854">
                <a:moveTo>
                  <a:pt x="0" y="0"/>
                </a:moveTo>
                <a:lnTo>
                  <a:pt x="7879399" y="0"/>
                </a:lnTo>
                <a:lnTo>
                  <a:pt x="7879399" y="959854"/>
                </a:lnTo>
                <a:lnTo>
                  <a:pt x="0" y="95985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Freeform 13"/>
          <p:cNvSpPr/>
          <p:nvPr/>
        </p:nvSpPr>
        <p:spPr>
          <a:xfrm>
            <a:off x="12558740" y="2760003"/>
            <a:ext cx="2392507" cy="6733549"/>
          </a:xfrm>
          <a:custGeom>
            <a:avLst/>
            <a:gdLst/>
            <a:ahLst/>
            <a:cxnLst/>
            <a:rect l="l" t="t" r="r" b="b"/>
            <a:pathLst>
              <a:path w="2392507" h="6733549">
                <a:moveTo>
                  <a:pt x="0" y="0"/>
                </a:moveTo>
                <a:lnTo>
                  <a:pt x="2392506" y="0"/>
                </a:lnTo>
                <a:lnTo>
                  <a:pt x="2392506" y="6733550"/>
                </a:lnTo>
                <a:lnTo>
                  <a:pt x="0" y="6733550"/>
                </a:lnTo>
                <a:lnTo>
                  <a:pt x="0" y="0"/>
                </a:lnTo>
                <a:close/>
              </a:path>
            </a:pathLst>
          </a:custGeom>
          <a:blipFill>
            <a:blip r:embed="rId11"/>
            <a:stretch>
              <a:fillRect/>
            </a:stretch>
          </a:blipFill>
          <a:ln w="38100" cap="sq">
            <a:solidFill>
              <a:srgbClr val="000000"/>
            </a:solidFill>
            <a:prstDash val="solid"/>
            <a:miter/>
          </a:ln>
        </p:spPr>
      </p:sp>
      <p:sp>
        <p:nvSpPr>
          <p:cNvPr id="14" name="TextBox 14"/>
          <p:cNvSpPr txBox="1"/>
          <p:nvPr/>
        </p:nvSpPr>
        <p:spPr>
          <a:xfrm>
            <a:off x="766734" y="458269"/>
            <a:ext cx="8631647" cy="570372"/>
          </a:xfrm>
          <a:prstGeom prst="rect">
            <a:avLst/>
          </a:prstGeom>
        </p:spPr>
        <p:txBody>
          <a:bodyPr lIns="0" tIns="0" rIns="0" bIns="0" rtlCol="0" anchor="t">
            <a:spAutoFit/>
          </a:bodyPr>
          <a:lstStyle/>
          <a:p>
            <a:pPr algn="l">
              <a:lnSpc>
                <a:spcPts val="4033"/>
              </a:lnSpc>
              <a:spcBef>
                <a:spcPct val="0"/>
              </a:spcBef>
            </a:pPr>
            <a:r>
              <a:rPr lang="en-US" sz="3878" b="1">
                <a:solidFill>
                  <a:srgbClr val="F0F7FE"/>
                </a:solidFill>
                <a:latin typeface="Poppins Bold"/>
                <a:ea typeface="Poppins Bold"/>
                <a:cs typeface="Poppins Bold"/>
                <a:sym typeface="Poppins Bold"/>
              </a:rPr>
              <a:t>Complexity classes problem (NP)</a:t>
            </a:r>
          </a:p>
        </p:txBody>
      </p:sp>
      <p:sp>
        <p:nvSpPr>
          <p:cNvPr id="15" name="TextBox 15"/>
          <p:cNvSpPr txBox="1"/>
          <p:nvPr/>
        </p:nvSpPr>
        <p:spPr>
          <a:xfrm>
            <a:off x="2337846" y="1431495"/>
            <a:ext cx="4676875" cy="394002"/>
          </a:xfrm>
          <a:prstGeom prst="rect">
            <a:avLst/>
          </a:prstGeom>
        </p:spPr>
        <p:txBody>
          <a:bodyPr lIns="0" tIns="0" rIns="0" bIns="0" rtlCol="0" anchor="t">
            <a:spAutoFit/>
          </a:bodyPr>
          <a:lstStyle/>
          <a:p>
            <a:pPr algn="l">
              <a:lnSpc>
                <a:spcPts val="2904"/>
              </a:lnSpc>
            </a:pPr>
            <a:r>
              <a:rPr lang="en-US" sz="2381" b="1">
                <a:solidFill>
                  <a:srgbClr val="063050"/>
                </a:solidFill>
                <a:latin typeface="Poppins Bold"/>
                <a:ea typeface="Poppins Bold"/>
                <a:cs typeface="Poppins Bold"/>
                <a:sym typeface="Poppins Bold"/>
              </a:rPr>
              <a:t>C. Kefa and Park</a:t>
            </a:r>
          </a:p>
        </p:txBody>
      </p:sp>
      <p:sp>
        <p:nvSpPr>
          <p:cNvPr id="16" name="TextBox 16"/>
          <p:cNvSpPr txBox="1"/>
          <p:nvPr/>
        </p:nvSpPr>
        <p:spPr>
          <a:xfrm>
            <a:off x="1028700" y="9503078"/>
            <a:ext cx="7397745" cy="276789"/>
          </a:xfrm>
          <a:prstGeom prst="rect">
            <a:avLst/>
          </a:prstGeom>
        </p:spPr>
        <p:txBody>
          <a:bodyPr lIns="0" tIns="0" rIns="0" bIns="0" rtlCol="0" anchor="t">
            <a:spAutoFit/>
          </a:bodyPr>
          <a:lstStyle/>
          <a:p>
            <a:pPr algn="l">
              <a:lnSpc>
                <a:spcPts val="1978"/>
              </a:lnSpc>
              <a:spcBef>
                <a:spcPct val="0"/>
              </a:spcBef>
            </a:pPr>
            <a:r>
              <a:rPr lang="en-US" sz="1902" b="1" u="sng">
                <a:solidFill>
                  <a:srgbClr val="0B4876"/>
                </a:solidFill>
                <a:latin typeface="Poppins Medium"/>
                <a:ea typeface="Poppins Medium"/>
                <a:cs typeface="Poppins Medium"/>
                <a:sym typeface="Poppins Medium"/>
                <a:hlinkClick r:id="rId12" tooltip="https://codeforces.com/problemset/problem/580/C"/>
              </a:rPr>
              <a:t>https://codeforces.com/problemset/problem/580/C</a:t>
            </a:r>
          </a:p>
        </p:txBody>
      </p:sp>
      <p:sp>
        <p:nvSpPr>
          <p:cNvPr id="2" name="TextBox 1">
            <a:extLst>
              <a:ext uri="{FF2B5EF4-FFF2-40B4-BE49-F238E27FC236}">
                <a16:creationId xmlns:a16="http://schemas.microsoft.com/office/drawing/2014/main" id="{BCEED6D8-814A-D99E-EC1E-CBFEE426C2AC}"/>
              </a:ext>
            </a:extLst>
          </p:cNvPr>
          <p:cNvSpPr txBox="1"/>
          <p:nvPr/>
        </p:nvSpPr>
        <p:spPr>
          <a:xfrm>
            <a:off x="16398744" y="8670117"/>
            <a:ext cx="1371600" cy="1535036"/>
          </a:xfrm>
          <a:prstGeom prst="rect">
            <a:avLst/>
          </a:prstGeom>
          <a:noFill/>
        </p:spPr>
        <p:txBody>
          <a:bodyPr wrap="square">
            <a:spAutoFit/>
          </a:bodyPr>
          <a:lstStyle/>
          <a:p>
            <a:pPr algn="ctr">
              <a:lnSpc>
                <a:spcPts val="12041"/>
              </a:lnSpc>
            </a:pPr>
            <a:r>
              <a:rPr lang="en-US" sz="9600" b="1" spc="-150" dirty="0">
                <a:solidFill>
                  <a:srgbClr val="F2F7FA"/>
                </a:solidFill>
                <a:latin typeface="Times New Roman" panose="02020603050405020304" pitchFamily="18" charset="0"/>
                <a:ea typeface="Telegraf Bold"/>
                <a:cs typeface="Times New Roman" panose="02020603050405020304" pitchFamily="18" charset="0"/>
                <a:sym typeface="Telegraf Bold"/>
              </a:rPr>
              <a:t>07</a:t>
            </a:r>
            <a:endParaRPr lang="en-US" sz="9600" b="1" spc="-993" dirty="0">
              <a:solidFill>
                <a:srgbClr val="F2F7FA"/>
              </a:solidFill>
              <a:latin typeface="Times New Roman" panose="02020603050405020304" pitchFamily="18" charset="0"/>
              <a:ea typeface="Telegraf Bold"/>
              <a:cs typeface="Times New Roman" panose="02020603050405020304" pitchFamily="18" charset="0"/>
              <a:sym typeface="Telegraf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697500" y="2434908"/>
            <a:ext cx="21311029" cy="1464829"/>
            <a:chOff x="0" y="0"/>
            <a:chExt cx="5612781" cy="385799"/>
          </a:xfrm>
        </p:grpSpPr>
        <p:sp>
          <p:nvSpPr>
            <p:cNvPr id="4" name="Freeform 4"/>
            <p:cNvSpPr/>
            <p:nvPr/>
          </p:nvSpPr>
          <p:spPr>
            <a:xfrm>
              <a:off x="0" y="0"/>
              <a:ext cx="5612781" cy="385799"/>
            </a:xfrm>
            <a:custGeom>
              <a:avLst/>
              <a:gdLst/>
              <a:ahLst/>
              <a:cxnLst/>
              <a:rect l="l" t="t" r="r" b="b"/>
              <a:pathLst>
                <a:path w="5612781" h="385799">
                  <a:moveTo>
                    <a:pt x="0" y="0"/>
                  </a:moveTo>
                  <a:lnTo>
                    <a:pt x="5612781" y="0"/>
                  </a:lnTo>
                  <a:lnTo>
                    <a:pt x="5612781" y="385799"/>
                  </a:lnTo>
                  <a:lnTo>
                    <a:pt x="0" y="385799"/>
                  </a:lnTo>
                  <a:close/>
                </a:path>
              </a:pathLst>
            </a:custGeom>
            <a:solidFill>
              <a:srgbClr val="2B59C3">
                <a:alpha val="71765"/>
              </a:srgbClr>
            </a:solidFill>
          </p:spPr>
        </p:sp>
        <p:sp>
          <p:nvSpPr>
            <p:cNvPr id="5" name="TextBox 5"/>
            <p:cNvSpPr txBox="1"/>
            <p:nvPr/>
          </p:nvSpPr>
          <p:spPr>
            <a:xfrm>
              <a:off x="0" y="28575"/>
              <a:ext cx="5612781" cy="357224"/>
            </a:xfrm>
            <a:prstGeom prst="rect">
              <a:avLst/>
            </a:prstGeom>
          </p:spPr>
          <p:txBody>
            <a:bodyPr lIns="50800" tIns="50800" rIns="50800" bIns="50800" rtlCol="0" anchor="ctr"/>
            <a:lstStyle/>
            <a:p>
              <a:pPr algn="ctr">
                <a:lnSpc>
                  <a:spcPts val="2661"/>
                </a:lnSpc>
              </a:pPr>
              <a:endParaRPr/>
            </a:p>
          </p:txBody>
        </p:sp>
      </p:grpSp>
      <p:sp>
        <p:nvSpPr>
          <p:cNvPr id="6" name="Freeform 6"/>
          <p:cNvSpPr/>
          <p:nvPr/>
        </p:nvSpPr>
        <p:spPr>
          <a:xfrm>
            <a:off x="2660616" y="1291863"/>
            <a:ext cx="527662" cy="527662"/>
          </a:xfrm>
          <a:custGeom>
            <a:avLst/>
            <a:gdLst/>
            <a:ahLst/>
            <a:cxnLst/>
            <a:rect l="l" t="t" r="r" b="b"/>
            <a:pathLst>
              <a:path w="527662" h="527662">
                <a:moveTo>
                  <a:pt x="0" y="0"/>
                </a:moveTo>
                <a:lnTo>
                  <a:pt x="527661" y="0"/>
                </a:lnTo>
                <a:lnTo>
                  <a:pt x="527661" y="527662"/>
                </a:lnTo>
                <a:lnTo>
                  <a:pt x="0" y="5276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5662586" y="145790"/>
            <a:ext cx="1718904" cy="2611595"/>
          </a:xfrm>
          <a:custGeom>
            <a:avLst/>
            <a:gdLst/>
            <a:ahLst/>
            <a:cxnLst/>
            <a:rect l="l" t="t" r="r" b="b"/>
            <a:pathLst>
              <a:path w="1718904" h="2611595">
                <a:moveTo>
                  <a:pt x="0" y="0"/>
                </a:moveTo>
                <a:lnTo>
                  <a:pt x="1718904" y="0"/>
                </a:lnTo>
                <a:lnTo>
                  <a:pt x="1718904" y="2611595"/>
                </a:lnTo>
                <a:lnTo>
                  <a:pt x="0" y="26115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5366327" y="-111118"/>
            <a:ext cx="968399" cy="952553"/>
          </a:xfrm>
          <a:custGeom>
            <a:avLst/>
            <a:gdLst/>
            <a:ahLst/>
            <a:cxnLst/>
            <a:rect l="l" t="t" r="r" b="b"/>
            <a:pathLst>
              <a:path w="968399" h="952553">
                <a:moveTo>
                  <a:pt x="0" y="0"/>
                </a:moveTo>
                <a:lnTo>
                  <a:pt x="968399" y="0"/>
                </a:lnTo>
                <a:lnTo>
                  <a:pt x="968399" y="952553"/>
                </a:lnTo>
                <a:lnTo>
                  <a:pt x="0" y="95255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2660616" y="2795485"/>
            <a:ext cx="10173649" cy="907471"/>
          </a:xfrm>
          <a:prstGeom prst="rect">
            <a:avLst/>
          </a:prstGeom>
        </p:spPr>
        <p:txBody>
          <a:bodyPr lIns="0" tIns="0" rIns="0" bIns="0" rtlCol="0" anchor="t">
            <a:spAutoFit/>
          </a:bodyPr>
          <a:lstStyle/>
          <a:p>
            <a:pPr algn="l">
              <a:lnSpc>
                <a:spcPts val="6470"/>
              </a:lnSpc>
              <a:spcBef>
                <a:spcPct val="0"/>
              </a:spcBef>
            </a:pPr>
            <a:r>
              <a:rPr lang="en-US" sz="6221" b="1">
                <a:solidFill>
                  <a:srgbClr val="F0F7FE"/>
                </a:solidFill>
                <a:latin typeface="Poppins Bold"/>
                <a:ea typeface="Poppins Bold"/>
                <a:cs typeface="Poppins Bold"/>
                <a:sym typeface="Poppins Bold"/>
              </a:rPr>
              <a:t>Algorithm:</a:t>
            </a:r>
          </a:p>
        </p:txBody>
      </p:sp>
      <p:sp>
        <p:nvSpPr>
          <p:cNvPr id="10" name="Freeform 10"/>
          <p:cNvSpPr/>
          <p:nvPr/>
        </p:nvSpPr>
        <p:spPr>
          <a:xfrm>
            <a:off x="12432771" y="745370"/>
            <a:ext cx="2549517" cy="2585062"/>
          </a:xfrm>
          <a:custGeom>
            <a:avLst/>
            <a:gdLst/>
            <a:ahLst/>
            <a:cxnLst/>
            <a:rect l="l" t="t" r="r" b="b"/>
            <a:pathLst>
              <a:path w="2549517" h="2585062">
                <a:moveTo>
                  <a:pt x="0" y="0"/>
                </a:moveTo>
                <a:lnTo>
                  <a:pt x="2549517" y="0"/>
                </a:lnTo>
                <a:lnTo>
                  <a:pt x="2549517" y="2585062"/>
                </a:lnTo>
                <a:lnTo>
                  <a:pt x="0" y="2585062"/>
                </a:lnTo>
                <a:lnTo>
                  <a:pt x="0" y="0"/>
                </a:lnTo>
                <a:close/>
              </a:path>
            </a:pathLst>
          </a:custGeom>
          <a:blipFill>
            <a:blip r:embed="rId8">
              <a:alphaModFix amt="71000"/>
            </a:blip>
            <a:stretch>
              <a:fillRect/>
            </a:stretch>
          </a:blipFill>
        </p:spPr>
      </p:sp>
      <p:sp>
        <p:nvSpPr>
          <p:cNvPr id="11" name="Freeform 11"/>
          <p:cNvSpPr/>
          <p:nvPr/>
        </p:nvSpPr>
        <p:spPr>
          <a:xfrm>
            <a:off x="-390204" y="8950469"/>
            <a:ext cx="2549517" cy="2585062"/>
          </a:xfrm>
          <a:custGeom>
            <a:avLst/>
            <a:gdLst/>
            <a:ahLst/>
            <a:cxnLst/>
            <a:rect l="l" t="t" r="r" b="b"/>
            <a:pathLst>
              <a:path w="2549517" h="2585062">
                <a:moveTo>
                  <a:pt x="0" y="0"/>
                </a:moveTo>
                <a:lnTo>
                  <a:pt x="2549517" y="0"/>
                </a:lnTo>
                <a:lnTo>
                  <a:pt x="2549517" y="2585062"/>
                </a:lnTo>
                <a:lnTo>
                  <a:pt x="0" y="2585062"/>
                </a:lnTo>
                <a:lnTo>
                  <a:pt x="0" y="0"/>
                </a:lnTo>
                <a:close/>
              </a:path>
            </a:pathLst>
          </a:custGeom>
          <a:blipFill>
            <a:blip r:embed="rId8">
              <a:alphaModFix amt="71000"/>
            </a:blip>
            <a:stretch>
              <a:fillRect/>
            </a:stretch>
          </a:blipFill>
        </p:spPr>
      </p:sp>
      <p:sp>
        <p:nvSpPr>
          <p:cNvPr id="12" name="TextBox 12"/>
          <p:cNvSpPr txBox="1"/>
          <p:nvPr/>
        </p:nvSpPr>
        <p:spPr>
          <a:xfrm>
            <a:off x="10486131" y="4115029"/>
            <a:ext cx="5549699" cy="5730178"/>
          </a:xfrm>
          <a:prstGeom prst="rect">
            <a:avLst/>
          </a:prstGeom>
        </p:spPr>
        <p:txBody>
          <a:bodyPr lIns="0" tIns="0" rIns="0" bIns="0" rtlCol="0" anchor="t">
            <a:spAutoFit/>
          </a:bodyPr>
          <a:lstStyle/>
          <a:p>
            <a:pPr algn="l">
              <a:lnSpc>
                <a:spcPts val="1975"/>
              </a:lnSpc>
            </a:pPr>
            <a:r>
              <a:rPr lang="en-US" sz="1899" b="1">
                <a:solidFill>
                  <a:srgbClr val="000000"/>
                </a:solidFill>
                <a:latin typeface="Raleway Bold"/>
                <a:ea typeface="Raleway Bold"/>
                <a:cs typeface="Raleway Bold"/>
                <a:sym typeface="Raleway Bold"/>
              </a:rPr>
              <a:t>Psudocode:</a:t>
            </a:r>
          </a:p>
          <a:p>
            <a:pPr algn="l">
              <a:lnSpc>
                <a:spcPts val="1975"/>
              </a:lnSpc>
              <a:spcBef>
                <a:spcPct val="0"/>
              </a:spcBef>
            </a:pPr>
            <a:r>
              <a:rPr lang="en-US" sz="1899" b="1">
                <a:solidFill>
                  <a:srgbClr val="000000"/>
                </a:solidFill>
                <a:latin typeface="Raleway Bold"/>
                <a:ea typeface="Raleway Bold"/>
                <a:cs typeface="Raleway Bold"/>
                <a:sym typeface="Raleway Bold"/>
              </a:rPr>
              <a:t>DFS(node, parent, consecutive_cats):</a:t>
            </a:r>
          </a:p>
          <a:p>
            <a:pPr algn="l">
              <a:lnSpc>
                <a:spcPts val="1975"/>
              </a:lnSpc>
              <a:spcBef>
                <a:spcPct val="0"/>
              </a:spcBef>
            </a:pPr>
            <a:r>
              <a:rPr lang="en-US" sz="1899" b="1">
                <a:solidFill>
                  <a:srgbClr val="000000"/>
                </a:solidFill>
                <a:latin typeface="Raleway Bold"/>
                <a:ea typeface="Raleway Bold"/>
                <a:cs typeface="Raleway Bold"/>
                <a:sym typeface="Raleway Bold"/>
              </a:rPr>
              <a:t>    if has_cat[node]:</a:t>
            </a:r>
          </a:p>
          <a:p>
            <a:pPr algn="l">
              <a:lnSpc>
                <a:spcPts val="1975"/>
              </a:lnSpc>
              <a:spcBef>
                <a:spcPct val="0"/>
              </a:spcBef>
            </a:pPr>
            <a:r>
              <a:rPr lang="en-US" sz="1899" b="1">
                <a:solidFill>
                  <a:srgbClr val="000000"/>
                </a:solidFill>
                <a:latin typeface="Raleway Bold"/>
                <a:ea typeface="Raleway Bold"/>
                <a:cs typeface="Raleway Bold"/>
                <a:sym typeface="Raleway Bold"/>
              </a:rPr>
              <a:t>        consecutive_cats += 1</a:t>
            </a:r>
          </a:p>
          <a:p>
            <a:pPr algn="l">
              <a:lnSpc>
                <a:spcPts val="1975"/>
              </a:lnSpc>
              <a:spcBef>
                <a:spcPct val="0"/>
              </a:spcBef>
            </a:pPr>
            <a:r>
              <a:rPr lang="en-US" sz="1899" b="1">
                <a:solidFill>
                  <a:srgbClr val="000000"/>
                </a:solidFill>
                <a:latin typeface="Raleway Bold"/>
                <a:ea typeface="Raleway Bold"/>
                <a:cs typeface="Raleway Bold"/>
                <a:sym typeface="Raleway Bold"/>
              </a:rPr>
              <a:t>    else:</a:t>
            </a:r>
          </a:p>
          <a:p>
            <a:pPr algn="l">
              <a:lnSpc>
                <a:spcPts val="1975"/>
              </a:lnSpc>
              <a:spcBef>
                <a:spcPct val="0"/>
              </a:spcBef>
            </a:pPr>
            <a:r>
              <a:rPr lang="en-US" sz="1899" b="1">
                <a:solidFill>
                  <a:srgbClr val="000000"/>
                </a:solidFill>
                <a:latin typeface="Raleway Bold"/>
                <a:ea typeface="Raleway Bold"/>
                <a:cs typeface="Raleway Bold"/>
                <a:sym typeface="Raleway Bold"/>
              </a:rPr>
              <a:t>        consecutive_cats = 0</a:t>
            </a:r>
          </a:p>
          <a:p>
            <a:pPr algn="l">
              <a:lnSpc>
                <a:spcPts val="1975"/>
              </a:lnSpc>
              <a:spcBef>
                <a:spcPct val="0"/>
              </a:spcBef>
            </a:pPr>
            <a:endParaRPr lang="en-US" sz="1899" b="1">
              <a:solidFill>
                <a:srgbClr val="000000"/>
              </a:solidFill>
              <a:latin typeface="Raleway Bold"/>
              <a:ea typeface="Raleway Bold"/>
              <a:cs typeface="Raleway Bold"/>
              <a:sym typeface="Raleway Bold"/>
            </a:endParaRPr>
          </a:p>
          <a:p>
            <a:pPr algn="l">
              <a:lnSpc>
                <a:spcPts val="1975"/>
              </a:lnSpc>
              <a:spcBef>
                <a:spcPct val="0"/>
              </a:spcBef>
            </a:pPr>
            <a:r>
              <a:rPr lang="en-US" sz="1899" b="1">
                <a:solidFill>
                  <a:srgbClr val="000000"/>
                </a:solidFill>
                <a:latin typeface="Raleway Bold"/>
                <a:ea typeface="Raleway Bold"/>
                <a:cs typeface="Raleway Bold"/>
                <a:sym typeface="Raleway Bold"/>
              </a:rPr>
              <a:t>    if consecutive_cats &gt; m:</a:t>
            </a:r>
          </a:p>
          <a:p>
            <a:pPr algn="l">
              <a:lnSpc>
                <a:spcPts val="1975"/>
              </a:lnSpc>
              <a:spcBef>
                <a:spcPct val="0"/>
              </a:spcBef>
            </a:pPr>
            <a:r>
              <a:rPr lang="en-US" sz="1899" b="1">
                <a:solidFill>
                  <a:srgbClr val="000000"/>
                </a:solidFill>
                <a:latin typeface="Raleway Bold"/>
                <a:ea typeface="Raleway Bold"/>
                <a:cs typeface="Raleway Bold"/>
                <a:sym typeface="Raleway Bold"/>
              </a:rPr>
              <a:t>        return 0    # Path invalid</a:t>
            </a:r>
          </a:p>
          <a:p>
            <a:pPr algn="l">
              <a:lnSpc>
                <a:spcPts val="1975"/>
              </a:lnSpc>
              <a:spcBef>
                <a:spcPct val="0"/>
              </a:spcBef>
            </a:pPr>
            <a:endParaRPr lang="en-US" sz="1899" b="1">
              <a:solidFill>
                <a:srgbClr val="000000"/>
              </a:solidFill>
              <a:latin typeface="Raleway Bold"/>
              <a:ea typeface="Raleway Bold"/>
              <a:cs typeface="Raleway Bold"/>
              <a:sym typeface="Raleway Bold"/>
            </a:endParaRPr>
          </a:p>
          <a:p>
            <a:pPr algn="l">
              <a:lnSpc>
                <a:spcPts val="1975"/>
              </a:lnSpc>
              <a:spcBef>
                <a:spcPct val="0"/>
              </a:spcBef>
            </a:pPr>
            <a:r>
              <a:rPr lang="en-US" sz="1899" b="1">
                <a:solidFill>
                  <a:srgbClr val="000000"/>
                </a:solidFill>
                <a:latin typeface="Raleway Bold"/>
                <a:ea typeface="Raleway Bold"/>
                <a:cs typeface="Raleway Bold"/>
                <a:sym typeface="Raleway Bold"/>
              </a:rPr>
              <a:t>    # Count leaf nodes</a:t>
            </a:r>
          </a:p>
          <a:p>
            <a:pPr algn="l">
              <a:lnSpc>
                <a:spcPts val="1975"/>
              </a:lnSpc>
              <a:spcBef>
                <a:spcPct val="0"/>
              </a:spcBef>
            </a:pPr>
            <a:r>
              <a:rPr lang="en-US" sz="1899" b="1">
                <a:solidFill>
                  <a:srgbClr val="000000"/>
                </a:solidFill>
                <a:latin typeface="Raleway Bold"/>
                <a:ea typeface="Raleway Bold"/>
                <a:cs typeface="Raleway Bold"/>
                <a:sym typeface="Raleway Bold"/>
              </a:rPr>
              <a:t>    is_leaf = True</a:t>
            </a:r>
          </a:p>
          <a:p>
            <a:pPr algn="l">
              <a:lnSpc>
                <a:spcPts val="1975"/>
              </a:lnSpc>
              <a:spcBef>
                <a:spcPct val="0"/>
              </a:spcBef>
            </a:pPr>
            <a:r>
              <a:rPr lang="en-US" sz="1899" b="1">
                <a:solidFill>
                  <a:srgbClr val="000000"/>
                </a:solidFill>
                <a:latin typeface="Raleway Bold"/>
                <a:ea typeface="Raleway Bold"/>
                <a:cs typeface="Raleway Bold"/>
                <a:sym typeface="Raleway Bold"/>
              </a:rPr>
              <a:t>    total = 0</a:t>
            </a:r>
          </a:p>
          <a:p>
            <a:pPr algn="l">
              <a:lnSpc>
                <a:spcPts val="1975"/>
              </a:lnSpc>
              <a:spcBef>
                <a:spcPct val="0"/>
              </a:spcBef>
            </a:pPr>
            <a:endParaRPr lang="en-US" sz="1899" b="1">
              <a:solidFill>
                <a:srgbClr val="000000"/>
              </a:solidFill>
              <a:latin typeface="Raleway Bold"/>
              <a:ea typeface="Raleway Bold"/>
              <a:cs typeface="Raleway Bold"/>
              <a:sym typeface="Raleway Bold"/>
            </a:endParaRPr>
          </a:p>
          <a:p>
            <a:pPr algn="l">
              <a:lnSpc>
                <a:spcPts val="1975"/>
              </a:lnSpc>
              <a:spcBef>
                <a:spcPct val="0"/>
              </a:spcBef>
            </a:pPr>
            <a:r>
              <a:rPr lang="en-US" sz="1899" b="1">
                <a:solidFill>
                  <a:srgbClr val="000000"/>
                </a:solidFill>
                <a:latin typeface="Raleway Bold"/>
                <a:ea typeface="Raleway Bold"/>
                <a:cs typeface="Raleway Bold"/>
                <a:sym typeface="Raleway Bold"/>
              </a:rPr>
              <a:t>    for each child in graph[node]:</a:t>
            </a:r>
          </a:p>
          <a:p>
            <a:pPr algn="l">
              <a:lnSpc>
                <a:spcPts val="1975"/>
              </a:lnSpc>
              <a:spcBef>
                <a:spcPct val="0"/>
              </a:spcBef>
            </a:pPr>
            <a:r>
              <a:rPr lang="en-US" sz="1899" b="1">
                <a:solidFill>
                  <a:srgbClr val="000000"/>
                </a:solidFill>
                <a:latin typeface="Raleway Bold"/>
                <a:ea typeface="Raleway Bold"/>
                <a:cs typeface="Raleway Bold"/>
                <a:sym typeface="Raleway Bold"/>
              </a:rPr>
              <a:t>        if child != parent:</a:t>
            </a:r>
          </a:p>
          <a:p>
            <a:pPr algn="l">
              <a:lnSpc>
                <a:spcPts val="1975"/>
              </a:lnSpc>
              <a:spcBef>
                <a:spcPct val="0"/>
              </a:spcBef>
            </a:pPr>
            <a:r>
              <a:rPr lang="en-US" sz="1899" b="1">
                <a:solidFill>
                  <a:srgbClr val="000000"/>
                </a:solidFill>
                <a:latin typeface="Raleway Bold"/>
                <a:ea typeface="Raleway Bold"/>
                <a:cs typeface="Raleway Bold"/>
                <a:sym typeface="Raleway Bold"/>
              </a:rPr>
              <a:t>            is_leaf = False</a:t>
            </a:r>
          </a:p>
          <a:p>
            <a:pPr algn="l">
              <a:lnSpc>
                <a:spcPts val="1975"/>
              </a:lnSpc>
              <a:spcBef>
                <a:spcPct val="0"/>
              </a:spcBef>
            </a:pPr>
            <a:r>
              <a:rPr lang="en-US" sz="1899" b="1">
                <a:solidFill>
                  <a:srgbClr val="000000"/>
                </a:solidFill>
                <a:latin typeface="Raleway Bold"/>
                <a:ea typeface="Raleway Bold"/>
                <a:cs typeface="Raleway Bold"/>
                <a:sym typeface="Raleway Bold"/>
              </a:rPr>
              <a:t>            total += DFS(child, node, consecutive_cats)</a:t>
            </a:r>
          </a:p>
          <a:p>
            <a:pPr algn="l">
              <a:lnSpc>
                <a:spcPts val="1975"/>
              </a:lnSpc>
              <a:spcBef>
                <a:spcPct val="0"/>
              </a:spcBef>
            </a:pPr>
            <a:endParaRPr lang="en-US" sz="1899" b="1">
              <a:solidFill>
                <a:srgbClr val="000000"/>
              </a:solidFill>
              <a:latin typeface="Raleway Bold"/>
              <a:ea typeface="Raleway Bold"/>
              <a:cs typeface="Raleway Bold"/>
              <a:sym typeface="Raleway Bold"/>
            </a:endParaRPr>
          </a:p>
          <a:p>
            <a:pPr algn="l">
              <a:lnSpc>
                <a:spcPts val="1975"/>
              </a:lnSpc>
              <a:spcBef>
                <a:spcPct val="0"/>
              </a:spcBef>
            </a:pPr>
            <a:r>
              <a:rPr lang="en-US" sz="1899" b="1">
                <a:solidFill>
                  <a:srgbClr val="000000"/>
                </a:solidFill>
                <a:latin typeface="Raleway Bold"/>
                <a:ea typeface="Raleway Bold"/>
                <a:cs typeface="Raleway Bold"/>
                <a:sym typeface="Raleway Bold"/>
              </a:rPr>
              <a:t>    if is_leaf:</a:t>
            </a:r>
          </a:p>
          <a:p>
            <a:pPr algn="l">
              <a:lnSpc>
                <a:spcPts val="1975"/>
              </a:lnSpc>
              <a:spcBef>
                <a:spcPct val="0"/>
              </a:spcBef>
            </a:pPr>
            <a:r>
              <a:rPr lang="en-US" sz="1899" b="1">
                <a:solidFill>
                  <a:srgbClr val="000000"/>
                </a:solidFill>
                <a:latin typeface="Raleway Bold"/>
                <a:ea typeface="Raleway Bold"/>
                <a:cs typeface="Raleway Bold"/>
                <a:sym typeface="Raleway Bold"/>
              </a:rPr>
              <a:t>        return 1    # Valid leaf (restaurant)</a:t>
            </a:r>
          </a:p>
          <a:p>
            <a:pPr algn="l">
              <a:lnSpc>
                <a:spcPts val="1975"/>
              </a:lnSpc>
              <a:spcBef>
                <a:spcPct val="0"/>
              </a:spcBef>
            </a:pPr>
            <a:r>
              <a:rPr lang="en-US" sz="1899" b="1">
                <a:solidFill>
                  <a:srgbClr val="000000"/>
                </a:solidFill>
                <a:latin typeface="Raleway Bold"/>
                <a:ea typeface="Raleway Bold"/>
                <a:cs typeface="Raleway Bold"/>
                <a:sym typeface="Raleway Bold"/>
              </a:rPr>
              <a:t>    </a:t>
            </a:r>
          </a:p>
          <a:p>
            <a:pPr algn="l">
              <a:lnSpc>
                <a:spcPts val="1975"/>
              </a:lnSpc>
              <a:spcBef>
                <a:spcPct val="0"/>
              </a:spcBef>
            </a:pPr>
            <a:r>
              <a:rPr lang="en-US" sz="1899" b="1">
                <a:solidFill>
                  <a:srgbClr val="000000"/>
                </a:solidFill>
                <a:latin typeface="Raleway Bold"/>
                <a:ea typeface="Raleway Bold"/>
                <a:cs typeface="Raleway Bold"/>
                <a:sym typeface="Raleway Bold"/>
              </a:rPr>
              <a:t>    return total</a:t>
            </a:r>
          </a:p>
        </p:txBody>
      </p:sp>
      <p:sp>
        <p:nvSpPr>
          <p:cNvPr id="13" name="TextBox 13"/>
          <p:cNvSpPr txBox="1"/>
          <p:nvPr/>
        </p:nvSpPr>
        <p:spPr>
          <a:xfrm>
            <a:off x="2660616" y="4057879"/>
            <a:ext cx="5919032" cy="3561857"/>
          </a:xfrm>
          <a:prstGeom prst="rect">
            <a:avLst/>
          </a:prstGeom>
        </p:spPr>
        <p:txBody>
          <a:bodyPr lIns="0" tIns="0" rIns="0" bIns="0" rtlCol="0" anchor="t">
            <a:spAutoFit/>
          </a:bodyPr>
          <a:lstStyle/>
          <a:p>
            <a:pPr marL="410048" lvl="1" indent="-205024" algn="l">
              <a:lnSpc>
                <a:spcPts val="2582"/>
              </a:lnSpc>
              <a:buAutoNum type="arabicPeriod"/>
            </a:pPr>
            <a:r>
              <a:rPr lang="en-US" sz="1899" b="1">
                <a:solidFill>
                  <a:srgbClr val="000000"/>
                </a:solidFill>
                <a:latin typeface="Raleway Bold"/>
                <a:ea typeface="Raleway Bold"/>
                <a:cs typeface="Raleway Bold"/>
                <a:sym typeface="Raleway Bold"/>
              </a:rPr>
              <a:t>Start from node 1 ,Root node is Kefa’s house.</a:t>
            </a:r>
          </a:p>
          <a:p>
            <a:pPr marL="410048" lvl="1" indent="-205024" algn="l">
              <a:lnSpc>
                <a:spcPts val="2582"/>
              </a:lnSpc>
              <a:buAutoNum type="arabicPeriod"/>
            </a:pPr>
            <a:r>
              <a:rPr lang="en-US" sz="1899" b="1">
                <a:solidFill>
                  <a:srgbClr val="000000"/>
                </a:solidFill>
                <a:latin typeface="Raleway Bold"/>
                <a:ea typeface="Raleway Bold"/>
                <a:cs typeface="Raleway Bold"/>
                <a:sym typeface="Raleway Bold"/>
              </a:rPr>
              <a:t>Maintain count ,Track how many consecutive cat nodes you’ve seen.</a:t>
            </a:r>
          </a:p>
          <a:p>
            <a:pPr marL="410048" lvl="1" indent="-205024" algn="l">
              <a:lnSpc>
                <a:spcPts val="2582"/>
              </a:lnSpc>
              <a:buAutoNum type="arabicPeriod"/>
            </a:pPr>
            <a:r>
              <a:rPr lang="en-US" sz="1899" b="1">
                <a:solidFill>
                  <a:srgbClr val="000000"/>
                </a:solidFill>
                <a:latin typeface="Raleway Bold"/>
                <a:ea typeface="Raleway Bold"/>
                <a:cs typeface="Raleway Bold"/>
                <a:sym typeface="Raleway Bold"/>
              </a:rPr>
              <a:t>Traverse ,Explore each connected child node recursively.</a:t>
            </a:r>
          </a:p>
          <a:p>
            <a:pPr marL="410048" lvl="1" indent="-205024" algn="l">
              <a:lnSpc>
                <a:spcPts val="2582"/>
              </a:lnSpc>
              <a:buAutoNum type="arabicPeriod"/>
            </a:pPr>
            <a:r>
              <a:rPr lang="en-US" sz="1899" b="1">
                <a:solidFill>
                  <a:srgbClr val="000000"/>
                </a:solidFill>
                <a:latin typeface="Raleway Bold"/>
                <a:ea typeface="Raleway Bold"/>
                <a:cs typeface="Raleway Bold"/>
                <a:sym typeface="Raleway Bold"/>
              </a:rPr>
              <a:t>Prune path ,If count &gt; m, stop recursion.</a:t>
            </a:r>
          </a:p>
          <a:p>
            <a:pPr marL="410048" lvl="1" indent="-205024" algn="l">
              <a:lnSpc>
                <a:spcPts val="2582"/>
              </a:lnSpc>
              <a:buAutoNum type="arabicPeriod"/>
            </a:pPr>
            <a:r>
              <a:rPr lang="en-US" sz="1899" b="1">
                <a:solidFill>
                  <a:srgbClr val="000000"/>
                </a:solidFill>
                <a:latin typeface="Raleway Bold"/>
                <a:ea typeface="Raleway Bold"/>
                <a:cs typeface="Raleway Bold"/>
                <a:sym typeface="Raleway Bold"/>
              </a:rPr>
              <a:t>Check leaf ,If node has no further children (other than parent), count it as valid restaurant.</a:t>
            </a:r>
          </a:p>
          <a:p>
            <a:pPr marL="410048" lvl="1" indent="-205024" algn="l">
              <a:lnSpc>
                <a:spcPts val="2582"/>
              </a:lnSpc>
              <a:buAutoNum type="arabicPeriod"/>
            </a:pPr>
            <a:r>
              <a:rPr lang="en-US" sz="1899" b="1">
                <a:solidFill>
                  <a:srgbClr val="000000"/>
                </a:solidFill>
                <a:latin typeface="Raleway Bold"/>
                <a:ea typeface="Raleway Bold"/>
                <a:cs typeface="Raleway Bold"/>
                <a:sym typeface="Raleway Bold"/>
              </a:rPr>
              <a:t>Sum results ,Return total valid restaurants from all branches.</a:t>
            </a:r>
          </a:p>
          <a:p>
            <a:pPr algn="l">
              <a:lnSpc>
                <a:spcPts val="2582"/>
              </a:lnSpc>
            </a:pPr>
            <a:endParaRPr lang="en-US" sz="1899" b="1">
              <a:solidFill>
                <a:srgbClr val="000000"/>
              </a:solidFill>
              <a:latin typeface="Raleway Bold"/>
              <a:ea typeface="Raleway Bold"/>
              <a:cs typeface="Raleway Bold"/>
              <a:sym typeface="Raleway Bold"/>
            </a:endParaRPr>
          </a:p>
        </p:txBody>
      </p:sp>
      <p:sp>
        <p:nvSpPr>
          <p:cNvPr id="2" name="TextBox 1">
            <a:extLst>
              <a:ext uri="{FF2B5EF4-FFF2-40B4-BE49-F238E27FC236}">
                <a16:creationId xmlns:a16="http://schemas.microsoft.com/office/drawing/2014/main" id="{E6947098-2D5C-6B48-F097-F8D0A6CEA2FC}"/>
              </a:ext>
            </a:extLst>
          </p:cNvPr>
          <p:cNvSpPr txBox="1"/>
          <p:nvPr/>
        </p:nvSpPr>
        <p:spPr>
          <a:xfrm>
            <a:off x="16398744" y="8670117"/>
            <a:ext cx="1371600" cy="1535036"/>
          </a:xfrm>
          <a:prstGeom prst="rect">
            <a:avLst/>
          </a:prstGeom>
          <a:noFill/>
        </p:spPr>
        <p:txBody>
          <a:bodyPr wrap="square">
            <a:spAutoFit/>
          </a:bodyPr>
          <a:lstStyle/>
          <a:p>
            <a:pPr algn="ctr">
              <a:lnSpc>
                <a:spcPts val="12041"/>
              </a:lnSpc>
            </a:pPr>
            <a:r>
              <a:rPr lang="en-US" sz="9600" b="1" spc="-150" dirty="0">
                <a:solidFill>
                  <a:srgbClr val="F2F7FA"/>
                </a:solidFill>
                <a:latin typeface="Times New Roman" panose="02020603050405020304" pitchFamily="18" charset="0"/>
                <a:ea typeface="Telegraf Bold"/>
                <a:cs typeface="Times New Roman" panose="02020603050405020304" pitchFamily="18" charset="0"/>
                <a:sym typeface="Telegraf Bold"/>
              </a:rPr>
              <a:t>08</a:t>
            </a:r>
            <a:endParaRPr lang="en-US" sz="9600" b="1" spc="-993" dirty="0">
              <a:solidFill>
                <a:srgbClr val="F2F7FA"/>
              </a:solidFill>
              <a:latin typeface="Times New Roman" panose="02020603050405020304" pitchFamily="18" charset="0"/>
              <a:ea typeface="Telegraf Bold"/>
              <a:cs typeface="Times New Roman" panose="02020603050405020304" pitchFamily="18" charset="0"/>
              <a:sym typeface="Telegraf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679108" y="0"/>
            <a:ext cx="21311029" cy="1464829"/>
            <a:chOff x="0" y="0"/>
            <a:chExt cx="5612781" cy="385799"/>
          </a:xfrm>
        </p:grpSpPr>
        <p:sp>
          <p:nvSpPr>
            <p:cNvPr id="4" name="Freeform 4"/>
            <p:cNvSpPr/>
            <p:nvPr/>
          </p:nvSpPr>
          <p:spPr>
            <a:xfrm>
              <a:off x="0" y="0"/>
              <a:ext cx="5612781" cy="385799"/>
            </a:xfrm>
            <a:custGeom>
              <a:avLst/>
              <a:gdLst/>
              <a:ahLst/>
              <a:cxnLst/>
              <a:rect l="l" t="t" r="r" b="b"/>
              <a:pathLst>
                <a:path w="5612781" h="385799">
                  <a:moveTo>
                    <a:pt x="0" y="0"/>
                  </a:moveTo>
                  <a:lnTo>
                    <a:pt x="5612781" y="0"/>
                  </a:lnTo>
                  <a:lnTo>
                    <a:pt x="5612781" y="385799"/>
                  </a:lnTo>
                  <a:lnTo>
                    <a:pt x="0" y="385799"/>
                  </a:lnTo>
                  <a:close/>
                </a:path>
              </a:pathLst>
            </a:custGeom>
            <a:solidFill>
              <a:srgbClr val="2B59C3">
                <a:alpha val="71765"/>
              </a:srgbClr>
            </a:solidFill>
          </p:spPr>
        </p:sp>
        <p:sp>
          <p:nvSpPr>
            <p:cNvPr id="5" name="TextBox 5"/>
            <p:cNvSpPr txBox="1"/>
            <p:nvPr/>
          </p:nvSpPr>
          <p:spPr>
            <a:xfrm>
              <a:off x="0" y="28575"/>
              <a:ext cx="5612781" cy="357224"/>
            </a:xfrm>
            <a:prstGeom prst="rect">
              <a:avLst/>
            </a:prstGeom>
          </p:spPr>
          <p:txBody>
            <a:bodyPr lIns="50800" tIns="50800" rIns="50800" bIns="50800" rtlCol="0" anchor="ctr"/>
            <a:lstStyle/>
            <a:p>
              <a:pPr algn="ctr">
                <a:lnSpc>
                  <a:spcPts val="2661"/>
                </a:lnSpc>
              </a:pPr>
              <a:endParaRPr/>
            </a:p>
          </p:txBody>
        </p:sp>
      </p:grpSp>
      <p:sp>
        <p:nvSpPr>
          <p:cNvPr id="6" name="Freeform 6"/>
          <p:cNvSpPr/>
          <p:nvPr/>
        </p:nvSpPr>
        <p:spPr>
          <a:xfrm>
            <a:off x="766734" y="9115353"/>
            <a:ext cx="7879398" cy="959854"/>
          </a:xfrm>
          <a:custGeom>
            <a:avLst/>
            <a:gdLst/>
            <a:ahLst/>
            <a:cxnLst/>
            <a:rect l="l" t="t" r="r" b="b"/>
            <a:pathLst>
              <a:path w="7879398" h="959854">
                <a:moveTo>
                  <a:pt x="0" y="0"/>
                </a:moveTo>
                <a:lnTo>
                  <a:pt x="7879399" y="0"/>
                </a:lnTo>
                <a:lnTo>
                  <a:pt x="7879399" y="959854"/>
                </a:lnTo>
                <a:lnTo>
                  <a:pt x="0" y="959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3874742" y="2191560"/>
            <a:ext cx="721873" cy="723258"/>
            <a:chOff x="0" y="0"/>
            <a:chExt cx="812800" cy="814359"/>
          </a:xfrm>
        </p:grpSpPr>
        <p:sp>
          <p:nvSpPr>
            <p:cNvPr id="8" name="Freeform 8"/>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4F9FF5"/>
            </a:solidFill>
          </p:spPr>
        </p:sp>
        <p:sp>
          <p:nvSpPr>
            <p:cNvPr id="9" name="TextBox 9"/>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dirty="0">
                  <a:solidFill>
                    <a:srgbClr val="000000"/>
                  </a:solidFill>
                  <a:latin typeface="Raleway"/>
                  <a:ea typeface="Raleway"/>
                  <a:cs typeface="Raleway"/>
                  <a:sym typeface="Raleway"/>
                </a:rPr>
                <a:t>1</a:t>
              </a:r>
            </a:p>
          </p:txBody>
        </p:sp>
      </p:grpSp>
      <p:grpSp>
        <p:nvGrpSpPr>
          <p:cNvPr id="10" name="Group 10"/>
          <p:cNvGrpSpPr/>
          <p:nvPr/>
        </p:nvGrpSpPr>
        <p:grpSpPr>
          <a:xfrm>
            <a:off x="2828827" y="3837727"/>
            <a:ext cx="721873" cy="723258"/>
            <a:chOff x="0" y="0"/>
            <a:chExt cx="812800" cy="814359"/>
          </a:xfrm>
        </p:grpSpPr>
        <p:sp>
          <p:nvSpPr>
            <p:cNvPr id="11" name="Freeform 11"/>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4F9FF5"/>
            </a:solidFill>
          </p:spPr>
        </p:sp>
        <p:sp>
          <p:nvSpPr>
            <p:cNvPr id="12" name="TextBox 12"/>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a:solidFill>
                    <a:srgbClr val="000000"/>
                  </a:solidFill>
                  <a:latin typeface="Raleway"/>
                  <a:ea typeface="Raleway"/>
                  <a:cs typeface="Raleway"/>
                  <a:sym typeface="Raleway"/>
                </a:rPr>
                <a:t>2</a:t>
              </a:r>
            </a:p>
          </p:txBody>
        </p:sp>
      </p:grpSp>
      <p:grpSp>
        <p:nvGrpSpPr>
          <p:cNvPr id="13" name="Group 13"/>
          <p:cNvGrpSpPr/>
          <p:nvPr/>
        </p:nvGrpSpPr>
        <p:grpSpPr>
          <a:xfrm>
            <a:off x="3874550" y="3837727"/>
            <a:ext cx="721873" cy="723258"/>
            <a:chOff x="0" y="0"/>
            <a:chExt cx="812800" cy="814359"/>
          </a:xfrm>
        </p:grpSpPr>
        <p:sp>
          <p:nvSpPr>
            <p:cNvPr id="14" name="Freeform 14"/>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4F9FF5"/>
            </a:solidFill>
          </p:spPr>
        </p:sp>
        <p:sp>
          <p:nvSpPr>
            <p:cNvPr id="15" name="TextBox 15"/>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a:solidFill>
                    <a:srgbClr val="000000"/>
                  </a:solidFill>
                  <a:latin typeface="Raleway"/>
                  <a:ea typeface="Raleway"/>
                  <a:cs typeface="Raleway"/>
                  <a:sym typeface="Raleway"/>
                </a:rPr>
                <a:t>3</a:t>
              </a:r>
            </a:p>
          </p:txBody>
        </p:sp>
      </p:grpSp>
      <p:grpSp>
        <p:nvGrpSpPr>
          <p:cNvPr id="16" name="Group 16"/>
          <p:cNvGrpSpPr/>
          <p:nvPr/>
        </p:nvGrpSpPr>
        <p:grpSpPr>
          <a:xfrm>
            <a:off x="4956592" y="3837727"/>
            <a:ext cx="721873" cy="723258"/>
            <a:chOff x="0" y="0"/>
            <a:chExt cx="812800" cy="814359"/>
          </a:xfrm>
        </p:grpSpPr>
        <p:sp>
          <p:nvSpPr>
            <p:cNvPr id="17" name="Freeform 17"/>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4F9FF5"/>
            </a:solidFill>
          </p:spPr>
        </p:sp>
        <p:sp>
          <p:nvSpPr>
            <p:cNvPr id="18" name="TextBox 18"/>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a:solidFill>
                    <a:srgbClr val="000000"/>
                  </a:solidFill>
                  <a:latin typeface="Raleway"/>
                  <a:ea typeface="Raleway"/>
                  <a:cs typeface="Raleway"/>
                  <a:sym typeface="Raleway"/>
                </a:rPr>
                <a:t>4</a:t>
              </a:r>
            </a:p>
          </p:txBody>
        </p:sp>
      </p:grpSp>
      <p:sp>
        <p:nvSpPr>
          <p:cNvPr id="19" name="AutoShape 19"/>
          <p:cNvSpPr/>
          <p:nvPr/>
        </p:nvSpPr>
        <p:spPr>
          <a:xfrm flipH="1">
            <a:off x="3189763" y="2914818"/>
            <a:ext cx="1045916" cy="922910"/>
          </a:xfrm>
          <a:prstGeom prst="line">
            <a:avLst/>
          </a:prstGeom>
          <a:ln w="38100" cap="flat">
            <a:solidFill>
              <a:srgbClr val="000000"/>
            </a:solidFill>
            <a:prstDash val="solid"/>
            <a:headEnd type="none" w="sm" len="sm"/>
            <a:tailEnd type="arrow" w="med" len="sm"/>
          </a:ln>
        </p:spPr>
      </p:sp>
      <p:sp>
        <p:nvSpPr>
          <p:cNvPr id="20" name="AutoShape 20"/>
          <p:cNvSpPr/>
          <p:nvPr/>
        </p:nvSpPr>
        <p:spPr>
          <a:xfrm flipH="1">
            <a:off x="4235486" y="2914818"/>
            <a:ext cx="193" cy="922910"/>
          </a:xfrm>
          <a:prstGeom prst="line">
            <a:avLst/>
          </a:prstGeom>
          <a:ln w="38100" cap="flat">
            <a:solidFill>
              <a:srgbClr val="000000"/>
            </a:solidFill>
            <a:prstDash val="solid"/>
            <a:headEnd type="none" w="sm" len="sm"/>
            <a:tailEnd type="arrow" w="med" len="sm"/>
          </a:ln>
        </p:spPr>
      </p:sp>
      <p:sp>
        <p:nvSpPr>
          <p:cNvPr id="21" name="AutoShape 21"/>
          <p:cNvSpPr/>
          <p:nvPr/>
        </p:nvSpPr>
        <p:spPr>
          <a:xfrm>
            <a:off x="4235679" y="2914818"/>
            <a:ext cx="1081850" cy="922910"/>
          </a:xfrm>
          <a:prstGeom prst="line">
            <a:avLst/>
          </a:prstGeom>
          <a:ln w="38100" cap="flat">
            <a:solidFill>
              <a:srgbClr val="000000"/>
            </a:solidFill>
            <a:prstDash val="solid"/>
            <a:headEnd type="none" w="sm" len="sm"/>
            <a:tailEnd type="arrow" w="med" len="sm"/>
          </a:ln>
        </p:spPr>
      </p:sp>
      <p:grpSp>
        <p:nvGrpSpPr>
          <p:cNvPr id="22" name="Group 22"/>
          <p:cNvGrpSpPr/>
          <p:nvPr/>
        </p:nvGrpSpPr>
        <p:grpSpPr>
          <a:xfrm>
            <a:off x="3878796" y="2186469"/>
            <a:ext cx="721873" cy="723258"/>
            <a:chOff x="0" y="0"/>
            <a:chExt cx="812800" cy="814359"/>
          </a:xfrm>
        </p:grpSpPr>
        <p:sp>
          <p:nvSpPr>
            <p:cNvPr id="23" name="Freeform 23"/>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3844A1"/>
            </a:solidFill>
          </p:spPr>
        </p:sp>
        <p:sp>
          <p:nvSpPr>
            <p:cNvPr id="24" name="TextBox 24"/>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a:solidFill>
                    <a:srgbClr val="000000"/>
                  </a:solidFill>
                  <a:latin typeface="Raleway"/>
                  <a:ea typeface="Raleway"/>
                  <a:cs typeface="Raleway"/>
                  <a:sym typeface="Raleway"/>
                </a:rPr>
                <a:t>1</a:t>
              </a:r>
            </a:p>
          </p:txBody>
        </p:sp>
      </p:grpSp>
      <p:grpSp>
        <p:nvGrpSpPr>
          <p:cNvPr id="25" name="Group 25"/>
          <p:cNvGrpSpPr/>
          <p:nvPr/>
        </p:nvGrpSpPr>
        <p:grpSpPr>
          <a:xfrm>
            <a:off x="2828826" y="3829709"/>
            <a:ext cx="721873" cy="723258"/>
            <a:chOff x="0" y="0"/>
            <a:chExt cx="812800" cy="814359"/>
          </a:xfrm>
        </p:grpSpPr>
        <p:sp>
          <p:nvSpPr>
            <p:cNvPr id="26" name="Freeform 26"/>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3844A1"/>
            </a:solidFill>
          </p:spPr>
        </p:sp>
        <p:sp>
          <p:nvSpPr>
            <p:cNvPr id="27" name="TextBox 27"/>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dirty="0">
                  <a:solidFill>
                    <a:srgbClr val="000000"/>
                  </a:solidFill>
                  <a:latin typeface="Raleway"/>
                  <a:ea typeface="Raleway"/>
                  <a:cs typeface="Raleway"/>
                  <a:sym typeface="Raleway"/>
                </a:rPr>
                <a:t>2</a:t>
              </a:r>
            </a:p>
          </p:txBody>
        </p:sp>
      </p:grpSp>
      <p:grpSp>
        <p:nvGrpSpPr>
          <p:cNvPr id="28" name="Group 28"/>
          <p:cNvGrpSpPr/>
          <p:nvPr/>
        </p:nvGrpSpPr>
        <p:grpSpPr>
          <a:xfrm>
            <a:off x="13693750" y="2191560"/>
            <a:ext cx="721873" cy="723258"/>
            <a:chOff x="0" y="0"/>
            <a:chExt cx="812800" cy="814359"/>
          </a:xfrm>
        </p:grpSpPr>
        <p:sp>
          <p:nvSpPr>
            <p:cNvPr id="29" name="Freeform 29"/>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4F9FF5"/>
            </a:solidFill>
          </p:spPr>
        </p:sp>
        <p:sp>
          <p:nvSpPr>
            <p:cNvPr id="30" name="TextBox 30"/>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b="1">
                  <a:solidFill>
                    <a:srgbClr val="000000"/>
                  </a:solidFill>
                  <a:latin typeface="Raleway Bold"/>
                  <a:ea typeface="Raleway Bold"/>
                  <a:cs typeface="Raleway Bold"/>
                  <a:sym typeface="Raleway Bold"/>
                </a:rPr>
                <a:t>1</a:t>
              </a:r>
            </a:p>
          </p:txBody>
        </p:sp>
      </p:grpSp>
      <p:sp>
        <p:nvSpPr>
          <p:cNvPr id="31" name="TextBox 31"/>
          <p:cNvSpPr txBox="1"/>
          <p:nvPr/>
        </p:nvSpPr>
        <p:spPr>
          <a:xfrm>
            <a:off x="1028700" y="9503078"/>
            <a:ext cx="7397745" cy="276789"/>
          </a:xfrm>
          <a:prstGeom prst="rect">
            <a:avLst/>
          </a:prstGeom>
        </p:spPr>
        <p:txBody>
          <a:bodyPr lIns="0" tIns="0" rIns="0" bIns="0" rtlCol="0" anchor="t">
            <a:spAutoFit/>
          </a:bodyPr>
          <a:lstStyle/>
          <a:p>
            <a:pPr algn="l">
              <a:lnSpc>
                <a:spcPts val="1978"/>
              </a:lnSpc>
              <a:spcBef>
                <a:spcPct val="0"/>
              </a:spcBef>
            </a:pPr>
            <a:r>
              <a:rPr lang="en-US" sz="1902" b="1" u="sng">
                <a:solidFill>
                  <a:srgbClr val="0B4876"/>
                </a:solidFill>
                <a:latin typeface="Poppins Medium"/>
                <a:ea typeface="Poppins Medium"/>
                <a:cs typeface="Poppins Medium"/>
                <a:sym typeface="Poppins Medium"/>
                <a:hlinkClick r:id="rId4" tooltip="https://codeforces.com/problemset/problem/580/C"/>
              </a:rPr>
              <a:t>https://codeforces.com/problemset/problem/580/C</a:t>
            </a:r>
          </a:p>
        </p:txBody>
      </p:sp>
      <p:sp>
        <p:nvSpPr>
          <p:cNvPr id="32" name="TextBox 32"/>
          <p:cNvSpPr txBox="1"/>
          <p:nvPr/>
        </p:nvSpPr>
        <p:spPr>
          <a:xfrm>
            <a:off x="186530" y="1749169"/>
            <a:ext cx="2318254" cy="3690542"/>
          </a:xfrm>
          <a:prstGeom prst="rect">
            <a:avLst/>
          </a:prstGeom>
        </p:spPr>
        <p:txBody>
          <a:bodyPr lIns="0" tIns="0" rIns="0" bIns="0" rtlCol="0" anchor="t">
            <a:spAutoFit/>
          </a:bodyPr>
          <a:lstStyle/>
          <a:p>
            <a:pPr algn="ctr">
              <a:lnSpc>
                <a:spcPts val="2661"/>
              </a:lnSpc>
              <a:spcBef>
                <a:spcPct val="0"/>
              </a:spcBef>
            </a:pPr>
            <a:r>
              <a:rPr lang="en-US" sz="2558" b="1" dirty="0">
                <a:solidFill>
                  <a:srgbClr val="000000"/>
                </a:solidFill>
                <a:latin typeface="Raleway Bold"/>
                <a:ea typeface="Raleway Bold"/>
                <a:cs typeface="Raleway Bold"/>
                <a:sym typeface="Raleway Bold"/>
              </a:rPr>
              <a:t>Examples 1: </a:t>
            </a:r>
          </a:p>
          <a:p>
            <a:pPr algn="ctr">
              <a:lnSpc>
                <a:spcPts val="2661"/>
              </a:lnSpc>
              <a:spcBef>
                <a:spcPct val="0"/>
              </a:spcBef>
            </a:pPr>
            <a:endParaRPr lang="en-US" sz="2558" b="1" dirty="0">
              <a:solidFill>
                <a:srgbClr val="000000"/>
              </a:solidFill>
              <a:latin typeface="Raleway Bold"/>
              <a:ea typeface="Raleway Bold"/>
              <a:cs typeface="Raleway Bold"/>
              <a:sym typeface="Raleway Bold"/>
            </a:endParaRPr>
          </a:p>
          <a:p>
            <a:pPr algn="ctr">
              <a:lnSpc>
                <a:spcPts val="2661"/>
              </a:lnSpc>
              <a:spcBef>
                <a:spcPct val="0"/>
              </a:spcBef>
            </a:pPr>
            <a:r>
              <a:rPr lang="en-US" sz="2558" b="1" dirty="0">
                <a:solidFill>
                  <a:srgbClr val="000000"/>
                </a:solidFill>
                <a:latin typeface="Raleway Bold"/>
                <a:ea typeface="Raleway Bold"/>
                <a:cs typeface="Raleway Bold"/>
                <a:sym typeface="Raleway Bold"/>
              </a:rPr>
              <a:t>Input</a:t>
            </a:r>
          </a:p>
          <a:p>
            <a:pPr algn="ctr">
              <a:lnSpc>
                <a:spcPts val="2661"/>
              </a:lnSpc>
              <a:spcBef>
                <a:spcPct val="0"/>
              </a:spcBef>
            </a:pPr>
            <a:r>
              <a:rPr lang="en-US" sz="2558" b="1" dirty="0">
                <a:solidFill>
                  <a:srgbClr val="000000"/>
                </a:solidFill>
                <a:latin typeface="Raleway Bold"/>
                <a:ea typeface="Raleway Bold"/>
                <a:cs typeface="Raleway Bold"/>
                <a:sym typeface="Raleway Bold"/>
              </a:rPr>
              <a:t>4 1</a:t>
            </a:r>
          </a:p>
          <a:p>
            <a:pPr algn="ctr">
              <a:lnSpc>
                <a:spcPts val="2661"/>
              </a:lnSpc>
              <a:spcBef>
                <a:spcPct val="0"/>
              </a:spcBef>
            </a:pPr>
            <a:r>
              <a:rPr lang="en-US" sz="2558" b="1" dirty="0">
                <a:solidFill>
                  <a:srgbClr val="000000"/>
                </a:solidFill>
                <a:latin typeface="Raleway Bold"/>
                <a:ea typeface="Raleway Bold"/>
                <a:cs typeface="Raleway Bold"/>
                <a:sym typeface="Raleway Bold"/>
              </a:rPr>
              <a:t>1 1 0 0</a:t>
            </a:r>
          </a:p>
          <a:p>
            <a:pPr algn="ctr">
              <a:lnSpc>
                <a:spcPts val="2661"/>
              </a:lnSpc>
              <a:spcBef>
                <a:spcPct val="0"/>
              </a:spcBef>
            </a:pPr>
            <a:r>
              <a:rPr lang="en-US" sz="2558" b="1" dirty="0">
                <a:solidFill>
                  <a:srgbClr val="000000"/>
                </a:solidFill>
                <a:latin typeface="Raleway Bold"/>
                <a:ea typeface="Raleway Bold"/>
                <a:cs typeface="Raleway Bold"/>
                <a:sym typeface="Raleway Bold"/>
              </a:rPr>
              <a:t>1 2</a:t>
            </a:r>
          </a:p>
          <a:p>
            <a:pPr algn="ctr">
              <a:lnSpc>
                <a:spcPts val="2661"/>
              </a:lnSpc>
              <a:spcBef>
                <a:spcPct val="0"/>
              </a:spcBef>
            </a:pPr>
            <a:r>
              <a:rPr lang="en-US" sz="2558" b="1" dirty="0">
                <a:solidFill>
                  <a:srgbClr val="000000"/>
                </a:solidFill>
                <a:latin typeface="Raleway Bold"/>
                <a:ea typeface="Raleway Bold"/>
                <a:cs typeface="Raleway Bold"/>
                <a:sym typeface="Raleway Bold"/>
              </a:rPr>
              <a:t>1 3</a:t>
            </a:r>
          </a:p>
          <a:p>
            <a:pPr algn="ctr">
              <a:lnSpc>
                <a:spcPts val="2661"/>
              </a:lnSpc>
              <a:spcBef>
                <a:spcPct val="0"/>
              </a:spcBef>
            </a:pPr>
            <a:r>
              <a:rPr lang="en-US" sz="2558" b="1" dirty="0">
                <a:solidFill>
                  <a:srgbClr val="000000"/>
                </a:solidFill>
                <a:latin typeface="Raleway Bold"/>
                <a:ea typeface="Raleway Bold"/>
                <a:cs typeface="Raleway Bold"/>
                <a:sym typeface="Raleway Bold"/>
              </a:rPr>
              <a:t>1 4</a:t>
            </a:r>
          </a:p>
          <a:p>
            <a:pPr algn="ctr">
              <a:lnSpc>
                <a:spcPts val="2661"/>
              </a:lnSpc>
              <a:spcBef>
                <a:spcPct val="0"/>
              </a:spcBef>
            </a:pPr>
            <a:endParaRPr lang="en-US" sz="2558" b="1" dirty="0">
              <a:solidFill>
                <a:srgbClr val="000000"/>
              </a:solidFill>
              <a:latin typeface="Raleway Bold"/>
              <a:ea typeface="Raleway Bold"/>
              <a:cs typeface="Raleway Bold"/>
              <a:sym typeface="Raleway Bold"/>
            </a:endParaRPr>
          </a:p>
          <a:p>
            <a:pPr algn="ctr">
              <a:lnSpc>
                <a:spcPts val="2661"/>
              </a:lnSpc>
              <a:spcBef>
                <a:spcPct val="0"/>
              </a:spcBef>
            </a:pPr>
            <a:r>
              <a:rPr lang="en-US" sz="2558" b="1" dirty="0">
                <a:solidFill>
                  <a:srgbClr val="000000"/>
                </a:solidFill>
                <a:latin typeface="Raleway Bold"/>
                <a:ea typeface="Raleway Bold"/>
                <a:cs typeface="Raleway Bold"/>
                <a:sym typeface="Raleway Bold"/>
              </a:rPr>
              <a:t>Output</a:t>
            </a:r>
          </a:p>
          <a:p>
            <a:pPr algn="ctr">
              <a:lnSpc>
                <a:spcPts val="2661"/>
              </a:lnSpc>
              <a:spcBef>
                <a:spcPct val="0"/>
              </a:spcBef>
            </a:pPr>
            <a:r>
              <a:rPr lang="en-US" sz="2558" b="1" dirty="0">
                <a:solidFill>
                  <a:srgbClr val="000000"/>
                </a:solidFill>
                <a:latin typeface="Raleway Bold"/>
                <a:ea typeface="Raleway Bold"/>
                <a:cs typeface="Raleway Bold"/>
                <a:sym typeface="Raleway Bold"/>
              </a:rPr>
              <a:t>2</a:t>
            </a:r>
          </a:p>
        </p:txBody>
      </p:sp>
      <p:sp>
        <p:nvSpPr>
          <p:cNvPr id="33" name="TextBox 33"/>
          <p:cNvSpPr txBox="1"/>
          <p:nvPr/>
        </p:nvSpPr>
        <p:spPr>
          <a:xfrm>
            <a:off x="8213750" y="1749169"/>
            <a:ext cx="1860500" cy="4690667"/>
          </a:xfrm>
          <a:prstGeom prst="rect">
            <a:avLst/>
          </a:prstGeom>
        </p:spPr>
        <p:txBody>
          <a:bodyPr lIns="0" tIns="0" rIns="0" bIns="0" rtlCol="0" anchor="t">
            <a:spAutoFit/>
          </a:bodyPr>
          <a:lstStyle/>
          <a:p>
            <a:pPr algn="ctr">
              <a:lnSpc>
                <a:spcPts val="2661"/>
              </a:lnSpc>
            </a:pPr>
            <a:r>
              <a:rPr lang="en-US" sz="2558" b="1" dirty="0">
                <a:solidFill>
                  <a:srgbClr val="000000"/>
                </a:solidFill>
                <a:latin typeface="Raleway Bold"/>
                <a:ea typeface="Raleway Bold"/>
                <a:cs typeface="Raleway Bold"/>
                <a:sym typeface="Raleway Bold"/>
              </a:rPr>
              <a:t>Examples 2:</a:t>
            </a:r>
          </a:p>
          <a:p>
            <a:pPr algn="ctr">
              <a:lnSpc>
                <a:spcPts val="2661"/>
              </a:lnSpc>
            </a:pPr>
            <a:endParaRPr lang="en-US" sz="2558" b="1" dirty="0">
              <a:solidFill>
                <a:srgbClr val="000000"/>
              </a:solidFill>
              <a:latin typeface="Raleway Bold"/>
              <a:ea typeface="Raleway Bold"/>
              <a:cs typeface="Raleway Bold"/>
              <a:sym typeface="Raleway Bold"/>
            </a:endParaRPr>
          </a:p>
          <a:p>
            <a:pPr algn="ctr">
              <a:lnSpc>
                <a:spcPts val="2661"/>
              </a:lnSpc>
              <a:spcBef>
                <a:spcPct val="0"/>
              </a:spcBef>
            </a:pPr>
            <a:r>
              <a:rPr lang="en-US" sz="2558" b="1" dirty="0">
                <a:solidFill>
                  <a:srgbClr val="000000"/>
                </a:solidFill>
                <a:latin typeface="Raleway Bold"/>
                <a:ea typeface="Raleway Bold"/>
                <a:cs typeface="Raleway Bold"/>
                <a:sym typeface="Raleway Bold"/>
              </a:rPr>
              <a:t>Input</a:t>
            </a:r>
          </a:p>
          <a:p>
            <a:pPr algn="ctr">
              <a:lnSpc>
                <a:spcPts val="2661"/>
              </a:lnSpc>
              <a:spcBef>
                <a:spcPct val="0"/>
              </a:spcBef>
            </a:pPr>
            <a:r>
              <a:rPr lang="en-US" sz="2558" b="1" dirty="0">
                <a:solidFill>
                  <a:srgbClr val="000000"/>
                </a:solidFill>
                <a:latin typeface="Raleway Bold"/>
                <a:ea typeface="Raleway Bold"/>
                <a:cs typeface="Raleway Bold"/>
                <a:sym typeface="Raleway Bold"/>
              </a:rPr>
              <a:t>7 1</a:t>
            </a:r>
          </a:p>
          <a:p>
            <a:pPr algn="ctr">
              <a:lnSpc>
                <a:spcPts val="2661"/>
              </a:lnSpc>
              <a:spcBef>
                <a:spcPct val="0"/>
              </a:spcBef>
            </a:pPr>
            <a:r>
              <a:rPr lang="en-US" sz="2558" b="1" dirty="0">
                <a:solidFill>
                  <a:srgbClr val="000000"/>
                </a:solidFill>
                <a:latin typeface="Raleway Bold"/>
                <a:ea typeface="Raleway Bold"/>
                <a:cs typeface="Raleway Bold"/>
                <a:sym typeface="Raleway Bold"/>
              </a:rPr>
              <a:t>1 0 1 1 0 0 0</a:t>
            </a:r>
          </a:p>
          <a:p>
            <a:pPr algn="ctr">
              <a:lnSpc>
                <a:spcPts val="2661"/>
              </a:lnSpc>
              <a:spcBef>
                <a:spcPct val="0"/>
              </a:spcBef>
            </a:pPr>
            <a:r>
              <a:rPr lang="en-US" sz="2558" b="1" dirty="0">
                <a:solidFill>
                  <a:srgbClr val="000000"/>
                </a:solidFill>
                <a:latin typeface="Raleway Bold"/>
                <a:ea typeface="Raleway Bold"/>
                <a:cs typeface="Raleway Bold"/>
                <a:sym typeface="Raleway Bold"/>
              </a:rPr>
              <a:t>1 2</a:t>
            </a:r>
          </a:p>
          <a:p>
            <a:pPr algn="ctr">
              <a:lnSpc>
                <a:spcPts val="2661"/>
              </a:lnSpc>
              <a:spcBef>
                <a:spcPct val="0"/>
              </a:spcBef>
            </a:pPr>
            <a:r>
              <a:rPr lang="en-US" sz="2558" b="1" dirty="0">
                <a:solidFill>
                  <a:srgbClr val="000000"/>
                </a:solidFill>
                <a:latin typeface="Raleway Bold"/>
                <a:ea typeface="Raleway Bold"/>
                <a:cs typeface="Raleway Bold"/>
                <a:sym typeface="Raleway Bold"/>
              </a:rPr>
              <a:t>1 3</a:t>
            </a:r>
          </a:p>
          <a:p>
            <a:pPr algn="ctr">
              <a:lnSpc>
                <a:spcPts val="2661"/>
              </a:lnSpc>
              <a:spcBef>
                <a:spcPct val="0"/>
              </a:spcBef>
            </a:pPr>
            <a:r>
              <a:rPr lang="en-US" sz="2558" b="1" dirty="0">
                <a:solidFill>
                  <a:srgbClr val="000000"/>
                </a:solidFill>
                <a:latin typeface="Raleway Bold"/>
                <a:ea typeface="Raleway Bold"/>
                <a:cs typeface="Raleway Bold"/>
                <a:sym typeface="Raleway Bold"/>
              </a:rPr>
              <a:t>2 4</a:t>
            </a:r>
          </a:p>
          <a:p>
            <a:pPr algn="ctr">
              <a:lnSpc>
                <a:spcPts val="2661"/>
              </a:lnSpc>
              <a:spcBef>
                <a:spcPct val="0"/>
              </a:spcBef>
            </a:pPr>
            <a:r>
              <a:rPr lang="en-US" sz="2558" b="1" dirty="0">
                <a:solidFill>
                  <a:srgbClr val="000000"/>
                </a:solidFill>
                <a:latin typeface="Raleway Bold"/>
                <a:ea typeface="Raleway Bold"/>
                <a:cs typeface="Raleway Bold"/>
                <a:sym typeface="Raleway Bold"/>
              </a:rPr>
              <a:t>2 5</a:t>
            </a:r>
          </a:p>
          <a:p>
            <a:pPr algn="ctr">
              <a:lnSpc>
                <a:spcPts val="2661"/>
              </a:lnSpc>
              <a:spcBef>
                <a:spcPct val="0"/>
              </a:spcBef>
            </a:pPr>
            <a:r>
              <a:rPr lang="en-US" sz="2558" b="1" dirty="0">
                <a:solidFill>
                  <a:srgbClr val="000000"/>
                </a:solidFill>
                <a:latin typeface="Raleway Bold"/>
                <a:ea typeface="Raleway Bold"/>
                <a:cs typeface="Raleway Bold"/>
                <a:sym typeface="Raleway Bold"/>
              </a:rPr>
              <a:t>3 6</a:t>
            </a:r>
          </a:p>
          <a:p>
            <a:pPr algn="ctr">
              <a:lnSpc>
                <a:spcPts val="2661"/>
              </a:lnSpc>
              <a:spcBef>
                <a:spcPct val="0"/>
              </a:spcBef>
            </a:pPr>
            <a:r>
              <a:rPr lang="en-US" sz="2558" b="1" dirty="0">
                <a:solidFill>
                  <a:srgbClr val="000000"/>
                </a:solidFill>
                <a:latin typeface="Raleway Bold"/>
                <a:ea typeface="Raleway Bold"/>
                <a:cs typeface="Raleway Bold"/>
                <a:sym typeface="Raleway Bold"/>
              </a:rPr>
              <a:t>3 7</a:t>
            </a:r>
          </a:p>
          <a:p>
            <a:pPr algn="ctr">
              <a:lnSpc>
                <a:spcPts val="2661"/>
              </a:lnSpc>
              <a:spcBef>
                <a:spcPct val="0"/>
              </a:spcBef>
            </a:pPr>
            <a:endParaRPr lang="en-US" sz="2558" b="1" dirty="0">
              <a:solidFill>
                <a:srgbClr val="000000"/>
              </a:solidFill>
              <a:latin typeface="Raleway Bold"/>
              <a:ea typeface="Raleway Bold"/>
              <a:cs typeface="Raleway Bold"/>
              <a:sym typeface="Raleway Bold"/>
            </a:endParaRPr>
          </a:p>
          <a:p>
            <a:pPr algn="ctr">
              <a:lnSpc>
                <a:spcPts val="2661"/>
              </a:lnSpc>
              <a:spcBef>
                <a:spcPct val="0"/>
              </a:spcBef>
            </a:pPr>
            <a:r>
              <a:rPr lang="en-US" sz="2558" b="1" dirty="0">
                <a:solidFill>
                  <a:srgbClr val="000000"/>
                </a:solidFill>
                <a:latin typeface="Raleway Bold"/>
                <a:ea typeface="Raleway Bold"/>
                <a:cs typeface="Raleway Bold"/>
                <a:sym typeface="Raleway Bold"/>
              </a:rPr>
              <a:t>Output</a:t>
            </a:r>
          </a:p>
          <a:p>
            <a:pPr algn="ctr">
              <a:lnSpc>
                <a:spcPts val="2661"/>
              </a:lnSpc>
              <a:spcBef>
                <a:spcPct val="0"/>
              </a:spcBef>
            </a:pPr>
            <a:r>
              <a:rPr lang="en-US" sz="2558" b="1" dirty="0">
                <a:solidFill>
                  <a:srgbClr val="000000"/>
                </a:solidFill>
                <a:latin typeface="Raleway Bold"/>
                <a:ea typeface="Raleway Bold"/>
                <a:cs typeface="Raleway Bold"/>
                <a:sym typeface="Raleway Bold"/>
              </a:rPr>
              <a:t>2</a:t>
            </a:r>
          </a:p>
        </p:txBody>
      </p:sp>
      <p:grpSp>
        <p:nvGrpSpPr>
          <p:cNvPr id="34" name="Group 34"/>
          <p:cNvGrpSpPr/>
          <p:nvPr/>
        </p:nvGrpSpPr>
        <p:grpSpPr>
          <a:xfrm>
            <a:off x="12250004" y="3837727"/>
            <a:ext cx="721873" cy="723258"/>
            <a:chOff x="0" y="0"/>
            <a:chExt cx="812800" cy="814359"/>
          </a:xfrm>
        </p:grpSpPr>
        <p:sp>
          <p:nvSpPr>
            <p:cNvPr id="35" name="Freeform 35"/>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4F9FF5"/>
            </a:solidFill>
          </p:spPr>
        </p:sp>
        <p:sp>
          <p:nvSpPr>
            <p:cNvPr id="36" name="TextBox 36"/>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b="1">
                  <a:solidFill>
                    <a:srgbClr val="000000"/>
                  </a:solidFill>
                  <a:latin typeface="Raleway Bold"/>
                  <a:ea typeface="Raleway Bold"/>
                  <a:cs typeface="Raleway Bold"/>
                  <a:sym typeface="Raleway Bold"/>
                </a:rPr>
                <a:t>2</a:t>
              </a:r>
            </a:p>
          </p:txBody>
        </p:sp>
      </p:grpSp>
      <p:grpSp>
        <p:nvGrpSpPr>
          <p:cNvPr id="37" name="Group 37"/>
          <p:cNvGrpSpPr/>
          <p:nvPr/>
        </p:nvGrpSpPr>
        <p:grpSpPr>
          <a:xfrm>
            <a:off x="15137496" y="3719279"/>
            <a:ext cx="721873" cy="723258"/>
            <a:chOff x="0" y="0"/>
            <a:chExt cx="812800" cy="814359"/>
          </a:xfrm>
        </p:grpSpPr>
        <p:sp>
          <p:nvSpPr>
            <p:cNvPr id="38" name="Freeform 38"/>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4F9FF5"/>
            </a:solidFill>
          </p:spPr>
        </p:sp>
        <p:sp>
          <p:nvSpPr>
            <p:cNvPr id="39" name="TextBox 39"/>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b="1">
                  <a:solidFill>
                    <a:srgbClr val="000000"/>
                  </a:solidFill>
                  <a:latin typeface="Raleway Bold"/>
                  <a:ea typeface="Raleway Bold"/>
                  <a:cs typeface="Raleway Bold"/>
                  <a:sym typeface="Raleway Bold"/>
                </a:rPr>
                <a:t>3</a:t>
              </a:r>
            </a:p>
          </p:txBody>
        </p:sp>
      </p:grpSp>
      <p:grpSp>
        <p:nvGrpSpPr>
          <p:cNvPr id="40" name="Group 40"/>
          <p:cNvGrpSpPr/>
          <p:nvPr/>
        </p:nvGrpSpPr>
        <p:grpSpPr>
          <a:xfrm>
            <a:off x="11528131" y="5439711"/>
            <a:ext cx="721873" cy="723258"/>
            <a:chOff x="0" y="0"/>
            <a:chExt cx="812800" cy="814359"/>
          </a:xfrm>
        </p:grpSpPr>
        <p:sp>
          <p:nvSpPr>
            <p:cNvPr id="41" name="Freeform 41"/>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4F9FF5"/>
            </a:solidFill>
          </p:spPr>
        </p:sp>
        <p:sp>
          <p:nvSpPr>
            <p:cNvPr id="42" name="TextBox 42"/>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b="1">
                  <a:solidFill>
                    <a:srgbClr val="000000"/>
                  </a:solidFill>
                  <a:latin typeface="Raleway Bold"/>
                  <a:ea typeface="Raleway Bold"/>
                  <a:cs typeface="Raleway Bold"/>
                  <a:sym typeface="Raleway Bold"/>
                </a:rPr>
                <a:t>4</a:t>
              </a:r>
            </a:p>
          </p:txBody>
        </p:sp>
      </p:grpSp>
      <p:grpSp>
        <p:nvGrpSpPr>
          <p:cNvPr id="43" name="Group 43"/>
          <p:cNvGrpSpPr/>
          <p:nvPr/>
        </p:nvGrpSpPr>
        <p:grpSpPr>
          <a:xfrm>
            <a:off x="12971877" y="5439711"/>
            <a:ext cx="721873" cy="723258"/>
            <a:chOff x="0" y="0"/>
            <a:chExt cx="812800" cy="814359"/>
          </a:xfrm>
        </p:grpSpPr>
        <p:sp>
          <p:nvSpPr>
            <p:cNvPr id="44" name="Freeform 44"/>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4F9FF5"/>
            </a:solidFill>
          </p:spPr>
        </p:sp>
        <p:sp>
          <p:nvSpPr>
            <p:cNvPr id="45" name="TextBox 45"/>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b="1">
                  <a:solidFill>
                    <a:srgbClr val="000000"/>
                  </a:solidFill>
                  <a:latin typeface="Raleway Bold"/>
                  <a:ea typeface="Raleway Bold"/>
                  <a:cs typeface="Raleway Bold"/>
                  <a:sym typeface="Raleway Bold"/>
                </a:rPr>
                <a:t>5</a:t>
              </a:r>
            </a:p>
          </p:txBody>
        </p:sp>
      </p:grpSp>
      <p:grpSp>
        <p:nvGrpSpPr>
          <p:cNvPr id="46" name="Group 46"/>
          <p:cNvGrpSpPr/>
          <p:nvPr/>
        </p:nvGrpSpPr>
        <p:grpSpPr>
          <a:xfrm>
            <a:off x="14415623" y="5439711"/>
            <a:ext cx="721873" cy="723258"/>
            <a:chOff x="0" y="0"/>
            <a:chExt cx="812800" cy="814359"/>
          </a:xfrm>
        </p:grpSpPr>
        <p:sp>
          <p:nvSpPr>
            <p:cNvPr id="47" name="Freeform 47"/>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4F9FF5"/>
            </a:solidFill>
          </p:spPr>
        </p:sp>
        <p:sp>
          <p:nvSpPr>
            <p:cNvPr id="48" name="TextBox 48"/>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b="1">
                  <a:solidFill>
                    <a:srgbClr val="000000"/>
                  </a:solidFill>
                  <a:latin typeface="Raleway Bold"/>
                  <a:ea typeface="Raleway Bold"/>
                  <a:cs typeface="Raleway Bold"/>
                  <a:sym typeface="Raleway Bold"/>
                </a:rPr>
                <a:t>6</a:t>
              </a:r>
            </a:p>
          </p:txBody>
        </p:sp>
      </p:grpSp>
      <p:grpSp>
        <p:nvGrpSpPr>
          <p:cNvPr id="49" name="Group 49"/>
          <p:cNvGrpSpPr/>
          <p:nvPr/>
        </p:nvGrpSpPr>
        <p:grpSpPr>
          <a:xfrm>
            <a:off x="15859370" y="5439711"/>
            <a:ext cx="721873" cy="723258"/>
            <a:chOff x="0" y="0"/>
            <a:chExt cx="812800" cy="814359"/>
          </a:xfrm>
        </p:grpSpPr>
        <p:sp>
          <p:nvSpPr>
            <p:cNvPr id="50" name="Freeform 50"/>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4F9FF5"/>
            </a:solidFill>
          </p:spPr>
        </p:sp>
        <p:sp>
          <p:nvSpPr>
            <p:cNvPr id="51" name="TextBox 51"/>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b="1">
                  <a:solidFill>
                    <a:srgbClr val="000000"/>
                  </a:solidFill>
                  <a:latin typeface="Raleway Bold"/>
                  <a:ea typeface="Raleway Bold"/>
                  <a:cs typeface="Raleway Bold"/>
                  <a:sym typeface="Raleway Bold"/>
                </a:rPr>
                <a:t>7</a:t>
              </a:r>
            </a:p>
          </p:txBody>
        </p:sp>
      </p:grpSp>
      <p:sp>
        <p:nvSpPr>
          <p:cNvPr id="52" name="AutoShape 52"/>
          <p:cNvSpPr/>
          <p:nvPr/>
        </p:nvSpPr>
        <p:spPr>
          <a:xfrm>
            <a:off x="14054687" y="2914818"/>
            <a:ext cx="1443746" cy="804461"/>
          </a:xfrm>
          <a:prstGeom prst="line">
            <a:avLst/>
          </a:prstGeom>
          <a:ln w="38100" cap="flat">
            <a:solidFill>
              <a:srgbClr val="000000"/>
            </a:solidFill>
            <a:prstDash val="solid"/>
            <a:headEnd type="none" w="sm" len="sm"/>
            <a:tailEnd type="arrow" w="med" len="sm"/>
          </a:ln>
        </p:spPr>
      </p:sp>
      <p:sp>
        <p:nvSpPr>
          <p:cNvPr id="53" name="AutoShape 53"/>
          <p:cNvSpPr/>
          <p:nvPr/>
        </p:nvSpPr>
        <p:spPr>
          <a:xfrm flipH="1">
            <a:off x="12610941" y="2914818"/>
            <a:ext cx="1443746" cy="922910"/>
          </a:xfrm>
          <a:prstGeom prst="line">
            <a:avLst/>
          </a:prstGeom>
          <a:ln w="38100" cap="flat">
            <a:solidFill>
              <a:srgbClr val="000000"/>
            </a:solidFill>
            <a:prstDash val="solid"/>
            <a:headEnd type="none" w="sm" len="sm"/>
            <a:tailEnd type="arrow" w="med" len="sm"/>
          </a:ln>
        </p:spPr>
      </p:sp>
      <p:sp>
        <p:nvSpPr>
          <p:cNvPr id="54" name="AutoShape 54"/>
          <p:cNvSpPr/>
          <p:nvPr/>
        </p:nvSpPr>
        <p:spPr>
          <a:xfrm flipH="1">
            <a:off x="11889067" y="4560985"/>
            <a:ext cx="721873" cy="878726"/>
          </a:xfrm>
          <a:prstGeom prst="line">
            <a:avLst/>
          </a:prstGeom>
          <a:ln w="38100" cap="flat">
            <a:solidFill>
              <a:srgbClr val="000000"/>
            </a:solidFill>
            <a:prstDash val="solid"/>
            <a:headEnd type="none" w="sm" len="sm"/>
            <a:tailEnd type="arrow" w="med" len="sm"/>
          </a:ln>
        </p:spPr>
      </p:sp>
      <p:sp>
        <p:nvSpPr>
          <p:cNvPr id="55" name="AutoShape 55"/>
          <p:cNvSpPr/>
          <p:nvPr/>
        </p:nvSpPr>
        <p:spPr>
          <a:xfrm>
            <a:off x="12610941" y="4560985"/>
            <a:ext cx="721873" cy="878726"/>
          </a:xfrm>
          <a:prstGeom prst="line">
            <a:avLst/>
          </a:prstGeom>
          <a:ln w="38100" cap="flat">
            <a:solidFill>
              <a:srgbClr val="000000"/>
            </a:solidFill>
            <a:prstDash val="solid"/>
            <a:headEnd type="none" w="sm" len="sm"/>
            <a:tailEnd type="arrow" w="med" len="sm"/>
          </a:ln>
        </p:spPr>
      </p:sp>
      <p:sp>
        <p:nvSpPr>
          <p:cNvPr id="56" name="AutoShape 56"/>
          <p:cNvSpPr/>
          <p:nvPr/>
        </p:nvSpPr>
        <p:spPr>
          <a:xfrm flipH="1">
            <a:off x="14776560" y="4442537"/>
            <a:ext cx="721873" cy="997174"/>
          </a:xfrm>
          <a:prstGeom prst="line">
            <a:avLst/>
          </a:prstGeom>
          <a:ln w="38100" cap="flat">
            <a:solidFill>
              <a:srgbClr val="000000"/>
            </a:solidFill>
            <a:prstDash val="solid"/>
            <a:headEnd type="none" w="sm" len="sm"/>
            <a:tailEnd type="arrow" w="med" len="sm"/>
          </a:ln>
        </p:spPr>
      </p:sp>
      <p:sp>
        <p:nvSpPr>
          <p:cNvPr id="57" name="AutoShape 57"/>
          <p:cNvSpPr/>
          <p:nvPr/>
        </p:nvSpPr>
        <p:spPr>
          <a:xfrm>
            <a:off x="15498433" y="4442537"/>
            <a:ext cx="721873" cy="997174"/>
          </a:xfrm>
          <a:prstGeom prst="line">
            <a:avLst/>
          </a:prstGeom>
          <a:ln w="38100" cap="flat">
            <a:solidFill>
              <a:srgbClr val="000000"/>
            </a:solidFill>
            <a:prstDash val="solid"/>
            <a:headEnd type="none" w="sm" len="sm"/>
            <a:tailEnd type="arrow" w="med" len="sm"/>
          </a:ln>
        </p:spPr>
      </p:sp>
      <p:grpSp>
        <p:nvGrpSpPr>
          <p:cNvPr id="58" name="Group 58"/>
          <p:cNvGrpSpPr/>
          <p:nvPr/>
        </p:nvGrpSpPr>
        <p:grpSpPr>
          <a:xfrm>
            <a:off x="13693010" y="2186469"/>
            <a:ext cx="721873" cy="723258"/>
            <a:chOff x="0" y="0"/>
            <a:chExt cx="812800" cy="814359"/>
          </a:xfrm>
        </p:grpSpPr>
        <p:sp>
          <p:nvSpPr>
            <p:cNvPr id="59" name="Freeform 59"/>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3844A1"/>
            </a:solidFill>
          </p:spPr>
        </p:sp>
        <p:sp>
          <p:nvSpPr>
            <p:cNvPr id="60" name="TextBox 60"/>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b="1" dirty="0">
                  <a:solidFill>
                    <a:srgbClr val="000000"/>
                  </a:solidFill>
                  <a:latin typeface="Raleway Bold"/>
                  <a:ea typeface="Raleway Bold"/>
                  <a:cs typeface="Raleway Bold"/>
                  <a:sym typeface="Raleway Bold"/>
                </a:rPr>
                <a:t>1</a:t>
              </a:r>
            </a:p>
          </p:txBody>
        </p:sp>
      </p:grpSp>
      <p:grpSp>
        <p:nvGrpSpPr>
          <p:cNvPr id="61" name="Group 61"/>
          <p:cNvGrpSpPr/>
          <p:nvPr/>
        </p:nvGrpSpPr>
        <p:grpSpPr>
          <a:xfrm>
            <a:off x="15137495" y="3719279"/>
            <a:ext cx="721873" cy="723258"/>
            <a:chOff x="0" y="0"/>
            <a:chExt cx="812800" cy="814359"/>
          </a:xfrm>
        </p:grpSpPr>
        <p:sp>
          <p:nvSpPr>
            <p:cNvPr id="62" name="Freeform 62"/>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3844A1"/>
            </a:solidFill>
          </p:spPr>
        </p:sp>
        <p:sp>
          <p:nvSpPr>
            <p:cNvPr id="63" name="TextBox 63"/>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b="1">
                  <a:solidFill>
                    <a:srgbClr val="000000"/>
                  </a:solidFill>
                  <a:latin typeface="Raleway Bold"/>
                  <a:ea typeface="Raleway Bold"/>
                  <a:cs typeface="Raleway Bold"/>
                  <a:sym typeface="Raleway Bold"/>
                </a:rPr>
                <a:t>3</a:t>
              </a:r>
            </a:p>
          </p:txBody>
        </p:sp>
      </p:grpSp>
      <p:grpSp>
        <p:nvGrpSpPr>
          <p:cNvPr id="64" name="Group 64"/>
          <p:cNvGrpSpPr/>
          <p:nvPr/>
        </p:nvGrpSpPr>
        <p:grpSpPr>
          <a:xfrm>
            <a:off x="11528130" y="5439711"/>
            <a:ext cx="721873" cy="723258"/>
            <a:chOff x="0" y="0"/>
            <a:chExt cx="812800" cy="814359"/>
          </a:xfrm>
        </p:grpSpPr>
        <p:sp>
          <p:nvSpPr>
            <p:cNvPr id="65" name="Freeform 65"/>
            <p:cNvSpPr/>
            <p:nvPr/>
          </p:nvSpPr>
          <p:spPr>
            <a:xfrm>
              <a:off x="0" y="0"/>
              <a:ext cx="812800" cy="814359"/>
            </a:xfrm>
            <a:custGeom>
              <a:avLst/>
              <a:gdLst/>
              <a:ahLst/>
              <a:cxnLst/>
              <a:rect l="l" t="t" r="r" b="b"/>
              <a:pathLst>
                <a:path w="812800" h="814359">
                  <a:moveTo>
                    <a:pt x="406400" y="0"/>
                  </a:moveTo>
                  <a:cubicBezTo>
                    <a:pt x="181951" y="0"/>
                    <a:pt x="0" y="182301"/>
                    <a:pt x="0" y="407180"/>
                  </a:cubicBezTo>
                  <a:cubicBezTo>
                    <a:pt x="0" y="632059"/>
                    <a:pt x="181951" y="814359"/>
                    <a:pt x="406400" y="814359"/>
                  </a:cubicBezTo>
                  <a:cubicBezTo>
                    <a:pt x="630849" y="814359"/>
                    <a:pt x="812800" y="632059"/>
                    <a:pt x="812800" y="407180"/>
                  </a:cubicBezTo>
                  <a:cubicBezTo>
                    <a:pt x="812800" y="182301"/>
                    <a:pt x="630849" y="0"/>
                    <a:pt x="406400" y="0"/>
                  </a:cubicBezTo>
                  <a:close/>
                </a:path>
              </a:pathLst>
            </a:custGeom>
            <a:solidFill>
              <a:srgbClr val="3844A1"/>
            </a:solidFill>
          </p:spPr>
        </p:sp>
        <p:sp>
          <p:nvSpPr>
            <p:cNvPr id="66" name="TextBox 66"/>
            <p:cNvSpPr txBox="1"/>
            <p:nvPr/>
          </p:nvSpPr>
          <p:spPr>
            <a:xfrm>
              <a:off x="76200" y="104921"/>
              <a:ext cx="660400" cy="633092"/>
            </a:xfrm>
            <a:prstGeom prst="rect">
              <a:avLst/>
            </a:prstGeom>
          </p:spPr>
          <p:txBody>
            <a:bodyPr lIns="50800" tIns="50800" rIns="50800" bIns="50800" rtlCol="0" anchor="ctr"/>
            <a:lstStyle/>
            <a:p>
              <a:pPr algn="ctr">
                <a:lnSpc>
                  <a:spcPts val="2661"/>
                </a:lnSpc>
              </a:pPr>
              <a:r>
                <a:rPr lang="en-US" sz="2558" b="1">
                  <a:solidFill>
                    <a:srgbClr val="000000"/>
                  </a:solidFill>
                  <a:latin typeface="Raleway Bold"/>
                  <a:ea typeface="Raleway Bold"/>
                  <a:cs typeface="Raleway Bold"/>
                  <a:sym typeface="Raleway Bold"/>
                </a:rPr>
                <a:t>4</a:t>
              </a:r>
            </a:p>
          </p:txBody>
        </p:sp>
      </p:grpSp>
      <p:sp>
        <p:nvSpPr>
          <p:cNvPr id="67" name="TextBox 67"/>
          <p:cNvSpPr txBox="1"/>
          <p:nvPr/>
        </p:nvSpPr>
        <p:spPr>
          <a:xfrm>
            <a:off x="766734" y="458269"/>
            <a:ext cx="8631647" cy="570372"/>
          </a:xfrm>
          <a:prstGeom prst="rect">
            <a:avLst/>
          </a:prstGeom>
        </p:spPr>
        <p:txBody>
          <a:bodyPr lIns="0" tIns="0" rIns="0" bIns="0" rtlCol="0" anchor="t">
            <a:spAutoFit/>
          </a:bodyPr>
          <a:lstStyle/>
          <a:p>
            <a:pPr algn="l">
              <a:lnSpc>
                <a:spcPts val="4033"/>
              </a:lnSpc>
              <a:spcBef>
                <a:spcPct val="0"/>
              </a:spcBef>
            </a:pPr>
            <a:r>
              <a:rPr lang="en-US" sz="3878" b="1">
                <a:solidFill>
                  <a:srgbClr val="F0F7FE"/>
                </a:solidFill>
                <a:latin typeface="Poppins Bold"/>
                <a:ea typeface="Poppins Bold"/>
                <a:cs typeface="Poppins Bold"/>
                <a:sym typeface="Poppins Bold"/>
              </a:rPr>
              <a:t>Example discasion</a:t>
            </a:r>
          </a:p>
        </p:txBody>
      </p:sp>
      <p:sp>
        <p:nvSpPr>
          <p:cNvPr id="2" name="TextBox 1">
            <a:extLst>
              <a:ext uri="{FF2B5EF4-FFF2-40B4-BE49-F238E27FC236}">
                <a16:creationId xmlns:a16="http://schemas.microsoft.com/office/drawing/2014/main" id="{DCAA76EB-08A4-B914-FACF-70B0422D9EC9}"/>
              </a:ext>
            </a:extLst>
          </p:cNvPr>
          <p:cNvSpPr txBox="1"/>
          <p:nvPr/>
        </p:nvSpPr>
        <p:spPr>
          <a:xfrm>
            <a:off x="16398744" y="8670117"/>
            <a:ext cx="1371600" cy="1535036"/>
          </a:xfrm>
          <a:prstGeom prst="rect">
            <a:avLst/>
          </a:prstGeom>
          <a:noFill/>
        </p:spPr>
        <p:txBody>
          <a:bodyPr wrap="square">
            <a:spAutoFit/>
          </a:bodyPr>
          <a:lstStyle/>
          <a:p>
            <a:pPr algn="ctr">
              <a:lnSpc>
                <a:spcPts val="12041"/>
              </a:lnSpc>
            </a:pPr>
            <a:r>
              <a:rPr lang="en-US" sz="9600" b="1" spc="-150" dirty="0">
                <a:solidFill>
                  <a:srgbClr val="F2F7FA"/>
                </a:solidFill>
                <a:latin typeface="Times New Roman" panose="02020603050405020304" pitchFamily="18" charset="0"/>
                <a:ea typeface="Telegraf Bold"/>
                <a:cs typeface="Times New Roman" panose="02020603050405020304" pitchFamily="18" charset="0"/>
                <a:sym typeface="Telegraf Bold"/>
              </a:rPr>
              <a:t>09</a:t>
            </a:r>
            <a:endParaRPr lang="en-US" sz="9600" b="1" spc="-993" dirty="0">
              <a:solidFill>
                <a:srgbClr val="F2F7FA"/>
              </a:solidFill>
              <a:latin typeface="Times New Roman" panose="02020603050405020304" pitchFamily="18" charset="0"/>
              <a:ea typeface="Telegraf Bold"/>
              <a:cs typeface="Times New Roman" panose="02020603050405020304" pitchFamily="18" charset="0"/>
              <a:sym typeface="Telegraf Bold"/>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heel(1)">
                                      <p:cBhvr>
                                        <p:cTn id="12" dur="2000"/>
                                        <p:tgtEl>
                                          <p:spTgt spid="7"/>
                                        </p:tgtEl>
                                      </p:cBhvr>
                                    </p:animEffect>
                                  </p:childTnLst>
                                </p:cTn>
                              </p:par>
                              <p:par>
                                <p:cTn id="13" presetID="21" presetClass="entr" presetSubtype="1"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par>
                                <p:cTn id="16" presetID="21" presetClass="entr" presetSubtype="1"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heel(1)">
                                      <p:cBhvr>
                                        <p:cTn id="18" dur="2000"/>
                                        <p:tgtEl>
                                          <p:spTgt spid="13"/>
                                        </p:tgtEl>
                                      </p:cBhvr>
                                    </p:animEffect>
                                  </p:childTnLst>
                                </p:cTn>
                              </p:par>
                              <p:par>
                                <p:cTn id="19" presetID="21" presetClass="entr" presetSubtype="1"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heel(1)">
                                      <p:cBhvr>
                                        <p:cTn id="21" dur="20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barn(inVertical)">
                                      <p:cBhvr>
                                        <p:cTn id="26" dur="500"/>
                                        <p:tgtEl>
                                          <p:spTgt spid="19"/>
                                        </p:tgtEl>
                                      </p:cBhvr>
                                    </p:animEffect>
                                  </p:childTnLst>
                                </p:cTn>
                              </p:par>
                              <p:par>
                                <p:cTn id="27" presetID="16" presetClass="entr" presetSubtype="21"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barn(inVertical)">
                                      <p:cBhvr>
                                        <p:cTn id="29" dur="500"/>
                                        <p:tgtEl>
                                          <p:spTgt spid="20"/>
                                        </p:tgtEl>
                                      </p:cBhvr>
                                    </p:animEffect>
                                  </p:childTnLst>
                                </p:cTn>
                              </p:par>
                              <p:par>
                                <p:cTn id="30" presetID="16" presetClass="entr" presetSubtype="21"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arn(inVertical)">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heel(1)">
                                      <p:cBhvr>
                                        <p:cTn id="37" dur="20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heel(1)">
                                      <p:cBhvr>
                                        <p:cTn id="42" dur="20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heel(1)">
                                      <p:cBhvr>
                                        <p:cTn id="52" dur="2000"/>
                                        <p:tgtEl>
                                          <p:spTgt spid="28"/>
                                        </p:tgtEl>
                                      </p:cBhvr>
                                    </p:animEffect>
                                  </p:childTnLst>
                                </p:cTn>
                              </p:par>
                              <p:par>
                                <p:cTn id="53" presetID="21" presetClass="entr" presetSubtype="1" fill="hold"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wheel(1)">
                                      <p:cBhvr>
                                        <p:cTn id="55" dur="2000"/>
                                        <p:tgtEl>
                                          <p:spTgt spid="34"/>
                                        </p:tgtEl>
                                      </p:cBhvr>
                                    </p:animEffect>
                                  </p:childTnLst>
                                </p:cTn>
                              </p:par>
                              <p:par>
                                <p:cTn id="56" presetID="21" presetClass="entr" presetSubtype="1" fill="hold"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wheel(1)">
                                      <p:cBhvr>
                                        <p:cTn id="58" dur="2000"/>
                                        <p:tgtEl>
                                          <p:spTgt spid="37"/>
                                        </p:tgtEl>
                                      </p:cBhvr>
                                    </p:animEffect>
                                  </p:childTnLst>
                                </p:cTn>
                              </p:par>
                              <p:par>
                                <p:cTn id="59" presetID="21" presetClass="entr" presetSubtype="1" fill="hold" nodeType="with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wheel(1)">
                                      <p:cBhvr>
                                        <p:cTn id="61" dur="2000"/>
                                        <p:tgtEl>
                                          <p:spTgt spid="40"/>
                                        </p:tgtEl>
                                      </p:cBhvr>
                                    </p:animEffect>
                                  </p:childTnLst>
                                </p:cTn>
                              </p:par>
                              <p:par>
                                <p:cTn id="62" presetID="21" presetClass="entr" presetSubtype="1" fill="hold" nodeType="with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wheel(1)">
                                      <p:cBhvr>
                                        <p:cTn id="64" dur="2000"/>
                                        <p:tgtEl>
                                          <p:spTgt spid="43"/>
                                        </p:tgtEl>
                                      </p:cBhvr>
                                    </p:animEffect>
                                  </p:childTnLst>
                                </p:cTn>
                              </p:par>
                              <p:par>
                                <p:cTn id="65" presetID="21" presetClass="entr" presetSubtype="1" fill="hold" nodeType="with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wheel(1)">
                                      <p:cBhvr>
                                        <p:cTn id="67" dur="2000"/>
                                        <p:tgtEl>
                                          <p:spTgt spid="46"/>
                                        </p:tgtEl>
                                      </p:cBhvr>
                                    </p:animEffect>
                                  </p:childTnLst>
                                </p:cTn>
                              </p:par>
                              <p:par>
                                <p:cTn id="68" presetID="21" presetClass="entr" presetSubtype="1" fill="hold" nodeType="withEffect">
                                  <p:stCondLst>
                                    <p:cond delay="0"/>
                                  </p:stCondLst>
                                  <p:childTnLst>
                                    <p:set>
                                      <p:cBhvr>
                                        <p:cTn id="69" dur="1" fill="hold">
                                          <p:stCondLst>
                                            <p:cond delay="0"/>
                                          </p:stCondLst>
                                        </p:cTn>
                                        <p:tgtEl>
                                          <p:spTgt spid="49"/>
                                        </p:tgtEl>
                                        <p:attrNameLst>
                                          <p:attrName>style.visibility</p:attrName>
                                        </p:attrNameLst>
                                      </p:cBhvr>
                                      <p:to>
                                        <p:strVal val="visible"/>
                                      </p:to>
                                    </p:set>
                                    <p:animEffect transition="in" filter="wheel(1)">
                                      <p:cBhvr>
                                        <p:cTn id="70" dur="2000"/>
                                        <p:tgtEl>
                                          <p:spTgt spid="49"/>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nodeType="clickEffect">
                                  <p:stCondLst>
                                    <p:cond delay="0"/>
                                  </p:stCondLst>
                                  <p:childTnLst>
                                    <p:set>
                                      <p:cBhvr>
                                        <p:cTn id="74" dur="1" fill="hold">
                                          <p:stCondLst>
                                            <p:cond delay="0"/>
                                          </p:stCondLst>
                                        </p:cTn>
                                        <p:tgtEl>
                                          <p:spTgt spid="53"/>
                                        </p:tgtEl>
                                        <p:attrNameLst>
                                          <p:attrName>style.visibility</p:attrName>
                                        </p:attrNameLst>
                                      </p:cBhvr>
                                      <p:to>
                                        <p:strVal val="visible"/>
                                      </p:to>
                                    </p:set>
                                    <p:anim calcmode="lin" valueType="num">
                                      <p:cBhvr>
                                        <p:cTn id="75" dur="500" fill="hold"/>
                                        <p:tgtEl>
                                          <p:spTgt spid="53"/>
                                        </p:tgtEl>
                                        <p:attrNameLst>
                                          <p:attrName>ppt_w</p:attrName>
                                        </p:attrNameLst>
                                      </p:cBhvr>
                                      <p:tavLst>
                                        <p:tav tm="0">
                                          <p:val>
                                            <p:fltVal val="0"/>
                                          </p:val>
                                        </p:tav>
                                        <p:tav tm="100000">
                                          <p:val>
                                            <p:strVal val="#ppt_w"/>
                                          </p:val>
                                        </p:tav>
                                      </p:tavLst>
                                    </p:anim>
                                    <p:anim calcmode="lin" valueType="num">
                                      <p:cBhvr>
                                        <p:cTn id="76" dur="500" fill="hold"/>
                                        <p:tgtEl>
                                          <p:spTgt spid="53"/>
                                        </p:tgtEl>
                                        <p:attrNameLst>
                                          <p:attrName>ppt_h</p:attrName>
                                        </p:attrNameLst>
                                      </p:cBhvr>
                                      <p:tavLst>
                                        <p:tav tm="0">
                                          <p:val>
                                            <p:fltVal val="0"/>
                                          </p:val>
                                        </p:tav>
                                        <p:tav tm="100000">
                                          <p:val>
                                            <p:strVal val="#ppt_h"/>
                                          </p:val>
                                        </p:tav>
                                      </p:tavLst>
                                    </p:anim>
                                    <p:animEffect transition="in" filter="fade">
                                      <p:cBhvr>
                                        <p:cTn id="77" dur="500"/>
                                        <p:tgtEl>
                                          <p:spTgt spid="53"/>
                                        </p:tgtEl>
                                      </p:cBhvr>
                                    </p:animEffect>
                                  </p:childTnLst>
                                </p:cTn>
                              </p:par>
                              <p:par>
                                <p:cTn id="78" presetID="53" presetClass="entr" presetSubtype="16" fill="hold" nodeType="withEffect">
                                  <p:stCondLst>
                                    <p:cond delay="0"/>
                                  </p:stCondLst>
                                  <p:childTnLst>
                                    <p:set>
                                      <p:cBhvr>
                                        <p:cTn id="79" dur="1" fill="hold">
                                          <p:stCondLst>
                                            <p:cond delay="0"/>
                                          </p:stCondLst>
                                        </p:cTn>
                                        <p:tgtEl>
                                          <p:spTgt spid="52"/>
                                        </p:tgtEl>
                                        <p:attrNameLst>
                                          <p:attrName>style.visibility</p:attrName>
                                        </p:attrNameLst>
                                      </p:cBhvr>
                                      <p:to>
                                        <p:strVal val="visible"/>
                                      </p:to>
                                    </p:set>
                                    <p:anim calcmode="lin" valueType="num">
                                      <p:cBhvr>
                                        <p:cTn id="80" dur="500" fill="hold"/>
                                        <p:tgtEl>
                                          <p:spTgt spid="52"/>
                                        </p:tgtEl>
                                        <p:attrNameLst>
                                          <p:attrName>ppt_w</p:attrName>
                                        </p:attrNameLst>
                                      </p:cBhvr>
                                      <p:tavLst>
                                        <p:tav tm="0">
                                          <p:val>
                                            <p:fltVal val="0"/>
                                          </p:val>
                                        </p:tav>
                                        <p:tav tm="100000">
                                          <p:val>
                                            <p:strVal val="#ppt_w"/>
                                          </p:val>
                                        </p:tav>
                                      </p:tavLst>
                                    </p:anim>
                                    <p:anim calcmode="lin" valueType="num">
                                      <p:cBhvr>
                                        <p:cTn id="81" dur="500" fill="hold"/>
                                        <p:tgtEl>
                                          <p:spTgt spid="52"/>
                                        </p:tgtEl>
                                        <p:attrNameLst>
                                          <p:attrName>ppt_h</p:attrName>
                                        </p:attrNameLst>
                                      </p:cBhvr>
                                      <p:tavLst>
                                        <p:tav tm="0">
                                          <p:val>
                                            <p:fltVal val="0"/>
                                          </p:val>
                                        </p:tav>
                                        <p:tav tm="100000">
                                          <p:val>
                                            <p:strVal val="#ppt_h"/>
                                          </p:val>
                                        </p:tav>
                                      </p:tavLst>
                                    </p:anim>
                                    <p:animEffect transition="in" filter="fade">
                                      <p:cBhvr>
                                        <p:cTn id="82" dur="500"/>
                                        <p:tgtEl>
                                          <p:spTgt spid="52"/>
                                        </p:tgtEl>
                                      </p:cBhvr>
                                    </p:animEffect>
                                  </p:childTnLst>
                                </p:cTn>
                              </p:par>
                              <p:par>
                                <p:cTn id="83" presetID="53" presetClass="entr" presetSubtype="16" fill="hold" nodeType="withEffect">
                                  <p:stCondLst>
                                    <p:cond delay="0"/>
                                  </p:stCondLst>
                                  <p:childTnLst>
                                    <p:set>
                                      <p:cBhvr>
                                        <p:cTn id="84" dur="1" fill="hold">
                                          <p:stCondLst>
                                            <p:cond delay="0"/>
                                          </p:stCondLst>
                                        </p:cTn>
                                        <p:tgtEl>
                                          <p:spTgt spid="54"/>
                                        </p:tgtEl>
                                        <p:attrNameLst>
                                          <p:attrName>style.visibility</p:attrName>
                                        </p:attrNameLst>
                                      </p:cBhvr>
                                      <p:to>
                                        <p:strVal val="visible"/>
                                      </p:to>
                                    </p:set>
                                    <p:anim calcmode="lin" valueType="num">
                                      <p:cBhvr>
                                        <p:cTn id="85" dur="500" fill="hold"/>
                                        <p:tgtEl>
                                          <p:spTgt spid="54"/>
                                        </p:tgtEl>
                                        <p:attrNameLst>
                                          <p:attrName>ppt_w</p:attrName>
                                        </p:attrNameLst>
                                      </p:cBhvr>
                                      <p:tavLst>
                                        <p:tav tm="0">
                                          <p:val>
                                            <p:fltVal val="0"/>
                                          </p:val>
                                        </p:tav>
                                        <p:tav tm="100000">
                                          <p:val>
                                            <p:strVal val="#ppt_w"/>
                                          </p:val>
                                        </p:tav>
                                      </p:tavLst>
                                    </p:anim>
                                    <p:anim calcmode="lin" valueType="num">
                                      <p:cBhvr>
                                        <p:cTn id="86" dur="500" fill="hold"/>
                                        <p:tgtEl>
                                          <p:spTgt spid="54"/>
                                        </p:tgtEl>
                                        <p:attrNameLst>
                                          <p:attrName>ppt_h</p:attrName>
                                        </p:attrNameLst>
                                      </p:cBhvr>
                                      <p:tavLst>
                                        <p:tav tm="0">
                                          <p:val>
                                            <p:fltVal val="0"/>
                                          </p:val>
                                        </p:tav>
                                        <p:tav tm="100000">
                                          <p:val>
                                            <p:strVal val="#ppt_h"/>
                                          </p:val>
                                        </p:tav>
                                      </p:tavLst>
                                    </p:anim>
                                    <p:animEffect transition="in" filter="fade">
                                      <p:cBhvr>
                                        <p:cTn id="87" dur="500"/>
                                        <p:tgtEl>
                                          <p:spTgt spid="54"/>
                                        </p:tgtEl>
                                      </p:cBhvr>
                                    </p:animEffect>
                                  </p:childTnLst>
                                </p:cTn>
                              </p:par>
                              <p:par>
                                <p:cTn id="88" presetID="53" presetClass="entr" presetSubtype="16" fill="hold" nodeType="withEffect">
                                  <p:stCondLst>
                                    <p:cond delay="0"/>
                                  </p:stCondLst>
                                  <p:childTnLst>
                                    <p:set>
                                      <p:cBhvr>
                                        <p:cTn id="89" dur="1" fill="hold">
                                          <p:stCondLst>
                                            <p:cond delay="0"/>
                                          </p:stCondLst>
                                        </p:cTn>
                                        <p:tgtEl>
                                          <p:spTgt spid="55"/>
                                        </p:tgtEl>
                                        <p:attrNameLst>
                                          <p:attrName>style.visibility</p:attrName>
                                        </p:attrNameLst>
                                      </p:cBhvr>
                                      <p:to>
                                        <p:strVal val="visible"/>
                                      </p:to>
                                    </p:set>
                                    <p:anim calcmode="lin" valueType="num">
                                      <p:cBhvr>
                                        <p:cTn id="90" dur="500" fill="hold"/>
                                        <p:tgtEl>
                                          <p:spTgt spid="55"/>
                                        </p:tgtEl>
                                        <p:attrNameLst>
                                          <p:attrName>ppt_w</p:attrName>
                                        </p:attrNameLst>
                                      </p:cBhvr>
                                      <p:tavLst>
                                        <p:tav tm="0">
                                          <p:val>
                                            <p:fltVal val="0"/>
                                          </p:val>
                                        </p:tav>
                                        <p:tav tm="100000">
                                          <p:val>
                                            <p:strVal val="#ppt_w"/>
                                          </p:val>
                                        </p:tav>
                                      </p:tavLst>
                                    </p:anim>
                                    <p:anim calcmode="lin" valueType="num">
                                      <p:cBhvr>
                                        <p:cTn id="91" dur="500" fill="hold"/>
                                        <p:tgtEl>
                                          <p:spTgt spid="55"/>
                                        </p:tgtEl>
                                        <p:attrNameLst>
                                          <p:attrName>ppt_h</p:attrName>
                                        </p:attrNameLst>
                                      </p:cBhvr>
                                      <p:tavLst>
                                        <p:tav tm="0">
                                          <p:val>
                                            <p:fltVal val="0"/>
                                          </p:val>
                                        </p:tav>
                                        <p:tav tm="100000">
                                          <p:val>
                                            <p:strVal val="#ppt_h"/>
                                          </p:val>
                                        </p:tav>
                                      </p:tavLst>
                                    </p:anim>
                                    <p:animEffect transition="in" filter="fade">
                                      <p:cBhvr>
                                        <p:cTn id="92" dur="500"/>
                                        <p:tgtEl>
                                          <p:spTgt spid="55"/>
                                        </p:tgtEl>
                                      </p:cBhvr>
                                    </p:animEffect>
                                  </p:childTnLst>
                                </p:cTn>
                              </p:par>
                              <p:par>
                                <p:cTn id="93" presetID="53" presetClass="entr" presetSubtype="16" fill="hold" nodeType="withEffect">
                                  <p:stCondLst>
                                    <p:cond delay="0"/>
                                  </p:stCondLst>
                                  <p:childTnLst>
                                    <p:set>
                                      <p:cBhvr>
                                        <p:cTn id="94" dur="1" fill="hold">
                                          <p:stCondLst>
                                            <p:cond delay="0"/>
                                          </p:stCondLst>
                                        </p:cTn>
                                        <p:tgtEl>
                                          <p:spTgt spid="56"/>
                                        </p:tgtEl>
                                        <p:attrNameLst>
                                          <p:attrName>style.visibility</p:attrName>
                                        </p:attrNameLst>
                                      </p:cBhvr>
                                      <p:to>
                                        <p:strVal val="visible"/>
                                      </p:to>
                                    </p:set>
                                    <p:anim calcmode="lin" valueType="num">
                                      <p:cBhvr>
                                        <p:cTn id="95" dur="500" fill="hold"/>
                                        <p:tgtEl>
                                          <p:spTgt spid="56"/>
                                        </p:tgtEl>
                                        <p:attrNameLst>
                                          <p:attrName>ppt_w</p:attrName>
                                        </p:attrNameLst>
                                      </p:cBhvr>
                                      <p:tavLst>
                                        <p:tav tm="0">
                                          <p:val>
                                            <p:fltVal val="0"/>
                                          </p:val>
                                        </p:tav>
                                        <p:tav tm="100000">
                                          <p:val>
                                            <p:strVal val="#ppt_w"/>
                                          </p:val>
                                        </p:tav>
                                      </p:tavLst>
                                    </p:anim>
                                    <p:anim calcmode="lin" valueType="num">
                                      <p:cBhvr>
                                        <p:cTn id="96" dur="500" fill="hold"/>
                                        <p:tgtEl>
                                          <p:spTgt spid="56"/>
                                        </p:tgtEl>
                                        <p:attrNameLst>
                                          <p:attrName>ppt_h</p:attrName>
                                        </p:attrNameLst>
                                      </p:cBhvr>
                                      <p:tavLst>
                                        <p:tav tm="0">
                                          <p:val>
                                            <p:fltVal val="0"/>
                                          </p:val>
                                        </p:tav>
                                        <p:tav tm="100000">
                                          <p:val>
                                            <p:strVal val="#ppt_h"/>
                                          </p:val>
                                        </p:tav>
                                      </p:tavLst>
                                    </p:anim>
                                    <p:animEffect transition="in" filter="fade">
                                      <p:cBhvr>
                                        <p:cTn id="97" dur="500"/>
                                        <p:tgtEl>
                                          <p:spTgt spid="56"/>
                                        </p:tgtEl>
                                      </p:cBhvr>
                                    </p:animEffect>
                                  </p:childTnLst>
                                </p:cTn>
                              </p:par>
                              <p:par>
                                <p:cTn id="98" presetID="53" presetClass="entr" presetSubtype="16" fill="hold" nodeType="withEffect">
                                  <p:stCondLst>
                                    <p:cond delay="0"/>
                                  </p:stCondLst>
                                  <p:childTnLst>
                                    <p:set>
                                      <p:cBhvr>
                                        <p:cTn id="99" dur="1" fill="hold">
                                          <p:stCondLst>
                                            <p:cond delay="0"/>
                                          </p:stCondLst>
                                        </p:cTn>
                                        <p:tgtEl>
                                          <p:spTgt spid="57"/>
                                        </p:tgtEl>
                                        <p:attrNameLst>
                                          <p:attrName>style.visibility</p:attrName>
                                        </p:attrNameLst>
                                      </p:cBhvr>
                                      <p:to>
                                        <p:strVal val="visible"/>
                                      </p:to>
                                    </p:set>
                                    <p:anim calcmode="lin" valueType="num">
                                      <p:cBhvr>
                                        <p:cTn id="100" dur="500" fill="hold"/>
                                        <p:tgtEl>
                                          <p:spTgt spid="57"/>
                                        </p:tgtEl>
                                        <p:attrNameLst>
                                          <p:attrName>ppt_w</p:attrName>
                                        </p:attrNameLst>
                                      </p:cBhvr>
                                      <p:tavLst>
                                        <p:tav tm="0">
                                          <p:val>
                                            <p:fltVal val="0"/>
                                          </p:val>
                                        </p:tav>
                                        <p:tav tm="100000">
                                          <p:val>
                                            <p:strVal val="#ppt_w"/>
                                          </p:val>
                                        </p:tav>
                                      </p:tavLst>
                                    </p:anim>
                                    <p:anim calcmode="lin" valueType="num">
                                      <p:cBhvr>
                                        <p:cTn id="101" dur="500" fill="hold"/>
                                        <p:tgtEl>
                                          <p:spTgt spid="57"/>
                                        </p:tgtEl>
                                        <p:attrNameLst>
                                          <p:attrName>ppt_h</p:attrName>
                                        </p:attrNameLst>
                                      </p:cBhvr>
                                      <p:tavLst>
                                        <p:tav tm="0">
                                          <p:val>
                                            <p:fltVal val="0"/>
                                          </p:val>
                                        </p:tav>
                                        <p:tav tm="100000">
                                          <p:val>
                                            <p:strVal val="#ppt_h"/>
                                          </p:val>
                                        </p:tav>
                                      </p:tavLst>
                                    </p:anim>
                                    <p:animEffect transition="in" filter="fade">
                                      <p:cBhvr>
                                        <p:cTn id="102" dur="500"/>
                                        <p:tgtEl>
                                          <p:spTgt spid="57"/>
                                        </p:tgtEl>
                                      </p:cBhvr>
                                    </p:animEffect>
                                  </p:childTnLst>
                                </p:cTn>
                              </p:par>
                            </p:childTnLst>
                          </p:cTn>
                        </p:par>
                      </p:childTnLst>
                    </p:cTn>
                  </p:par>
                  <p:par>
                    <p:cTn id="103" fill="hold">
                      <p:stCondLst>
                        <p:cond delay="indefinite"/>
                      </p:stCondLst>
                      <p:childTnLst>
                        <p:par>
                          <p:cTn id="104" fill="hold">
                            <p:stCondLst>
                              <p:cond delay="0"/>
                            </p:stCondLst>
                            <p:childTnLst>
                              <p:par>
                                <p:cTn id="105" presetID="21" presetClass="entr" presetSubtype="1" fill="hold" nodeType="clickEffect">
                                  <p:stCondLst>
                                    <p:cond delay="0"/>
                                  </p:stCondLst>
                                  <p:childTnLst>
                                    <p:set>
                                      <p:cBhvr>
                                        <p:cTn id="106" dur="1" fill="hold">
                                          <p:stCondLst>
                                            <p:cond delay="0"/>
                                          </p:stCondLst>
                                        </p:cTn>
                                        <p:tgtEl>
                                          <p:spTgt spid="58"/>
                                        </p:tgtEl>
                                        <p:attrNameLst>
                                          <p:attrName>style.visibility</p:attrName>
                                        </p:attrNameLst>
                                      </p:cBhvr>
                                      <p:to>
                                        <p:strVal val="visible"/>
                                      </p:to>
                                    </p:set>
                                    <p:animEffect transition="in" filter="wheel(1)">
                                      <p:cBhvr>
                                        <p:cTn id="107" dur="2000"/>
                                        <p:tgtEl>
                                          <p:spTgt spid="58"/>
                                        </p:tgtEl>
                                      </p:cBhvr>
                                    </p:animEffect>
                                  </p:childTnLst>
                                </p:cTn>
                              </p:par>
                              <p:par>
                                <p:cTn id="108" presetID="21" presetClass="entr" presetSubtype="1" fill="hold" nodeType="withEffect">
                                  <p:stCondLst>
                                    <p:cond delay="0"/>
                                  </p:stCondLst>
                                  <p:childTnLst>
                                    <p:set>
                                      <p:cBhvr>
                                        <p:cTn id="109" dur="1" fill="hold">
                                          <p:stCondLst>
                                            <p:cond delay="0"/>
                                          </p:stCondLst>
                                        </p:cTn>
                                        <p:tgtEl>
                                          <p:spTgt spid="61"/>
                                        </p:tgtEl>
                                        <p:attrNameLst>
                                          <p:attrName>style.visibility</p:attrName>
                                        </p:attrNameLst>
                                      </p:cBhvr>
                                      <p:to>
                                        <p:strVal val="visible"/>
                                      </p:to>
                                    </p:set>
                                    <p:animEffect transition="in" filter="wheel(1)">
                                      <p:cBhvr>
                                        <p:cTn id="110" dur="2000"/>
                                        <p:tgtEl>
                                          <p:spTgt spid="61"/>
                                        </p:tgtEl>
                                      </p:cBhvr>
                                    </p:animEffect>
                                  </p:childTnLst>
                                </p:cTn>
                              </p:par>
                              <p:par>
                                <p:cTn id="111" presetID="21" presetClass="entr" presetSubtype="1" fill="hold" nodeType="withEffect">
                                  <p:stCondLst>
                                    <p:cond delay="0"/>
                                  </p:stCondLst>
                                  <p:childTnLst>
                                    <p:set>
                                      <p:cBhvr>
                                        <p:cTn id="112" dur="1" fill="hold">
                                          <p:stCondLst>
                                            <p:cond delay="0"/>
                                          </p:stCondLst>
                                        </p:cTn>
                                        <p:tgtEl>
                                          <p:spTgt spid="64"/>
                                        </p:tgtEl>
                                        <p:attrNameLst>
                                          <p:attrName>style.visibility</p:attrName>
                                        </p:attrNameLst>
                                      </p:cBhvr>
                                      <p:to>
                                        <p:strVal val="visible"/>
                                      </p:to>
                                    </p:set>
                                    <p:animEffect transition="in" filter="wheel(1)">
                                      <p:cBhvr>
                                        <p:cTn id="113" dur="2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697500" y="2434908"/>
            <a:ext cx="21311029" cy="1464829"/>
            <a:chOff x="0" y="0"/>
            <a:chExt cx="5612781" cy="385799"/>
          </a:xfrm>
        </p:grpSpPr>
        <p:sp>
          <p:nvSpPr>
            <p:cNvPr id="4" name="Freeform 4"/>
            <p:cNvSpPr/>
            <p:nvPr/>
          </p:nvSpPr>
          <p:spPr>
            <a:xfrm>
              <a:off x="0" y="0"/>
              <a:ext cx="5612781" cy="385799"/>
            </a:xfrm>
            <a:custGeom>
              <a:avLst/>
              <a:gdLst/>
              <a:ahLst/>
              <a:cxnLst/>
              <a:rect l="l" t="t" r="r" b="b"/>
              <a:pathLst>
                <a:path w="5612781" h="385799">
                  <a:moveTo>
                    <a:pt x="0" y="0"/>
                  </a:moveTo>
                  <a:lnTo>
                    <a:pt x="5612781" y="0"/>
                  </a:lnTo>
                  <a:lnTo>
                    <a:pt x="5612781" y="385799"/>
                  </a:lnTo>
                  <a:lnTo>
                    <a:pt x="0" y="385799"/>
                  </a:lnTo>
                  <a:close/>
                </a:path>
              </a:pathLst>
            </a:custGeom>
            <a:solidFill>
              <a:srgbClr val="2B59C3">
                <a:alpha val="71765"/>
              </a:srgbClr>
            </a:solidFill>
          </p:spPr>
        </p:sp>
        <p:sp>
          <p:nvSpPr>
            <p:cNvPr id="5" name="TextBox 5"/>
            <p:cNvSpPr txBox="1"/>
            <p:nvPr/>
          </p:nvSpPr>
          <p:spPr>
            <a:xfrm>
              <a:off x="0" y="28575"/>
              <a:ext cx="5612781" cy="357224"/>
            </a:xfrm>
            <a:prstGeom prst="rect">
              <a:avLst/>
            </a:prstGeom>
          </p:spPr>
          <p:txBody>
            <a:bodyPr lIns="50800" tIns="50800" rIns="50800" bIns="50800" rtlCol="0" anchor="ctr"/>
            <a:lstStyle/>
            <a:p>
              <a:pPr algn="ctr">
                <a:lnSpc>
                  <a:spcPts val="2661"/>
                </a:lnSpc>
              </a:pPr>
              <a:endParaRPr/>
            </a:p>
          </p:txBody>
        </p:sp>
      </p:grpSp>
      <p:sp>
        <p:nvSpPr>
          <p:cNvPr id="6" name="Freeform 6"/>
          <p:cNvSpPr/>
          <p:nvPr/>
        </p:nvSpPr>
        <p:spPr>
          <a:xfrm>
            <a:off x="2660616" y="1307171"/>
            <a:ext cx="527662" cy="527662"/>
          </a:xfrm>
          <a:custGeom>
            <a:avLst/>
            <a:gdLst/>
            <a:ahLst/>
            <a:cxnLst/>
            <a:rect l="l" t="t" r="r" b="b"/>
            <a:pathLst>
              <a:path w="527662" h="527662">
                <a:moveTo>
                  <a:pt x="0" y="0"/>
                </a:moveTo>
                <a:lnTo>
                  <a:pt x="527661" y="0"/>
                </a:lnTo>
                <a:lnTo>
                  <a:pt x="527661" y="527662"/>
                </a:lnTo>
                <a:lnTo>
                  <a:pt x="0" y="5276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4353272" y="2616943"/>
            <a:ext cx="3793627" cy="5763798"/>
          </a:xfrm>
          <a:custGeom>
            <a:avLst/>
            <a:gdLst/>
            <a:ahLst/>
            <a:cxnLst/>
            <a:rect l="l" t="t" r="r" b="b"/>
            <a:pathLst>
              <a:path w="3793627" h="5763798">
                <a:moveTo>
                  <a:pt x="0" y="0"/>
                </a:moveTo>
                <a:lnTo>
                  <a:pt x="3793627" y="0"/>
                </a:lnTo>
                <a:lnTo>
                  <a:pt x="3793627" y="5763797"/>
                </a:lnTo>
                <a:lnTo>
                  <a:pt x="0" y="57637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4353272" y="2263044"/>
            <a:ext cx="1663920" cy="1636693"/>
          </a:xfrm>
          <a:custGeom>
            <a:avLst/>
            <a:gdLst/>
            <a:ahLst/>
            <a:cxnLst/>
            <a:rect l="l" t="t" r="r" b="b"/>
            <a:pathLst>
              <a:path w="1663920" h="1636693">
                <a:moveTo>
                  <a:pt x="0" y="0"/>
                </a:moveTo>
                <a:lnTo>
                  <a:pt x="1663920" y="0"/>
                </a:lnTo>
                <a:lnTo>
                  <a:pt x="1663920" y="1636693"/>
                </a:lnTo>
                <a:lnTo>
                  <a:pt x="0" y="163669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2660616" y="5124450"/>
            <a:ext cx="5391937" cy="2376294"/>
          </a:xfrm>
          <a:prstGeom prst="rect">
            <a:avLst/>
          </a:prstGeom>
        </p:spPr>
        <p:txBody>
          <a:bodyPr lIns="0" tIns="0" rIns="0" bIns="0" rtlCol="0" anchor="t">
            <a:spAutoFit/>
          </a:bodyPr>
          <a:lstStyle/>
          <a:p>
            <a:pPr algn="l">
              <a:lnSpc>
                <a:spcPts val="2380"/>
              </a:lnSpc>
            </a:pPr>
            <a:endParaRPr/>
          </a:p>
          <a:p>
            <a:pPr algn="l">
              <a:lnSpc>
                <a:spcPts val="2380"/>
              </a:lnSpc>
            </a:pPr>
            <a:r>
              <a:rPr lang="en-US" sz="1951" b="1">
                <a:solidFill>
                  <a:srgbClr val="063050"/>
                </a:solidFill>
                <a:latin typeface="Poppins Medium"/>
                <a:ea typeface="Poppins Medium"/>
                <a:cs typeface="Poppins Medium"/>
                <a:sym typeface="Poppins Medium"/>
              </a:rPr>
              <a:t>•Building Tree (Adjacency List): O(n)</a:t>
            </a:r>
          </a:p>
          <a:p>
            <a:pPr algn="l">
              <a:lnSpc>
                <a:spcPts val="2380"/>
              </a:lnSpc>
            </a:pPr>
            <a:r>
              <a:rPr lang="en-US" sz="1951" b="1">
                <a:solidFill>
                  <a:srgbClr val="063050"/>
                </a:solidFill>
                <a:latin typeface="Poppins Medium"/>
                <a:ea typeface="Poppins Medium"/>
                <a:cs typeface="Poppins Medium"/>
                <a:sym typeface="Poppins Medium"/>
              </a:rPr>
              <a:t>•DFS Traversal: Each node &amp; edge visited once → O(n)</a:t>
            </a:r>
          </a:p>
          <a:p>
            <a:pPr algn="l">
              <a:lnSpc>
                <a:spcPts val="2380"/>
              </a:lnSpc>
            </a:pPr>
            <a:r>
              <a:rPr lang="en-US" sz="1951" b="1">
                <a:solidFill>
                  <a:srgbClr val="063050"/>
                </a:solidFill>
                <a:latin typeface="Poppins Medium"/>
                <a:ea typeface="Poppins Medium"/>
                <a:cs typeface="Poppins Medium"/>
                <a:sym typeface="Poppins Medium"/>
              </a:rPr>
              <a:t>•Overall: ✅ O(n)</a:t>
            </a:r>
          </a:p>
          <a:p>
            <a:pPr algn="l">
              <a:lnSpc>
                <a:spcPts val="2380"/>
              </a:lnSpc>
            </a:pPr>
            <a:r>
              <a:rPr lang="en-US" sz="1951" b="1">
                <a:solidFill>
                  <a:srgbClr val="063050"/>
                </a:solidFill>
                <a:latin typeface="Poppins Medium"/>
                <a:ea typeface="Poppins Medium"/>
                <a:cs typeface="Poppins Medium"/>
                <a:sym typeface="Poppins Medium"/>
              </a:rPr>
              <a:t>🔹 Efficient for n ≤ 10⁵</a:t>
            </a:r>
          </a:p>
          <a:p>
            <a:pPr algn="l">
              <a:lnSpc>
                <a:spcPts val="2380"/>
              </a:lnSpc>
            </a:pPr>
            <a:r>
              <a:rPr lang="en-US" sz="1951" b="1">
                <a:solidFill>
                  <a:srgbClr val="063050"/>
                </a:solidFill>
                <a:latin typeface="Poppins Medium"/>
                <a:ea typeface="Poppins Medium"/>
                <a:cs typeface="Poppins Medium"/>
                <a:sym typeface="Poppins Medium"/>
              </a:rPr>
              <a:t> 🔹 Each vertex processed once</a:t>
            </a:r>
          </a:p>
          <a:p>
            <a:pPr algn="l">
              <a:lnSpc>
                <a:spcPts val="2380"/>
              </a:lnSpc>
            </a:pPr>
            <a:endParaRPr lang="en-US" sz="1951" b="1">
              <a:solidFill>
                <a:srgbClr val="063050"/>
              </a:solidFill>
              <a:latin typeface="Poppins Medium"/>
              <a:ea typeface="Poppins Medium"/>
              <a:cs typeface="Poppins Medium"/>
              <a:sym typeface="Poppins Medium"/>
            </a:endParaRPr>
          </a:p>
        </p:txBody>
      </p:sp>
      <p:sp>
        <p:nvSpPr>
          <p:cNvPr id="10" name="TextBox 10"/>
          <p:cNvSpPr txBox="1"/>
          <p:nvPr/>
        </p:nvSpPr>
        <p:spPr>
          <a:xfrm>
            <a:off x="2660616" y="4466179"/>
            <a:ext cx="2762054" cy="394002"/>
          </a:xfrm>
          <a:prstGeom prst="rect">
            <a:avLst/>
          </a:prstGeom>
        </p:spPr>
        <p:txBody>
          <a:bodyPr lIns="0" tIns="0" rIns="0" bIns="0" rtlCol="0" anchor="t">
            <a:spAutoFit/>
          </a:bodyPr>
          <a:lstStyle/>
          <a:p>
            <a:pPr algn="l">
              <a:lnSpc>
                <a:spcPts val="2904"/>
              </a:lnSpc>
            </a:pPr>
            <a:r>
              <a:rPr lang="en-US" sz="2381" b="1">
                <a:solidFill>
                  <a:srgbClr val="063050"/>
                </a:solidFill>
                <a:latin typeface="Poppins Bold"/>
                <a:ea typeface="Poppins Bold"/>
                <a:cs typeface="Poppins Bold"/>
                <a:sym typeface="Poppins Bold"/>
              </a:rPr>
              <a:t>Time Complexity:</a:t>
            </a:r>
          </a:p>
        </p:txBody>
      </p:sp>
      <p:sp>
        <p:nvSpPr>
          <p:cNvPr id="11" name="TextBox 11"/>
          <p:cNvSpPr txBox="1"/>
          <p:nvPr/>
        </p:nvSpPr>
        <p:spPr>
          <a:xfrm>
            <a:off x="8791462" y="5124450"/>
            <a:ext cx="5345877" cy="2671569"/>
          </a:xfrm>
          <a:prstGeom prst="rect">
            <a:avLst/>
          </a:prstGeom>
        </p:spPr>
        <p:txBody>
          <a:bodyPr lIns="0" tIns="0" rIns="0" bIns="0" rtlCol="0" anchor="t">
            <a:spAutoFit/>
          </a:bodyPr>
          <a:lstStyle/>
          <a:p>
            <a:pPr algn="l">
              <a:lnSpc>
                <a:spcPts val="2380"/>
              </a:lnSpc>
            </a:pPr>
            <a:endParaRPr/>
          </a:p>
          <a:p>
            <a:pPr algn="l">
              <a:lnSpc>
                <a:spcPts val="2380"/>
              </a:lnSpc>
            </a:pPr>
            <a:r>
              <a:rPr lang="en-US" sz="1951" b="1">
                <a:solidFill>
                  <a:srgbClr val="063050"/>
                </a:solidFill>
                <a:latin typeface="Poppins Medium"/>
                <a:ea typeface="Poppins Medium"/>
                <a:cs typeface="Poppins Medium"/>
                <a:sym typeface="Poppins Medium"/>
              </a:rPr>
              <a:t>•Adjacency List: O(n)</a:t>
            </a:r>
          </a:p>
          <a:p>
            <a:pPr algn="l">
              <a:lnSpc>
                <a:spcPts val="2380"/>
              </a:lnSpc>
            </a:pPr>
            <a:r>
              <a:rPr lang="en-US" sz="1951" b="1">
                <a:solidFill>
                  <a:srgbClr val="063050"/>
                </a:solidFill>
                <a:latin typeface="Poppins Medium"/>
                <a:ea typeface="Poppins Medium"/>
                <a:cs typeface="Poppins Medium"/>
                <a:sym typeface="Poppins Medium"/>
              </a:rPr>
              <a:t>•DFS Recursion Stack: O(h) (≤ O(n))</a:t>
            </a:r>
          </a:p>
          <a:p>
            <a:pPr algn="l">
              <a:lnSpc>
                <a:spcPts val="2380"/>
              </a:lnSpc>
            </a:pPr>
            <a:r>
              <a:rPr lang="en-US" sz="1951" b="1">
                <a:solidFill>
                  <a:srgbClr val="063050"/>
                </a:solidFill>
                <a:latin typeface="Poppins Medium"/>
                <a:ea typeface="Poppins Medium"/>
                <a:cs typeface="Poppins Medium"/>
                <a:sym typeface="Poppins Medium"/>
              </a:rPr>
              <a:t>•Cat Array &amp; Other Variables: O(n)</a:t>
            </a:r>
          </a:p>
          <a:p>
            <a:pPr algn="l">
              <a:lnSpc>
                <a:spcPts val="2380"/>
              </a:lnSpc>
            </a:pPr>
            <a:r>
              <a:rPr lang="en-US" sz="1951" b="1">
                <a:solidFill>
                  <a:srgbClr val="063050"/>
                </a:solidFill>
                <a:latin typeface="Poppins Medium"/>
                <a:ea typeface="Poppins Medium"/>
                <a:cs typeface="Poppins Medium"/>
                <a:sym typeface="Poppins Medium"/>
              </a:rPr>
              <a:t>•Overall: ✅ O(n)</a:t>
            </a:r>
          </a:p>
          <a:p>
            <a:pPr algn="l">
              <a:lnSpc>
                <a:spcPts val="2380"/>
              </a:lnSpc>
            </a:pPr>
            <a:r>
              <a:rPr lang="en-US" sz="1951" b="1">
                <a:solidFill>
                  <a:srgbClr val="063050"/>
                </a:solidFill>
                <a:latin typeface="Poppins Medium"/>
                <a:ea typeface="Poppins Medium"/>
                <a:cs typeface="Poppins Medium"/>
                <a:sym typeface="Poppins Medium"/>
              </a:rPr>
              <a:t>🔹 Linear space usage</a:t>
            </a:r>
          </a:p>
          <a:p>
            <a:pPr algn="l">
              <a:lnSpc>
                <a:spcPts val="2380"/>
              </a:lnSpc>
            </a:pPr>
            <a:r>
              <a:rPr lang="en-US" sz="1951" b="1">
                <a:solidFill>
                  <a:srgbClr val="063050"/>
                </a:solidFill>
                <a:latin typeface="Poppins Medium"/>
                <a:ea typeface="Poppins Medium"/>
                <a:cs typeface="Poppins Medium"/>
                <a:sym typeface="Poppins Medium"/>
              </a:rPr>
              <a:t> 🔹 Depends on tree height</a:t>
            </a:r>
          </a:p>
          <a:p>
            <a:pPr algn="l">
              <a:lnSpc>
                <a:spcPts val="2380"/>
              </a:lnSpc>
            </a:pPr>
            <a:r>
              <a:rPr lang="en-US" sz="1951" b="1">
                <a:solidFill>
                  <a:srgbClr val="063050"/>
                </a:solidFill>
                <a:latin typeface="Poppins Medium"/>
                <a:ea typeface="Poppins Medium"/>
                <a:cs typeface="Poppins Medium"/>
                <a:sym typeface="Poppins Medium"/>
              </a:rPr>
              <a:t>•</a:t>
            </a:r>
          </a:p>
          <a:p>
            <a:pPr algn="l">
              <a:lnSpc>
                <a:spcPts val="2380"/>
              </a:lnSpc>
            </a:pPr>
            <a:endParaRPr lang="en-US" sz="1951" b="1">
              <a:solidFill>
                <a:srgbClr val="063050"/>
              </a:solidFill>
              <a:latin typeface="Poppins Medium"/>
              <a:ea typeface="Poppins Medium"/>
              <a:cs typeface="Poppins Medium"/>
              <a:sym typeface="Poppins Medium"/>
            </a:endParaRPr>
          </a:p>
        </p:txBody>
      </p:sp>
      <p:sp>
        <p:nvSpPr>
          <p:cNvPr id="12" name="TextBox 12"/>
          <p:cNvSpPr txBox="1"/>
          <p:nvPr/>
        </p:nvSpPr>
        <p:spPr>
          <a:xfrm>
            <a:off x="8791462" y="4466179"/>
            <a:ext cx="3473487" cy="394002"/>
          </a:xfrm>
          <a:prstGeom prst="rect">
            <a:avLst/>
          </a:prstGeom>
        </p:spPr>
        <p:txBody>
          <a:bodyPr lIns="0" tIns="0" rIns="0" bIns="0" rtlCol="0" anchor="t">
            <a:spAutoFit/>
          </a:bodyPr>
          <a:lstStyle/>
          <a:p>
            <a:pPr algn="l">
              <a:lnSpc>
                <a:spcPts val="2904"/>
              </a:lnSpc>
            </a:pPr>
            <a:r>
              <a:rPr lang="en-US" sz="2381" b="1">
                <a:solidFill>
                  <a:srgbClr val="063050"/>
                </a:solidFill>
                <a:latin typeface="Poppins Bold"/>
                <a:ea typeface="Poppins Bold"/>
                <a:cs typeface="Poppins Bold"/>
                <a:sym typeface="Poppins Bold"/>
              </a:rPr>
              <a:t>Space Complexity:</a:t>
            </a:r>
          </a:p>
        </p:txBody>
      </p:sp>
      <p:sp>
        <p:nvSpPr>
          <p:cNvPr id="13" name="TextBox 13"/>
          <p:cNvSpPr txBox="1"/>
          <p:nvPr/>
        </p:nvSpPr>
        <p:spPr>
          <a:xfrm>
            <a:off x="2660616" y="2795485"/>
            <a:ext cx="10173649" cy="907471"/>
          </a:xfrm>
          <a:prstGeom prst="rect">
            <a:avLst/>
          </a:prstGeom>
        </p:spPr>
        <p:txBody>
          <a:bodyPr lIns="0" tIns="0" rIns="0" bIns="0" rtlCol="0" anchor="t">
            <a:spAutoFit/>
          </a:bodyPr>
          <a:lstStyle/>
          <a:p>
            <a:pPr algn="l">
              <a:lnSpc>
                <a:spcPts val="6470"/>
              </a:lnSpc>
              <a:spcBef>
                <a:spcPct val="0"/>
              </a:spcBef>
            </a:pPr>
            <a:r>
              <a:rPr lang="en-US" sz="6221" b="1">
                <a:solidFill>
                  <a:srgbClr val="F0F7FE"/>
                </a:solidFill>
                <a:latin typeface="Poppins Bold"/>
                <a:ea typeface="Poppins Bold"/>
                <a:cs typeface="Poppins Bold"/>
                <a:sym typeface="Poppins Bold"/>
              </a:rPr>
              <a:t>Complexity Analysis:</a:t>
            </a:r>
          </a:p>
        </p:txBody>
      </p:sp>
      <p:sp>
        <p:nvSpPr>
          <p:cNvPr id="14" name="Freeform 14"/>
          <p:cNvSpPr/>
          <p:nvPr/>
        </p:nvSpPr>
        <p:spPr>
          <a:xfrm>
            <a:off x="16872140" y="1464854"/>
            <a:ext cx="2549517" cy="2585062"/>
          </a:xfrm>
          <a:custGeom>
            <a:avLst/>
            <a:gdLst/>
            <a:ahLst/>
            <a:cxnLst/>
            <a:rect l="l" t="t" r="r" b="b"/>
            <a:pathLst>
              <a:path w="2549517" h="2585062">
                <a:moveTo>
                  <a:pt x="0" y="0"/>
                </a:moveTo>
                <a:lnTo>
                  <a:pt x="2549517" y="0"/>
                </a:lnTo>
                <a:lnTo>
                  <a:pt x="2549517" y="2585062"/>
                </a:lnTo>
                <a:lnTo>
                  <a:pt x="0" y="2585062"/>
                </a:lnTo>
                <a:lnTo>
                  <a:pt x="0" y="0"/>
                </a:lnTo>
                <a:close/>
              </a:path>
            </a:pathLst>
          </a:custGeom>
          <a:blipFill>
            <a:blip r:embed="rId8">
              <a:alphaModFix amt="71000"/>
            </a:blip>
            <a:stretch>
              <a:fillRect/>
            </a:stretch>
          </a:blipFill>
        </p:spPr>
      </p:sp>
      <p:sp>
        <p:nvSpPr>
          <p:cNvPr id="15" name="Freeform 15"/>
          <p:cNvSpPr/>
          <p:nvPr/>
        </p:nvSpPr>
        <p:spPr>
          <a:xfrm>
            <a:off x="-390204" y="8950469"/>
            <a:ext cx="2549517" cy="2585062"/>
          </a:xfrm>
          <a:custGeom>
            <a:avLst/>
            <a:gdLst/>
            <a:ahLst/>
            <a:cxnLst/>
            <a:rect l="l" t="t" r="r" b="b"/>
            <a:pathLst>
              <a:path w="2549517" h="2585062">
                <a:moveTo>
                  <a:pt x="0" y="0"/>
                </a:moveTo>
                <a:lnTo>
                  <a:pt x="2549517" y="0"/>
                </a:lnTo>
                <a:lnTo>
                  <a:pt x="2549517" y="2585062"/>
                </a:lnTo>
                <a:lnTo>
                  <a:pt x="0" y="2585062"/>
                </a:lnTo>
                <a:lnTo>
                  <a:pt x="0" y="0"/>
                </a:lnTo>
                <a:close/>
              </a:path>
            </a:pathLst>
          </a:custGeom>
          <a:blipFill>
            <a:blip r:embed="rId8">
              <a:alphaModFix amt="71000"/>
            </a:blip>
            <a:stretch>
              <a:fillRect/>
            </a:stretch>
          </a:blipFill>
        </p:spPr>
      </p:sp>
      <p:grpSp>
        <p:nvGrpSpPr>
          <p:cNvPr id="16" name="Group 16"/>
          <p:cNvGrpSpPr/>
          <p:nvPr/>
        </p:nvGrpSpPr>
        <p:grpSpPr>
          <a:xfrm>
            <a:off x="2159313" y="4684673"/>
            <a:ext cx="357065" cy="357065"/>
            <a:chOff x="0" y="0"/>
            <a:chExt cx="94042" cy="94042"/>
          </a:xfrm>
        </p:grpSpPr>
        <p:sp>
          <p:nvSpPr>
            <p:cNvPr id="17" name="Freeform 17"/>
            <p:cNvSpPr/>
            <p:nvPr/>
          </p:nvSpPr>
          <p:spPr>
            <a:xfrm>
              <a:off x="0" y="0"/>
              <a:ext cx="94042" cy="94042"/>
            </a:xfrm>
            <a:custGeom>
              <a:avLst/>
              <a:gdLst/>
              <a:ahLst/>
              <a:cxnLst/>
              <a:rect l="l" t="t" r="r" b="b"/>
              <a:pathLst>
                <a:path w="94042" h="94042">
                  <a:moveTo>
                    <a:pt x="0" y="0"/>
                  </a:moveTo>
                  <a:lnTo>
                    <a:pt x="94042" y="0"/>
                  </a:lnTo>
                  <a:lnTo>
                    <a:pt x="94042" y="94042"/>
                  </a:lnTo>
                  <a:lnTo>
                    <a:pt x="0" y="94042"/>
                  </a:lnTo>
                  <a:close/>
                </a:path>
              </a:pathLst>
            </a:custGeom>
            <a:solidFill>
              <a:srgbClr val="4F9FF5"/>
            </a:solidFill>
          </p:spPr>
        </p:sp>
        <p:sp>
          <p:nvSpPr>
            <p:cNvPr id="18" name="TextBox 18"/>
            <p:cNvSpPr txBox="1"/>
            <p:nvPr/>
          </p:nvSpPr>
          <p:spPr>
            <a:xfrm>
              <a:off x="0" y="28575"/>
              <a:ext cx="94042" cy="65467"/>
            </a:xfrm>
            <a:prstGeom prst="rect">
              <a:avLst/>
            </a:prstGeom>
          </p:spPr>
          <p:txBody>
            <a:bodyPr lIns="50800" tIns="50800" rIns="50800" bIns="50800" rtlCol="0" anchor="ctr"/>
            <a:lstStyle/>
            <a:p>
              <a:pPr algn="ctr">
                <a:lnSpc>
                  <a:spcPts val="2661"/>
                </a:lnSpc>
              </a:pPr>
              <a:endParaRPr/>
            </a:p>
          </p:txBody>
        </p:sp>
      </p:grpSp>
      <p:grpSp>
        <p:nvGrpSpPr>
          <p:cNvPr id="19" name="Group 19"/>
          <p:cNvGrpSpPr/>
          <p:nvPr/>
        </p:nvGrpSpPr>
        <p:grpSpPr>
          <a:xfrm>
            <a:off x="8256293" y="4684673"/>
            <a:ext cx="357065" cy="357065"/>
            <a:chOff x="0" y="0"/>
            <a:chExt cx="94042" cy="94042"/>
          </a:xfrm>
        </p:grpSpPr>
        <p:sp>
          <p:nvSpPr>
            <p:cNvPr id="20" name="Freeform 20"/>
            <p:cNvSpPr/>
            <p:nvPr/>
          </p:nvSpPr>
          <p:spPr>
            <a:xfrm>
              <a:off x="0" y="0"/>
              <a:ext cx="94042" cy="94042"/>
            </a:xfrm>
            <a:custGeom>
              <a:avLst/>
              <a:gdLst/>
              <a:ahLst/>
              <a:cxnLst/>
              <a:rect l="l" t="t" r="r" b="b"/>
              <a:pathLst>
                <a:path w="94042" h="94042">
                  <a:moveTo>
                    <a:pt x="0" y="0"/>
                  </a:moveTo>
                  <a:lnTo>
                    <a:pt x="94042" y="0"/>
                  </a:lnTo>
                  <a:lnTo>
                    <a:pt x="94042" y="94042"/>
                  </a:lnTo>
                  <a:lnTo>
                    <a:pt x="0" y="94042"/>
                  </a:lnTo>
                  <a:close/>
                </a:path>
              </a:pathLst>
            </a:custGeom>
            <a:solidFill>
              <a:srgbClr val="4F9FF5"/>
            </a:solidFill>
          </p:spPr>
        </p:sp>
        <p:sp>
          <p:nvSpPr>
            <p:cNvPr id="21" name="TextBox 21"/>
            <p:cNvSpPr txBox="1"/>
            <p:nvPr/>
          </p:nvSpPr>
          <p:spPr>
            <a:xfrm>
              <a:off x="0" y="28575"/>
              <a:ext cx="94042" cy="65467"/>
            </a:xfrm>
            <a:prstGeom prst="rect">
              <a:avLst/>
            </a:prstGeom>
          </p:spPr>
          <p:txBody>
            <a:bodyPr lIns="50800" tIns="50800" rIns="50800" bIns="50800" rtlCol="0" anchor="ctr"/>
            <a:lstStyle/>
            <a:p>
              <a:pPr algn="ctr">
                <a:lnSpc>
                  <a:spcPts val="2661"/>
                </a:lnSpc>
              </a:pPr>
              <a:endParaRPr/>
            </a:p>
          </p:txBody>
        </p:sp>
      </p:grpSp>
      <p:sp>
        <p:nvSpPr>
          <p:cNvPr id="2" name="TextBox 1">
            <a:extLst>
              <a:ext uri="{FF2B5EF4-FFF2-40B4-BE49-F238E27FC236}">
                <a16:creationId xmlns:a16="http://schemas.microsoft.com/office/drawing/2014/main" id="{35396511-A718-FDE8-B4CA-40560865E3A8}"/>
              </a:ext>
            </a:extLst>
          </p:cNvPr>
          <p:cNvSpPr txBox="1"/>
          <p:nvPr/>
        </p:nvSpPr>
        <p:spPr>
          <a:xfrm>
            <a:off x="16398744" y="8670117"/>
            <a:ext cx="1371600" cy="1535036"/>
          </a:xfrm>
          <a:prstGeom prst="rect">
            <a:avLst/>
          </a:prstGeom>
          <a:noFill/>
        </p:spPr>
        <p:txBody>
          <a:bodyPr wrap="square">
            <a:spAutoFit/>
          </a:bodyPr>
          <a:lstStyle/>
          <a:p>
            <a:pPr algn="ctr">
              <a:lnSpc>
                <a:spcPts val="12041"/>
              </a:lnSpc>
            </a:pPr>
            <a:r>
              <a:rPr lang="en-US" sz="9600" b="1" spc="-150" dirty="0">
                <a:solidFill>
                  <a:srgbClr val="F2F7FA"/>
                </a:solidFill>
                <a:latin typeface="Times New Roman" panose="02020603050405020304" pitchFamily="18" charset="0"/>
                <a:ea typeface="Telegraf Bold"/>
                <a:cs typeface="Times New Roman" panose="02020603050405020304" pitchFamily="18" charset="0"/>
                <a:sym typeface="Telegraf Bold"/>
              </a:rPr>
              <a:t>10</a:t>
            </a:r>
            <a:endParaRPr lang="en-US" sz="9600" b="1" spc="-993" dirty="0">
              <a:solidFill>
                <a:srgbClr val="F2F7FA"/>
              </a:solidFill>
              <a:latin typeface="Times New Roman" panose="02020603050405020304" pitchFamily="18" charset="0"/>
              <a:ea typeface="Telegraf Bold"/>
              <a:cs typeface="Times New Roman" panose="02020603050405020304" pitchFamily="18" charset="0"/>
              <a:sym typeface="Telegraf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325529" y="3404967"/>
            <a:ext cx="18939059" cy="1464829"/>
            <a:chOff x="0" y="0"/>
            <a:chExt cx="4988065" cy="385799"/>
          </a:xfrm>
        </p:grpSpPr>
        <p:sp>
          <p:nvSpPr>
            <p:cNvPr id="4" name="Freeform 4"/>
            <p:cNvSpPr/>
            <p:nvPr/>
          </p:nvSpPr>
          <p:spPr>
            <a:xfrm>
              <a:off x="0" y="0"/>
              <a:ext cx="4988065" cy="385799"/>
            </a:xfrm>
            <a:custGeom>
              <a:avLst/>
              <a:gdLst/>
              <a:ahLst/>
              <a:cxnLst/>
              <a:rect l="l" t="t" r="r" b="b"/>
              <a:pathLst>
                <a:path w="4988065" h="385799">
                  <a:moveTo>
                    <a:pt x="0" y="0"/>
                  </a:moveTo>
                  <a:lnTo>
                    <a:pt x="4988065" y="0"/>
                  </a:lnTo>
                  <a:lnTo>
                    <a:pt x="4988065" y="385799"/>
                  </a:lnTo>
                  <a:lnTo>
                    <a:pt x="0" y="385799"/>
                  </a:lnTo>
                  <a:close/>
                </a:path>
              </a:pathLst>
            </a:custGeom>
            <a:solidFill>
              <a:srgbClr val="2B59C3">
                <a:alpha val="71765"/>
              </a:srgbClr>
            </a:solidFill>
          </p:spPr>
        </p:sp>
        <p:sp>
          <p:nvSpPr>
            <p:cNvPr id="5" name="TextBox 5"/>
            <p:cNvSpPr txBox="1"/>
            <p:nvPr/>
          </p:nvSpPr>
          <p:spPr>
            <a:xfrm>
              <a:off x="0" y="28575"/>
              <a:ext cx="4988065" cy="357224"/>
            </a:xfrm>
            <a:prstGeom prst="rect">
              <a:avLst/>
            </a:prstGeom>
          </p:spPr>
          <p:txBody>
            <a:bodyPr lIns="50800" tIns="50800" rIns="50800" bIns="50800" rtlCol="0" anchor="ctr"/>
            <a:lstStyle/>
            <a:p>
              <a:pPr algn="ctr">
                <a:lnSpc>
                  <a:spcPts val="2661"/>
                </a:lnSpc>
              </a:pPr>
              <a:endParaRPr/>
            </a:p>
          </p:txBody>
        </p:sp>
      </p:grpSp>
      <p:sp>
        <p:nvSpPr>
          <p:cNvPr id="7" name="Freeform 7"/>
          <p:cNvSpPr/>
          <p:nvPr/>
        </p:nvSpPr>
        <p:spPr>
          <a:xfrm>
            <a:off x="0" y="1588548"/>
            <a:ext cx="2549517" cy="2585062"/>
          </a:xfrm>
          <a:custGeom>
            <a:avLst/>
            <a:gdLst/>
            <a:ahLst/>
            <a:cxnLst/>
            <a:rect l="l" t="t" r="r" b="b"/>
            <a:pathLst>
              <a:path w="2549517" h="2585062">
                <a:moveTo>
                  <a:pt x="0" y="0"/>
                </a:moveTo>
                <a:lnTo>
                  <a:pt x="2549517" y="0"/>
                </a:lnTo>
                <a:lnTo>
                  <a:pt x="2549517" y="2585062"/>
                </a:lnTo>
                <a:lnTo>
                  <a:pt x="0" y="2585062"/>
                </a:lnTo>
                <a:lnTo>
                  <a:pt x="0" y="0"/>
                </a:lnTo>
                <a:close/>
              </a:path>
            </a:pathLst>
          </a:custGeom>
          <a:blipFill>
            <a:blip r:embed="rId2">
              <a:alphaModFix amt="71000"/>
            </a:blip>
            <a:stretch>
              <a:fillRect/>
            </a:stretch>
          </a:blipFill>
        </p:spPr>
      </p:sp>
      <p:sp>
        <p:nvSpPr>
          <p:cNvPr id="8" name="Freeform 8"/>
          <p:cNvSpPr/>
          <p:nvPr/>
        </p:nvSpPr>
        <p:spPr>
          <a:xfrm>
            <a:off x="16543611" y="3404967"/>
            <a:ext cx="2549517" cy="2585062"/>
          </a:xfrm>
          <a:custGeom>
            <a:avLst/>
            <a:gdLst/>
            <a:ahLst/>
            <a:cxnLst/>
            <a:rect l="l" t="t" r="r" b="b"/>
            <a:pathLst>
              <a:path w="2549517" h="2585062">
                <a:moveTo>
                  <a:pt x="0" y="0"/>
                </a:moveTo>
                <a:lnTo>
                  <a:pt x="2549517" y="0"/>
                </a:lnTo>
                <a:lnTo>
                  <a:pt x="2549517" y="2585062"/>
                </a:lnTo>
                <a:lnTo>
                  <a:pt x="0" y="2585062"/>
                </a:lnTo>
                <a:lnTo>
                  <a:pt x="0" y="0"/>
                </a:lnTo>
                <a:close/>
              </a:path>
            </a:pathLst>
          </a:custGeom>
          <a:blipFill>
            <a:blip r:embed="rId2">
              <a:alphaModFix amt="71000"/>
            </a:blip>
            <a:stretch>
              <a:fillRect/>
            </a:stretch>
          </a:blipFill>
        </p:spPr>
      </p:sp>
      <p:sp>
        <p:nvSpPr>
          <p:cNvPr id="9" name="Freeform 9"/>
          <p:cNvSpPr/>
          <p:nvPr/>
        </p:nvSpPr>
        <p:spPr>
          <a:xfrm>
            <a:off x="2660616" y="1374714"/>
            <a:ext cx="527662" cy="527662"/>
          </a:xfrm>
          <a:custGeom>
            <a:avLst/>
            <a:gdLst/>
            <a:ahLst/>
            <a:cxnLst/>
            <a:rect l="l" t="t" r="r" b="b"/>
            <a:pathLst>
              <a:path w="527662" h="527662">
                <a:moveTo>
                  <a:pt x="0" y="0"/>
                </a:moveTo>
                <a:lnTo>
                  <a:pt x="527661" y="0"/>
                </a:lnTo>
                <a:lnTo>
                  <a:pt x="527661" y="527662"/>
                </a:lnTo>
                <a:lnTo>
                  <a:pt x="0" y="5276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2660616" y="4955193"/>
            <a:ext cx="8497325" cy="2831151"/>
          </a:xfrm>
          <a:prstGeom prst="rect">
            <a:avLst/>
          </a:prstGeom>
        </p:spPr>
        <p:txBody>
          <a:bodyPr lIns="0" tIns="0" rIns="0" bIns="0" rtlCol="0" anchor="t">
            <a:spAutoFit/>
          </a:bodyPr>
          <a:lstStyle/>
          <a:p>
            <a:pPr algn="l">
              <a:lnSpc>
                <a:spcPts val="10753"/>
              </a:lnSpc>
            </a:pPr>
            <a:r>
              <a:rPr lang="en-US" sz="9350" b="1">
                <a:solidFill>
                  <a:srgbClr val="063050"/>
                </a:solidFill>
                <a:latin typeface="Poppins Bold"/>
                <a:ea typeface="Poppins Bold"/>
                <a:cs typeface="Poppins Bold"/>
                <a:sym typeface="Poppins Bold"/>
              </a:rPr>
              <a:t>For listening us</a:t>
            </a:r>
          </a:p>
        </p:txBody>
      </p:sp>
      <p:sp>
        <p:nvSpPr>
          <p:cNvPr id="11" name="TextBox 11"/>
          <p:cNvSpPr txBox="1"/>
          <p:nvPr/>
        </p:nvSpPr>
        <p:spPr>
          <a:xfrm>
            <a:off x="2660616" y="3511872"/>
            <a:ext cx="8449147" cy="1371102"/>
          </a:xfrm>
          <a:prstGeom prst="rect">
            <a:avLst/>
          </a:prstGeom>
        </p:spPr>
        <p:txBody>
          <a:bodyPr lIns="0" tIns="0" rIns="0" bIns="0" rtlCol="0" anchor="t">
            <a:spAutoFit/>
          </a:bodyPr>
          <a:lstStyle/>
          <a:p>
            <a:pPr algn="l">
              <a:lnSpc>
                <a:spcPts val="9724"/>
              </a:lnSpc>
              <a:spcBef>
                <a:spcPct val="0"/>
              </a:spcBef>
            </a:pPr>
            <a:r>
              <a:rPr lang="en-US" sz="9350" b="1">
                <a:solidFill>
                  <a:srgbClr val="F4F4F4"/>
                </a:solidFill>
                <a:latin typeface="Poppins Bold"/>
                <a:ea typeface="Poppins Bold"/>
                <a:cs typeface="Poppins Bold"/>
                <a:sym typeface="Poppins Bold"/>
              </a:rPr>
              <a:t>Thank You!</a:t>
            </a:r>
          </a:p>
        </p:txBody>
      </p:sp>
      <p:sp>
        <p:nvSpPr>
          <p:cNvPr id="12" name="TextBox 12"/>
          <p:cNvSpPr txBox="1"/>
          <p:nvPr/>
        </p:nvSpPr>
        <p:spPr>
          <a:xfrm>
            <a:off x="3540702" y="1393764"/>
            <a:ext cx="1838863" cy="562298"/>
          </a:xfrm>
          <a:prstGeom prst="rect">
            <a:avLst/>
          </a:prstGeom>
        </p:spPr>
        <p:txBody>
          <a:bodyPr lIns="0" tIns="0" rIns="0" bIns="0" rtlCol="0" anchor="t">
            <a:spAutoFit/>
          </a:bodyPr>
          <a:lstStyle/>
          <a:p>
            <a:pPr algn="l">
              <a:lnSpc>
                <a:spcPts val="2139"/>
              </a:lnSpc>
            </a:pPr>
            <a:r>
              <a:rPr lang="en-US" sz="2097" b="1">
                <a:solidFill>
                  <a:srgbClr val="0B4876"/>
                </a:solidFill>
                <a:latin typeface="Poppins Medium"/>
                <a:ea typeface="Poppins Medium"/>
                <a:cs typeface="Poppins Medium"/>
                <a:sym typeface="Poppins Medium"/>
              </a:rPr>
              <a:t>Studio Shodwe</a:t>
            </a:r>
          </a:p>
        </p:txBody>
      </p:sp>
      <p:sp>
        <p:nvSpPr>
          <p:cNvPr id="13" name="TextBox 13"/>
          <p:cNvSpPr txBox="1"/>
          <p:nvPr/>
        </p:nvSpPr>
        <p:spPr>
          <a:xfrm>
            <a:off x="5105400" y="8877300"/>
            <a:ext cx="10415799" cy="852256"/>
          </a:xfrm>
          <a:prstGeom prst="rect">
            <a:avLst/>
          </a:prstGeom>
        </p:spPr>
        <p:txBody>
          <a:bodyPr lIns="0" tIns="0" rIns="0" bIns="0" rtlCol="0" anchor="t">
            <a:spAutoFit/>
          </a:bodyPr>
          <a:lstStyle/>
          <a:p>
            <a:pPr algn="ctr">
              <a:lnSpc>
                <a:spcPts val="2181"/>
              </a:lnSpc>
              <a:spcBef>
                <a:spcPct val="0"/>
              </a:spcBef>
            </a:pPr>
            <a:r>
              <a:rPr lang="en-US" sz="2097" b="1" dirty="0">
                <a:solidFill>
                  <a:srgbClr val="000000"/>
                </a:solidFill>
                <a:latin typeface="Raleway Bold"/>
                <a:ea typeface="Raleway Bold"/>
                <a:cs typeface="Raleway Bold"/>
                <a:sym typeface="Raleway Bold"/>
              </a:rPr>
              <a:t> References:</a:t>
            </a:r>
          </a:p>
          <a:p>
            <a:pPr algn="ctr">
              <a:lnSpc>
                <a:spcPts val="2181"/>
              </a:lnSpc>
              <a:spcBef>
                <a:spcPct val="0"/>
              </a:spcBef>
            </a:pPr>
            <a:r>
              <a:rPr lang="en-US" sz="2097" b="1" dirty="0">
                <a:solidFill>
                  <a:srgbClr val="000000"/>
                </a:solidFill>
                <a:latin typeface="Raleway Bold"/>
                <a:ea typeface="Raleway Bold"/>
                <a:cs typeface="Raleway Bold"/>
                <a:sym typeface="Raleway Bold"/>
              </a:rPr>
              <a:t>"M. </a:t>
            </a:r>
            <a:r>
              <a:rPr lang="en-US" sz="2097" b="1" dirty="0" err="1">
                <a:solidFill>
                  <a:srgbClr val="000000"/>
                </a:solidFill>
                <a:latin typeface="Raleway Bold"/>
                <a:ea typeface="Raleway Bold"/>
                <a:cs typeface="Raleway Bold"/>
                <a:sym typeface="Raleway Bold"/>
              </a:rPr>
              <a:t>Sipser</a:t>
            </a:r>
            <a:r>
              <a:rPr lang="en-US" sz="2097" b="1" dirty="0">
                <a:solidFill>
                  <a:srgbClr val="000000"/>
                </a:solidFill>
                <a:latin typeface="Raleway Bold"/>
                <a:ea typeface="Raleway Bold"/>
                <a:cs typeface="Raleway Bold"/>
                <a:sym typeface="Raleway Bold"/>
              </a:rPr>
              <a:t>, Introduction to the Theory of Computation, 3rd Ed., 2012"</a:t>
            </a:r>
          </a:p>
          <a:p>
            <a:pPr algn="ctr">
              <a:lnSpc>
                <a:spcPts val="2181"/>
              </a:lnSpc>
              <a:spcBef>
                <a:spcPct val="0"/>
              </a:spcBef>
            </a:pPr>
            <a:r>
              <a:rPr lang="en-US" sz="2097" b="1" dirty="0">
                <a:solidFill>
                  <a:srgbClr val="000000"/>
                </a:solidFill>
                <a:latin typeface="Raleway Bold"/>
                <a:ea typeface="Raleway Bold"/>
                <a:cs typeface="Raleway Bold"/>
                <a:sym typeface="Raleway Bold"/>
              </a:rPr>
              <a:t> "S. Arora &amp; B. Barak, Computational Complexity: A Modern Approach, 2009"</a:t>
            </a:r>
          </a:p>
        </p:txBody>
      </p:sp>
      <p:sp>
        <p:nvSpPr>
          <p:cNvPr id="14" name="Freeform 6">
            <a:extLst>
              <a:ext uri="{FF2B5EF4-FFF2-40B4-BE49-F238E27FC236}">
                <a16:creationId xmlns:a16="http://schemas.microsoft.com/office/drawing/2014/main" id="{5BECA146-B54C-CA90-BFFB-A38D79F5AEF8}"/>
              </a:ext>
            </a:extLst>
          </p:cNvPr>
          <p:cNvSpPr/>
          <p:nvPr/>
        </p:nvSpPr>
        <p:spPr>
          <a:xfrm>
            <a:off x="14170564" y="3949601"/>
            <a:ext cx="2913640" cy="3451233"/>
          </a:xfrm>
          <a:custGeom>
            <a:avLst/>
            <a:gdLst/>
            <a:ahLst/>
            <a:cxnLst/>
            <a:rect l="l" t="t" r="r" b="b"/>
            <a:pathLst>
              <a:path w="6379233" h="8140553">
                <a:moveTo>
                  <a:pt x="0" y="0"/>
                </a:moveTo>
                <a:lnTo>
                  <a:pt x="6379233" y="0"/>
                </a:lnTo>
                <a:lnTo>
                  <a:pt x="6379233" y="8140553"/>
                </a:lnTo>
                <a:lnTo>
                  <a:pt x="0" y="814055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Freeform 6"/>
          <p:cNvSpPr/>
          <p:nvPr/>
        </p:nvSpPr>
        <p:spPr>
          <a:xfrm>
            <a:off x="11334752" y="1875229"/>
            <a:ext cx="3980134" cy="4114800"/>
          </a:xfrm>
          <a:custGeom>
            <a:avLst/>
            <a:gdLst/>
            <a:ahLst/>
            <a:cxnLst/>
            <a:rect l="l" t="t" r="r" b="b"/>
            <a:pathLst>
              <a:path w="3980134" h="4114800">
                <a:moveTo>
                  <a:pt x="0" y="0"/>
                </a:moveTo>
                <a:lnTo>
                  <a:pt x="3980134" y="0"/>
                </a:lnTo>
                <a:lnTo>
                  <a:pt x="3980134"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2" name="TextBox 1">
            <a:extLst>
              <a:ext uri="{FF2B5EF4-FFF2-40B4-BE49-F238E27FC236}">
                <a16:creationId xmlns:a16="http://schemas.microsoft.com/office/drawing/2014/main" id="{9211FD04-32CD-013C-2990-2BE17F28AF4A}"/>
              </a:ext>
            </a:extLst>
          </p:cNvPr>
          <p:cNvSpPr txBox="1"/>
          <p:nvPr/>
        </p:nvSpPr>
        <p:spPr>
          <a:xfrm>
            <a:off x="16398744" y="8670117"/>
            <a:ext cx="1371600" cy="1535036"/>
          </a:xfrm>
          <a:prstGeom prst="rect">
            <a:avLst/>
          </a:prstGeom>
          <a:noFill/>
        </p:spPr>
        <p:txBody>
          <a:bodyPr wrap="square">
            <a:spAutoFit/>
          </a:bodyPr>
          <a:lstStyle/>
          <a:p>
            <a:pPr algn="ctr">
              <a:lnSpc>
                <a:spcPts val="12041"/>
              </a:lnSpc>
            </a:pPr>
            <a:r>
              <a:rPr lang="en-US" sz="9600" b="1" spc="-150" dirty="0">
                <a:solidFill>
                  <a:srgbClr val="F2F7FA"/>
                </a:solidFill>
                <a:latin typeface="Times New Roman" panose="02020603050405020304" pitchFamily="18" charset="0"/>
                <a:ea typeface="Telegraf Bold"/>
                <a:cs typeface="Times New Roman" panose="02020603050405020304" pitchFamily="18" charset="0"/>
                <a:sym typeface="Telegraf Bold"/>
              </a:rPr>
              <a:t>11</a:t>
            </a:r>
            <a:endParaRPr lang="en-US" sz="9600" b="1" spc="-993" dirty="0">
              <a:solidFill>
                <a:srgbClr val="F2F7FA"/>
              </a:solidFill>
              <a:latin typeface="Times New Roman" panose="02020603050405020304" pitchFamily="18" charset="0"/>
              <a:ea typeface="Telegraf Bold"/>
              <a:cs typeface="Times New Roman" panose="02020603050405020304" pitchFamily="18" charset="0"/>
              <a:sym typeface="Telegraf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a:blip xmlns:r="http://schemas.openxmlformats.org/officeDocument/2006/relationships" r:embed="rId1"/>
          <a:stretch>
            <a:fillRect t="-38888" b="-38888"/>
          </a:stretch>
        </a:blipFill>
      </a:spPr>
      <a:bodyPr/>
      <a:lstStyle/>
    </a:spDef>
  </a:objectDefaults>
  <a:extraClrSchemeLst/>
</a:theme>
</file>

<file path=docProps/app.xml><?xml version="1.0" encoding="utf-8"?>
<Properties xmlns="http://schemas.openxmlformats.org/officeDocument/2006/extended-properties" xmlns:vt="http://schemas.openxmlformats.org/officeDocument/2006/docPropsVTypes">
  <TotalTime>29</TotalTime>
  <Words>1148</Words>
  <Application>Microsoft Office PowerPoint</Application>
  <PresentationFormat>Custom</PresentationFormat>
  <Paragraphs>192</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Poppins Medium</vt:lpstr>
      <vt:lpstr>Arial</vt:lpstr>
      <vt:lpstr>Times New Roman</vt:lpstr>
      <vt:lpstr>Raleway</vt:lpstr>
      <vt:lpstr>Poppins Bold</vt:lpstr>
      <vt:lpstr>Raleway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Complexity Classes</dc:title>
  <cp:lastModifiedBy>MD. ABDULLAH AL MAHFUZ</cp:lastModifiedBy>
  <cp:revision>9</cp:revision>
  <dcterms:created xsi:type="dcterms:W3CDTF">2006-08-16T00:00:00Z</dcterms:created>
  <dcterms:modified xsi:type="dcterms:W3CDTF">2025-10-27T14:46:11Z</dcterms:modified>
  <dc:identifier>DAG20IyRB44</dc:identifier>
</cp:coreProperties>
</file>