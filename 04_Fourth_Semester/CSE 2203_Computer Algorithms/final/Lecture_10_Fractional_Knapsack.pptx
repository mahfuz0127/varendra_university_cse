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80" r:id="rId1"/>
  </p:sldMasterIdLst>
  <p:notesMasterIdLst>
    <p:notesMasterId r:id="rId28"/>
  </p:notesMasterIdLst>
  <p:sldIdLst>
    <p:sldId id="321" r:id="rId2"/>
    <p:sldId id="395" r:id="rId3"/>
    <p:sldId id="306" r:id="rId4"/>
    <p:sldId id="396" r:id="rId5"/>
    <p:sldId id="304" r:id="rId6"/>
    <p:sldId id="303" r:id="rId7"/>
    <p:sldId id="397" r:id="rId8"/>
    <p:sldId id="393" r:id="rId9"/>
    <p:sldId id="274" r:id="rId10"/>
    <p:sldId id="275" r:id="rId11"/>
    <p:sldId id="276" r:id="rId12"/>
    <p:sldId id="277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72" r:id="rId22"/>
    <p:sldId id="400" r:id="rId23"/>
    <p:sldId id="398" r:id="rId24"/>
    <p:sldId id="401" r:id="rId25"/>
    <p:sldId id="399" r:id="rId26"/>
    <p:sldId id="312" r:id="rId27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9"/>
      <p:bold r:id="rId30"/>
      <p:italic r:id="rId31"/>
      <p:boldItalic r:id="rId32"/>
    </p:embeddedFont>
    <p:embeddedFont>
      <p:font typeface="Barlow Semi Condensed Medium" panose="00000606000000000000" pitchFamily="2" charset="0"/>
      <p:regular r:id="rId33"/>
      <p:bold r:id="rId34"/>
      <p:italic r:id="rId35"/>
      <p:boldItalic r:id="rId36"/>
    </p:embeddedFont>
    <p:embeddedFont>
      <p:font typeface="Cambria Math" panose="02040503050406030204" pitchFamily="18" charset="0"/>
      <p:regular r:id="rId37"/>
    </p:embeddedFont>
    <p:embeddedFont>
      <p:font typeface="Fjalla One" panose="02000506040000020004" pitchFamily="2" charset="0"/>
      <p:regular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468B479-CD98-439D-AB3A-897B7AB2A78C}">
          <p14:sldIdLst>
            <p14:sldId id="321"/>
            <p14:sldId id="395"/>
            <p14:sldId id="306"/>
            <p14:sldId id="396"/>
            <p14:sldId id="304"/>
            <p14:sldId id="303"/>
            <p14:sldId id="397"/>
            <p14:sldId id="393"/>
            <p14:sldId id="274"/>
            <p14:sldId id="275"/>
            <p14:sldId id="276"/>
            <p14:sldId id="277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72"/>
            <p14:sldId id="400"/>
            <p14:sldId id="398"/>
            <p14:sldId id="401"/>
            <p14:sldId id="399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BFE"/>
    <a:srgbClr val="0662BB"/>
    <a:srgbClr val="FCF8F5"/>
    <a:srgbClr val="323230"/>
    <a:srgbClr val="00A8DA"/>
    <a:srgbClr val="FBFCFE"/>
    <a:srgbClr val="F9FCFF"/>
    <a:srgbClr val="BCFABC"/>
    <a:srgbClr val="ECF5FE"/>
    <a:srgbClr val="EAEF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394D78-76CB-4DF2-90E6-CE17A867E9D8}">
  <a:tblStyle styleId="{62394D78-76CB-4DF2-90E6-CE17A867E9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5065" autoAdjust="0"/>
  </p:normalViewPr>
  <p:slideViewPr>
    <p:cSldViewPr snapToGrid="0">
      <p:cViewPr varScale="1">
        <p:scale>
          <a:sx n="113" d="100"/>
          <a:sy n="113" d="100"/>
        </p:scale>
        <p:origin x="3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652420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77170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6B47599D-CD7B-85F6-7C31-104F217B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7C46AFBA-FE85-7B2B-B58D-58D1C07D50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FA8F01FB-48A3-0031-17E5-AB7461C049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9010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ED17-19FC-CE58-FDD0-BA8C14ED6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A88674-5509-8BC2-9372-2F84A1AA7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8F9F0C-F162-119D-7F0E-8E1343D9C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D5FB2-88C7-516A-4186-D49662F0E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5147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DF29F-79F6-42B9-AA34-761B3336EE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49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6E827022-2FAA-D896-CDA3-32AFC195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91F6EF1F-4AE0-54F8-9E1B-D34176F0D8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75BD8FFB-FB80-A89D-527D-D7B2C37798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1839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E76B7558-E65D-6CBB-362D-7ACC1756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AF6DA362-B6DB-8455-4AE7-497E2F8D6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BC3BA639-25E3-5718-E6BA-5F39FDF85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921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>
          <a:extLst>
            <a:ext uri="{FF2B5EF4-FFF2-40B4-BE49-F238E27FC236}">
              <a16:creationId xmlns:a16="http://schemas.microsoft.com/office/drawing/2014/main" id="{D6ABF7E1-30E0-361C-D9EA-96121C1D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>
            <a:extLst>
              <a:ext uri="{FF2B5EF4-FFF2-40B4-BE49-F238E27FC236}">
                <a16:creationId xmlns:a16="http://schemas.microsoft.com/office/drawing/2014/main" id="{1CA962E9-08EC-0FE6-0403-33B71E0AD9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>
            <a:extLst>
              <a:ext uri="{FF2B5EF4-FFF2-40B4-BE49-F238E27FC236}">
                <a16:creationId xmlns:a16="http://schemas.microsoft.com/office/drawing/2014/main" id="{5B426D2B-74C2-DCC6-7C3A-AAD57214A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2927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g9f7573e938_1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5" name="Google Shape;3455;g9f7573e938_1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2454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 3">
  <p:cSld name="CUSTOM_16">
    <p:spTree>
      <p:nvGrpSpPr>
        <p:cNvPr id="1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25"/>
          <p:cNvSpPr txBox="1">
            <a:spLocks noGrp="1"/>
          </p:cNvSpPr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cxnSp>
        <p:nvCxnSpPr>
          <p:cNvPr id="1228" name="Google Shape;1228;p25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9" name="Google Shape;1229;p25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0" name="Google Shape;1230;p25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31" name="Google Shape;1231;p25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232" name="Google Shape;1232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8" name="Google Shape;1238;p25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239" name="Google Shape;1239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3" name="Google Shape;1243;p25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4" name="Google Shape;1244;p25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5" name="Google Shape;1245;p25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6" name="Google Shape;1246;p25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25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25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9" name="Google Shape;1249;p25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250" name="Google Shape;1250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3" name="Google Shape;1253;p25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254" name="Google Shape;125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7" name="Google Shape;1257;p25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258" name="Google Shape;125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61" name="Google Shape;1261;p25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2" name="Google Shape;1262;p25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3" name="Google Shape;1263;p25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264" name="Google Shape;1264;p2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0" name="Google Shape;1270;p25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271" name="Google Shape;1271;p2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25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276" name="Google Shape;1276;p25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0" name="Google Shape;1280;p25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281" name="Google Shape;1281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25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285" name="Google Shape;1285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EF6D-F6AB-4DEA-802E-B8AD30496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4050-F067-4752-A564-855FBE81A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3583E-172B-45FE-922E-E87B6BA1B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2634D-EAB4-4FA1-8307-497FC21CD751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940D6-C7C8-4BDD-82EB-F3C9E15C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E6292-F1D1-4E21-AD08-392F4BC0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F8E22-14AA-40EB-BC47-704AC987A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75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29000">
              <a:srgbClr val="F6FAFF"/>
            </a:gs>
            <a:gs pos="99000">
              <a:schemeClr val="bg1"/>
            </a:gs>
            <a:gs pos="0">
              <a:srgbClr val="ECF5FE"/>
            </a:gs>
          </a:gsLst>
          <a:path path="circle">
            <a:fillToRect l="100000" b="10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71" r:id="rId4"/>
    <p:sldLayoutId id="2147483673" r:id="rId5"/>
    <p:sldLayoutId id="2147483674" r:id="rId6"/>
    <p:sldLayoutId id="2147483675" r:id="rId7"/>
    <p:sldLayoutId id="2147483676" r:id="rId8"/>
    <p:sldLayoutId id="2147483706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86787" y="1059879"/>
            <a:ext cx="4695775" cy="989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/>
            <a:r>
              <a:rPr lang="en-US" sz="2800" dirty="0">
                <a:solidFill>
                  <a:srgbClr val="002060"/>
                </a:solidFill>
              </a:rPr>
              <a:t>Greedy Algorithms:</a:t>
            </a:r>
            <a:br>
              <a:rPr lang="en-US" sz="2800" dirty="0">
                <a:solidFill>
                  <a:srgbClr val="002060"/>
                </a:solidFill>
              </a:rPr>
            </a:br>
            <a:r>
              <a:rPr lang="en-US" sz="2800" dirty="0">
                <a:solidFill>
                  <a:srgbClr val="00B050"/>
                </a:solidFill>
              </a:rPr>
              <a:t>Fractional Knapsack Problem</a:t>
            </a:r>
            <a:endParaRPr lang="en-US" sz="2400" dirty="0">
              <a:solidFill>
                <a:srgbClr val="00B050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8995B6A-39A4-EE2E-35A3-28A8F972D2FF}"/>
              </a:ext>
            </a:extLst>
          </p:cNvPr>
          <p:cNvCxnSpPr>
            <a:cxnSpLocks/>
          </p:cNvCxnSpPr>
          <p:nvPr/>
        </p:nvCxnSpPr>
        <p:spPr>
          <a:xfrm>
            <a:off x="1806071" y="2879527"/>
            <a:ext cx="6952982" cy="2622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73152" y="4565904"/>
            <a:ext cx="5546598" cy="56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D893E-FDA4-A1B0-D72D-A3AFDBD2EF37}"/>
              </a:ext>
            </a:extLst>
          </p:cNvPr>
          <p:cNvSpPr txBox="1"/>
          <p:nvPr/>
        </p:nvSpPr>
        <p:spPr>
          <a:xfrm>
            <a:off x="6711426" y="2996140"/>
            <a:ext cx="2143536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Sumaiya Tasnim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</a:p>
          <a:p>
            <a:pPr algn="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057DB-60D6-0C71-BF3D-0590A19F855D}"/>
              </a:ext>
            </a:extLst>
          </p:cNvPr>
          <p:cNvSpPr txBox="1"/>
          <p:nvPr/>
        </p:nvSpPr>
        <p:spPr>
          <a:xfrm>
            <a:off x="7058043" y="2575303"/>
            <a:ext cx="1796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</a:rPr>
              <a:t>Course Instructor</a:t>
            </a:r>
            <a:r>
              <a:rPr lang="en-US" dirty="0">
                <a:solidFill>
                  <a:srgbClr val="494949"/>
                </a:solidFill>
                <a:latin typeface="Fjalla One" panose="02000506040000020004" pitchFamily="2" charset="0"/>
              </a:rPr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4C45B-C1A3-FD0F-4F89-0901E1CF6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4" y="184357"/>
            <a:ext cx="1222913" cy="122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47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4E440E80-7532-71D1-D779-DC601174D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05D81036-607E-D25D-2A8E-200F716A9100}"/>
              </a:ext>
            </a:extLst>
          </p:cNvPr>
          <p:cNvSpPr txBox="1">
            <a:spLocks/>
          </p:cNvSpPr>
          <p:nvPr/>
        </p:nvSpPr>
        <p:spPr>
          <a:xfrm>
            <a:off x="1217521" y="711400"/>
            <a:ext cx="6803783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4800" dirty="0">
                <a:solidFill>
                  <a:srgbClr val="002060"/>
                </a:solidFill>
              </a:rPr>
              <a:t>Acknowledgement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EC61C-9060-C5E9-05D2-C2F545B32EF0}"/>
              </a:ext>
            </a:extLst>
          </p:cNvPr>
          <p:cNvSpPr txBox="1"/>
          <p:nvPr/>
        </p:nvSpPr>
        <p:spPr>
          <a:xfrm>
            <a:off x="1883442" y="2257847"/>
            <a:ext cx="2688557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 err="1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Mosiur</a:t>
            </a: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 Rahman Sweet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Former Lecturer, Department of CSE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517672-2648-4012-DFF3-F0AD937736FB}"/>
              </a:ext>
            </a:extLst>
          </p:cNvPr>
          <p:cNvSpPr txBox="1"/>
          <p:nvPr/>
        </p:nvSpPr>
        <p:spPr>
          <a:xfrm>
            <a:off x="5089213" y="2257847"/>
            <a:ext cx="2143536" cy="1023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Md. Muktar Hossain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Lecturer, Department of CSE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ea typeface="Tahoma" panose="020B0604030504040204" pitchFamily="34" charset="0"/>
                <a:cs typeface="Tahoma" panose="020B0604030504040204" pitchFamily="34" charset="0"/>
              </a:rPr>
              <a:t>Varendra University</a:t>
            </a:r>
          </a:p>
        </p:txBody>
      </p:sp>
    </p:spTree>
    <p:extLst>
      <p:ext uri="{BB962C8B-B14F-4D97-AF65-F5344CB8AC3E}">
        <p14:creationId xmlns:p14="http://schemas.microsoft.com/office/powerpoint/2010/main" val="53386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51" y="635298"/>
            <a:ext cx="4396890" cy="5727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Fractional Knapsack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5429A-0545-4E98-A5AA-47A529348C0A}"/>
              </a:ext>
            </a:extLst>
          </p:cNvPr>
          <p:cNvSpPr txBox="1"/>
          <p:nvPr/>
        </p:nvSpPr>
        <p:spPr>
          <a:xfrm>
            <a:off x="723751" y="1971585"/>
            <a:ext cx="76965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You are given a list of products, their values and their weights.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You have a bag of limited size.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You need to choose products in such a way that the profit turns out to be </a:t>
            </a:r>
            <a:r>
              <a:rPr lang="en-US" sz="1800" b="1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maximum</a:t>
            </a: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2681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6BC9-89CE-767B-47AD-4EDE3043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782E1-557E-0A84-658F-DDC291B2A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50" y="526925"/>
            <a:ext cx="4119183" cy="5727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Fractional Knapsack Problem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3BD875A5-4447-309C-B018-BC9571518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375068"/>
              </p:ext>
            </p:extLst>
          </p:nvPr>
        </p:nvGraphicFramePr>
        <p:xfrm>
          <a:off x="723750" y="1654097"/>
          <a:ext cx="7728856" cy="141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107">
                  <a:extLst>
                    <a:ext uri="{9D8B030D-6E8A-4147-A177-3AD203B41FA5}">
                      <a16:colId xmlns:a16="http://schemas.microsoft.com/office/drawing/2014/main" val="2134403644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246798179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1915149551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671171479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2096976524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754288812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473783056"/>
                    </a:ext>
                  </a:extLst>
                </a:gridCol>
                <a:gridCol w="966107">
                  <a:extLst>
                    <a:ext uri="{9D8B030D-6E8A-4147-A177-3AD203B41FA5}">
                      <a16:colId xmlns:a16="http://schemas.microsoft.com/office/drawing/2014/main" val="3283192888"/>
                    </a:ext>
                  </a:extLst>
                </a:gridCol>
              </a:tblGrid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Product No.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5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835979"/>
                  </a:ext>
                </a:extLst>
              </a:tr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Value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120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88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7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488824"/>
                  </a:ext>
                </a:extLst>
              </a:tr>
              <a:tr h="471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Weight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12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11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10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9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3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40445F"/>
                          </a:solidFill>
                        </a:rPr>
                        <a:t>6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046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9BDB61A-F10B-0DD5-AB65-4619A4EAD382}"/>
              </a:ext>
            </a:extLst>
          </p:cNvPr>
          <p:cNvSpPr/>
          <p:nvPr/>
        </p:nvSpPr>
        <p:spPr>
          <a:xfrm>
            <a:off x="707571" y="4223657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 Size = 40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D7A8F2-73E5-15A9-E5DC-7CD99504BA4F}"/>
              </a:ext>
            </a:extLst>
          </p:cNvPr>
          <p:cNvSpPr/>
          <p:nvPr/>
        </p:nvSpPr>
        <p:spPr>
          <a:xfrm>
            <a:off x="3597729" y="4223657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Profit: 120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FCD77C-318D-1094-96D3-5D29F3C918D4}"/>
              </a:ext>
            </a:extLst>
          </p:cNvPr>
          <p:cNvSpPr/>
          <p:nvPr/>
        </p:nvSpPr>
        <p:spPr>
          <a:xfrm>
            <a:off x="707571" y="4223657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Bag= 40-12= 28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4138D0-B7FA-4F46-FA11-227B85A53767}"/>
              </a:ext>
            </a:extLst>
          </p:cNvPr>
          <p:cNvSpPr/>
          <p:nvPr/>
        </p:nvSpPr>
        <p:spPr>
          <a:xfrm>
            <a:off x="707570" y="4236068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Bag= 28-11 = 17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2923F9-DA18-B7BD-05BC-6EC12DE1892A}"/>
              </a:ext>
            </a:extLst>
          </p:cNvPr>
          <p:cNvSpPr/>
          <p:nvPr/>
        </p:nvSpPr>
        <p:spPr>
          <a:xfrm>
            <a:off x="3597728" y="4236068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Profit: 88+120 = 208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7D4E64-E320-D1BA-EC5A-A1F348AC9F19}"/>
              </a:ext>
            </a:extLst>
          </p:cNvPr>
          <p:cNvSpPr/>
          <p:nvPr/>
        </p:nvSpPr>
        <p:spPr>
          <a:xfrm>
            <a:off x="707569" y="4229863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Bag= 17-10 =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B1723A-F080-2D0B-B9B8-3CD35144EF09}"/>
              </a:ext>
            </a:extLst>
          </p:cNvPr>
          <p:cNvSpPr/>
          <p:nvPr/>
        </p:nvSpPr>
        <p:spPr>
          <a:xfrm>
            <a:off x="3597728" y="4229863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Profit: 208+60 = 268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13825C-BE49-FE73-C9E7-5703F8AC962A}"/>
              </a:ext>
            </a:extLst>
          </p:cNvPr>
          <p:cNvSpPr/>
          <p:nvPr/>
        </p:nvSpPr>
        <p:spPr>
          <a:xfrm>
            <a:off x="707567" y="4236068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arlow Semi Condensed Medium" panose="00000606000000000000" pitchFamily="2" charset="0"/>
              </a:rPr>
              <a:t>Bag/Knapsack = 40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4541F6-CA6D-F4FB-504F-2E82E61609D4}"/>
              </a:ext>
            </a:extLst>
          </p:cNvPr>
          <p:cNvSpPr/>
          <p:nvPr/>
        </p:nvSpPr>
        <p:spPr>
          <a:xfrm>
            <a:off x="3597725" y="4236068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arlow Semi Condensed Medium" panose="00000606000000000000" pitchFamily="2" charset="0"/>
              </a:rPr>
              <a:t>Profit = ?</a:t>
            </a:r>
            <a:endParaRPr lang="en-US" sz="2100" b="1" dirty="0">
              <a:solidFill>
                <a:srgbClr val="92D050"/>
              </a:solidFill>
              <a:latin typeface="Barlow Semi Condensed Medium" panose="000006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510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750" y="526925"/>
            <a:ext cx="4119183" cy="5727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Fractional Knapsack 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3DCFBBCC-3E69-4E59-ABBD-BAB2F78CAE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5755569"/>
                  </p:ext>
                </p:extLst>
              </p:nvPr>
            </p:nvGraphicFramePr>
            <p:xfrm>
              <a:off x="707571" y="1268017"/>
              <a:ext cx="7728856" cy="19739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6107">
                      <a:extLst>
                        <a:ext uri="{9D8B030D-6E8A-4147-A177-3AD203B41FA5}">
                          <a16:colId xmlns:a16="http://schemas.microsoft.com/office/drawing/2014/main" val="213440364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2467981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1915149551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6711714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09697652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754288812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473783056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283192888"/>
                        </a:ext>
                      </a:extLst>
                    </a:gridCol>
                  </a:tblGrid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Product No.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835979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Value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488824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Weight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9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04683"/>
                      </a:ext>
                    </a:extLst>
                  </a:tr>
                  <a:tr h="5587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1" i="1" smtClean="0">
                                        <a:solidFill>
                                          <a:srgbClr val="4044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1" i="1" smtClean="0">
                                        <a:solidFill>
                                          <a:srgbClr val="4044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𝑽𝒂𝒍𝒖𝒆</m:t>
                                    </m:r>
                                  </m:num>
                                  <m:den>
                                    <m:r>
                                      <a:rPr lang="en-US" sz="1100" b="1" i="1" smtClean="0">
                                        <a:solidFill>
                                          <a:srgbClr val="4044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𝑾𝒆𝒊𝒈𝒉𝒕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100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1706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3">
                <a:extLst>
                  <a:ext uri="{FF2B5EF4-FFF2-40B4-BE49-F238E27FC236}">
                    <a16:creationId xmlns:a16="http://schemas.microsoft.com/office/drawing/2014/main" id="{3DCFBBCC-3E69-4E59-ABBD-BAB2F78CAE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5755569"/>
                  </p:ext>
                </p:extLst>
              </p:nvPr>
            </p:nvGraphicFramePr>
            <p:xfrm>
              <a:off x="707571" y="1268017"/>
              <a:ext cx="7728856" cy="19739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6107">
                      <a:extLst>
                        <a:ext uri="{9D8B030D-6E8A-4147-A177-3AD203B41FA5}">
                          <a16:colId xmlns:a16="http://schemas.microsoft.com/office/drawing/2014/main" val="213440364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2467981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1915149551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6711714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09697652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754288812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473783056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283192888"/>
                        </a:ext>
                      </a:extLst>
                    </a:gridCol>
                  </a:tblGrid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Product No.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835979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Value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488824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Weight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9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04683"/>
                      </a:ext>
                    </a:extLst>
                  </a:tr>
                  <a:tr h="5587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629" t="-254348" r="-699371" b="-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1706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3">
                <a:extLst>
                  <a:ext uri="{FF2B5EF4-FFF2-40B4-BE49-F238E27FC236}">
                    <a16:creationId xmlns:a16="http://schemas.microsoft.com/office/drawing/2014/main" id="{4CC97EDF-4946-4D0D-96CA-F769FDCD5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090744"/>
                  </p:ext>
                </p:extLst>
              </p:nvPr>
            </p:nvGraphicFramePr>
            <p:xfrm>
              <a:off x="707567" y="1268017"/>
              <a:ext cx="7728856" cy="25327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6107">
                      <a:extLst>
                        <a:ext uri="{9D8B030D-6E8A-4147-A177-3AD203B41FA5}">
                          <a16:colId xmlns:a16="http://schemas.microsoft.com/office/drawing/2014/main" val="213440364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2467981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1915149551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6711714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09697652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754288812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473783056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283192888"/>
                        </a:ext>
                      </a:extLst>
                    </a:gridCol>
                  </a:tblGrid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Product No.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835979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Value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488824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Weight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9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04683"/>
                      </a:ext>
                    </a:extLst>
                  </a:tr>
                  <a:tr h="55879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100" b="1" i="1" smtClean="0">
                                        <a:solidFill>
                                          <a:srgbClr val="40445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b="1" i="1" smtClean="0">
                                        <a:solidFill>
                                          <a:srgbClr val="4044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𝑽𝒂𝒍𝒖𝒆</m:t>
                                    </m:r>
                                  </m:num>
                                  <m:den>
                                    <m:r>
                                      <a:rPr lang="en-US" sz="1100" b="1" i="1" smtClean="0">
                                        <a:solidFill>
                                          <a:srgbClr val="40445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𝑾𝒆𝒊𝒈𝒉𝒕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100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170698"/>
                      </a:ext>
                    </a:extLst>
                  </a:tr>
                  <a:tr h="558791">
                    <a:tc gridSpan="8"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After sorting by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1100" b="1" i="1" smtClean="0">
                                      <a:solidFill>
                                        <a:srgbClr val="40445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b="1" i="1" smtClean="0">
                                      <a:solidFill>
                                        <a:srgbClr val="4044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𝑽𝒂𝒍𝒖𝒆</m:t>
                                  </m:r>
                                </m:num>
                                <m:den>
                                  <m:r>
                                    <a:rPr lang="en-US" sz="1100" b="1" i="1" smtClean="0">
                                      <a:solidFill>
                                        <a:srgbClr val="40445F"/>
                                      </a:solidFill>
                                      <a:latin typeface="Cambria Math" panose="02040503050406030204" pitchFamily="18" charset="0"/>
                                    </a:rPr>
                                    <m:t>𝑾𝒆𝒊𝒈𝒉𝒕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 in descending order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852124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3">
                <a:extLst>
                  <a:ext uri="{FF2B5EF4-FFF2-40B4-BE49-F238E27FC236}">
                    <a16:creationId xmlns:a16="http://schemas.microsoft.com/office/drawing/2014/main" id="{4CC97EDF-4946-4D0D-96CA-F769FDCD57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090744"/>
                  </p:ext>
                </p:extLst>
              </p:nvPr>
            </p:nvGraphicFramePr>
            <p:xfrm>
              <a:off x="707567" y="1268017"/>
              <a:ext cx="7728856" cy="25327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6107">
                      <a:extLst>
                        <a:ext uri="{9D8B030D-6E8A-4147-A177-3AD203B41FA5}">
                          <a16:colId xmlns:a16="http://schemas.microsoft.com/office/drawing/2014/main" val="213440364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2467981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1915149551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671171479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2096976524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754288812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473783056"/>
                        </a:ext>
                      </a:extLst>
                    </a:gridCol>
                    <a:gridCol w="966107">
                      <a:extLst>
                        <a:ext uri="{9D8B030D-6E8A-4147-A177-3AD203B41FA5}">
                          <a16:colId xmlns:a16="http://schemas.microsoft.com/office/drawing/2014/main" val="3283192888"/>
                        </a:ext>
                      </a:extLst>
                    </a:gridCol>
                  </a:tblGrid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Product No.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835979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Value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7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3488824"/>
                      </a:ext>
                    </a:extLst>
                  </a:tr>
                  <a:tr h="47173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Weight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9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604683"/>
                      </a:ext>
                    </a:extLst>
                  </a:tr>
                  <a:tr h="5587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29" t="-254348" r="-699371" b="-1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8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rgbClr val="40445F"/>
                              </a:solidFill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0170698"/>
                      </a:ext>
                    </a:extLst>
                  </a:tr>
                  <a:tr h="558791">
                    <a:tc gridSpan="8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79" t="-354348" r="-237" b="-217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b="1" dirty="0">
                            <a:solidFill>
                              <a:srgbClr val="40445F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4852124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F99A386-6106-4237-A9E8-7CE83DB72FAC}"/>
              </a:ext>
            </a:extLst>
          </p:cNvPr>
          <p:cNvSpPr/>
          <p:nvPr/>
        </p:nvSpPr>
        <p:spPr>
          <a:xfrm>
            <a:off x="707571" y="4223657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 Size = 40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97D849-C3E1-45E2-96A6-D94A0222F049}"/>
              </a:ext>
            </a:extLst>
          </p:cNvPr>
          <p:cNvSpPr/>
          <p:nvPr/>
        </p:nvSpPr>
        <p:spPr>
          <a:xfrm>
            <a:off x="3597729" y="4223657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Profit: 120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D369EF-D773-4600-A609-BCCEAF5C3988}"/>
              </a:ext>
            </a:extLst>
          </p:cNvPr>
          <p:cNvSpPr/>
          <p:nvPr/>
        </p:nvSpPr>
        <p:spPr>
          <a:xfrm>
            <a:off x="707571" y="4223657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Bag= 40-12= 28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DA23D0-A033-4328-90B2-860EF562DFCE}"/>
              </a:ext>
            </a:extLst>
          </p:cNvPr>
          <p:cNvSpPr/>
          <p:nvPr/>
        </p:nvSpPr>
        <p:spPr>
          <a:xfrm>
            <a:off x="707570" y="4236068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Bag= 28-11 = 17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3D1342-6ABB-4F4F-8F62-29742FA309E5}"/>
              </a:ext>
            </a:extLst>
          </p:cNvPr>
          <p:cNvSpPr/>
          <p:nvPr/>
        </p:nvSpPr>
        <p:spPr>
          <a:xfrm>
            <a:off x="3597728" y="4236068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Profit: 88+120 = 208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F49BDB-91B6-4E3C-B7B4-9808F11B74A7}"/>
              </a:ext>
            </a:extLst>
          </p:cNvPr>
          <p:cNvSpPr/>
          <p:nvPr/>
        </p:nvSpPr>
        <p:spPr>
          <a:xfrm>
            <a:off x="707569" y="4229863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Bag= 17-10 = 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5297BB-478A-458E-A452-A0ED44E20EFA}"/>
              </a:ext>
            </a:extLst>
          </p:cNvPr>
          <p:cNvSpPr/>
          <p:nvPr/>
        </p:nvSpPr>
        <p:spPr>
          <a:xfrm>
            <a:off x="3597728" y="4229863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/>
              <a:t>Profit: 208+60 = 268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EF3E2-8DA1-438F-819F-40B7E7E312C5}"/>
              </a:ext>
            </a:extLst>
          </p:cNvPr>
          <p:cNvSpPr/>
          <p:nvPr/>
        </p:nvSpPr>
        <p:spPr>
          <a:xfrm>
            <a:off x="707567" y="4236068"/>
            <a:ext cx="2362201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arlow Semi Condensed Medium" panose="00000606000000000000" pitchFamily="2" charset="0"/>
              </a:rPr>
              <a:t>Bag= 7-7 = 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2F49A1-F8F1-46D3-ACF0-2AAAA176BA20}"/>
              </a:ext>
            </a:extLst>
          </p:cNvPr>
          <p:cNvSpPr/>
          <p:nvPr/>
        </p:nvSpPr>
        <p:spPr>
          <a:xfrm>
            <a:off x="3597725" y="4236068"/>
            <a:ext cx="4838700" cy="645999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b="1" dirty="0">
                <a:latin typeface="Barlow Semi Condensed Medium" panose="00000606000000000000" pitchFamily="2" charset="0"/>
              </a:rPr>
              <a:t>Profit: 268 + (4*7) = </a:t>
            </a:r>
            <a:r>
              <a:rPr lang="en-US" sz="2100" b="1" dirty="0">
                <a:solidFill>
                  <a:srgbClr val="92D050"/>
                </a:solidFill>
                <a:latin typeface="Barlow Semi Condensed Medium" panose="00000606000000000000" pitchFamily="2" charset="0"/>
              </a:rPr>
              <a:t>296</a:t>
            </a:r>
          </a:p>
        </p:txBody>
      </p:sp>
    </p:spTree>
    <p:extLst>
      <p:ext uri="{BB962C8B-B14F-4D97-AF65-F5344CB8AC3E}">
        <p14:creationId xmlns:p14="http://schemas.microsoft.com/office/powerpoint/2010/main" val="81656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ED5-95FF-4D09-A05C-0E352EE1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Fractional Knapsack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5429A-0545-4E98-A5AA-47A529348C0A}"/>
              </a:ext>
            </a:extLst>
          </p:cNvPr>
          <p:cNvSpPr txBox="1"/>
          <p:nvPr/>
        </p:nvSpPr>
        <p:spPr>
          <a:xfrm>
            <a:off x="723750" y="1417588"/>
            <a:ext cx="70457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While knapsack is not full.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Choose item 𝑖 with maximum 𝑣[𝑖]/𝑤[𝑖] 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If the item fits into the knapsack, take all of it.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Otherwise take so much as to fill the knapsack.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Return total value and amounts taken.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Barlow Semi Condensed Medium" panose="00000606000000000000" pitchFamily="2" charset="0"/>
            </a:endParaRP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Barlow Semi Condensed Medium" panose="00000606000000000000" pitchFamily="2" charset="0"/>
              </a:rPr>
              <a:t>It is to be noted that the list needs to be sorted by 𝑽𝒂𝒍𝒖𝒆/𝑾𝒆𝒊𝒈𝒉𝒕 in descending order before applying fractional knapsack.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C26A1D-B25D-4EE0-B337-BB743AC4D846}"/>
              </a:ext>
            </a:extLst>
          </p:cNvPr>
          <p:cNvSpPr/>
          <p:nvPr/>
        </p:nvSpPr>
        <p:spPr>
          <a:xfrm>
            <a:off x="4757058" y="4354286"/>
            <a:ext cx="3853543" cy="424543"/>
          </a:xfrm>
          <a:prstGeom prst="rect">
            <a:avLst/>
          </a:prstGeom>
          <a:solidFill>
            <a:srgbClr val="40445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Time Complexity: O(</a:t>
            </a:r>
            <a:r>
              <a:rPr lang="en-US" sz="1050" dirty="0" err="1"/>
              <a:t>nlogn</a:t>
            </a:r>
            <a:r>
              <a:rPr lang="en-US" sz="10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1622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E8F8-E580-933B-7E81-40A174E7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49D3-81A5-A75B-9395-11966C6C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59" y="364364"/>
            <a:ext cx="2209102" cy="5727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Pseudocode: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E6B0-0A8E-F7BB-57B9-3171F6CCB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959" y="1274928"/>
            <a:ext cx="6935894" cy="3561661"/>
          </a:xfrm>
        </p:spPr>
        <p:txBody>
          <a:bodyPr anchor="ctr">
            <a:normAutofit fontScale="85000" lnSpcReduction="20000"/>
          </a:bodyPr>
          <a:lstStyle/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Function </a:t>
            </a:r>
            <a:r>
              <a:rPr lang="en-US" sz="1800" dirty="0" err="1">
                <a:latin typeface="Times New Roman"/>
                <a:cs typeface="Times New Roman"/>
              </a:rPr>
              <a:t>FractionalKnapsack</a:t>
            </a:r>
            <a:r>
              <a:rPr lang="en-US" sz="1800" dirty="0">
                <a:latin typeface="Times New Roman"/>
                <a:cs typeface="Times New Roman"/>
              </a:rPr>
              <a:t>(W, weights[], values[], n)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1. For 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 = 0 to n-1: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a. Calculate ratio[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] = values[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] / weights[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]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2. Sort ratio[] in descending order.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3. Initialize </a:t>
            </a:r>
            <a:r>
              <a:rPr lang="en-US" sz="1800" dirty="0" err="1">
                <a:latin typeface="Times New Roman"/>
                <a:cs typeface="Times New Roman"/>
              </a:rPr>
              <a:t>totalValue</a:t>
            </a:r>
            <a:r>
              <a:rPr lang="en-US" sz="1800" dirty="0">
                <a:latin typeface="Times New Roman"/>
                <a:cs typeface="Times New Roman"/>
              </a:rPr>
              <a:t> = 0, </a:t>
            </a:r>
            <a:r>
              <a:rPr lang="en-US" sz="1800" dirty="0" err="1">
                <a:latin typeface="Times New Roman"/>
                <a:cs typeface="Times New Roman"/>
              </a:rPr>
              <a:t>currentWeight</a:t>
            </a:r>
            <a:r>
              <a:rPr lang="en-US" sz="1800" dirty="0">
                <a:latin typeface="Times New Roman"/>
                <a:cs typeface="Times New Roman"/>
              </a:rPr>
              <a:t> = 0.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4. For each item 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 in sorted ratio[]: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a. If </a:t>
            </a:r>
            <a:r>
              <a:rPr lang="en-US" sz="1800" dirty="0" err="1">
                <a:latin typeface="Times New Roman"/>
                <a:cs typeface="Times New Roman"/>
              </a:rPr>
              <a:t>currentWeight</a:t>
            </a:r>
            <a:r>
              <a:rPr lang="en-US" sz="1800" dirty="0">
                <a:latin typeface="Times New Roman"/>
                <a:cs typeface="Times New Roman"/>
              </a:rPr>
              <a:t> + weights[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] &lt;= W: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	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. Add values[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] to </a:t>
            </a:r>
            <a:r>
              <a:rPr lang="en-US" sz="1800" dirty="0" err="1">
                <a:latin typeface="Times New Roman"/>
                <a:cs typeface="Times New Roman"/>
              </a:rPr>
              <a:t>totalValue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	ii. Update </a:t>
            </a:r>
            <a:r>
              <a:rPr lang="en-US" sz="1800" dirty="0" err="1">
                <a:latin typeface="Times New Roman"/>
                <a:cs typeface="Times New Roman"/>
              </a:rPr>
              <a:t>currentWeight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b. Else: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. Take fraction of item: </a:t>
            </a:r>
            <a:r>
              <a:rPr lang="en-US" sz="1800" dirty="0" err="1">
                <a:latin typeface="Times New Roman"/>
                <a:cs typeface="Times New Roman"/>
              </a:rPr>
              <a:t>totalValue</a:t>
            </a:r>
            <a:r>
              <a:rPr lang="en-US" sz="1800" dirty="0">
                <a:latin typeface="Times New Roman"/>
                <a:cs typeface="Times New Roman"/>
              </a:rPr>
              <a:t> += (W - </a:t>
            </a:r>
            <a:r>
              <a:rPr lang="en-US" sz="1800" dirty="0" err="1">
                <a:latin typeface="Times New Roman"/>
                <a:cs typeface="Times New Roman"/>
              </a:rPr>
              <a:t>currentWeight</a:t>
            </a:r>
            <a:r>
              <a:rPr lang="en-US" sz="1800" dirty="0">
                <a:latin typeface="Times New Roman"/>
                <a:cs typeface="Times New Roman"/>
              </a:rPr>
              <a:t>) * ratio[</a:t>
            </a:r>
            <a:r>
              <a:rPr lang="en-US" sz="1800" dirty="0" err="1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]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	ii. Break loop.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5. Return </a:t>
            </a:r>
            <a:r>
              <a:rPr lang="en-US" sz="1800" dirty="0" err="1">
                <a:latin typeface="Times New Roman"/>
                <a:cs typeface="Times New Roman"/>
              </a:rPr>
              <a:t>totalValue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  <a:endParaRPr lang="en-US" sz="18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>
                <a:latin typeface="Times New Roman"/>
                <a:cs typeface="Times New Roman"/>
              </a:rPr>
              <a:t>End </a:t>
            </a:r>
            <a:r>
              <a:rPr lang="en-US" sz="1700" dirty="0">
                <a:latin typeface="Times New Roman"/>
                <a:cs typeface="Times New Roman"/>
              </a:rPr>
              <a:t>Function</a:t>
            </a:r>
            <a:endParaRPr lang="en-US" sz="17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8288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1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C5A90-9FC2-6FBF-1B0B-06FD0BB2CE17}"/>
              </a:ext>
            </a:extLst>
          </p:cNvPr>
          <p:cNvSpPr txBox="1"/>
          <p:nvPr/>
        </p:nvSpPr>
        <p:spPr>
          <a:xfrm>
            <a:off x="6284476" y="191765"/>
            <a:ext cx="2666803" cy="149059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>
                <a:solidFill>
                  <a:schemeClr val="accent1"/>
                </a:solidFill>
              </a:rPr>
              <a:t>Time Complexity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Sorting the items</a:t>
            </a:r>
            <a:r>
              <a:rPr lang="pt-BR" dirty="0"/>
              <a:t>: O(nlog⁡n)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Iterating through items</a:t>
            </a:r>
            <a:r>
              <a:rPr lang="pt-BR" dirty="0"/>
              <a:t>: O(n)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/>
              <a:t>Overall Complexity</a:t>
            </a:r>
            <a:r>
              <a:rPr lang="pt-BR" dirty="0"/>
              <a:t>: O(nlog⁡n)</a:t>
            </a:r>
          </a:p>
        </p:txBody>
      </p:sp>
    </p:spTree>
    <p:extLst>
      <p:ext uri="{BB962C8B-B14F-4D97-AF65-F5344CB8AC3E}">
        <p14:creationId xmlns:p14="http://schemas.microsoft.com/office/powerpoint/2010/main" val="426502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3FFD451C-C804-B93D-6457-C19E7591F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6DED562E-3846-09FE-1BE7-C3077037FED7}"/>
              </a:ext>
            </a:extLst>
          </p:cNvPr>
          <p:cNvSpPr txBox="1">
            <a:spLocks/>
          </p:cNvSpPr>
          <p:nvPr/>
        </p:nvSpPr>
        <p:spPr>
          <a:xfrm>
            <a:off x="809413" y="2032200"/>
            <a:ext cx="7525174" cy="7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3600" dirty="0">
                <a:solidFill>
                  <a:srgbClr val="002060"/>
                </a:solidFill>
              </a:rPr>
              <a:t>An Example</a:t>
            </a:r>
          </a:p>
        </p:txBody>
      </p:sp>
    </p:spTree>
    <p:extLst>
      <p:ext uri="{BB962C8B-B14F-4D97-AF65-F5344CB8AC3E}">
        <p14:creationId xmlns:p14="http://schemas.microsoft.com/office/powerpoint/2010/main" val="385709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707807"/>
            <a:ext cx="7543799" cy="3727885"/>
          </a:xfrm>
        </p:spPr>
        <p:txBody>
          <a:bodyPr anchor="t">
            <a:normAutofit/>
          </a:bodyPr>
          <a:lstStyle/>
          <a:p>
            <a:pPr marL="42291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knapsack is available with a maximum weight capacity of 100 kg. </a:t>
            </a:r>
          </a:p>
          <a:p>
            <a:pPr marL="42291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6 items, each with a given weight and value. </a:t>
            </a:r>
          </a:p>
          <a:p>
            <a:pPr marL="42291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maximize the total value in the knapsack without exceeding its weight capacity.</a:t>
            </a:r>
          </a:p>
          <a:p>
            <a:pPr marL="137160" algn="just">
              <a:lnSpc>
                <a:spcPct val="12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518933"/>
              </p:ext>
            </p:extLst>
          </p:nvPr>
        </p:nvGraphicFramePr>
        <p:xfrm>
          <a:off x="2645549" y="2295604"/>
          <a:ext cx="3966792" cy="2259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2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2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 (kg)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($)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7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21431" marR="21431" marT="14288" marB="14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381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1784755"/>
                  </p:ext>
                </p:extLst>
              </p:nvPr>
            </p:nvGraphicFramePr>
            <p:xfrm>
              <a:off x="3913155" y="453926"/>
              <a:ext cx="5107676" cy="1356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45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93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51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marL="0" indent="0"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5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5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Content Placeholder 1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1784755"/>
                  </p:ext>
                </p:extLst>
              </p:nvPr>
            </p:nvGraphicFramePr>
            <p:xfrm>
              <a:off x="3913155" y="453926"/>
              <a:ext cx="5107676" cy="1356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456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93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3511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29668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5300">
                    <a:tc>
                      <a:txBody>
                        <a:bodyPr/>
                        <a:lstStyle/>
                        <a:p>
                          <a:pPr marL="0" indent="0"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100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68580" marR="68580" marT="34290" marB="3429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8" t="-361224" r="-394706" b="-183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n-US" sz="11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/>
          <p:cNvSpPr txBox="1"/>
          <p:nvPr/>
        </p:nvSpPr>
        <p:spPr>
          <a:xfrm>
            <a:off x="479394" y="800477"/>
            <a:ext cx="3302000" cy="586892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to n-1: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Calculate ratio[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values[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/ weights[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737" y="2304452"/>
            <a:ext cx="3302000" cy="3283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ratio[] in descending order.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0292663"/>
                  </p:ext>
                </p:extLst>
              </p:nvPr>
            </p:nvGraphicFramePr>
            <p:xfrm>
              <a:off x="3886540" y="2433569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70292663"/>
                  </p:ext>
                </p:extLst>
              </p:nvPr>
            </p:nvGraphicFramePr>
            <p:xfrm>
              <a:off x="3886540" y="2433569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85" t="-310870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/>
          <p:cNvSpPr txBox="1"/>
          <p:nvPr/>
        </p:nvSpPr>
        <p:spPr>
          <a:xfrm>
            <a:off x="479394" y="3926874"/>
            <a:ext cx="3407146" cy="3283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8932" y="3926874"/>
            <a:ext cx="2538484" cy="4154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en-US" sz="1050" b="1"/>
          </a:p>
        </p:txBody>
      </p:sp>
    </p:spTree>
    <p:extLst>
      <p:ext uri="{BB962C8B-B14F-4D97-AF65-F5344CB8AC3E}">
        <p14:creationId xmlns:p14="http://schemas.microsoft.com/office/powerpoint/2010/main" val="314763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58404" y="2389675"/>
            <a:ext cx="3019568" cy="206736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8690" y="296563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en-US" sz="10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57642689"/>
                  </p:ext>
                </p:extLst>
              </p:nvPr>
            </p:nvGraphicFramePr>
            <p:xfrm>
              <a:off x="2441079" y="677574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057642689"/>
                  </p:ext>
                </p:extLst>
              </p:nvPr>
            </p:nvGraphicFramePr>
            <p:xfrm>
              <a:off x="2441079" y="677574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9177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2271" y="2409943"/>
            <a:ext cx="3019568" cy="2067361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2237" y="298264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en-US" sz="10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49459511"/>
                  </p:ext>
                </p:extLst>
              </p:nvPr>
            </p:nvGraphicFramePr>
            <p:xfrm>
              <a:off x="2301239" y="708646"/>
              <a:ext cx="5034921" cy="13011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42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84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9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13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1131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1131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1131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949459511"/>
                  </p:ext>
                </p:extLst>
              </p:nvPr>
            </p:nvGraphicFramePr>
            <p:xfrm>
              <a:off x="2301239" y="708646"/>
              <a:ext cx="5034921" cy="130111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642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4843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369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35136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1131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1131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1131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52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71" t="-189333" r="-373714" b="-6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/>
                              <a:cs typeface="Times New Roman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29698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400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30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42193692"/>
                  </p:ext>
                </p:extLst>
              </p:nvPr>
            </p:nvGraphicFramePr>
            <p:xfrm>
              <a:off x="2278520" y="869527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442193692"/>
                  </p:ext>
                </p:extLst>
              </p:nvPr>
            </p:nvGraphicFramePr>
            <p:xfrm>
              <a:off x="2278520" y="869527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737" b="-17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2759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400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30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19218671"/>
                  </p:ext>
                </p:extLst>
              </p:nvPr>
            </p:nvGraphicFramePr>
            <p:xfrm>
              <a:off x="2298839" y="801794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519218671"/>
                  </p:ext>
                </p:extLst>
              </p:nvPr>
            </p:nvGraphicFramePr>
            <p:xfrm>
              <a:off x="2298839" y="801794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0993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67287679"/>
                  </p:ext>
                </p:extLst>
              </p:nvPr>
            </p:nvGraphicFramePr>
            <p:xfrm>
              <a:off x="2348095" y="835660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767287679"/>
                  </p:ext>
                </p:extLst>
              </p:nvPr>
            </p:nvGraphicFramePr>
            <p:xfrm>
              <a:off x="2348095" y="835660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3043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0683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80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99689519"/>
                  </p:ext>
                </p:extLst>
              </p:nvPr>
            </p:nvGraphicFramePr>
            <p:xfrm>
              <a:off x="2348095" y="774701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599689519"/>
                  </p:ext>
                </p:extLst>
              </p:nvPr>
            </p:nvGraphicFramePr>
            <p:xfrm>
              <a:off x="2348095" y="774701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3043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10335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990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9099421"/>
                  </p:ext>
                </p:extLst>
              </p:nvPr>
            </p:nvGraphicFramePr>
            <p:xfrm>
              <a:off x="2298839" y="842434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999099421"/>
                  </p:ext>
                </p:extLst>
              </p:nvPr>
            </p:nvGraphicFramePr>
            <p:xfrm>
              <a:off x="2298839" y="842434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46450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If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990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79713640"/>
                  </p:ext>
                </p:extLst>
              </p:nvPr>
            </p:nvGraphicFramePr>
            <p:xfrm>
              <a:off x="2348095" y="889848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479713640"/>
                  </p:ext>
                </p:extLst>
              </p:nvPr>
            </p:nvGraphicFramePr>
            <p:xfrm>
              <a:off x="2348095" y="889848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152" b="-176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29095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4857" y="2558956"/>
            <a:ext cx="3019568" cy="1875898"/>
          </a:xfrm>
          <a:prstGeom prst="rect">
            <a:avLst/>
          </a:prstGeom>
          <a:solidFill>
            <a:srgbClr val="F9FBFE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item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sorted ratio[]: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a. If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weights[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&lt;= W: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Add values[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to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ii. Update </a:t>
            </a:r>
            <a:r>
              <a:rPr lang="en-US"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b. Else: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0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Take fraction of item: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+= (W - </a:t>
            </a:r>
            <a:r>
              <a:rPr 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* ratio[</a:t>
            </a:r>
            <a:r>
              <a:rPr 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ii. Break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3144" y="334840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1075.7</a:t>
            </a:r>
          </a:p>
          <a:p>
            <a:r>
              <a:rPr lang="en-US" sz="10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en-US" sz="105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2772819"/>
                  </p:ext>
                </p:extLst>
              </p:nvPr>
            </p:nvGraphicFramePr>
            <p:xfrm>
              <a:off x="2348095" y="788248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7813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82772819"/>
                  </p:ext>
                </p:extLst>
              </p:nvPr>
            </p:nvGraphicFramePr>
            <p:xfrm>
              <a:off x="2348095" y="788248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826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75565" y="3199996"/>
            <a:ext cx="3019568" cy="269304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marL="40481">
              <a:lnSpc>
                <a:spcPct val="120000"/>
              </a:lnSpc>
            </a:pPr>
            <a:r>
              <a:rPr lang="en-US" sz="105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05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55515" y="3425672"/>
            <a:ext cx="2538484" cy="5770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W = 100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1075.7</a:t>
            </a:r>
          </a:p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currentWeight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90</a:t>
            </a:r>
            <a:endParaRPr lang="en-US" sz="1050" b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84125619"/>
                  </p:ext>
                </p:extLst>
              </p:nvPr>
            </p:nvGraphicFramePr>
            <p:xfrm>
              <a:off x="2319159" y="1153948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032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9FB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9FB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type m:val="lin"/>
                                    <m:ctrlPr>
                                      <a:rPr lang="en-US" sz="1400" b="1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𝒗</m:t>
                                        </m:r>
                                      </m:e>
                                      <m:sub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400" b="1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𝒘</m:t>
                                        </m:r>
                                      </m:e>
                                      <m:sub>
                                        <m:r>
                                          <a:rPr lang="en-US" sz="1400" b="1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US" sz="1100" b="1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Content Placeholder 1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184125619"/>
                  </p:ext>
                </p:extLst>
              </p:nvPr>
            </p:nvGraphicFramePr>
            <p:xfrm>
              <a:off x="2319159" y="1153948"/>
              <a:ext cx="5134291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99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670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9338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73347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819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Item</a:t>
                          </a: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Weight (kg)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25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 ($)</a:t>
                          </a:r>
                          <a:endParaRPr lang="en-US" sz="11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9FB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9FB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819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85" t="-310870" r="-394152" b="-173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13.33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92D05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8.57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CCFF33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ctr"/>
                          <a:r>
                            <a:rPr lang="en-US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8.00</a:t>
                          </a:r>
                        </a:p>
                      </a:txBody>
                      <a:tcPr marL="21431" marR="21431" marT="14288" marB="14288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/>
          <p:cNvSpPr txBox="1"/>
          <p:nvPr/>
        </p:nvSpPr>
        <p:spPr>
          <a:xfrm>
            <a:off x="2185349" y="3748837"/>
            <a:ext cx="2098343" cy="253916"/>
          </a:xfrm>
          <a:prstGeom prst="rect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totalValue</a:t>
            </a:r>
            <a:r>
              <a:rPr lang="en-US" sz="1050" b="1">
                <a:latin typeface="Times New Roman" panose="02020603050405020304" pitchFamily="18" charset="0"/>
                <a:cs typeface="Times New Roman" panose="02020603050405020304" pitchFamily="18" charset="0"/>
              </a:rPr>
              <a:t> = 1075.7</a:t>
            </a:r>
          </a:p>
        </p:txBody>
      </p:sp>
    </p:spTree>
    <p:extLst>
      <p:ext uri="{BB962C8B-B14F-4D97-AF65-F5344CB8AC3E}">
        <p14:creationId xmlns:p14="http://schemas.microsoft.com/office/powerpoint/2010/main" val="151587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844" y="1314027"/>
            <a:ext cx="8264313" cy="3228429"/>
          </a:xfrm>
        </p:spPr>
        <p:txBody>
          <a:bodyPr anchor="ctr">
            <a:noAutofit/>
          </a:bodyPr>
          <a:lstStyle/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Resource Allocation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Optimizing project selection, investment planning.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Cargo Loading &amp; Logistics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Maximizing value while staying within weight limits in transport.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Manufacturing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– Reducing waste in material cutting (wood, textiles, metals).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CPU Scheduling &amp; Memory Management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Efficient job scheduling in operating systems.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Financial Portfolio Optimization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Selecting the best assets under a budget.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Network Bandwidth Allocation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Distributing bandwidth efficiently in telecommunications.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Cryptography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– Used in encryption algorithms (e.g., Merkle–Hellman Knapsack Cryptosystem).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Marketing &amp; Ads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Selecting cost-effective ads under a budget constraint.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Robotics &amp; AI 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– Optimizing object carrying and path planning.</a:t>
            </a:r>
          </a:p>
          <a:p>
            <a:pPr indent="-205740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Space Exploration</a:t>
            </a:r>
            <a:r>
              <a:rPr lang="en-US" sz="1600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– Selecting scientific instruments for space missions with weight limits.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00100" y="342316"/>
            <a:ext cx="7543800" cy="61780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  <a:latin typeface="Fjalla One" panose="02000506040000020004" pitchFamily="2" charset="0"/>
                <a:cs typeface="Times New Roman" panose="02020603050405020304" pitchFamily="18" charset="0"/>
              </a:rPr>
              <a:t>Applications</a:t>
            </a:r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942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C66473EF-10C6-B8CB-8D2A-F2B2F4555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A95C08DC-8A16-86F9-D441-23E0B55068C8}"/>
              </a:ext>
            </a:extLst>
          </p:cNvPr>
          <p:cNvSpPr txBox="1">
            <a:spLocks/>
          </p:cNvSpPr>
          <p:nvPr/>
        </p:nvSpPr>
        <p:spPr>
          <a:xfrm>
            <a:off x="667174" y="1799790"/>
            <a:ext cx="7525174" cy="7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Components of Greedy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8655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1194-3305-33F7-FBB5-01FDFB33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2F8E6-83E0-550E-FABD-68A652CFC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41" y="889652"/>
            <a:ext cx="8149317" cy="2642289"/>
          </a:xfrm>
        </p:spPr>
        <p:txBody>
          <a:bodyPr anchor="ctr"/>
          <a:lstStyle/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Candidate set: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 solution that is created from the set is known as a candidate set.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endParaRPr lang="en-US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Selection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This function is used to choose the candidate or subset which can be added in the solution.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endParaRPr lang="en-US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Feasibility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 function that is used to determine whether the candidate or subset can be used to contribute to the solution or not.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endParaRPr lang="en-US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Objective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 function is used to assign the value to the solution or the partial solution.</a:t>
            </a:r>
          </a:p>
          <a:p>
            <a:pPr marL="11430" indent="-285750" algn="just">
              <a:buFont typeface="Arial" panose="020B0604020202020204" pitchFamily="34" charset="0"/>
              <a:buChar char="•"/>
            </a:pPr>
            <a:endParaRPr lang="en-US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marL="11430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Solution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This function is used to estimate whether the complete function has been reached or not.</a:t>
            </a:r>
          </a:p>
        </p:txBody>
      </p:sp>
    </p:spTree>
    <p:extLst>
      <p:ext uri="{BB962C8B-B14F-4D97-AF65-F5344CB8AC3E}">
        <p14:creationId xmlns:p14="http://schemas.microsoft.com/office/powerpoint/2010/main" val="3736154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>
          <a:extLst>
            <a:ext uri="{FF2B5EF4-FFF2-40B4-BE49-F238E27FC236}">
              <a16:creationId xmlns:a16="http://schemas.microsoft.com/office/drawing/2014/main" id="{A5B78554-ABB9-2718-1D09-621BE1909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64D7A9F4-5273-B8E9-1797-208686BF5718}"/>
              </a:ext>
            </a:extLst>
          </p:cNvPr>
          <p:cNvSpPr txBox="1">
            <a:spLocks/>
          </p:cNvSpPr>
          <p:nvPr/>
        </p:nvSpPr>
        <p:spPr>
          <a:xfrm>
            <a:off x="667174" y="1799790"/>
            <a:ext cx="7525174" cy="77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3600" b="1" dirty="0">
                <a:solidFill>
                  <a:srgbClr val="002060"/>
                </a:solidFill>
              </a:rPr>
              <a:t>An Example</a:t>
            </a:r>
            <a:endParaRPr lang="en-US" sz="3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115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E48A1-95E3-5739-94AB-06E10D2D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F8EE60-42F7-9356-4B40-C3024C0B0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B3BC21-2C74-EFD2-41E8-79E0A64D8AAA}"/>
              </a:ext>
            </a:extLst>
          </p:cNvPr>
          <p:cNvSpPr txBox="1">
            <a:spLocks/>
          </p:cNvSpPr>
          <p:nvPr/>
        </p:nvSpPr>
        <p:spPr>
          <a:xfrm>
            <a:off x="392355" y="1459886"/>
            <a:ext cx="8650044" cy="3071669"/>
          </a:xfrm>
        </p:spPr>
        <p:txBody>
          <a:bodyPr anchor="ctr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Candidate set: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The set of all items 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{(w[</a:t>
            </a:r>
            <a:r>
              <a:rPr lang="en-US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], v[</a:t>
            </a:r>
            <a:r>
              <a:rPr lang="en-US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])}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that can be put into the knapsack.</a:t>
            </a:r>
          </a:p>
          <a:p>
            <a:pPr algn="just"/>
            <a:r>
              <a:rPr lang="en-US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Selection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Select the item with the highest value-to-weight ratio 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(v[</a:t>
            </a:r>
            <a:r>
              <a:rPr lang="en-US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 / w[</a:t>
            </a:r>
            <a:r>
              <a:rPr lang="en-US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]).</a:t>
            </a:r>
          </a:p>
          <a:p>
            <a:pPr indent="-274320" algn="just">
              <a:buFont typeface="Arial" panose="020B0604020202020204" pitchFamily="34" charset="0"/>
              <a:buChar char="•"/>
            </a:pPr>
            <a:endParaRPr lang="en-US" i="1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Feasibility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Before adding an item, check if adding the whole item exceeds the weight capacity W:</a:t>
            </a:r>
          </a:p>
          <a:p>
            <a:pPr lvl="8" indent="-274320" algn="just">
              <a:buFont typeface="Arial" panose="020B0604020202020204" pitchFamily="34" charset="0"/>
              <a:buChar char="•"/>
            </a:pP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If yes, take only a fraction of it.</a:t>
            </a:r>
          </a:p>
          <a:p>
            <a:pPr lvl="8" indent="-274320" algn="just">
              <a:buFont typeface="Arial" panose="020B0604020202020204" pitchFamily="34" charset="0"/>
              <a:buChar char="•"/>
            </a:pP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If no, add the whole item.</a:t>
            </a:r>
          </a:p>
          <a:p>
            <a:pPr lvl="8" indent="-274320" algn="just">
              <a:buFont typeface="Arial" panose="020B0604020202020204" pitchFamily="34" charset="0"/>
              <a:buChar char="•"/>
            </a:pPr>
            <a:endParaRPr lang="en-US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Objective function: </a:t>
            </a:r>
          </a:p>
          <a:p>
            <a:pPr lvl="7" indent="-274320" algn="just">
              <a:buFont typeface="Arial" panose="020B0604020202020204" pitchFamily="34" charset="0"/>
              <a:buChar char="•"/>
            </a:pP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Keep track of the total value accumulated in the knapsack.</a:t>
            </a:r>
          </a:p>
          <a:p>
            <a:pPr lvl="7" indent="-274320" algn="just">
              <a:buFont typeface="Arial" panose="020B0604020202020204" pitchFamily="34" charset="0"/>
              <a:buChar char="•"/>
            </a:pP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Stop when the knapsack is full (or all items are considered).</a:t>
            </a:r>
          </a:p>
          <a:p>
            <a:pPr lvl="7" indent="-274320" algn="just">
              <a:buFont typeface="Arial" panose="020B0604020202020204" pitchFamily="34" charset="0"/>
              <a:buChar char="•"/>
            </a:pPr>
            <a:endParaRPr lang="en-US" dirty="0">
              <a:latin typeface="Barlow Semi Condensed Medium" panose="00000606000000000000" pitchFamily="2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accent1"/>
                </a:solidFill>
                <a:latin typeface="Barlow Semi Condensed Medium" panose="00000606000000000000" pitchFamily="2" charset="0"/>
                <a:cs typeface="Times New Roman" panose="02020603050405020304" pitchFamily="18" charset="0"/>
              </a:rPr>
              <a:t>Solution function: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The problem can be broken down into smaller subproblems:</a:t>
            </a:r>
          </a:p>
          <a:p>
            <a:pPr lvl="7" indent="-274320" algn="just">
              <a:buFont typeface="Arial" panose="020B0604020202020204" pitchFamily="34" charset="0"/>
              <a:buChar char="•"/>
            </a:pP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If we remove the most valuable item, the remaining problem is the same as before but with a smaller capacity.</a:t>
            </a:r>
          </a:p>
          <a:p>
            <a:pPr lvl="7" indent="-274320" algn="just">
              <a:buFont typeface="Arial" panose="020B0604020202020204" pitchFamily="34" charset="0"/>
              <a:buChar char="•"/>
            </a:pP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The optimal solution to the subproblem contributes to the optimal solution of the main problem.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BFDDAD-370F-3512-567A-419DDDB211FF}"/>
              </a:ext>
            </a:extLst>
          </p:cNvPr>
          <p:cNvSpPr txBox="1"/>
          <p:nvPr/>
        </p:nvSpPr>
        <p:spPr>
          <a:xfrm>
            <a:off x="392355" y="429065"/>
            <a:ext cx="83592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Problem Statement (Fractional Knapsack) Given </a:t>
            </a:r>
            <a:r>
              <a:rPr lang="en-US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items, each with a weight </a:t>
            </a:r>
            <a:r>
              <a:rPr lang="en-US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w[</a:t>
            </a:r>
            <a:r>
              <a:rPr lang="en-US" b="1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 and a value </a:t>
            </a:r>
            <a:r>
              <a:rPr lang="en-US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v[</a:t>
            </a:r>
            <a:r>
              <a:rPr lang="en-US" b="1" i="1" dirty="0" err="1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i</a:t>
            </a:r>
            <a:r>
              <a:rPr lang="en-US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]</a:t>
            </a:r>
            <a:r>
              <a:rPr lang="en-US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and a knapsack that can carry a maximum weight </a:t>
            </a:r>
            <a:r>
              <a:rPr lang="en-US" b="1" i="1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W</a:t>
            </a:r>
            <a:r>
              <a:rPr lang="en-US" dirty="0">
                <a:latin typeface="Barlow Semi Condensed Medium" panose="00000606000000000000" pitchFamily="2" charset="0"/>
                <a:cs typeface="Times New Roman" panose="02020603050405020304" pitchFamily="18" charset="0"/>
              </a:rPr>
              <a:t>, determine the maximum value that can be obtained by putting items (or fractions of them) into the knapsack.</a:t>
            </a:r>
          </a:p>
        </p:txBody>
      </p:sp>
    </p:spTree>
    <p:extLst>
      <p:ext uri="{BB962C8B-B14F-4D97-AF65-F5344CB8AC3E}">
        <p14:creationId xmlns:p14="http://schemas.microsoft.com/office/powerpoint/2010/main" val="420486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3605;p63">
            <a:extLst>
              <a:ext uri="{FF2B5EF4-FFF2-40B4-BE49-F238E27FC236}">
                <a16:creationId xmlns:a16="http://schemas.microsoft.com/office/drawing/2014/main" id="{EC6BE6DE-28FD-A57F-3701-F48361F6CB37}"/>
              </a:ext>
            </a:extLst>
          </p:cNvPr>
          <p:cNvSpPr txBox="1">
            <a:spLocks/>
          </p:cNvSpPr>
          <p:nvPr/>
        </p:nvSpPr>
        <p:spPr>
          <a:xfrm>
            <a:off x="2103150" y="2032200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28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Fjalla One"/>
              <a:buNone/>
              <a:defRPr sz="4200" b="0" i="0" u="none" strike="noStrike" cap="non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pPr algn="ctr"/>
            <a:r>
              <a:rPr lang="en-US" sz="7200" dirty="0">
                <a:solidFill>
                  <a:srgbClr val="00206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98190315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82DF34261CC124397F3D91909AA7EE8" ma:contentTypeVersion="3" ma:contentTypeDescription="Create a new document." ma:contentTypeScope="" ma:versionID="aae8c34e91a1797a299ef4ff2d86b071">
  <xsd:schema xmlns:xsd="http://www.w3.org/2001/XMLSchema" xmlns:xs="http://www.w3.org/2001/XMLSchema" xmlns:p="http://schemas.microsoft.com/office/2006/metadata/properties" xmlns:ns2="5e71315f-5b78-462f-9850-4380c4e47649" targetNamespace="http://schemas.microsoft.com/office/2006/metadata/properties" ma:root="true" ma:fieldsID="4b4576f0867e75ef051d607cd6875836" ns2:_="">
    <xsd:import namespace="5e71315f-5b78-462f-9850-4380c4e476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71315f-5b78-462f-9850-4380c4e476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F8CB40-3637-4513-8C06-398B3C0406A0}"/>
</file>

<file path=customXml/itemProps2.xml><?xml version="1.0" encoding="utf-8"?>
<ds:datastoreItem xmlns:ds="http://schemas.openxmlformats.org/officeDocument/2006/customXml" ds:itemID="{8444289E-2546-43F9-9EAB-BB0847D011D6}"/>
</file>

<file path=customXml/itemProps3.xml><?xml version="1.0" encoding="utf-8"?>
<ds:datastoreItem xmlns:ds="http://schemas.openxmlformats.org/officeDocument/2006/customXml" ds:itemID="{CA1FF7FF-B3B2-48F3-BD60-87FDF5AE4C7C}"/>
</file>

<file path=docProps/app.xml><?xml version="1.0" encoding="utf-8"?>
<Properties xmlns="http://schemas.openxmlformats.org/officeDocument/2006/extended-properties" xmlns:vt="http://schemas.openxmlformats.org/officeDocument/2006/docPropsVTypes">
  <TotalTime>24116</TotalTime>
  <Words>2214</Words>
  <Application>Microsoft Office PowerPoint</Application>
  <PresentationFormat>On-screen Show (16:9)</PresentationFormat>
  <Paragraphs>665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Barlow Semi Condensed Medium</vt:lpstr>
      <vt:lpstr>Times New Roman</vt:lpstr>
      <vt:lpstr>Arial</vt:lpstr>
      <vt:lpstr>Fjalla One</vt:lpstr>
      <vt:lpstr>Barlow Semi Condensed</vt:lpstr>
      <vt:lpstr>Cambria Math</vt:lpstr>
      <vt:lpstr>Wingdings</vt:lpstr>
      <vt:lpstr>Technology Consulting by Slidesgo</vt:lpstr>
      <vt:lpstr>Greedy Algorithms: Fractional Knapsack Problem</vt:lpstr>
      <vt:lpstr>PowerPoint Presentation</vt:lpstr>
      <vt:lpstr>Fractional Knapsack Problem</vt:lpstr>
      <vt:lpstr>Fractional Knapsack Problem</vt:lpstr>
      <vt:lpstr>Fractional Knapsack Problem</vt:lpstr>
      <vt:lpstr>Fractional Knapsack Problem</vt:lpstr>
      <vt:lpstr>Pseudocode: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Captioning(Bangla)  using deep learning methods</dc:title>
  <dc:creator>Lenovo</dc:creator>
  <cp:lastModifiedBy>Sumaiya Tasnim</cp:lastModifiedBy>
  <cp:revision>409</cp:revision>
  <dcterms:modified xsi:type="dcterms:W3CDTF">2025-05-21T05:03:20Z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0x010100E82DF34261CC124397F3D91909AA7EE8</vt:lpwstr>
  </property>
</Properties>
</file>