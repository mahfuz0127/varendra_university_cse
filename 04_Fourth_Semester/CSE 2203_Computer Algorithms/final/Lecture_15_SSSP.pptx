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306" r:id="rId6"/>
    <p:sldId id="337" r:id="rId7"/>
    <p:sldId id="269" r:id="rId8"/>
    <p:sldId id="327" r:id="rId9"/>
    <p:sldId id="307" r:id="rId10"/>
    <p:sldId id="308" r:id="rId11"/>
    <p:sldId id="309" r:id="rId12"/>
    <p:sldId id="317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31" r:id="rId30"/>
    <p:sldId id="332" r:id="rId31"/>
    <p:sldId id="333" r:id="rId32"/>
    <p:sldId id="334" r:id="rId33"/>
    <p:sldId id="335" r:id="rId34"/>
    <p:sldId id="336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26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CCFF66"/>
    <a:srgbClr val="CCFF33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E8AA18-40A6-4917-8706-E632EA601EE2}" v="1" dt="2025-05-26T06:05:39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MOMINUR RAHMAN" userId="S::232311060@vu.edu.bd::f48e85b2-b50c-464d-856e-a805cbc74056" providerId="AD" clId="Web-{CBE8AA18-40A6-4917-8706-E632EA601EE2}"/>
    <pc:docChg chg="modSld">
      <pc:chgData name="MD. MOMINUR RAHMAN" userId="S::232311060@vu.edu.bd::f48e85b2-b50c-464d-856e-a805cbc74056" providerId="AD" clId="Web-{CBE8AA18-40A6-4917-8706-E632EA601EE2}" dt="2025-05-26T06:05:39.752" v="0" actId="1076"/>
      <pc:docMkLst>
        <pc:docMk/>
      </pc:docMkLst>
      <pc:sldChg chg="modSp">
        <pc:chgData name="MD. MOMINUR RAHMAN" userId="S::232311060@vu.edu.bd::f48e85b2-b50c-464d-856e-a805cbc74056" providerId="AD" clId="Web-{CBE8AA18-40A6-4917-8706-E632EA601EE2}" dt="2025-05-26T06:05:39.752" v="0" actId="1076"/>
        <pc:sldMkLst>
          <pc:docMk/>
          <pc:sldMk cId="848549486" sldId="333"/>
        </pc:sldMkLst>
        <pc:picChg chg="mod">
          <ac:chgData name="MD. MOMINUR RAHMAN" userId="S::232311060@vu.edu.bd::f48e85b2-b50c-464d-856e-a805cbc74056" providerId="AD" clId="Web-{CBE8AA18-40A6-4917-8706-E632EA601EE2}" dt="2025-05-26T06:05:39.752" v="0" actId="1076"/>
          <ac:picMkLst>
            <pc:docMk/>
            <pc:sldMk cId="848549486" sldId="333"/>
            <ac:picMk id="6" creationId="{00000000-0000-0000-0000-000000000000}"/>
          </ac:picMkLst>
        </pc:picChg>
        <pc:cxnChg chg="mod">
          <ac:chgData name="MD. MOMINUR RAHMAN" userId="S::232311060@vu.edu.bd::f48e85b2-b50c-464d-856e-a805cbc74056" providerId="AD" clId="Web-{CBE8AA18-40A6-4917-8706-E632EA601EE2}" dt="2025-05-26T06:05:39.752" v="0" actId="1076"/>
          <ac:cxnSpMkLst>
            <pc:docMk/>
            <pc:sldMk cId="848549486" sldId="333"/>
            <ac:cxnSpMk id="21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81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8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1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2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7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7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6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4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E5508E-E1D3-475E-8780-56C170824F1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4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258568"/>
          </a:xfrm>
        </p:spPr>
        <p:txBody>
          <a:bodyPr anchor="ctr"/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Single-Source Shortest Path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125" y="3265715"/>
            <a:ext cx="9914710" cy="283463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Muktar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Hossain</a:t>
            </a: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Varendra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</a:p>
        </p:txBody>
      </p:sp>
    </p:spTree>
    <p:extLst>
      <p:ext uri="{BB962C8B-B14F-4D97-AF65-F5344CB8AC3E}">
        <p14:creationId xmlns:p14="http://schemas.microsoft.com/office/powerpoint/2010/main" val="199199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Single-Source Shortest Path Problem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5333" y="1789069"/>
            <a:ext cx="9970347" cy="67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Single-Source Shortest Path Problem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problem of finding shortest paths from a source vertex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 other vertices in the graph.</a:t>
            </a:r>
          </a:p>
        </p:txBody>
      </p:sp>
      <p:pic>
        <p:nvPicPr>
          <p:cNvPr id="1026" name="Picture 2" descr="https://sites.radford.edu/~nokie/classes/360/Diagrams/ShortestPath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768" y="3154997"/>
            <a:ext cx="2533650" cy="18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ites.radford.edu/~nokie/classes/360/Diagrams/ShortestPath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637" y="3154997"/>
            <a:ext cx="2533650" cy="18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65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5333" y="1742887"/>
            <a:ext cx="997034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edge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weight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relaxation checks if the known shortest path to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improved by going through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876" y="2503593"/>
            <a:ext cx="2720576" cy="125740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891" y="3875377"/>
            <a:ext cx="6585527" cy="24053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08170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1306" y="2377368"/>
            <a:ext cx="99703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is a solution to the single-source shortest path problem in graph theory.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directed and undirected graphs. However, all edges must have nonnegative weights.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Weighted graph G={E,V} and source vertex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v∈V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that all edge weights are nonnegative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Lengths of shortest paths (or the shortest paths themselves) from a given source vertex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v∈V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all other vertices</a:t>
            </a:r>
          </a:p>
        </p:txBody>
      </p:sp>
    </p:spTree>
    <p:extLst>
      <p:ext uri="{BB962C8B-B14F-4D97-AF65-F5344CB8AC3E}">
        <p14:creationId xmlns:p14="http://schemas.microsoft.com/office/powerpoint/2010/main" val="203675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3018" y="1773528"/>
            <a:ext cx="998266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Routing Protocols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 algn="just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sz="1700" b="1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OSPF (Open Shortest Path First)</a:t>
            </a: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700" b="1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IS-IS</a:t>
            </a: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routing algorithms to compute the shortest path tree for routing packets.</a:t>
            </a:r>
          </a:p>
          <a:p>
            <a:pPr algn="just">
              <a:buFont typeface="+mj-lt"/>
              <a:buAutoNum type="arabicPeriod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and GPS Systems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 algn="just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Calculating the quickest route between two locations using road network data.</a:t>
            </a:r>
          </a:p>
          <a:p>
            <a:pPr algn="just">
              <a:buFont typeface="+mj-lt"/>
              <a:buAutoNum type="arabicPeriod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 algn="just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Pathfinding for characters or AI agents (though A* is often preferred for efficiency in certain cases).</a:t>
            </a:r>
          </a:p>
          <a:p>
            <a:pPr algn="just">
              <a:buFont typeface="+mj-lt"/>
              <a:buAutoNum type="arabicPeriod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 algn="just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data flow through networks by finding the least-cost path.</a:t>
            </a:r>
          </a:p>
          <a:p>
            <a:pPr algn="just">
              <a:buFont typeface="+mj-lt"/>
              <a:buAutoNum type="arabicPeriod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 algn="just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sz="1700" b="1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data-flow analysis</a:t>
            </a: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700" b="1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</a:t>
            </a: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the shortest distance in control flow graphs.</a:t>
            </a:r>
          </a:p>
          <a:p>
            <a:pPr algn="just">
              <a:buFont typeface="+mj-lt"/>
              <a:buAutoNum type="arabicPeriod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Motion Planning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 algn="just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robotics, Dijkstra helps robots find the shortest path in a known environment.</a:t>
            </a:r>
          </a:p>
          <a:p>
            <a:pPr algn="just">
              <a:buFont typeface="+mj-lt"/>
              <a:buAutoNum type="arabicPeriod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Resolution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 algn="just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systems like </a:t>
            </a:r>
            <a:r>
              <a:rPr lang="en-US" sz="1700" b="1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managers</a:t>
            </a:r>
            <a:r>
              <a:rPr lang="en-US" sz="17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resolve dependency chains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70901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5333" y="1779833"/>
            <a:ext cx="9970347" cy="120032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distances from the source to all nodes as infinity, except the source (0).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priority queue (min-heap) to repeatedly select the node with the smallest tentative distance.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the distances to neighboring nodes if a shorter path is found.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all nodes are visited or the destination is reached.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5019" y="3537433"/>
            <a:ext cx="4685195" cy="18158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Dijkstra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(Graph, source):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create a priority queue Q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each vertex v in Graph: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[v] := infinity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[v] := undefined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add v to Q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[source] :=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0214" y="3156560"/>
            <a:ext cx="6354106" cy="25776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while Q is not empty: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u := vertex in Q with smallest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[u]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remove u from Q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for each neighbor v of u: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alt :=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[u] + length(u, v)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if alt &lt;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[v]: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[v] := alt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[v] := u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05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uiExpand="1" build="p" animBg="1"/>
      <p:bldP spid="2" grpId="0" uiExpand="1" build="p" animBg="1"/>
      <p:bldP spid="9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Initialization</a:t>
            </a:r>
          </a:p>
        </p:txBody>
      </p:sp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4895850" y="226695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A</a:t>
            </a:r>
            <a:endParaRPr lang="en-US" altLang="en-US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6953250" y="455295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4895850" y="455295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9" name="AutoShape 6"/>
          <p:cNvCxnSpPr>
            <a:cxnSpLocks noChangeShapeType="1"/>
            <a:stCxn id="7" idx="2"/>
            <a:endCxn id="8" idx="6"/>
          </p:cNvCxnSpPr>
          <p:nvPr/>
        </p:nvCxnSpPr>
        <p:spPr bwMode="auto">
          <a:xfrm flipH="1">
            <a:off x="5353050" y="478155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7"/>
          <p:cNvCxnSpPr>
            <a:cxnSpLocks noChangeShapeType="1"/>
            <a:stCxn id="22" idx="2"/>
            <a:endCxn id="19" idx="6"/>
          </p:cNvCxnSpPr>
          <p:nvPr/>
        </p:nvCxnSpPr>
        <p:spPr bwMode="auto">
          <a:xfrm flipH="1">
            <a:off x="4362450" y="363855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8"/>
          <p:cNvCxnSpPr>
            <a:cxnSpLocks noChangeShapeType="1"/>
            <a:stCxn id="6" idx="6"/>
            <a:endCxn id="12" idx="2"/>
          </p:cNvCxnSpPr>
          <p:nvPr/>
        </p:nvCxnSpPr>
        <p:spPr bwMode="auto">
          <a:xfrm>
            <a:off x="5353050" y="249555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6953250" y="226695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7867650" y="340995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" name="AutoShape 11"/>
          <p:cNvCxnSpPr>
            <a:cxnSpLocks noChangeShapeType="1"/>
            <a:stCxn id="13" idx="2"/>
            <a:endCxn id="22" idx="6"/>
          </p:cNvCxnSpPr>
          <p:nvPr/>
        </p:nvCxnSpPr>
        <p:spPr bwMode="auto">
          <a:xfrm flipH="1">
            <a:off x="6419850" y="363855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2"/>
          <p:cNvCxnSpPr>
            <a:cxnSpLocks noChangeShapeType="1"/>
            <a:stCxn id="13" idx="1"/>
            <a:endCxn id="12" idx="5"/>
          </p:cNvCxnSpPr>
          <p:nvPr/>
        </p:nvCxnSpPr>
        <p:spPr bwMode="auto">
          <a:xfrm flipH="1" flipV="1">
            <a:off x="7343775" y="265747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3"/>
          <p:cNvCxnSpPr>
            <a:cxnSpLocks noChangeShapeType="1"/>
            <a:stCxn id="7" idx="7"/>
            <a:endCxn id="13" idx="3"/>
          </p:cNvCxnSpPr>
          <p:nvPr/>
        </p:nvCxnSpPr>
        <p:spPr bwMode="auto">
          <a:xfrm flipV="1">
            <a:off x="7343775" y="380047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4"/>
          <p:cNvCxnSpPr>
            <a:cxnSpLocks noChangeShapeType="1"/>
            <a:stCxn id="6" idx="5"/>
            <a:endCxn id="22" idx="1"/>
          </p:cNvCxnSpPr>
          <p:nvPr/>
        </p:nvCxnSpPr>
        <p:spPr bwMode="auto">
          <a:xfrm>
            <a:off x="5286375" y="265747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5"/>
          <p:cNvCxnSpPr>
            <a:cxnSpLocks noChangeShapeType="1"/>
            <a:stCxn id="12" idx="3"/>
            <a:endCxn id="22" idx="7"/>
          </p:cNvCxnSpPr>
          <p:nvPr/>
        </p:nvCxnSpPr>
        <p:spPr bwMode="auto">
          <a:xfrm flipH="1">
            <a:off x="6353175" y="265747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3905250" y="340995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0" name="AutoShape 17"/>
          <p:cNvCxnSpPr>
            <a:cxnSpLocks noChangeShapeType="1"/>
            <a:stCxn id="19" idx="7"/>
            <a:endCxn id="6" idx="3"/>
          </p:cNvCxnSpPr>
          <p:nvPr/>
        </p:nvCxnSpPr>
        <p:spPr bwMode="auto">
          <a:xfrm flipV="1">
            <a:off x="4295775" y="265747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8"/>
          <p:cNvCxnSpPr>
            <a:cxnSpLocks noChangeShapeType="1"/>
            <a:stCxn id="8" idx="1"/>
            <a:endCxn id="19" idx="5"/>
          </p:cNvCxnSpPr>
          <p:nvPr/>
        </p:nvCxnSpPr>
        <p:spPr bwMode="auto">
          <a:xfrm flipH="1" flipV="1">
            <a:off x="4295775" y="380047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Oval 19"/>
          <p:cNvSpPr>
            <a:spLocks noChangeArrowheads="1"/>
          </p:cNvSpPr>
          <p:nvPr/>
        </p:nvSpPr>
        <p:spPr bwMode="auto">
          <a:xfrm>
            <a:off x="5962650" y="340995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3" name="AutoShape 20"/>
          <p:cNvCxnSpPr>
            <a:cxnSpLocks noChangeShapeType="1"/>
            <a:stCxn id="7" idx="1"/>
            <a:endCxn id="22" idx="5"/>
          </p:cNvCxnSpPr>
          <p:nvPr/>
        </p:nvCxnSpPr>
        <p:spPr bwMode="auto">
          <a:xfrm flipH="1" flipV="1">
            <a:off x="6353175" y="380047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1"/>
          <p:cNvCxnSpPr>
            <a:cxnSpLocks noChangeShapeType="1"/>
            <a:stCxn id="8" idx="7"/>
            <a:endCxn id="22" idx="3"/>
          </p:cNvCxnSpPr>
          <p:nvPr/>
        </p:nvCxnSpPr>
        <p:spPr bwMode="auto">
          <a:xfrm flipV="1">
            <a:off x="5286375" y="380047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4300538" y="290671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5610225" y="289242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6038850" y="226695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7516813" y="289242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6465888" y="289242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7715250" y="404971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6724650" y="404971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7029450" y="340995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4972050" y="340995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5429250" y="404971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4362450" y="404971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6115050" y="455295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4972050" y="185578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7029450" y="1876425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3524250" y="348615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8401050" y="340995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6038850" y="394335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4092575" y="5676900"/>
            <a:ext cx="41793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vertex in List with minimum distance.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972050" y="508635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7029450" y="508635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5" name="Text Box 46"/>
          <p:cNvSpPr txBox="1">
            <a:spLocks noChangeArrowheads="1"/>
          </p:cNvSpPr>
          <p:nvPr/>
        </p:nvSpPr>
        <p:spPr bwMode="auto">
          <a:xfrm>
            <a:off x="1619250" y="1948584"/>
            <a:ext cx="23828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Distance(source) = 0</a:t>
            </a:r>
          </a:p>
        </p:txBody>
      </p:sp>
      <p:sp>
        <p:nvSpPr>
          <p:cNvPr id="46" name="Line 47"/>
          <p:cNvSpPr>
            <a:spLocks noChangeShapeType="1"/>
          </p:cNvSpPr>
          <p:nvPr/>
        </p:nvSpPr>
        <p:spPr bwMode="auto">
          <a:xfrm>
            <a:off x="4591050" y="219075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751320" y="2360757"/>
            <a:ext cx="3982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(all vertices but source) = </a:t>
            </a:r>
            <a:r>
              <a:rPr lang="en-US" altLang="en-US" sz="1800" dirty="0">
                <a:solidFill>
                  <a:srgbClr val="674E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956549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53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6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  <p:bldP spid="19" grpId="0" animBg="1"/>
      <p:bldP spid="22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 animBg="1"/>
      <p:bldP spid="44" grpId="0" animBg="1"/>
      <p:bldP spid="45" grpId="0"/>
      <p:bldP spid="46" grpId="0" animBg="1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10CE-E82E-4E19-8FEA-5C251124887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1268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A</a:t>
            </a:r>
            <a:endParaRPr lang="en-US" altLang="en-US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11269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1270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71" name="AutoShape 6"/>
          <p:cNvCxnSpPr>
            <a:cxnSpLocks noChangeShapeType="1"/>
            <a:stCxn id="11269" idx="2"/>
            <a:endCxn id="11270" idx="6"/>
          </p:cNvCxnSpPr>
          <p:nvPr/>
        </p:nvCxnSpPr>
        <p:spPr bwMode="auto">
          <a:xfrm flipH="1">
            <a:off x="5334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AutoShape 7"/>
          <p:cNvCxnSpPr>
            <a:cxnSpLocks noChangeShapeType="1"/>
            <a:stCxn id="11284" idx="2"/>
            <a:endCxn id="11281" idx="6"/>
          </p:cNvCxnSpPr>
          <p:nvPr/>
        </p:nvCxnSpPr>
        <p:spPr bwMode="auto">
          <a:xfrm flipH="1">
            <a:off x="4343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AutoShape 8"/>
          <p:cNvCxnSpPr>
            <a:cxnSpLocks noChangeShapeType="1"/>
          </p:cNvCxnSpPr>
          <p:nvPr/>
        </p:nvCxnSpPr>
        <p:spPr bwMode="auto">
          <a:xfrm>
            <a:off x="5334000" y="2667000"/>
            <a:ext cx="16002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4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1275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76" name="AutoShape 11"/>
          <p:cNvCxnSpPr>
            <a:cxnSpLocks noChangeShapeType="1"/>
            <a:stCxn id="11275" idx="2"/>
            <a:endCxn id="11284" idx="6"/>
          </p:cNvCxnSpPr>
          <p:nvPr/>
        </p:nvCxnSpPr>
        <p:spPr bwMode="auto">
          <a:xfrm flipH="1">
            <a:off x="6400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7" name="AutoShape 12"/>
          <p:cNvCxnSpPr>
            <a:cxnSpLocks noChangeShapeType="1"/>
            <a:stCxn id="11275" idx="1"/>
            <a:endCxn id="11274" idx="5"/>
          </p:cNvCxnSpPr>
          <p:nvPr/>
        </p:nvCxnSpPr>
        <p:spPr bwMode="auto">
          <a:xfrm flipH="1" flipV="1">
            <a:off x="7324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8" name="AutoShape 13"/>
          <p:cNvCxnSpPr>
            <a:cxnSpLocks noChangeShapeType="1"/>
            <a:stCxn id="11269" idx="7"/>
            <a:endCxn id="11275" idx="3"/>
          </p:cNvCxnSpPr>
          <p:nvPr/>
        </p:nvCxnSpPr>
        <p:spPr bwMode="auto">
          <a:xfrm flipV="1">
            <a:off x="7324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9" name="AutoShape 14"/>
          <p:cNvCxnSpPr>
            <a:cxnSpLocks noChangeShapeType="1"/>
            <a:stCxn id="11268" idx="5"/>
            <a:endCxn id="11284" idx="1"/>
          </p:cNvCxnSpPr>
          <p:nvPr/>
        </p:nvCxnSpPr>
        <p:spPr bwMode="auto">
          <a:xfrm>
            <a:off x="5267325" y="2843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AutoShape 15"/>
          <p:cNvCxnSpPr>
            <a:cxnSpLocks noChangeShapeType="1"/>
            <a:stCxn id="11274" idx="3"/>
            <a:endCxn id="11284" idx="7"/>
          </p:cNvCxnSpPr>
          <p:nvPr/>
        </p:nvCxnSpPr>
        <p:spPr bwMode="auto">
          <a:xfrm flipH="1">
            <a:off x="6334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1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82" name="AutoShape 17"/>
          <p:cNvCxnSpPr>
            <a:cxnSpLocks noChangeShapeType="1"/>
            <a:stCxn id="11281" idx="7"/>
            <a:endCxn id="11268" idx="3"/>
          </p:cNvCxnSpPr>
          <p:nvPr/>
        </p:nvCxnSpPr>
        <p:spPr bwMode="auto">
          <a:xfrm flipV="1">
            <a:off x="4276725" y="2843213"/>
            <a:ext cx="666750" cy="8048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3" name="AutoShape 18"/>
          <p:cNvCxnSpPr>
            <a:cxnSpLocks noChangeShapeType="1"/>
            <a:stCxn id="11270" idx="1"/>
            <a:endCxn id="11281" idx="5"/>
          </p:cNvCxnSpPr>
          <p:nvPr/>
        </p:nvCxnSpPr>
        <p:spPr bwMode="auto">
          <a:xfrm flipH="1" flipV="1">
            <a:off x="4276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4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85" name="AutoShape 20"/>
          <p:cNvCxnSpPr>
            <a:cxnSpLocks noChangeShapeType="1"/>
            <a:stCxn id="11269" idx="1"/>
            <a:endCxn id="11284" idx="5"/>
          </p:cNvCxnSpPr>
          <p:nvPr/>
        </p:nvCxnSpPr>
        <p:spPr bwMode="auto">
          <a:xfrm flipH="1" flipV="1">
            <a:off x="6334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6" name="AutoShape 21"/>
          <p:cNvCxnSpPr>
            <a:cxnSpLocks noChangeShapeType="1"/>
            <a:stCxn id="11270" idx="7"/>
            <a:endCxn id="11284" idx="3"/>
          </p:cNvCxnSpPr>
          <p:nvPr/>
        </p:nvCxnSpPr>
        <p:spPr bwMode="auto">
          <a:xfrm flipV="1">
            <a:off x="5267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7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288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289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0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1291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292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1293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294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5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6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1297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298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299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1301" name="Text Box 36"/>
          <p:cNvSpPr txBox="1">
            <a:spLocks noChangeArrowheads="1"/>
          </p:cNvSpPr>
          <p:nvPr/>
        </p:nvSpPr>
        <p:spPr bwMode="auto">
          <a:xfrm>
            <a:off x="3412121" y="36576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2" name="Text Box 37"/>
          <p:cNvSpPr txBox="1">
            <a:spLocks noChangeArrowheads="1"/>
          </p:cNvSpPr>
          <p:nvPr/>
        </p:nvSpPr>
        <p:spPr bwMode="auto">
          <a:xfrm>
            <a:off x="8382000" y="35814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4" name="Text Box 45"/>
          <p:cNvSpPr txBox="1">
            <a:spLocks noChangeArrowheads="1"/>
          </p:cNvSpPr>
          <p:nvPr/>
        </p:nvSpPr>
        <p:spPr bwMode="auto">
          <a:xfrm>
            <a:off x="4953000" y="52578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05" name="Text Box 46"/>
          <p:cNvSpPr txBox="1">
            <a:spLocks noChangeArrowheads="1"/>
          </p:cNvSpPr>
          <p:nvPr/>
        </p:nvSpPr>
        <p:spPr bwMode="auto">
          <a:xfrm>
            <a:off x="7010400" y="52578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06" name="Text Box 47"/>
          <p:cNvSpPr txBox="1">
            <a:spLocks noChangeArrowheads="1"/>
          </p:cNvSpPr>
          <p:nvPr/>
        </p:nvSpPr>
        <p:spPr bwMode="auto">
          <a:xfrm>
            <a:off x="1905001" y="4724401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Distance(B) =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7" name="Text Box 48"/>
          <p:cNvSpPr txBox="1">
            <a:spLocks noChangeArrowheads="1"/>
          </p:cNvSpPr>
          <p:nvPr/>
        </p:nvSpPr>
        <p:spPr bwMode="auto">
          <a:xfrm>
            <a:off x="1905001" y="5029201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Distance(D) = 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Update neighbors' distance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6981826" y="2027238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5989640" y="4076942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09511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26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10CE-E82E-4E19-8FEA-5C251124887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1268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A</a:t>
            </a:r>
            <a:endParaRPr lang="en-US" altLang="en-US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11269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1270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71" name="AutoShape 6"/>
          <p:cNvCxnSpPr>
            <a:cxnSpLocks noChangeShapeType="1"/>
            <a:stCxn id="11269" idx="2"/>
            <a:endCxn id="11270" idx="6"/>
          </p:cNvCxnSpPr>
          <p:nvPr/>
        </p:nvCxnSpPr>
        <p:spPr bwMode="auto">
          <a:xfrm flipH="1">
            <a:off x="5334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AutoShape 7"/>
          <p:cNvCxnSpPr>
            <a:cxnSpLocks noChangeShapeType="1"/>
            <a:stCxn id="11284" idx="2"/>
            <a:endCxn id="11281" idx="6"/>
          </p:cNvCxnSpPr>
          <p:nvPr/>
        </p:nvCxnSpPr>
        <p:spPr bwMode="auto">
          <a:xfrm flipH="1">
            <a:off x="4343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AutoShape 8"/>
          <p:cNvCxnSpPr>
            <a:cxnSpLocks noChangeShapeType="1"/>
          </p:cNvCxnSpPr>
          <p:nvPr/>
        </p:nvCxnSpPr>
        <p:spPr bwMode="auto">
          <a:xfrm>
            <a:off x="5334000" y="2667000"/>
            <a:ext cx="16002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4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1275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76" name="AutoShape 11"/>
          <p:cNvCxnSpPr>
            <a:cxnSpLocks noChangeShapeType="1"/>
            <a:stCxn id="11275" idx="2"/>
            <a:endCxn id="11284" idx="6"/>
          </p:cNvCxnSpPr>
          <p:nvPr/>
        </p:nvCxnSpPr>
        <p:spPr bwMode="auto">
          <a:xfrm flipH="1">
            <a:off x="6400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7" name="AutoShape 12"/>
          <p:cNvCxnSpPr>
            <a:cxnSpLocks noChangeShapeType="1"/>
            <a:stCxn id="11275" idx="1"/>
            <a:endCxn id="11274" idx="5"/>
          </p:cNvCxnSpPr>
          <p:nvPr/>
        </p:nvCxnSpPr>
        <p:spPr bwMode="auto">
          <a:xfrm flipH="1" flipV="1">
            <a:off x="7324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8" name="AutoShape 13"/>
          <p:cNvCxnSpPr>
            <a:cxnSpLocks noChangeShapeType="1"/>
            <a:stCxn id="11269" idx="7"/>
            <a:endCxn id="11275" idx="3"/>
          </p:cNvCxnSpPr>
          <p:nvPr/>
        </p:nvCxnSpPr>
        <p:spPr bwMode="auto">
          <a:xfrm flipV="1">
            <a:off x="7324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9" name="AutoShape 14"/>
          <p:cNvCxnSpPr>
            <a:cxnSpLocks noChangeShapeType="1"/>
            <a:stCxn id="11268" idx="5"/>
            <a:endCxn id="11284" idx="1"/>
          </p:cNvCxnSpPr>
          <p:nvPr/>
        </p:nvCxnSpPr>
        <p:spPr bwMode="auto">
          <a:xfrm>
            <a:off x="5267325" y="2843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AutoShape 15"/>
          <p:cNvCxnSpPr>
            <a:cxnSpLocks noChangeShapeType="1"/>
            <a:stCxn id="11274" idx="3"/>
            <a:endCxn id="11284" idx="7"/>
          </p:cNvCxnSpPr>
          <p:nvPr/>
        </p:nvCxnSpPr>
        <p:spPr bwMode="auto">
          <a:xfrm flipH="1">
            <a:off x="6334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1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82" name="AutoShape 17"/>
          <p:cNvCxnSpPr>
            <a:cxnSpLocks noChangeShapeType="1"/>
            <a:stCxn id="11281" idx="7"/>
            <a:endCxn id="11268" idx="3"/>
          </p:cNvCxnSpPr>
          <p:nvPr/>
        </p:nvCxnSpPr>
        <p:spPr bwMode="auto">
          <a:xfrm flipV="1">
            <a:off x="4276725" y="2843213"/>
            <a:ext cx="666750" cy="8048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3" name="AutoShape 18"/>
          <p:cNvCxnSpPr>
            <a:cxnSpLocks noChangeShapeType="1"/>
            <a:stCxn id="11270" idx="1"/>
            <a:endCxn id="11281" idx="5"/>
          </p:cNvCxnSpPr>
          <p:nvPr/>
        </p:nvCxnSpPr>
        <p:spPr bwMode="auto">
          <a:xfrm flipH="1" flipV="1">
            <a:off x="4276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4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85" name="AutoShape 20"/>
          <p:cNvCxnSpPr>
            <a:cxnSpLocks noChangeShapeType="1"/>
            <a:stCxn id="11269" idx="1"/>
            <a:endCxn id="11284" idx="5"/>
          </p:cNvCxnSpPr>
          <p:nvPr/>
        </p:nvCxnSpPr>
        <p:spPr bwMode="auto">
          <a:xfrm flipH="1" flipV="1">
            <a:off x="6334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6" name="AutoShape 21"/>
          <p:cNvCxnSpPr>
            <a:cxnSpLocks noChangeShapeType="1"/>
            <a:stCxn id="11270" idx="7"/>
            <a:endCxn id="11284" idx="3"/>
          </p:cNvCxnSpPr>
          <p:nvPr/>
        </p:nvCxnSpPr>
        <p:spPr bwMode="auto">
          <a:xfrm flipV="1">
            <a:off x="5267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7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288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289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0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1291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292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1293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294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5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6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1297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298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299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1300" name="Text Box 35"/>
          <p:cNvSpPr txBox="1">
            <a:spLocks noChangeArrowheads="1"/>
          </p:cNvSpPr>
          <p:nvPr/>
        </p:nvSpPr>
        <p:spPr bwMode="auto">
          <a:xfrm>
            <a:off x="7011819" y="2039679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1" name="Text Box 36"/>
          <p:cNvSpPr txBox="1">
            <a:spLocks noChangeArrowheads="1"/>
          </p:cNvSpPr>
          <p:nvPr/>
        </p:nvSpPr>
        <p:spPr bwMode="auto">
          <a:xfrm>
            <a:off x="3412121" y="36576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2" name="Text Box 37"/>
          <p:cNvSpPr txBox="1">
            <a:spLocks noChangeArrowheads="1"/>
          </p:cNvSpPr>
          <p:nvPr/>
        </p:nvSpPr>
        <p:spPr bwMode="auto">
          <a:xfrm>
            <a:off x="8382000" y="35814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3" name="Text Box 38"/>
          <p:cNvSpPr txBox="1">
            <a:spLocks noChangeArrowheads="1"/>
          </p:cNvSpPr>
          <p:nvPr/>
        </p:nvSpPr>
        <p:spPr bwMode="auto">
          <a:xfrm>
            <a:off x="6050504" y="4099877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4" name="Text Box 45"/>
          <p:cNvSpPr txBox="1">
            <a:spLocks noChangeArrowheads="1"/>
          </p:cNvSpPr>
          <p:nvPr/>
        </p:nvSpPr>
        <p:spPr bwMode="auto">
          <a:xfrm>
            <a:off x="4953000" y="52578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05" name="Text Box 46"/>
          <p:cNvSpPr txBox="1">
            <a:spLocks noChangeArrowheads="1"/>
          </p:cNvSpPr>
          <p:nvPr/>
        </p:nvSpPr>
        <p:spPr bwMode="auto">
          <a:xfrm>
            <a:off x="7010400" y="5257800"/>
            <a:ext cx="442750" cy="36933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06" name="Text Box 47"/>
          <p:cNvSpPr txBox="1">
            <a:spLocks noChangeArrowheads="1"/>
          </p:cNvSpPr>
          <p:nvPr/>
        </p:nvSpPr>
        <p:spPr bwMode="auto">
          <a:xfrm>
            <a:off x="1905001" y="4724401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Distance(B) =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307" name="Text Box 48"/>
          <p:cNvSpPr txBox="1">
            <a:spLocks noChangeArrowheads="1"/>
          </p:cNvSpPr>
          <p:nvPr/>
        </p:nvSpPr>
        <p:spPr bwMode="auto">
          <a:xfrm>
            <a:off x="1905001" y="5029201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Distance(D) = 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Update neighbors' distance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723516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558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E841D7-8841-4D56-A6AD-FEC73E7DCCD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292" name="Text Box 41"/>
          <p:cNvSpPr txBox="1">
            <a:spLocks noChangeArrowheads="1"/>
          </p:cNvSpPr>
          <p:nvPr/>
        </p:nvSpPr>
        <p:spPr bwMode="auto">
          <a:xfrm>
            <a:off x="3706813" y="5848350"/>
            <a:ext cx="5111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Pick vertex in List with minimum distance, i.e., D</a:t>
            </a:r>
          </a:p>
        </p:txBody>
      </p:sp>
      <p:grpSp>
        <p:nvGrpSpPr>
          <p:cNvPr id="12293" name="Group 45"/>
          <p:cNvGrpSpPr>
            <a:grpSpLocks/>
          </p:cNvGrpSpPr>
          <p:nvPr/>
        </p:nvGrpSpPr>
        <p:grpSpPr bwMode="auto">
          <a:xfrm>
            <a:off x="3411539" y="2027238"/>
            <a:ext cx="5413376" cy="3600450"/>
            <a:chOff x="1189" y="1277"/>
            <a:chExt cx="3410" cy="2268"/>
          </a:xfrm>
        </p:grpSpPr>
        <p:sp>
          <p:nvSpPr>
            <p:cNvPr id="12296" name="Oval 3"/>
            <p:cNvSpPr>
              <a:spLocks noChangeArrowheads="1"/>
            </p:cNvSpPr>
            <p:nvPr/>
          </p:nvSpPr>
          <p:spPr bwMode="auto">
            <a:xfrm>
              <a:off x="2112" y="1536"/>
              <a:ext cx="288" cy="28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A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297" name="Oval 4"/>
            <p:cNvSpPr>
              <a:spLocks noChangeArrowheads="1"/>
            </p:cNvSpPr>
            <p:nvPr/>
          </p:nvSpPr>
          <p:spPr bwMode="auto">
            <a:xfrm>
              <a:off x="3408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G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298" name="Oval 5"/>
            <p:cNvSpPr>
              <a:spLocks noChangeArrowheads="1"/>
            </p:cNvSpPr>
            <p:nvPr/>
          </p:nvSpPr>
          <p:spPr bwMode="auto">
            <a:xfrm>
              <a:off x="2112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299" name="AutoShape 6"/>
            <p:cNvCxnSpPr>
              <a:cxnSpLocks noChangeShapeType="1"/>
              <a:stCxn id="12297" idx="2"/>
              <a:endCxn id="12298" idx="6"/>
            </p:cNvCxnSpPr>
            <p:nvPr/>
          </p:nvCxnSpPr>
          <p:spPr bwMode="auto">
            <a:xfrm flipH="1">
              <a:off x="2400" y="312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0" name="AutoShape 7"/>
            <p:cNvCxnSpPr>
              <a:cxnSpLocks noChangeShapeType="1"/>
              <a:stCxn id="12312" idx="2"/>
              <a:endCxn id="12309" idx="6"/>
            </p:cNvCxnSpPr>
            <p:nvPr/>
          </p:nvCxnSpPr>
          <p:spPr bwMode="auto">
            <a:xfrm flipH="1">
              <a:off x="1776" y="240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1" name="AutoShape 8"/>
            <p:cNvCxnSpPr>
              <a:cxnSpLocks noChangeShapeType="1"/>
              <a:stCxn id="12296" idx="6"/>
              <a:endCxn id="12302" idx="2"/>
            </p:cNvCxnSpPr>
            <p:nvPr/>
          </p:nvCxnSpPr>
          <p:spPr bwMode="auto">
            <a:xfrm>
              <a:off x="2400" y="168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2" name="Oval 9"/>
            <p:cNvSpPr>
              <a:spLocks noChangeArrowheads="1"/>
            </p:cNvSpPr>
            <p:nvPr/>
          </p:nvSpPr>
          <p:spPr bwMode="auto">
            <a:xfrm>
              <a:off x="3408" y="153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303" name="Oval 10"/>
            <p:cNvSpPr>
              <a:spLocks noChangeArrowheads="1"/>
            </p:cNvSpPr>
            <p:nvPr/>
          </p:nvSpPr>
          <p:spPr bwMode="auto">
            <a:xfrm>
              <a:off x="3984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E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304" name="AutoShape 11"/>
            <p:cNvCxnSpPr>
              <a:cxnSpLocks noChangeShapeType="1"/>
              <a:stCxn id="12303" idx="2"/>
              <a:endCxn id="12312" idx="6"/>
            </p:cNvCxnSpPr>
            <p:nvPr/>
          </p:nvCxnSpPr>
          <p:spPr bwMode="auto">
            <a:xfrm flipH="1">
              <a:off x="3072" y="2400"/>
              <a:ext cx="91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5" name="AutoShape 12"/>
            <p:cNvCxnSpPr>
              <a:cxnSpLocks noChangeShapeType="1"/>
              <a:stCxn id="12303" idx="1"/>
              <a:endCxn id="12302" idx="5"/>
            </p:cNvCxnSpPr>
            <p:nvPr/>
          </p:nvCxnSpPr>
          <p:spPr bwMode="auto">
            <a:xfrm flipH="1" flipV="1">
              <a:off x="3654" y="178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6" name="AutoShape 13"/>
            <p:cNvCxnSpPr>
              <a:cxnSpLocks noChangeShapeType="1"/>
              <a:stCxn id="12297" idx="7"/>
              <a:endCxn id="12303" idx="3"/>
            </p:cNvCxnSpPr>
            <p:nvPr/>
          </p:nvCxnSpPr>
          <p:spPr bwMode="auto">
            <a:xfrm flipV="1">
              <a:off x="3654" y="250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7" name="AutoShape 14"/>
            <p:cNvCxnSpPr>
              <a:cxnSpLocks noChangeShapeType="1"/>
              <a:stCxn id="12296" idx="5"/>
              <a:endCxn id="12312" idx="1"/>
            </p:cNvCxnSpPr>
            <p:nvPr/>
          </p:nvCxnSpPr>
          <p:spPr bwMode="auto">
            <a:xfrm>
              <a:off x="2358" y="1782"/>
              <a:ext cx="468" cy="516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308" name="AutoShape 15"/>
            <p:cNvCxnSpPr>
              <a:cxnSpLocks noChangeShapeType="1"/>
              <a:stCxn id="12302" idx="3"/>
              <a:endCxn id="12312" idx="7"/>
            </p:cNvCxnSpPr>
            <p:nvPr/>
          </p:nvCxnSpPr>
          <p:spPr bwMode="auto">
            <a:xfrm flipH="1">
              <a:off x="3030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9" name="Oval 16"/>
            <p:cNvSpPr>
              <a:spLocks noChangeArrowheads="1"/>
            </p:cNvSpPr>
            <p:nvPr/>
          </p:nvSpPr>
          <p:spPr bwMode="auto">
            <a:xfrm>
              <a:off x="1488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310" name="AutoShape 17"/>
            <p:cNvCxnSpPr>
              <a:cxnSpLocks noChangeShapeType="1"/>
              <a:stCxn id="12309" idx="7"/>
              <a:endCxn id="12296" idx="3"/>
            </p:cNvCxnSpPr>
            <p:nvPr/>
          </p:nvCxnSpPr>
          <p:spPr bwMode="auto">
            <a:xfrm flipV="1">
              <a:off x="1734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1" name="AutoShape 18"/>
            <p:cNvCxnSpPr>
              <a:cxnSpLocks noChangeShapeType="1"/>
              <a:stCxn id="12298" idx="1"/>
              <a:endCxn id="12309" idx="5"/>
            </p:cNvCxnSpPr>
            <p:nvPr/>
          </p:nvCxnSpPr>
          <p:spPr bwMode="auto">
            <a:xfrm flipH="1" flipV="1">
              <a:off x="1734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12" name="Oval 19"/>
            <p:cNvSpPr>
              <a:spLocks noChangeArrowheads="1"/>
            </p:cNvSpPr>
            <p:nvPr/>
          </p:nvSpPr>
          <p:spPr bwMode="auto">
            <a:xfrm>
              <a:off x="2784" y="2256"/>
              <a:ext cx="288" cy="2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313" name="AutoShape 20"/>
            <p:cNvCxnSpPr>
              <a:cxnSpLocks noChangeShapeType="1"/>
              <a:stCxn id="12297" idx="1"/>
              <a:endCxn id="12312" idx="5"/>
            </p:cNvCxnSpPr>
            <p:nvPr/>
          </p:nvCxnSpPr>
          <p:spPr bwMode="auto">
            <a:xfrm flipH="1" flipV="1">
              <a:off x="3030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4" name="AutoShape 21"/>
            <p:cNvCxnSpPr>
              <a:cxnSpLocks noChangeShapeType="1"/>
              <a:stCxn id="12298" idx="7"/>
              <a:endCxn id="12312" idx="3"/>
            </p:cNvCxnSpPr>
            <p:nvPr/>
          </p:nvCxnSpPr>
          <p:spPr bwMode="auto">
            <a:xfrm flipV="1">
              <a:off x="2358" y="2502"/>
              <a:ext cx="468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15" name="Text Box 22"/>
            <p:cNvSpPr txBox="1">
              <a:spLocks noChangeArrowheads="1"/>
            </p:cNvSpPr>
            <p:nvPr/>
          </p:nvSpPr>
          <p:spPr bwMode="auto">
            <a:xfrm>
              <a:off x="1737" y="193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2316" name="Text Box 23"/>
            <p:cNvSpPr txBox="1">
              <a:spLocks noChangeArrowheads="1"/>
            </p:cNvSpPr>
            <p:nvPr/>
          </p:nvSpPr>
          <p:spPr bwMode="auto">
            <a:xfrm>
              <a:off x="2562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317" name="Text Box 24"/>
            <p:cNvSpPr txBox="1">
              <a:spLocks noChangeArrowheads="1"/>
            </p:cNvSpPr>
            <p:nvPr/>
          </p:nvSpPr>
          <p:spPr bwMode="auto">
            <a:xfrm>
              <a:off x="2832" y="153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18" name="Text Box 25"/>
            <p:cNvSpPr txBox="1">
              <a:spLocks noChangeArrowheads="1"/>
            </p:cNvSpPr>
            <p:nvPr/>
          </p:nvSpPr>
          <p:spPr bwMode="auto">
            <a:xfrm>
              <a:off x="3763" y="1930"/>
              <a:ext cx="2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12319" name="Text Box 26"/>
            <p:cNvSpPr txBox="1">
              <a:spLocks noChangeArrowheads="1"/>
            </p:cNvSpPr>
            <p:nvPr/>
          </p:nvSpPr>
          <p:spPr bwMode="auto">
            <a:xfrm>
              <a:off x="3101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2320" name="Text Box 27"/>
            <p:cNvSpPr txBox="1">
              <a:spLocks noChangeArrowheads="1"/>
            </p:cNvSpPr>
            <p:nvPr/>
          </p:nvSpPr>
          <p:spPr bwMode="auto">
            <a:xfrm>
              <a:off x="388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12321" name="Text Box 28"/>
            <p:cNvSpPr txBox="1">
              <a:spLocks noChangeArrowheads="1"/>
            </p:cNvSpPr>
            <p:nvPr/>
          </p:nvSpPr>
          <p:spPr bwMode="auto">
            <a:xfrm>
              <a:off x="3264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2322" name="Text Box 29"/>
            <p:cNvSpPr txBox="1">
              <a:spLocks noChangeArrowheads="1"/>
            </p:cNvSpPr>
            <p:nvPr/>
          </p:nvSpPr>
          <p:spPr bwMode="auto">
            <a:xfrm>
              <a:off x="3456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23" name="Text Box 30"/>
            <p:cNvSpPr txBox="1">
              <a:spLocks noChangeArrowheads="1"/>
            </p:cNvSpPr>
            <p:nvPr/>
          </p:nvSpPr>
          <p:spPr bwMode="auto">
            <a:xfrm>
              <a:off x="2160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24" name="Text Box 31"/>
            <p:cNvSpPr txBox="1">
              <a:spLocks noChangeArrowheads="1"/>
            </p:cNvSpPr>
            <p:nvPr/>
          </p:nvSpPr>
          <p:spPr bwMode="auto">
            <a:xfrm>
              <a:off x="244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12325" name="Text Box 32"/>
            <p:cNvSpPr txBox="1">
              <a:spLocks noChangeArrowheads="1"/>
            </p:cNvSpPr>
            <p:nvPr/>
          </p:nvSpPr>
          <p:spPr bwMode="auto">
            <a:xfrm>
              <a:off x="1776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2326" name="Text Box 33"/>
            <p:cNvSpPr txBox="1">
              <a:spLocks noChangeArrowheads="1"/>
            </p:cNvSpPr>
            <p:nvPr/>
          </p:nvSpPr>
          <p:spPr bwMode="auto">
            <a:xfrm>
              <a:off x="2880" y="297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327" name="Text Box 34"/>
            <p:cNvSpPr txBox="1">
              <a:spLocks noChangeArrowheads="1"/>
            </p:cNvSpPr>
            <p:nvPr/>
          </p:nvSpPr>
          <p:spPr bwMode="auto">
            <a:xfrm>
              <a:off x="2160" y="1277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328" name="Text Box 35"/>
            <p:cNvSpPr txBox="1">
              <a:spLocks noChangeArrowheads="1"/>
            </p:cNvSpPr>
            <p:nvPr/>
          </p:nvSpPr>
          <p:spPr bwMode="auto">
            <a:xfrm>
              <a:off x="3456" y="1296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329" name="Text Box 36"/>
            <p:cNvSpPr txBox="1">
              <a:spLocks noChangeArrowheads="1"/>
            </p:cNvSpPr>
            <p:nvPr/>
          </p:nvSpPr>
          <p:spPr bwMode="auto">
            <a:xfrm>
              <a:off x="1189" y="2298"/>
              <a:ext cx="279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12330" name="Text Box 37"/>
            <p:cNvSpPr txBox="1">
              <a:spLocks noChangeArrowheads="1"/>
            </p:cNvSpPr>
            <p:nvPr/>
          </p:nvSpPr>
          <p:spPr bwMode="auto">
            <a:xfrm>
              <a:off x="4320" y="2256"/>
              <a:ext cx="279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331" name="Text Box 38"/>
            <p:cNvSpPr txBox="1">
              <a:spLocks noChangeArrowheads="1"/>
            </p:cNvSpPr>
            <p:nvPr/>
          </p:nvSpPr>
          <p:spPr bwMode="auto">
            <a:xfrm>
              <a:off x="2832" y="2598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332" name="Text Box 39"/>
            <p:cNvSpPr txBox="1">
              <a:spLocks noChangeArrowheads="1"/>
            </p:cNvSpPr>
            <p:nvPr/>
          </p:nvSpPr>
          <p:spPr bwMode="auto">
            <a:xfrm>
              <a:off x="2160" y="3312"/>
              <a:ext cx="279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333" name="Text Box 40"/>
            <p:cNvSpPr txBox="1">
              <a:spLocks noChangeArrowheads="1"/>
            </p:cNvSpPr>
            <p:nvPr/>
          </p:nvSpPr>
          <p:spPr bwMode="auto">
            <a:xfrm>
              <a:off x="3456" y="3312"/>
              <a:ext cx="279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46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Pick vertex with minimum distance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55192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13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3B7720-B5D9-486A-8936-1C311E77708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316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17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19" name="AutoShape 6"/>
          <p:cNvCxnSpPr>
            <a:cxnSpLocks noChangeShapeType="1"/>
            <a:stCxn id="13317" idx="2"/>
            <a:endCxn id="13318" idx="6"/>
          </p:cNvCxnSpPr>
          <p:nvPr/>
        </p:nvCxnSpPr>
        <p:spPr bwMode="auto">
          <a:xfrm flipH="1">
            <a:off x="5334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0" name="AutoShape 7"/>
          <p:cNvCxnSpPr>
            <a:cxnSpLocks noChangeShapeType="1"/>
            <a:stCxn id="13332" idx="2"/>
            <a:endCxn id="13329" idx="6"/>
          </p:cNvCxnSpPr>
          <p:nvPr/>
        </p:nvCxnSpPr>
        <p:spPr bwMode="auto">
          <a:xfrm flipH="1">
            <a:off x="4343401" y="3810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1" name="AutoShape 8"/>
          <p:cNvCxnSpPr>
            <a:cxnSpLocks noChangeShapeType="1"/>
            <a:stCxn id="13316" idx="6"/>
            <a:endCxn id="13322" idx="2"/>
          </p:cNvCxnSpPr>
          <p:nvPr/>
        </p:nvCxnSpPr>
        <p:spPr bwMode="auto">
          <a:xfrm>
            <a:off x="5334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2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23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24" name="AutoShape 11"/>
          <p:cNvCxnSpPr>
            <a:cxnSpLocks noChangeShapeType="1"/>
          </p:cNvCxnSpPr>
          <p:nvPr/>
        </p:nvCxnSpPr>
        <p:spPr bwMode="auto">
          <a:xfrm flipH="1">
            <a:off x="6400800" y="3810000"/>
            <a:ext cx="14478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5" name="AutoShape 12"/>
          <p:cNvCxnSpPr>
            <a:cxnSpLocks noChangeShapeType="1"/>
            <a:stCxn id="13323" idx="1"/>
            <a:endCxn id="13322" idx="5"/>
          </p:cNvCxnSpPr>
          <p:nvPr/>
        </p:nvCxnSpPr>
        <p:spPr bwMode="auto">
          <a:xfrm flipH="1" flipV="1">
            <a:off x="7324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6" name="AutoShape 13"/>
          <p:cNvCxnSpPr>
            <a:cxnSpLocks noChangeShapeType="1"/>
            <a:stCxn id="13317" idx="7"/>
            <a:endCxn id="13323" idx="3"/>
          </p:cNvCxnSpPr>
          <p:nvPr/>
        </p:nvCxnSpPr>
        <p:spPr bwMode="auto">
          <a:xfrm flipV="1">
            <a:off x="7324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7" name="AutoShape 14"/>
          <p:cNvCxnSpPr>
            <a:cxnSpLocks noChangeShapeType="1"/>
            <a:stCxn id="13316" idx="5"/>
            <a:endCxn id="13332" idx="1"/>
          </p:cNvCxnSpPr>
          <p:nvPr/>
        </p:nvCxnSpPr>
        <p:spPr bwMode="auto">
          <a:xfrm>
            <a:off x="5267325" y="2828926"/>
            <a:ext cx="742950" cy="804863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28" name="AutoShape 15"/>
          <p:cNvCxnSpPr>
            <a:cxnSpLocks noChangeShapeType="1"/>
            <a:stCxn id="13322" idx="3"/>
            <a:endCxn id="13332" idx="7"/>
          </p:cNvCxnSpPr>
          <p:nvPr/>
        </p:nvCxnSpPr>
        <p:spPr bwMode="auto">
          <a:xfrm flipH="1">
            <a:off x="6334125" y="2828926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9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30" name="AutoShape 17"/>
          <p:cNvCxnSpPr>
            <a:cxnSpLocks noChangeShapeType="1"/>
            <a:stCxn id="13329" idx="7"/>
            <a:endCxn id="13316" idx="3"/>
          </p:cNvCxnSpPr>
          <p:nvPr/>
        </p:nvCxnSpPr>
        <p:spPr bwMode="auto">
          <a:xfrm flipV="1">
            <a:off x="4276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1" name="AutoShape 18"/>
          <p:cNvCxnSpPr>
            <a:cxnSpLocks noChangeShapeType="1"/>
            <a:stCxn id="13318" idx="1"/>
            <a:endCxn id="13329" idx="5"/>
          </p:cNvCxnSpPr>
          <p:nvPr/>
        </p:nvCxnSpPr>
        <p:spPr bwMode="auto">
          <a:xfrm flipH="1" flipV="1">
            <a:off x="4276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2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33" name="AutoShape 20"/>
          <p:cNvCxnSpPr>
            <a:cxnSpLocks noChangeShapeType="1"/>
            <a:stCxn id="13317" idx="1"/>
            <a:endCxn id="13332" idx="5"/>
          </p:cNvCxnSpPr>
          <p:nvPr/>
        </p:nvCxnSpPr>
        <p:spPr bwMode="auto">
          <a:xfrm flipH="1" flipV="1">
            <a:off x="63341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4" name="AutoShape 21"/>
          <p:cNvCxnSpPr>
            <a:cxnSpLocks noChangeShapeType="1"/>
            <a:stCxn id="13318" idx="7"/>
            <a:endCxn id="13332" idx="3"/>
          </p:cNvCxnSpPr>
          <p:nvPr/>
        </p:nvCxnSpPr>
        <p:spPr bwMode="auto">
          <a:xfrm flipV="1">
            <a:off x="5267325" y="3986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5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336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337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38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3339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3340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3341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342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43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44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3345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3346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347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348" name="Text Box 35"/>
          <p:cNvSpPr txBox="1">
            <a:spLocks noChangeArrowheads="1"/>
          </p:cNvSpPr>
          <p:nvPr/>
        </p:nvSpPr>
        <p:spPr bwMode="auto">
          <a:xfrm>
            <a:off x="7010401" y="20574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49" name="Text Box 36"/>
          <p:cNvSpPr txBox="1">
            <a:spLocks noChangeArrowheads="1"/>
          </p:cNvSpPr>
          <p:nvPr/>
        </p:nvSpPr>
        <p:spPr bwMode="auto">
          <a:xfrm>
            <a:off x="3505200" y="3667125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0" name="Text Box 37"/>
          <p:cNvSpPr txBox="1">
            <a:spLocks noChangeArrowheads="1"/>
          </p:cNvSpPr>
          <p:nvPr/>
        </p:nvSpPr>
        <p:spPr bwMode="auto">
          <a:xfrm>
            <a:off x="8382000" y="3590925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1" name="Text Box 38"/>
          <p:cNvSpPr txBox="1">
            <a:spLocks noChangeArrowheads="1"/>
          </p:cNvSpPr>
          <p:nvPr/>
        </p:nvSpPr>
        <p:spPr bwMode="auto">
          <a:xfrm>
            <a:off x="6019801" y="41243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2" name="Text Box 39"/>
          <p:cNvSpPr txBox="1">
            <a:spLocks noChangeArrowheads="1"/>
          </p:cNvSpPr>
          <p:nvPr/>
        </p:nvSpPr>
        <p:spPr bwMode="auto">
          <a:xfrm>
            <a:off x="4953000" y="5257800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3" name="Text Box 40"/>
          <p:cNvSpPr txBox="1">
            <a:spLocks noChangeArrowheads="1"/>
          </p:cNvSpPr>
          <p:nvPr/>
        </p:nvSpPr>
        <p:spPr bwMode="auto">
          <a:xfrm>
            <a:off x="7010400" y="5257800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60" name="Text Box 49"/>
          <p:cNvSpPr txBox="1">
            <a:spLocks noChangeArrowheads="1"/>
          </p:cNvSpPr>
          <p:nvPr/>
        </p:nvSpPr>
        <p:spPr bwMode="auto">
          <a:xfrm>
            <a:off x="1828801" y="4724400"/>
            <a:ext cx="27289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Distance(C) = 1 + 2 = 3 Distance(E) = 1 + 2 = 3 Distance(F) = 1 + 8 = 9 Distance(G) = 1 + 4 = 5</a:t>
            </a:r>
          </a:p>
        </p:txBody>
      </p:sp>
      <p:sp>
        <p:nvSpPr>
          <p:cNvPr id="49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Update neighbors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962923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342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288CE-9DDA-4D22-BCAB-099B1D0DAB4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4340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2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43" name="AutoShape 6"/>
          <p:cNvCxnSpPr>
            <a:cxnSpLocks noChangeShapeType="1"/>
            <a:stCxn id="14341" idx="2"/>
            <a:endCxn id="14342" idx="6"/>
          </p:cNvCxnSpPr>
          <p:nvPr/>
        </p:nvCxnSpPr>
        <p:spPr bwMode="auto">
          <a:xfrm flipH="1">
            <a:off x="5334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4" name="AutoShape 7"/>
          <p:cNvCxnSpPr>
            <a:cxnSpLocks noChangeShapeType="1"/>
            <a:stCxn id="14356" idx="2"/>
            <a:endCxn id="14353" idx="6"/>
          </p:cNvCxnSpPr>
          <p:nvPr/>
        </p:nvCxnSpPr>
        <p:spPr bwMode="auto">
          <a:xfrm flipH="1">
            <a:off x="4343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5" name="AutoShape 8"/>
          <p:cNvCxnSpPr>
            <a:cxnSpLocks noChangeShapeType="1"/>
            <a:stCxn id="14340" idx="6"/>
            <a:endCxn id="14346" idx="2"/>
          </p:cNvCxnSpPr>
          <p:nvPr/>
        </p:nvCxnSpPr>
        <p:spPr bwMode="auto">
          <a:xfrm>
            <a:off x="5334001" y="2667000"/>
            <a:ext cx="1585913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46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7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48" name="AutoShape 11"/>
          <p:cNvCxnSpPr>
            <a:cxnSpLocks noChangeShapeType="1"/>
            <a:stCxn id="14347" idx="2"/>
            <a:endCxn id="14356" idx="6"/>
          </p:cNvCxnSpPr>
          <p:nvPr/>
        </p:nvCxnSpPr>
        <p:spPr bwMode="auto">
          <a:xfrm flipH="1">
            <a:off x="6400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9" name="AutoShape 12"/>
          <p:cNvCxnSpPr>
            <a:cxnSpLocks noChangeShapeType="1"/>
            <a:stCxn id="14347" idx="1"/>
            <a:endCxn id="14346" idx="5"/>
          </p:cNvCxnSpPr>
          <p:nvPr/>
        </p:nvCxnSpPr>
        <p:spPr bwMode="auto">
          <a:xfrm flipH="1" flipV="1">
            <a:off x="7324725" y="2843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0" name="AutoShape 13"/>
          <p:cNvCxnSpPr>
            <a:cxnSpLocks noChangeShapeType="1"/>
            <a:stCxn id="14341" idx="7"/>
            <a:endCxn id="14347" idx="3"/>
          </p:cNvCxnSpPr>
          <p:nvPr/>
        </p:nvCxnSpPr>
        <p:spPr bwMode="auto">
          <a:xfrm flipV="1">
            <a:off x="7324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1" name="AutoShape 14"/>
          <p:cNvCxnSpPr>
            <a:cxnSpLocks noChangeShapeType="1"/>
            <a:stCxn id="14340" idx="5"/>
            <a:endCxn id="14356" idx="1"/>
          </p:cNvCxnSpPr>
          <p:nvPr/>
        </p:nvCxnSpPr>
        <p:spPr bwMode="auto">
          <a:xfrm>
            <a:off x="5267325" y="2828925"/>
            <a:ext cx="742950" cy="81915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52" name="AutoShape 15"/>
          <p:cNvCxnSpPr>
            <a:cxnSpLocks noChangeShapeType="1"/>
            <a:stCxn id="14346" idx="3"/>
            <a:endCxn id="14356" idx="7"/>
          </p:cNvCxnSpPr>
          <p:nvPr/>
        </p:nvCxnSpPr>
        <p:spPr bwMode="auto">
          <a:xfrm flipH="1">
            <a:off x="6334125" y="2843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3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54" name="AutoShape 17"/>
          <p:cNvCxnSpPr>
            <a:cxnSpLocks noChangeShapeType="1"/>
            <a:stCxn id="14353" idx="7"/>
            <a:endCxn id="14340" idx="3"/>
          </p:cNvCxnSpPr>
          <p:nvPr/>
        </p:nvCxnSpPr>
        <p:spPr bwMode="auto">
          <a:xfrm flipV="1">
            <a:off x="4276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5" name="AutoShape 18"/>
          <p:cNvCxnSpPr>
            <a:cxnSpLocks noChangeShapeType="1"/>
            <a:stCxn id="14342" idx="1"/>
            <a:endCxn id="14353" idx="5"/>
          </p:cNvCxnSpPr>
          <p:nvPr/>
        </p:nvCxnSpPr>
        <p:spPr bwMode="auto">
          <a:xfrm flipH="1" flipV="1">
            <a:off x="4276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6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57" name="AutoShape 20"/>
          <p:cNvCxnSpPr>
            <a:cxnSpLocks noChangeShapeType="1"/>
            <a:stCxn id="14341" idx="1"/>
            <a:endCxn id="14356" idx="5"/>
          </p:cNvCxnSpPr>
          <p:nvPr/>
        </p:nvCxnSpPr>
        <p:spPr bwMode="auto">
          <a:xfrm flipH="1" flipV="1">
            <a:off x="6334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8" name="AutoShape 21"/>
          <p:cNvCxnSpPr>
            <a:cxnSpLocks noChangeShapeType="1"/>
            <a:stCxn id="14342" idx="7"/>
            <a:endCxn id="14356" idx="3"/>
          </p:cNvCxnSpPr>
          <p:nvPr/>
        </p:nvCxnSpPr>
        <p:spPr bwMode="auto">
          <a:xfrm flipV="1">
            <a:off x="5267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9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4360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61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2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4363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364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4365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4366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7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8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4369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4370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71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372" name="Text Box 35"/>
          <p:cNvSpPr txBox="1">
            <a:spLocks noChangeArrowheads="1"/>
          </p:cNvSpPr>
          <p:nvPr/>
        </p:nvSpPr>
        <p:spPr bwMode="auto">
          <a:xfrm>
            <a:off x="7010401" y="20574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3" name="Text Box 36"/>
          <p:cNvSpPr txBox="1">
            <a:spLocks noChangeArrowheads="1"/>
          </p:cNvSpPr>
          <p:nvPr/>
        </p:nvSpPr>
        <p:spPr bwMode="auto">
          <a:xfrm>
            <a:off x="3505201" y="36671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4" name="Text Box 37"/>
          <p:cNvSpPr txBox="1">
            <a:spLocks noChangeArrowheads="1"/>
          </p:cNvSpPr>
          <p:nvPr/>
        </p:nvSpPr>
        <p:spPr bwMode="auto">
          <a:xfrm>
            <a:off x="8382001" y="35909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5" name="Text Box 38"/>
          <p:cNvSpPr txBox="1">
            <a:spLocks noChangeArrowheads="1"/>
          </p:cNvSpPr>
          <p:nvPr/>
        </p:nvSpPr>
        <p:spPr bwMode="auto">
          <a:xfrm>
            <a:off x="6019801" y="41243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6" name="Text Box 42"/>
          <p:cNvSpPr txBox="1">
            <a:spLocks noChangeArrowheads="1"/>
          </p:cNvSpPr>
          <p:nvPr/>
        </p:nvSpPr>
        <p:spPr bwMode="auto">
          <a:xfrm>
            <a:off x="2024063" y="1685221"/>
            <a:ext cx="7048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Pick vertex in List with minimum distance (B) and update neighbors</a:t>
            </a:r>
          </a:p>
        </p:txBody>
      </p:sp>
      <p:sp>
        <p:nvSpPr>
          <p:cNvPr id="14383" name="Text Box 49"/>
          <p:cNvSpPr txBox="1">
            <a:spLocks noChangeArrowheads="1"/>
          </p:cNvSpPr>
          <p:nvPr/>
        </p:nvSpPr>
        <p:spPr bwMode="auto">
          <a:xfrm>
            <a:off x="49530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84" name="Text Box 50"/>
          <p:cNvSpPr txBox="1">
            <a:spLocks noChangeArrowheads="1"/>
          </p:cNvSpPr>
          <p:nvPr/>
        </p:nvSpPr>
        <p:spPr bwMode="auto">
          <a:xfrm>
            <a:off x="70104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85" name="Text Box 51"/>
          <p:cNvSpPr txBox="1">
            <a:spLocks noChangeArrowheads="1"/>
          </p:cNvSpPr>
          <p:nvPr/>
        </p:nvSpPr>
        <p:spPr bwMode="auto">
          <a:xfrm>
            <a:off x="1119695" y="4221164"/>
            <a:ext cx="2743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Note : distance(D)</a:t>
            </a:r>
            <a:r>
              <a:rPr lang="en-US" altLang="en-US" sz="1800" baseline="-250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not updated since D is already known and distance(E) not updated since it is larger than previously computed</a:t>
            </a:r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827765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97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F380D0-AE59-432D-9FC4-4D67354BA0F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5364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5365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5366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67" name="AutoShape 6"/>
          <p:cNvCxnSpPr>
            <a:cxnSpLocks noChangeShapeType="1"/>
            <a:stCxn id="15365" idx="2"/>
            <a:endCxn id="15366" idx="6"/>
          </p:cNvCxnSpPr>
          <p:nvPr/>
        </p:nvCxnSpPr>
        <p:spPr bwMode="auto">
          <a:xfrm flipH="1">
            <a:off x="5334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8" name="AutoShape 7"/>
          <p:cNvCxnSpPr>
            <a:cxnSpLocks noChangeShapeType="1"/>
            <a:stCxn id="15380" idx="2"/>
            <a:endCxn id="15377" idx="6"/>
          </p:cNvCxnSpPr>
          <p:nvPr/>
        </p:nvCxnSpPr>
        <p:spPr bwMode="auto">
          <a:xfrm flipH="1">
            <a:off x="4343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9" name="AutoShape 8"/>
          <p:cNvCxnSpPr>
            <a:cxnSpLocks noChangeShapeType="1"/>
            <a:stCxn id="15364" idx="6"/>
            <a:endCxn id="15370" idx="2"/>
          </p:cNvCxnSpPr>
          <p:nvPr/>
        </p:nvCxnSpPr>
        <p:spPr bwMode="auto">
          <a:xfrm>
            <a:off x="5334000" y="2667000"/>
            <a:ext cx="1600200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370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5371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72" name="AutoShape 11"/>
          <p:cNvCxnSpPr>
            <a:cxnSpLocks noChangeShapeType="1"/>
            <a:stCxn id="15371" idx="2"/>
            <a:endCxn id="15380" idx="6"/>
          </p:cNvCxnSpPr>
          <p:nvPr/>
        </p:nvCxnSpPr>
        <p:spPr bwMode="auto">
          <a:xfrm flipH="1">
            <a:off x="6400801" y="3810000"/>
            <a:ext cx="1433513" cy="0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373" name="AutoShape 12"/>
          <p:cNvCxnSpPr>
            <a:cxnSpLocks noChangeShapeType="1"/>
            <a:stCxn id="15371" idx="1"/>
            <a:endCxn id="15370" idx="5"/>
          </p:cNvCxnSpPr>
          <p:nvPr/>
        </p:nvCxnSpPr>
        <p:spPr bwMode="auto">
          <a:xfrm flipH="1" flipV="1">
            <a:off x="7324725" y="2828926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4" name="AutoShape 13"/>
          <p:cNvCxnSpPr>
            <a:cxnSpLocks noChangeShapeType="1"/>
            <a:stCxn id="15365" idx="7"/>
            <a:endCxn id="15371" idx="3"/>
          </p:cNvCxnSpPr>
          <p:nvPr/>
        </p:nvCxnSpPr>
        <p:spPr bwMode="auto">
          <a:xfrm flipV="1">
            <a:off x="7324725" y="3986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5" name="AutoShape 14"/>
          <p:cNvCxnSpPr>
            <a:cxnSpLocks noChangeShapeType="1"/>
            <a:stCxn id="15364" idx="5"/>
            <a:endCxn id="15380" idx="1"/>
          </p:cNvCxnSpPr>
          <p:nvPr/>
        </p:nvCxnSpPr>
        <p:spPr bwMode="auto">
          <a:xfrm>
            <a:off x="5267325" y="2828925"/>
            <a:ext cx="742950" cy="81915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376" name="AutoShape 15"/>
          <p:cNvCxnSpPr>
            <a:cxnSpLocks noChangeShapeType="1"/>
            <a:stCxn id="15370" idx="3"/>
            <a:endCxn id="15380" idx="7"/>
          </p:cNvCxnSpPr>
          <p:nvPr/>
        </p:nvCxnSpPr>
        <p:spPr bwMode="auto">
          <a:xfrm flipH="1">
            <a:off x="6334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7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78" name="AutoShape 17"/>
          <p:cNvCxnSpPr>
            <a:cxnSpLocks noChangeShapeType="1"/>
            <a:stCxn id="15377" idx="7"/>
            <a:endCxn id="15364" idx="3"/>
          </p:cNvCxnSpPr>
          <p:nvPr/>
        </p:nvCxnSpPr>
        <p:spPr bwMode="auto">
          <a:xfrm flipV="1">
            <a:off x="4276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AutoShape 18"/>
          <p:cNvCxnSpPr>
            <a:cxnSpLocks noChangeShapeType="1"/>
            <a:stCxn id="15366" idx="1"/>
            <a:endCxn id="15377" idx="5"/>
          </p:cNvCxnSpPr>
          <p:nvPr/>
        </p:nvCxnSpPr>
        <p:spPr bwMode="auto">
          <a:xfrm flipH="1" flipV="1">
            <a:off x="4276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0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81" name="AutoShape 20"/>
          <p:cNvCxnSpPr>
            <a:cxnSpLocks noChangeShapeType="1"/>
            <a:stCxn id="15365" idx="1"/>
            <a:endCxn id="15380" idx="5"/>
          </p:cNvCxnSpPr>
          <p:nvPr/>
        </p:nvCxnSpPr>
        <p:spPr bwMode="auto">
          <a:xfrm flipH="1" flipV="1">
            <a:off x="6334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2" name="AutoShape 21"/>
          <p:cNvCxnSpPr>
            <a:cxnSpLocks noChangeShapeType="1"/>
            <a:stCxn id="15366" idx="7"/>
            <a:endCxn id="15380" idx="3"/>
          </p:cNvCxnSpPr>
          <p:nvPr/>
        </p:nvCxnSpPr>
        <p:spPr bwMode="auto">
          <a:xfrm flipV="1">
            <a:off x="5267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3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384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385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86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5387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5388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5389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390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91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92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5393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5394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395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396" name="Text Box 35"/>
          <p:cNvSpPr txBox="1">
            <a:spLocks noChangeArrowheads="1"/>
          </p:cNvSpPr>
          <p:nvPr/>
        </p:nvSpPr>
        <p:spPr bwMode="auto">
          <a:xfrm>
            <a:off x="7010401" y="20574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97" name="Text Box 36"/>
          <p:cNvSpPr txBox="1">
            <a:spLocks noChangeArrowheads="1"/>
          </p:cNvSpPr>
          <p:nvPr/>
        </p:nvSpPr>
        <p:spPr bwMode="auto">
          <a:xfrm>
            <a:off x="3505201" y="36671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98" name="Text Box 37"/>
          <p:cNvSpPr txBox="1">
            <a:spLocks noChangeArrowheads="1"/>
          </p:cNvSpPr>
          <p:nvPr/>
        </p:nvSpPr>
        <p:spPr bwMode="auto">
          <a:xfrm>
            <a:off x="8382001" y="35909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99" name="Text Box 38"/>
          <p:cNvSpPr txBox="1">
            <a:spLocks noChangeArrowheads="1"/>
          </p:cNvSpPr>
          <p:nvPr/>
        </p:nvSpPr>
        <p:spPr bwMode="auto">
          <a:xfrm>
            <a:off x="6019801" y="41243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406" name="Text Box 48"/>
          <p:cNvSpPr txBox="1">
            <a:spLocks noChangeArrowheads="1"/>
          </p:cNvSpPr>
          <p:nvPr/>
        </p:nvSpPr>
        <p:spPr bwMode="auto">
          <a:xfrm>
            <a:off x="49530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407" name="Text Box 49"/>
          <p:cNvSpPr txBox="1">
            <a:spLocks noChangeArrowheads="1"/>
          </p:cNvSpPr>
          <p:nvPr/>
        </p:nvSpPr>
        <p:spPr bwMode="auto">
          <a:xfrm>
            <a:off x="70104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408" name="Text Box 50"/>
          <p:cNvSpPr txBox="1">
            <a:spLocks noChangeArrowheads="1"/>
          </p:cNvSpPr>
          <p:nvPr/>
        </p:nvSpPr>
        <p:spPr bwMode="auto">
          <a:xfrm>
            <a:off x="7463127" y="4522357"/>
            <a:ext cx="14576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No updating</a:t>
            </a:r>
          </a:p>
        </p:txBody>
      </p:sp>
      <p:sp>
        <p:nvSpPr>
          <p:cNvPr id="15409" name="Text Box 42"/>
          <p:cNvSpPr txBox="1">
            <a:spLocks noChangeArrowheads="1"/>
          </p:cNvSpPr>
          <p:nvPr/>
        </p:nvSpPr>
        <p:spPr bwMode="auto">
          <a:xfrm>
            <a:off x="2188369" y="1712916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Pick vertex List with minimum distance (E) and update neighbors</a:t>
            </a:r>
          </a:p>
        </p:txBody>
      </p:sp>
      <p:sp>
        <p:nvSpPr>
          <p:cNvPr id="52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118630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34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96F186-DA42-404D-9E1A-6D14386DDE3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6388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89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90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391" name="AutoShape 6"/>
          <p:cNvCxnSpPr>
            <a:cxnSpLocks noChangeShapeType="1"/>
            <a:stCxn id="16389" idx="2"/>
            <a:endCxn id="16390" idx="6"/>
          </p:cNvCxnSpPr>
          <p:nvPr/>
        </p:nvCxnSpPr>
        <p:spPr bwMode="auto">
          <a:xfrm flipH="1">
            <a:off x="5334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2" name="AutoShape 7"/>
          <p:cNvCxnSpPr>
            <a:cxnSpLocks noChangeShapeType="1"/>
            <a:stCxn id="16404" idx="2"/>
            <a:endCxn id="16401" idx="6"/>
          </p:cNvCxnSpPr>
          <p:nvPr/>
        </p:nvCxnSpPr>
        <p:spPr bwMode="auto">
          <a:xfrm flipH="1">
            <a:off x="4357688" y="3810000"/>
            <a:ext cx="1585912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93" name="AutoShape 8"/>
          <p:cNvCxnSpPr>
            <a:cxnSpLocks noChangeShapeType="1"/>
            <a:stCxn id="16388" idx="6"/>
            <a:endCxn id="16394" idx="2"/>
          </p:cNvCxnSpPr>
          <p:nvPr/>
        </p:nvCxnSpPr>
        <p:spPr bwMode="auto">
          <a:xfrm>
            <a:off x="5334000" y="2667000"/>
            <a:ext cx="1600200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394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95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396" name="AutoShape 11"/>
          <p:cNvCxnSpPr>
            <a:cxnSpLocks noChangeShapeType="1"/>
            <a:stCxn id="16395" idx="2"/>
            <a:endCxn id="16404" idx="6"/>
          </p:cNvCxnSpPr>
          <p:nvPr/>
        </p:nvCxnSpPr>
        <p:spPr bwMode="auto">
          <a:xfrm flipH="1">
            <a:off x="6400800" y="3810000"/>
            <a:ext cx="1447800" cy="0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97" name="AutoShape 12"/>
          <p:cNvCxnSpPr>
            <a:cxnSpLocks noChangeShapeType="1"/>
            <a:stCxn id="16395" idx="1"/>
            <a:endCxn id="16394" idx="5"/>
          </p:cNvCxnSpPr>
          <p:nvPr/>
        </p:nvCxnSpPr>
        <p:spPr bwMode="auto">
          <a:xfrm flipH="1" flipV="1">
            <a:off x="7324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13"/>
          <p:cNvCxnSpPr>
            <a:cxnSpLocks noChangeShapeType="1"/>
            <a:stCxn id="16389" idx="7"/>
            <a:endCxn id="16395" idx="3"/>
          </p:cNvCxnSpPr>
          <p:nvPr/>
        </p:nvCxnSpPr>
        <p:spPr bwMode="auto">
          <a:xfrm flipV="1">
            <a:off x="7324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4"/>
          <p:cNvCxnSpPr>
            <a:cxnSpLocks noChangeShapeType="1"/>
            <a:stCxn id="16388" idx="5"/>
            <a:endCxn id="16404" idx="1"/>
          </p:cNvCxnSpPr>
          <p:nvPr/>
        </p:nvCxnSpPr>
        <p:spPr bwMode="auto">
          <a:xfrm>
            <a:off x="5267325" y="2828925"/>
            <a:ext cx="742950" cy="81915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00" name="AutoShape 15"/>
          <p:cNvCxnSpPr>
            <a:cxnSpLocks noChangeShapeType="1"/>
            <a:stCxn id="16394" idx="3"/>
            <a:endCxn id="16404" idx="7"/>
          </p:cNvCxnSpPr>
          <p:nvPr/>
        </p:nvCxnSpPr>
        <p:spPr bwMode="auto">
          <a:xfrm flipH="1">
            <a:off x="6334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1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402" name="AutoShape 17"/>
          <p:cNvCxnSpPr>
            <a:cxnSpLocks noChangeShapeType="1"/>
            <a:stCxn id="16401" idx="7"/>
            <a:endCxn id="16388" idx="3"/>
          </p:cNvCxnSpPr>
          <p:nvPr/>
        </p:nvCxnSpPr>
        <p:spPr bwMode="auto">
          <a:xfrm flipV="1">
            <a:off x="4276725" y="2828926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3" name="AutoShape 18"/>
          <p:cNvCxnSpPr>
            <a:cxnSpLocks noChangeShapeType="1"/>
            <a:stCxn id="16390" idx="1"/>
            <a:endCxn id="16401" idx="5"/>
          </p:cNvCxnSpPr>
          <p:nvPr/>
        </p:nvCxnSpPr>
        <p:spPr bwMode="auto">
          <a:xfrm flipH="1" flipV="1">
            <a:off x="42767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4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405" name="AutoShape 20"/>
          <p:cNvCxnSpPr>
            <a:cxnSpLocks noChangeShapeType="1"/>
            <a:stCxn id="16389" idx="1"/>
            <a:endCxn id="16404" idx="5"/>
          </p:cNvCxnSpPr>
          <p:nvPr/>
        </p:nvCxnSpPr>
        <p:spPr bwMode="auto">
          <a:xfrm flipH="1" flipV="1">
            <a:off x="6334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6" name="AutoShape 21"/>
          <p:cNvCxnSpPr>
            <a:cxnSpLocks noChangeShapeType="1"/>
            <a:stCxn id="16390" idx="7"/>
            <a:endCxn id="16404" idx="3"/>
          </p:cNvCxnSpPr>
          <p:nvPr/>
        </p:nvCxnSpPr>
        <p:spPr bwMode="auto">
          <a:xfrm flipV="1">
            <a:off x="5267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7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08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09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0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6411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412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413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14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5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6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6417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6418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19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6420" name="Text Box 35"/>
          <p:cNvSpPr txBox="1">
            <a:spLocks noChangeArrowheads="1"/>
          </p:cNvSpPr>
          <p:nvPr/>
        </p:nvSpPr>
        <p:spPr bwMode="auto">
          <a:xfrm>
            <a:off x="7010401" y="20574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1" name="Text Box 36"/>
          <p:cNvSpPr txBox="1">
            <a:spLocks noChangeArrowheads="1"/>
          </p:cNvSpPr>
          <p:nvPr/>
        </p:nvSpPr>
        <p:spPr bwMode="auto">
          <a:xfrm>
            <a:off x="3505201" y="36671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2" name="Text Box 37"/>
          <p:cNvSpPr txBox="1">
            <a:spLocks noChangeArrowheads="1"/>
          </p:cNvSpPr>
          <p:nvPr/>
        </p:nvSpPr>
        <p:spPr bwMode="auto">
          <a:xfrm>
            <a:off x="8382001" y="35909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3" name="Text Box 38"/>
          <p:cNvSpPr txBox="1">
            <a:spLocks noChangeArrowheads="1"/>
          </p:cNvSpPr>
          <p:nvPr/>
        </p:nvSpPr>
        <p:spPr bwMode="auto">
          <a:xfrm>
            <a:off x="6019801" y="41243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30" name="Text Box 46"/>
          <p:cNvSpPr txBox="1">
            <a:spLocks noChangeArrowheads="1"/>
          </p:cNvSpPr>
          <p:nvPr/>
        </p:nvSpPr>
        <p:spPr bwMode="auto">
          <a:xfrm>
            <a:off x="4953000" y="5257800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8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31" name="Text Box 47"/>
          <p:cNvSpPr txBox="1">
            <a:spLocks noChangeArrowheads="1"/>
          </p:cNvSpPr>
          <p:nvPr/>
        </p:nvSpPr>
        <p:spPr bwMode="auto">
          <a:xfrm>
            <a:off x="70104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32" name="Text Box 42"/>
          <p:cNvSpPr txBox="1">
            <a:spLocks noChangeArrowheads="1"/>
          </p:cNvSpPr>
          <p:nvPr/>
        </p:nvSpPr>
        <p:spPr bwMode="auto">
          <a:xfrm>
            <a:off x="2034669" y="170338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Pick vertex List with minimum distance (C) and update neighbors</a:t>
            </a:r>
          </a:p>
        </p:txBody>
      </p:sp>
      <p:sp>
        <p:nvSpPr>
          <p:cNvPr id="16433" name="Text Box 49"/>
          <p:cNvSpPr txBox="1">
            <a:spLocks noChangeArrowheads="1"/>
          </p:cNvSpPr>
          <p:nvPr/>
        </p:nvSpPr>
        <p:spPr bwMode="auto">
          <a:xfrm>
            <a:off x="1828801" y="4724400"/>
            <a:ext cx="2728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Distance(F) = 3 + 5 = 8</a:t>
            </a:r>
          </a:p>
        </p:txBody>
      </p:sp>
      <p:sp>
        <p:nvSpPr>
          <p:cNvPr id="52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71834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264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00DDA3-07EB-4F63-BEDF-CCCFC2F4CFE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7412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3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4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15" name="AutoShape 6"/>
          <p:cNvCxnSpPr>
            <a:cxnSpLocks noChangeShapeType="1"/>
            <a:stCxn id="17413" idx="2"/>
            <a:endCxn id="17414" idx="6"/>
          </p:cNvCxnSpPr>
          <p:nvPr/>
        </p:nvCxnSpPr>
        <p:spPr bwMode="auto">
          <a:xfrm flipH="1">
            <a:off x="5334001" y="4953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6" name="AutoShape 7"/>
          <p:cNvCxnSpPr>
            <a:cxnSpLocks noChangeShapeType="1"/>
            <a:stCxn id="17428" idx="2"/>
            <a:endCxn id="17425" idx="6"/>
          </p:cNvCxnSpPr>
          <p:nvPr/>
        </p:nvCxnSpPr>
        <p:spPr bwMode="auto">
          <a:xfrm flipH="1">
            <a:off x="4343400" y="3810000"/>
            <a:ext cx="1600200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17" name="AutoShape 8"/>
          <p:cNvCxnSpPr>
            <a:cxnSpLocks noChangeShapeType="1"/>
            <a:stCxn id="17412" idx="6"/>
            <a:endCxn id="17418" idx="2"/>
          </p:cNvCxnSpPr>
          <p:nvPr/>
        </p:nvCxnSpPr>
        <p:spPr bwMode="auto">
          <a:xfrm>
            <a:off x="5334000" y="2667000"/>
            <a:ext cx="1600200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18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9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0" name="AutoShape 11"/>
          <p:cNvCxnSpPr>
            <a:cxnSpLocks noChangeShapeType="1"/>
            <a:stCxn id="17419" idx="2"/>
            <a:endCxn id="17428" idx="6"/>
          </p:cNvCxnSpPr>
          <p:nvPr/>
        </p:nvCxnSpPr>
        <p:spPr bwMode="auto">
          <a:xfrm flipH="1">
            <a:off x="6400800" y="3810000"/>
            <a:ext cx="1447800" cy="0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21" name="AutoShape 12"/>
          <p:cNvCxnSpPr>
            <a:cxnSpLocks noChangeShapeType="1"/>
            <a:stCxn id="17419" idx="1"/>
            <a:endCxn id="17418" idx="5"/>
          </p:cNvCxnSpPr>
          <p:nvPr/>
        </p:nvCxnSpPr>
        <p:spPr bwMode="auto">
          <a:xfrm flipH="1" flipV="1">
            <a:off x="7324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2" name="AutoShape 13"/>
          <p:cNvCxnSpPr>
            <a:cxnSpLocks noChangeShapeType="1"/>
            <a:stCxn id="17413" idx="7"/>
            <a:endCxn id="17419" idx="3"/>
          </p:cNvCxnSpPr>
          <p:nvPr/>
        </p:nvCxnSpPr>
        <p:spPr bwMode="auto">
          <a:xfrm flipV="1">
            <a:off x="7324725" y="3971926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3" name="AutoShape 14"/>
          <p:cNvCxnSpPr>
            <a:cxnSpLocks noChangeShapeType="1"/>
            <a:stCxn id="17412" idx="5"/>
            <a:endCxn id="17428" idx="1"/>
          </p:cNvCxnSpPr>
          <p:nvPr/>
        </p:nvCxnSpPr>
        <p:spPr bwMode="auto">
          <a:xfrm>
            <a:off x="5267325" y="2828925"/>
            <a:ext cx="742950" cy="81915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24" name="AutoShape 15"/>
          <p:cNvCxnSpPr>
            <a:cxnSpLocks noChangeShapeType="1"/>
            <a:stCxn id="17418" idx="3"/>
            <a:endCxn id="17428" idx="7"/>
          </p:cNvCxnSpPr>
          <p:nvPr/>
        </p:nvCxnSpPr>
        <p:spPr bwMode="auto">
          <a:xfrm flipH="1">
            <a:off x="6334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5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6" name="AutoShape 17"/>
          <p:cNvCxnSpPr>
            <a:cxnSpLocks noChangeShapeType="1"/>
            <a:stCxn id="17425" idx="7"/>
            <a:endCxn id="17412" idx="3"/>
          </p:cNvCxnSpPr>
          <p:nvPr/>
        </p:nvCxnSpPr>
        <p:spPr bwMode="auto">
          <a:xfrm flipV="1">
            <a:off x="4276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7" name="AutoShape 18"/>
          <p:cNvCxnSpPr>
            <a:cxnSpLocks noChangeShapeType="1"/>
            <a:stCxn id="17414" idx="1"/>
            <a:endCxn id="17425" idx="5"/>
          </p:cNvCxnSpPr>
          <p:nvPr/>
        </p:nvCxnSpPr>
        <p:spPr bwMode="auto">
          <a:xfrm flipH="1" flipV="1">
            <a:off x="4276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8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9" name="AutoShape 20"/>
          <p:cNvCxnSpPr>
            <a:cxnSpLocks noChangeShapeType="1"/>
            <a:stCxn id="17413" idx="1"/>
            <a:endCxn id="17428" idx="5"/>
          </p:cNvCxnSpPr>
          <p:nvPr/>
        </p:nvCxnSpPr>
        <p:spPr bwMode="auto">
          <a:xfrm flipH="1" flipV="1">
            <a:off x="6334125" y="3971926"/>
            <a:ext cx="666750" cy="804863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30" name="AutoShape 21"/>
          <p:cNvCxnSpPr>
            <a:cxnSpLocks noChangeShapeType="1"/>
            <a:stCxn id="17414" idx="7"/>
            <a:endCxn id="17428" idx="3"/>
          </p:cNvCxnSpPr>
          <p:nvPr/>
        </p:nvCxnSpPr>
        <p:spPr bwMode="auto">
          <a:xfrm flipV="1">
            <a:off x="5267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1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32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33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34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7435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436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437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38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39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40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7441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42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43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7444" name="Text Box 35"/>
          <p:cNvSpPr txBox="1">
            <a:spLocks noChangeArrowheads="1"/>
          </p:cNvSpPr>
          <p:nvPr/>
        </p:nvSpPr>
        <p:spPr bwMode="auto">
          <a:xfrm>
            <a:off x="7010401" y="20574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45" name="Text Box 36"/>
          <p:cNvSpPr txBox="1">
            <a:spLocks noChangeArrowheads="1"/>
          </p:cNvSpPr>
          <p:nvPr/>
        </p:nvSpPr>
        <p:spPr bwMode="auto">
          <a:xfrm>
            <a:off x="3505201" y="36671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46" name="Text Box 37"/>
          <p:cNvSpPr txBox="1">
            <a:spLocks noChangeArrowheads="1"/>
          </p:cNvSpPr>
          <p:nvPr/>
        </p:nvSpPr>
        <p:spPr bwMode="auto">
          <a:xfrm>
            <a:off x="8382001" y="35909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47" name="Text Box 38"/>
          <p:cNvSpPr txBox="1">
            <a:spLocks noChangeArrowheads="1"/>
          </p:cNvSpPr>
          <p:nvPr/>
        </p:nvSpPr>
        <p:spPr bwMode="auto">
          <a:xfrm>
            <a:off x="6019801" y="41243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54" name="Text Box 46"/>
          <p:cNvSpPr txBox="1">
            <a:spLocks noChangeArrowheads="1"/>
          </p:cNvSpPr>
          <p:nvPr/>
        </p:nvSpPr>
        <p:spPr bwMode="auto">
          <a:xfrm>
            <a:off x="4953000" y="5257800"/>
            <a:ext cx="312906" cy="369332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6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55" name="Text Box 47"/>
          <p:cNvSpPr txBox="1">
            <a:spLocks noChangeArrowheads="1"/>
          </p:cNvSpPr>
          <p:nvPr/>
        </p:nvSpPr>
        <p:spPr bwMode="auto">
          <a:xfrm>
            <a:off x="70104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56" name="Text Box 49"/>
          <p:cNvSpPr txBox="1">
            <a:spLocks noChangeArrowheads="1"/>
          </p:cNvSpPr>
          <p:nvPr/>
        </p:nvSpPr>
        <p:spPr bwMode="auto">
          <a:xfrm>
            <a:off x="1752600" y="5581650"/>
            <a:ext cx="358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Distance(F) = min (8, 5+1) = 6</a:t>
            </a:r>
          </a:p>
        </p:txBody>
      </p:sp>
      <p:sp>
        <p:nvSpPr>
          <p:cNvPr id="17457" name="Text Box 50"/>
          <p:cNvSpPr txBox="1">
            <a:spLocks noChangeArrowheads="1"/>
          </p:cNvSpPr>
          <p:nvPr/>
        </p:nvSpPr>
        <p:spPr bwMode="auto">
          <a:xfrm>
            <a:off x="2362200" y="5029201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Previous distance</a:t>
            </a:r>
          </a:p>
        </p:txBody>
      </p:sp>
      <p:sp>
        <p:nvSpPr>
          <p:cNvPr id="17458" name="Line 51"/>
          <p:cNvSpPr>
            <a:spLocks noChangeShapeType="1"/>
          </p:cNvSpPr>
          <p:nvPr/>
        </p:nvSpPr>
        <p:spPr bwMode="auto">
          <a:xfrm flipH="1">
            <a:off x="3860800" y="54102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9" name="Text Box 42"/>
          <p:cNvSpPr txBox="1">
            <a:spLocks noChangeArrowheads="1"/>
          </p:cNvSpPr>
          <p:nvPr/>
        </p:nvSpPr>
        <p:spPr bwMode="auto">
          <a:xfrm>
            <a:off x="2188369" y="1712915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Pick vertex List with minimum distance (G) and update neighbors</a:t>
            </a:r>
          </a:p>
        </p:txBody>
      </p:sp>
      <p:sp>
        <p:nvSpPr>
          <p:cNvPr id="54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738789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117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8DB048-80BE-4232-8B9F-BAD16663126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8436" name="Oval 3"/>
          <p:cNvSpPr>
            <a:spLocks noChangeArrowheads="1"/>
          </p:cNvSpPr>
          <p:nvPr/>
        </p:nvSpPr>
        <p:spPr bwMode="auto">
          <a:xfrm>
            <a:off x="4876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37" name="Oval 4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38" name="Oval 5"/>
          <p:cNvSpPr>
            <a:spLocks noChangeArrowheads="1"/>
          </p:cNvSpPr>
          <p:nvPr/>
        </p:nvSpPr>
        <p:spPr bwMode="auto">
          <a:xfrm>
            <a:off x="48768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39" name="AutoShape 6"/>
          <p:cNvCxnSpPr>
            <a:cxnSpLocks noChangeShapeType="1"/>
            <a:stCxn id="18437" idx="2"/>
            <a:endCxn id="18438" idx="6"/>
          </p:cNvCxnSpPr>
          <p:nvPr/>
        </p:nvCxnSpPr>
        <p:spPr bwMode="auto">
          <a:xfrm flipH="1">
            <a:off x="5348288" y="4953000"/>
            <a:ext cx="1585912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40" name="AutoShape 7"/>
          <p:cNvCxnSpPr>
            <a:cxnSpLocks noChangeShapeType="1"/>
            <a:stCxn id="18452" idx="2"/>
            <a:endCxn id="18449" idx="6"/>
          </p:cNvCxnSpPr>
          <p:nvPr/>
        </p:nvCxnSpPr>
        <p:spPr bwMode="auto">
          <a:xfrm flipH="1">
            <a:off x="4343400" y="3810000"/>
            <a:ext cx="1600200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41" name="AutoShape 8"/>
          <p:cNvCxnSpPr>
            <a:cxnSpLocks noChangeShapeType="1"/>
            <a:stCxn id="18436" idx="6"/>
            <a:endCxn id="18442" idx="2"/>
          </p:cNvCxnSpPr>
          <p:nvPr/>
        </p:nvCxnSpPr>
        <p:spPr bwMode="auto">
          <a:xfrm>
            <a:off x="5334000" y="2667000"/>
            <a:ext cx="1600200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442" name="Oval 9"/>
          <p:cNvSpPr>
            <a:spLocks noChangeArrowheads="1"/>
          </p:cNvSpPr>
          <p:nvPr/>
        </p:nvSpPr>
        <p:spPr bwMode="auto">
          <a:xfrm>
            <a:off x="6934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43" name="Oval 10"/>
          <p:cNvSpPr>
            <a:spLocks noChangeArrowheads="1"/>
          </p:cNvSpPr>
          <p:nvPr/>
        </p:nvSpPr>
        <p:spPr bwMode="auto">
          <a:xfrm>
            <a:off x="7848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44" name="AutoShape 11"/>
          <p:cNvCxnSpPr>
            <a:cxnSpLocks noChangeShapeType="1"/>
            <a:stCxn id="18443" idx="2"/>
            <a:endCxn id="18452" idx="6"/>
          </p:cNvCxnSpPr>
          <p:nvPr/>
        </p:nvCxnSpPr>
        <p:spPr bwMode="auto">
          <a:xfrm flipH="1">
            <a:off x="6400800" y="3810000"/>
            <a:ext cx="1447800" cy="0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45" name="AutoShape 12"/>
          <p:cNvCxnSpPr>
            <a:cxnSpLocks noChangeShapeType="1"/>
            <a:stCxn id="18443" idx="1"/>
            <a:endCxn id="18442" idx="5"/>
          </p:cNvCxnSpPr>
          <p:nvPr/>
        </p:nvCxnSpPr>
        <p:spPr bwMode="auto">
          <a:xfrm flipH="1" flipV="1">
            <a:off x="7324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6" name="AutoShape 13"/>
          <p:cNvCxnSpPr>
            <a:cxnSpLocks noChangeShapeType="1"/>
            <a:stCxn id="18437" idx="7"/>
            <a:endCxn id="18443" idx="3"/>
          </p:cNvCxnSpPr>
          <p:nvPr/>
        </p:nvCxnSpPr>
        <p:spPr bwMode="auto">
          <a:xfrm flipV="1">
            <a:off x="7324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7" name="AutoShape 14"/>
          <p:cNvCxnSpPr>
            <a:cxnSpLocks noChangeShapeType="1"/>
            <a:stCxn id="18436" idx="5"/>
            <a:endCxn id="18452" idx="1"/>
          </p:cNvCxnSpPr>
          <p:nvPr/>
        </p:nvCxnSpPr>
        <p:spPr bwMode="auto">
          <a:xfrm>
            <a:off x="5267325" y="2828925"/>
            <a:ext cx="742950" cy="81915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48" name="AutoShape 15"/>
          <p:cNvCxnSpPr>
            <a:cxnSpLocks noChangeShapeType="1"/>
            <a:stCxn id="18442" idx="3"/>
            <a:endCxn id="18452" idx="7"/>
          </p:cNvCxnSpPr>
          <p:nvPr/>
        </p:nvCxnSpPr>
        <p:spPr bwMode="auto">
          <a:xfrm flipH="1">
            <a:off x="6334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9" name="Oval 16"/>
          <p:cNvSpPr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50" name="AutoShape 17"/>
          <p:cNvCxnSpPr>
            <a:cxnSpLocks noChangeShapeType="1"/>
            <a:stCxn id="18449" idx="7"/>
            <a:endCxn id="18436" idx="3"/>
          </p:cNvCxnSpPr>
          <p:nvPr/>
        </p:nvCxnSpPr>
        <p:spPr bwMode="auto">
          <a:xfrm flipV="1">
            <a:off x="4276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1" name="AutoShape 18"/>
          <p:cNvCxnSpPr>
            <a:cxnSpLocks noChangeShapeType="1"/>
            <a:stCxn id="18438" idx="1"/>
            <a:endCxn id="18449" idx="5"/>
          </p:cNvCxnSpPr>
          <p:nvPr/>
        </p:nvCxnSpPr>
        <p:spPr bwMode="auto">
          <a:xfrm flipH="1" flipV="1">
            <a:off x="4276725" y="3971926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2" name="Oval 19"/>
          <p:cNvSpPr>
            <a:spLocks noChangeArrowheads="1"/>
          </p:cNvSpPr>
          <p:nvPr/>
        </p:nvSpPr>
        <p:spPr bwMode="auto">
          <a:xfrm>
            <a:off x="5943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53" name="AutoShape 20"/>
          <p:cNvCxnSpPr>
            <a:cxnSpLocks noChangeShapeType="1"/>
            <a:stCxn id="18437" idx="1"/>
            <a:endCxn id="18452" idx="5"/>
          </p:cNvCxnSpPr>
          <p:nvPr/>
        </p:nvCxnSpPr>
        <p:spPr bwMode="auto">
          <a:xfrm flipH="1" flipV="1">
            <a:off x="6334125" y="3971925"/>
            <a:ext cx="666750" cy="819150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54" name="AutoShape 21"/>
          <p:cNvCxnSpPr>
            <a:cxnSpLocks noChangeShapeType="1"/>
            <a:stCxn id="18438" idx="7"/>
            <a:endCxn id="18452" idx="3"/>
          </p:cNvCxnSpPr>
          <p:nvPr/>
        </p:nvCxnSpPr>
        <p:spPr bwMode="auto">
          <a:xfrm flipV="1">
            <a:off x="5267325" y="3971926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5" name="Text Box 22"/>
          <p:cNvSpPr txBox="1">
            <a:spLocks noChangeArrowheads="1"/>
          </p:cNvSpPr>
          <p:nvPr/>
        </p:nvSpPr>
        <p:spPr bwMode="auto">
          <a:xfrm>
            <a:off x="4281489" y="3078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56" name="Text Box 23"/>
          <p:cNvSpPr txBox="1">
            <a:spLocks noChangeArrowheads="1"/>
          </p:cNvSpPr>
          <p:nvPr/>
        </p:nvSpPr>
        <p:spPr bwMode="auto">
          <a:xfrm>
            <a:off x="5591176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57" name="Text Box 24"/>
          <p:cNvSpPr txBox="1">
            <a:spLocks noChangeArrowheads="1"/>
          </p:cNvSpPr>
          <p:nvPr/>
        </p:nvSpPr>
        <p:spPr bwMode="auto">
          <a:xfrm>
            <a:off x="6019801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58" name="Text Box 25"/>
          <p:cNvSpPr txBox="1">
            <a:spLocks noChangeArrowheads="1"/>
          </p:cNvSpPr>
          <p:nvPr/>
        </p:nvSpPr>
        <p:spPr bwMode="auto">
          <a:xfrm>
            <a:off x="7497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8459" name="Text Box 26"/>
          <p:cNvSpPr txBox="1">
            <a:spLocks noChangeArrowheads="1"/>
          </p:cNvSpPr>
          <p:nvPr/>
        </p:nvSpPr>
        <p:spPr bwMode="auto">
          <a:xfrm>
            <a:off x="6446839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460" name="Text Box 27"/>
          <p:cNvSpPr txBox="1">
            <a:spLocks noChangeArrowheads="1"/>
          </p:cNvSpPr>
          <p:nvPr/>
        </p:nvSpPr>
        <p:spPr bwMode="auto">
          <a:xfrm>
            <a:off x="7696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461" name="Text Box 28"/>
          <p:cNvSpPr txBox="1">
            <a:spLocks noChangeArrowheads="1"/>
          </p:cNvSpPr>
          <p:nvPr/>
        </p:nvSpPr>
        <p:spPr bwMode="auto">
          <a:xfrm>
            <a:off x="67056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62" name="Text Box 29"/>
          <p:cNvSpPr txBox="1">
            <a:spLocks noChangeArrowheads="1"/>
          </p:cNvSpPr>
          <p:nvPr/>
        </p:nvSpPr>
        <p:spPr bwMode="auto">
          <a:xfrm>
            <a:off x="70104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63" name="Text Box 30"/>
          <p:cNvSpPr txBox="1">
            <a:spLocks noChangeArrowheads="1"/>
          </p:cNvSpPr>
          <p:nvPr/>
        </p:nvSpPr>
        <p:spPr bwMode="auto">
          <a:xfrm>
            <a:off x="4953001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64" name="Text Box 31"/>
          <p:cNvSpPr txBox="1">
            <a:spLocks noChangeArrowheads="1"/>
          </p:cNvSpPr>
          <p:nvPr/>
        </p:nvSpPr>
        <p:spPr bwMode="auto">
          <a:xfrm>
            <a:off x="54102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465" name="Text Box 32"/>
          <p:cNvSpPr txBox="1">
            <a:spLocks noChangeArrowheads="1"/>
          </p:cNvSpPr>
          <p:nvPr/>
        </p:nvSpPr>
        <p:spPr bwMode="auto">
          <a:xfrm>
            <a:off x="4343401" y="4221164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466" name="Text Box 33"/>
          <p:cNvSpPr txBox="1">
            <a:spLocks noChangeArrowheads="1"/>
          </p:cNvSpPr>
          <p:nvPr/>
        </p:nvSpPr>
        <p:spPr bwMode="auto">
          <a:xfrm>
            <a:off x="6096001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67" name="Text Box 34"/>
          <p:cNvSpPr txBox="1">
            <a:spLocks noChangeArrowheads="1"/>
          </p:cNvSpPr>
          <p:nvPr/>
        </p:nvSpPr>
        <p:spPr bwMode="auto">
          <a:xfrm>
            <a:off x="4953001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8468" name="Text Box 35"/>
          <p:cNvSpPr txBox="1">
            <a:spLocks noChangeArrowheads="1"/>
          </p:cNvSpPr>
          <p:nvPr/>
        </p:nvSpPr>
        <p:spPr bwMode="auto">
          <a:xfrm>
            <a:off x="7010401" y="20574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69" name="Text Box 36"/>
          <p:cNvSpPr txBox="1">
            <a:spLocks noChangeArrowheads="1"/>
          </p:cNvSpPr>
          <p:nvPr/>
        </p:nvSpPr>
        <p:spPr bwMode="auto">
          <a:xfrm>
            <a:off x="3505201" y="36671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70" name="Text Box 37"/>
          <p:cNvSpPr txBox="1">
            <a:spLocks noChangeArrowheads="1"/>
          </p:cNvSpPr>
          <p:nvPr/>
        </p:nvSpPr>
        <p:spPr bwMode="auto">
          <a:xfrm>
            <a:off x="8382001" y="35909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71" name="Text Box 38"/>
          <p:cNvSpPr txBox="1">
            <a:spLocks noChangeArrowheads="1"/>
          </p:cNvSpPr>
          <p:nvPr/>
        </p:nvSpPr>
        <p:spPr bwMode="auto">
          <a:xfrm>
            <a:off x="6019801" y="4124326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72" name="Text Box 39"/>
          <p:cNvSpPr txBox="1">
            <a:spLocks noChangeArrowheads="1"/>
          </p:cNvSpPr>
          <p:nvPr/>
        </p:nvSpPr>
        <p:spPr bwMode="auto">
          <a:xfrm>
            <a:off x="3184526" y="5649913"/>
            <a:ext cx="6494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not in S with lowest cost (F) and update neighbors</a:t>
            </a:r>
          </a:p>
        </p:txBody>
      </p:sp>
      <p:sp>
        <p:nvSpPr>
          <p:cNvPr id="18479" name="Text Box 46"/>
          <p:cNvSpPr txBox="1">
            <a:spLocks noChangeArrowheads="1"/>
          </p:cNvSpPr>
          <p:nvPr/>
        </p:nvSpPr>
        <p:spPr bwMode="auto">
          <a:xfrm>
            <a:off x="49530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6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80" name="Text Box 47"/>
          <p:cNvSpPr txBox="1">
            <a:spLocks noChangeArrowheads="1"/>
          </p:cNvSpPr>
          <p:nvPr/>
        </p:nvSpPr>
        <p:spPr bwMode="auto">
          <a:xfrm>
            <a:off x="7010401" y="5257801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9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(end)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23014"/>
              </p:ext>
            </p:extLst>
          </p:nvPr>
        </p:nvGraphicFramePr>
        <p:xfrm>
          <a:off x="8977889" y="1948584"/>
          <a:ext cx="2567565" cy="3507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293">
                  <a:extLst>
                    <a:ext uri="{9D8B030D-6E8A-4147-A177-3AD203B41FA5}">
                      <a16:colId xmlns:a16="http://schemas.microsoft.com/office/drawing/2014/main" val="11390443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79922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338735011"/>
                    </a:ext>
                  </a:extLst>
                </a:gridCol>
              </a:tblGrid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67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339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06135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617606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9657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534089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816332"/>
                  </a:ext>
                </a:extLst>
              </a:tr>
              <a:tr h="438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0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817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1807009"/>
            <a:ext cx="7912100" cy="416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</a:t>
            </a:r>
          </a:p>
        </p:txBody>
      </p:sp>
    </p:spTree>
    <p:extLst>
      <p:ext uri="{BB962C8B-B14F-4D97-AF65-F5344CB8AC3E}">
        <p14:creationId xmlns:p14="http://schemas.microsoft.com/office/powerpoint/2010/main" val="1470595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754" y="1757798"/>
            <a:ext cx="8247063" cy="450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1296895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171" y="1773382"/>
            <a:ext cx="8247063" cy="4535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3755810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003" y="1767032"/>
            <a:ext cx="8247063" cy="45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3445429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694" y="1776270"/>
            <a:ext cx="8247063" cy="4559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2172270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082" y="1764292"/>
            <a:ext cx="8245475" cy="4553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3201333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795" y="1755055"/>
            <a:ext cx="8247062" cy="451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320802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137" y="1764292"/>
            <a:ext cx="8245475" cy="456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3642224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742" y="1776702"/>
            <a:ext cx="8245475" cy="4494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Continued...</a:t>
            </a:r>
          </a:p>
        </p:txBody>
      </p:sp>
    </p:spTree>
    <p:extLst>
      <p:ext uri="{BB962C8B-B14F-4D97-AF65-F5344CB8AC3E}">
        <p14:creationId xmlns:p14="http://schemas.microsoft.com/office/powerpoint/2010/main" val="3031510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if Negative Edge/Cycle??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8240" y="1773382"/>
            <a:ext cx="9936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suitable when the graph consists of negative edges. The reason is, it doesn’t revisit those nodes which have already been marked as visited. If a shorter path exists through a longer route with negative edges,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Dijkstra’s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will fail to handle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6712"/>
            <a:ext cx="9936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negative weight cycle is a cycle in a graph, whose sum of edge weights is negative. If you traverse the cycle, the total weight accumulated would be less than zero.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presence of negative weight cycle in the graph, the shortest path doesn’t exist because with each traversal of the cycle shortest path keeps decreasing.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437" y="3361422"/>
            <a:ext cx="2352980" cy="208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37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Bellman–Ford Algorithm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1764145"/>
            <a:ext cx="993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Bellman-Ford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source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shortest path algorithm. It effectively works in the cases of negative edges and is able to detect negative cycles as well. It works on the principle of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relaxation of the edge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2109" y="2410476"/>
            <a:ext cx="5846618" cy="355481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BellmanFord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(G, source):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for each vertex v in G: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distance[v] = ∞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distance[source] = 0</a:t>
            </a:r>
          </a:p>
          <a:p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for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|V| - 1: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for each edge (u, v) with weight w in G: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if distance[u] + w &lt; distance[v]: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distance[v] = distance[u] + w</a:t>
            </a:r>
          </a:p>
          <a:p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for each edge (u, v) with weight w in G: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 distance[u] + w &lt; distance[v]: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report "Negative-weight cycle detected"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return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8727" y="2484582"/>
            <a:ext cx="446116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distance to all other nodes as ∞ (infinity).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>
            <a:endCxn id="4" idx="1"/>
          </p:cNvCxnSpPr>
          <p:nvPr/>
        </p:nvCxnSpPr>
        <p:spPr>
          <a:xfrm flipV="1">
            <a:off x="3731491" y="2653859"/>
            <a:ext cx="3057236" cy="375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88727" y="2867734"/>
            <a:ext cx="4461164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distance to the source node as 0.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805382" y="3029527"/>
            <a:ext cx="2983345" cy="2124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8727" y="3550112"/>
            <a:ext cx="4461164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 all edges (V - 1) times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>
            <a:endCxn id="12" idx="1"/>
          </p:cNvCxnSpPr>
          <p:nvPr/>
        </p:nvCxnSpPr>
        <p:spPr>
          <a:xfrm>
            <a:off x="4188691" y="3719389"/>
            <a:ext cx="26000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88727" y="4672330"/>
            <a:ext cx="5098474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negative-weight cycles (optional but important)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6077527" y="4849091"/>
            <a:ext cx="711200" cy="92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36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0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2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3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animBg="1"/>
      <p:bldP spid="4" grpId="0" animBg="1"/>
      <p:bldP spid="10" grpId="0" animBg="1"/>
      <p:bldP spid="12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Bellman–Ford Algorithm - 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0603" r="7208"/>
          <a:stretch/>
        </p:blipFill>
        <p:spPr>
          <a:xfrm>
            <a:off x="1097280" y="2142198"/>
            <a:ext cx="4023360" cy="287848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178" y="2299853"/>
            <a:ext cx="4408489" cy="287848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cxnSp>
        <p:nvCxnSpPr>
          <p:cNvPr id="21" name="Straight Arrow Connector 20"/>
          <p:cNvCxnSpPr>
            <a:stCxn id="6" idx="3"/>
            <a:endCxn id="7" idx="1"/>
          </p:cNvCxnSpPr>
          <p:nvPr/>
        </p:nvCxnSpPr>
        <p:spPr>
          <a:xfrm>
            <a:off x="5120640" y="3581440"/>
            <a:ext cx="1437538" cy="157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0" y="5528624"/>
            <a:ext cx="143753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Relaxation</a:t>
            </a:r>
          </a:p>
        </p:txBody>
      </p:sp>
    </p:spTree>
    <p:extLst>
      <p:ext uri="{BB962C8B-B14F-4D97-AF65-F5344CB8AC3E}">
        <p14:creationId xmlns:p14="http://schemas.microsoft.com/office/powerpoint/2010/main" val="848549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1" y="2299853"/>
            <a:ext cx="4408489" cy="287848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cxnSp>
        <p:nvCxnSpPr>
          <p:cNvPr id="21" name="Straight Arrow Connector 20"/>
          <p:cNvCxnSpPr>
            <a:stCxn id="6" idx="3"/>
            <a:endCxn id="7" idx="1"/>
          </p:cNvCxnSpPr>
          <p:nvPr/>
        </p:nvCxnSpPr>
        <p:spPr>
          <a:xfrm>
            <a:off x="5120640" y="3739095"/>
            <a:ext cx="1437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0" y="5528624"/>
            <a:ext cx="143753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Relaxation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177" y="2299854"/>
            <a:ext cx="4123230" cy="287848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6220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cxnSp>
        <p:nvCxnSpPr>
          <p:cNvPr id="21" name="Straight Arrow Connector 20"/>
          <p:cNvCxnSpPr>
            <a:stCxn id="6" idx="3"/>
            <a:endCxn id="7" idx="1"/>
          </p:cNvCxnSpPr>
          <p:nvPr/>
        </p:nvCxnSpPr>
        <p:spPr>
          <a:xfrm>
            <a:off x="5120640" y="3739095"/>
            <a:ext cx="1437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0" y="5528624"/>
            <a:ext cx="143753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Relaxation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99854"/>
            <a:ext cx="4123230" cy="287848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5182"/>
          <a:stretch/>
        </p:blipFill>
        <p:spPr>
          <a:xfrm>
            <a:off x="6601791" y="2299854"/>
            <a:ext cx="3979747" cy="287848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431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cxnSp>
        <p:nvCxnSpPr>
          <p:cNvPr id="21" name="Straight Arrow Connector 20"/>
          <p:cNvCxnSpPr>
            <a:stCxn id="6" idx="3"/>
            <a:endCxn id="7" idx="1"/>
          </p:cNvCxnSpPr>
          <p:nvPr/>
        </p:nvCxnSpPr>
        <p:spPr>
          <a:xfrm>
            <a:off x="5120640" y="3739095"/>
            <a:ext cx="1437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0" y="5528624"/>
            <a:ext cx="143753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 Relaxation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5182"/>
          <a:stretch/>
        </p:blipFill>
        <p:spPr>
          <a:xfrm>
            <a:off x="1140893" y="2299854"/>
            <a:ext cx="3979747" cy="287848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178" y="2297754"/>
            <a:ext cx="4333967" cy="288058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8300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cxnSp>
        <p:nvCxnSpPr>
          <p:cNvPr id="21" name="Straight Arrow Connector 20"/>
          <p:cNvCxnSpPr>
            <a:stCxn id="6" idx="3"/>
            <a:endCxn id="7" idx="1"/>
          </p:cNvCxnSpPr>
          <p:nvPr/>
        </p:nvCxnSpPr>
        <p:spPr>
          <a:xfrm>
            <a:off x="5120640" y="3739095"/>
            <a:ext cx="1437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0" y="5528624"/>
            <a:ext cx="143753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 Relaxation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178" y="2297754"/>
            <a:ext cx="4333967" cy="288058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73" y="2297754"/>
            <a:ext cx="4333967" cy="288058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6918036" y="5357091"/>
            <a:ext cx="453505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updates found. Hence, no negative edge cycle present in the graph.</a:t>
            </a:r>
          </a:p>
        </p:txBody>
      </p:sp>
    </p:spTree>
    <p:extLst>
      <p:ext uri="{BB962C8B-B14F-4D97-AF65-F5344CB8AC3E}">
        <p14:creationId xmlns:p14="http://schemas.microsoft.com/office/powerpoint/2010/main" val="87260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727" y="1838036"/>
            <a:ext cx="995495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suppose we have a graph which is given below and we want to find whether there exists a negative cycle or not using Bellman-Ford.</a:t>
            </a:r>
          </a:p>
        </p:txBody>
      </p:sp>
      <p:pic>
        <p:nvPicPr>
          <p:cNvPr id="1026" name="Picture 2" descr="Lightbox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8" t="11326" r="20582" b="11292"/>
          <a:stretch/>
        </p:blipFill>
        <p:spPr bwMode="auto">
          <a:xfrm>
            <a:off x="2900218" y="2567494"/>
            <a:ext cx="5671128" cy="3685309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149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2050" name="Picture 2" descr="fi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62"/>
          <a:stretch/>
        </p:blipFill>
        <p:spPr bwMode="auto">
          <a:xfrm>
            <a:off x="1213658" y="1820487"/>
            <a:ext cx="9942022" cy="4380808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08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3074" name="Picture 2" descr="fi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9" t="-348" r="349" b="7665"/>
          <a:stretch/>
        </p:blipFill>
        <p:spPr bwMode="auto">
          <a:xfrm>
            <a:off x="1213658" y="1837112"/>
            <a:ext cx="9942022" cy="4414059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04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4098" name="Picture 2" descr="fi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63"/>
          <a:stretch/>
        </p:blipFill>
        <p:spPr bwMode="auto">
          <a:xfrm>
            <a:off x="1097280" y="1820488"/>
            <a:ext cx="10058400" cy="4364181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86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5122" name="Picture 2" descr="fi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86"/>
          <a:stretch/>
        </p:blipFill>
        <p:spPr bwMode="auto">
          <a:xfrm>
            <a:off x="1097280" y="1828801"/>
            <a:ext cx="10058400" cy="4305992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7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8194" name="Picture 2" descr="fi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63"/>
          <a:stretch/>
        </p:blipFill>
        <p:spPr bwMode="auto">
          <a:xfrm>
            <a:off x="1097280" y="1820487"/>
            <a:ext cx="10058400" cy="4364182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61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7170" name="Picture 2" descr="fi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62"/>
          <a:stretch/>
        </p:blipFill>
        <p:spPr bwMode="auto">
          <a:xfrm>
            <a:off x="1097280" y="1853738"/>
            <a:ext cx="10058400" cy="4330931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36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456421"/>
            <a:ext cx="10058400" cy="823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Continued…</a:t>
            </a:r>
          </a:p>
        </p:txBody>
      </p:sp>
      <p:pic>
        <p:nvPicPr>
          <p:cNvPr id="6146" name="Picture 2" descr="Lightbox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60"/>
          <a:stretch/>
        </p:blipFill>
        <p:spPr bwMode="auto">
          <a:xfrm>
            <a:off x="1097280" y="1820487"/>
            <a:ext cx="10058400" cy="4297680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703128" y="2687782"/>
            <a:ext cx="412865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negative cycle (D-&gt;F-&gt;E) exists in the graph.</a:t>
            </a:r>
          </a:p>
        </p:txBody>
      </p:sp>
    </p:spTree>
    <p:extLst>
      <p:ext uri="{BB962C8B-B14F-4D97-AF65-F5344CB8AC3E}">
        <p14:creationId xmlns:p14="http://schemas.microsoft.com/office/powerpoint/2010/main" val="143011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406" y="732826"/>
            <a:ext cx="10058400" cy="3617106"/>
          </a:xfrm>
        </p:spPr>
        <p:txBody>
          <a:bodyPr anchor="ctr"/>
          <a:lstStyle/>
          <a:p>
            <a:pPr algn="ctr"/>
            <a:r>
              <a:rPr lang="en-US" sz="11500" i="1" dirty="0">
                <a:solidFill>
                  <a:schemeClr val="accent2"/>
                </a:solidFill>
                <a:latin typeface="Algerian" panose="04020705040A02060702" pitchFamily="82" charset="0"/>
              </a:rPr>
              <a:t>Thank You</a:t>
            </a:r>
            <a:endParaRPr lang="en-US" i="1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878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1DCF98-1157-4EC0-AB4A-8C6EBECAA66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5992B85-A27D-47F9-8829-E9E2086DAA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D0EFD1-698C-4A90-BA5D-D85042417B61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1448</TotalTime>
  <Words>1541</Words>
  <Application>Microsoft Office PowerPoint</Application>
  <PresentationFormat>Widescreen</PresentationFormat>
  <Paragraphs>625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Retrospect</vt:lpstr>
      <vt:lpstr>Single-Source Shortest Path Algorithm</vt:lpstr>
      <vt:lpstr>Single-Source Shortest Path Problem </vt:lpstr>
      <vt:lpstr>Relaxation</vt:lpstr>
      <vt:lpstr>Introduction</vt:lpstr>
      <vt:lpstr>Applications of Dijkstra's Algorithm</vt:lpstr>
      <vt:lpstr>Dijkstra’s Algorithm</vt:lpstr>
      <vt:lpstr>Example: Initialization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creator>Lecturer-nth</dc:creator>
  <cp:lastModifiedBy>Md. Muktar Hossain</cp:lastModifiedBy>
  <cp:revision>137</cp:revision>
  <dcterms:created xsi:type="dcterms:W3CDTF">2024-12-10T03:43:05Z</dcterms:created>
  <dcterms:modified xsi:type="dcterms:W3CDTF">2025-05-26T06:05:40Z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