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534" r:id="rId2"/>
    <p:sldId id="278" r:id="rId3"/>
    <p:sldId id="280" r:id="rId4"/>
    <p:sldId id="257" r:id="rId5"/>
    <p:sldId id="279" r:id="rId6"/>
    <p:sldId id="281" r:id="rId7"/>
    <p:sldId id="260" r:id="rId8"/>
    <p:sldId id="269" r:id="rId9"/>
    <p:sldId id="272" r:id="rId10"/>
    <p:sldId id="291" r:id="rId11"/>
    <p:sldId id="292" r:id="rId12"/>
    <p:sldId id="373" r:id="rId13"/>
    <p:sldId id="528" r:id="rId14"/>
    <p:sldId id="529" r:id="rId15"/>
    <p:sldId id="375" r:id="rId16"/>
    <p:sldId id="376" r:id="rId17"/>
    <p:sldId id="530" r:id="rId18"/>
    <p:sldId id="378" r:id="rId19"/>
    <p:sldId id="379" r:id="rId20"/>
    <p:sldId id="377" r:id="rId21"/>
    <p:sldId id="536" r:id="rId22"/>
    <p:sldId id="53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7" autoAdjust="0"/>
    <p:restoredTop sz="93896" autoAdjust="0"/>
  </p:normalViewPr>
  <p:slideViewPr>
    <p:cSldViewPr snapToGrid="0">
      <p:cViewPr varScale="1">
        <p:scale>
          <a:sx n="80" d="100"/>
          <a:sy n="80" d="100"/>
        </p:scale>
        <p:origin x="643"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7A0C71-37E2-4D3F-9336-1E2D6A8CB902}" type="datetimeFigureOut">
              <a:rPr lang="en-US" smtClean="0"/>
              <a:t>10/27/2025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FA8DB5-7464-4EEF-B753-7BAD084799FC}" type="slidenum">
              <a:rPr lang="en-US" smtClean="0"/>
              <a:t>‹#›</a:t>
            </a:fld>
            <a:endParaRPr lang="en-US"/>
          </a:p>
        </p:txBody>
      </p:sp>
    </p:spTree>
    <p:extLst>
      <p:ext uri="{BB962C8B-B14F-4D97-AF65-F5344CB8AC3E}">
        <p14:creationId xmlns:p14="http://schemas.microsoft.com/office/powerpoint/2010/main" val="1382591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one is better and faster</a:t>
            </a:r>
          </a:p>
        </p:txBody>
      </p:sp>
      <p:sp>
        <p:nvSpPr>
          <p:cNvPr id="4" name="Slide Number Placeholder 3"/>
          <p:cNvSpPr>
            <a:spLocks noGrp="1"/>
          </p:cNvSpPr>
          <p:nvPr>
            <p:ph type="sldNum" sz="quarter" idx="10"/>
          </p:nvPr>
        </p:nvSpPr>
        <p:spPr/>
        <p:txBody>
          <a:bodyPr/>
          <a:lstStyle/>
          <a:p>
            <a:fld id="{C1FA8DB5-7464-4EEF-B753-7BAD084799FC}" type="slidenum">
              <a:rPr lang="en-US" smtClean="0"/>
              <a:t>9</a:t>
            </a:fld>
            <a:endParaRPr lang="en-US"/>
          </a:p>
        </p:txBody>
      </p:sp>
    </p:spTree>
    <p:extLst>
      <p:ext uri="{BB962C8B-B14F-4D97-AF65-F5344CB8AC3E}">
        <p14:creationId xmlns:p14="http://schemas.microsoft.com/office/powerpoint/2010/main" val="27147834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890048" y="2557669"/>
            <a:ext cx="6768548" cy="3562667"/>
          </a:xfrm>
        </p:spPr>
        <p:txBody>
          <a:bodyPr/>
          <a:lstStyle>
            <a:lvl1pPr marL="342900" indent="-342900">
              <a:buFont typeface="Calibri" panose="020F0502020204030204" pitchFamily="34" charset="0"/>
              <a:buChar char="•"/>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endParaRPr lang="en-US" dirty="0"/>
          </a:p>
        </p:txBody>
      </p:sp>
      <p:sp>
        <p:nvSpPr>
          <p:cNvPr id="6" name="Slide Number Placeholder 5"/>
          <p:cNvSpPr>
            <a:spLocks noGrp="1"/>
          </p:cNvSpPr>
          <p:nvPr>
            <p:ph type="sldNum" sz="quarter" idx="12"/>
          </p:nvPr>
        </p:nvSpPr>
        <p:spPr/>
        <p:txBody>
          <a:bodyPr/>
          <a:lstStyle>
            <a:lvl1pPr>
              <a:defRPr sz="1600"/>
            </a:lvl1pPr>
          </a:lstStyle>
          <a:p>
            <a:fld id="{D4CB4268-A73A-4E9F-B029-579C920CE364}" type="slidenum">
              <a:rPr lang="en-US" smtClean="0"/>
              <a:pPr/>
              <a:t>‹#›</a:t>
            </a:fld>
            <a:endParaRPr lang="en-US" dirty="0"/>
          </a:p>
        </p:txBody>
      </p:sp>
      <p:sp>
        <p:nvSpPr>
          <p:cNvPr id="9" name="Text Placeholder 2"/>
          <p:cNvSpPr>
            <a:spLocks noGrp="1"/>
          </p:cNvSpPr>
          <p:nvPr>
            <p:ph type="body" idx="13"/>
          </p:nvPr>
        </p:nvSpPr>
        <p:spPr>
          <a:xfrm>
            <a:off x="4890048" y="1417982"/>
            <a:ext cx="6768548" cy="969933"/>
          </a:xfrm>
          <a:noFill/>
          <a:ln>
            <a:noFill/>
          </a:ln>
        </p:spPr>
        <p:txBody>
          <a:bodyPr anchor="ctr" anchorCtr="0">
            <a:normAutofit/>
          </a:bodyPr>
          <a:lstStyle>
            <a:lvl1pPr marL="0" indent="0" algn="l">
              <a:buNone/>
              <a:defRPr sz="3200" b="1">
                <a:solidFill>
                  <a:schemeClr val="tx1"/>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endParaRPr lang="en-US" dirty="0"/>
          </a:p>
        </p:txBody>
      </p:sp>
      <p:cxnSp>
        <p:nvCxnSpPr>
          <p:cNvPr id="11" name="Straight Connector 10"/>
          <p:cNvCxnSpPr/>
          <p:nvPr userDrawn="1"/>
        </p:nvCxnSpPr>
        <p:spPr>
          <a:xfrm>
            <a:off x="4890048" y="2387915"/>
            <a:ext cx="6768548" cy="0"/>
          </a:xfrm>
          <a:prstGeom prst="line">
            <a:avLst/>
          </a:prstGeom>
        </p:spPr>
        <p:style>
          <a:lnRef idx="1">
            <a:schemeClr val="dk1"/>
          </a:lnRef>
          <a:fillRef idx="0">
            <a:schemeClr val="dk1"/>
          </a:fillRef>
          <a:effectRef idx="0">
            <a:schemeClr val="dk1"/>
          </a:effectRef>
          <a:fontRef idx="minor">
            <a:schemeClr val="tx1"/>
          </a:fontRef>
        </p:style>
      </p:cxnSp>
      <p:pic>
        <p:nvPicPr>
          <p:cNvPr id="12" name="Picture 11"/>
          <p:cNvPicPr>
            <a:picLocks noChangeAspect="1"/>
          </p:cNvPicPr>
          <p:nvPr userDrawn="1"/>
        </p:nvPicPr>
        <p:blipFill>
          <a:blip r:embed="rId2"/>
          <a:stretch>
            <a:fillRect/>
          </a:stretch>
        </p:blipFill>
        <p:spPr>
          <a:xfrm>
            <a:off x="236083" y="1417982"/>
            <a:ext cx="4143375" cy="4676775"/>
          </a:xfrm>
          <a:prstGeom prst="rect">
            <a:avLst/>
          </a:prstGeom>
          <a:ln>
            <a:solidFill>
              <a:schemeClr val="accent1"/>
            </a:solidFill>
          </a:ln>
        </p:spPr>
      </p:pic>
      <p:sp>
        <p:nvSpPr>
          <p:cNvPr id="2" name="Rectangle 1"/>
          <p:cNvSpPr/>
          <p:nvPr userDrawn="1"/>
        </p:nvSpPr>
        <p:spPr>
          <a:xfrm>
            <a:off x="0" y="0"/>
            <a:ext cx="12192000" cy="934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4000" dirty="0"/>
              <a:t>  Algorithms					</a:t>
            </a:r>
            <a:r>
              <a:rPr lang="en-US" sz="3200" dirty="0"/>
              <a:t>Dr. Md Nakib Hayat Chowdhury</a:t>
            </a:r>
            <a:endParaRPr lang="en-US" sz="1400" dirty="0"/>
          </a:p>
        </p:txBody>
      </p:sp>
      <p:sp>
        <p:nvSpPr>
          <p:cNvPr id="4" name="Rectangle 3">
            <a:extLst>
              <a:ext uri="{FF2B5EF4-FFF2-40B4-BE49-F238E27FC236}">
                <a16:creationId xmlns:a16="http://schemas.microsoft.com/office/drawing/2014/main" id="{8B786D18-EF74-0AB4-822F-6D1881242AA7}"/>
              </a:ext>
            </a:extLst>
          </p:cNvPr>
          <p:cNvSpPr/>
          <p:nvPr userDrawn="1"/>
        </p:nvSpPr>
        <p:spPr>
          <a:xfrm>
            <a:off x="0" y="6484941"/>
            <a:ext cx="12192000" cy="36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1421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91460" y="365125"/>
            <a:ext cx="10927994" cy="973345"/>
          </a:xfrm>
        </p:spPr>
        <p:txBody>
          <a:bodyPr>
            <a:normAutofit/>
          </a:bodyPr>
          <a:lstStyle>
            <a:lvl1pPr>
              <a:defRPr sz="4000" b="1">
                <a:latin typeface="+mj-lt"/>
                <a:cs typeface="Times New Roman" panose="02020603050405020304" pitchFamily="18" charset="0"/>
              </a:defRPr>
            </a:lvl1pPr>
          </a:lstStyle>
          <a:p>
            <a:endParaRPr lang="en-US" dirty="0"/>
          </a:p>
        </p:txBody>
      </p:sp>
      <p:sp>
        <p:nvSpPr>
          <p:cNvPr id="5" name="Slide Number Placeholder 4"/>
          <p:cNvSpPr>
            <a:spLocks noGrp="1"/>
          </p:cNvSpPr>
          <p:nvPr>
            <p:ph type="sldNum" sz="quarter" idx="12"/>
          </p:nvPr>
        </p:nvSpPr>
        <p:spPr>
          <a:xfrm>
            <a:off x="8770256" y="6293521"/>
            <a:ext cx="2743200" cy="365125"/>
          </a:xfrm>
        </p:spPr>
        <p:txBody>
          <a:bodyPr/>
          <a:lstStyle>
            <a:lvl1pPr>
              <a:defRPr sz="1600"/>
            </a:lvl1pPr>
          </a:lstStyle>
          <a:p>
            <a:fld id="{93320A9D-4FF9-4672-80A9-172CCB9E2733}" type="slidenum">
              <a:rPr lang="en-US" smtClean="0"/>
              <a:pPr/>
              <a:t>‹#›</a:t>
            </a:fld>
            <a:endParaRPr lang="en-US" dirty="0"/>
          </a:p>
        </p:txBody>
      </p:sp>
      <p:cxnSp>
        <p:nvCxnSpPr>
          <p:cNvPr id="6" name="Straight Connector 5"/>
          <p:cNvCxnSpPr/>
          <p:nvPr userDrawn="1"/>
        </p:nvCxnSpPr>
        <p:spPr>
          <a:xfrm>
            <a:off x="586410" y="1352984"/>
            <a:ext cx="10972800" cy="0"/>
          </a:xfrm>
          <a:prstGeom prst="line">
            <a:avLst/>
          </a:prstGeom>
        </p:spPr>
        <p:style>
          <a:lnRef idx="1">
            <a:schemeClr val="dk1"/>
          </a:lnRef>
          <a:fillRef idx="0">
            <a:schemeClr val="dk1"/>
          </a:fillRef>
          <a:effectRef idx="0">
            <a:schemeClr val="dk1"/>
          </a:effectRef>
          <a:fontRef idx="minor">
            <a:schemeClr val="tx1"/>
          </a:fontRef>
        </p:style>
      </p:cxnSp>
      <p:sp>
        <p:nvSpPr>
          <p:cNvPr id="8" name="Content Placeholder 2"/>
          <p:cNvSpPr>
            <a:spLocks noGrp="1"/>
          </p:cNvSpPr>
          <p:nvPr>
            <p:ph sz="half" idx="1"/>
          </p:nvPr>
        </p:nvSpPr>
        <p:spPr>
          <a:xfrm>
            <a:off x="586410" y="1563758"/>
            <a:ext cx="10927046" cy="4518990"/>
          </a:xfrm>
        </p:spPr>
        <p:txBody>
          <a:bodyPr/>
          <a:lstStyle>
            <a:lvl1pPr marL="344488" indent="-344488">
              <a:lnSpc>
                <a:spcPct val="125000"/>
              </a:lnSpc>
              <a:buFont typeface="Arial" panose="020B0604020202020204" pitchFamily="34" charset="0"/>
              <a:buChar char="•"/>
              <a:defRPr>
                <a:latin typeface="Times New Roman" panose="02020603050405020304" pitchFamily="18" charset="0"/>
                <a:cs typeface="Times New Roman" panose="02020603050405020304" pitchFamily="18" charset="0"/>
              </a:defRPr>
            </a:lvl1pPr>
          </a:lstStyle>
          <a:p>
            <a:pPr lvl="0"/>
            <a:endParaRPr lang="en-US" dirty="0"/>
          </a:p>
        </p:txBody>
      </p:sp>
    </p:spTree>
    <p:extLst>
      <p:ext uri="{BB962C8B-B14F-4D97-AF65-F5344CB8AC3E}">
        <p14:creationId xmlns:p14="http://schemas.microsoft.com/office/powerpoint/2010/main" val="1697606669"/>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150B350-B645-4F76-BEF9-0A5B3F86916A}"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72D9B6-9265-4886-AA3B-2A42CED0620F}" type="slidenum">
              <a:rPr lang="en-US" smtClean="0"/>
              <a:t>‹#›</a:t>
            </a:fld>
            <a:endParaRPr lang="en-US"/>
          </a:p>
        </p:txBody>
      </p:sp>
    </p:spTree>
    <p:extLst>
      <p:ext uri="{BB962C8B-B14F-4D97-AF65-F5344CB8AC3E}">
        <p14:creationId xmlns:p14="http://schemas.microsoft.com/office/powerpoint/2010/main" val="522504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50B350-B645-4F76-BEF9-0A5B3F86916A}"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72D9B6-9265-4886-AA3B-2A42CED0620F}" type="slidenum">
              <a:rPr lang="en-US" smtClean="0"/>
              <a:t>‹#›</a:t>
            </a:fld>
            <a:endParaRPr lang="en-US"/>
          </a:p>
        </p:txBody>
      </p:sp>
    </p:spTree>
    <p:extLst>
      <p:ext uri="{BB962C8B-B14F-4D97-AF65-F5344CB8AC3E}">
        <p14:creationId xmlns:p14="http://schemas.microsoft.com/office/powerpoint/2010/main" val="1099817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50B350-B645-4F76-BEF9-0A5B3F86916A}"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72D9B6-9265-4886-AA3B-2A42CED0620F}" type="slidenum">
              <a:rPr lang="en-US" smtClean="0"/>
              <a:t>‹#›</a:t>
            </a:fld>
            <a:endParaRPr lang="en-US"/>
          </a:p>
        </p:txBody>
      </p:sp>
    </p:spTree>
    <p:extLst>
      <p:ext uri="{BB962C8B-B14F-4D97-AF65-F5344CB8AC3E}">
        <p14:creationId xmlns:p14="http://schemas.microsoft.com/office/powerpoint/2010/main" val="3895825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150B350-B645-4F76-BEF9-0A5B3F86916A}"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72D9B6-9265-4886-AA3B-2A42CED0620F}" type="slidenum">
              <a:rPr lang="en-US" smtClean="0"/>
              <a:t>‹#›</a:t>
            </a:fld>
            <a:endParaRPr lang="en-US"/>
          </a:p>
        </p:txBody>
      </p:sp>
    </p:spTree>
    <p:extLst>
      <p:ext uri="{BB962C8B-B14F-4D97-AF65-F5344CB8AC3E}">
        <p14:creationId xmlns:p14="http://schemas.microsoft.com/office/powerpoint/2010/main" val="37634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150B350-B645-4F76-BEF9-0A5B3F86916A}" type="datetimeFigureOut">
              <a:rPr lang="en-US" smtClean="0"/>
              <a:t>10/27/2025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72D9B6-9265-4886-AA3B-2A42CED0620F}" type="slidenum">
              <a:rPr lang="en-US" smtClean="0"/>
              <a:t>‹#›</a:t>
            </a:fld>
            <a:endParaRPr lang="en-US"/>
          </a:p>
        </p:txBody>
      </p:sp>
    </p:spTree>
    <p:extLst>
      <p:ext uri="{BB962C8B-B14F-4D97-AF65-F5344CB8AC3E}">
        <p14:creationId xmlns:p14="http://schemas.microsoft.com/office/powerpoint/2010/main" val="242619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150B350-B645-4F76-BEF9-0A5B3F86916A}" type="datetimeFigureOut">
              <a:rPr lang="en-US" smtClean="0"/>
              <a:t>10/27/2025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872D9B6-9265-4886-AA3B-2A42CED0620F}" type="slidenum">
              <a:rPr lang="en-US" smtClean="0"/>
              <a:t>‹#›</a:t>
            </a:fld>
            <a:endParaRPr lang="en-US"/>
          </a:p>
        </p:txBody>
      </p:sp>
    </p:spTree>
    <p:extLst>
      <p:ext uri="{BB962C8B-B14F-4D97-AF65-F5344CB8AC3E}">
        <p14:creationId xmlns:p14="http://schemas.microsoft.com/office/powerpoint/2010/main" val="245619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50B350-B645-4F76-BEF9-0A5B3F86916A}" type="datetimeFigureOut">
              <a:rPr lang="en-US" smtClean="0"/>
              <a:t>10/27/2025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72D9B6-9265-4886-AA3B-2A42CED0620F}" type="slidenum">
              <a:rPr lang="en-US" smtClean="0"/>
              <a:t>‹#›</a:t>
            </a:fld>
            <a:endParaRPr lang="en-US"/>
          </a:p>
        </p:txBody>
      </p:sp>
    </p:spTree>
    <p:extLst>
      <p:ext uri="{BB962C8B-B14F-4D97-AF65-F5344CB8AC3E}">
        <p14:creationId xmlns:p14="http://schemas.microsoft.com/office/powerpoint/2010/main" val="858188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50B350-B645-4F76-BEF9-0A5B3F86916A}"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72D9B6-9265-4886-AA3B-2A42CED0620F}" type="slidenum">
              <a:rPr lang="en-US" smtClean="0"/>
              <a:t>‹#›</a:t>
            </a:fld>
            <a:endParaRPr lang="en-US"/>
          </a:p>
        </p:txBody>
      </p:sp>
    </p:spTree>
    <p:extLst>
      <p:ext uri="{BB962C8B-B14F-4D97-AF65-F5344CB8AC3E}">
        <p14:creationId xmlns:p14="http://schemas.microsoft.com/office/powerpoint/2010/main" val="538255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50B350-B645-4F76-BEF9-0A5B3F86916A}"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72D9B6-9265-4886-AA3B-2A42CED0620F}" type="slidenum">
              <a:rPr lang="en-US" smtClean="0"/>
              <a:t>‹#›</a:t>
            </a:fld>
            <a:endParaRPr lang="en-US"/>
          </a:p>
        </p:txBody>
      </p:sp>
    </p:spTree>
    <p:extLst>
      <p:ext uri="{BB962C8B-B14F-4D97-AF65-F5344CB8AC3E}">
        <p14:creationId xmlns:p14="http://schemas.microsoft.com/office/powerpoint/2010/main" val="38939247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50B350-B645-4F76-BEF9-0A5B3F86916A}"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72D9B6-9265-4886-AA3B-2A42CED0620F}" type="slidenum">
              <a:rPr lang="en-US" smtClean="0"/>
              <a:t>‹#›</a:t>
            </a:fld>
            <a:endParaRPr lang="en-US"/>
          </a:p>
        </p:txBody>
      </p:sp>
    </p:spTree>
    <p:extLst>
      <p:ext uri="{BB962C8B-B14F-4D97-AF65-F5344CB8AC3E}">
        <p14:creationId xmlns:p14="http://schemas.microsoft.com/office/powerpoint/2010/main" val="6694661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50B350-B645-4F76-BEF9-0A5B3F86916A}"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72D9B6-9265-4886-AA3B-2A42CED0620F}" type="slidenum">
              <a:rPr lang="en-US" smtClean="0"/>
              <a:t>‹#›</a:t>
            </a:fld>
            <a:endParaRPr lang="en-US"/>
          </a:p>
        </p:txBody>
      </p:sp>
    </p:spTree>
    <p:extLst>
      <p:ext uri="{BB962C8B-B14F-4D97-AF65-F5344CB8AC3E}">
        <p14:creationId xmlns:p14="http://schemas.microsoft.com/office/powerpoint/2010/main" val="1030986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50B350-B645-4F76-BEF9-0A5B3F86916A}" type="datetimeFigureOut">
              <a:rPr lang="en-US" smtClean="0"/>
              <a:t>10/27/2025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72D9B6-9265-4886-AA3B-2A42CED0620F}" type="slidenum">
              <a:rPr lang="en-US" smtClean="0"/>
              <a:t>‹#›</a:t>
            </a:fld>
            <a:endParaRPr lang="en-US"/>
          </a:p>
        </p:txBody>
      </p:sp>
    </p:spTree>
    <p:extLst>
      <p:ext uri="{BB962C8B-B14F-4D97-AF65-F5344CB8AC3E}">
        <p14:creationId xmlns:p14="http://schemas.microsoft.com/office/powerpoint/2010/main" val="4110236356"/>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4985298" y="2567194"/>
            <a:ext cx="6768548" cy="3562667"/>
          </a:xfrm>
        </p:spPr>
        <p:txBody>
          <a:bodyPr/>
          <a:lstStyle/>
          <a:p>
            <a:r>
              <a:rPr lang="en-US" dirty="0">
                <a:latin typeface="Times New Roman" panose="02020603050405020304" pitchFamily="18" charset="0"/>
                <a:cs typeface="Times New Roman" panose="02020603050405020304" pitchFamily="18" charset="0"/>
              </a:rPr>
              <a:t>LCS</a:t>
            </a:r>
          </a:p>
        </p:txBody>
      </p:sp>
      <p:sp>
        <p:nvSpPr>
          <p:cNvPr id="3" name="Text Placeholder 2"/>
          <p:cNvSpPr>
            <a:spLocks noGrp="1"/>
          </p:cNvSpPr>
          <p:nvPr>
            <p:ph type="body" idx="13"/>
          </p:nvPr>
        </p:nvSpPr>
        <p:spPr/>
        <p:txBody>
          <a:bodyPr/>
          <a:lstStyle/>
          <a:p>
            <a:r>
              <a:rPr lang="en-US" dirty="0"/>
              <a:t>Dynamic Programming</a:t>
            </a:r>
          </a:p>
        </p:txBody>
      </p:sp>
    </p:spTree>
    <p:extLst>
      <p:ext uri="{BB962C8B-B14F-4D97-AF65-F5344CB8AC3E}">
        <p14:creationId xmlns:p14="http://schemas.microsoft.com/office/powerpoint/2010/main" val="3621258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Programming (DP)</a:t>
            </a:r>
          </a:p>
        </p:txBody>
      </p:sp>
      <p:sp>
        <p:nvSpPr>
          <p:cNvPr id="3" name="Slide Number Placeholder 2"/>
          <p:cNvSpPr>
            <a:spLocks noGrp="1"/>
          </p:cNvSpPr>
          <p:nvPr>
            <p:ph type="sldNum" sz="quarter" idx="12"/>
          </p:nvPr>
        </p:nvSpPr>
        <p:spPr/>
        <p:txBody>
          <a:bodyPr/>
          <a:lstStyle/>
          <a:p>
            <a:fld id="{93320A9D-4FF9-4672-80A9-172CCB9E2733}" type="slidenum">
              <a:rPr lang="en-US" smtClean="0"/>
              <a:pPr/>
              <a:t>2</a:t>
            </a:fld>
            <a:endParaRPr lang="en-US" dirty="0"/>
          </a:p>
        </p:txBody>
      </p:sp>
      <p:sp>
        <p:nvSpPr>
          <p:cNvPr id="4" name="Content Placeholder 3"/>
          <p:cNvSpPr>
            <a:spLocks noGrp="1"/>
          </p:cNvSpPr>
          <p:nvPr>
            <p:ph sz="half" idx="1"/>
          </p:nvPr>
        </p:nvSpPr>
        <p:spPr/>
        <p:txBody>
          <a:bodyPr>
            <a:normAutofit/>
          </a:bodyPr>
          <a:lstStyle/>
          <a:p>
            <a:r>
              <a:rPr lang="en-US" dirty="0"/>
              <a:t> Dynamic Programming is a </a:t>
            </a:r>
            <a:r>
              <a:rPr lang="en-US" dirty="0">
                <a:solidFill>
                  <a:srgbClr val="0070C0"/>
                </a:solidFill>
              </a:rPr>
              <a:t>strategy for designing algorithm</a:t>
            </a:r>
            <a:r>
              <a:rPr lang="en-US" dirty="0"/>
              <a:t>.</a:t>
            </a:r>
          </a:p>
          <a:p>
            <a:pPr marL="0" indent="0">
              <a:buNone/>
            </a:pPr>
            <a:r>
              <a:rPr lang="en-US" dirty="0"/>
              <a:t>	» A meta-technique, not an algorithm (like divide &amp; conquer)</a:t>
            </a:r>
          </a:p>
          <a:p>
            <a:pPr marL="0" indent="0">
              <a:buNone/>
            </a:pPr>
            <a:r>
              <a:rPr lang="en-US" dirty="0"/>
              <a:t>	» “Programming” in this context refers to a tabular method</a:t>
            </a:r>
          </a:p>
          <a:p>
            <a:pPr marL="0" indent="0">
              <a:buNone/>
            </a:pPr>
            <a:r>
              <a:rPr lang="en-US" dirty="0"/>
              <a:t>	» not to writing computer code. </a:t>
            </a:r>
          </a:p>
        </p:txBody>
      </p:sp>
    </p:spTree>
    <p:extLst>
      <p:ext uri="{BB962C8B-B14F-4D97-AF65-F5344CB8AC3E}">
        <p14:creationId xmlns:p14="http://schemas.microsoft.com/office/powerpoint/2010/main" val="2387733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Principle</a:t>
            </a:r>
          </a:p>
        </p:txBody>
      </p:sp>
      <p:sp>
        <p:nvSpPr>
          <p:cNvPr id="3" name="Slide Number Placeholder 2"/>
          <p:cNvSpPr>
            <a:spLocks noGrp="1"/>
          </p:cNvSpPr>
          <p:nvPr>
            <p:ph type="sldNum" sz="quarter" idx="12"/>
          </p:nvPr>
        </p:nvSpPr>
        <p:spPr/>
        <p:txBody>
          <a:bodyPr/>
          <a:lstStyle/>
          <a:p>
            <a:fld id="{93320A9D-4FF9-4672-80A9-172CCB9E2733}" type="slidenum">
              <a:rPr lang="en-US" smtClean="0"/>
              <a:pPr/>
              <a:t>3</a:t>
            </a:fld>
            <a:endParaRPr lang="en-US" dirty="0"/>
          </a:p>
        </p:txBody>
      </p:sp>
      <p:sp>
        <p:nvSpPr>
          <p:cNvPr id="4" name="Content Placeholder 3"/>
          <p:cNvSpPr>
            <a:spLocks noGrp="1"/>
          </p:cNvSpPr>
          <p:nvPr>
            <p:ph sz="half" idx="1"/>
          </p:nvPr>
        </p:nvSpPr>
        <p:spPr/>
        <p:txBody>
          <a:bodyPr/>
          <a:lstStyle/>
          <a:p>
            <a:pPr algn="just"/>
            <a:r>
              <a:rPr lang="en-US" dirty="0"/>
              <a:t>Used when problem breaks down into </a:t>
            </a:r>
            <a:r>
              <a:rPr lang="en-US" dirty="0">
                <a:solidFill>
                  <a:srgbClr val="FF0000"/>
                </a:solidFill>
              </a:rPr>
              <a:t>recurring</a:t>
            </a:r>
            <a:r>
              <a:rPr lang="en-US" dirty="0"/>
              <a:t> small subproblems</a:t>
            </a:r>
          </a:p>
          <a:p>
            <a:pPr algn="just"/>
            <a:r>
              <a:rPr lang="en-US" dirty="0"/>
              <a:t>Used when the solution can be recursively described in terms of solutions to subproblems (</a:t>
            </a:r>
            <a:r>
              <a:rPr lang="en-US" dirty="0">
                <a:solidFill>
                  <a:srgbClr val="0070C0"/>
                </a:solidFill>
              </a:rPr>
              <a:t>optimal substructure</a:t>
            </a:r>
            <a:r>
              <a:rPr lang="en-US" dirty="0"/>
              <a:t>).</a:t>
            </a:r>
          </a:p>
          <a:p>
            <a:pPr algn="just"/>
            <a:r>
              <a:rPr lang="en-US" dirty="0"/>
              <a:t>Algorithm finds solutions to subproblems and stores them in memory for later use.</a:t>
            </a:r>
          </a:p>
        </p:txBody>
      </p:sp>
    </p:spTree>
    <p:extLst>
      <p:ext uri="{BB962C8B-B14F-4D97-AF65-F5344CB8AC3E}">
        <p14:creationId xmlns:p14="http://schemas.microsoft.com/office/powerpoint/2010/main" val="1991695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Programming </a:t>
            </a:r>
            <a:r>
              <a:rPr lang="en-US" dirty="0" err="1"/>
              <a:t>vs</a:t>
            </a:r>
            <a:r>
              <a:rPr lang="en-US" dirty="0"/>
              <a:t> Divide and Conquer </a:t>
            </a:r>
          </a:p>
        </p:txBody>
      </p:sp>
      <p:sp>
        <p:nvSpPr>
          <p:cNvPr id="3" name="Slide Number Placeholder 2"/>
          <p:cNvSpPr>
            <a:spLocks noGrp="1"/>
          </p:cNvSpPr>
          <p:nvPr>
            <p:ph type="sldNum" sz="quarter" idx="12"/>
          </p:nvPr>
        </p:nvSpPr>
        <p:spPr/>
        <p:txBody>
          <a:bodyPr/>
          <a:lstStyle/>
          <a:p>
            <a:fld id="{93320A9D-4FF9-4672-80A9-172CCB9E2733}" type="slidenum">
              <a:rPr lang="en-US" smtClean="0"/>
              <a:pPr/>
              <a:t>4</a:t>
            </a:fld>
            <a:endParaRPr lang="en-US" dirty="0"/>
          </a:p>
        </p:txBody>
      </p:sp>
      <p:sp>
        <p:nvSpPr>
          <p:cNvPr id="4" name="Content Placeholder 3"/>
          <p:cNvSpPr>
            <a:spLocks noGrp="1"/>
          </p:cNvSpPr>
          <p:nvPr>
            <p:ph sz="half" idx="1"/>
          </p:nvPr>
        </p:nvSpPr>
        <p:spPr/>
        <p:txBody>
          <a:bodyPr/>
          <a:lstStyle/>
          <a:p>
            <a:pPr marL="0" indent="0">
              <a:buNone/>
            </a:pPr>
            <a:r>
              <a:rPr lang="en-US" b="1" dirty="0">
                <a:solidFill>
                  <a:srgbClr val="002060"/>
                </a:solidFill>
              </a:rPr>
              <a:t>Dynamic programming </a:t>
            </a:r>
          </a:p>
          <a:p>
            <a:pPr marL="0" indent="0">
              <a:buNone/>
            </a:pPr>
            <a:r>
              <a:rPr lang="en-US" dirty="0"/>
              <a:t>Dynamic programming solves problems by combining the solutions to sub-problems. </a:t>
            </a:r>
          </a:p>
          <a:p>
            <a:pPr marL="0" indent="0">
              <a:buNone/>
            </a:pPr>
            <a:r>
              <a:rPr lang="en-US" b="1" dirty="0">
                <a:solidFill>
                  <a:srgbClr val="002060"/>
                </a:solidFill>
              </a:rPr>
              <a:t>Dynamic Programming </a:t>
            </a:r>
            <a:r>
              <a:rPr lang="en-US" b="1" dirty="0" err="1">
                <a:solidFill>
                  <a:srgbClr val="002060"/>
                </a:solidFill>
              </a:rPr>
              <a:t>vs</a:t>
            </a:r>
            <a:r>
              <a:rPr lang="en-US" b="1" dirty="0">
                <a:solidFill>
                  <a:srgbClr val="002060"/>
                </a:solidFill>
              </a:rPr>
              <a:t> Divide and Conquer </a:t>
            </a:r>
          </a:p>
          <a:p>
            <a:pPr marL="0" indent="0">
              <a:buNone/>
            </a:pPr>
            <a:r>
              <a:rPr lang="en-US" dirty="0"/>
              <a:t>Are they same?</a:t>
            </a:r>
          </a:p>
        </p:txBody>
      </p:sp>
    </p:spTree>
    <p:extLst>
      <p:ext uri="{BB962C8B-B14F-4D97-AF65-F5344CB8AC3E}">
        <p14:creationId xmlns:p14="http://schemas.microsoft.com/office/powerpoint/2010/main" val="1445091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Programming </a:t>
            </a:r>
            <a:r>
              <a:rPr lang="en-US" dirty="0" err="1"/>
              <a:t>vs</a:t>
            </a:r>
            <a:r>
              <a:rPr lang="en-US" dirty="0"/>
              <a:t> Divide and Conquer </a:t>
            </a:r>
          </a:p>
        </p:txBody>
      </p:sp>
      <p:sp>
        <p:nvSpPr>
          <p:cNvPr id="3" name="Slide Number Placeholder 2"/>
          <p:cNvSpPr>
            <a:spLocks noGrp="1"/>
          </p:cNvSpPr>
          <p:nvPr>
            <p:ph type="sldNum" sz="quarter" idx="12"/>
          </p:nvPr>
        </p:nvSpPr>
        <p:spPr/>
        <p:txBody>
          <a:bodyPr/>
          <a:lstStyle/>
          <a:p>
            <a:fld id="{93320A9D-4FF9-4672-80A9-172CCB9E2733}" type="slidenum">
              <a:rPr lang="en-US" smtClean="0"/>
              <a:pPr/>
              <a:t>5</a:t>
            </a:fld>
            <a:endParaRPr lang="en-US" dirty="0"/>
          </a:p>
        </p:txBody>
      </p:sp>
      <p:sp>
        <p:nvSpPr>
          <p:cNvPr id="4" name="Content Placeholder 3"/>
          <p:cNvSpPr>
            <a:spLocks noGrp="1"/>
          </p:cNvSpPr>
          <p:nvPr>
            <p:ph sz="half" idx="1"/>
          </p:nvPr>
        </p:nvSpPr>
        <p:spPr/>
        <p:txBody>
          <a:bodyPr>
            <a:normAutofit/>
          </a:bodyPr>
          <a:lstStyle/>
          <a:p>
            <a:pPr algn="just"/>
            <a:r>
              <a:rPr lang="en-US" dirty="0"/>
              <a:t>No!</a:t>
            </a:r>
          </a:p>
          <a:p>
            <a:pPr algn="just"/>
            <a:r>
              <a:rPr lang="en-US" dirty="0"/>
              <a:t>Divide-and-conquer algorithms partition the problem into </a:t>
            </a:r>
            <a:r>
              <a:rPr lang="en-US" b="1" dirty="0">
                <a:solidFill>
                  <a:srgbClr val="0070C0"/>
                </a:solidFill>
              </a:rPr>
              <a:t>disjoint subproblems</a:t>
            </a:r>
            <a:r>
              <a:rPr lang="en-US" dirty="0"/>
              <a:t>, solve the subproblems recursively, and then combine their solutions to solve the original problem. </a:t>
            </a:r>
          </a:p>
          <a:p>
            <a:pPr algn="just"/>
            <a:r>
              <a:rPr lang="en-US" dirty="0"/>
              <a:t>In contrast, dynamic programming applies when the </a:t>
            </a:r>
            <a:r>
              <a:rPr lang="en-US" b="1" dirty="0">
                <a:solidFill>
                  <a:srgbClr val="FF0000"/>
                </a:solidFill>
              </a:rPr>
              <a:t>subproblems overlap</a:t>
            </a:r>
            <a:r>
              <a:rPr lang="en-US" dirty="0"/>
              <a:t>, that is, when subproblems share sub-subproblems.</a:t>
            </a:r>
          </a:p>
        </p:txBody>
      </p:sp>
    </p:spTree>
    <p:extLst>
      <p:ext uri="{BB962C8B-B14F-4D97-AF65-F5344CB8AC3E}">
        <p14:creationId xmlns:p14="http://schemas.microsoft.com/office/powerpoint/2010/main" val="3071050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Programming </a:t>
            </a:r>
            <a:r>
              <a:rPr lang="en-US" dirty="0" err="1"/>
              <a:t>vs</a:t>
            </a:r>
            <a:r>
              <a:rPr lang="en-US" dirty="0"/>
              <a:t> Divide and Conquer</a:t>
            </a:r>
          </a:p>
        </p:txBody>
      </p:sp>
      <p:sp>
        <p:nvSpPr>
          <p:cNvPr id="3" name="Slide Number Placeholder 2"/>
          <p:cNvSpPr>
            <a:spLocks noGrp="1"/>
          </p:cNvSpPr>
          <p:nvPr>
            <p:ph type="sldNum" sz="quarter" idx="12"/>
          </p:nvPr>
        </p:nvSpPr>
        <p:spPr/>
        <p:txBody>
          <a:bodyPr/>
          <a:lstStyle/>
          <a:p>
            <a:fld id="{93320A9D-4FF9-4672-80A9-172CCB9E2733}" type="slidenum">
              <a:rPr lang="en-US" smtClean="0"/>
              <a:pPr/>
              <a:t>6</a:t>
            </a:fld>
            <a:endParaRPr lang="en-US" dirty="0"/>
          </a:p>
        </p:txBody>
      </p:sp>
      <p:sp>
        <p:nvSpPr>
          <p:cNvPr id="4" name="Content Placeholder 3"/>
          <p:cNvSpPr>
            <a:spLocks noGrp="1"/>
          </p:cNvSpPr>
          <p:nvPr>
            <p:ph sz="half" idx="1"/>
          </p:nvPr>
        </p:nvSpPr>
        <p:spPr/>
        <p:txBody>
          <a:bodyPr/>
          <a:lstStyle/>
          <a:p>
            <a:pPr marL="0" indent="0" algn="just">
              <a:buNone/>
            </a:pPr>
            <a:r>
              <a:rPr lang="en-US" b="1" dirty="0">
                <a:solidFill>
                  <a:srgbClr val="0070C0"/>
                </a:solidFill>
              </a:rPr>
              <a:t>Overlapping Subproblems</a:t>
            </a:r>
          </a:p>
          <a:p>
            <a:pPr algn="just"/>
            <a:r>
              <a:rPr lang="en-US" dirty="0"/>
              <a:t>In this context, a divide-and-conquer algorithm does more work than necessary, </a:t>
            </a:r>
            <a:r>
              <a:rPr lang="en-US" dirty="0">
                <a:solidFill>
                  <a:srgbClr val="FF0000"/>
                </a:solidFill>
              </a:rPr>
              <a:t>repeatedly solving the common sub-subproblems</a:t>
            </a:r>
            <a:r>
              <a:rPr lang="en-US" dirty="0"/>
              <a:t>. </a:t>
            </a:r>
          </a:p>
          <a:p>
            <a:pPr algn="just"/>
            <a:r>
              <a:rPr lang="en-US" dirty="0"/>
              <a:t>A dynamic-programming algorithm solves each sub-subproblem </a:t>
            </a:r>
            <a:r>
              <a:rPr lang="en-US" b="1" dirty="0">
                <a:solidFill>
                  <a:srgbClr val="0070C0"/>
                </a:solidFill>
              </a:rPr>
              <a:t>just once</a:t>
            </a:r>
            <a:r>
              <a:rPr lang="en-US" dirty="0"/>
              <a:t> and then </a:t>
            </a:r>
            <a:r>
              <a:rPr lang="en-US" dirty="0">
                <a:solidFill>
                  <a:srgbClr val="0070C0"/>
                </a:solidFill>
              </a:rPr>
              <a:t>saves its answer in a table</a:t>
            </a:r>
            <a:r>
              <a:rPr lang="en-US" dirty="0"/>
              <a:t>.</a:t>
            </a:r>
          </a:p>
          <a:p>
            <a:pPr algn="just"/>
            <a:r>
              <a:rPr lang="en-US" dirty="0">
                <a:solidFill>
                  <a:srgbClr val="0070C0"/>
                </a:solidFill>
              </a:rPr>
              <a:t>Avoids the work of re-computing</a:t>
            </a:r>
            <a:r>
              <a:rPr lang="en-US" dirty="0"/>
              <a:t> </a:t>
            </a:r>
            <a:r>
              <a:rPr lang="en-US" dirty="0">
                <a:solidFill>
                  <a:srgbClr val="0070C0"/>
                </a:solidFill>
              </a:rPr>
              <a:t>the answer</a:t>
            </a:r>
            <a:r>
              <a:rPr lang="en-US" dirty="0"/>
              <a:t> every time it solves each sub-subproblem.</a:t>
            </a:r>
          </a:p>
        </p:txBody>
      </p:sp>
    </p:spTree>
    <p:extLst>
      <p:ext uri="{BB962C8B-B14F-4D97-AF65-F5344CB8AC3E}">
        <p14:creationId xmlns:p14="http://schemas.microsoft.com/office/powerpoint/2010/main" val="2381562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Dynamic Programming: When Apply? </a:t>
            </a:r>
          </a:p>
        </p:txBody>
      </p:sp>
      <p:sp>
        <p:nvSpPr>
          <p:cNvPr id="3" name="Slide Number Placeholder 2"/>
          <p:cNvSpPr>
            <a:spLocks noGrp="1"/>
          </p:cNvSpPr>
          <p:nvPr>
            <p:ph type="sldNum" sz="quarter" idx="12"/>
          </p:nvPr>
        </p:nvSpPr>
        <p:spPr/>
        <p:txBody>
          <a:bodyPr/>
          <a:lstStyle/>
          <a:p>
            <a:fld id="{93320A9D-4FF9-4672-80A9-172CCB9E2733}" type="slidenum">
              <a:rPr lang="en-US" smtClean="0"/>
              <a:pPr/>
              <a:t>7</a:t>
            </a:fld>
            <a:endParaRPr lang="en-US" dirty="0"/>
          </a:p>
        </p:txBody>
      </p:sp>
      <p:sp>
        <p:nvSpPr>
          <p:cNvPr id="4" name="Content Placeholder 3"/>
          <p:cNvSpPr>
            <a:spLocks noGrp="1"/>
          </p:cNvSpPr>
          <p:nvPr>
            <p:ph sz="half" idx="1"/>
          </p:nvPr>
        </p:nvSpPr>
        <p:spPr/>
        <p:txBody>
          <a:bodyPr/>
          <a:lstStyle/>
          <a:p>
            <a:pPr marL="0" indent="0" algn="just">
              <a:buNone/>
            </a:pPr>
            <a:r>
              <a:rPr lang="en-US" dirty="0"/>
              <a:t>We typically apply dynamic programming to </a:t>
            </a:r>
            <a:r>
              <a:rPr lang="en-US" b="1" dirty="0">
                <a:solidFill>
                  <a:srgbClr val="0070C0"/>
                </a:solidFill>
              </a:rPr>
              <a:t>optimization problems</a:t>
            </a:r>
            <a:r>
              <a:rPr lang="en-US" dirty="0"/>
              <a:t>.</a:t>
            </a:r>
          </a:p>
          <a:p>
            <a:pPr algn="just"/>
            <a:r>
              <a:rPr lang="en-US" dirty="0"/>
              <a:t>Such problems can have many possible solutions. </a:t>
            </a:r>
          </a:p>
          <a:p>
            <a:pPr algn="just"/>
            <a:r>
              <a:rPr lang="en-US" dirty="0"/>
              <a:t>Each solution has a value, and we wish to find a solution with the optimal (minimum or maximum) value. </a:t>
            </a:r>
          </a:p>
          <a:p>
            <a:pPr algn="just"/>
            <a:r>
              <a:rPr lang="en-US" dirty="0"/>
              <a:t>We call such a solution </a:t>
            </a:r>
            <a:r>
              <a:rPr lang="en-US" dirty="0">
                <a:solidFill>
                  <a:srgbClr val="0070C0"/>
                </a:solidFill>
              </a:rPr>
              <a:t>an optimal </a:t>
            </a:r>
            <a:r>
              <a:rPr lang="en-US" dirty="0"/>
              <a:t>solution to the problem, as opposed to </a:t>
            </a:r>
            <a:r>
              <a:rPr lang="en-US" dirty="0">
                <a:solidFill>
                  <a:srgbClr val="FF0000"/>
                </a:solidFill>
              </a:rPr>
              <a:t>the optimal solution</a:t>
            </a:r>
            <a:r>
              <a:rPr lang="en-US" dirty="0"/>
              <a:t>, since there may be several solutions that achieve the optimal value.</a:t>
            </a:r>
          </a:p>
        </p:txBody>
      </p:sp>
    </p:spTree>
    <p:extLst>
      <p:ext uri="{BB962C8B-B14F-4D97-AF65-F5344CB8AC3E}">
        <p14:creationId xmlns:p14="http://schemas.microsoft.com/office/powerpoint/2010/main" val="3490003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860612"/>
          </a:xfrm>
        </p:spPr>
        <p:txBody>
          <a:bodyPr>
            <a:normAutofit fontScale="90000"/>
          </a:bodyPr>
          <a:lstStyle/>
          <a:p>
            <a:r>
              <a:rPr lang="en-US" b="1" dirty="0"/>
              <a:t>Using Dynamic Programming for Optimal Solution</a:t>
            </a:r>
          </a:p>
        </p:txBody>
      </p:sp>
      <p:sp>
        <p:nvSpPr>
          <p:cNvPr id="3" name="Content Placeholder 2"/>
          <p:cNvSpPr>
            <a:spLocks noGrp="1"/>
          </p:cNvSpPr>
          <p:nvPr>
            <p:ph idx="1"/>
          </p:nvPr>
        </p:nvSpPr>
        <p:spPr>
          <a:xfrm>
            <a:off x="252559" y="1023660"/>
            <a:ext cx="11529768" cy="5442440"/>
          </a:xfrm>
        </p:spPr>
        <p:txBody>
          <a:bodyPr>
            <a:normAutofit/>
          </a:bodyPr>
          <a:lstStyle/>
          <a:p>
            <a:r>
              <a:rPr lang="en-US" dirty="0"/>
              <a:t>There are two approach to develop a dynamic programming solution:</a:t>
            </a:r>
          </a:p>
          <a:p>
            <a:endParaRPr lang="en-US" dirty="0"/>
          </a:p>
          <a:p>
            <a:pPr lvl="1" algn="just"/>
            <a:r>
              <a:rPr lang="en-US" b="1" dirty="0"/>
              <a:t>Top-Down (</a:t>
            </a:r>
            <a:r>
              <a:rPr lang="en-US" b="1" dirty="0" err="1"/>
              <a:t>Memoization</a:t>
            </a:r>
            <a:r>
              <a:rPr lang="en-US" b="1" dirty="0"/>
              <a:t>):</a:t>
            </a:r>
            <a:r>
              <a:rPr lang="en-US" dirty="0"/>
              <a:t> In this </a:t>
            </a:r>
            <a:r>
              <a:rPr lang="en-US" b="1" dirty="0"/>
              <a:t>recursive</a:t>
            </a:r>
            <a:r>
              <a:rPr lang="en-US" dirty="0"/>
              <a:t> approach, we write the procedure recursively in a natural manner, but modified to save the result of each subproblem (usually in an array). The procedure now first checks to see whether it has previously solved this subproblem. If so, it returns the saved value, saving further computation at this level; if not, the procedure computes the value in the usual manner.</a:t>
            </a:r>
            <a:r>
              <a:rPr lang="en-US" sz="2400" dirty="0">
                <a:solidFill>
                  <a:schemeClr val="tx1"/>
                </a:solidFill>
                <a:latin typeface="Times New Roman" panose="02020603050405020304" pitchFamily="18" charset="0"/>
                <a:cs typeface="Times New Roman" panose="02020603050405020304" pitchFamily="18" charset="0"/>
              </a:rPr>
              <a:t> Here we </a:t>
            </a:r>
            <a:r>
              <a:rPr lang="en-US" dirty="0">
                <a:latin typeface="Times New Roman" panose="02020603050405020304" pitchFamily="18" charset="0"/>
                <a:cs typeface="Times New Roman" panose="02020603050405020304" pitchFamily="18" charset="0"/>
              </a:rPr>
              <a:t>s</a:t>
            </a:r>
            <a:r>
              <a:rPr lang="en-US" sz="2400" dirty="0">
                <a:solidFill>
                  <a:schemeClr val="tx1"/>
                </a:solidFill>
                <a:cs typeface="Times New Roman" panose="02020603050405020304" pitchFamily="18" charset="0"/>
              </a:rPr>
              <a:t>tart from the main problem and then break it down.</a:t>
            </a:r>
          </a:p>
          <a:p>
            <a:pPr lvl="1" algn="just"/>
            <a:endParaRPr lang="en-US" dirty="0"/>
          </a:p>
          <a:p>
            <a:pPr lvl="1" algn="just"/>
            <a:r>
              <a:rPr lang="en-US" b="1" dirty="0"/>
              <a:t>Bottom-Up (Tabulation): </a:t>
            </a:r>
            <a:r>
              <a:rPr lang="en-US" dirty="0">
                <a:latin typeface="Calibri (Body)"/>
              </a:rPr>
              <a:t>In this </a:t>
            </a:r>
            <a:r>
              <a:rPr lang="en-US" b="1" dirty="0">
                <a:latin typeface="Calibri (Body)"/>
              </a:rPr>
              <a:t>iterative</a:t>
            </a:r>
            <a:r>
              <a:rPr lang="en-US" dirty="0">
                <a:latin typeface="Calibri (Body)"/>
              </a:rPr>
              <a:t> approach, </a:t>
            </a:r>
            <a:r>
              <a:rPr lang="en-US" dirty="0">
                <a:latin typeface="Calibri (Body)"/>
                <a:cs typeface="Times New Roman" panose="02020603050405020304" pitchFamily="18" charset="0"/>
              </a:rPr>
              <a:t>we s</a:t>
            </a:r>
            <a:r>
              <a:rPr lang="en-US" sz="2400" dirty="0">
                <a:solidFill>
                  <a:schemeClr val="tx1"/>
                </a:solidFill>
                <a:latin typeface="Calibri (Body)"/>
                <a:cs typeface="Times New Roman" panose="02020603050405020304" pitchFamily="18" charset="0"/>
              </a:rPr>
              <a:t>tart from the base case and build up the solution.</a:t>
            </a:r>
            <a:r>
              <a:rPr lang="en-US" dirty="0">
                <a:latin typeface="Calibri (Body)"/>
              </a:rPr>
              <a:t> </a:t>
            </a:r>
            <a:r>
              <a:rPr lang="en-US" dirty="0"/>
              <a:t>When solving a particular subproblem, we have already solved all of the smaller subproblems its solution depends upon, and we have saved their solutions. We solve each subproblem only once, and when we first see it, we have already solved all of its prerequisite subproblems.</a:t>
            </a:r>
          </a:p>
        </p:txBody>
      </p:sp>
    </p:spTree>
    <p:extLst>
      <p:ext uri="{BB962C8B-B14F-4D97-AF65-F5344CB8AC3E}">
        <p14:creationId xmlns:p14="http://schemas.microsoft.com/office/powerpoint/2010/main" val="753347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Programing</a:t>
            </a:r>
          </a:p>
        </p:txBody>
      </p:sp>
      <p:sp>
        <p:nvSpPr>
          <p:cNvPr id="3" name="Slide Number Placeholder 2"/>
          <p:cNvSpPr>
            <a:spLocks noGrp="1"/>
          </p:cNvSpPr>
          <p:nvPr>
            <p:ph type="sldNum" sz="quarter" idx="12"/>
          </p:nvPr>
        </p:nvSpPr>
        <p:spPr/>
        <p:txBody>
          <a:bodyPr/>
          <a:lstStyle/>
          <a:p>
            <a:fld id="{93320A9D-4FF9-4672-80A9-172CCB9E2733}" type="slidenum">
              <a:rPr lang="en-US" smtClean="0"/>
              <a:pPr/>
              <a:t>9</a:t>
            </a:fld>
            <a:endParaRPr lang="en-US" dirty="0"/>
          </a:p>
        </p:txBody>
      </p:sp>
      <p:sp>
        <p:nvSpPr>
          <p:cNvPr id="4" name="Content Placeholder 3"/>
          <p:cNvSpPr>
            <a:spLocks noGrp="1"/>
          </p:cNvSpPr>
          <p:nvPr>
            <p:ph sz="half" idx="1"/>
          </p:nvPr>
        </p:nvSpPr>
        <p:spPr/>
        <p:txBody>
          <a:bodyPr/>
          <a:lstStyle/>
          <a:p>
            <a:pPr marL="0" indent="0" algn="just">
              <a:spcAft>
                <a:spcPts val="600"/>
              </a:spcAft>
              <a:buNone/>
            </a:pPr>
            <a:r>
              <a:rPr lang="en-US" dirty="0">
                <a:solidFill>
                  <a:schemeClr val="accent5"/>
                </a:solidFill>
              </a:rPr>
              <a:t>Every DP problem can be solved in two ways</a:t>
            </a:r>
          </a:p>
          <a:p>
            <a:pPr algn="just">
              <a:lnSpc>
                <a:spcPct val="150000"/>
              </a:lnSpc>
              <a:spcAft>
                <a:spcPts val="600"/>
              </a:spcAft>
            </a:pPr>
            <a:r>
              <a:rPr lang="en-US" dirty="0"/>
              <a:t>Iteratively</a:t>
            </a:r>
          </a:p>
          <a:p>
            <a:pPr algn="just">
              <a:lnSpc>
                <a:spcPct val="150000"/>
              </a:lnSpc>
              <a:spcAft>
                <a:spcPts val="600"/>
              </a:spcAft>
            </a:pPr>
            <a:r>
              <a:rPr lang="en-US" dirty="0"/>
              <a:t>Recursively</a:t>
            </a:r>
          </a:p>
          <a:p>
            <a:pPr marL="0" indent="0">
              <a:buNone/>
            </a:pPr>
            <a:endParaRPr lang="en-US" dirty="0"/>
          </a:p>
        </p:txBody>
      </p:sp>
    </p:spTree>
    <p:extLst>
      <p:ext uri="{BB962C8B-B14F-4D97-AF65-F5344CB8AC3E}">
        <p14:creationId xmlns:p14="http://schemas.microsoft.com/office/powerpoint/2010/main" val="3653820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63625"/>
          </a:xfrm>
        </p:spPr>
        <p:txBody>
          <a:bodyPr>
            <a:normAutofit/>
          </a:bodyPr>
          <a:lstStyle/>
          <a:p>
            <a:pPr algn="ctr"/>
            <a:r>
              <a:rPr lang="en-US" sz="4800" b="1" dirty="0"/>
              <a:t>Longest Common Subsequence</a:t>
            </a:r>
          </a:p>
        </p:txBody>
      </p:sp>
      <p:sp>
        <p:nvSpPr>
          <p:cNvPr id="3" name="Content Placeholder 2"/>
          <p:cNvSpPr>
            <a:spLocks noGrp="1"/>
          </p:cNvSpPr>
          <p:nvPr>
            <p:ph idx="1"/>
          </p:nvPr>
        </p:nvSpPr>
        <p:spPr>
          <a:xfrm>
            <a:off x="838200" y="1643063"/>
            <a:ext cx="10515600" cy="3557588"/>
          </a:xfrm>
        </p:spPr>
        <p:txBody>
          <a:bodyPr/>
          <a:lstStyle/>
          <a:p>
            <a:pPr marL="0" indent="0" algn="just">
              <a:lnSpc>
                <a:spcPct val="114000"/>
              </a:lnSpc>
              <a:spcAft>
                <a:spcPts val="600"/>
              </a:spcAft>
              <a:buNone/>
            </a:pPr>
            <a:r>
              <a:rPr lang="en-US" b="1" dirty="0">
                <a:latin typeface="Times New Roman" panose="02020603050405020304" pitchFamily="18" charset="0"/>
                <a:cs typeface="Times New Roman" panose="02020603050405020304" pitchFamily="18" charset="0"/>
              </a:rPr>
              <a:t>LCS Problem Statement: </a:t>
            </a:r>
            <a:r>
              <a:rPr lang="en-US" dirty="0">
                <a:latin typeface="Times New Roman" panose="02020603050405020304" pitchFamily="18" charset="0"/>
                <a:cs typeface="Times New Roman" panose="02020603050405020304" pitchFamily="18" charset="0"/>
              </a:rPr>
              <a:t>Given two sequences, find the length of longest subsequence present in both of them. </a:t>
            </a:r>
          </a:p>
          <a:p>
            <a:pPr marL="0" indent="0" algn="just">
              <a:lnSpc>
                <a:spcPct val="114000"/>
              </a:lnSpc>
              <a:spcAft>
                <a:spcPts val="600"/>
              </a:spcAft>
              <a:buNone/>
            </a:pPr>
            <a:r>
              <a:rPr lang="en-US" dirty="0">
                <a:latin typeface="Times New Roman" panose="02020603050405020304" pitchFamily="18" charset="0"/>
                <a:cs typeface="Times New Roman" panose="02020603050405020304" pitchFamily="18" charset="0"/>
              </a:rPr>
              <a:t>A subsequence is a sequence that appears in the same relative order, but not necessarily contiguous. </a:t>
            </a:r>
          </a:p>
        </p:txBody>
      </p:sp>
    </p:spTree>
    <p:extLst>
      <p:ext uri="{BB962C8B-B14F-4D97-AF65-F5344CB8AC3E}">
        <p14:creationId xmlns:p14="http://schemas.microsoft.com/office/powerpoint/2010/main" val="3885954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63625"/>
          </a:xfrm>
        </p:spPr>
        <p:txBody>
          <a:bodyPr>
            <a:normAutofit/>
          </a:bodyPr>
          <a:lstStyle/>
          <a:p>
            <a:pPr algn="ctr"/>
            <a:r>
              <a:rPr lang="en-US" sz="4800" b="1" dirty="0"/>
              <a:t>Longest Common Subsequence</a:t>
            </a:r>
          </a:p>
        </p:txBody>
      </p:sp>
      <p:sp>
        <p:nvSpPr>
          <p:cNvPr id="3" name="Content Placeholder 2"/>
          <p:cNvSpPr>
            <a:spLocks noGrp="1"/>
          </p:cNvSpPr>
          <p:nvPr>
            <p:ph idx="1"/>
          </p:nvPr>
        </p:nvSpPr>
        <p:spPr>
          <a:xfrm>
            <a:off x="838200" y="1643063"/>
            <a:ext cx="10872061" cy="4494266"/>
          </a:xfrm>
        </p:spPr>
        <p:txBody>
          <a:bodyPr>
            <a:normAutofit/>
          </a:bodyPr>
          <a:lstStyle/>
          <a:p>
            <a:pPr algn="just">
              <a:lnSpc>
                <a:spcPct val="114000"/>
              </a:lnSpc>
              <a:spcAft>
                <a:spcPts val="600"/>
              </a:spcAft>
            </a:pPr>
            <a:r>
              <a:rPr lang="en-US" dirty="0">
                <a:latin typeface="Times New Roman" panose="02020603050405020304" pitchFamily="18" charset="0"/>
                <a:cs typeface="Times New Roman" panose="02020603050405020304" pitchFamily="18" charset="0"/>
              </a:rPr>
              <a:t>What are the Subsequences of “ABC”</a:t>
            </a:r>
          </a:p>
          <a:p>
            <a:pPr algn="just">
              <a:lnSpc>
                <a:spcPct val="114000"/>
              </a:lnSpc>
              <a:spcAft>
                <a:spcPts val="600"/>
              </a:spcAft>
            </a:pPr>
            <a:r>
              <a:rPr lang="en-US" dirty="0"/>
              <a:t> Total way = 2˄n</a:t>
            </a:r>
          </a:p>
          <a:p>
            <a:pPr algn="just">
              <a:lnSpc>
                <a:spcPct val="114000"/>
              </a:lnSpc>
              <a:spcAft>
                <a:spcPts val="600"/>
              </a:spcAft>
            </a:pPr>
            <a:r>
              <a:rPr lang="en-US" dirty="0">
                <a:latin typeface="Times New Roman" panose="02020603050405020304" pitchFamily="18" charset="0"/>
                <a:cs typeface="Times New Roman" panose="02020603050405020304" pitchFamily="18" charset="0"/>
              </a:rPr>
              <a:t>Common Subsequence between </a:t>
            </a:r>
            <a:r>
              <a:rPr lang="en-US">
                <a:latin typeface="Times New Roman" panose="02020603050405020304" pitchFamily="18" charset="0"/>
                <a:cs typeface="Times New Roman" panose="02020603050405020304" pitchFamily="18" charset="0"/>
              </a:rPr>
              <a:t>two string </a:t>
            </a:r>
            <a:r>
              <a:rPr lang="en-US" dirty="0">
                <a:latin typeface="Times New Roman" panose="02020603050405020304" pitchFamily="18" charset="0"/>
                <a:cs typeface="Times New Roman" panose="02020603050405020304" pitchFamily="18" charset="0"/>
              </a:rPr>
              <a:t>and LCS</a:t>
            </a:r>
          </a:p>
          <a:p>
            <a:pPr marL="0" indent="0">
              <a:lnSpc>
                <a:spcPct val="114000"/>
              </a:lnSpc>
              <a:spcAft>
                <a:spcPts val="600"/>
              </a:spcAft>
              <a:buNone/>
            </a:pPr>
            <a:r>
              <a:rPr lang="en-US" b="1" dirty="0"/>
              <a:t>Examples:</a:t>
            </a:r>
            <a:br>
              <a:rPr lang="en-US" dirty="0"/>
            </a:br>
            <a:r>
              <a:rPr lang="en-US" dirty="0"/>
              <a:t>LCS </a:t>
            </a:r>
            <a:r>
              <a:rPr lang="en-US"/>
              <a:t>for input </a:t>
            </a:r>
            <a:r>
              <a:rPr lang="en-US" dirty="0"/>
              <a:t>Sequences “ABCDGH” and “AEDFHR</a:t>
            </a:r>
            <a:r>
              <a:rPr lang="en-US"/>
              <a:t>” is </a:t>
            </a:r>
            <a:r>
              <a:rPr lang="en-US" dirty="0"/>
              <a:t>“ADH” of length 3.</a:t>
            </a:r>
            <a:br>
              <a:rPr lang="en-US" dirty="0"/>
            </a:br>
            <a:r>
              <a:rPr lang="en-US" dirty="0"/>
              <a:t>LCS </a:t>
            </a:r>
            <a:r>
              <a:rPr lang="en-US"/>
              <a:t>for input </a:t>
            </a:r>
            <a:r>
              <a:rPr lang="en-US" dirty="0"/>
              <a:t>Sequences “AGGTAB” and “GXTXAYB</a:t>
            </a:r>
            <a:r>
              <a:rPr lang="en-US"/>
              <a:t>” is </a:t>
            </a:r>
            <a:r>
              <a:rPr lang="en-US" dirty="0"/>
              <a:t>“GTAB” of length 4.</a:t>
            </a:r>
            <a:endParaRPr lang="en-US" dirty="0">
              <a:latin typeface="Times New Roman" panose="02020603050405020304" pitchFamily="18" charset="0"/>
              <a:cs typeface="Times New Roman" panose="02020603050405020304" pitchFamily="18" charset="0"/>
            </a:endParaRPr>
          </a:p>
          <a:p>
            <a:pPr algn="just">
              <a:lnSpc>
                <a:spcPct val="114000"/>
              </a:lnSpc>
              <a:spcAft>
                <a:spcPts val="600"/>
              </a:spcAft>
            </a:pPr>
            <a:r>
              <a:rPr lang="en-US" dirty="0">
                <a:latin typeface="Times New Roman" panose="02020603050405020304" pitchFamily="18" charset="0"/>
                <a:cs typeface="Times New Roman" panose="02020603050405020304" pitchFamily="18" charset="0"/>
              </a:rPr>
              <a:t>Brut force </a:t>
            </a:r>
            <a:r>
              <a:rPr lang="en-US">
                <a:latin typeface="Times New Roman" panose="02020603050405020304" pitchFamily="18" charset="0"/>
                <a:cs typeface="Times New Roman" panose="02020603050405020304" pitchFamily="18" charset="0"/>
              </a:rPr>
              <a:t>approach (if </a:t>
            </a:r>
            <a:r>
              <a:rPr lang="en-US" dirty="0">
                <a:latin typeface="Times New Roman" panose="02020603050405020304" pitchFamily="18" charset="0"/>
                <a:cs typeface="Times New Roman" panose="02020603050405020304" pitchFamily="18" charset="0"/>
              </a:rPr>
              <a:t>n &gt; 25)</a:t>
            </a:r>
          </a:p>
        </p:txBody>
      </p:sp>
    </p:spTree>
    <p:extLst>
      <p:ext uri="{BB962C8B-B14F-4D97-AF65-F5344CB8AC3E}">
        <p14:creationId xmlns:p14="http://schemas.microsoft.com/office/powerpoint/2010/main" val="2557067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63625"/>
          </a:xfrm>
        </p:spPr>
        <p:txBody>
          <a:bodyPr>
            <a:normAutofit/>
          </a:bodyPr>
          <a:lstStyle/>
          <a:p>
            <a:pPr algn="ctr"/>
            <a:r>
              <a:rPr lang="en-US" sz="4800" b="1" dirty="0"/>
              <a:t>LCS : “HELLOM” and “HMLLD”</a:t>
            </a:r>
          </a:p>
        </p:txBody>
      </p:sp>
      <p:sp>
        <p:nvSpPr>
          <p:cNvPr id="4" name="Content Placeholder 2"/>
          <p:cNvSpPr txBox="1">
            <a:spLocks/>
          </p:cNvSpPr>
          <p:nvPr/>
        </p:nvSpPr>
        <p:spPr>
          <a:xfrm>
            <a:off x="871538" y="1766320"/>
            <a:ext cx="10915651" cy="3497830"/>
          </a:xfrm>
          <a:prstGeom prst="rect">
            <a:avLst/>
          </a:prstGeom>
          <a:ln>
            <a:solidFill>
              <a:schemeClr val="bg1">
                <a:lumMod val="85000"/>
              </a:schemeClr>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0"/>
              </a:spcBef>
            </a:pPr>
            <a:r>
              <a:rPr lang="en-US" sz="2400" dirty="0"/>
              <a:t>Start with first element</a:t>
            </a:r>
          </a:p>
          <a:p>
            <a:pPr algn="just">
              <a:lnSpc>
                <a:spcPct val="100000"/>
              </a:lnSpc>
              <a:spcBef>
                <a:spcPts val="0"/>
              </a:spcBef>
            </a:pPr>
            <a:endParaRPr lang="en-US" sz="2400" dirty="0"/>
          </a:p>
          <a:p>
            <a:pPr algn="just">
              <a:lnSpc>
                <a:spcPct val="100000"/>
              </a:lnSpc>
              <a:spcBef>
                <a:spcPts val="0"/>
              </a:spcBef>
            </a:pPr>
            <a:endParaRPr lang="en-US" sz="2400" dirty="0"/>
          </a:p>
          <a:p>
            <a:pPr algn="just">
              <a:lnSpc>
                <a:spcPct val="100000"/>
              </a:lnSpc>
              <a:spcBef>
                <a:spcPts val="0"/>
              </a:spcBef>
            </a:pPr>
            <a:endParaRPr lang="en-US" sz="2400" dirty="0"/>
          </a:p>
          <a:p>
            <a:pPr algn="just">
              <a:lnSpc>
                <a:spcPct val="100000"/>
              </a:lnSpc>
              <a:spcBef>
                <a:spcPts val="0"/>
              </a:spcBef>
            </a:pPr>
            <a:endParaRPr lang="en-US" sz="2400" dirty="0"/>
          </a:p>
          <a:p>
            <a:pPr algn="just">
              <a:lnSpc>
                <a:spcPct val="100000"/>
              </a:lnSpc>
              <a:spcBef>
                <a:spcPts val="0"/>
              </a:spcBef>
            </a:pPr>
            <a:endParaRPr lang="en-US" sz="2400" dirty="0"/>
          </a:p>
          <a:p>
            <a:pPr algn="just">
              <a:lnSpc>
                <a:spcPct val="100000"/>
              </a:lnSpc>
              <a:spcBef>
                <a:spcPts val="0"/>
              </a:spcBef>
            </a:pPr>
            <a:endParaRPr lang="en-US" sz="2400" dirty="0"/>
          </a:p>
          <a:p>
            <a:pPr algn="just">
              <a:lnSpc>
                <a:spcPct val="100000"/>
              </a:lnSpc>
              <a:spcBef>
                <a:spcPts val="0"/>
              </a:spcBef>
            </a:pPr>
            <a:r>
              <a:rPr lang="en-US" sz="2400" dirty="0"/>
              <a:t>If they are same: include them into LCS</a:t>
            </a:r>
          </a:p>
        </p:txBody>
      </p:sp>
      <p:pic>
        <p:nvPicPr>
          <p:cNvPr id="5" name="Picture 4"/>
          <p:cNvPicPr>
            <a:picLocks noChangeAspect="1"/>
          </p:cNvPicPr>
          <p:nvPr/>
        </p:nvPicPr>
        <p:blipFill>
          <a:blip r:embed="rId2"/>
          <a:stretch>
            <a:fillRect/>
          </a:stretch>
        </p:blipFill>
        <p:spPr>
          <a:xfrm>
            <a:off x="923054" y="2199381"/>
            <a:ext cx="3965929" cy="2152188"/>
          </a:xfrm>
          <a:prstGeom prst="rect">
            <a:avLst/>
          </a:prstGeom>
        </p:spPr>
      </p:pic>
    </p:spTree>
    <p:extLst>
      <p:ext uri="{BB962C8B-B14F-4D97-AF65-F5344CB8AC3E}">
        <p14:creationId xmlns:p14="http://schemas.microsoft.com/office/powerpoint/2010/main" val="1991862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63625"/>
          </a:xfrm>
        </p:spPr>
        <p:txBody>
          <a:bodyPr>
            <a:normAutofit/>
          </a:bodyPr>
          <a:lstStyle/>
          <a:p>
            <a:pPr algn="ctr"/>
            <a:r>
              <a:rPr lang="en-US" sz="4800" b="1" dirty="0"/>
              <a:t>LCS : “HELLOM” and “HMLLD”</a:t>
            </a:r>
          </a:p>
        </p:txBody>
      </p:sp>
      <p:sp>
        <p:nvSpPr>
          <p:cNvPr id="6" name="Content Placeholder 2"/>
          <p:cNvSpPr txBox="1">
            <a:spLocks/>
          </p:cNvSpPr>
          <p:nvPr/>
        </p:nvSpPr>
        <p:spPr>
          <a:xfrm>
            <a:off x="871538" y="1766320"/>
            <a:ext cx="10915651" cy="4590030"/>
          </a:xfrm>
          <a:prstGeom prst="rect">
            <a:avLst/>
          </a:prstGeom>
          <a:ln>
            <a:solidFill>
              <a:schemeClr val="bg1">
                <a:lumMod val="85000"/>
              </a:schemeClr>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0"/>
              </a:spcBef>
              <a:spcAft>
                <a:spcPts val="1800"/>
              </a:spcAft>
            </a:pPr>
            <a:r>
              <a:rPr lang="en-US" sz="2400" dirty="0"/>
              <a:t>Recursively solve the rest string</a:t>
            </a:r>
          </a:p>
          <a:p>
            <a:pPr algn="just">
              <a:lnSpc>
                <a:spcPct val="100000"/>
              </a:lnSpc>
              <a:spcBef>
                <a:spcPts val="0"/>
              </a:spcBef>
              <a:spcAft>
                <a:spcPts val="1800"/>
              </a:spcAft>
            </a:pPr>
            <a:endParaRPr lang="en-US" sz="2400" dirty="0"/>
          </a:p>
          <a:p>
            <a:pPr algn="just">
              <a:lnSpc>
                <a:spcPct val="100000"/>
              </a:lnSpc>
              <a:spcBef>
                <a:spcPts val="0"/>
              </a:spcBef>
              <a:spcAft>
                <a:spcPts val="1800"/>
              </a:spcAft>
            </a:pPr>
            <a:endParaRPr lang="en-US" sz="2400" dirty="0"/>
          </a:p>
          <a:p>
            <a:pPr algn="just">
              <a:lnSpc>
                <a:spcPct val="100000"/>
              </a:lnSpc>
              <a:spcBef>
                <a:spcPts val="0"/>
              </a:spcBef>
              <a:spcAft>
                <a:spcPts val="1800"/>
              </a:spcAft>
            </a:pPr>
            <a:endParaRPr lang="en-US" sz="2400" dirty="0"/>
          </a:p>
          <a:p>
            <a:pPr algn="just">
              <a:lnSpc>
                <a:spcPct val="100000"/>
              </a:lnSpc>
              <a:spcBef>
                <a:spcPts val="0"/>
              </a:spcBef>
              <a:spcAft>
                <a:spcPts val="1800"/>
              </a:spcAft>
            </a:pPr>
            <a:r>
              <a:rPr lang="en-US" sz="2400" dirty="0"/>
              <a:t>We have sorter strings “ELLOM” and </a:t>
            </a:r>
            <a:r>
              <a:rPr lang="bn-BD" sz="2400" dirty="0"/>
              <a:t>“</a:t>
            </a:r>
            <a:r>
              <a:rPr lang="en-US" sz="2400" dirty="0"/>
              <a:t>MLLD”. Solve it recursively.</a:t>
            </a:r>
          </a:p>
          <a:p>
            <a:pPr algn="just">
              <a:lnSpc>
                <a:spcPct val="100000"/>
              </a:lnSpc>
              <a:spcBef>
                <a:spcPts val="0"/>
              </a:spcBef>
              <a:spcAft>
                <a:spcPts val="1800"/>
              </a:spcAft>
            </a:pPr>
            <a:r>
              <a:rPr lang="en-US" sz="2400" dirty="0"/>
              <a:t>Here E and M are not same. So, we have to drop one.</a:t>
            </a:r>
          </a:p>
        </p:txBody>
      </p:sp>
      <p:pic>
        <p:nvPicPr>
          <p:cNvPr id="7" name="Picture 6"/>
          <p:cNvPicPr>
            <a:picLocks noChangeAspect="1"/>
          </p:cNvPicPr>
          <p:nvPr/>
        </p:nvPicPr>
        <p:blipFill rotWithShape="1">
          <a:blip r:embed="rId2"/>
          <a:srcRect t="8727"/>
          <a:stretch/>
        </p:blipFill>
        <p:spPr>
          <a:xfrm>
            <a:off x="1074420" y="2343955"/>
            <a:ext cx="3517582" cy="1520815"/>
          </a:xfrm>
          <a:prstGeom prst="rect">
            <a:avLst/>
          </a:prstGeom>
        </p:spPr>
      </p:pic>
    </p:spTree>
    <p:extLst>
      <p:ext uri="{BB962C8B-B14F-4D97-AF65-F5344CB8AC3E}">
        <p14:creationId xmlns:p14="http://schemas.microsoft.com/office/powerpoint/2010/main" val="3972605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63625"/>
          </a:xfrm>
        </p:spPr>
        <p:txBody>
          <a:bodyPr>
            <a:normAutofit/>
          </a:bodyPr>
          <a:lstStyle/>
          <a:p>
            <a:pPr algn="ctr"/>
            <a:r>
              <a:rPr lang="en-US" sz="4800" b="1" dirty="0"/>
              <a:t>LCS : “HELLOM” and “HMLLD”</a:t>
            </a:r>
          </a:p>
        </p:txBody>
      </p:sp>
      <p:sp>
        <p:nvSpPr>
          <p:cNvPr id="5" name="Content Placeholder 2"/>
          <p:cNvSpPr txBox="1">
            <a:spLocks/>
          </p:cNvSpPr>
          <p:nvPr/>
        </p:nvSpPr>
        <p:spPr>
          <a:xfrm>
            <a:off x="871538" y="1766320"/>
            <a:ext cx="10915651" cy="4590030"/>
          </a:xfrm>
          <a:prstGeom prst="rect">
            <a:avLst/>
          </a:prstGeom>
          <a:ln>
            <a:solidFill>
              <a:schemeClr val="bg1">
                <a:lumMod val="85000"/>
              </a:schemeClr>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0"/>
              </a:spcBef>
            </a:pPr>
            <a:r>
              <a:rPr lang="en-US" sz="2400" dirty="0"/>
              <a:t>Once we have to drop E and next we drop M.</a:t>
            </a:r>
          </a:p>
          <a:p>
            <a:pPr algn="just">
              <a:lnSpc>
                <a:spcPct val="100000"/>
              </a:lnSpc>
              <a:spcBef>
                <a:spcPts val="0"/>
              </a:spcBef>
            </a:pPr>
            <a:endParaRPr lang="en-US" sz="2400" dirty="0"/>
          </a:p>
          <a:p>
            <a:pPr algn="just">
              <a:lnSpc>
                <a:spcPct val="100000"/>
              </a:lnSpc>
              <a:spcBef>
                <a:spcPts val="0"/>
              </a:spcBef>
            </a:pPr>
            <a:endParaRPr lang="en-US" sz="2400" dirty="0"/>
          </a:p>
          <a:p>
            <a:pPr algn="just">
              <a:lnSpc>
                <a:spcPct val="100000"/>
              </a:lnSpc>
              <a:spcBef>
                <a:spcPts val="0"/>
              </a:spcBef>
            </a:pPr>
            <a:endParaRPr lang="en-US" sz="2400" dirty="0"/>
          </a:p>
          <a:p>
            <a:pPr algn="just">
              <a:lnSpc>
                <a:spcPct val="100000"/>
              </a:lnSpc>
              <a:spcBef>
                <a:spcPts val="0"/>
              </a:spcBef>
            </a:pPr>
            <a:endParaRPr lang="en-US" sz="2400" dirty="0"/>
          </a:p>
          <a:p>
            <a:pPr algn="just">
              <a:lnSpc>
                <a:spcPct val="100000"/>
              </a:lnSpc>
              <a:spcBef>
                <a:spcPts val="0"/>
              </a:spcBef>
            </a:pPr>
            <a:endParaRPr lang="en-US" sz="2400" dirty="0"/>
          </a:p>
          <a:p>
            <a:pPr algn="just">
              <a:lnSpc>
                <a:spcPct val="100000"/>
              </a:lnSpc>
              <a:spcBef>
                <a:spcPts val="0"/>
              </a:spcBef>
            </a:pPr>
            <a:endParaRPr lang="en-US" sz="2400" dirty="0"/>
          </a:p>
          <a:p>
            <a:pPr algn="just">
              <a:lnSpc>
                <a:spcPct val="100000"/>
              </a:lnSpc>
              <a:spcBef>
                <a:spcPts val="0"/>
              </a:spcBef>
            </a:pPr>
            <a:endParaRPr lang="en-US" sz="2400" dirty="0"/>
          </a:p>
          <a:p>
            <a:pPr algn="just">
              <a:lnSpc>
                <a:spcPct val="100000"/>
              </a:lnSpc>
              <a:spcBef>
                <a:spcPts val="0"/>
              </a:spcBef>
            </a:pPr>
            <a:endParaRPr lang="en-US" sz="2400" dirty="0"/>
          </a:p>
          <a:p>
            <a:pPr algn="just">
              <a:lnSpc>
                <a:spcPct val="100000"/>
              </a:lnSpc>
              <a:spcBef>
                <a:spcPts val="0"/>
              </a:spcBef>
            </a:pPr>
            <a:r>
              <a:rPr lang="en-US" sz="2400" dirty="0"/>
              <a:t>LCS(“ELLOM”, “MLLD”) -&gt;Max[ LCS(“LLOM”, “MLLD”) and LCS(“ELLOM”, “LLD”)]</a:t>
            </a:r>
          </a:p>
          <a:p>
            <a:pPr algn="just">
              <a:lnSpc>
                <a:spcPct val="100000"/>
              </a:lnSpc>
              <a:spcBef>
                <a:spcPts val="0"/>
              </a:spcBef>
            </a:pPr>
            <a:endParaRPr lang="en-US" sz="2400" dirty="0"/>
          </a:p>
        </p:txBody>
      </p:sp>
      <p:pic>
        <p:nvPicPr>
          <p:cNvPr id="8" name="Picture 7"/>
          <p:cNvPicPr>
            <a:picLocks noChangeAspect="1"/>
          </p:cNvPicPr>
          <p:nvPr/>
        </p:nvPicPr>
        <p:blipFill rotWithShape="1">
          <a:blip r:embed="rId2"/>
          <a:srcRect t="10972"/>
          <a:stretch/>
        </p:blipFill>
        <p:spPr>
          <a:xfrm>
            <a:off x="1897379" y="2524258"/>
            <a:ext cx="4549141" cy="2216225"/>
          </a:xfrm>
          <a:prstGeom prst="rect">
            <a:avLst/>
          </a:prstGeom>
        </p:spPr>
      </p:pic>
    </p:spTree>
    <p:extLst>
      <p:ext uri="{BB962C8B-B14F-4D97-AF65-F5344CB8AC3E}">
        <p14:creationId xmlns:p14="http://schemas.microsoft.com/office/powerpoint/2010/main" val="3648352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63625"/>
          </a:xfrm>
        </p:spPr>
        <p:txBody>
          <a:bodyPr>
            <a:normAutofit/>
          </a:bodyPr>
          <a:lstStyle/>
          <a:p>
            <a:pPr algn="ctr"/>
            <a:r>
              <a:rPr lang="en-US" sz="4800" b="1" dirty="0"/>
              <a:t>Longest Common Subsequence</a:t>
            </a:r>
          </a:p>
        </p:txBody>
      </p:sp>
      <p:pic>
        <p:nvPicPr>
          <p:cNvPr id="4" name="Picture 3"/>
          <p:cNvPicPr>
            <a:picLocks noChangeAspect="1"/>
          </p:cNvPicPr>
          <p:nvPr/>
        </p:nvPicPr>
        <p:blipFill>
          <a:blip r:embed="rId2"/>
          <a:stretch>
            <a:fillRect/>
          </a:stretch>
        </p:blipFill>
        <p:spPr>
          <a:xfrm>
            <a:off x="1120692" y="2075376"/>
            <a:ext cx="9950615" cy="2882989"/>
          </a:xfrm>
          <a:prstGeom prst="rect">
            <a:avLst/>
          </a:prstGeom>
        </p:spPr>
      </p:pic>
    </p:spTree>
    <p:extLst>
      <p:ext uri="{BB962C8B-B14F-4D97-AF65-F5344CB8AC3E}">
        <p14:creationId xmlns:p14="http://schemas.microsoft.com/office/powerpoint/2010/main" val="4704850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63625"/>
          </a:xfrm>
        </p:spPr>
        <p:txBody>
          <a:bodyPr>
            <a:normAutofit/>
          </a:bodyPr>
          <a:lstStyle/>
          <a:p>
            <a:pPr algn="ctr"/>
            <a:r>
              <a:rPr lang="en-US" sz="4800" b="1" dirty="0"/>
              <a:t>Longest Common Subsequence: Base Case</a:t>
            </a:r>
          </a:p>
        </p:txBody>
      </p:sp>
      <p:sp>
        <p:nvSpPr>
          <p:cNvPr id="3" name="Content Placeholder 2"/>
          <p:cNvSpPr>
            <a:spLocks noGrp="1"/>
          </p:cNvSpPr>
          <p:nvPr>
            <p:ph idx="1"/>
          </p:nvPr>
        </p:nvSpPr>
        <p:spPr>
          <a:xfrm>
            <a:off x="838200" y="1643062"/>
            <a:ext cx="10515600" cy="4397129"/>
          </a:xfrm>
        </p:spPr>
        <p:txBody>
          <a:bodyPr>
            <a:normAutofit/>
          </a:bodyPr>
          <a:lstStyle/>
          <a:p>
            <a:pPr algn="just">
              <a:lnSpc>
                <a:spcPct val="114000"/>
              </a:lnSpc>
              <a:spcAft>
                <a:spcPts val="600"/>
              </a:spcAft>
            </a:pPr>
            <a:r>
              <a:rPr lang="en-US" dirty="0">
                <a:latin typeface="Times New Roman" panose="02020603050405020304" pitchFamily="18" charset="0"/>
                <a:cs typeface="Times New Roman" panose="02020603050405020304" pitchFamily="18" charset="0"/>
              </a:rPr>
              <a:t>Let, x[m] represented by x[</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where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is 1 to m.</a:t>
            </a:r>
          </a:p>
          <a:p>
            <a:pPr algn="just">
              <a:lnSpc>
                <a:spcPct val="114000"/>
              </a:lnSpc>
              <a:spcAft>
                <a:spcPts val="600"/>
              </a:spcAft>
            </a:pPr>
            <a:r>
              <a:rPr lang="en-US" dirty="0">
                <a:latin typeface="Times New Roman" panose="02020603050405020304" pitchFamily="18" charset="0"/>
                <a:cs typeface="Times New Roman" panose="02020603050405020304" pitchFamily="18" charset="0"/>
              </a:rPr>
              <a:t>Let, y[n] represented by y[j] where j is 1 to n.</a:t>
            </a:r>
          </a:p>
          <a:p>
            <a:pPr algn="just">
              <a:lnSpc>
                <a:spcPct val="114000"/>
              </a:lnSpc>
              <a:spcAft>
                <a:spcPts val="600"/>
              </a:spcAft>
            </a:pPr>
            <a:r>
              <a:rPr lang="en-US" dirty="0">
                <a:latin typeface="Times New Roman" panose="02020603050405020304" pitchFamily="18" charset="0"/>
                <a:cs typeface="Times New Roman" panose="02020603050405020304" pitchFamily="18" charset="0"/>
              </a:rPr>
              <a:t>C[</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j] represents LCS.</a:t>
            </a:r>
          </a:p>
          <a:p>
            <a:pPr algn="just">
              <a:lnSpc>
                <a:spcPct val="114000"/>
              </a:lnSpc>
              <a:spcAft>
                <a:spcPts val="600"/>
              </a:spcAft>
            </a:pPr>
            <a:r>
              <a:rPr lang="en-US" dirty="0">
                <a:latin typeface="Times New Roman" panose="02020603050405020304" pitchFamily="18" charset="0"/>
                <a:cs typeface="Times New Roman" panose="02020603050405020304" pitchFamily="18" charset="0"/>
              </a:rPr>
              <a:t>If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or j is 0, then, one of the sequences has length 0, and so the LCS has length 0.</a:t>
            </a:r>
          </a:p>
          <a:p>
            <a:pPr algn="just">
              <a:lnSpc>
                <a:spcPct val="114000"/>
              </a:lnSpc>
              <a:spcAft>
                <a:spcPts val="600"/>
              </a:spcAft>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88205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63625"/>
          </a:xfrm>
        </p:spPr>
        <p:txBody>
          <a:bodyPr>
            <a:normAutofit/>
          </a:bodyPr>
          <a:lstStyle/>
          <a:p>
            <a:pPr algn="ctr"/>
            <a:r>
              <a:rPr lang="en-US" sz="4800" b="1" dirty="0"/>
              <a:t>Longest Common Subsequence: Base Case</a:t>
            </a:r>
          </a:p>
        </p:txBody>
      </p:sp>
      <p:sp>
        <p:nvSpPr>
          <p:cNvPr id="3" name="Content Placeholder 2"/>
          <p:cNvSpPr>
            <a:spLocks noGrp="1"/>
          </p:cNvSpPr>
          <p:nvPr>
            <p:ph idx="1"/>
          </p:nvPr>
        </p:nvSpPr>
        <p:spPr>
          <a:xfrm>
            <a:off x="838200" y="1643062"/>
            <a:ext cx="10515600" cy="4397129"/>
          </a:xfrm>
        </p:spPr>
        <p:txBody>
          <a:bodyPr>
            <a:normAutofit/>
          </a:bodyPr>
          <a:lstStyle/>
          <a:p>
            <a:pPr algn="just">
              <a:lnSpc>
                <a:spcPct val="114000"/>
              </a:lnSpc>
              <a:spcAft>
                <a:spcPts val="600"/>
              </a:spcAft>
            </a:pPr>
            <a:r>
              <a:rPr lang="en-US" dirty="0">
                <a:latin typeface="Times New Roman" panose="02020603050405020304" pitchFamily="18" charset="0"/>
                <a:cs typeface="Times New Roman" panose="02020603050405020304" pitchFamily="18" charset="0"/>
              </a:rPr>
              <a:t>Let, x[m] represented by x[</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where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is 1 to m.</a:t>
            </a:r>
          </a:p>
          <a:p>
            <a:pPr algn="just">
              <a:lnSpc>
                <a:spcPct val="114000"/>
              </a:lnSpc>
              <a:spcAft>
                <a:spcPts val="600"/>
              </a:spcAft>
            </a:pPr>
            <a:r>
              <a:rPr lang="en-US" dirty="0">
                <a:latin typeface="Times New Roman" panose="02020603050405020304" pitchFamily="18" charset="0"/>
                <a:cs typeface="Times New Roman" panose="02020603050405020304" pitchFamily="18" charset="0"/>
              </a:rPr>
              <a:t>Let, y[n] represented by y[j] where j is 1 to n.</a:t>
            </a:r>
          </a:p>
          <a:p>
            <a:pPr algn="just">
              <a:lnSpc>
                <a:spcPct val="114000"/>
              </a:lnSpc>
              <a:spcAft>
                <a:spcPts val="600"/>
              </a:spcAft>
            </a:pPr>
            <a:r>
              <a:rPr lang="en-US" dirty="0">
                <a:latin typeface="Times New Roman" panose="02020603050405020304" pitchFamily="18" charset="0"/>
                <a:cs typeface="Times New Roman" panose="02020603050405020304" pitchFamily="18" charset="0"/>
              </a:rPr>
              <a:t>C[</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j] represents LCS.</a:t>
            </a:r>
          </a:p>
          <a:p>
            <a:pPr marL="0" indent="0" algn="just">
              <a:lnSpc>
                <a:spcPct val="114000"/>
              </a:lnSpc>
              <a:spcAft>
                <a:spcPts val="600"/>
              </a:spcAft>
              <a:buNone/>
            </a:pP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982013" y="3841626"/>
            <a:ext cx="9666253" cy="1928109"/>
          </a:xfrm>
          <a:prstGeom prst="rect">
            <a:avLst/>
          </a:prstGeom>
        </p:spPr>
      </p:pic>
    </p:spTree>
    <p:extLst>
      <p:ext uri="{BB962C8B-B14F-4D97-AF65-F5344CB8AC3E}">
        <p14:creationId xmlns:p14="http://schemas.microsoft.com/office/powerpoint/2010/main" val="288252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63625"/>
          </a:xfrm>
        </p:spPr>
        <p:txBody>
          <a:bodyPr>
            <a:normAutofit/>
          </a:bodyPr>
          <a:lstStyle/>
          <a:p>
            <a:pPr algn="ctr"/>
            <a:r>
              <a:rPr lang="en-US" sz="4800" b="1" dirty="0"/>
              <a:t>Longest Common Subsequence</a:t>
            </a:r>
          </a:p>
        </p:txBody>
      </p:sp>
      <p:pic>
        <p:nvPicPr>
          <p:cNvPr id="4" name="Picture 3"/>
          <p:cNvPicPr>
            <a:picLocks noChangeAspect="1"/>
          </p:cNvPicPr>
          <p:nvPr/>
        </p:nvPicPr>
        <p:blipFill>
          <a:blip r:embed="rId2"/>
          <a:stretch>
            <a:fillRect/>
          </a:stretch>
        </p:blipFill>
        <p:spPr>
          <a:xfrm>
            <a:off x="5907313" y="1530412"/>
            <a:ext cx="4994729" cy="4874856"/>
          </a:xfrm>
          <a:prstGeom prst="rect">
            <a:avLst/>
          </a:prstGeom>
        </p:spPr>
      </p:pic>
      <p:pic>
        <p:nvPicPr>
          <p:cNvPr id="5" name="Picture 4"/>
          <p:cNvPicPr>
            <a:picLocks noChangeAspect="1"/>
          </p:cNvPicPr>
          <p:nvPr/>
        </p:nvPicPr>
        <p:blipFill>
          <a:blip r:embed="rId3"/>
          <a:stretch>
            <a:fillRect/>
          </a:stretch>
        </p:blipFill>
        <p:spPr>
          <a:xfrm>
            <a:off x="595431" y="1559378"/>
            <a:ext cx="4528111" cy="4877422"/>
          </a:xfrm>
          <a:prstGeom prst="rect">
            <a:avLst/>
          </a:prstGeom>
        </p:spPr>
      </p:pic>
      <p:pic>
        <p:nvPicPr>
          <p:cNvPr id="3" name="Picture 2">
            <a:extLst>
              <a:ext uri="{FF2B5EF4-FFF2-40B4-BE49-F238E27FC236}">
                <a16:creationId xmlns:a16="http://schemas.microsoft.com/office/drawing/2014/main" id="{46CF63CF-EDB4-769D-E047-4AFA710C7C7F}"/>
              </a:ext>
            </a:extLst>
          </p:cNvPr>
          <p:cNvPicPr>
            <a:picLocks noChangeAspect="1"/>
          </p:cNvPicPr>
          <p:nvPr/>
        </p:nvPicPr>
        <p:blipFill>
          <a:blip r:embed="rId4"/>
          <a:stretch>
            <a:fillRect/>
          </a:stretch>
        </p:blipFill>
        <p:spPr>
          <a:xfrm>
            <a:off x="6096000" y="119743"/>
            <a:ext cx="5897758" cy="1176415"/>
          </a:xfrm>
          <a:prstGeom prst="rect">
            <a:avLst/>
          </a:prstGeom>
        </p:spPr>
      </p:pic>
    </p:spTree>
    <p:extLst>
      <p:ext uri="{BB962C8B-B14F-4D97-AF65-F5344CB8AC3E}">
        <p14:creationId xmlns:p14="http://schemas.microsoft.com/office/powerpoint/2010/main" val="1699857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63625"/>
          </a:xfrm>
        </p:spPr>
        <p:txBody>
          <a:bodyPr>
            <a:normAutofit/>
          </a:bodyPr>
          <a:lstStyle/>
          <a:p>
            <a:pPr algn="ctr"/>
            <a:r>
              <a:rPr lang="en-US" sz="4800" b="1" dirty="0"/>
              <a:t>Longest Common Subsequence</a:t>
            </a:r>
          </a:p>
        </p:txBody>
      </p:sp>
      <p:pic>
        <p:nvPicPr>
          <p:cNvPr id="4" name="Picture 3"/>
          <p:cNvPicPr>
            <a:picLocks noChangeAspect="1"/>
          </p:cNvPicPr>
          <p:nvPr/>
        </p:nvPicPr>
        <p:blipFill>
          <a:blip r:embed="rId2"/>
          <a:stretch>
            <a:fillRect/>
          </a:stretch>
        </p:blipFill>
        <p:spPr>
          <a:xfrm>
            <a:off x="679116" y="1694329"/>
            <a:ext cx="3994482" cy="4302628"/>
          </a:xfrm>
          <a:prstGeom prst="rect">
            <a:avLst/>
          </a:prstGeom>
          <a:ln>
            <a:solidFill>
              <a:schemeClr val="tx1"/>
            </a:solidFill>
          </a:ln>
        </p:spPr>
      </p:pic>
      <p:pic>
        <p:nvPicPr>
          <p:cNvPr id="5" name="Picture 4"/>
          <p:cNvPicPr>
            <a:picLocks noChangeAspect="1"/>
          </p:cNvPicPr>
          <p:nvPr/>
        </p:nvPicPr>
        <p:blipFill>
          <a:blip r:embed="rId3"/>
          <a:stretch>
            <a:fillRect/>
          </a:stretch>
        </p:blipFill>
        <p:spPr>
          <a:xfrm>
            <a:off x="5034817" y="2043522"/>
            <a:ext cx="5781899" cy="3953435"/>
          </a:xfrm>
          <a:prstGeom prst="rect">
            <a:avLst/>
          </a:prstGeom>
          <a:ln>
            <a:solidFill>
              <a:schemeClr val="tx1"/>
            </a:solidFill>
          </a:ln>
        </p:spPr>
      </p:pic>
    </p:spTree>
    <p:extLst>
      <p:ext uri="{BB962C8B-B14F-4D97-AF65-F5344CB8AC3E}">
        <p14:creationId xmlns:p14="http://schemas.microsoft.com/office/powerpoint/2010/main" val="9605591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592428"/>
          </a:xfrm>
        </p:spPr>
        <p:txBody>
          <a:bodyPr>
            <a:normAutofit fontScale="90000"/>
          </a:bodyPr>
          <a:lstStyle/>
          <a:p>
            <a:pPr algn="ctr"/>
            <a:r>
              <a:rPr lang="en-US" sz="4800" b="1" dirty="0"/>
              <a:t>Longest Common Subsequence : </a:t>
            </a:r>
            <a:r>
              <a:rPr lang="en-US" sz="4800" b="1" dirty="0" err="1"/>
              <a:t>Recursviely</a:t>
            </a:r>
            <a:endParaRPr lang="en-US" sz="4800" b="1" dirty="0"/>
          </a:p>
        </p:txBody>
      </p:sp>
      <p:pic>
        <p:nvPicPr>
          <p:cNvPr id="4" name="Picture 3"/>
          <p:cNvPicPr>
            <a:picLocks noChangeAspect="1"/>
          </p:cNvPicPr>
          <p:nvPr/>
        </p:nvPicPr>
        <p:blipFill>
          <a:blip r:embed="rId2"/>
          <a:stretch>
            <a:fillRect/>
          </a:stretch>
        </p:blipFill>
        <p:spPr>
          <a:xfrm>
            <a:off x="323045" y="592428"/>
            <a:ext cx="5065781" cy="6265571"/>
          </a:xfrm>
          <a:prstGeom prst="rect">
            <a:avLst/>
          </a:prstGeom>
          <a:ln>
            <a:solidFill>
              <a:schemeClr val="accent1"/>
            </a:solidFill>
          </a:ln>
        </p:spPr>
      </p:pic>
      <p:pic>
        <p:nvPicPr>
          <p:cNvPr id="5" name="Picture 4"/>
          <p:cNvPicPr>
            <a:picLocks noChangeAspect="1"/>
          </p:cNvPicPr>
          <p:nvPr/>
        </p:nvPicPr>
        <p:blipFill>
          <a:blip r:embed="rId3"/>
          <a:stretch>
            <a:fillRect/>
          </a:stretch>
        </p:blipFill>
        <p:spPr>
          <a:xfrm>
            <a:off x="5903981" y="592428"/>
            <a:ext cx="5706593" cy="3837436"/>
          </a:xfrm>
          <a:prstGeom prst="rect">
            <a:avLst/>
          </a:prstGeom>
          <a:ln>
            <a:solidFill>
              <a:schemeClr val="accent1"/>
            </a:solidFill>
          </a:ln>
        </p:spPr>
      </p:pic>
    </p:spTree>
    <p:extLst>
      <p:ext uri="{BB962C8B-B14F-4D97-AF65-F5344CB8AC3E}">
        <p14:creationId xmlns:p14="http://schemas.microsoft.com/office/powerpoint/2010/main" val="1006123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46650-8B40-D637-60A2-40F809EE2D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D75220-CB73-67B4-DFFC-49937D0A8337}"/>
              </a:ext>
            </a:extLst>
          </p:cNvPr>
          <p:cNvSpPr>
            <a:spLocks noGrp="1"/>
          </p:cNvSpPr>
          <p:nvPr>
            <p:ph type="title"/>
          </p:nvPr>
        </p:nvSpPr>
        <p:spPr>
          <a:xfrm>
            <a:off x="838200" y="1"/>
            <a:ext cx="10515600" cy="592428"/>
          </a:xfrm>
        </p:spPr>
        <p:txBody>
          <a:bodyPr>
            <a:normAutofit fontScale="90000"/>
          </a:bodyPr>
          <a:lstStyle/>
          <a:p>
            <a:pPr algn="ctr"/>
            <a:r>
              <a:rPr lang="en-US" sz="4800" b="1" dirty="0"/>
              <a:t>Longest Common Subsequence :</a:t>
            </a:r>
          </a:p>
        </p:txBody>
      </p:sp>
      <p:sp>
        <p:nvSpPr>
          <p:cNvPr id="3" name="TextBox 2">
            <a:extLst>
              <a:ext uri="{FF2B5EF4-FFF2-40B4-BE49-F238E27FC236}">
                <a16:creationId xmlns:a16="http://schemas.microsoft.com/office/drawing/2014/main" id="{EB61553E-11AA-24BA-D725-63FBB77E46C6}"/>
              </a:ext>
            </a:extLst>
          </p:cNvPr>
          <p:cNvSpPr txBox="1"/>
          <p:nvPr/>
        </p:nvSpPr>
        <p:spPr>
          <a:xfrm>
            <a:off x="323850" y="733425"/>
            <a:ext cx="4114800" cy="5909310"/>
          </a:xfrm>
          <a:prstGeom prst="rect">
            <a:avLst/>
          </a:prstGeom>
          <a:noFill/>
        </p:spPr>
        <p:txBody>
          <a:bodyPr wrap="square" rtlCol="0">
            <a:spAutoFit/>
          </a:bodyPr>
          <a:lstStyle/>
          <a:p>
            <a:r>
              <a:rPr lang="en-US" dirty="0"/>
              <a:t>int main()</a:t>
            </a:r>
          </a:p>
          <a:p>
            <a:r>
              <a:rPr lang="en-US" dirty="0"/>
              <a:t>{   int m=0;</a:t>
            </a:r>
          </a:p>
          <a:p>
            <a:r>
              <a:rPr lang="en-US" dirty="0"/>
              <a:t>    int n=0;</a:t>
            </a:r>
          </a:p>
          <a:p>
            <a:r>
              <a:rPr lang="en-US" dirty="0"/>
              <a:t>    </a:t>
            </a:r>
            <a:r>
              <a:rPr lang="en-US" dirty="0" err="1"/>
              <a:t>cout</a:t>
            </a:r>
            <a:r>
              <a:rPr lang="en-US" dirty="0"/>
              <a:t>&lt;&lt;"The length of 1st sequence:";</a:t>
            </a:r>
          </a:p>
          <a:p>
            <a:r>
              <a:rPr lang="en-US" dirty="0"/>
              <a:t>    </a:t>
            </a:r>
            <a:r>
              <a:rPr lang="en-US" dirty="0" err="1"/>
              <a:t>cin</a:t>
            </a:r>
            <a:r>
              <a:rPr lang="en-US" dirty="0"/>
              <a:t>&gt;&gt;m;</a:t>
            </a:r>
          </a:p>
          <a:p>
            <a:r>
              <a:rPr lang="en-US" dirty="0"/>
              <a:t>    </a:t>
            </a:r>
            <a:r>
              <a:rPr lang="en-US" dirty="0" err="1"/>
              <a:t>cout</a:t>
            </a:r>
            <a:r>
              <a:rPr lang="en-US" dirty="0"/>
              <a:t>&lt;&lt;"The first sequence:";</a:t>
            </a:r>
          </a:p>
          <a:p>
            <a:r>
              <a:rPr lang="en-US" dirty="0"/>
              <a:t>    char s1[m];</a:t>
            </a:r>
          </a:p>
          <a:p>
            <a:r>
              <a:rPr lang="en-US" dirty="0"/>
              <a:t>    for(int </a:t>
            </a:r>
            <a:r>
              <a:rPr lang="en-US" dirty="0" err="1"/>
              <a:t>i</a:t>
            </a:r>
            <a:r>
              <a:rPr lang="en-US" dirty="0"/>
              <a:t>=0;i&lt;</a:t>
            </a:r>
            <a:r>
              <a:rPr lang="en-US" dirty="0" err="1"/>
              <a:t>m;i</a:t>
            </a:r>
            <a:r>
              <a:rPr lang="en-US" dirty="0"/>
              <a:t>++)</a:t>
            </a:r>
          </a:p>
          <a:p>
            <a:r>
              <a:rPr lang="en-US" dirty="0"/>
              <a:t>    {</a:t>
            </a:r>
          </a:p>
          <a:p>
            <a:r>
              <a:rPr lang="en-US" dirty="0"/>
              <a:t>        </a:t>
            </a:r>
            <a:r>
              <a:rPr lang="en-US" dirty="0" err="1"/>
              <a:t>cin</a:t>
            </a:r>
            <a:r>
              <a:rPr lang="en-US" dirty="0"/>
              <a:t>&gt;&gt;s1[</a:t>
            </a:r>
            <a:r>
              <a:rPr lang="en-US" dirty="0" err="1"/>
              <a:t>i</a:t>
            </a:r>
            <a:r>
              <a:rPr lang="en-US" dirty="0"/>
              <a:t>];</a:t>
            </a:r>
          </a:p>
          <a:p>
            <a:r>
              <a:rPr lang="en-US" dirty="0"/>
              <a:t>    }</a:t>
            </a:r>
          </a:p>
          <a:p>
            <a:r>
              <a:rPr lang="en-US" dirty="0"/>
              <a:t>    </a:t>
            </a:r>
            <a:r>
              <a:rPr lang="en-US" dirty="0" err="1"/>
              <a:t>cout</a:t>
            </a:r>
            <a:r>
              <a:rPr lang="en-US" dirty="0"/>
              <a:t>&lt;&lt;"The length of 2nd sequence:";</a:t>
            </a:r>
          </a:p>
          <a:p>
            <a:r>
              <a:rPr lang="en-US" dirty="0"/>
              <a:t>    </a:t>
            </a:r>
            <a:r>
              <a:rPr lang="en-US" dirty="0" err="1"/>
              <a:t>cin</a:t>
            </a:r>
            <a:r>
              <a:rPr lang="en-US" dirty="0"/>
              <a:t>&gt;&gt;n;</a:t>
            </a:r>
          </a:p>
          <a:p>
            <a:r>
              <a:rPr lang="en-US" dirty="0"/>
              <a:t>    </a:t>
            </a:r>
            <a:r>
              <a:rPr lang="en-US" dirty="0" err="1"/>
              <a:t>cout</a:t>
            </a:r>
            <a:r>
              <a:rPr lang="en-US" dirty="0"/>
              <a:t>&lt;&lt;"The second sequence:";</a:t>
            </a:r>
          </a:p>
          <a:p>
            <a:r>
              <a:rPr lang="en-US" dirty="0"/>
              <a:t>    char s2[n];</a:t>
            </a:r>
          </a:p>
          <a:p>
            <a:r>
              <a:rPr lang="en-US" dirty="0"/>
              <a:t>    for(int j=0;j&lt;</a:t>
            </a:r>
            <a:r>
              <a:rPr lang="en-US" dirty="0" err="1"/>
              <a:t>n;j</a:t>
            </a:r>
            <a:r>
              <a:rPr lang="en-US" dirty="0"/>
              <a:t>++)</a:t>
            </a:r>
          </a:p>
          <a:p>
            <a:r>
              <a:rPr lang="en-US" dirty="0"/>
              <a:t>    {</a:t>
            </a:r>
          </a:p>
          <a:p>
            <a:r>
              <a:rPr lang="en-US" dirty="0"/>
              <a:t>        </a:t>
            </a:r>
            <a:r>
              <a:rPr lang="en-US" dirty="0" err="1"/>
              <a:t>cin</a:t>
            </a:r>
            <a:r>
              <a:rPr lang="en-US" dirty="0"/>
              <a:t>&gt;&gt;s2[j];</a:t>
            </a:r>
          </a:p>
          <a:p>
            <a:r>
              <a:rPr lang="en-US" dirty="0"/>
              <a:t>    }</a:t>
            </a:r>
          </a:p>
          <a:p>
            <a:r>
              <a:rPr lang="en-US" dirty="0"/>
              <a:t>    </a:t>
            </a:r>
            <a:r>
              <a:rPr lang="en-US" dirty="0" err="1"/>
              <a:t>lcsAlgo</a:t>
            </a:r>
            <a:r>
              <a:rPr lang="en-US" dirty="0"/>
              <a:t>(s1,s2,m,n);</a:t>
            </a:r>
          </a:p>
          <a:p>
            <a:r>
              <a:rPr lang="en-US" dirty="0"/>
              <a:t>}</a:t>
            </a:r>
          </a:p>
        </p:txBody>
      </p:sp>
      <p:sp>
        <p:nvSpPr>
          <p:cNvPr id="4" name="TextBox 3">
            <a:extLst>
              <a:ext uri="{FF2B5EF4-FFF2-40B4-BE49-F238E27FC236}">
                <a16:creationId xmlns:a16="http://schemas.microsoft.com/office/drawing/2014/main" id="{659C03AD-CF38-21D7-C7C5-4887BC8615AD}"/>
              </a:ext>
            </a:extLst>
          </p:cNvPr>
          <p:cNvSpPr txBox="1"/>
          <p:nvPr/>
        </p:nvSpPr>
        <p:spPr>
          <a:xfrm>
            <a:off x="5448300" y="733425"/>
            <a:ext cx="5772150" cy="5632311"/>
          </a:xfrm>
          <a:prstGeom prst="rect">
            <a:avLst/>
          </a:prstGeom>
          <a:noFill/>
        </p:spPr>
        <p:txBody>
          <a:bodyPr wrap="square" rtlCol="0">
            <a:spAutoFit/>
          </a:bodyPr>
          <a:lstStyle/>
          <a:p>
            <a:r>
              <a:rPr lang="en-US" dirty="0"/>
              <a:t>#include&lt;bits/stdc++.h&gt;</a:t>
            </a:r>
          </a:p>
          <a:p>
            <a:r>
              <a:rPr lang="en-US" dirty="0"/>
              <a:t>using namespace std;</a:t>
            </a:r>
          </a:p>
          <a:p>
            <a:r>
              <a:rPr lang="en-US" dirty="0"/>
              <a:t>void </a:t>
            </a:r>
            <a:r>
              <a:rPr lang="en-US" dirty="0" err="1"/>
              <a:t>lcsAlgo</a:t>
            </a:r>
            <a:r>
              <a:rPr lang="en-US" dirty="0"/>
              <a:t>(char *s1,char *s2,int </a:t>
            </a:r>
            <a:r>
              <a:rPr lang="en-US" dirty="0" err="1"/>
              <a:t>m,int</a:t>
            </a:r>
            <a:r>
              <a:rPr lang="en-US" dirty="0"/>
              <a:t> n)</a:t>
            </a:r>
          </a:p>
          <a:p>
            <a:r>
              <a:rPr lang="en-US" dirty="0"/>
              <a:t>{</a:t>
            </a:r>
          </a:p>
          <a:p>
            <a:r>
              <a:rPr lang="en-US" dirty="0"/>
              <a:t>    int </a:t>
            </a:r>
            <a:r>
              <a:rPr lang="en-US" dirty="0" err="1"/>
              <a:t>lcsTable</a:t>
            </a:r>
            <a:r>
              <a:rPr lang="en-US" dirty="0"/>
              <a:t>[m+1][n+1];</a:t>
            </a:r>
          </a:p>
          <a:p>
            <a:r>
              <a:rPr lang="en-US" dirty="0"/>
              <a:t>    for(int </a:t>
            </a:r>
            <a:r>
              <a:rPr lang="en-US" dirty="0" err="1"/>
              <a:t>i</a:t>
            </a:r>
            <a:r>
              <a:rPr lang="en-US" dirty="0"/>
              <a:t>=0;i&lt;=</a:t>
            </a:r>
            <a:r>
              <a:rPr lang="en-US" dirty="0" err="1"/>
              <a:t>m;i</a:t>
            </a:r>
            <a:r>
              <a:rPr lang="en-US" dirty="0"/>
              <a:t>++)</a:t>
            </a:r>
          </a:p>
          <a:p>
            <a:r>
              <a:rPr lang="en-US" dirty="0"/>
              <a:t>    {for(int j=0;j&lt;=</a:t>
            </a:r>
            <a:r>
              <a:rPr lang="en-US" dirty="0" err="1"/>
              <a:t>n;j</a:t>
            </a:r>
            <a:r>
              <a:rPr lang="en-US" dirty="0"/>
              <a:t>++)</a:t>
            </a:r>
          </a:p>
          <a:p>
            <a:r>
              <a:rPr lang="en-US" dirty="0"/>
              <a:t>        {if(</a:t>
            </a:r>
            <a:r>
              <a:rPr lang="en-US" dirty="0" err="1"/>
              <a:t>i</a:t>
            </a:r>
            <a:r>
              <a:rPr lang="en-US" dirty="0"/>
              <a:t>==0 || j==0)</a:t>
            </a:r>
          </a:p>
          <a:p>
            <a:r>
              <a:rPr lang="en-US" dirty="0"/>
              <a:t>            {</a:t>
            </a:r>
          </a:p>
          <a:p>
            <a:r>
              <a:rPr lang="en-US" dirty="0"/>
              <a:t>                </a:t>
            </a:r>
            <a:r>
              <a:rPr lang="en-US" dirty="0" err="1"/>
              <a:t>lcsTable</a:t>
            </a:r>
            <a:r>
              <a:rPr lang="en-US" dirty="0"/>
              <a:t>[</a:t>
            </a:r>
            <a:r>
              <a:rPr lang="en-US" dirty="0" err="1"/>
              <a:t>i</a:t>
            </a:r>
            <a:r>
              <a:rPr lang="en-US" dirty="0"/>
              <a:t>][j]=0;</a:t>
            </a:r>
          </a:p>
          <a:p>
            <a:r>
              <a:rPr lang="en-US" dirty="0"/>
              <a:t>            }</a:t>
            </a:r>
          </a:p>
          <a:p>
            <a:r>
              <a:rPr lang="en-US" dirty="0"/>
              <a:t>            else if(s1[i-1]==s2[j-1])</a:t>
            </a:r>
          </a:p>
          <a:p>
            <a:r>
              <a:rPr lang="en-US" dirty="0"/>
              <a:t>            {</a:t>
            </a:r>
          </a:p>
          <a:p>
            <a:r>
              <a:rPr lang="en-US" dirty="0"/>
              <a:t>                </a:t>
            </a:r>
            <a:r>
              <a:rPr lang="en-US" dirty="0" err="1"/>
              <a:t>lcsTable</a:t>
            </a:r>
            <a:r>
              <a:rPr lang="en-US" dirty="0"/>
              <a:t>[</a:t>
            </a:r>
            <a:r>
              <a:rPr lang="en-US" dirty="0" err="1"/>
              <a:t>i</a:t>
            </a:r>
            <a:r>
              <a:rPr lang="en-US" dirty="0"/>
              <a:t>][j]=</a:t>
            </a:r>
            <a:r>
              <a:rPr lang="en-US" dirty="0" err="1"/>
              <a:t>lcsTable</a:t>
            </a:r>
            <a:r>
              <a:rPr lang="en-US" dirty="0"/>
              <a:t>[i-1][j-1]+1;</a:t>
            </a:r>
          </a:p>
          <a:p>
            <a:r>
              <a:rPr lang="en-US" dirty="0"/>
              <a:t>            }</a:t>
            </a:r>
          </a:p>
          <a:p>
            <a:r>
              <a:rPr lang="en-US" dirty="0"/>
              <a:t>            else</a:t>
            </a:r>
          </a:p>
          <a:p>
            <a:r>
              <a:rPr lang="en-US" dirty="0"/>
              <a:t>            {</a:t>
            </a:r>
          </a:p>
          <a:p>
            <a:r>
              <a:rPr lang="en-US" dirty="0"/>
              <a:t>                </a:t>
            </a:r>
            <a:r>
              <a:rPr lang="en-US" dirty="0" err="1"/>
              <a:t>lcsTable</a:t>
            </a:r>
            <a:r>
              <a:rPr lang="en-US" dirty="0"/>
              <a:t>[</a:t>
            </a:r>
            <a:r>
              <a:rPr lang="en-US" dirty="0" err="1"/>
              <a:t>i</a:t>
            </a:r>
            <a:r>
              <a:rPr lang="en-US" dirty="0"/>
              <a:t>][j]=max(</a:t>
            </a:r>
            <a:r>
              <a:rPr lang="en-US" dirty="0" err="1"/>
              <a:t>lcsTable</a:t>
            </a:r>
            <a:r>
              <a:rPr lang="en-US" dirty="0"/>
              <a:t>[i-1][j],</a:t>
            </a:r>
            <a:r>
              <a:rPr lang="en-US" dirty="0" err="1"/>
              <a:t>lcsTable</a:t>
            </a:r>
            <a:r>
              <a:rPr lang="en-US" dirty="0"/>
              <a:t>[</a:t>
            </a:r>
            <a:r>
              <a:rPr lang="en-US" dirty="0" err="1"/>
              <a:t>i</a:t>
            </a:r>
            <a:r>
              <a:rPr lang="en-US" dirty="0"/>
              <a:t>][j-1]);</a:t>
            </a:r>
          </a:p>
          <a:p>
            <a:r>
              <a:rPr lang="en-US" dirty="0"/>
              <a:t>            }  } }</a:t>
            </a:r>
          </a:p>
          <a:p>
            <a:r>
              <a:rPr lang="en-US" dirty="0"/>
              <a:t>int </a:t>
            </a:r>
            <a:r>
              <a:rPr lang="en-US" dirty="0" err="1"/>
              <a:t>lcs_length</a:t>
            </a:r>
            <a:r>
              <a:rPr lang="en-US" dirty="0"/>
              <a:t>=</a:t>
            </a:r>
            <a:r>
              <a:rPr lang="en-US" dirty="0" err="1"/>
              <a:t>lcsTable</a:t>
            </a:r>
            <a:r>
              <a:rPr lang="en-US" dirty="0"/>
              <a:t>[m][n];</a:t>
            </a:r>
          </a:p>
        </p:txBody>
      </p:sp>
    </p:spTree>
    <p:extLst>
      <p:ext uri="{BB962C8B-B14F-4D97-AF65-F5344CB8AC3E}">
        <p14:creationId xmlns:p14="http://schemas.microsoft.com/office/powerpoint/2010/main" val="39538952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D1CD0-0395-50B8-E4E1-D4598BBAB8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FD5392-1D02-3015-5668-01A8387C2ADD}"/>
              </a:ext>
            </a:extLst>
          </p:cNvPr>
          <p:cNvSpPr>
            <a:spLocks noGrp="1"/>
          </p:cNvSpPr>
          <p:nvPr>
            <p:ph type="title"/>
          </p:nvPr>
        </p:nvSpPr>
        <p:spPr>
          <a:xfrm>
            <a:off x="838200" y="1"/>
            <a:ext cx="10515600" cy="592428"/>
          </a:xfrm>
        </p:spPr>
        <p:txBody>
          <a:bodyPr>
            <a:normAutofit fontScale="90000"/>
          </a:bodyPr>
          <a:lstStyle/>
          <a:p>
            <a:pPr algn="ctr"/>
            <a:r>
              <a:rPr lang="en-US" sz="4800" b="1" dirty="0"/>
              <a:t>Longest Common Subsequence :</a:t>
            </a:r>
          </a:p>
        </p:txBody>
      </p:sp>
      <p:sp>
        <p:nvSpPr>
          <p:cNvPr id="3" name="TextBox 2">
            <a:extLst>
              <a:ext uri="{FF2B5EF4-FFF2-40B4-BE49-F238E27FC236}">
                <a16:creationId xmlns:a16="http://schemas.microsoft.com/office/drawing/2014/main" id="{10F7C425-E38E-251F-C98E-7F6F7AE7D13D}"/>
              </a:ext>
            </a:extLst>
          </p:cNvPr>
          <p:cNvSpPr txBox="1"/>
          <p:nvPr/>
        </p:nvSpPr>
        <p:spPr>
          <a:xfrm>
            <a:off x="323850" y="733425"/>
            <a:ext cx="5772150" cy="5632311"/>
          </a:xfrm>
          <a:prstGeom prst="rect">
            <a:avLst/>
          </a:prstGeom>
          <a:noFill/>
        </p:spPr>
        <p:txBody>
          <a:bodyPr wrap="square" rtlCol="0">
            <a:spAutoFit/>
          </a:bodyPr>
          <a:lstStyle/>
          <a:p>
            <a:r>
              <a:rPr lang="en-US" dirty="0"/>
              <a:t>#include&lt;bits/stdc++.h&gt;</a:t>
            </a:r>
          </a:p>
          <a:p>
            <a:r>
              <a:rPr lang="en-US" dirty="0"/>
              <a:t>using namespace std;</a:t>
            </a:r>
          </a:p>
          <a:p>
            <a:r>
              <a:rPr lang="en-US" dirty="0"/>
              <a:t>void </a:t>
            </a:r>
            <a:r>
              <a:rPr lang="en-US" dirty="0" err="1"/>
              <a:t>lcsAlgo</a:t>
            </a:r>
            <a:r>
              <a:rPr lang="en-US" dirty="0"/>
              <a:t>(char *s1,char *s2,int </a:t>
            </a:r>
            <a:r>
              <a:rPr lang="en-US" dirty="0" err="1"/>
              <a:t>m,int</a:t>
            </a:r>
            <a:r>
              <a:rPr lang="en-US" dirty="0"/>
              <a:t> n)</a:t>
            </a:r>
          </a:p>
          <a:p>
            <a:r>
              <a:rPr lang="en-US" dirty="0"/>
              <a:t>{</a:t>
            </a:r>
          </a:p>
          <a:p>
            <a:r>
              <a:rPr lang="en-US" dirty="0"/>
              <a:t>    int </a:t>
            </a:r>
            <a:r>
              <a:rPr lang="en-US" dirty="0" err="1"/>
              <a:t>lcsTable</a:t>
            </a:r>
            <a:r>
              <a:rPr lang="en-US" dirty="0"/>
              <a:t>[m+1][n+1];</a:t>
            </a:r>
          </a:p>
          <a:p>
            <a:r>
              <a:rPr lang="en-US" dirty="0"/>
              <a:t>    for(int </a:t>
            </a:r>
            <a:r>
              <a:rPr lang="en-US" dirty="0" err="1"/>
              <a:t>i</a:t>
            </a:r>
            <a:r>
              <a:rPr lang="en-US" dirty="0"/>
              <a:t>=0;i&lt;=</a:t>
            </a:r>
            <a:r>
              <a:rPr lang="en-US" dirty="0" err="1"/>
              <a:t>m;i</a:t>
            </a:r>
            <a:r>
              <a:rPr lang="en-US" dirty="0"/>
              <a:t>++)</a:t>
            </a:r>
          </a:p>
          <a:p>
            <a:r>
              <a:rPr lang="en-US" dirty="0"/>
              <a:t>    {for(int j=0;j&lt;=</a:t>
            </a:r>
            <a:r>
              <a:rPr lang="en-US" dirty="0" err="1"/>
              <a:t>n;j</a:t>
            </a:r>
            <a:r>
              <a:rPr lang="en-US" dirty="0"/>
              <a:t>++)</a:t>
            </a:r>
          </a:p>
          <a:p>
            <a:r>
              <a:rPr lang="en-US" dirty="0"/>
              <a:t>        {if(</a:t>
            </a:r>
            <a:r>
              <a:rPr lang="en-US" dirty="0" err="1"/>
              <a:t>i</a:t>
            </a:r>
            <a:r>
              <a:rPr lang="en-US" dirty="0"/>
              <a:t>==0 || j==0)</a:t>
            </a:r>
          </a:p>
          <a:p>
            <a:r>
              <a:rPr lang="en-US" dirty="0"/>
              <a:t>            {</a:t>
            </a:r>
          </a:p>
          <a:p>
            <a:r>
              <a:rPr lang="en-US" dirty="0"/>
              <a:t>                </a:t>
            </a:r>
            <a:r>
              <a:rPr lang="en-US" dirty="0" err="1"/>
              <a:t>lcsTable</a:t>
            </a:r>
            <a:r>
              <a:rPr lang="en-US" dirty="0"/>
              <a:t>[</a:t>
            </a:r>
            <a:r>
              <a:rPr lang="en-US" dirty="0" err="1"/>
              <a:t>i</a:t>
            </a:r>
            <a:r>
              <a:rPr lang="en-US" dirty="0"/>
              <a:t>][j]=0;</a:t>
            </a:r>
          </a:p>
          <a:p>
            <a:r>
              <a:rPr lang="en-US" dirty="0"/>
              <a:t>            }</a:t>
            </a:r>
          </a:p>
          <a:p>
            <a:r>
              <a:rPr lang="en-US" dirty="0"/>
              <a:t>            else if(s1[i-1]==s2[j-1])</a:t>
            </a:r>
          </a:p>
          <a:p>
            <a:r>
              <a:rPr lang="en-US" dirty="0"/>
              <a:t>            {</a:t>
            </a:r>
          </a:p>
          <a:p>
            <a:r>
              <a:rPr lang="en-US" dirty="0"/>
              <a:t>                </a:t>
            </a:r>
            <a:r>
              <a:rPr lang="en-US" dirty="0" err="1"/>
              <a:t>lcsTable</a:t>
            </a:r>
            <a:r>
              <a:rPr lang="en-US" dirty="0"/>
              <a:t>[</a:t>
            </a:r>
            <a:r>
              <a:rPr lang="en-US" dirty="0" err="1"/>
              <a:t>i</a:t>
            </a:r>
            <a:r>
              <a:rPr lang="en-US" dirty="0"/>
              <a:t>][j]=</a:t>
            </a:r>
            <a:r>
              <a:rPr lang="en-US" dirty="0" err="1"/>
              <a:t>lcsTable</a:t>
            </a:r>
            <a:r>
              <a:rPr lang="en-US" dirty="0"/>
              <a:t>[i-1][j-1]+1;</a:t>
            </a:r>
          </a:p>
          <a:p>
            <a:r>
              <a:rPr lang="en-US" dirty="0"/>
              <a:t>            }</a:t>
            </a:r>
          </a:p>
          <a:p>
            <a:r>
              <a:rPr lang="en-US" dirty="0"/>
              <a:t>            else</a:t>
            </a:r>
          </a:p>
          <a:p>
            <a:r>
              <a:rPr lang="en-US" dirty="0"/>
              <a:t>            {</a:t>
            </a:r>
          </a:p>
          <a:p>
            <a:r>
              <a:rPr lang="en-US" dirty="0"/>
              <a:t>                </a:t>
            </a:r>
            <a:r>
              <a:rPr lang="en-US" dirty="0" err="1"/>
              <a:t>lcsTable</a:t>
            </a:r>
            <a:r>
              <a:rPr lang="en-US" dirty="0"/>
              <a:t>[</a:t>
            </a:r>
            <a:r>
              <a:rPr lang="en-US" dirty="0" err="1"/>
              <a:t>i</a:t>
            </a:r>
            <a:r>
              <a:rPr lang="en-US" dirty="0"/>
              <a:t>][j]=max(</a:t>
            </a:r>
            <a:r>
              <a:rPr lang="en-US" dirty="0" err="1"/>
              <a:t>lcsTable</a:t>
            </a:r>
            <a:r>
              <a:rPr lang="en-US" dirty="0"/>
              <a:t>[i-1][j],</a:t>
            </a:r>
            <a:r>
              <a:rPr lang="en-US" dirty="0" err="1"/>
              <a:t>lcsTable</a:t>
            </a:r>
            <a:r>
              <a:rPr lang="en-US" dirty="0"/>
              <a:t>[</a:t>
            </a:r>
            <a:r>
              <a:rPr lang="en-US" dirty="0" err="1"/>
              <a:t>i</a:t>
            </a:r>
            <a:r>
              <a:rPr lang="en-US" dirty="0"/>
              <a:t>][j-1]);</a:t>
            </a:r>
          </a:p>
          <a:p>
            <a:r>
              <a:rPr lang="en-US" dirty="0"/>
              <a:t>            }  } }</a:t>
            </a:r>
          </a:p>
          <a:p>
            <a:r>
              <a:rPr lang="en-US" dirty="0"/>
              <a:t>int </a:t>
            </a:r>
            <a:r>
              <a:rPr lang="en-US" dirty="0" err="1"/>
              <a:t>lcs_length</a:t>
            </a:r>
            <a:r>
              <a:rPr lang="en-US" dirty="0"/>
              <a:t>=</a:t>
            </a:r>
            <a:r>
              <a:rPr lang="en-US" dirty="0" err="1"/>
              <a:t>lcsTable</a:t>
            </a:r>
            <a:r>
              <a:rPr lang="en-US" dirty="0"/>
              <a:t>[m][n];</a:t>
            </a:r>
          </a:p>
        </p:txBody>
      </p:sp>
      <p:sp>
        <p:nvSpPr>
          <p:cNvPr id="6" name="TextBox 5">
            <a:extLst>
              <a:ext uri="{FF2B5EF4-FFF2-40B4-BE49-F238E27FC236}">
                <a16:creationId xmlns:a16="http://schemas.microsoft.com/office/drawing/2014/main" id="{ABE2BD33-08C5-74A9-522E-DCF704DC7BF1}"/>
              </a:ext>
            </a:extLst>
          </p:cNvPr>
          <p:cNvSpPr txBox="1"/>
          <p:nvPr/>
        </p:nvSpPr>
        <p:spPr>
          <a:xfrm>
            <a:off x="7239000" y="592429"/>
            <a:ext cx="4371975" cy="6186309"/>
          </a:xfrm>
          <a:prstGeom prst="rect">
            <a:avLst/>
          </a:prstGeom>
          <a:noFill/>
        </p:spPr>
        <p:txBody>
          <a:bodyPr wrap="square" rtlCol="0">
            <a:spAutoFit/>
          </a:bodyPr>
          <a:lstStyle/>
          <a:p>
            <a:r>
              <a:rPr lang="en-US" dirty="0"/>
              <a:t>char lcs[</a:t>
            </a:r>
            <a:r>
              <a:rPr lang="en-US" dirty="0" err="1"/>
              <a:t>lcs_length</a:t>
            </a:r>
            <a:r>
              <a:rPr lang="en-US" dirty="0"/>
              <a:t>];</a:t>
            </a:r>
          </a:p>
          <a:p>
            <a:r>
              <a:rPr lang="en-US" dirty="0"/>
              <a:t>    lcs[</a:t>
            </a:r>
            <a:r>
              <a:rPr lang="en-US" dirty="0" err="1"/>
              <a:t>lcs_length</a:t>
            </a:r>
            <a:r>
              <a:rPr lang="en-US" dirty="0"/>
              <a:t>]='\0';</a:t>
            </a:r>
          </a:p>
          <a:p>
            <a:r>
              <a:rPr lang="en-US" dirty="0"/>
              <a:t>    int </a:t>
            </a:r>
            <a:r>
              <a:rPr lang="en-US" dirty="0" err="1"/>
              <a:t>i</a:t>
            </a:r>
            <a:r>
              <a:rPr lang="en-US" dirty="0"/>
              <a:t>=</a:t>
            </a:r>
            <a:r>
              <a:rPr lang="en-US" dirty="0" err="1"/>
              <a:t>m,j</a:t>
            </a:r>
            <a:r>
              <a:rPr lang="en-US" dirty="0"/>
              <a:t>=n;</a:t>
            </a:r>
          </a:p>
          <a:p>
            <a:r>
              <a:rPr lang="en-US" dirty="0"/>
              <a:t>    while(</a:t>
            </a:r>
            <a:r>
              <a:rPr lang="en-US" dirty="0" err="1"/>
              <a:t>i</a:t>
            </a:r>
            <a:r>
              <a:rPr lang="en-US" dirty="0"/>
              <a:t>&gt;0 &amp;&amp; j&gt;0)</a:t>
            </a:r>
          </a:p>
          <a:p>
            <a:r>
              <a:rPr lang="en-US" dirty="0"/>
              <a:t>    {  if(s1[i-1]==s2[j-1])</a:t>
            </a:r>
          </a:p>
          <a:p>
            <a:r>
              <a:rPr lang="en-US" dirty="0"/>
              <a:t>        {</a:t>
            </a:r>
          </a:p>
          <a:p>
            <a:r>
              <a:rPr lang="en-US" dirty="0"/>
              <a:t>            lcs[lcs_length-1]=s1[i-1];</a:t>
            </a:r>
          </a:p>
          <a:p>
            <a:r>
              <a:rPr lang="en-US" dirty="0"/>
              <a:t>            </a:t>
            </a:r>
            <a:r>
              <a:rPr lang="en-US" dirty="0" err="1"/>
              <a:t>i</a:t>
            </a:r>
            <a:r>
              <a:rPr lang="en-US" dirty="0"/>
              <a:t>--;</a:t>
            </a:r>
          </a:p>
          <a:p>
            <a:r>
              <a:rPr lang="en-US" dirty="0"/>
              <a:t>            j--;</a:t>
            </a:r>
          </a:p>
          <a:p>
            <a:r>
              <a:rPr lang="en-US" dirty="0"/>
              <a:t>            </a:t>
            </a:r>
            <a:r>
              <a:rPr lang="en-US" dirty="0" err="1"/>
              <a:t>lcs_length</a:t>
            </a:r>
            <a:r>
              <a:rPr lang="en-US" dirty="0"/>
              <a:t>--;</a:t>
            </a:r>
          </a:p>
          <a:p>
            <a:r>
              <a:rPr lang="en-US" dirty="0"/>
              <a:t>        }</a:t>
            </a:r>
          </a:p>
          <a:p>
            <a:r>
              <a:rPr lang="en-US" dirty="0"/>
              <a:t>        else if(</a:t>
            </a:r>
            <a:r>
              <a:rPr lang="en-US" dirty="0" err="1"/>
              <a:t>lcsTable</a:t>
            </a:r>
            <a:r>
              <a:rPr lang="en-US" dirty="0"/>
              <a:t>[i-1][j]&gt;</a:t>
            </a:r>
            <a:r>
              <a:rPr lang="en-US" dirty="0" err="1"/>
              <a:t>lcsTable</a:t>
            </a:r>
            <a:r>
              <a:rPr lang="en-US" dirty="0"/>
              <a:t>[</a:t>
            </a:r>
            <a:r>
              <a:rPr lang="en-US" dirty="0" err="1"/>
              <a:t>i</a:t>
            </a:r>
            <a:r>
              <a:rPr lang="en-US" dirty="0"/>
              <a:t>][j-1])</a:t>
            </a:r>
          </a:p>
          <a:p>
            <a:r>
              <a:rPr lang="en-US" dirty="0"/>
              <a:t>            </a:t>
            </a:r>
            <a:r>
              <a:rPr lang="en-US" dirty="0" err="1"/>
              <a:t>i</a:t>
            </a:r>
            <a:r>
              <a:rPr lang="en-US" dirty="0"/>
              <a:t>--;</a:t>
            </a:r>
          </a:p>
          <a:p>
            <a:r>
              <a:rPr lang="en-US" dirty="0"/>
              <a:t>        else</a:t>
            </a:r>
          </a:p>
          <a:p>
            <a:r>
              <a:rPr lang="en-US" dirty="0"/>
              <a:t>            j--; }</a:t>
            </a:r>
          </a:p>
          <a:p>
            <a:r>
              <a:rPr lang="en-US" dirty="0"/>
              <a:t>    </a:t>
            </a:r>
            <a:r>
              <a:rPr lang="en-US" dirty="0" err="1"/>
              <a:t>lcs_length</a:t>
            </a:r>
            <a:r>
              <a:rPr lang="en-US" dirty="0"/>
              <a:t>=</a:t>
            </a:r>
            <a:r>
              <a:rPr lang="en-US" dirty="0" err="1"/>
              <a:t>lcsTable</a:t>
            </a:r>
            <a:r>
              <a:rPr lang="en-US" dirty="0"/>
              <a:t>[m][n];</a:t>
            </a:r>
          </a:p>
          <a:p>
            <a:r>
              <a:rPr lang="en-US" dirty="0"/>
              <a:t>    </a:t>
            </a:r>
            <a:r>
              <a:rPr lang="en-US" dirty="0" err="1"/>
              <a:t>cout</a:t>
            </a:r>
            <a:r>
              <a:rPr lang="en-US" dirty="0"/>
              <a:t>&lt;&lt;"The first sequence:";</a:t>
            </a:r>
          </a:p>
          <a:p>
            <a:r>
              <a:rPr lang="en-US" dirty="0"/>
              <a:t>    </a:t>
            </a:r>
            <a:r>
              <a:rPr lang="en-US" dirty="0" err="1"/>
              <a:t>cout</a:t>
            </a:r>
            <a:r>
              <a:rPr lang="en-US" dirty="0"/>
              <a:t>&lt;&lt;s1&lt;&lt;</a:t>
            </a:r>
            <a:r>
              <a:rPr lang="en-US" dirty="0" err="1"/>
              <a:t>endl</a:t>
            </a:r>
            <a:r>
              <a:rPr lang="en-US" dirty="0"/>
              <a:t>;</a:t>
            </a:r>
          </a:p>
          <a:p>
            <a:r>
              <a:rPr lang="en-US" dirty="0"/>
              <a:t>    </a:t>
            </a:r>
            <a:r>
              <a:rPr lang="en-US" dirty="0" err="1"/>
              <a:t>cout</a:t>
            </a:r>
            <a:r>
              <a:rPr lang="en-US" dirty="0"/>
              <a:t>&lt;&lt;"The second sequence:";</a:t>
            </a:r>
          </a:p>
          <a:p>
            <a:r>
              <a:rPr lang="en-US" dirty="0"/>
              <a:t>    </a:t>
            </a:r>
            <a:r>
              <a:rPr lang="en-US" dirty="0" err="1"/>
              <a:t>cout</a:t>
            </a:r>
            <a:r>
              <a:rPr lang="en-US" dirty="0"/>
              <a:t>&lt;&lt;s2&lt;&lt;</a:t>
            </a:r>
            <a:r>
              <a:rPr lang="en-US" dirty="0" err="1"/>
              <a:t>endl</a:t>
            </a:r>
            <a:r>
              <a:rPr lang="en-US" dirty="0"/>
              <a:t>;</a:t>
            </a:r>
          </a:p>
          <a:p>
            <a:r>
              <a:rPr lang="en-US" dirty="0"/>
              <a:t>    </a:t>
            </a:r>
            <a:r>
              <a:rPr lang="en-US" dirty="0" err="1"/>
              <a:t>cout</a:t>
            </a:r>
            <a:r>
              <a:rPr lang="en-US" dirty="0"/>
              <a:t>&lt;&lt;"The LCS:"&lt;&lt;lcs&lt;&lt;</a:t>
            </a:r>
            <a:r>
              <a:rPr lang="en-US" dirty="0" err="1"/>
              <a:t>endl</a:t>
            </a:r>
            <a:r>
              <a:rPr lang="en-US" dirty="0"/>
              <a:t>;</a:t>
            </a:r>
          </a:p>
          <a:p>
            <a:r>
              <a:rPr lang="en-US" dirty="0"/>
              <a:t>    </a:t>
            </a:r>
            <a:r>
              <a:rPr lang="en-US" dirty="0" err="1"/>
              <a:t>cout</a:t>
            </a:r>
            <a:r>
              <a:rPr lang="en-US" dirty="0"/>
              <a:t>&lt;&lt;"LCS length:"&lt;&lt;</a:t>
            </a:r>
            <a:r>
              <a:rPr lang="en-US" dirty="0" err="1"/>
              <a:t>lcs_length</a:t>
            </a:r>
            <a:r>
              <a:rPr lang="en-US" dirty="0"/>
              <a:t>;}</a:t>
            </a:r>
          </a:p>
        </p:txBody>
      </p:sp>
    </p:spTree>
    <p:extLst>
      <p:ext uri="{BB962C8B-B14F-4D97-AF65-F5344CB8AC3E}">
        <p14:creationId xmlns:p14="http://schemas.microsoft.com/office/powerpoint/2010/main" val="14321071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82DF34261CC124397F3D91909AA7EE8" ma:contentTypeVersion="3" ma:contentTypeDescription="Create a new document." ma:contentTypeScope="" ma:versionID="486934a824b05efb8de9d5c1ac9199bf">
  <xsd:schema xmlns:xsd="http://www.w3.org/2001/XMLSchema" xmlns:xs="http://www.w3.org/2001/XMLSchema" xmlns:p="http://schemas.microsoft.com/office/2006/metadata/properties" xmlns:ns2="5e71315f-5b78-462f-9850-4380c4e47649" targetNamespace="http://schemas.microsoft.com/office/2006/metadata/properties" ma:root="true" ma:fieldsID="ecb370001b1b0d1545cf0628daa847be" ns2:_="">
    <xsd:import namespace="5e71315f-5b78-462f-9850-4380c4e4764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71315f-5b78-462f-9850-4380c4e476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040B87B-60C5-4FBF-BDD8-7A580C3B9086}"/>
</file>

<file path=customXml/itemProps2.xml><?xml version="1.0" encoding="utf-8"?>
<ds:datastoreItem xmlns:ds="http://schemas.openxmlformats.org/officeDocument/2006/customXml" ds:itemID="{99F42317-99DD-41A6-83A8-D6193C95D456}"/>
</file>

<file path=customXml/itemProps3.xml><?xml version="1.0" encoding="utf-8"?>
<ds:datastoreItem xmlns:ds="http://schemas.openxmlformats.org/officeDocument/2006/customXml" ds:itemID="{877E262E-E3A8-48C4-9A64-91D619DEB064}"/>
</file>

<file path=docProps/app.xml><?xml version="1.0" encoding="utf-8"?>
<Properties xmlns="http://schemas.openxmlformats.org/officeDocument/2006/extended-properties" xmlns:vt="http://schemas.openxmlformats.org/officeDocument/2006/docPropsVTypes">
  <TotalTime>5590</TotalTime>
  <Words>1528</Words>
  <Application>Microsoft Office PowerPoint</Application>
  <PresentationFormat>Widescreen</PresentationFormat>
  <Paragraphs>183</Paragraphs>
  <Slides>22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(Body)</vt:lpstr>
      <vt:lpstr>Calibri Light</vt:lpstr>
      <vt:lpstr>Times New Roman</vt:lpstr>
      <vt:lpstr>Office Theme</vt:lpstr>
      <vt:lpstr>PowerPoint Presentation</vt:lpstr>
      <vt:lpstr>Dynamic Programming (DP)</vt:lpstr>
      <vt:lpstr>Basic Principle</vt:lpstr>
      <vt:lpstr>Dynamic Programming vs Divide and Conquer </vt:lpstr>
      <vt:lpstr>Dynamic Programming vs Divide and Conquer </vt:lpstr>
      <vt:lpstr>Dynamic Programming vs Divide and Conquer</vt:lpstr>
      <vt:lpstr>Dynamic Programming: When Apply? </vt:lpstr>
      <vt:lpstr>Using Dynamic Programming for Optimal Solution</vt:lpstr>
      <vt:lpstr>Dynamic Programing</vt:lpstr>
      <vt:lpstr>Longest Common Subsequence</vt:lpstr>
      <vt:lpstr>Longest Common Subsequence</vt:lpstr>
      <vt:lpstr>LCS : “HELLOM” and “HMLLD”</vt:lpstr>
      <vt:lpstr>LCS : “HELLOM” and “HMLLD”</vt:lpstr>
      <vt:lpstr>LCS : “HELLOM” and “HMLLD”</vt:lpstr>
      <vt:lpstr>Longest Common Subsequence</vt:lpstr>
      <vt:lpstr>Longest Common Subsequence: Base Case</vt:lpstr>
      <vt:lpstr>Longest Common Subsequence: Base Case</vt:lpstr>
      <vt:lpstr>Longest Common Subsequence</vt:lpstr>
      <vt:lpstr>Longest Common Subsequence</vt:lpstr>
      <vt:lpstr>Longest Common Subsequence : Recursviely</vt:lpstr>
      <vt:lpstr>Longest Common Subsequence :</vt:lpstr>
      <vt:lpstr>Longest Common Subsequence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Sumaiya Tasnim</cp:lastModifiedBy>
  <cp:revision>192</cp:revision>
  <dcterms:created xsi:type="dcterms:W3CDTF">2016-12-20T02:09:33Z</dcterms:created>
  <dcterms:modified xsi:type="dcterms:W3CDTF">2025-10-27T04:13:16Z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0x010100E82DF34261CC124397F3D91909AA7EE8</vt:lpwstr>
  </property>
</Properties>
</file>