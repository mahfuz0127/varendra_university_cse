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5" r:id="rId4"/>
    <p:sldId id="266" r:id="rId5"/>
    <p:sldId id="283" r:id="rId6"/>
    <p:sldId id="276" r:id="rId7"/>
    <p:sldId id="277" r:id="rId8"/>
    <p:sldId id="278" r:id="rId9"/>
    <p:sldId id="279" r:id="rId10"/>
    <p:sldId id="281" r:id="rId11"/>
    <p:sldId id="282" r:id="rId12"/>
    <p:sldId id="280" r:id="rId13"/>
    <p:sldId id="284" r:id="rId14"/>
    <p:sldId id="285" r:id="rId15"/>
    <p:sldId id="286" r:id="rId16"/>
    <p:sldId id="287" r:id="rId17"/>
    <p:sldId id="288"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hyperlink" Target="https://codeforces.com/problemset/problem/1992/A"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615" y="2181209"/>
            <a:ext cx="8229600" cy="1143000"/>
          </a:xfrm>
        </p:spPr>
        <p:txBody>
          <a:bodyPr/>
          <a:lstStyle/>
          <a:p>
            <a:r>
              <a:rPr lang="en-US" dirty="0"/>
              <a:t>Problem Solving</a:t>
            </a:r>
            <a:r>
              <a:rPr dirty="0"/>
              <a:t>: </a:t>
            </a:r>
            <a:r>
              <a:rPr lang="en-US" dirty="0"/>
              <a:t>Combinatorics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572"/>
            <a:ext cx="8229600" cy="597267"/>
          </a:xfrm>
        </p:spPr>
        <p:txBody>
          <a:bodyPr>
            <a:normAutofit/>
          </a:bodyPr>
          <a:lstStyle/>
          <a:p>
            <a:r>
              <a:rPr lang="en-US" sz="2400" dirty="0"/>
              <a:t>Problem-01: Only Pluses</a:t>
            </a:r>
            <a:endParaRPr sz="2400" dirty="0"/>
          </a:p>
        </p:txBody>
      </p:sp>
      <p:sp>
        <p:nvSpPr>
          <p:cNvPr id="4" name="Rectangle 1">
            <a:extLst>
              <a:ext uri="{FF2B5EF4-FFF2-40B4-BE49-F238E27FC236}">
                <a16:creationId xmlns:a16="http://schemas.microsoft.com/office/drawing/2014/main" id="{8E804A00-24FC-36A1-C5AF-FA6FFB3BC864}"/>
              </a:ext>
            </a:extLst>
          </p:cNvPr>
          <p:cNvSpPr>
            <a:spLocks noChangeArrowheads="1"/>
          </p:cNvSpPr>
          <p:nvPr/>
        </p:nvSpPr>
        <p:spPr bwMode="auto">
          <a:xfrm>
            <a:off x="398282" y="1186396"/>
            <a:ext cx="8347435" cy="46967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8700" tIns="7935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defTabSz="914400"/>
            <a:r>
              <a:rPr lang="en-US" altLang="en-US" sz="2000" dirty="0">
                <a:solidFill>
                  <a:srgbClr val="222222"/>
                </a:solidFill>
                <a:latin typeface="+mj-lt"/>
              </a:rPr>
              <a:t>(Problem Source: </a:t>
            </a:r>
            <a:r>
              <a:rPr lang="en-US" altLang="en-US" sz="2000" dirty="0">
                <a:solidFill>
                  <a:srgbClr val="222222"/>
                </a:solidFill>
                <a:latin typeface="+mj-lt"/>
                <a:hlinkClick r:id="rId2"/>
              </a:rPr>
              <a:t>https://codeforces.com/problemset/problem/1992/A</a:t>
            </a:r>
            <a:r>
              <a:rPr lang="en-US" altLang="en-US" sz="2000" dirty="0">
                <a:solidFill>
                  <a:srgbClr val="222222"/>
                </a:solidFill>
                <a:latin typeface="+mj-lt"/>
              </a:rPr>
              <a:t> )</a:t>
            </a:r>
            <a:endParaRPr kumimoji="0" lang="en-US" altLang="en-US" sz="2000" b="0" i="0" u="none" strike="noStrike" cap="none" normalizeH="0" baseline="0" dirty="0">
              <a:ln>
                <a:noFill/>
              </a:ln>
              <a:solidFill>
                <a:srgbClr val="222222"/>
              </a:solidFill>
              <a:effectLst/>
              <a:latin typeface="+mj-lt"/>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22222"/>
              </a:solidFill>
              <a:effectLst/>
              <a:latin typeface="+mj-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222222"/>
                </a:solidFill>
                <a:effectLst/>
                <a:latin typeface="+mj-lt"/>
              </a:rPr>
              <a:t>Kmes</a:t>
            </a:r>
            <a:r>
              <a:rPr kumimoji="0" lang="en-US" altLang="en-US" sz="2000" b="0" i="0" u="none" strike="noStrike" cap="none" normalizeH="0" baseline="0" dirty="0">
                <a:ln>
                  <a:noFill/>
                </a:ln>
                <a:solidFill>
                  <a:srgbClr val="222222"/>
                </a:solidFill>
                <a:effectLst/>
                <a:latin typeface="+mj-lt"/>
              </a:rPr>
              <a:t> has written three integers </a:t>
            </a:r>
            <a:r>
              <a:rPr kumimoji="0" lang="en-US" altLang="en-US" sz="2000" b="0" i="0" u="none" strike="noStrike" cap="none" normalizeH="0" baseline="0" dirty="0">
                <a:ln>
                  <a:noFill/>
                </a:ln>
                <a:solidFill>
                  <a:srgbClr val="000000"/>
                </a:solidFill>
                <a:effectLst/>
                <a:latin typeface="+mj-lt"/>
              </a:rPr>
              <a:t>a</a:t>
            </a:r>
            <a:r>
              <a:rPr kumimoji="0" lang="en-US" altLang="en-US" sz="2000" b="0" i="0" u="none" strike="noStrike" cap="none" normalizeH="0" baseline="0" dirty="0">
                <a:ln>
                  <a:noFill/>
                </a:ln>
                <a:solidFill>
                  <a:srgbClr val="222222"/>
                </a:solidFill>
                <a:effectLst/>
                <a:latin typeface="+mj-lt"/>
              </a:rPr>
              <a:t>, </a:t>
            </a:r>
            <a:r>
              <a:rPr kumimoji="0" lang="en-US" altLang="en-US" sz="2000" b="0" i="0" u="none" strike="noStrike" cap="none" normalizeH="0" baseline="0" dirty="0">
                <a:ln>
                  <a:noFill/>
                </a:ln>
                <a:solidFill>
                  <a:srgbClr val="000000"/>
                </a:solidFill>
                <a:effectLst/>
                <a:latin typeface="+mj-lt"/>
              </a:rPr>
              <a:t>b</a:t>
            </a:r>
            <a:r>
              <a:rPr kumimoji="0" lang="en-US" altLang="en-US" sz="2000" b="0" i="0" u="none" strike="noStrike" cap="none" normalizeH="0" baseline="0" dirty="0">
                <a:ln>
                  <a:noFill/>
                </a:ln>
                <a:solidFill>
                  <a:srgbClr val="222222"/>
                </a:solidFill>
                <a:effectLst/>
                <a:latin typeface="+mj-lt"/>
              </a:rPr>
              <a:t> and </a:t>
            </a:r>
            <a:r>
              <a:rPr kumimoji="0" lang="en-US" altLang="en-US" sz="2000" b="0" i="0" u="none" strike="noStrike" cap="none" normalizeH="0" baseline="0" dirty="0">
                <a:ln>
                  <a:noFill/>
                </a:ln>
                <a:solidFill>
                  <a:srgbClr val="000000"/>
                </a:solidFill>
                <a:effectLst/>
                <a:latin typeface="+mj-lt"/>
              </a:rPr>
              <a:t>c</a:t>
            </a:r>
            <a:r>
              <a:rPr kumimoji="0" lang="en-US" altLang="en-US" sz="2000" b="0" i="0" u="none" strike="noStrike" cap="none" normalizeH="0" baseline="0" dirty="0">
                <a:ln>
                  <a:noFill/>
                </a:ln>
                <a:solidFill>
                  <a:srgbClr val="222222"/>
                </a:solidFill>
                <a:effectLst/>
                <a:latin typeface="+mj-lt"/>
              </a:rPr>
              <a:t> in order to remember that</a:t>
            </a:r>
            <a:r>
              <a:rPr kumimoji="0" lang="en-US" altLang="en-US" sz="2000" b="0" i="0" u="none" strike="noStrike" cap="none" normalizeH="0" dirty="0">
                <a:ln>
                  <a:noFill/>
                </a:ln>
                <a:solidFill>
                  <a:srgbClr val="222222"/>
                </a:solidFill>
                <a:effectLst/>
                <a:latin typeface="+mj-lt"/>
              </a:rPr>
              <a:t> </a:t>
            </a:r>
            <a:r>
              <a:rPr kumimoji="0" lang="en-US" altLang="en-US" sz="2000" b="0" i="0" u="none" strike="noStrike" cap="none" normalizeH="0" baseline="0" dirty="0">
                <a:ln>
                  <a:noFill/>
                </a:ln>
                <a:solidFill>
                  <a:srgbClr val="222222"/>
                </a:solidFill>
                <a:effectLst/>
                <a:latin typeface="+mj-lt"/>
              </a:rPr>
              <a:t>he has to give </a:t>
            </a:r>
            <a:r>
              <a:rPr kumimoji="0" lang="en-US" altLang="en-US" sz="2000" b="0" i="0" u="none" strike="noStrike" cap="none" normalizeH="0" baseline="0" dirty="0" err="1">
                <a:ln>
                  <a:noFill/>
                </a:ln>
                <a:solidFill>
                  <a:srgbClr val="222222"/>
                </a:solidFill>
                <a:effectLst/>
                <a:latin typeface="+mj-lt"/>
              </a:rPr>
              <a:t>Noobish_Monk</a:t>
            </a:r>
            <a:r>
              <a:rPr kumimoji="0" lang="en-US" altLang="en-US" sz="2000" b="0" i="0" u="none" strike="noStrike" cap="none" normalizeH="0" baseline="0" dirty="0">
                <a:ln>
                  <a:noFill/>
                </a:ln>
                <a:solidFill>
                  <a:srgbClr val="222222"/>
                </a:solidFill>
                <a:effectLst/>
                <a:latin typeface="+mj-lt"/>
              </a:rPr>
              <a:t> </a:t>
            </a:r>
            <a:r>
              <a:rPr kumimoji="0" lang="en-US" altLang="en-US" sz="2000" b="0" i="0" u="none" strike="noStrike" cap="none" normalizeH="0" baseline="0" dirty="0" err="1">
                <a:ln>
                  <a:noFill/>
                </a:ln>
                <a:solidFill>
                  <a:srgbClr val="000000"/>
                </a:solidFill>
                <a:effectLst/>
                <a:latin typeface="+mj-lt"/>
              </a:rPr>
              <a:t>a×b×c</a:t>
            </a:r>
            <a:r>
              <a:rPr kumimoji="0" lang="en-US" altLang="en-US" sz="2000" b="0" i="0" u="none" strike="noStrike" cap="none" normalizeH="0" baseline="0" dirty="0">
                <a:ln>
                  <a:noFill/>
                </a:ln>
                <a:solidFill>
                  <a:srgbClr val="222222"/>
                </a:solidFill>
                <a:effectLst/>
                <a:latin typeface="+mj-lt"/>
              </a:rPr>
              <a:t> bananas.</a:t>
            </a:r>
            <a:r>
              <a:rPr kumimoji="0" lang="en-US" altLang="en-US" sz="2000" b="0" i="0" u="none" strike="noStrike" cap="none" normalizeH="0" dirty="0">
                <a:ln>
                  <a:noFill/>
                </a:ln>
                <a:solidFill>
                  <a:srgbClr val="222222"/>
                </a:solidFill>
                <a:effectLst/>
                <a:latin typeface="+mj-lt"/>
              </a:rPr>
              <a:t> </a:t>
            </a:r>
            <a:r>
              <a:rPr kumimoji="0" lang="en-US" altLang="en-US" sz="2000" b="0" i="0" u="none" strike="noStrike" cap="none" normalizeH="0" baseline="0" dirty="0" err="1">
                <a:ln>
                  <a:noFill/>
                </a:ln>
                <a:solidFill>
                  <a:srgbClr val="222222"/>
                </a:solidFill>
                <a:effectLst/>
                <a:latin typeface="+mj-lt"/>
              </a:rPr>
              <a:t>Noobish_Monk</a:t>
            </a:r>
            <a:r>
              <a:rPr kumimoji="0" lang="en-US" altLang="en-US" sz="2000" b="0" i="0" u="none" strike="noStrike" cap="none" normalizeH="0" baseline="0" dirty="0">
                <a:ln>
                  <a:noFill/>
                </a:ln>
                <a:solidFill>
                  <a:srgbClr val="222222"/>
                </a:solidFill>
                <a:effectLst/>
                <a:latin typeface="+mj-lt"/>
              </a:rPr>
              <a:t> has found these integers and decided to do the following </a:t>
            </a:r>
            <a:r>
              <a:rPr kumimoji="0" lang="en-US" altLang="en-US" sz="2000" b="1" i="0" u="none" strike="noStrike" cap="none" normalizeH="0" baseline="0" dirty="0">
                <a:ln>
                  <a:noFill/>
                </a:ln>
                <a:solidFill>
                  <a:srgbClr val="222222"/>
                </a:solidFill>
                <a:effectLst/>
                <a:latin typeface="+mj-lt"/>
              </a:rPr>
              <a:t>at most </a:t>
            </a:r>
            <a:r>
              <a:rPr kumimoji="0" lang="en-US" altLang="en-US" sz="2000" b="0" i="0" u="none" strike="noStrike" cap="none" normalizeH="0" baseline="0" dirty="0">
                <a:ln>
                  <a:noFill/>
                </a:ln>
                <a:solidFill>
                  <a:srgbClr val="000000"/>
                </a:solidFill>
                <a:effectLst/>
                <a:latin typeface="+mj-lt"/>
              </a:rPr>
              <a:t>5</a:t>
            </a:r>
            <a:r>
              <a:rPr kumimoji="0" lang="en-US" altLang="en-US" sz="2000" b="1" i="0" u="none" strike="noStrike" cap="none" normalizeH="0" baseline="0" dirty="0">
                <a:ln>
                  <a:noFill/>
                </a:ln>
                <a:solidFill>
                  <a:srgbClr val="222222"/>
                </a:solidFill>
                <a:effectLst/>
                <a:latin typeface="+mj-lt"/>
              </a:rPr>
              <a:t> times</a:t>
            </a:r>
            <a:r>
              <a:rPr kumimoji="0" lang="en-US" altLang="en-US" sz="2000" b="0" i="0" u="none" strike="noStrike" cap="none" normalizeH="0" baseline="0" dirty="0">
                <a:ln>
                  <a:noFill/>
                </a:ln>
                <a:solidFill>
                  <a:srgbClr val="222222"/>
                </a:solidFill>
                <a:effectLst/>
                <a:latin typeface="+mj-lt"/>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22222"/>
              </a:solidFill>
              <a:effectLst/>
              <a:latin typeface="+mj-lt"/>
            </a:endParaRPr>
          </a:p>
          <a:p>
            <a:pPr lvl="5" defTabSz="914400">
              <a:buFontTx/>
              <a:buChar char="•"/>
            </a:pPr>
            <a:r>
              <a:rPr kumimoji="0" lang="en-US" altLang="en-US" sz="2000" b="0" i="0" u="none" strike="noStrike" cap="none" normalizeH="0" baseline="0" dirty="0">
                <a:ln>
                  <a:noFill/>
                </a:ln>
                <a:solidFill>
                  <a:srgbClr val="222222"/>
                </a:solidFill>
                <a:effectLst/>
                <a:latin typeface="+mj-lt"/>
              </a:rPr>
              <a:t>pick one of these integers;</a:t>
            </a:r>
          </a:p>
          <a:p>
            <a:pPr lvl="5" defTabSz="914400">
              <a:buFontTx/>
              <a:buChar char="•"/>
            </a:pPr>
            <a:r>
              <a:rPr kumimoji="0" lang="en-US" altLang="en-US" sz="2000" b="0" i="0" u="none" strike="noStrike" cap="none" normalizeH="0" baseline="0" dirty="0">
                <a:ln>
                  <a:noFill/>
                </a:ln>
                <a:solidFill>
                  <a:srgbClr val="222222"/>
                </a:solidFill>
                <a:effectLst/>
                <a:latin typeface="+mj-lt"/>
              </a:rPr>
              <a:t>increase it by </a:t>
            </a:r>
            <a:r>
              <a:rPr kumimoji="0" lang="en-US" altLang="en-US" sz="2000" b="0" i="0" u="none" strike="noStrike" cap="none" normalizeH="0" baseline="0" dirty="0">
                <a:ln>
                  <a:noFill/>
                </a:ln>
                <a:solidFill>
                  <a:srgbClr val="000000"/>
                </a:solidFill>
                <a:effectLst/>
                <a:latin typeface="+mj-lt"/>
              </a:rPr>
              <a:t>1</a:t>
            </a:r>
            <a:r>
              <a:rPr kumimoji="0" lang="en-US" altLang="en-US" sz="2000" b="0" i="0" u="none" strike="noStrike" cap="none" normalizeH="0" baseline="0" dirty="0">
                <a:ln>
                  <a:noFill/>
                </a:ln>
                <a:solidFill>
                  <a:srgbClr val="222222"/>
                </a:solidFill>
                <a:effectLst/>
                <a:latin typeface="+mj-lt"/>
              </a:rPr>
              <a:t>.</a:t>
            </a:r>
          </a:p>
          <a:p>
            <a:pPr lvl="5" defTabSz="914400"/>
            <a:endParaRPr kumimoji="0" lang="en-US" altLang="en-US" sz="2000" b="0" i="0" u="none" strike="noStrike" cap="none" normalizeH="0" baseline="0" dirty="0">
              <a:ln>
                <a:noFill/>
              </a:ln>
              <a:solidFill>
                <a:srgbClr val="222222"/>
              </a:solidFill>
              <a:effectLst/>
              <a:latin typeface="+mj-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22222"/>
                </a:solidFill>
                <a:effectLst/>
                <a:latin typeface="+mj-lt"/>
              </a:rPr>
              <a:t>For example, if </a:t>
            </a:r>
            <a:r>
              <a:rPr kumimoji="0" lang="en-US" altLang="en-US" sz="2000" b="0" i="0" u="none" strike="noStrike" cap="none" normalizeH="0" baseline="0" dirty="0">
                <a:ln>
                  <a:noFill/>
                </a:ln>
                <a:solidFill>
                  <a:srgbClr val="000000"/>
                </a:solidFill>
                <a:effectLst/>
                <a:latin typeface="+mj-lt"/>
              </a:rPr>
              <a:t>a=2</a:t>
            </a:r>
            <a:r>
              <a:rPr kumimoji="0" lang="en-US" altLang="en-US" sz="2000" b="0" i="0" u="none" strike="noStrike" cap="none" normalizeH="0" baseline="0" dirty="0">
                <a:ln>
                  <a:noFill/>
                </a:ln>
                <a:solidFill>
                  <a:srgbClr val="222222"/>
                </a:solidFill>
                <a:effectLst/>
                <a:latin typeface="+mj-lt"/>
              </a:rPr>
              <a:t>, </a:t>
            </a:r>
            <a:r>
              <a:rPr kumimoji="0" lang="en-US" altLang="en-US" sz="2000" b="0" i="0" u="none" strike="noStrike" cap="none" normalizeH="0" baseline="0" dirty="0">
                <a:ln>
                  <a:noFill/>
                </a:ln>
                <a:solidFill>
                  <a:srgbClr val="000000"/>
                </a:solidFill>
                <a:effectLst/>
                <a:latin typeface="+mj-lt"/>
              </a:rPr>
              <a:t>b=3</a:t>
            </a:r>
            <a:r>
              <a:rPr kumimoji="0" lang="en-US" altLang="en-US" sz="2000" b="0" i="0" u="none" strike="noStrike" cap="none" normalizeH="0" baseline="0" dirty="0">
                <a:ln>
                  <a:noFill/>
                </a:ln>
                <a:solidFill>
                  <a:srgbClr val="222222"/>
                </a:solidFill>
                <a:effectLst/>
                <a:latin typeface="+mj-lt"/>
              </a:rPr>
              <a:t> and </a:t>
            </a:r>
            <a:r>
              <a:rPr kumimoji="0" lang="en-US" altLang="en-US" sz="2000" b="0" i="0" u="none" strike="noStrike" cap="none" normalizeH="0" baseline="0" dirty="0">
                <a:ln>
                  <a:noFill/>
                </a:ln>
                <a:solidFill>
                  <a:srgbClr val="000000"/>
                </a:solidFill>
                <a:effectLst/>
                <a:latin typeface="+mj-lt"/>
              </a:rPr>
              <a:t>c=4</a:t>
            </a:r>
            <a:r>
              <a:rPr kumimoji="0" lang="en-US" altLang="en-US" sz="2000" b="0" i="0" u="none" strike="noStrike" cap="none" normalizeH="0" baseline="0" dirty="0">
                <a:ln>
                  <a:noFill/>
                </a:ln>
                <a:solidFill>
                  <a:srgbClr val="222222"/>
                </a:solidFill>
                <a:effectLst/>
                <a:latin typeface="+mj-lt"/>
              </a:rPr>
              <a:t>, then one can increase </a:t>
            </a:r>
            <a:r>
              <a:rPr kumimoji="0" lang="en-US" altLang="en-US" sz="2000" b="0" i="0" u="none" strike="noStrike" cap="none" normalizeH="0" baseline="0" dirty="0">
                <a:ln>
                  <a:noFill/>
                </a:ln>
                <a:solidFill>
                  <a:srgbClr val="000000"/>
                </a:solidFill>
                <a:effectLst/>
                <a:latin typeface="+mj-lt"/>
              </a:rPr>
              <a:t>a</a:t>
            </a:r>
            <a:r>
              <a:rPr kumimoji="0" lang="en-US" altLang="en-US" sz="2000" b="0" i="0" u="none" strike="noStrike" cap="none" normalizeH="0" baseline="0" dirty="0">
                <a:ln>
                  <a:noFill/>
                </a:ln>
                <a:solidFill>
                  <a:srgbClr val="222222"/>
                </a:solidFill>
                <a:effectLst/>
                <a:latin typeface="+mj-lt"/>
              </a:rPr>
              <a:t> three times by one and increase </a:t>
            </a:r>
            <a:r>
              <a:rPr kumimoji="0" lang="en-US" altLang="en-US" sz="2000" b="0" i="0" u="none" strike="noStrike" cap="none" normalizeH="0" baseline="0" dirty="0">
                <a:ln>
                  <a:noFill/>
                </a:ln>
                <a:solidFill>
                  <a:srgbClr val="000000"/>
                </a:solidFill>
                <a:effectLst/>
                <a:latin typeface="+mj-lt"/>
              </a:rPr>
              <a:t>b</a:t>
            </a:r>
            <a:r>
              <a:rPr kumimoji="0" lang="en-US" altLang="en-US" sz="2000" b="0" i="0" u="none" strike="noStrike" cap="none" normalizeH="0" baseline="0" dirty="0">
                <a:ln>
                  <a:noFill/>
                </a:ln>
                <a:solidFill>
                  <a:srgbClr val="222222"/>
                </a:solidFill>
                <a:effectLst/>
                <a:latin typeface="+mj-lt"/>
              </a:rPr>
              <a:t> two times. After that </a:t>
            </a:r>
            <a:r>
              <a:rPr kumimoji="0" lang="en-US" altLang="en-US" sz="2000" b="0" i="0" u="none" strike="noStrike" cap="none" normalizeH="0" baseline="0" dirty="0">
                <a:ln>
                  <a:noFill/>
                </a:ln>
                <a:solidFill>
                  <a:srgbClr val="000000"/>
                </a:solidFill>
                <a:effectLst/>
                <a:latin typeface="+mj-lt"/>
              </a:rPr>
              <a:t>a=5</a:t>
            </a:r>
            <a:r>
              <a:rPr kumimoji="0" lang="en-US" altLang="en-US" sz="2000" b="0" i="0" u="none" strike="noStrike" cap="none" normalizeH="0" baseline="0" dirty="0">
                <a:ln>
                  <a:noFill/>
                </a:ln>
                <a:solidFill>
                  <a:srgbClr val="222222"/>
                </a:solidFill>
                <a:effectLst/>
                <a:latin typeface="+mj-lt"/>
              </a:rPr>
              <a:t>, </a:t>
            </a:r>
            <a:r>
              <a:rPr kumimoji="0" lang="en-US" altLang="en-US" sz="2000" b="0" i="0" u="none" strike="noStrike" cap="none" normalizeH="0" baseline="0" dirty="0">
                <a:ln>
                  <a:noFill/>
                </a:ln>
                <a:solidFill>
                  <a:srgbClr val="000000"/>
                </a:solidFill>
                <a:effectLst/>
                <a:latin typeface="+mj-lt"/>
              </a:rPr>
              <a:t>b=5</a:t>
            </a:r>
            <a:r>
              <a:rPr kumimoji="0" lang="en-US" altLang="en-US" sz="2000" b="0" i="0" u="none" strike="noStrike" cap="none" normalizeH="0" baseline="0" dirty="0">
                <a:ln>
                  <a:noFill/>
                </a:ln>
                <a:solidFill>
                  <a:srgbClr val="222222"/>
                </a:solidFill>
                <a:effectLst/>
                <a:latin typeface="+mj-lt"/>
              </a:rPr>
              <a:t>, </a:t>
            </a:r>
            <a:r>
              <a:rPr kumimoji="0" lang="en-US" altLang="en-US" sz="2000" b="0" i="0" u="none" strike="noStrike" cap="none" normalizeH="0" baseline="0" dirty="0">
                <a:ln>
                  <a:noFill/>
                </a:ln>
                <a:solidFill>
                  <a:srgbClr val="000000"/>
                </a:solidFill>
                <a:effectLst/>
                <a:latin typeface="+mj-lt"/>
              </a:rPr>
              <a:t>c=4</a:t>
            </a:r>
            <a:r>
              <a:rPr kumimoji="0" lang="en-US" altLang="en-US" sz="2000" b="0" i="0" u="none" strike="noStrike" cap="none" normalizeH="0" baseline="0" dirty="0">
                <a:ln>
                  <a:noFill/>
                </a:ln>
                <a:solidFill>
                  <a:srgbClr val="222222"/>
                </a:solidFill>
                <a:effectLst/>
                <a:latin typeface="+mj-lt"/>
              </a:rPr>
              <a:t>. Then the total number of bananas will be </a:t>
            </a:r>
            <a:r>
              <a:rPr kumimoji="0" lang="en-US" altLang="en-US" sz="2000" b="0" i="0" u="none" strike="noStrike" cap="none" normalizeH="0" baseline="0" dirty="0">
                <a:ln>
                  <a:noFill/>
                </a:ln>
                <a:solidFill>
                  <a:srgbClr val="000000"/>
                </a:solidFill>
                <a:effectLst/>
                <a:latin typeface="+mj-lt"/>
              </a:rPr>
              <a:t>5×5×4=100</a:t>
            </a:r>
            <a:r>
              <a:rPr kumimoji="0" lang="en-US" altLang="en-US" sz="2000" b="0" i="0" u="none" strike="noStrike" cap="none" normalizeH="0" baseline="0" dirty="0">
                <a:ln>
                  <a:noFill/>
                </a:ln>
                <a:solidFill>
                  <a:srgbClr val="222222"/>
                </a:solidFill>
                <a:effectLst/>
                <a:latin typeface="+mj-lt"/>
              </a:rPr>
              <a: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22222"/>
              </a:solidFill>
              <a:effectLst/>
              <a:latin typeface="+mj-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22222"/>
                </a:solidFill>
                <a:effectLst/>
                <a:latin typeface="+mj-lt"/>
              </a:rPr>
              <a:t>What is the maximum value of </a:t>
            </a:r>
            <a:r>
              <a:rPr kumimoji="0" lang="en-US" altLang="en-US" sz="2000" b="0" i="0" u="none" strike="noStrike" cap="none" normalizeH="0" baseline="0" dirty="0" err="1">
                <a:ln>
                  <a:noFill/>
                </a:ln>
                <a:solidFill>
                  <a:srgbClr val="000000"/>
                </a:solidFill>
                <a:effectLst/>
                <a:latin typeface="+mj-lt"/>
              </a:rPr>
              <a:t>a×b×c</a:t>
            </a:r>
            <a:r>
              <a:rPr kumimoji="0" lang="en-US" altLang="en-US" sz="2000" b="0" i="0" u="none" strike="noStrike" cap="none" normalizeH="0" baseline="0" dirty="0">
                <a:ln>
                  <a:noFill/>
                </a:ln>
                <a:solidFill>
                  <a:srgbClr val="222222"/>
                </a:solidFill>
                <a:effectLst/>
                <a:latin typeface="+mj-lt"/>
              </a:rPr>
              <a:t> </a:t>
            </a:r>
            <a:r>
              <a:rPr kumimoji="0" lang="en-US" altLang="en-US" sz="2000" b="0" i="0" u="none" strike="noStrike" cap="none" normalizeH="0" baseline="0" dirty="0" err="1">
                <a:ln>
                  <a:noFill/>
                </a:ln>
                <a:solidFill>
                  <a:srgbClr val="222222"/>
                </a:solidFill>
                <a:effectLst/>
                <a:latin typeface="+mj-lt"/>
              </a:rPr>
              <a:t>Noobish_Monk</a:t>
            </a:r>
            <a:r>
              <a:rPr kumimoji="0" lang="en-US" altLang="en-US" sz="2000" b="0" i="0" u="none" strike="noStrike" cap="none" normalizeH="0" baseline="0" dirty="0">
                <a:ln>
                  <a:noFill/>
                </a:ln>
                <a:solidFill>
                  <a:srgbClr val="222222"/>
                </a:solidFill>
                <a:effectLst/>
                <a:latin typeface="+mj-lt"/>
              </a:rPr>
              <a:t> can achieve with these operations?</a:t>
            </a:r>
            <a:endParaRPr kumimoji="0" lang="en-US" altLang="en-US" sz="2000" b="0" i="0" u="none" strike="noStrike" cap="none" normalizeH="0" baseline="0" dirty="0">
              <a:ln>
                <a:noFill/>
              </a:ln>
              <a:solidFill>
                <a:schemeClr val="tx1"/>
              </a:solidFill>
              <a:effectLst/>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31977A9-3700-D4D8-93A8-A5981959D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00DFF-12C8-E027-5F2A-5B3C7D660291}"/>
              </a:ext>
            </a:extLst>
          </p:cNvPr>
          <p:cNvSpPr>
            <a:spLocks noGrp="1"/>
          </p:cNvSpPr>
          <p:nvPr>
            <p:ph type="title"/>
          </p:nvPr>
        </p:nvSpPr>
        <p:spPr>
          <a:xfrm>
            <a:off x="457200" y="175731"/>
            <a:ext cx="8229600" cy="827938"/>
          </a:xfrm>
        </p:spPr>
        <p:txBody>
          <a:bodyPr>
            <a:normAutofit/>
          </a:bodyPr>
          <a:lstStyle/>
          <a:p>
            <a:r>
              <a:rPr lang="en-US" sz="2400" dirty="0">
                <a:latin typeface="+mn-lt"/>
              </a:rPr>
              <a:t>Problem-01 (Cont.)</a:t>
            </a:r>
            <a:endParaRPr sz="2400" dirty="0">
              <a:latin typeface="+mn-lt"/>
            </a:endParaRPr>
          </a:p>
        </p:txBody>
      </p:sp>
      <p:sp>
        <p:nvSpPr>
          <p:cNvPr id="3" name="Rectangle 1">
            <a:extLst>
              <a:ext uri="{FF2B5EF4-FFF2-40B4-BE49-F238E27FC236}">
                <a16:creationId xmlns:a16="http://schemas.microsoft.com/office/drawing/2014/main" id="{63889DEC-0019-7915-831E-77F0AA9AA6E7}"/>
              </a:ext>
            </a:extLst>
          </p:cNvPr>
          <p:cNvSpPr>
            <a:spLocks noChangeArrowheads="1"/>
          </p:cNvSpPr>
          <p:nvPr/>
        </p:nvSpPr>
        <p:spPr bwMode="auto">
          <a:xfrm>
            <a:off x="239497" y="1141724"/>
            <a:ext cx="8665006" cy="5232202"/>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Input</a:t>
            </a:r>
            <a:endParaRPr kumimoji="0" lang="en-US" altLang="en-US" sz="2000" b="0" i="0" u="none" strike="noStrike" cap="none" normalizeH="0" baseline="0" dirty="0">
              <a:ln>
                <a:noFill/>
              </a:ln>
              <a:solidFill>
                <a:srgbClr val="22222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22222"/>
                </a:solidFill>
                <a:effectLst/>
                <a:latin typeface="+mn-lt"/>
              </a:rPr>
              <a:t>Each test contains multiple test cases. The first line of input contains a single integer </a:t>
            </a:r>
            <a:r>
              <a:rPr kumimoji="0" lang="en-US" altLang="en-US" sz="2000" b="0" i="0" u="none" strike="noStrike" cap="none" normalizeH="0" baseline="0" dirty="0">
                <a:ln>
                  <a:noFill/>
                </a:ln>
                <a:solidFill>
                  <a:srgbClr val="000000"/>
                </a:solidFill>
                <a:effectLst/>
                <a:latin typeface="+mn-lt"/>
              </a:rPr>
              <a:t>t</a:t>
            </a:r>
            <a:r>
              <a:rPr kumimoji="0" lang="en-US" altLang="en-US" sz="2000" b="0" i="0" u="none" strike="noStrike" cap="none" normalizeH="0" baseline="0" dirty="0">
                <a:ln>
                  <a:noFill/>
                </a:ln>
                <a:solidFill>
                  <a:srgbClr val="222222"/>
                </a:solidFill>
                <a:effectLst/>
                <a:latin typeface="+mn-lt"/>
              </a:rPr>
              <a:t> (</a:t>
            </a:r>
            <a:r>
              <a:rPr kumimoji="0" lang="en-US" altLang="en-US" sz="2000" b="0" i="0" u="none" strike="noStrike" cap="none" normalizeH="0" baseline="0" dirty="0">
                <a:ln>
                  <a:noFill/>
                </a:ln>
                <a:solidFill>
                  <a:srgbClr val="000000"/>
                </a:solidFill>
                <a:effectLst/>
                <a:latin typeface="+mn-lt"/>
              </a:rPr>
              <a:t>1≤t≤1000</a:t>
            </a:r>
            <a:r>
              <a:rPr kumimoji="0" lang="en-US" altLang="en-US" sz="2000" b="0" i="0" u="none" strike="noStrike" cap="none" normalizeH="0" baseline="0" dirty="0">
                <a:ln>
                  <a:noFill/>
                </a:ln>
                <a:solidFill>
                  <a:srgbClr val="222222"/>
                </a:solidFill>
                <a:effectLst/>
                <a:latin typeface="+mn-lt"/>
              </a:rPr>
              <a:t>) — the number of test cases. The description of the test cases follows.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22222"/>
                </a:solidFill>
                <a:effectLst/>
                <a:latin typeface="+mn-lt"/>
              </a:rPr>
              <a:t>The first and only line of each test case contains three integers </a:t>
            </a:r>
            <a:r>
              <a:rPr kumimoji="0" lang="en-US" altLang="en-US" sz="2000" b="0" i="0" u="none" strike="noStrike" cap="none" normalizeH="0" baseline="0" dirty="0">
                <a:ln>
                  <a:noFill/>
                </a:ln>
                <a:solidFill>
                  <a:srgbClr val="000000"/>
                </a:solidFill>
                <a:effectLst/>
                <a:latin typeface="+mn-lt"/>
              </a:rPr>
              <a:t>a</a:t>
            </a:r>
            <a:r>
              <a:rPr kumimoji="0" lang="en-US" altLang="en-US" sz="2000" b="0" i="0" u="none" strike="noStrike" cap="none" normalizeH="0" baseline="0" dirty="0">
                <a:ln>
                  <a:noFill/>
                </a:ln>
                <a:solidFill>
                  <a:srgbClr val="222222"/>
                </a:solidFill>
                <a:effectLst/>
                <a:latin typeface="+mn-lt"/>
              </a:rPr>
              <a:t>, </a:t>
            </a:r>
            <a:r>
              <a:rPr kumimoji="0" lang="en-US" altLang="en-US" sz="2000" b="0" i="0" u="none" strike="noStrike" cap="none" normalizeH="0" baseline="0" dirty="0">
                <a:ln>
                  <a:noFill/>
                </a:ln>
                <a:solidFill>
                  <a:srgbClr val="000000"/>
                </a:solidFill>
                <a:effectLst/>
                <a:latin typeface="+mn-lt"/>
              </a:rPr>
              <a:t>b</a:t>
            </a:r>
            <a:r>
              <a:rPr kumimoji="0" lang="en-US" altLang="en-US" sz="2000" b="0" i="0" u="none" strike="noStrike" cap="none" normalizeH="0" baseline="0" dirty="0">
                <a:ln>
                  <a:noFill/>
                </a:ln>
                <a:solidFill>
                  <a:srgbClr val="222222"/>
                </a:solidFill>
                <a:effectLst/>
                <a:latin typeface="+mn-lt"/>
              </a:rPr>
              <a:t> and </a:t>
            </a:r>
            <a:r>
              <a:rPr kumimoji="0" lang="en-US" altLang="en-US" sz="2000" b="0" i="0" u="none" strike="noStrike" cap="none" normalizeH="0" baseline="0" dirty="0">
                <a:ln>
                  <a:noFill/>
                </a:ln>
                <a:solidFill>
                  <a:srgbClr val="000000"/>
                </a:solidFill>
                <a:effectLst/>
                <a:latin typeface="+mn-lt"/>
              </a:rPr>
              <a:t>c</a:t>
            </a:r>
            <a:r>
              <a:rPr kumimoji="0" lang="en-US" altLang="en-US" sz="2000" b="0" i="0" u="none" strike="noStrike" cap="none" normalizeH="0" baseline="0" dirty="0">
                <a:ln>
                  <a:noFill/>
                </a:ln>
                <a:solidFill>
                  <a:srgbClr val="222222"/>
                </a:solidFill>
                <a:effectLst/>
                <a:latin typeface="+mn-lt"/>
              </a:rPr>
              <a:t> (</a:t>
            </a:r>
            <a:r>
              <a:rPr kumimoji="0" lang="en-US" altLang="en-US" sz="2000" b="0" i="0" u="none" strike="noStrike" cap="none" normalizeH="0" baseline="0" dirty="0">
                <a:ln>
                  <a:noFill/>
                </a:ln>
                <a:solidFill>
                  <a:srgbClr val="000000"/>
                </a:solidFill>
                <a:effectLst/>
                <a:latin typeface="+mn-lt"/>
              </a:rPr>
              <a:t>1≤a,b,c≤10</a:t>
            </a:r>
            <a:r>
              <a:rPr kumimoji="0" lang="en-US" altLang="en-US" sz="2000" b="0" i="0" u="none" strike="noStrike" cap="none" normalizeH="0" baseline="0" dirty="0">
                <a:ln>
                  <a:noFill/>
                </a:ln>
                <a:solidFill>
                  <a:srgbClr val="222222"/>
                </a:solidFill>
                <a:effectLst/>
                <a:latin typeface="+mn-lt"/>
              </a:rPr>
              <a:t>) — </a:t>
            </a:r>
            <a:r>
              <a:rPr kumimoji="0" lang="en-US" altLang="en-US" sz="2000" b="0" i="0" u="none" strike="noStrike" cap="none" normalizeH="0" baseline="0" dirty="0" err="1">
                <a:ln>
                  <a:noFill/>
                </a:ln>
                <a:solidFill>
                  <a:srgbClr val="222222"/>
                </a:solidFill>
                <a:effectLst/>
                <a:latin typeface="+mn-lt"/>
              </a:rPr>
              <a:t>Kmes's</a:t>
            </a:r>
            <a:r>
              <a:rPr kumimoji="0" lang="en-US" altLang="en-US" sz="2000" b="0" i="0" u="none" strike="noStrike" cap="none" normalizeH="0" baseline="0" dirty="0">
                <a:ln>
                  <a:noFill/>
                </a:ln>
                <a:solidFill>
                  <a:srgbClr val="222222"/>
                </a:solidFill>
                <a:effectLst/>
                <a:latin typeface="+mn-lt"/>
              </a:rPr>
              <a:t> integers.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Output</a:t>
            </a:r>
            <a:endParaRPr kumimoji="0" lang="en-US" altLang="en-US" sz="2000" b="0" i="0" u="none" strike="noStrike" cap="none" normalizeH="0" baseline="0" dirty="0">
              <a:ln>
                <a:noFill/>
              </a:ln>
              <a:solidFill>
                <a:srgbClr val="22222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22222"/>
                </a:solidFill>
                <a:effectLst/>
                <a:latin typeface="+mn-lt"/>
              </a:rPr>
              <a:t>For each test case, output a single integer — the maximum amount of bananas </a:t>
            </a:r>
            <a:r>
              <a:rPr kumimoji="0" lang="en-US" altLang="en-US" sz="2000" b="0" i="0" u="none" strike="noStrike" cap="none" normalizeH="0" baseline="0" dirty="0" err="1">
                <a:ln>
                  <a:noFill/>
                </a:ln>
                <a:solidFill>
                  <a:srgbClr val="222222"/>
                </a:solidFill>
                <a:effectLst/>
                <a:latin typeface="+mn-lt"/>
              </a:rPr>
              <a:t>Noobish_Monk</a:t>
            </a:r>
            <a:r>
              <a:rPr kumimoji="0" lang="en-US" altLang="en-US" sz="2000" b="0" i="0" u="none" strike="noStrike" cap="none" normalizeH="0" baseline="0" dirty="0">
                <a:ln>
                  <a:noFill/>
                </a:ln>
                <a:solidFill>
                  <a:srgbClr val="222222"/>
                </a:solidFill>
                <a:effectLst/>
                <a:latin typeface="+mn-lt"/>
              </a:rPr>
              <a:t> can get.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Example</a:t>
            </a:r>
            <a:endParaRPr kumimoji="0" lang="en-US" altLang="en-US" sz="2000" b="0" i="0" u="none" strike="noStrike" cap="none" normalizeH="0" baseline="0" dirty="0">
              <a:ln>
                <a:noFill/>
              </a:ln>
              <a:solidFill>
                <a:srgbClr val="22222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Input</a:t>
            </a:r>
            <a:endParaRPr kumimoji="0" lang="en-US" altLang="en-US" sz="2000" b="0" i="0" u="none" strike="noStrike" cap="none" normalizeH="0" baseline="0" dirty="0">
              <a:ln>
                <a:noFill/>
              </a:ln>
              <a:solidFill>
                <a:srgbClr val="88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latin typeface="+mn-lt"/>
              </a:rPr>
              <a:t>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latin typeface="+mn-lt"/>
              </a:rPr>
              <a:t>2 3 4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latin typeface="+mn-lt"/>
              </a:rPr>
              <a:t>10 1 10</a:t>
            </a:r>
            <a:endParaRPr kumimoji="0" lang="en-US" altLang="en-US" sz="2000" b="0" i="0" u="none" strike="noStrike" cap="none" normalizeH="0" baseline="0" dirty="0">
              <a:ln>
                <a:noFill/>
              </a:ln>
              <a:solidFill>
                <a:srgbClr val="22222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n-lt"/>
            </a:endParaRPr>
          </a:p>
        </p:txBody>
      </p:sp>
      <p:sp>
        <p:nvSpPr>
          <p:cNvPr id="5" name="Rectangle 2">
            <a:extLst>
              <a:ext uri="{FF2B5EF4-FFF2-40B4-BE49-F238E27FC236}">
                <a16:creationId xmlns:a16="http://schemas.microsoft.com/office/drawing/2014/main" id="{0692DFED-25AA-0437-F406-FA978907866F}"/>
              </a:ext>
            </a:extLst>
          </p:cNvPr>
          <p:cNvSpPr>
            <a:spLocks noChangeArrowheads="1"/>
          </p:cNvSpPr>
          <p:nvPr/>
        </p:nvSpPr>
        <p:spPr bwMode="auto">
          <a:xfrm>
            <a:off x="1908650" y="5148854"/>
            <a:ext cx="1044158" cy="923330"/>
          </a:xfrm>
          <a:prstGeom prst="rect">
            <a:avLst/>
          </a:prstGeom>
          <a:no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rPr>
              <a:t>Output</a:t>
            </a:r>
            <a:endParaRPr kumimoji="0" lang="en-US" altLang="en-US" sz="2000" b="0" i="0" u="none" strike="noStrike" cap="none" normalizeH="0" baseline="0" dirty="0">
              <a:ln>
                <a:noFill/>
              </a:ln>
              <a:solidFill>
                <a:srgbClr val="88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rPr>
              <a:t>100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rPr>
              <a:t>600</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1645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8B4F9-DC74-FC34-A05A-5F0DE2D600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7FCCD0B-5AB4-E82B-6746-E744E9924AE9}"/>
              </a:ext>
            </a:extLst>
          </p:cNvPr>
          <p:cNvSpPr txBox="1"/>
          <p:nvPr/>
        </p:nvSpPr>
        <p:spPr>
          <a:xfrm>
            <a:off x="3261674" y="2580846"/>
            <a:ext cx="2886174" cy="707886"/>
          </a:xfrm>
          <a:prstGeom prst="rect">
            <a:avLst/>
          </a:prstGeom>
          <a:noFill/>
        </p:spPr>
        <p:txBody>
          <a:bodyPr wrap="square">
            <a:spAutoFit/>
          </a:bodyPr>
          <a:lstStyle/>
          <a:p>
            <a:r>
              <a:rPr lang="en-US" sz="4000" dirty="0"/>
              <a:t>The Solution</a:t>
            </a:r>
            <a:endParaRPr sz="4000" dirty="0"/>
          </a:p>
        </p:txBody>
      </p:sp>
    </p:spTree>
    <p:extLst>
      <p:ext uri="{BB962C8B-B14F-4D97-AF65-F5344CB8AC3E}">
        <p14:creationId xmlns:p14="http://schemas.microsoft.com/office/powerpoint/2010/main" val="3727721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07943-34AE-2A44-1D59-CDCC053EA6A1}"/>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C545FE62-4510-4ABF-6076-B7E1A6656266}"/>
              </a:ext>
            </a:extLst>
          </p:cNvPr>
          <p:cNvSpPr>
            <a:spLocks noChangeArrowheads="1"/>
          </p:cNvSpPr>
          <p:nvPr/>
        </p:nvSpPr>
        <p:spPr bwMode="auto">
          <a:xfrm>
            <a:off x="659877" y="310980"/>
            <a:ext cx="8069344" cy="652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Input:</a:t>
            </a: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An integer t → number of test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For each test case: three integers a, b, 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Output:</a:t>
            </a: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For each test case, the product a * b * c after incrementing the smallest number 5 times</a:t>
            </a:r>
          </a:p>
          <a:p>
            <a:pPr lvl="0" defTabSz="914400" eaLnBrk="0" fontAlgn="base" hangingPunct="0">
              <a:spcBef>
                <a:spcPct val="0"/>
              </a:spcBef>
              <a:spcAft>
                <a:spcPct val="0"/>
              </a:spcAft>
            </a:pPr>
            <a:endParaRPr lang="en-US" altLang="en-US" sz="2000" b="1" dirty="0"/>
          </a:p>
          <a:p>
            <a:pPr lvl="0" defTabSz="914400" eaLnBrk="0" fontAlgn="base" hangingPunct="0">
              <a:spcBef>
                <a:spcPct val="0"/>
              </a:spcBef>
              <a:spcAft>
                <a:spcPct val="0"/>
              </a:spcAft>
            </a:pPr>
            <a:r>
              <a:rPr lang="en-US" altLang="en-US" sz="2000" b="1" dirty="0"/>
              <a:t>Steps</a:t>
            </a:r>
          </a:p>
          <a:p>
            <a:pPr lvl="0" defTabSz="914400" eaLnBrk="0" fontAlgn="base" hangingPunct="0">
              <a:spcBef>
                <a:spcPct val="0"/>
              </a:spcBef>
              <a:spcAft>
                <a:spcPct val="0"/>
              </a:spcAft>
              <a:buFontTx/>
              <a:buAutoNum type="arabicPeriod"/>
            </a:pPr>
            <a:r>
              <a:rPr lang="en-US" altLang="en-US" sz="2000" b="1" dirty="0"/>
              <a:t> Read</a:t>
            </a:r>
            <a:r>
              <a:rPr lang="en-US" altLang="en-US" sz="2000" dirty="0"/>
              <a:t> the number of test cases t.</a:t>
            </a:r>
          </a:p>
          <a:p>
            <a:pPr lvl="0" defTabSz="914400" eaLnBrk="0" fontAlgn="base" hangingPunct="0">
              <a:spcBef>
                <a:spcPct val="0"/>
              </a:spcBef>
              <a:spcAft>
                <a:spcPct val="0"/>
              </a:spcAft>
              <a:buFontTx/>
              <a:buAutoNum type="arabicPeriod" startAt="2"/>
            </a:pPr>
            <a:r>
              <a:rPr lang="en-US" altLang="en-US" sz="2000" b="1" dirty="0"/>
              <a:t> Repeat</a:t>
            </a:r>
            <a:r>
              <a:rPr lang="en-US" altLang="en-US" sz="2000" dirty="0"/>
              <a:t> the following for each test case:</a:t>
            </a:r>
          </a:p>
          <a:p>
            <a:pPr lvl="1" defTabSz="914400" eaLnBrk="0" fontAlgn="base" hangingPunct="0">
              <a:spcBef>
                <a:spcPct val="0"/>
              </a:spcBef>
              <a:spcAft>
                <a:spcPct val="0"/>
              </a:spcAft>
              <a:buFontTx/>
              <a:buAutoNum type="arabicPeriod"/>
            </a:pPr>
            <a:r>
              <a:rPr lang="en-US" altLang="en-US" sz="2000" b="1" dirty="0"/>
              <a:t> Read</a:t>
            </a:r>
            <a:r>
              <a:rPr lang="en-US" altLang="en-US" sz="2000" dirty="0"/>
              <a:t> three integers a, b, c.</a:t>
            </a:r>
          </a:p>
          <a:p>
            <a:pPr lvl="1" defTabSz="914400" eaLnBrk="0" fontAlgn="base" hangingPunct="0">
              <a:spcBef>
                <a:spcPct val="0"/>
              </a:spcBef>
              <a:spcAft>
                <a:spcPct val="0"/>
              </a:spcAft>
              <a:buFontTx/>
              <a:buAutoNum type="arabicPeriod" startAt="2"/>
            </a:pPr>
            <a:r>
              <a:rPr lang="en-US" altLang="en-US" sz="2000" b="1" dirty="0"/>
              <a:t> Repeat 5 times</a:t>
            </a:r>
            <a:r>
              <a:rPr lang="en-US" altLang="en-US" sz="2000" dirty="0"/>
              <a:t>:</a:t>
            </a:r>
          </a:p>
          <a:p>
            <a:pPr lvl="2" defTabSz="914400" eaLnBrk="0" fontAlgn="base" hangingPunct="0">
              <a:spcBef>
                <a:spcPct val="0"/>
              </a:spcBef>
              <a:spcAft>
                <a:spcPct val="0"/>
              </a:spcAft>
              <a:buFontTx/>
              <a:buChar char="•"/>
            </a:pPr>
            <a:r>
              <a:rPr lang="en-US" altLang="en-US" sz="2000" dirty="0"/>
              <a:t> If a is less than or equal to both b and c, increment a by 1.</a:t>
            </a:r>
          </a:p>
          <a:p>
            <a:pPr lvl="2" defTabSz="914400" eaLnBrk="0" fontAlgn="base" hangingPunct="0">
              <a:spcBef>
                <a:spcPct val="0"/>
              </a:spcBef>
              <a:spcAft>
                <a:spcPct val="0"/>
              </a:spcAft>
              <a:buFontTx/>
              <a:buChar char="•"/>
            </a:pPr>
            <a:r>
              <a:rPr lang="en-US" altLang="en-US" sz="2000" dirty="0"/>
              <a:t> Else if b is less than or equal to both a and c, increment b by 1.</a:t>
            </a:r>
          </a:p>
          <a:p>
            <a:pPr lvl="2" defTabSz="914400" eaLnBrk="0" fontAlgn="base" hangingPunct="0">
              <a:spcBef>
                <a:spcPct val="0"/>
              </a:spcBef>
              <a:spcAft>
                <a:spcPct val="0"/>
              </a:spcAft>
              <a:buFontTx/>
              <a:buChar char="•"/>
            </a:pPr>
            <a:r>
              <a:rPr lang="en-US" altLang="en-US" sz="2000" dirty="0"/>
              <a:t> Else increment c by 1.</a:t>
            </a:r>
          </a:p>
          <a:p>
            <a:pPr lvl="1" defTabSz="914400" eaLnBrk="0" fontAlgn="base" hangingPunct="0">
              <a:spcBef>
                <a:spcPct val="0"/>
              </a:spcBef>
              <a:spcAft>
                <a:spcPct val="0"/>
              </a:spcAft>
              <a:buFontTx/>
              <a:buAutoNum type="arabicPeriod" startAt="3"/>
            </a:pPr>
            <a:r>
              <a:rPr lang="en-US" altLang="en-US" sz="2000" b="1" dirty="0"/>
              <a:t> Compute</a:t>
            </a:r>
            <a:r>
              <a:rPr lang="en-US" altLang="en-US" sz="2000" dirty="0"/>
              <a:t> the product a * b * c.</a:t>
            </a:r>
          </a:p>
          <a:p>
            <a:pPr lvl="1" defTabSz="914400" eaLnBrk="0" fontAlgn="base" hangingPunct="0">
              <a:spcBef>
                <a:spcPct val="0"/>
              </a:spcBef>
              <a:spcAft>
                <a:spcPct val="0"/>
              </a:spcAft>
              <a:buFontTx/>
              <a:buAutoNum type="arabicPeriod" startAt="4"/>
            </a:pPr>
            <a:r>
              <a:rPr lang="en-US" altLang="en-US" sz="2000" b="1" dirty="0"/>
              <a:t> Print</a:t>
            </a:r>
            <a:r>
              <a:rPr lang="en-US" altLang="en-US" sz="2000" dirty="0"/>
              <a:t> the result.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235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15860-1882-99C1-953C-E5A63B9CD7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B4420E-DC88-F079-9792-65D9C9834A7B}"/>
              </a:ext>
            </a:extLst>
          </p:cNvPr>
          <p:cNvSpPr txBox="1"/>
          <p:nvPr/>
        </p:nvSpPr>
        <p:spPr>
          <a:xfrm>
            <a:off x="1357461" y="0"/>
            <a:ext cx="4020530" cy="6688318"/>
          </a:xfrm>
          <a:prstGeom prst="rect">
            <a:avLst/>
          </a:prstGeom>
          <a:noFill/>
        </p:spPr>
        <p:txBody>
          <a:bodyPr wrap="square">
            <a:spAutoFit/>
          </a:bodyPr>
          <a:lstStyle/>
          <a:p>
            <a:endParaRPr dirty="0"/>
          </a:p>
          <a:p>
            <a:r>
              <a:rPr lang="en-US" dirty="0"/>
              <a:t>#include&lt;iostream&gt;</a:t>
            </a:r>
          </a:p>
          <a:p>
            <a:r>
              <a:rPr lang="en-US" dirty="0"/>
              <a:t>using namespace std;</a:t>
            </a:r>
          </a:p>
          <a:p>
            <a:r>
              <a:rPr lang="en-US" dirty="0"/>
              <a:t>int main()</a:t>
            </a:r>
          </a:p>
          <a:p>
            <a:r>
              <a:rPr lang="en-US" dirty="0"/>
              <a:t>{</a:t>
            </a:r>
          </a:p>
          <a:p>
            <a:r>
              <a:rPr lang="en-US" dirty="0"/>
              <a:t>    int t;</a:t>
            </a:r>
          </a:p>
          <a:p>
            <a:r>
              <a:rPr lang="en-US" dirty="0"/>
              <a:t>    </a:t>
            </a:r>
            <a:r>
              <a:rPr lang="en-US" dirty="0" err="1"/>
              <a:t>cin</a:t>
            </a:r>
            <a:r>
              <a:rPr lang="en-US" dirty="0"/>
              <a:t>&gt;&gt;t;</a:t>
            </a:r>
          </a:p>
          <a:p>
            <a:r>
              <a:rPr lang="en-US" dirty="0"/>
              <a:t>    while(t--)</a:t>
            </a:r>
          </a:p>
          <a:p>
            <a:r>
              <a:rPr lang="en-US" dirty="0"/>
              <a:t>    {</a:t>
            </a:r>
          </a:p>
          <a:p>
            <a:r>
              <a:rPr lang="en-US" dirty="0"/>
              <a:t>        int </a:t>
            </a:r>
            <a:r>
              <a:rPr lang="en-US" dirty="0" err="1"/>
              <a:t>a,b,c</a:t>
            </a:r>
            <a:r>
              <a:rPr lang="en-US" dirty="0"/>
              <a:t>;</a:t>
            </a:r>
          </a:p>
          <a:p>
            <a:r>
              <a:rPr lang="en-US" dirty="0"/>
              <a:t>        </a:t>
            </a:r>
            <a:r>
              <a:rPr lang="en-US" dirty="0" err="1"/>
              <a:t>cin</a:t>
            </a:r>
            <a:r>
              <a:rPr lang="en-US" dirty="0"/>
              <a:t>&gt;&gt;a&gt;&gt;b&gt;&gt;c;</a:t>
            </a:r>
          </a:p>
          <a:p>
            <a:r>
              <a:rPr lang="en-US" dirty="0"/>
              <a:t>        for(int </a:t>
            </a:r>
            <a:r>
              <a:rPr lang="en-US" dirty="0" err="1"/>
              <a:t>i</a:t>
            </a:r>
            <a:r>
              <a:rPr lang="en-US" dirty="0"/>
              <a:t>=0;i&lt;5;i++)</a:t>
            </a:r>
          </a:p>
          <a:p>
            <a:r>
              <a:rPr lang="en-US" dirty="0"/>
              <a:t>        {</a:t>
            </a:r>
          </a:p>
          <a:p>
            <a:r>
              <a:rPr lang="en-US" dirty="0"/>
              <a:t>            if(a&lt;=b &amp;&amp; a&lt;=c)</a:t>
            </a:r>
          </a:p>
          <a:p>
            <a:r>
              <a:rPr lang="en-US" dirty="0"/>
              <a:t>                a++;</a:t>
            </a:r>
          </a:p>
          <a:p>
            <a:r>
              <a:rPr lang="en-US" dirty="0"/>
              <a:t>            else if(b&lt;=c &amp;&amp; b&lt;=a)</a:t>
            </a:r>
          </a:p>
          <a:p>
            <a:r>
              <a:rPr lang="en-US" dirty="0"/>
              <a:t>                b++;</a:t>
            </a:r>
          </a:p>
          <a:p>
            <a:r>
              <a:rPr lang="en-US" dirty="0"/>
              <a:t>            else</a:t>
            </a:r>
          </a:p>
          <a:p>
            <a:r>
              <a:rPr lang="en-US" dirty="0"/>
              <a:t>                </a:t>
            </a:r>
            <a:r>
              <a:rPr lang="en-US" dirty="0" err="1"/>
              <a:t>c++</a:t>
            </a:r>
            <a:r>
              <a:rPr lang="en-US" dirty="0"/>
              <a:t>;</a:t>
            </a:r>
          </a:p>
          <a:p>
            <a:r>
              <a:rPr lang="en-US" dirty="0"/>
              <a:t>        }</a:t>
            </a:r>
          </a:p>
          <a:p>
            <a:r>
              <a:rPr lang="en-US" dirty="0"/>
              <a:t>        </a:t>
            </a:r>
            <a:r>
              <a:rPr lang="en-US" dirty="0" err="1"/>
              <a:t>cout</a:t>
            </a:r>
            <a:r>
              <a:rPr lang="en-US" dirty="0"/>
              <a:t>&lt;&lt;a*b*c;</a:t>
            </a:r>
          </a:p>
          <a:p>
            <a:r>
              <a:rPr lang="en-US" dirty="0"/>
              <a:t>    }</a:t>
            </a:r>
          </a:p>
          <a:p>
            <a:r>
              <a:rPr lang="en-US" dirty="0"/>
              <a:t>}</a:t>
            </a:r>
            <a:endParaRPr dirty="0"/>
          </a:p>
        </p:txBody>
      </p:sp>
      <p:sp>
        <p:nvSpPr>
          <p:cNvPr id="2" name="TextBox 1">
            <a:extLst>
              <a:ext uri="{FF2B5EF4-FFF2-40B4-BE49-F238E27FC236}">
                <a16:creationId xmlns:a16="http://schemas.microsoft.com/office/drawing/2014/main" id="{C4445D26-EF4E-9558-6D14-7357E931D427}"/>
              </a:ext>
            </a:extLst>
          </p:cNvPr>
          <p:cNvSpPr txBox="1"/>
          <p:nvPr/>
        </p:nvSpPr>
        <p:spPr>
          <a:xfrm>
            <a:off x="5542960" y="2626940"/>
            <a:ext cx="2243579" cy="830997"/>
          </a:xfrm>
          <a:prstGeom prst="rect">
            <a:avLst/>
          </a:prstGeom>
          <a:noFill/>
        </p:spPr>
        <p:txBody>
          <a:bodyPr wrap="square">
            <a:spAutoFit/>
          </a:bodyPr>
          <a:lstStyle/>
          <a:p>
            <a:pPr algn="ctr"/>
            <a:r>
              <a:rPr lang="en-US" sz="2400" dirty="0"/>
              <a:t>What will be its Complexity?</a:t>
            </a:r>
            <a:endParaRPr sz="2400" dirty="0"/>
          </a:p>
        </p:txBody>
      </p:sp>
    </p:spTree>
    <p:extLst>
      <p:ext uri="{BB962C8B-B14F-4D97-AF65-F5344CB8AC3E}">
        <p14:creationId xmlns:p14="http://schemas.microsoft.com/office/powerpoint/2010/main" val="150510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4BA15-AF76-7498-B08B-DFDFB8585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39A21-2AE1-3343-DF2C-CF5EE682EB08}"/>
              </a:ext>
            </a:extLst>
          </p:cNvPr>
          <p:cNvSpPr>
            <a:spLocks noGrp="1"/>
          </p:cNvSpPr>
          <p:nvPr>
            <p:ph type="title"/>
          </p:nvPr>
        </p:nvSpPr>
        <p:spPr>
          <a:xfrm>
            <a:off x="457200" y="260572"/>
            <a:ext cx="8229600" cy="597267"/>
          </a:xfrm>
        </p:spPr>
        <p:txBody>
          <a:bodyPr>
            <a:normAutofit/>
          </a:bodyPr>
          <a:lstStyle/>
          <a:p>
            <a:r>
              <a:rPr lang="en-US" sz="2400" dirty="0"/>
              <a:t>Problem-02: trailing zeroes in the factorial of n</a:t>
            </a:r>
            <a:endParaRPr sz="2400" dirty="0"/>
          </a:p>
        </p:txBody>
      </p:sp>
      <p:sp>
        <p:nvSpPr>
          <p:cNvPr id="4" name="Rectangle 1">
            <a:extLst>
              <a:ext uri="{FF2B5EF4-FFF2-40B4-BE49-F238E27FC236}">
                <a16:creationId xmlns:a16="http://schemas.microsoft.com/office/drawing/2014/main" id="{4A18ADF5-DD81-2EB6-EEA5-053BBECF132D}"/>
              </a:ext>
            </a:extLst>
          </p:cNvPr>
          <p:cNvSpPr>
            <a:spLocks noChangeArrowheads="1"/>
          </p:cNvSpPr>
          <p:nvPr/>
        </p:nvSpPr>
        <p:spPr bwMode="auto">
          <a:xfrm>
            <a:off x="398282" y="1696166"/>
            <a:ext cx="8347435" cy="34656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8700" tIns="7935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22222"/>
              </a:solidFill>
              <a:effectLst/>
              <a:latin typeface="+mj-lt"/>
            </a:endParaRPr>
          </a:p>
          <a:p>
            <a:pPr algn="just"/>
            <a:r>
              <a:rPr lang="en-US" sz="2000" dirty="0"/>
              <a:t>Given an integer n, determine the number of trailing zeroes in the factorial of n (n!).</a:t>
            </a:r>
          </a:p>
          <a:p>
            <a:pPr algn="just"/>
            <a:endParaRPr lang="en-US" sz="2000" dirty="0"/>
          </a:p>
          <a:p>
            <a:pPr algn="just"/>
            <a:r>
              <a:rPr lang="en-US" sz="2000" dirty="0"/>
              <a:t>A trailing zero is defined as a zero that appears at the end of a number, after the last non-zero digit. For example, 1200 has two trailing zeroes.</a:t>
            </a:r>
          </a:p>
          <a:p>
            <a:pPr algn="just"/>
            <a:endParaRPr lang="en-US" sz="2000" dirty="0"/>
          </a:p>
          <a:p>
            <a:pPr algn="just"/>
            <a:r>
              <a:rPr lang="en-US" sz="2000" dirty="0"/>
              <a:t>You must design an efficient algorithm that avoids direct computation of n!, since factorial values grow extremely large for even moderate values of n. Instead, focus on analyzing the factors that contribute to trailing zeroes.</a:t>
            </a:r>
          </a:p>
        </p:txBody>
      </p:sp>
    </p:spTree>
    <p:extLst>
      <p:ext uri="{BB962C8B-B14F-4D97-AF65-F5344CB8AC3E}">
        <p14:creationId xmlns:p14="http://schemas.microsoft.com/office/powerpoint/2010/main" val="132046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7B3EA-E1DD-7778-267D-2CF0FEF31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564D1-91F3-9A05-282C-0994A8557A06}"/>
              </a:ext>
            </a:extLst>
          </p:cNvPr>
          <p:cNvSpPr>
            <a:spLocks noGrp="1"/>
          </p:cNvSpPr>
          <p:nvPr>
            <p:ph type="title"/>
          </p:nvPr>
        </p:nvSpPr>
        <p:spPr>
          <a:xfrm>
            <a:off x="457200" y="175731"/>
            <a:ext cx="8229600" cy="827938"/>
          </a:xfrm>
        </p:spPr>
        <p:txBody>
          <a:bodyPr>
            <a:normAutofit/>
          </a:bodyPr>
          <a:lstStyle/>
          <a:p>
            <a:r>
              <a:rPr lang="en-US" sz="2400" dirty="0">
                <a:latin typeface="+mn-lt"/>
              </a:rPr>
              <a:t>Problem-02 (Cont.)</a:t>
            </a:r>
            <a:endParaRPr sz="2400" dirty="0">
              <a:latin typeface="+mn-lt"/>
            </a:endParaRPr>
          </a:p>
        </p:txBody>
      </p:sp>
      <p:sp>
        <p:nvSpPr>
          <p:cNvPr id="3" name="Rectangle 1">
            <a:extLst>
              <a:ext uri="{FF2B5EF4-FFF2-40B4-BE49-F238E27FC236}">
                <a16:creationId xmlns:a16="http://schemas.microsoft.com/office/drawing/2014/main" id="{1F87B601-A8FA-41FE-6D4B-415DE7B25122}"/>
              </a:ext>
            </a:extLst>
          </p:cNvPr>
          <p:cNvSpPr>
            <a:spLocks noChangeArrowheads="1"/>
          </p:cNvSpPr>
          <p:nvPr/>
        </p:nvSpPr>
        <p:spPr bwMode="auto">
          <a:xfrm>
            <a:off x="239497" y="1757277"/>
            <a:ext cx="8665006" cy="4001095"/>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Input</a:t>
            </a:r>
            <a:endParaRPr kumimoji="0" lang="en-US" altLang="en-US" sz="2000" b="0" i="0" u="none" strike="noStrike" cap="none" normalizeH="0" baseline="0" dirty="0">
              <a:ln>
                <a:noFill/>
              </a:ln>
              <a:solidFill>
                <a:srgbClr val="222222"/>
              </a:solidFill>
              <a:effectLst/>
              <a:latin typeface="+mn-lt"/>
            </a:endParaRPr>
          </a:p>
          <a:p>
            <a:pPr lvl="0" defTabSz="914400"/>
            <a:r>
              <a:rPr lang="en-US" sz="2000" dirty="0"/>
              <a:t>A single integer n (1≤n≤10^9)</a:t>
            </a:r>
          </a:p>
          <a:p>
            <a:pPr lvl="0" defTabSz="914400"/>
            <a:endParaRPr lang="en-US" sz="2000" dirty="0"/>
          </a:p>
          <a:p>
            <a:pPr lvl="0" defTabSz="914400"/>
            <a:r>
              <a:rPr kumimoji="0" lang="en-US" altLang="en-US" sz="2000" b="1" i="0" u="none" strike="noStrike" cap="none" normalizeH="0" baseline="0" dirty="0">
                <a:ln>
                  <a:noFill/>
                </a:ln>
                <a:solidFill>
                  <a:srgbClr val="222222"/>
                </a:solidFill>
                <a:effectLst/>
                <a:latin typeface="+mn-lt"/>
              </a:rPr>
              <a:t>Output</a:t>
            </a:r>
            <a:endParaRPr kumimoji="0" lang="en-US" altLang="en-US" sz="2000" b="0" i="0" u="none" strike="noStrike" cap="none" normalizeH="0" baseline="0" dirty="0">
              <a:ln>
                <a:noFill/>
              </a:ln>
              <a:solidFill>
                <a:srgbClr val="222222"/>
              </a:solidFill>
              <a:effectLst/>
              <a:latin typeface="+mn-lt"/>
            </a:endParaRPr>
          </a:p>
          <a:p>
            <a:pPr lvl="0" defTabSz="914400"/>
            <a:r>
              <a:rPr lang="en-US" sz="2000" dirty="0"/>
              <a:t>An integer representing the number of trailing zeroes in n!</a:t>
            </a:r>
          </a:p>
          <a:p>
            <a:pPr lvl="0" defTabSz="914400"/>
            <a:endParaRPr kumimoji="0" lang="en-US" altLang="en-US" sz="20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22222"/>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latin typeface="+mn-lt"/>
              </a:rPr>
              <a:t>Input</a:t>
            </a:r>
            <a:endParaRPr kumimoji="0" lang="en-US" altLang="en-US" sz="2000" b="0" i="0" u="none" strike="noStrike" cap="none" normalizeH="0" baseline="0" dirty="0">
              <a:ln>
                <a:noFill/>
              </a:ln>
              <a:solidFill>
                <a:srgbClr val="88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latin typeface="+mn-lt"/>
              </a:rPr>
              <a:t>10</a:t>
            </a:r>
            <a:endParaRPr kumimoji="0" lang="en-US" altLang="en-US" sz="2000" b="0" i="0" u="none" strike="noStrike" cap="none" normalizeH="0" baseline="0" dirty="0">
              <a:ln>
                <a:noFill/>
              </a:ln>
              <a:solidFill>
                <a:srgbClr val="222222"/>
              </a:solidFill>
              <a:effectLst/>
              <a:latin typeface="+mn-lt"/>
            </a:endParaRPr>
          </a:p>
          <a:p>
            <a:pPr lvl="0" defTabSz="914400"/>
            <a:endParaRPr lang="en-US" sz="2000" dirty="0"/>
          </a:p>
          <a:p>
            <a:pPr lvl="0" defTabSz="914400"/>
            <a:endParaRPr lang="en-US" sz="2000" dirty="0"/>
          </a:p>
          <a:p>
            <a:pPr lvl="0" defTabSz="914400"/>
            <a:r>
              <a:rPr lang="en-US" sz="2000" dirty="0"/>
              <a:t>Explanation: 10!=3,628,800, which has </a:t>
            </a:r>
            <a:r>
              <a:rPr lang="en-US" sz="2000" b="1" dirty="0"/>
              <a:t>2 trailing zeroes</a:t>
            </a:r>
            <a:r>
              <a:rPr lang="en-US" sz="2000" dirty="0"/>
              <a:t>.</a:t>
            </a:r>
            <a:endParaRPr kumimoji="0" lang="en-US" altLang="en-US" sz="2000" b="0" i="0" u="none" strike="noStrike" cap="none" normalizeH="0" baseline="0" dirty="0">
              <a:ln>
                <a:noFill/>
              </a:ln>
              <a:solidFill>
                <a:schemeClr val="tx1"/>
              </a:solidFill>
              <a:effectLst/>
              <a:latin typeface="+mn-lt"/>
            </a:endParaRPr>
          </a:p>
        </p:txBody>
      </p:sp>
      <p:sp>
        <p:nvSpPr>
          <p:cNvPr id="5" name="Rectangle 2">
            <a:extLst>
              <a:ext uri="{FF2B5EF4-FFF2-40B4-BE49-F238E27FC236}">
                <a16:creationId xmlns:a16="http://schemas.microsoft.com/office/drawing/2014/main" id="{0359FBEB-E9F8-9F4B-D822-C08A65A1BBA2}"/>
              </a:ext>
            </a:extLst>
          </p:cNvPr>
          <p:cNvSpPr>
            <a:spLocks noChangeArrowheads="1"/>
          </p:cNvSpPr>
          <p:nvPr/>
        </p:nvSpPr>
        <p:spPr bwMode="auto">
          <a:xfrm>
            <a:off x="1578712" y="4100990"/>
            <a:ext cx="1044158" cy="615553"/>
          </a:xfrm>
          <a:prstGeom prst="rect">
            <a:avLst/>
          </a:prstGeom>
          <a:noFill/>
          <a:ln>
            <a:noFill/>
          </a:ln>
          <a:effec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22222"/>
                </a:solidFill>
                <a:effectLst/>
              </a:rPr>
              <a:t>Output</a:t>
            </a:r>
            <a:endParaRPr kumimoji="0" lang="en-US" altLang="en-US" sz="2000" b="0" i="0" u="none" strike="noStrike" cap="none" normalizeH="0" baseline="0" dirty="0">
              <a:ln>
                <a:noFill/>
              </a:ln>
              <a:solidFill>
                <a:srgbClr val="88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880000"/>
                </a:solidFill>
                <a:effectLst/>
              </a:rPr>
              <a:t>2</a:t>
            </a:r>
            <a:endParaRPr kumimoji="0" lang="en-US"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9197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8136C-F387-2779-919C-7FD68675FE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327D8B-7125-88AB-9CE5-6D6B9E1A69CF}"/>
              </a:ext>
            </a:extLst>
          </p:cNvPr>
          <p:cNvSpPr txBox="1"/>
          <p:nvPr/>
        </p:nvSpPr>
        <p:spPr>
          <a:xfrm>
            <a:off x="3261674" y="2580846"/>
            <a:ext cx="2886174" cy="707886"/>
          </a:xfrm>
          <a:prstGeom prst="rect">
            <a:avLst/>
          </a:prstGeom>
          <a:noFill/>
        </p:spPr>
        <p:txBody>
          <a:bodyPr wrap="square">
            <a:spAutoFit/>
          </a:bodyPr>
          <a:lstStyle/>
          <a:p>
            <a:r>
              <a:rPr lang="en-US" sz="4000" dirty="0"/>
              <a:t>The Solution</a:t>
            </a:r>
            <a:endParaRPr sz="4000" dirty="0"/>
          </a:p>
        </p:txBody>
      </p:sp>
    </p:spTree>
    <p:extLst>
      <p:ext uri="{BB962C8B-B14F-4D97-AF65-F5344CB8AC3E}">
        <p14:creationId xmlns:p14="http://schemas.microsoft.com/office/powerpoint/2010/main" val="286790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4D0B-79F2-8008-D945-D07C501EBD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0A2D2F-B8E0-C241-E6E4-2D8C75DE900C}"/>
              </a:ext>
            </a:extLst>
          </p:cNvPr>
          <p:cNvSpPr txBox="1"/>
          <p:nvPr/>
        </p:nvSpPr>
        <p:spPr>
          <a:xfrm>
            <a:off x="597815" y="766732"/>
            <a:ext cx="7948369" cy="5632311"/>
          </a:xfrm>
          <a:prstGeom prst="rect">
            <a:avLst/>
          </a:prstGeom>
          <a:noFill/>
        </p:spPr>
        <p:txBody>
          <a:bodyPr wrap="square">
            <a:spAutoFit/>
          </a:bodyPr>
          <a:lstStyle/>
          <a:p>
            <a:pPr algn="just"/>
            <a:r>
              <a:rPr lang="en-US" sz="2000" dirty="0"/>
              <a:t>A factorial, denoted as n!, is the product of all positive integers from 1 to n. Factorials grow very quickly, and for larger values of n, the result often ends with several trailing zeroes (zeros at the end of the number).</a:t>
            </a:r>
          </a:p>
          <a:p>
            <a:pPr algn="just"/>
            <a:endParaRPr lang="en-US" sz="2000" dirty="0"/>
          </a:p>
          <a:p>
            <a:pPr algn="just"/>
            <a:r>
              <a:rPr lang="en-US" sz="2000" dirty="0"/>
              <a:t>For example:</a:t>
            </a:r>
          </a:p>
          <a:p>
            <a:pPr algn="just"/>
            <a:r>
              <a:rPr lang="en-US" sz="2000" dirty="0"/>
              <a:t>5!=120 → has 1 trailing zero</a:t>
            </a:r>
          </a:p>
          <a:p>
            <a:pPr algn="just"/>
            <a:r>
              <a:rPr lang="en-US" sz="2000" dirty="0"/>
              <a:t>10!=3,628,800 → has 2 trailing zeroes</a:t>
            </a:r>
          </a:p>
          <a:p>
            <a:pPr algn="just"/>
            <a:endParaRPr lang="en-US" sz="2000" dirty="0"/>
          </a:p>
          <a:p>
            <a:r>
              <a:rPr lang="en-US" sz="2000" b="1" dirty="0"/>
              <a:t>Why do trailing zeroes appear?</a:t>
            </a:r>
          </a:p>
          <a:p>
            <a:pPr marL="342900" indent="-342900">
              <a:buFont typeface="Arial" panose="020B0604020202020204" pitchFamily="34" charset="0"/>
              <a:buChar char="•"/>
            </a:pPr>
            <a:r>
              <a:rPr lang="en-US" sz="2000" dirty="0"/>
              <a:t>A trailing zero is produced when a number is divisible by 10.</a:t>
            </a:r>
          </a:p>
          <a:p>
            <a:pPr marL="342900" indent="-342900">
              <a:buFont typeface="Arial" panose="020B0604020202020204" pitchFamily="34" charset="0"/>
              <a:buChar char="•"/>
            </a:pPr>
            <a:r>
              <a:rPr lang="en-US" sz="2000" dirty="0"/>
              <a:t>10=2×5.</a:t>
            </a:r>
          </a:p>
          <a:p>
            <a:pPr marL="342900" indent="-342900">
              <a:buFont typeface="Arial" panose="020B0604020202020204" pitchFamily="34" charset="0"/>
              <a:buChar char="•"/>
            </a:pPr>
            <a:r>
              <a:rPr lang="en-US" sz="2000" dirty="0"/>
              <a:t>In factorials, there are always more factors of 2 than 5.</a:t>
            </a:r>
          </a:p>
          <a:p>
            <a:pPr marL="342900" indent="-342900">
              <a:buFont typeface="Arial" panose="020B0604020202020204" pitchFamily="34" charset="0"/>
              <a:buChar char="•"/>
            </a:pPr>
            <a:r>
              <a:rPr lang="en-US" sz="2000" dirty="0"/>
              <a:t>So, the number of trailing zeroes depends only on the number of times 5 divides the numbers from 1 to n.</a:t>
            </a:r>
          </a:p>
          <a:p>
            <a:pPr marL="342900" indent="-342900">
              <a:buFont typeface="Arial" panose="020B0604020202020204" pitchFamily="34" charset="0"/>
              <a:buChar char="•"/>
            </a:pPr>
            <a:endParaRPr lang="en-US" sz="2000" dirty="0"/>
          </a:p>
          <a:p>
            <a:r>
              <a:rPr lang="en-US" sz="2000" b="1" dirty="0"/>
              <a:t>Formula:</a:t>
            </a:r>
          </a:p>
          <a:p>
            <a:r>
              <a:rPr lang="en-US" sz="2000" dirty="0"/>
              <a:t>Trailing Zeroes in 𝑛!=⌊𝑛/5⌋+⌊𝑛/25⌋+⌊𝑛/125⌋+…</a:t>
            </a:r>
          </a:p>
          <a:p>
            <a:r>
              <a:rPr lang="en-US" sz="2000" dirty="0"/>
              <a:t>We keep dividing 𝑛 by 5 until it becomes 0.</a:t>
            </a:r>
          </a:p>
        </p:txBody>
      </p:sp>
    </p:spTree>
    <p:extLst>
      <p:ext uri="{BB962C8B-B14F-4D97-AF65-F5344CB8AC3E}">
        <p14:creationId xmlns:p14="http://schemas.microsoft.com/office/powerpoint/2010/main" val="3235298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B9D5D-1659-5B5B-8643-0C4B44BD4C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9451E4-0CD1-898D-BFA4-04F0823E8428}"/>
              </a:ext>
            </a:extLst>
          </p:cNvPr>
          <p:cNvSpPr>
            <a:spLocks noChangeArrowheads="1"/>
          </p:cNvSpPr>
          <p:nvPr/>
        </p:nvSpPr>
        <p:spPr bwMode="auto">
          <a:xfrm>
            <a:off x="2168165" y="1063025"/>
            <a:ext cx="4562573"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Algorithm: Trailing Zeroes in Factorial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Input:</a:t>
            </a:r>
            <a:r>
              <a:rPr kumimoji="0" lang="en-US" altLang="en-US" sz="2000" b="0" i="0" u="none" strike="noStrike" cap="none" normalizeH="0" baseline="0" dirty="0">
                <a:ln>
                  <a:noFill/>
                </a:ln>
                <a:solidFill>
                  <a:schemeClr val="tx1"/>
                </a:solidFill>
                <a:effectLst/>
                <a:latin typeface="+mj-lt"/>
              </a:rPr>
              <a:t> An integer n</a:t>
            </a:r>
            <a:br>
              <a:rPr kumimoji="0" lang="en-US" altLang="en-US" sz="2000" b="0" i="0" u="none" strike="noStrike" cap="none" normalizeH="0" baseline="0" dirty="0">
                <a:ln>
                  <a:noFill/>
                </a:ln>
                <a:solidFill>
                  <a:schemeClr val="tx1"/>
                </a:solidFill>
                <a:effectLst/>
                <a:latin typeface="+mj-lt"/>
              </a:rPr>
            </a:br>
            <a:r>
              <a:rPr kumimoji="0" lang="en-US" altLang="en-US" sz="2000" b="1" i="0" u="none" strike="noStrike" cap="none" normalizeH="0" baseline="0" dirty="0">
                <a:ln>
                  <a:noFill/>
                </a:ln>
                <a:solidFill>
                  <a:schemeClr val="tx1"/>
                </a:solidFill>
                <a:effectLst/>
                <a:latin typeface="+mj-lt"/>
              </a:rPr>
              <a:t>Output:</a:t>
            </a:r>
            <a:r>
              <a:rPr kumimoji="0" lang="en-US" altLang="en-US" sz="2000" b="0" i="0" u="none" strike="noStrike" cap="none" normalizeH="0" baseline="0" dirty="0">
                <a:ln>
                  <a:noFill/>
                </a:ln>
                <a:solidFill>
                  <a:schemeClr val="tx1"/>
                </a:solidFill>
                <a:effectLst/>
                <a:latin typeface="+mj-lt"/>
              </a:rPr>
              <a:t> Number of trailing zeroes in 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mj-lt"/>
              </a:rPr>
              <a:t>Initialize</a:t>
            </a:r>
            <a:r>
              <a:rPr kumimoji="0" lang="en-US" altLang="en-US" sz="2000" b="0" i="0" u="none" strike="noStrike" cap="none" normalizeH="0" baseline="0" dirty="0">
                <a:ln>
                  <a:noFill/>
                </a:ln>
                <a:solidFill>
                  <a:schemeClr val="tx1"/>
                </a:solidFill>
                <a:effectLst/>
                <a:latin typeface="+mj-lt"/>
              </a:rPr>
              <a:t> count = 0.</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mj-lt"/>
              </a:rPr>
              <a:t>Repeat until n becomes 0</a:t>
            </a:r>
            <a:r>
              <a:rPr kumimoji="0" lang="en-US" altLang="en-US" sz="2000" b="0" i="0" u="none" strike="noStrike" cap="none" normalizeH="0" baseline="0" dirty="0">
                <a:ln>
                  <a:noFill/>
                </a:ln>
                <a:solidFill>
                  <a:schemeClr val="tx1"/>
                </a:solidFill>
                <a:effectLst/>
                <a:latin typeface="+mj-l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Divide n by 5 (integer division).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Add the quotient to count.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mj-lt"/>
              </a:rPr>
              <a:t>Update n = n / 5.</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mj-lt"/>
              </a:rPr>
              <a:t>Return</a:t>
            </a:r>
            <a:r>
              <a:rPr kumimoji="0" lang="en-US" altLang="en-US" sz="2000" b="0" i="0" u="none" strike="noStrike" cap="none" normalizeH="0" baseline="0" dirty="0">
                <a:ln>
                  <a:noFill/>
                </a:ln>
                <a:solidFill>
                  <a:schemeClr val="tx1"/>
                </a:solidFill>
                <a:effectLst/>
                <a:latin typeface="+mj-lt"/>
              </a:rPr>
              <a:t> count.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4221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20057-009D-DBAD-2C4D-344D2E14FA0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21DFEC-DE76-5722-7F7C-821BF6F7DFD9}"/>
              </a:ext>
            </a:extLst>
          </p:cNvPr>
          <p:cNvSpPr txBox="1"/>
          <p:nvPr/>
        </p:nvSpPr>
        <p:spPr>
          <a:xfrm>
            <a:off x="584462" y="717196"/>
            <a:ext cx="6353665" cy="5632311"/>
          </a:xfrm>
          <a:prstGeom prst="rect">
            <a:avLst/>
          </a:prstGeom>
          <a:noFill/>
        </p:spPr>
        <p:txBody>
          <a:bodyPr wrap="square">
            <a:spAutoFit/>
          </a:bodyPr>
          <a:lstStyle/>
          <a:p>
            <a:r>
              <a:rPr lang="en-US" dirty="0"/>
              <a:t>#include &lt;iostream&gt;</a:t>
            </a:r>
          </a:p>
          <a:p>
            <a:r>
              <a:rPr lang="en-US" dirty="0"/>
              <a:t>using namespace std;</a:t>
            </a:r>
          </a:p>
          <a:p>
            <a:endParaRPr lang="en-US" dirty="0"/>
          </a:p>
          <a:p>
            <a:r>
              <a:rPr lang="en-US" dirty="0"/>
              <a:t>int main() {</a:t>
            </a:r>
          </a:p>
          <a:p>
            <a:r>
              <a:rPr lang="en-US" dirty="0"/>
              <a:t>    int n;</a:t>
            </a:r>
          </a:p>
          <a:p>
            <a:r>
              <a:rPr lang="en-US" dirty="0"/>
              <a:t>    </a:t>
            </a:r>
            <a:r>
              <a:rPr lang="en-US" dirty="0" err="1"/>
              <a:t>cout</a:t>
            </a:r>
            <a:r>
              <a:rPr lang="en-US" dirty="0"/>
              <a:t> &lt;&lt; "Enter a number: ";</a:t>
            </a:r>
          </a:p>
          <a:p>
            <a:r>
              <a:rPr lang="en-US" dirty="0"/>
              <a:t>    </a:t>
            </a:r>
            <a:r>
              <a:rPr lang="en-US" dirty="0" err="1"/>
              <a:t>cin</a:t>
            </a:r>
            <a:r>
              <a:rPr lang="en-US" dirty="0"/>
              <a:t> &gt;&gt; n;</a:t>
            </a:r>
          </a:p>
          <a:p>
            <a:endParaRPr lang="en-US" dirty="0"/>
          </a:p>
          <a:p>
            <a:r>
              <a:rPr lang="en-US" dirty="0"/>
              <a:t>    int count = 0;</a:t>
            </a:r>
          </a:p>
          <a:p>
            <a:endParaRPr lang="en-US" dirty="0"/>
          </a:p>
          <a:p>
            <a:r>
              <a:rPr lang="en-US" dirty="0"/>
              <a:t>    while (n &gt; 0) {</a:t>
            </a:r>
          </a:p>
          <a:p>
            <a:endParaRPr lang="en-US" dirty="0"/>
          </a:p>
          <a:p>
            <a:r>
              <a:rPr lang="en-US" dirty="0"/>
              <a:t>        n = n / 5; </a:t>
            </a:r>
          </a:p>
          <a:p>
            <a:r>
              <a:rPr lang="en-US" dirty="0"/>
              <a:t>	count = </a:t>
            </a:r>
            <a:r>
              <a:rPr lang="en-US" dirty="0" err="1"/>
              <a:t>count+n</a:t>
            </a:r>
            <a:r>
              <a:rPr lang="en-US" dirty="0"/>
              <a:t>; </a:t>
            </a:r>
          </a:p>
          <a:p>
            <a:r>
              <a:rPr lang="en-US" dirty="0"/>
              <a:t>}</a:t>
            </a:r>
          </a:p>
          <a:p>
            <a:endParaRPr lang="en-US" dirty="0"/>
          </a:p>
          <a:p>
            <a:r>
              <a:rPr lang="en-US" dirty="0"/>
              <a:t>    </a:t>
            </a:r>
            <a:r>
              <a:rPr lang="en-US" dirty="0" err="1"/>
              <a:t>cout</a:t>
            </a:r>
            <a:r>
              <a:rPr lang="en-US" dirty="0"/>
              <a:t> &lt;&lt; "Trailing zeroes in factorial = " &lt;&lt; count &lt;&lt; </a:t>
            </a:r>
            <a:r>
              <a:rPr lang="en-US" dirty="0" err="1"/>
              <a:t>endl</a:t>
            </a:r>
            <a:r>
              <a:rPr lang="en-US" dirty="0"/>
              <a:t>;</a:t>
            </a:r>
          </a:p>
          <a:p>
            <a:endParaRPr lang="en-US" dirty="0"/>
          </a:p>
          <a:p>
            <a:r>
              <a:rPr lang="en-US" dirty="0"/>
              <a:t>    return 0;</a:t>
            </a:r>
          </a:p>
          <a:p>
            <a:r>
              <a:rPr lang="en-US" dirty="0"/>
              <a:t>}</a:t>
            </a:r>
          </a:p>
        </p:txBody>
      </p:sp>
      <p:sp>
        <p:nvSpPr>
          <p:cNvPr id="2" name="TextBox 1">
            <a:extLst>
              <a:ext uri="{FF2B5EF4-FFF2-40B4-BE49-F238E27FC236}">
                <a16:creationId xmlns:a16="http://schemas.microsoft.com/office/drawing/2014/main" id="{00A5A07E-1C98-9422-EEA4-AEFBF2DDDEAC}"/>
              </a:ext>
            </a:extLst>
          </p:cNvPr>
          <p:cNvSpPr txBox="1"/>
          <p:nvPr/>
        </p:nvSpPr>
        <p:spPr>
          <a:xfrm>
            <a:off x="6249970" y="905857"/>
            <a:ext cx="2243579" cy="461665"/>
          </a:xfrm>
          <a:prstGeom prst="rect">
            <a:avLst/>
          </a:prstGeom>
          <a:noFill/>
        </p:spPr>
        <p:txBody>
          <a:bodyPr wrap="square">
            <a:spAutoFit/>
          </a:bodyPr>
          <a:lstStyle/>
          <a:p>
            <a:pPr algn="ctr"/>
            <a:r>
              <a:rPr lang="en-US" sz="2400" dirty="0"/>
              <a:t>Complexity?</a:t>
            </a:r>
            <a:endParaRPr sz="2400" dirty="0"/>
          </a:p>
        </p:txBody>
      </p:sp>
    </p:spTree>
    <p:extLst>
      <p:ext uri="{BB962C8B-B14F-4D97-AF65-F5344CB8AC3E}">
        <p14:creationId xmlns:p14="http://schemas.microsoft.com/office/powerpoint/2010/main" val="4106882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28EF-BAAE-4074-BB41-5D89E9F5E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E8EE1-D2DA-41C3-518C-75E6C5E31334}"/>
              </a:ext>
            </a:extLst>
          </p:cNvPr>
          <p:cNvSpPr>
            <a:spLocks noGrp="1"/>
          </p:cNvSpPr>
          <p:nvPr>
            <p:ph type="title"/>
          </p:nvPr>
        </p:nvSpPr>
        <p:spPr>
          <a:xfrm>
            <a:off x="443060" y="559205"/>
            <a:ext cx="8229600" cy="597267"/>
          </a:xfrm>
        </p:spPr>
        <p:txBody>
          <a:bodyPr>
            <a:normAutofit/>
          </a:bodyPr>
          <a:lstStyle/>
          <a:p>
            <a:r>
              <a:rPr lang="en-US" sz="2400" dirty="0"/>
              <a:t>Problem-03: count digits in a factorial</a:t>
            </a:r>
            <a:endParaRPr sz="2400" dirty="0"/>
          </a:p>
        </p:txBody>
      </p:sp>
      <p:sp>
        <p:nvSpPr>
          <p:cNvPr id="4" name="Rectangle 1">
            <a:extLst>
              <a:ext uri="{FF2B5EF4-FFF2-40B4-BE49-F238E27FC236}">
                <a16:creationId xmlns:a16="http://schemas.microsoft.com/office/drawing/2014/main" id="{A5515695-69CA-6B75-F4A7-8F8E03842482}"/>
              </a:ext>
            </a:extLst>
          </p:cNvPr>
          <p:cNvSpPr>
            <a:spLocks noChangeArrowheads="1"/>
          </p:cNvSpPr>
          <p:nvPr/>
        </p:nvSpPr>
        <p:spPr bwMode="auto">
          <a:xfrm>
            <a:off x="325225" y="1177230"/>
            <a:ext cx="8347435" cy="13112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8700" tIns="7935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222222"/>
              </a:solidFill>
              <a:effectLst/>
              <a:latin typeface="+mj-lt"/>
            </a:endParaRPr>
          </a:p>
          <a:p>
            <a:pPr algn="just"/>
            <a:r>
              <a:rPr lang="en-US" sz="2000" dirty="0"/>
              <a:t>Given an integer n, find the number of digits that appear in its factorial, where factorial is defined as, factorial(n) = 1*2*3*4........*n and factorial(0) = 1</a:t>
            </a:r>
          </a:p>
        </p:txBody>
      </p:sp>
      <p:sp>
        <p:nvSpPr>
          <p:cNvPr id="5" name="TextBox 4">
            <a:extLst>
              <a:ext uri="{FF2B5EF4-FFF2-40B4-BE49-F238E27FC236}">
                <a16:creationId xmlns:a16="http://schemas.microsoft.com/office/drawing/2014/main" id="{E19F6445-7EA5-68DB-B8CF-CA9C28C01929}"/>
              </a:ext>
            </a:extLst>
          </p:cNvPr>
          <p:cNvSpPr txBox="1"/>
          <p:nvPr/>
        </p:nvSpPr>
        <p:spPr>
          <a:xfrm>
            <a:off x="513760" y="3112785"/>
            <a:ext cx="4572000" cy="2513509"/>
          </a:xfrm>
          <a:prstGeom prst="rect">
            <a:avLst/>
          </a:prstGeom>
          <a:noFill/>
        </p:spPr>
        <p:txBody>
          <a:bodyPr wrap="square">
            <a:spAutoFit/>
          </a:bodyPr>
          <a:lstStyle/>
          <a:p>
            <a:pPr algn="l" rtl="0" fontAlgn="base">
              <a:spcAft>
                <a:spcPts val="750"/>
              </a:spcAft>
              <a:buNone/>
            </a:pPr>
            <a:r>
              <a:rPr lang="en-US" b="1" i="1" dirty="0">
                <a:solidFill>
                  <a:srgbClr val="273239"/>
                </a:solidFill>
                <a:effectLst/>
                <a:latin typeface="Nunito" pitchFamily="2" charset="0"/>
              </a:rPr>
              <a:t>Example:</a:t>
            </a:r>
          </a:p>
          <a:p>
            <a:pPr algn="l" rtl="0" fontAlgn="base">
              <a:spcAft>
                <a:spcPts val="750"/>
              </a:spcAft>
              <a:buNone/>
            </a:pPr>
            <a:br>
              <a:rPr lang="en-US" b="1" i="1" dirty="0">
                <a:solidFill>
                  <a:srgbClr val="273239"/>
                </a:solidFill>
                <a:effectLst/>
                <a:latin typeface="Nunito" pitchFamily="2" charset="0"/>
              </a:rPr>
            </a:br>
            <a:r>
              <a:rPr lang="en-US" b="1" i="1" dirty="0">
                <a:solidFill>
                  <a:srgbClr val="273239"/>
                </a:solidFill>
                <a:effectLst/>
                <a:latin typeface="Nunito" pitchFamily="2" charset="0"/>
              </a:rPr>
              <a:t>Input: </a:t>
            </a:r>
            <a:r>
              <a:rPr lang="en-US" b="0" i="1" dirty="0">
                <a:solidFill>
                  <a:srgbClr val="273239"/>
                </a:solidFill>
                <a:effectLst/>
                <a:latin typeface="Nunito" pitchFamily="2" charset="0"/>
              </a:rPr>
              <a:t> 5</a:t>
            </a:r>
            <a:br>
              <a:rPr lang="en-US" b="0" i="1" dirty="0">
                <a:solidFill>
                  <a:srgbClr val="273239"/>
                </a:solidFill>
                <a:effectLst/>
                <a:latin typeface="Nunito" pitchFamily="2" charset="0"/>
              </a:rPr>
            </a:br>
            <a:r>
              <a:rPr lang="en-US" b="1" i="1" dirty="0">
                <a:solidFill>
                  <a:srgbClr val="273239"/>
                </a:solidFill>
                <a:effectLst/>
                <a:latin typeface="Nunito" pitchFamily="2" charset="0"/>
              </a:rPr>
              <a:t>Output:</a:t>
            </a:r>
            <a:r>
              <a:rPr lang="en-US" b="0" i="1" dirty="0">
                <a:solidFill>
                  <a:srgbClr val="273239"/>
                </a:solidFill>
                <a:effectLst/>
                <a:latin typeface="Nunito" pitchFamily="2" charset="0"/>
              </a:rPr>
              <a:t> 3</a:t>
            </a:r>
            <a:br>
              <a:rPr lang="en-US" b="0" i="1" dirty="0">
                <a:solidFill>
                  <a:srgbClr val="273239"/>
                </a:solidFill>
                <a:effectLst/>
                <a:latin typeface="Nunito" pitchFamily="2" charset="0"/>
              </a:rPr>
            </a:br>
            <a:r>
              <a:rPr lang="en-US" b="1" i="1" dirty="0">
                <a:solidFill>
                  <a:srgbClr val="273239"/>
                </a:solidFill>
                <a:effectLst/>
                <a:latin typeface="Nunito" pitchFamily="2" charset="0"/>
              </a:rPr>
              <a:t>Explanation:</a:t>
            </a:r>
            <a:r>
              <a:rPr lang="en-US" b="0" i="1" dirty="0">
                <a:solidFill>
                  <a:srgbClr val="273239"/>
                </a:solidFill>
                <a:effectLst/>
                <a:latin typeface="Nunito" pitchFamily="2" charset="0"/>
              </a:rPr>
              <a:t> 5! = 120, </a:t>
            </a:r>
            <a:r>
              <a:rPr lang="en-US" i="1" dirty="0">
                <a:solidFill>
                  <a:srgbClr val="273239"/>
                </a:solidFill>
                <a:latin typeface="Nunito" pitchFamily="2" charset="0"/>
              </a:rPr>
              <a:t>that has,</a:t>
            </a:r>
            <a:r>
              <a:rPr lang="en-US" b="0" i="1" dirty="0">
                <a:solidFill>
                  <a:srgbClr val="273239"/>
                </a:solidFill>
                <a:effectLst/>
                <a:latin typeface="Nunito" pitchFamily="2" charset="0"/>
              </a:rPr>
              <a:t> 3 digits</a:t>
            </a:r>
          </a:p>
          <a:p>
            <a:pPr algn="l" rtl="0" fontAlgn="base">
              <a:spcAft>
                <a:spcPts val="750"/>
              </a:spcAft>
              <a:buNone/>
            </a:pPr>
            <a:r>
              <a:rPr lang="en-US" b="1" i="1" dirty="0">
                <a:solidFill>
                  <a:srgbClr val="273239"/>
                </a:solidFill>
                <a:effectLst/>
                <a:latin typeface="Nunito" pitchFamily="2" charset="0"/>
              </a:rPr>
              <a:t>Input: </a:t>
            </a:r>
            <a:r>
              <a:rPr lang="en-US" b="0" i="1" dirty="0">
                <a:solidFill>
                  <a:srgbClr val="273239"/>
                </a:solidFill>
                <a:effectLst/>
                <a:latin typeface="Nunito" pitchFamily="2" charset="0"/>
              </a:rPr>
              <a:t>10</a:t>
            </a:r>
            <a:br>
              <a:rPr lang="en-US" b="0" i="1" dirty="0">
                <a:solidFill>
                  <a:srgbClr val="273239"/>
                </a:solidFill>
                <a:effectLst/>
                <a:latin typeface="Nunito" pitchFamily="2" charset="0"/>
              </a:rPr>
            </a:br>
            <a:r>
              <a:rPr lang="en-US" b="1" i="1" dirty="0">
                <a:solidFill>
                  <a:srgbClr val="273239"/>
                </a:solidFill>
                <a:effectLst/>
                <a:latin typeface="Nunito" pitchFamily="2" charset="0"/>
              </a:rPr>
              <a:t>Output:</a:t>
            </a:r>
            <a:r>
              <a:rPr lang="en-US" b="0" i="1" dirty="0">
                <a:solidFill>
                  <a:srgbClr val="273239"/>
                </a:solidFill>
                <a:effectLst/>
                <a:latin typeface="Nunito" pitchFamily="2" charset="0"/>
              </a:rPr>
              <a:t> 7</a:t>
            </a:r>
            <a:br>
              <a:rPr lang="en-US" b="0" i="1" dirty="0">
                <a:solidFill>
                  <a:srgbClr val="273239"/>
                </a:solidFill>
                <a:effectLst/>
                <a:latin typeface="Nunito" pitchFamily="2" charset="0"/>
              </a:rPr>
            </a:br>
            <a:r>
              <a:rPr lang="en-US" b="1" i="1" dirty="0">
                <a:solidFill>
                  <a:srgbClr val="273239"/>
                </a:solidFill>
                <a:effectLst/>
                <a:latin typeface="Nunito" pitchFamily="2" charset="0"/>
              </a:rPr>
              <a:t>Explanation: </a:t>
            </a:r>
            <a:r>
              <a:rPr lang="en-US" b="0" i="1" dirty="0">
                <a:solidFill>
                  <a:srgbClr val="273239"/>
                </a:solidFill>
                <a:effectLst/>
                <a:latin typeface="Nunito" pitchFamily="2" charset="0"/>
              </a:rPr>
              <a:t>10! = 3628800, </a:t>
            </a:r>
            <a:r>
              <a:rPr lang="en-US" i="1" dirty="0">
                <a:solidFill>
                  <a:srgbClr val="273239"/>
                </a:solidFill>
                <a:latin typeface="Nunito" pitchFamily="2" charset="0"/>
              </a:rPr>
              <a:t>that has</a:t>
            </a:r>
            <a:r>
              <a:rPr lang="en-US" b="0" i="1" dirty="0">
                <a:solidFill>
                  <a:srgbClr val="273239"/>
                </a:solidFill>
                <a:effectLst/>
                <a:latin typeface="Nunito" pitchFamily="2" charset="0"/>
              </a:rPr>
              <a:t>, 7 digits</a:t>
            </a:r>
          </a:p>
        </p:txBody>
      </p:sp>
    </p:spTree>
    <p:extLst>
      <p:ext uri="{BB962C8B-B14F-4D97-AF65-F5344CB8AC3E}">
        <p14:creationId xmlns:p14="http://schemas.microsoft.com/office/powerpoint/2010/main" val="2421516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C5E5-0EBC-2E2F-6AE8-403A4256A5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EFE57B-2B33-D40F-B08C-D90B2D011E7F}"/>
              </a:ext>
            </a:extLst>
          </p:cNvPr>
          <p:cNvSpPr txBox="1"/>
          <p:nvPr/>
        </p:nvSpPr>
        <p:spPr>
          <a:xfrm>
            <a:off x="3261674" y="2580846"/>
            <a:ext cx="2886174" cy="707886"/>
          </a:xfrm>
          <a:prstGeom prst="rect">
            <a:avLst/>
          </a:prstGeom>
          <a:noFill/>
        </p:spPr>
        <p:txBody>
          <a:bodyPr wrap="square">
            <a:spAutoFit/>
          </a:bodyPr>
          <a:lstStyle/>
          <a:p>
            <a:r>
              <a:rPr lang="en-US" sz="4000" dirty="0"/>
              <a:t>The Solution</a:t>
            </a:r>
            <a:endParaRPr sz="4000" dirty="0"/>
          </a:p>
        </p:txBody>
      </p:sp>
    </p:spTree>
    <p:extLst>
      <p:ext uri="{BB962C8B-B14F-4D97-AF65-F5344CB8AC3E}">
        <p14:creationId xmlns:p14="http://schemas.microsoft.com/office/powerpoint/2010/main" val="1001888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B7D9D-7551-8AAB-E76B-B601680E4C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F890FA2-D82F-BCAF-9ED0-C81FC691341A}"/>
              </a:ext>
            </a:extLst>
          </p:cNvPr>
          <p:cNvSpPr txBox="1"/>
          <p:nvPr/>
        </p:nvSpPr>
        <p:spPr>
          <a:xfrm>
            <a:off x="597815" y="1030682"/>
            <a:ext cx="8291661" cy="3477875"/>
          </a:xfrm>
          <a:prstGeom prst="rect">
            <a:avLst/>
          </a:prstGeom>
          <a:noFill/>
        </p:spPr>
        <p:txBody>
          <a:bodyPr wrap="square">
            <a:spAutoFit/>
          </a:bodyPr>
          <a:lstStyle/>
          <a:p>
            <a:pPr fontAlgn="base"/>
            <a:r>
              <a:rPr lang="en-US" sz="2000" dirty="0">
                <a:latin typeface="+mj-lt"/>
              </a:rPr>
              <a:t> Using logarithmic property:</a:t>
            </a:r>
          </a:p>
          <a:p>
            <a:pPr fontAlgn="base"/>
            <a:endParaRPr lang="en-US" sz="2000" dirty="0">
              <a:latin typeface="+mj-lt"/>
            </a:endParaRPr>
          </a:p>
          <a:p>
            <a:pPr fontAlgn="base"/>
            <a:r>
              <a:rPr lang="en-US" sz="2000" dirty="0">
                <a:latin typeface="+mj-lt"/>
              </a:rPr>
              <a:t>We know, log(a*b) = log(a) + log(b)</a:t>
            </a:r>
          </a:p>
          <a:p>
            <a:pPr fontAlgn="base"/>
            <a:endParaRPr lang="en-US" sz="2000" dirty="0">
              <a:latin typeface="+mj-lt"/>
            </a:endParaRPr>
          </a:p>
          <a:p>
            <a:pPr fontAlgn="base"/>
            <a:r>
              <a:rPr lang="en-US" sz="2000" dirty="0">
                <a:latin typeface="+mj-lt"/>
              </a:rPr>
              <a:t>Therefore:</a:t>
            </a:r>
            <a:br>
              <a:rPr lang="en-US" sz="2000" dirty="0">
                <a:latin typeface="+mj-lt"/>
              </a:rPr>
            </a:br>
            <a:r>
              <a:rPr lang="en-US" sz="2000" dirty="0">
                <a:latin typeface="+mj-lt"/>
              </a:rPr>
              <a:t>log( n! ) = log(1*2*3....... * n) = log(1) + log(2) + ........ +log(n)</a:t>
            </a:r>
          </a:p>
          <a:p>
            <a:pPr fontAlgn="base"/>
            <a:endParaRPr lang="en-US" sz="2000" dirty="0">
              <a:latin typeface="+mj-lt"/>
            </a:endParaRPr>
          </a:p>
          <a:p>
            <a:pPr fontAlgn="base"/>
            <a:r>
              <a:rPr lang="en-US" sz="2000" dirty="0">
                <a:latin typeface="+mj-lt"/>
              </a:rPr>
              <a:t>Now, observe that the floor value of log base 10 increased by 1, of any number, gives the number of digits present in that number. </a:t>
            </a:r>
          </a:p>
          <a:p>
            <a:pPr fontAlgn="base"/>
            <a:endParaRPr lang="en-US" sz="2000" dirty="0">
              <a:latin typeface="+mj-lt"/>
            </a:endParaRPr>
          </a:p>
          <a:p>
            <a:pPr fontAlgn="base"/>
            <a:r>
              <a:rPr lang="en-US" sz="2000" dirty="0">
                <a:latin typeface="+mj-lt"/>
              </a:rPr>
              <a:t>Hence, output would be : floor(log(n!)) + 1.</a:t>
            </a:r>
          </a:p>
        </p:txBody>
      </p:sp>
    </p:spTree>
    <p:extLst>
      <p:ext uri="{BB962C8B-B14F-4D97-AF65-F5344CB8AC3E}">
        <p14:creationId xmlns:p14="http://schemas.microsoft.com/office/powerpoint/2010/main" val="1171061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546F-0D72-56FA-7742-1630B306BF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B36E78-9E8F-EF8B-925A-B97E447CCE50}"/>
              </a:ext>
            </a:extLst>
          </p:cNvPr>
          <p:cNvSpPr>
            <a:spLocks noChangeArrowheads="1"/>
          </p:cNvSpPr>
          <p:nvPr/>
        </p:nvSpPr>
        <p:spPr bwMode="auto">
          <a:xfrm>
            <a:off x="2158739" y="484174"/>
            <a:ext cx="456257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Algorithm: Counting Digits in a Factorial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Input:</a:t>
            </a:r>
            <a:r>
              <a:rPr kumimoji="0" lang="en-US" altLang="en-US" sz="2000" b="0" i="0" u="none" strike="noStrike" cap="none" normalizeH="0" baseline="0" dirty="0">
                <a:ln>
                  <a:noFill/>
                </a:ln>
                <a:solidFill>
                  <a:schemeClr val="tx1"/>
                </a:solidFill>
                <a:effectLst/>
                <a:latin typeface="+mj-lt"/>
              </a:rPr>
              <a:t> An integer n</a:t>
            </a:r>
            <a:br>
              <a:rPr kumimoji="0" lang="en-US" altLang="en-US" sz="2000" b="0" i="0" u="none" strike="noStrike" cap="none" normalizeH="0" baseline="0" dirty="0">
                <a:ln>
                  <a:noFill/>
                </a:ln>
                <a:solidFill>
                  <a:schemeClr val="tx1"/>
                </a:solidFill>
                <a:effectLst/>
                <a:latin typeface="+mj-lt"/>
              </a:rPr>
            </a:br>
            <a:r>
              <a:rPr kumimoji="0" lang="en-US" altLang="en-US" sz="2000" b="1" i="0" u="none" strike="noStrike" cap="none" normalizeH="0" baseline="0" dirty="0">
                <a:ln>
                  <a:noFill/>
                </a:ln>
                <a:solidFill>
                  <a:schemeClr val="tx1"/>
                </a:solidFill>
                <a:effectLst/>
                <a:latin typeface="+mj-lt"/>
              </a:rPr>
              <a:t>Output:</a:t>
            </a:r>
            <a:r>
              <a:rPr kumimoji="0" lang="en-US" altLang="en-US" sz="2000" b="0" i="0" u="none" strike="noStrike" cap="none" normalizeH="0" baseline="0" dirty="0">
                <a:ln>
                  <a:noFill/>
                </a:ln>
                <a:solidFill>
                  <a:schemeClr val="tx1"/>
                </a:solidFill>
                <a:effectLst/>
                <a:latin typeface="+mj-lt"/>
              </a:rPr>
              <a:t> Number of decimal digits in 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709B8745-285E-5C44-9E5A-59E715FAAA26}"/>
              </a:ext>
            </a:extLst>
          </p:cNvPr>
          <p:cNvSpPr>
            <a:spLocks noChangeArrowheads="1"/>
          </p:cNvSpPr>
          <p:nvPr/>
        </p:nvSpPr>
        <p:spPr bwMode="auto">
          <a:xfrm>
            <a:off x="471341" y="2204101"/>
            <a:ext cx="847193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1" i="0" u="none" strike="noStrike" cap="none" normalizeH="0" baseline="0" dirty="0">
                <a:ln>
                  <a:noFill/>
                </a:ln>
                <a:solidFill>
                  <a:schemeClr val="tx1"/>
                </a:solidFill>
                <a:effectLst/>
                <a:latin typeface="+mj-lt"/>
              </a:rPr>
              <a:t>Handle base cases:</a:t>
            </a:r>
            <a:r>
              <a:rPr lang="en-US" altLang="en-US" sz="2000" dirty="0">
                <a:latin typeface="+mj-lt"/>
              </a:rPr>
              <a:t> </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mj-lt"/>
              </a:rPr>
              <a:t>	If n = 0 or n = 1, return 1 (since 0! = 1! = 1).</a:t>
            </a:r>
          </a:p>
          <a:p>
            <a:pPr marR="0" lvl="0" algn="l" defTabSz="914400" rtl="0" eaLnBrk="0" fontAlgn="base" latinLnBrk="0" hangingPunct="0">
              <a:lnSpc>
                <a:spcPct val="100000"/>
              </a:lnSpc>
              <a:spcBef>
                <a:spcPct val="0"/>
              </a:spcBef>
              <a:spcAft>
                <a:spcPct val="0"/>
              </a:spcAft>
              <a:buClrTx/>
              <a:buSzTx/>
              <a:tabLst/>
            </a:pPr>
            <a:endParaRPr lang="en-US" altLang="en-US" sz="2000" dirty="0">
              <a:latin typeface="+mj-lt"/>
            </a:endParaRP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mj-lt"/>
              </a:rPr>
              <a:t>2.     Initialize sum:</a:t>
            </a:r>
            <a:r>
              <a:rPr lang="en-US" altLang="en-US" sz="2000" dirty="0">
                <a:latin typeface="+mj-lt"/>
              </a:rPr>
              <a:t> </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mj-lt"/>
              </a:rPr>
              <a:t>	Let sum = 0.0 (a floating-point variable to store the sum of logarithms).</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mj-lt"/>
            </a:endParaRP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mj-lt"/>
              </a:rPr>
              <a:t>3.     Compute log10 of factorial:</a:t>
            </a:r>
            <a:endParaRPr kumimoji="0" lang="en-US" altLang="en-US" sz="2000" b="0" i="0" u="none" strike="noStrike" cap="none" normalizeH="0" baseline="0" dirty="0">
              <a:ln>
                <a:noFill/>
              </a:ln>
              <a:solidFill>
                <a:schemeClr val="tx1"/>
              </a:solidFill>
              <a:effectLst/>
              <a:latin typeface="+mj-lt"/>
            </a:endParaRPr>
          </a:p>
          <a:p>
            <a:pPr marL="1828800" lvl="3" indent="-457200" defTabSz="9144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mj-lt"/>
              </a:rPr>
              <a:t>For each integer </a:t>
            </a:r>
            <a:r>
              <a:rPr kumimoji="0" lang="en-US" altLang="en-US" sz="2000" b="0" i="0" u="none" strike="noStrike" cap="none" normalizeH="0" baseline="0" dirty="0" err="1">
                <a:ln>
                  <a:noFill/>
                </a:ln>
                <a:solidFill>
                  <a:schemeClr val="tx1"/>
                </a:solidFill>
                <a:effectLst/>
                <a:latin typeface="+mj-lt"/>
              </a:rPr>
              <a:t>i</a:t>
            </a:r>
            <a:r>
              <a:rPr kumimoji="0" lang="en-US" altLang="en-US" sz="2000" b="0" i="0" u="none" strike="noStrike" cap="none" normalizeH="0" baseline="0" dirty="0">
                <a:ln>
                  <a:noFill/>
                </a:ln>
                <a:solidFill>
                  <a:schemeClr val="tx1"/>
                </a:solidFill>
                <a:effectLst/>
                <a:latin typeface="+mj-lt"/>
              </a:rPr>
              <a:t> from 2 to n:</a:t>
            </a:r>
          </a:p>
          <a:p>
            <a:pPr marL="2286000" lvl="4" indent="-457200" defTabSz="914400" eaLnBrk="0" fontAlgn="base" hangingPunct="0">
              <a:spcBef>
                <a:spcPct val="0"/>
              </a:spcBef>
              <a:spcAft>
                <a:spcPct val="0"/>
              </a:spcAft>
              <a:buFont typeface="+mj-lt"/>
              <a:buAutoNum type="arabicPeriod"/>
            </a:pPr>
            <a:r>
              <a:rPr kumimoji="0" lang="en-US" altLang="en-US" sz="2000" b="0" i="0" u="none" strike="noStrike" cap="none" normalizeH="0" baseline="0" dirty="0">
                <a:ln>
                  <a:noFill/>
                </a:ln>
                <a:solidFill>
                  <a:schemeClr val="tx1"/>
                </a:solidFill>
                <a:effectLst/>
                <a:latin typeface="+mj-lt"/>
              </a:rPr>
              <a:t>Add log10(</a:t>
            </a:r>
            <a:r>
              <a:rPr kumimoji="0" lang="en-US" altLang="en-US" sz="2000" b="0" i="0" u="none" strike="noStrike" cap="none" normalizeH="0" baseline="0" dirty="0" err="1">
                <a:ln>
                  <a:noFill/>
                </a:ln>
                <a:solidFill>
                  <a:schemeClr val="tx1"/>
                </a:solidFill>
                <a:effectLst/>
                <a:latin typeface="+mj-lt"/>
              </a:rPr>
              <a:t>i</a:t>
            </a:r>
            <a:r>
              <a:rPr kumimoji="0" lang="en-US" altLang="en-US" sz="2000" b="0" i="0" u="none" strike="noStrike" cap="none" normalizeH="0" baseline="0" dirty="0">
                <a:ln>
                  <a:noFill/>
                </a:ln>
                <a:solidFill>
                  <a:schemeClr val="tx1"/>
                </a:solidFill>
                <a:effectLst/>
                <a:latin typeface="+mj-lt"/>
              </a:rPr>
              <a:t>) to sum.</a:t>
            </a:r>
            <a:r>
              <a:rPr lang="en-US" altLang="en-US" sz="2000" dirty="0">
                <a:latin typeface="+mj-lt"/>
              </a:rPr>
              <a:t>  </a:t>
            </a:r>
          </a:p>
          <a:p>
            <a:pPr lvl="4" defTabSz="914400" eaLnBrk="0" fontAlgn="base" hangingPunct="0">
              <a:spcBef>
                <a:spcPct val="0"/>
              </a:spcBef>
              <a:spcAft>
                <a:spcPct val="0"/>
              </a:spcAft>
            </a:pPr>
            <a:endParaRPr lang="en-US" altLang="en-US" sz="2000" dirty="0">
              <a:latin typeface="+mj-lt"/>
            </a:endParaRPr>
          </a:p>
          <a:p>
            <a:pPr defTabSz="914400" eaLnBrk="0" fontAlgn="base" hangingPunct="0">
              <a:spcBef>
                <a:spcPct val="0"/>
              </a:spcBef>
              <a:spcAft>
                <a:spcPct val="0"/>
              </a:spcAft>
            </a:pPr>
            <a:r>
              <a:rPr lang="en-US" altLang="en-US" sz="2000" b="1" dirty="0"/>
              <a:t>4. Calculate number of digits:</a:t>
            </a:r>
            <a:r>
              <a:rPr lang="en-US" altLang="en-US" sz="2000" dirty="0"/>
              <a:t> digits = floor(sum) + 1</a:t>
            </a:r>
          </a:p>
          <a:p>
            <a:pPr marR="0" lvl="0" algn="l" defTabSz="914400" rtl="0" eaLnBrk="0" fontAlgn="base" latinLnBrk="0" hangingPunct="0">
              <a:lnSpc>
                <a:spcPct val="100000"/>
              </a:lnSpc>
              <a:spcBef>
                <a:spcPct val="0"/>
              </a:spcBef>
              <a:spcAft>
                <a:spcPct val="0"/>
              </a:spcAft>
              <a:buClrTx/>
              <a:buSzTx/>
              <a:tabLst/>
            </a:pPr>
            <a:r>
              <a:rPr lang="en-US" altLang="en-US" sz="2000" b="1" dirty="0">
                <a:latin typeface="+mj-lt"/>
              </a:rPr>
              <a:t>5. </a:t>
            </a:r>
            <a:r>
              <a:rPr kumimoji="0" lang="en-US" altLang="en-US" sz="2000" b="1" i="0" u="none" strike="noStrike" cap="none" normalizeH="0" baseline="0" dirty="0">
                <a:ln>
                  <a:noFill/>
                </a:ln>
                <a:solidFill>
                  <a:schemeClr val="tx1"/>
                </a:solidFill>
                <a:effectLst/>
                <a:latin typeface="+mj-lt"/>
              </a:rPr>
              <a:t>Return digits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0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796152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3F6B8-995A-7A44-5075-3AFBCCE47B2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E56F10-FF30-9528-A3AB-8F48F92B02EE}"/>
              </a:ext>
            </a:extLst>
          </p:cNvPr>
          <p:cNvSpPr txBox="1"/>
          <p:nvPr/>
        </p:nvSpPr>
        <p:spPr>
          <a:xfrm>
            <a:off x="386499" y="117693"/>
            <a:ext cx="6353665" cy="6186309"/>
          </a:xfrm>
          <a:prstGeom prst="rect">
            <a:avLst/>
          </a:prstGeom>
          <a:noFill/>
        </p:spPr>
        <p:txBody>
          <a:bodyPr wrap="square">
            <a:spAutoFit/>
          </a:bodyPr>
          <a:lstStyle/>
          <a:p>
            <a:r>
              <a:rPr lang="en-US" dirty="0"/>
              <a:t>#include &lt;iostream&gt;</a:t>
            </a:r>
          </a:p>
          <a:p>
            <a:r>
              <a:rPr lang="en-US" dirty="0"/>
              <a:t>#include &lt;</a:t>
            </a:r>
            <a:r>
              <a:rPr lang="en-US" dirty="0" err="1"/>
              <a:t>cmath</a:t>
            </a:r>
            <a:r>
              <a:rPr lang="en-US" dirty="0"/>
              <a:t>&gt; </a:t>
            </a:r>
          </a:p>
          <a:p>
            <a:r>
              <a:rPr lang="en-US" dirty="0"/>
              <a:t>using namespace std;</a:t>
            </a:r>
          </a:p>
          <a:p>
            <a:r>
              <a:rPr lang="en-US" dirty="0"/>
              <a:t>int main() {</a:t>
            </a:r>
          </a:p>
          <a:p>
            <a:r>
              <a:rPr lang="en-US" dirty="0"/>
              <a:t>    int n;</a:t>
            </a:r>
          </a:p>
          <a:p>
            <a:r>
              <a:rPr lang="en-US" dirty="0"/>
              <a:t>    </a:t>
            </a:r>
            <a:r>
              <a:rPr lang="en-US" dirty="0" err="1"/>
              <a:t>cin</a:t>
            </a:r>
            <a:r>
              <a:rPr lang="en-US" dirty="0"/>
              <a:t> &gt;&gt; n;</a:t>
            </a:r>
          </a:p>
          <a:p>
            <a:endParaRPr lang="en-US" dirty="0"/>
          </a:p>
          <a:p>
            <a:r>
              <a:rPr lang="en-US" dirty="0"/>
              <a:t>    if (n == 0 || n == 1)</a:t>
            </a:r>
          </a:p>
          <a:p>
            <a:r>
              <a:rPr lang="en-US" dirty="0"/>
              <a:t>    {</a:t>
            </a:r>
          </a:p>
          <a:p>
            <a:r>
              <a:rPr lang="en-US" dirty="0"/>
              <a:t>        </a:t>
            </a:r>
            <a:r>
              <a:rPr lang="en-US" dirty="0" err="1"/>
              <a:t>cout</a:t>
            </a:r>
            <a:r>
              <a:rPr lang="en-US" dirty="0"/>
              <a:t> &lt;&lt; 1 &lt;&lt; </a:t>
            </a:r>
            <a:r>
              <a:rPr lang="en-US" dirty="0" err="1"/>
              <a:t>endl</a:t>
            </a:r>
            <a:r>
              <a:rPr lang="en-US" dirty="0"/>
              <a:t>; </a:t>
            </a:r>
          </a:p>
          <a:p>
            <a:r>
              <a:rPr lang="en-US" dirty="0"/>
              <a:t>	return 0;</a:t>
            </a:r>
          </a:p>
          <a:p>
            <a:r>
              <a:rPr lang="en-US" dirty="0"/>
              <a:t>    }</a:t>
            </a:r>
          </a:p>
          <a:p>
            <a:endParaRPr lang="en-US" dirty="0"/>
          </a:p>
          <a:p>
            <a:r>
              <a:rPr lang="en-US" dirty="0"/>
              <a:t>    double sum = 0;</a:t>
            </a:r>
          </a:p>
          <a:p>
            <a:r>
              <a:rPr lang="en-US" dirty="0"/>
              <a:t>    for (int </a:t>
            </a:r>
            <a:r>
              <a:rPr lang="en-US" dirty="0" err="1"/>
              <a:t>i</a:t>
            </a:r>
            <a:r>
              <a:rPr lang="en-US" dirty="0"/>
              <a:t> = 2; </a:t>
            </a:r>
            <a:r>
              <a:rPr lang="en-US" dirty="0" err="1"/>
              <a:t>i</a:t>
            </a:r>
            <a:r>
              <a:rPr lang="en-US" dirty="0"/>
              <a:t> &lt;= n; </a:t>
            </a:r>
            <a:r>
              <a:rPr lang="en-US" dirty="0" err="1"/>
              <a:t>i</a:t>
            </a:r>
            <a:r>
              <a:rPr lang="en-US" dirty="0"/>
              <a:t>++) </a:t>
            </a:r>
          </a:p>
          <a:p>
            <a:r>
              <a:rPr lang="en-US" dirty="0"/>
              <a:t>   {</a:t>
            </a:r>
          </a:p>
          <a:p>
            <a:r>
              <a:rPr lang="en-US" dirty="0"/>
              <a:t>        sum = sum + log10(</a:t>
            </a:r>
            <a:r>
              <a:rPr lang="en-US" dirty="0" err="1"/>
              <a:t>i</a:t>
            </a:r>
            <a:r>
              <a:rPr lang="en-US" dirty="0"/>
              <a:t>); </a:t>
            </a:r>
          </a:p>
          <a:p>
            <a:r>
              <a:rPr lang="en-US" dirty="0"/>
              <a:t>   }</a:t>
            </a:r>
          </a:p>
          <a:p>
            <a:r>
              <a:rPr lang="en-US" dirty="0"/>
              <a:t>    int digits = floor(sum) + 1;</a:t>
            </a:r>
          </a:p>
          <a:p>
            <a:r>
              <a:rPr lang="en-US" dirty="0"/>
              <a:t>    </a:t>
            </a:r>
            <a:r>
              <a:rPr lang="en-US" dirty="0" err="1"/>
              <a:t>cout</a:t>
            </a:r>
            <a:r>
              <a:rPr lang="en-US" dirty="0"/>
              <a:t> &lt;&lt; digits &lt;&lt; </a:t>
            </a:r>
            <a:r>
              <a:rPr lang="en-US" dirty="0" err="1"/>
              <a:t>endl</a:t>
            </a:r>
            <a:r>
              <a:rPr lang="en-US" dirty="0"/>
              <a:t>;</a:t>
            </a:r>
          </a:p>
          <a:p>
            <a:r>
              <a:rPr lang="en-US" dirty="0"/>
              <a:t>    return 0;</a:t>
            </a:r>
          </a:p>
          <a:p>
            <a:r>
              <a:rPr lang="en-US" dirty="0"/>
              <a:t>}</a:t>
            </a:r>
          </a:p>
        </p:txBody>
      </p:sp>
      <p:sp>
        <p:nvSpPr>
          <p:cNvPr id="2" name="TextBox 1">
            <a:extLst>
              <a:ext uri="{FF2B5EF4-FFF2-40B4-BE49-F238E27FC236}">
                <a16:creationId xmlns:a16="http://schemas.microsoft.com/office/drawing/2014/main" id="{4EC7C4B5-BF9A-CDCE-1950-519CB4FD4351}"/>
              </a:ext>
            </a:extLst>
          </p:cNvPr>
          <p:cNvSpPr txBox="1"/>
          <p:nvPr/>
        </p:nvSpPr>
        <p:spPr>
          <a:xfrm>
            <a:off x="6249970" y="905857"/>
            <a:ext cx="2243579" cy="461665"/>
          </a:xfrm>
          <a:prstGeom prst="rect">
            <a:avLst/>
          </a:prstGeom>
          <a:noFill/>
        </p:spPr>
        <p:txBody>
          <a:bodyPr wrap="square">
            <a:spAutoFit/>
          </a:bodyPr>
          <a:lstStyle/>
          <a:p>
            <a:pPr algn="ctr"/>
            <a:r>
              <a:rPr lang="en-US" sz="2400" dirty="0"/>
              <a:t>Complexity?</a:t>
            </a:r>
            <a:endParaRPr sz="2400" dirty="0"/>
          </a:p>
        </p:txBody>
      </p:sp>
    </p:spTree>
    <p:extLst>
      <p:ext uri="{BB962C8B-B14F-4D97-AF65-F5344CB8AC3E}">
        <p14:creationId xmlns:p14="http://schemas.microsoft.com/office/powerpoint/2010/main" val="628954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82DF34261CC124397F3D91909AA7EE8" ma:contentTypeVersion="3" ma:contentTypeDescription="Create a new document." ma:contentTypeScope="" ma:versionID="aae8c34e91a1797a299ef4ff2d86b071">
  <xsd:schema xmlns:xsd="http://www.w3.org/2001/XMLSchema" xmlns:xs="http://www.w3.org/2001/XMLSchema" xmlns:p="http://schemas.microsoft.com/office/2006/metadata/properties" xmlns:ns2="5e71315f-5b78-462f-9850-4380c4e47649" targetNamespace="http://schemas.microsoft.com/office/2006/metadata/properties" ma:root="true" ma:fieldsID="4b4576f0867e75ef051d607cd6875836" ns2:_="">
    <xsd:import namespace="5e71315f-5b78-462f-9850-4380c4e4764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71315f-5b78-462f-9850-4380c4e47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48D9CA-91EB-4819-9629-FA73481AE8EA}"/>
</file>

<file path=customXml/itemProps2.xml><?xml version="1.0" encoding="utf-8"?>
<ds:datastoreItem xmlns:ds="http://schemas.openxmlformats.org/officeDocument/2006/customXml" ds:itemID="{8009841F-1C4B-4B02-AE4E-20938669E9DC}"/>
</file>

<file path=customXml/itemProps3.xml><?xml version="1.0" encoding="utf-8"?>
<ds:datastoreItem xmlns:ds="http://schemas.openxmlformats.org/officeDocument/2006/customXml" ds:itemID="{1E0D1B6C-B515-481D-9CF5-6974D5ACB477}"/>
</file>

<file path=docProps/app.xml><?xml version="1.0" encoding="utf-8"?>
<Properties xmlns="http://schemas.openxmlformats.org/officeDocument/2006/extended-properties" xmlns:vt="http://schemas.openxmlformats.org/officeDocument/2006/docPropsVTypes">
  <TotalTime>488</TotalTime>
  <Words>1382</Words>
  <Application>Microsoft Office PowerPoint</Application>
  <PresentationFormat>On-screen Show (4:3)</PresentationFormat>
  <Paragraphs>196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Nunito</vt:lpstr>
      <vt:lpstr>Office Theme</vt:lpstr>
      <vt:lpstr>Problem Solving: Combinatorics</vt:lpstr>
      <vt:lpstr>Problem-01: Only Pluses</vt:lpstr>
      <vt:lpstr>Problem-01 (Cont.)</vt:lpstr>
      <vt:lpstr>PowerPoint Presentation</vt:lpstr>
      <vt:lpstr>PowerPoint Presentation</vt:lpstr>
      <vt:lpstr>PowerPoint Presentation</vt:lpstr>
      <vt:lpstr>Problem-02: trailing zeroes in the factorial of n</vt:lpstr>
      <vt:lpstr>Problem-02 (Cont.)</vt:lpstr>
      <vt:lpstr>PowerPoint Presentation</vt:lpstr>
      <vt:lpstr>PowerPoint Presentation</vt:lpstr>
      <vt:lpstr>PowerPoint Presentation</vt:lpstr>
      <vt:lpstr>PowerPoint Presentation</vt:lpstr>
      <vt:lpstr>Problem-03: count digits in a factorial</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Sumaiya Tasnim</cp:lastModifiedBy>
  <cp:revision>9</cp:revision>
  <dcterms:created xsi:type="dcterms:W3CDTF">2013-01-27T09:14:16Z</dcterms:created>
  <dcterms:modified xsi:type="dcterms:W3CDTF">2025-09-02T07:57:16Z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0x010100E82DF34261CC124397F3D91909AA7EE8</vt:lpwstr>
  </property>
</Properties>
</file>