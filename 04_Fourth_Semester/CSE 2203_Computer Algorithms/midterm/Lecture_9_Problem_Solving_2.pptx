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66" r:id="rId5"/>
    <p:sldId id="277" r:id="rId6"/>
    <p:sldId id="278" r:id="rId7"/>
    <p:sldId id="276" r:id="rId8"/>
    <p:sldId id="27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052" y="2857500"/>
            <a:ext cx="4359896" cy="1143000"/>
          </a:xfrm>
        </p:spPr>
        <p:txBody>
          <a:bodyPr/>
          <a:lstStyle/>
          <a:p>
            <a:r>
              <a:rPr lang="en-US" dirty="0"/>
              <a:t>Problem Solving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572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Problem: </a:t>
            </a:r>
            <a:r>
              <a:rPr lang="en-US" altLang="en-US" sz="2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It Beautiful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804A00-24FC-36A1-C5AF-FA6FFB3B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73549"/>
            <a:ext cx="8347435" cy="6956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https://codeforces.com/problemset/problem/2118/C 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837FC4-3549-6BDD-718A-439B219F3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31" y="2220760"/>
            <a:ext cx="8403538" cy="28501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93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are given an array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integers.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define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beauty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a number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be the number of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bits in its binary representation.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define the beauty of an array to be the sum of beauties of the numbers it contains.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one operation, you can select an index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(1≤i≤n)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 increase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2000" b="0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by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maximum beauty of the array after doing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most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operations.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977A9-3700-D4D8-93A8-A5981959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3889DEC-0019-7915-831E-77F0AA9AA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56" y="4237976"/>
            <a:ext cx="3296358" cy="21544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Example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+mn-lt"/>
              </a:rPr>
              <a:t>Input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8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880000"/>
                </a:solidFill>
                <a:latin typeface="+mn-lt"/>
              </a:rPr>
              <a:t>2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8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880000"/>
                </a:solidFill>
                <a:latin typeface="+mn-lt"/>
              </a:rPr>
              <a:t>5 2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8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880000"/>
                </a:solidFill>
                <a:latin typeface="+mn-lt"/>
              </a:rPr>
              <a:t>0 1 7 2 4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+mn-lt"/>
              </a:rPr>
              <a:t>5 3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0 1 7 2 4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92DFED-25AA-0437-F406-FA978907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094" y="4822563"/>
            <a:ext cx="1044158" cy="18466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Output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8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8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</a:rPr>
              <a:t>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88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880000"/>
                </a:solidFill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FC8AE33-97A5-01E0-82A3-BAD7D76B2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88" y="94826"/>
                <a:ext cx="8838515" cy="41677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 test contains multiple test cases. The first line contains the number of test cases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(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1≤t≤5000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The description of the test cases follows: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first line of each test case contains two</a:t>
                </a:r>
                <a:r>
                  <a:rPr lang="en-US" altLang="en-US" sz="2000" dirty="0">
                    <a:solidFill>
                      <a:srgbClr val="22222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integers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and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(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1≤n≤5000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0≤k≤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10</m:t>
                        </m:r>
                      </m:e>
                      <m:sup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18</m:t>
                        </m:r>
                      </m:sup>
                    </m:sSup>
                    <m:r>
                      <a:rPr kumimoji="0" lang="en-US" alt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— the length of the array and the maximal number of operations.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22222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second line of each test case contains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integers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,a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,…a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(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0≤a</a:t>
                </a:r>
                <a:r>
                  <a:rPr kumimoji="0" lang="en-US" altLang="en-US" sz="2000" b="0" i="0" u="none" strike="noStrike" cap="none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10</m:t>
                        </m:r>
                      </m:e>
                      <m:sup>
                        <m: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 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—denoting the array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is guaranteed that the sum of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over all test cases does not exceed 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5000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defTabSz="914400"/>
                <a:br>
                  <a:rPr lang="en-US" altLang="en-US" sz="2000" b="1" dirty="0">
                    <a:solidFill>
                      <a:srgbClr val="22222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2000" b="1" dirty="0">
                    <a:solidFill>
                      <a:srgbClr val="22222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Output: </a:t>
                </a:r>
                <a:r>
                  <a:rPr lang="en-US" altLang="en-US" sz="2000" dirty="0">
                    <a:solidFill>
                      <a:srgbClr val="22222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each test case, output a single integer, the maximum beauty after at most </a:t>
                </a:r>
                <a:r>
                  <a:rPr lang="en-US" altLang="en-US" sz="20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altLang="en-US" sz="2000" dirty="0">
                    <a:solidFill>
                      <a:srgbClr val="22222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operations.</a:t>
                </a:r>
                <a:r>
                  <a:rPr lang="en-US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FC8AE33-97A5-01E0-82A3-BAD7D76B2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988" y="94826"/>
                <a:ext cx="8838515" cy="4167744"/>
              </a:xfrm>
              <a:prstGeom prst="rect">
                <a:avLst/>
              </a:prstGeom>
              <a:blipFill>
                <a:blip r:embed="rId2"/>
                <a:stretch>
                  <a:fillRect l="-759" b="-13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45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B4F9-DC74-FC34-A05A-5F0DE2D6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FCCD0B-5AB4-E82B-6746-E744E9924AE9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2772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2F0D-342A-A855-C2FA-7676862F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92C4BD-3190-EA9F-3E6D-0F25B16C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195" y="1690062"/>
            <a:ext cx="752161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 — number of test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each test case:</a:t>
            </a:r>
          </a:p>
          <a:p>
            <a:pPr lvl="5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 — size of array</a:t>
            </a:r>
          </a:p>
          <a:p>
            <a:pPr lvl="5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 — maximum number of operations</a:t>
            </a:r>
          </a:p>
          <a:p>
            <a:pPr lvl="5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a[1..n] — array of integers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r>
              <a:rPr lang="en-US" altLang="en-US" sz="20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Maximum beauty of the array after at most k increment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3F383-C18B-D7AE-E0FD-226B8371F0B0}"/>
              </a:ext>
            </a:extLst>
          </p:cNvPr>
          <p:cNvSpPr txBox="1"/>
          <p:nvPr/>
        </p:nvSpPr>
        <p:spPr>
          <a:xfrm>
            <a:off x="2342560" y="661763"/>
            <a:ext cx="4458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Algorithm: Maximum Beauty of an Array</a:t>
            </a:r>
          </a:p>
        </p:txBody>
      </p:sp>
    </p:spTree>
    <p:extLst>
      <p:ext uri="{BB962C8B-B14F-4D97-AF65-F5344CB8AC3E}">
        <p14:creationId xmlns:p14="http://schemas.microsoft.com/office/powerpoint/2010/main" val="413269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D09B-C751-BE7C-13CC-E5122802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ED050B-CC37-A7A2-F5AA-06F7671300F1}"/>
              </a:ext>
            </a:extLst>
          </p:cNvPr>
          <p:cNvSpPr txBox="1"/>
          <p:nvPr/>
        </p:nvSpPr>
        <p:spPr>
          <a:xfrm>
            <a:off x="4572000" y="61598"/>
            <a:ext cx="4458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Algorithm: Maximum Beauty of an Array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562E9E-4C37-1A06-A59F-E38775B3F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210" y="221043"/>
            <a:ext cx="9016251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Read Input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Read the number of test cases 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each test case, read n, k, and the array 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Compute Initial Beauty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Initialize beauty = 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each element x in a, add the number of 1 bits in its binary representation to beauty.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(__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builtin_popcountll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(x) in C++ or equivalent)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 Increment Operations Greedily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While k &gt; 0: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Initialize index = -1.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each element a[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 in the array: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Compute before = number of 1s in a[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Compute after = number of 1s in a[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 + 1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after &gt; before, set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index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break the loop.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index == -1, no further gain is possible → break.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Otherwise: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Increment a[index] by 1.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Increment beauty by 1.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Decrement k by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Output Result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Print the final value of beauty for the current test case.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Repeat for all test cases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182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15860-1882-99C1-953C-E5A63B9C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4420E-DC88-F079-9792-65D9C9834A7B}"/>
              </a:ext>
            </a:extLst>
          </p:cNvPr>
          <p:cNvSpPr txBox="1"/>
          <p:nvPr/>
        </p:nvSpPr>
        <p:spPr>
          <a:xfrm>
            <a:off x="98981" y="377217"/>
            <a:ext cx="54911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&lt;vector&gt;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t;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t;</a:t>
            </a:r>
          </a:p>
          <a:p>
            <a:r>
              <a:rPr lang="en-US" dirty="0"/>
              <a:t>    while (t--) 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long </a:t>
            </a:r>
            <a:r>
              <a:rPr lang="en-US" dirty="0" err="1"/>
              <a:t>long</a:t>
            </a:r>
            <a:r>
              <a:rPr lang="en-US" dirty="0"/>
              <a:t> n, k;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n &gt;&gt; k;</a:t>
            </a:r>
          </a:p>
          <a:p>
            <a:r>
              <a:rPr lang="en-US" dirty="0"/>
              <a:t>        vector&lt;long long&gt; a(n);</a:t>
            </a:r>
          </a:p>
          <a:p>
            <a:r>
              <a:rPr lang="en-US" dirty="0"/>
              <a:t>        long </a:t>
            </a:r>
            <a:r>
              <a:rPr lang="en-US" dirty="0" err="1"/>
              <a:t>long</a:t>
            </a:r>
            <a:r>
              <a:rPr lang="en-US" dirty="0"/>
              <a:t> beauty = 0;</a:t>
            </a:r>
          </a:p>
          <a:p>
            <a:r>
              <a:rPr lang="en-US" dirty="0"/>
              <a:t>        for (long </a:t>
            </a:r>
            <a:r>
              <a:rPr lang="en-US" dirty="0" err="1"/>
              <a:t>long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cin</a:t>
            </a:r>
            <a:r>
              <a:rPr lang="en-US" dirty="0"/>
              <a:t> &gt;&gt;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beauty += __</a:t>
            </a:r>
            <a:r>
              <a:rPr lang="en-US" dirty="0" err="1"/>
              <a:t>builtin_popcountll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B92F15-C348-D58F-E4A0-38007938AB4E}"/>
              </a:ext>
            </a:extLst>
          </p:cNvPr>
          <p:cNvSpPr txBox="1"/>
          <p:nvPr/>
        </p:nvSpPr>
        <p:spPr>
          <a:xfrm>
            <a:off x="3805285" y="126400"/>
            <a:ext cx="549111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while (k &gt; 0) 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long </a:t>
            </a:r>
            <a:r>
              <a:rPr lang="en-US" dirty="0" err="1"/>
              <a:t>long</a:t>
            </a:r>
            <a:r>
              <a:rPr lang="en-US" dirty="0"/>
              <a:t> index = -1;</a:t>
            </a:r>
          </a:p>
          <a:p>
            <a:r>
              <a:rPr lang="en-US" dirty="0"/>
              <a:t>            for (long </a:t>
            </a:r>
            <a:r>
              <a:rPr lang="en-US" dirty="0" err="1"/>
              <a:t>long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long </a:t>
            </a:r>
            <a:r>
              <a:rPr lang="en-US" dirty="0" err="1"/>
              <a:t>long</a:t>
            </a:r>
            <a:r>
              <a:rPr lang="en-US" dirty="0"/>
              <a:t> before = __</a:t>
            </a:r>
            <a:r>
              <a:rPr lang="en-US" dirty="0" err="1"/>
              <a:t>builtin_popcountll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            long </a:t>
            </a:r>
            <a:r>
              <a:rPr lang="en-US" dirty="0" err="1"/>
              <a:t>long</a:t>
            </a:r>
            <a:r>
              <a:rPr lang="en-US" dirty="0"/>
              <a:t> after = __</a:t>
            </a:r>
            <a:r>
              <a:rPr lang="en-US" dirty="0" err="1"/>
              <a:t>builtin_popcountll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 + 1);</a:t>
            </a:r>
          </a:p>
          <a:p>
            <a:r>
              <a:rPr lang="en-US" dirty="0"/>
              <a:t>                if (after &gt; before) 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index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                break; 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if (index == -1) break; 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/>
              <a:t>a[index</a:t>
            </a:r>
            <a:r>
              <a:rPr lang="en-US" dirty="0"/>
              <a:t>]++; </a:t>
            </a:r>
          </a:p>
          <a:p>
            <a:r>
              <a:rPr lang="en-US" dirty="0"/>
              <a:t>            beauty++;</a:t>
            </a:r>
          </a:p>
          <a:p>
            <a:r>
              <a:rPr lang="en-US" dirty="0"/>
              <a:t>            k--;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beauty &lt;&lt; "\n";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510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B1F1-145F-CEA8-B96B-C03811E8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5FFB3-A9D9-D231-2946-311344AF55B6}"/>
              </a:ext>
            </a:extLst>
          </p:cNvPr>
          <p:cNvSpPr txBox="1"/>
          <p:nvPr/>
        </p:nvSpPr>
        <p:spPr>
          <a:xfrm>
            <a:off x="2952946" y="704712"/>
            <a:ext cx="32381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Complexity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0313E1-EA4A-0C7C-C081-26FB03396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18150"/>
              </p:ext>
            </p:extLst>
          </p:nvPr>
        </p:nvGraphicFramePr>
        <p:xfrm>
          <a:off x="697584" y="2409097"/>
          <a:ext cx="7411823" cy="237971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02343">
                  <a:extLst>
                    <a:ext uri="{9D8B030D-6E8A-4147-A177-3AD203B41FA5}">
                      <a16:colId xmlns:a16="http://schemas.microsoft.com/office/drawing/2014/main" val="1162800810"/>
                    </a:ext>
                  </a:extLst>
                </a:gridCol>
                <a:gridCol w="4444132">
                  <a:extLst>
                    <a:ext uri="{9D8B030D-6E8A-4147-A177-3AD203B41FA5}">
                      <a16:colId xmlns:a16="http://schemas.microsoft.com/office/drawing/2014/main" val="238684847"/>
                    </a:ext>
                  </a:extLst>
                </a:gridCol>
                <a:gridCol w="1165348">
                  <a:extLst>
                    <a:ext uri="{9D8B030D-6E8A-4147-A177-3AD203B41FA5}">
                      <a16:colId xmlns:a16="http://schemas.microsoft.com/office/drawing/2014/main" val="250177409"/>
                    </a:ext>
                  </a:extLst>
                </a:gridCol>
              </a:tblGrid>
              <a:tr h="3916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Complexity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Big-O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288260"/>
                  </a:ext>
                </a:extLst>
              </a:tr>
              <a:tr h="662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Few increments, each O(n)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978913"/>
                  </a:ext>
                </a:extLst>
              </a:tr>
              <a:tr h="662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Huge k → many increments, each O(n)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O(n × 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848214"/>
                  </a:ext>
                </a:extLst>
              </a:tr>
              <a:tr h="662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Moderate k, bounded by bits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O(n × 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10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00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ED19AA-2C08-4424-8DB5-2D9649A21108}"/>
</file>

<file path=customXml/itemProps2.xml><?xml version="1.0" encoding="utf-8"?>
<ds:datastoreItem xmlns:ds="http://schemas.openxmlformats.org/officeDocument/2006/customXml" ds:itemID="{8FFCE3D4-D340-4321-8920-D010B3A5BF6C}"/>
</file>

<file path=customXml/itemProps3.xml><?xml version="1.0" encoding="utf-8"?>
<ds:datastoreItem xmlns:ds="http://schemas.openxmlformats.org/officeDocument/2006/customXml" ds:itemID="{09E2E633-5776-4603-82AA-EC3648AAB5A9}"/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824</Words>
  <Application>Microsoft Office PowerPoint</Application>
  <PresentationFormat>On-screen Show (4:3)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Problem Solving</vt:lpstr>
      <vt:lpstr>Problem: Make It Beautiful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Sumaiya Tasnim</cp:lastModifiedBy>
  <cp:revision>21</cp:revision>
  <dcterms:created xsi:type="dcterms:W3CDTF">2013-01-27T09:14:16Z</dcterms:created>
  <dcterms:modified xsi:type="dcterms:W3CDTF">2025-09-08T09:34:39Z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