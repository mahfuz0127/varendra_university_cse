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Poppins" panose="00000500000000000000" pitchFamily="2" charset="0"/>
      <p:regular r:id="rId13"/>
    </p:embeddedFont>
    <p:embeddedFont>
      <p:font typeface="Poppins Bold" panose="00000800000000000000" charset="0"/>
      <p:regular r:id="rId14"/>
    </p:embeddedFont>
    <p:embeddedFont>
      <p:font typeface="Shrikhan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8" d="100"/>
          <a:sy n="68" d="100"/>
        </p:scale>
        <p:origin x="89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oleObject" Target="../embeddings/oleObject1.bin"/><Relationship Id="rId5" Type="http://schemas.openxmlformats.org/officeDocument/2006/relationships/image" Target="../media/image19.sv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jpe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19.sv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7.sv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514959" y="5142552"/>
            <a:ext cx="8937852" cy="1658982"/>
            <a:chOff x="0" y="0"/>
            <a:chExt cx="2665729" cy="494794"/>
          </a:xfrm>
        </p:grpSpPr>
        <p:sp>
          <p:nvSpPr>
            <p:cNvPr id="3" name="Freeform 3"/>
            <p:cNvSpPr/>
            <p:nvPr/>
          </p:nvSpPr>
          <p:spPr>
            <a:xfrm>
              <a:off x="0" y="0"/>
              <a:ext cx="2665729" cy="494794"/>
            </a:xfrm>
            <a:custGeom>
              <a:avLst/>
              <a:gdLst/>
              <a:ahLst/>
              <a:cxnLst/>
              <a:rect l="l" t="t" r="r" b="b"/>
              <a:pathLst>
                <a:path w="2665729" h="494794">
                  <a:moveTo>
                    <a:pt x="2462529" y="0"/>
                  </a:moveTo>
                  <a:lnTo>
                    <a:pt x="0" y="0"/>
                  </a:lnTo>
                  <a:lnTo>
                    <a:pt x="203200" y="494794"/>
                  </a:lnTo>
                  <a:lnTo>
                    <a:pt x="2665729" y="494794"/>
                  </a:lnTo>
                  <a:lnTo>
                    <a:pt x="2462529" y="0"/>
                  </a:lnTo>
                  <a:close/>
                </a:path>
              </a:pathLst>
            </a:custGeom>
            <a:solidFill>
              <a:srgbClr val="2C426B"/>
            </a:solidFill>
          </p:spPr>
        </p:sp>
        <p:sp>
          <p:nvSpPr>
            <p:cNvPr id="4" name="TextBox 4"/>
            <p:cNvSpPr txBox="1"/>
            <p:nvPr/>
          </p:nvSpPr>
          <p:spPr>
            <a:xfrm>
              <a:off x="101600" y="-38100"/>
              <a:ext cx="2462529" cy="532894"/>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flipH="1">
            <a:off x="-1095210" y="-304746"/>
            <a:ext cx="8641789" cy="10380528"/>
          </a:xfrm>
          <a:custGeom>
            <a:avLst/>
            <a:gdLst/>
            <a:ahLst/>
            <a:cxnLst/>
            <a:rect l="l" t="t" r="r" b="b"/>
            <a:pathLst>
              <a:path w="8641789" h="10380528">
                <a:moveTo>
                  <a:pt x="8641790" y="0"/>
                </a:moveTo>
                <a:lnTo>
                  <a:pt x="0" y="0"/>
                </a:lnTo>
                <a:lnTo>
                  <a:pt x="0" y="10380528"/>
                </a:lnTo>
                <a:lnTo>
                  <a:pt x="8641790" y="10380528"/>
                </a:lnTo>
                <a:lnTo>
                  <a:pt x="864179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flipH="1">
            <a:off x="11632100" y="8345423"/>
            <a:ext cx="6932693" cy="3249700"/>
          </a:xfrm>
          <a:custGeom>
            <a:avLst/>
            <a:gdLst/>
            <a:ahLst/>
            <a:cxnLst/>
            <a:rect l="l" t="t" r="r" b="b"/>
            <a:pathLst>
              <a:path w="6932693" h="3249700">
                <a:moveTo>
                  <a:pt x="6932693" y="0"/>
                </a:moveTo>
                <a:lnTo>
                  <a:pt x="0" y="0"/>
                </a:lnTo>
                <a:lnTo>
                  <a:pt x="0" y="3249699"/>
                </a:lnTo>
                <a:lnTo>
                  <a:pt x="6932693" y="3249699"/>
                </a:lnTo>
                <a:lnTo>
                  <a:pt x="6932693" y="0"/>
                </a:lnTo>
                <a:close/>
              </a:path>
            </a:pathLst>
          </a:custGeom>
          <a:blipFill>
            <a:blip r:embed="rId4"/>
            <a:stretch>
              <a:fillRect/>
            </a:stretch>
          </a:blipFill>
        </p:spPr>
      </p:sp>
      <p:grpSp>
        <p:nvGrpSpPr>
          <p:cNvPr id="7" name="Group 7"/>
          <p:cNvGrpSpPr/>
          <p:nvPr/>
        </p:nvGrpSpPr>
        <p:grpSpPr>
          <a:xfrm>
            <a:off x="-1095210" y="9197774"/>
            <a:ext cx="14278578" cy="1206630"/>
            <a:chOff x="0" y="0"/>
            <a:chExt cx="4193134" cy="354346"/>
          </a:xfrm>
        </p:grpSpPr>
        <p:sp>
          <p:nvSpPr>
            <p:cNvPr id="8" name="Freeform 8"/>
            <p:cNvSpPr/>
            <p:nvPr/>
          </p:nvSpPr>
          <p:spPr>
            <a:xfrm>
              <a:off x="0" y="0"/>
              <a:ext cx="4193134" cy="354346"/>
            </a:xfrm>
            <a:custGeom>
              <a:avLst/>
              <a:gdLst/>
              <a:ahLst/>
              <a:cxnLst/>
              <a:rect l="l" t="t" r="r" b="b"/>
              <a:pathLst>
                <a:path w="4193134" h="354346">
                  <a:moveTo>
                    <a:pt x="3989934" y="0"/>
                  </a:moveTo>
                  <a:lnTo>
                    <a:pt x="0" y="0"/>
                  </a:lnTo>
                  <a:lnTo>
                    <a:pt x="203200" y="354346"/>
                  </a:lnTo>
                  <a:lnTo>
                    <a:pt x="4193134" y="354346"/>
                  </a:lnTo>
                  <a:lnTo>
                    <a:pt x="3989934" y="0"/>
                  </a:lnTo>
                  <a:close/>
                </a:path>
              </a:pathLst>
            </a:custGeom>
            <a:solidFill>
              <a:srgbClr val="2C426B"/>
            </a:solidFill>
          </p:spPr>
        </p:sp>
        <p:sp>
          <p:nvSpPr>
            <p:cNvPr id="9" name="TextBox 9"/>
            <p:cNvSpPr txBox="1"/>
            <p:nvPr/>
          </p:nvSpPr>
          <p:spPr>
            <a:xfrm>
              <a:off x="101600" y="-38100"/>
              <a:ext cx="3989934" cy="392446"/>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16938967" y="0"/>
            <a:ext cx="1349033" cy="1709155"/>
            <a:chOff x="0" y="0"/>
            <a:chExt cx="571381" cy="723910"/>
          </a:xfrm>
        </p:grpSpPr>
        <p:sp>
          <p:nvSpPr>
            <p:cNvPr id="11" name="Freeform 11"/>
            <p:cNvSpPr/>
            <p:nvPr/>
          </p:nvSpPr>
          <p:spPr>
            <a:xfrm>
              <a:off x="0" y="0"/>
              <a:ext cx="571381" cy="723910"/>
            </a:xfrm>
            <a:custGeom>
              <a:avLst/>
              <a:gdLst/>
              <a:ahLst/>
              <a:cxnLst/>
              <a:rect l="l" t="t" r="r" b="b"/>
              <a:pathLst>
                <a:path w="571381" h="723910">
                  <a:moveTo>
                    <a:pt x="571381" y="0"/>
                  </a:moveTo>
                  <a:lnTo>
                    <a:pt x="571381" y="723910"/>
                  </a:lnTo>
                  <a:lnTo>
                    <a:pt x="285691" y="596910"/>
                  </a:lnTo>
                  <a:lnTo>
                    <a:pt x="0" y="723910"/>
                  </a:lnTo>
                  <a:lnTo>
                    <a:pt x="0" y="0"/>
                  </a:lnTo>
                  <a:lnTo>
                    <a:pt x="571381" y="0"/>
                  </a:lnTo>
                  <a:close/>
                </a:path>
              </a:pathLst>
            </a:custGeom>
            <a:solidFill>
              <a:srgbClr val="FFFFFF">
                <a:alpha val="71765"/>
              </a:srgbClr>
            </a:solidFill>
            <a:ln cap="sq">
              <a:noFill/>
              <a:prstDash val="dash"/>
              <a:miter/>
            </a:ln>
          </p:spPr>
        </p:sp>
        <p:sp>
          <p:nvSpPr>
            <p:cNvPr id="12" name="TextBox 12"/>
            <p:cNvSpPr txBox="1"/>
            <p:nvPr/>
          </p:nvSpPr>
          <p:spPr>
            <a:xfrm>
              <a:off x="0" y="-104775"/>
              <a:ext cx="571381" cy="701685"/>
            </a:xfrm>
            <a:prstGeom prst="rect">
              <a:avLst/>
            </a:prstGeom>
          </p:spPr>
          <p:txBody>
            <a:bodyPr lIns="127000" tIns="127000" rIns="127000" bIns="127000" rtlCol="0" anchor="ctr"/>
            <a:lstStyle/>
            <a:p>
              <a:pPr algn="ctr">
                <a:lnSpc>
                  <a:spcPts val="8122"/>
                </a:lnSpc>
              </a:pPr>
              <a:r>
                <a:rPr lang="en-US" sz="5801">
                  <a:solidFill>
                    <a:srgbClr val="000000">
                      <a:alpha val="71765"/>
                    </a:srgbClr>
                  </a:solidFill>
                  <a:latin typeface="Shrikhand"/>
                  <a:ea typeface="Shrikhand"/>
                  <a:cs typeface="Shrikhand"/>
                  <a:sym typeface="Shrikhand"/>
                </a:rPr>
                <a:t>01</a:t>
              </a:r>
            </a:p>
          </p:txBody>
        </p:sp>
      </p:grpSp>
      <p:sp>
        <p:nvSpPr>
          <p:cNvPr id="13" name="TextBox 13"/>
          <p:cNvSpPr txBox="1"/>
          <p:nvPr/>
        </p:nvSpPr>
        <p:spPr>
          <a:xfrm>
            <a:off x="7392358" y="5284575"/>
            <a:ext cx="8260110" cy="1374935"/>
          </a:xfrm>
          <a:prstGeom prst="rect">
            <a:avLst/>
          </a:prstGeom>
        </p:spPr>
        <p:txBody>
          <a:bodyPr lIns="0" tIns="0" rIns="0" bIns="0" rtlCol="0" anchor="t">
            <a:spAutoFit/>
          </a:bodyPr>
          <a:lstStyle/>
          <a:p>
            <a:pPr algn="l">
              <a:lnSpc>
                <a:spcPts val="5238"/>
              </a:lnSpc>
            </a:pPr>
            <a:r>
              <a:rPr lang="en-US" sz="4762" b="1">
                <a:solidFill>
                  <a:srgbClr val="FFFFFF"/>
                </a:solidFill>
                <a:latin typeface="Poppins Bold"/>
                <a:ea typeface="Poppins Bold"/>
                <a:cs typeface="Poppins Bold"/>
                <a:sym typeface="Poppins Bold"/>
              </a:rPr>
              <a:t>CSE_2207 </a:t>
            </a:r>
          </a:p>
          <a:p>
            <a:pPr algn="l">
              <a:lnSpc>
                <a:spcPts val="5238"/>
              </a:lnSpc>
              <a:spcBef>
                <a:spcPct val="0"/>
              </a:spcBef>
            </a:pPr>
            <a:r>
              <a:rPr lang="en-US" sz="4762" b="1">
                <a:solidFill>
                  <a:srgbClr val="FFFFFF"/>
                </a:solidFill>
                <a:latin typeface="Poppins Bold"/>
                <a:ea typeface="Poppins Bold"/>
                <a:cs typeface="Poppins Bold"/>
                <a:sym typeface="Poppins Bold"/>
              </a:rPr>
              <a:t>Computer Networks</a:t>
            </a:r>
          </a:p>
        </p:txBody>
      </p:sp>
      <p:sp>
        <p:nvSpPr>
          <p:cNvPr id="14" name="TextBox 14"/>
          <p:cNvSpPr txBox="1"/>
          <p:nvPr/>
        </p:nvSpPr>
        <p:spPr>
          <a:xfrm>
            <a:off x="8147306" y="1652005"/>
            <a:ext cx="7736104" cy="2365296"/>
          </a:xfrm>
          <a:prstGeom prst="rect">
            <a:avLst/>
          </a:prstGeom>
        </p:spPr>
        <p:txBody>
          <a:bodyPr lIns="0" tIns="0" rIns="0" bIns="0" rtlCol="0" anchor="t">
            <a:spAutoFit/>
          </a:bodyPr>
          <a:lstStyle/>
          <a:p>
            <a:pPr algn="l">
              <a:lnSpc>
                <a:spcPts val="6125"/>
              </a:lnSpc>
            </a:pPr>
            <a:r>
              <a:rPr lang="en-US" sz="5062" b="1">
                <a:solidFill>
                  <a:srgbClr val="000000"/>
                </a:solidFill>
                <a:latin typeface="Poppins Bold"/>
                <a:ea typeface="Poppins Bold"/>
                <a:cs typeface="Poppins Bold"/>
                <a:sym typeface="Poppins Bold"/>
              </a:rPr>
              <a:t>HOW CLOUD AND IOT TECHNOLOGIES USE THE OSI MODEL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9332867" y="-496022"/>
            <a:ext cx="8975062" cy="10911929"/>
          </a:xfrm>
          <a:custGeom>
            <a:avLst/>
            <a:gdLst/>
            <a:ahLst/>
            <a:cxnLst/>
            <a:rect l="l" t="t" r="r" b="b"/>
            <a:pathLst>
              <a:path w="8975062" h="10911929">
                <a:moveTo>
                  <a:pt x="8975062" y="0"/>
                </a:moveTo>
                <a:lnTo>
                  <a:pt x="0" y="0"/>
                </a:lnTo>
                <a:lnTo>
                  <a:pt x="0" y="10911929"/>
                </a:lnTo>
                <a:lnTo>
                  <a:pt x="8975062" y="10911929"/>
                </a:lnTo>
                <a:lnTo>
                  <a:pt x="8975062"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AutoShape 3"/>
          <p:cNvSpPr/>
          <p:nvPr/>
        </p:nvSpPr>
        <p:spPr>
          <a:xfrm flipV="1">
            <a:off x="10396620" y="-491094"/>
            <a:ext cx="3260033" cy="5614389"/>
          </a:xfrm>
          <a:prstGeom prst="line">
            <a:avLst/>
          </a:prstGeom>
          <a:ln w="114300" cap="rnd">
            <a:solidFill>
              <a:srgbClr val="2C426B"/>
            </a:solidFill>
            <a:prstDash val="solid"/>
            <a:headEnd type="none" w="sm" len="sm"/>
            <a:tailEnd type="none" w="sm" len="sm"/>
          </a:ln>
        </p:spPr>
      </p:sp>
      <p:sp>
        <p:nvSpPr>
          <p:cNvPr id="4" name="AutoShape 4"/>
          <p:cNvSpPr/>
          <p:nvPr/>
        </p:nvSpPr>
        <p:spPr>
          <a:xfrm flipV="1">
            <a:off x="10264603" y="-496022"/>
            <a:ext cx="3197417" cy="5538089"/>
          </a:xfrm>
          <a:prstGeom prst="line">
            <a:avLst/>
          </a:prstGeom>
          <a:ln w="114300" cap="rnd">
            <a:solidFill>
              <a:srgbClr val="2C426B"/>
            </a:solidFill>
            <a:prstDash val="solid"/>
            <a:headEnd type="none" w="sm" len="sm"/>
            <a:tailEnd type="none" w="sm" len="sm"/>
          </a:ln>
        </p:spPr>
      </p:sp>
      <p:grpSp>
        <p:nvGrpSpPr>
          <p:cNvPr id="5" name="Group 5"/>
          <p:cNvGrpSpPr/>
          <p:nvPr/>
        </p:nvGrpSpPr>
        <p:grpSpPr>
          <a:xfrm>
            <a:off x="-886932" y="2147088"/>
            <a:ext cx="9387360" cy="584390"/>
            <a:chOff x="0" y="0"/>
            <a:chExt cx="5404299" cy="336433"/>
          </a:xfrm>
        </p:grpSpPr>
        <p:sp>
          <p:nvSpPr>
            <p:cNvPr id="6" name="Freeform 6"/>
            <p:cNvSpPr/>
            <p:nvPr/>
          </p:nvSpPr>
          <p:spPr>
            <a:xfrm>
              <a:off x="0" y="0"/>
              <a:ext cx="5404299" cy="336433"/>
            </a:xfrm>
            <a:custGeom>
              <a:avLst/>
              <a:gdLst/>
              <a:ahLst/>
              <a:cxnLst/>
              <a:rect l="l" t="t" r="r" b="b"/>
              <a:pathLst>
                <a:path w="5404299" h="336433">
                  <a:moveTo>
                    <a:pt x="5201099" y="0"/>
                  </a:moveTo>
                  <a:lnTo>
                    <a:pt x="0" y="0"/>
                  </a:lnTo>
                  <a:lnTo>
                    <a:pt x="203200" y="336433"/>
                  </a:lnTo>
                  <a:lnTo>
                    <a:pt x="5404299" y="336433"/>
                  </a:lnTo>
                  <a:lnTo>
                    <a:pt x="5201099" y="0"/>
                  </a:lnTo>
                  <a:close/>
                </a:path>
              </a:pathLst>
            </a:custGeom>
            <a:solidFill>
              <a:srgbClr val="2C426B"/>
            </a:solidFill>
          </p:spPr>
        </p:sp>
        <p:sp>
          <p:nvSpPr>
            <p:cNvPr id="7" name="TextBox 7"/>
            <p:cNvSpPr txBox="1"/>
            <p:nvPr/>
          </p:nvSpPr>
          <p:spPr>
            <a:xfrm>
              <a:off x="101600" y="-38100"/>
              <a:ext cx="5201099" cy="37453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6938967" y="0"/>
            <a:ext cx="1349033" cy="1709155"/>
            <a:chOff x="0" y="0"/>
            <a:chExt cx="571381" cy="723910"/>
          </a:xfrm>
        </p:grpSpPr>
        <p:sp>
          <p:nvSpPr>
            <p:cNvPr id="9" name="Freeform 9"/>
            <p:cNvSpPr/>
            <p:nvPr/>
          </p:nvSpPr>
          <p:spPr>
            <a:xfrm>
              <a:off x="0" y="0"/>
              <a:ext cx="571381" cy="723910"/>
            </a:xfrm>
            <a:custGeom>
              <a:avLst/>
              <a:gdLst/>
              <a:ahLst/>
              <a:cxnLst/>
              <a:rect l="l" t="t" r="r" b="b"/>
              <a:pathLst>
                <a:path w="571381" h="723910">
                  <a:moveTo>
                    <a:pt x="571381" y="0"/>
                  </a:moveTo>
                  <a:lnTo>
                    <a:pt x="571381" y="723910"/>
                  </a:lnTo>
                  <a:lnTo>
                    <a:pt x="285691" y="596910"/>
                  </a:lnTo>
                  <a:lnTo>
                    <a:pt x="0" y="723910"/>
                  </a:lnTo>
                  <a:lnTo>
                    <a:pt x="0" y="0"/>
                  </a:lnTo>
                  <a:lnTo>
                    <a:pt x="571381" y="0"/>
                  </a:lnTo>
                  <a:close/>
                </a:path>
              </a:pathLst>
            </a:custGeom>
            <a:solidFill>
              <a:srgbClr val="FFFFFF">
                <a:alpha val="67843"/>
              </a:srgbClr>
            </a:solidFill>
            <a:ln cap="sq">
              <a:noFill/>
              <a:prstDash val="dash"/>
              <a:miter/>
            </a:ln>
          </p:spPr>
        </p:sp>
        <p:sp>
          <p:nvSpPr>
            <p:cNvPr id="10" name="TextBox 10"/>
            <p:cNvSpPr txBox="1"/>
            <p:nvPr/>
          </p:nvSpPr>
          <p:spPr>
            <a:xfrm>
              <a:off x="0" y="-104775"/>
              <a:ext cx="571381" cy="701685"/>
            </a:xfrm>
            <a:prstGeom prst="rect">
              <a:avLst/>
            </a:prstGeom>
          </p:spPr>
          <p:txBody>
            <a:bodyPr lIns="127000" tIns="127000" rIns="127000" bIns="127000" rtlCol="0" anchor="ctr"/>
            <a:lstStyle/>
            <a:p>
              <a:pPr algn="ctr">
                <a:lnSpc>
                  <a:spcPts val="8122"/>
                </a:lnSpc>
              </a:pPr>
              <a:r>
                <a:rPr lang="en-US" sz="5801">
                  <a:solidFill>
                    <a:srgbClr val="000000">
                      <a:alpha val="67843"/>
                    </a:srgbClr>
                  </a:solidFill>
                  <a:latin typeface="Shrikhand"/>
                  <a:ea typeface="Shrikhand"/>
                  <a:cs typeface="Shrikhand"/>
                  <a:sym typeface="Shrikhand"/>
                </a:rPr>
                <a:t>02</a:t>
              </a:r>
            </a:p>
          </p:txBody>
        </p:sp>
      </p:grpSp>
      <p:sp>
        <p:nvSpPr>
          <p:cNvPr id="11" name="TextBox 11"/>
          <p:cNvSpPr txBox="1"/>
          <p:nvPr/>
        </p:nvSpPr>
        <p:spPr>
          <a:xfrm>
            <a:off x="1045701" y="2888138"/>
            <a:ext cx="8589296" cy="4394148"/>
          </a:xfrm>
          <a:prstGeom prst="rect">
            <a:avLst/>
          </a:prstGeom>
        </p:spPr>
        <p:txBody>
          <a:bodyPr lIns="0" tIns="0" rIns="0" bIns="0" rtlCol="0" anchor="t">
            <a:spAutoFit/>
          </a:bodyPr>
          <a:lstStyle/>
          <a:p>
            <a:pPr algn="just">
              <a:lnSpc>
                <a:spcPts val="3502"/>
              </a:lnSpc>
            </a:pPr>
            <a:r>
              <a:rPr lang="en-US" sz="2502">
                <a:solidFill>
                  <a:srgbClr val="000000"/>
                </a:solidFill>
                <a:latin typeface="Poppins"/>
                <a:ea typeface="Poppins"/>
                <a:cs typeface="Poppins"/>
                <a:sym typeface="Poppins"/>
              </a:rPr>
              <a:t>Cloud computing and the Internet of Things (IoT) are two of the most important technologies in today’s digital world. Both depend on smooth communication between devices and networks. The OSI (Open Systems Interconnection) model provides a standard framework that helps these technologies communicate efficiently by dividing the communication process into seven layers — from the physical transmission of data to the final user applications.</a:t>
            </a:r>
          </a:p>
        </p:txBody>
      </p:sp>
      <p:sp>
        <p:nvSpPr>
          <p:cNvPr id="12" name="TextBox 12"/>
          <p:cNvSpPr txBox="1"/>
          <p:nvPr/>
        </p:nvSpPr>
        <p:spPr>
          <a:xfrm>
            <a:off x="1020553" y="1132551"/>
            <a:ext cx="11314035" cy="785937"/>
          </a:xfrm>
          <a:prstGeom prst="rect">
            <a:avLst/>
          </a:prstGeom>
        </p:spPr>
        <p:txBody>
          <a:bodyPr lIns="0" tIns="0" rIns="0" bIns="0" rtlCol="0" anchor="t">
            <a:spAutoFit/>
          </a:bodyPr>
          <a:lstStyle/>
          <a:p>
            <a:pPr algn="l">
              <a:lnSpc>
                <a:spcPts val="5622"/>
              </a:lnSpc>
              <a:spcBef>
                <a:spcPct val="0"/>
              </a:spcBef>
            </a:pPr>
            <a:r>
              <a:rPr lang="en-US" sz="5110" b="1">
                <a:solidFill>
                  <a:srgbClr val="000000"/>
                </a:solidFill>
                <a:latin typeface="Poppins Bold"/>
                <a:ea typeface="Poppins Bold"/>
                <a:cs typeface="Poppins Bold"/>
                <a:sym typeface="Poppins Bold"/>
              </a:rPr>
              <a:t>INTRODUCTION</a:t>
            </a:r>
          </a:p>
        </p:txBody>
      </p:sp>
      <p:sp>
        <p:nvSpPr>
          <p:cNvPr id="13" name="TextBox 13"/>
          <p:cNvSpPr txBox="1"/>
          <p:nvPr/>
        </p:nvSpPr>
        <p:spPr>
          <a:xfrm>
            <a:off x="1020553" y="2263497"/>
            <a:ext cx="7454727" cy="646845"/>
          </a:xfrm>
          <a:prstGeom prst="rect">
            <a:avLst/>
          </a:prstGeom>
        </p:spPr>
        <p:txBody>
          <a:bodyPr lIns="0" tIns="0" rIns="0" bIns="0" rtlCol="0" anchor="t">
            <a:spAutoFit/>
          </a:bodyPr>
          <a:lstStyle/>
          <a:p>
            <a:pPr algn="l">
              <a:lnSpc>
                <a:spcPts val="2400"/>
              </a:lnSpc>
            </a:pPr>
            <a:r>
              <a:rPr lang="en-US" sz="2182" b="1">
                <a:solidFill>
                  <a:srgbClr val="FFFFFF"/>
                </a:solidFill>
                <a:latin typeface="Poppins Bold"/>
                <a:ea typeface="Poppins Bold"/>
                <a:cs typeface="Poppins Bold"/>
                <a:sym typeface="Poppins Bold"/>
              </a:rPr>
              <a:t>Objective:</a:t>
            </a:r>
          </a:p>
          <a:p>
            <a:pPr algn="l">
              <a:lnSpc>
                <a:spcPts val="2400"/>
              </a:lnSpc>
              <a:spcBef>
                <a:spcPct val="0"/>
              </a:spcBef>
            </a:pPr>
            <a:endParaRPr lang="en-US" sz="2182" b="1">
              <a:solidFill>
                <a:srgbClr val="FFFFFF"/>
              </a:solidFill>
              <a:latin typeface="Poppins Bold"/>
              <a:ea typeface="Poppins Bold"/>
              <a:cs typeface="Poppins Bold"/>
              <a:sym typeface="Poppins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95976" y="1311063"/>
            <a:ext cx="12470266" cy="1065272"/>
            <a:chOff x="0" y="0"/>
            <a:chExt cx="4396630" cy="375582"/>
          </a:xfrm>
        </p:grpSpPr>
        <p:sp>
          <p:nvSpPr>
            <p:cNvPr id="3" name="Freeform 3"/>
            <p:cNvSpPr/>
            <p:nvPr/>
          </p:nvSpPr>
          <p:spPr>
            <a:xfrm>
              <a:off x="0" y="0"/>
              <a:ext cx="4396630" cy="375582"/>
            </a:xfrm>
            <a:custGeom>
              <a:avLst/>
              <a:gdLst/>
              <a:ahLst/>
              <a:cxnLst/>
              <a:rect l="l" t="t" r="r" b="b"/>
              <a:pathLst>
                <a:path w="4396630" h="375582">
                  <a:moveTo>
                    <a:pt x="203200" y="0"/>
                  </a:moveTo>
                  <a:lnTo>
                    <a:pt x="4396630" y="0"/>
                  </a:lnTo>
                  <a:lnTo>
                    <a:pt x="4193430" y="375582"/>
                  </a:lnTo>
                  <a:lnTo>
                    <a:pt x="0" y="375582"/>
                  </a:lnTo>
                  <a:lnTo>
                    <a:pt x="203200" y="0"/>
                  </a:lnTo>
                  <a:close/>
                </a:path>
              </a:pathLst>
            </a:custGeom>
            <a:solidFill>
              <a:srgbClr val="2C426B"/>
            </a:solidFill>
          </p:spPr>
        </p:sp>
        <p:sp>
          <p:nvSpPr>
            <p:cNvPr id="4" name="TextBox 4"/>
            <p:cNvSpPr txBox="1"/>
            <p:nvPr/>
          </p:nvSpPr>
          <p:spPr>
            <a:xfrm>
              <a:off x="101600" y="-38100"/>
              <a:ext cx="4193430" cy="413682"/>
            </a:xfrm>
            <a:prstGeom prst="rect">
              <a:avLst/>
            </a:prstGeom>
          </p:spPr>
          <p:txBody>
            <a:bodyPr lIns="50800" tIns="50800" rIns="50800" bIns="50800" rtlCol="0" anchor="ctr"/>
            <a:lstStyle/>
            <a:p>
              <a:pPr algn="ctr">
                <a:lnSpc>
                  <a:spcPts val="2514"/>
                </a:lnSpc>
              </a:pPr>
              <a:endParaRPr/>
            </a:p>
          </p:txBody>
        </p:sp>
      </p:grpSp>
      <p:sp>
        <p:nvSpPr>
          <p:cNvPr id="5" name="Freeform 5"/>
          <p:cNvSpPr/>
          <p:nvPr/>
        </p:nvSpPr>
        <p:spPr>
          <a:xfrm>
            <a:off x="6057405" y="4760574"/>
            <a:ext cx="791422" cy="644020"/>
          </a:xfrm>
          <a:custGeom>
            <a:avLst/>
            <a:gdLst/>
            <a:ahLst/>
            <a:cxnLst/>
            <a:rect l="l" t="t" r="r" b="b"/>
            <a:pathLst>
              <a:path w="791422" h="644020">
                <a:moveTo>
                  <a:pt x="0" y="0"/>
                </a:moveTo>
                <a:lnTo>
                  <a:pt x="791422" y="0"/>
                </a:lnTo>
                <a:lnTo>
                  <a:pt x="791422" y="644020"/>
                </a:lnTo>
                <a:lnTo>
                  <a:pt x="0" y="6440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844047" y="-495300"/>
            <a:ext cx="7315200" cy="1524000"/>
          </a:xfrm>
          <a:custGeom>
            <a:avLst/>
            <a:gdLst/>
            <a:ahLst/>
            <a:cxnLst/>
            <a:rect l="l" t="t" r="r" b="b"/>
            <a:pathLst>
              <a:path w="7315200" h="1524000">
                <a:moveTo>
                  <a:pt x="0" y="0"/>
                </a:moveTo>
                <a:lnTo>
                  <a:pt x="7315200" y="0"/>
                </a:lnTo>
                <a:lnTo>
                  <a:pt x="7315200" y="1524000"/>
                </a:lnTo>
                <a:lnTo>
                  <a:pt x="0" y="1524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H="1" flipV="1">
            <a:off x="11809963" y="9239529"/>
            <a:ext cx="7315200" cy="1524000"/>
          </a:xfrm>
          <a:custGeom>
            <a:avLst/>
            <a:gdLst/>
            <a:ahLst/>
            <a:cxnLst/>
            <a:rect l="l" t="t" r="r" b="b"/>
            <a:pathLst>
              <a:path w="7315200" h="1524000">
                <a:moveTo>
                  <a:pt x="7315200" y="1524000"/>
                </a:moveTo>
                <a:lnTo>
                  <a:pt x="0" y="1524000"/>
                </a:lnTo>
                <a:lnTo>
                  <a:pt x="0" y="0"/>
                </a:lnTo>
                <a:lnTo>
                  <a:pt x="7315200" y="0"/>
                </a:lnTo>
                <a:lnTo>
                  <a:pt x="7315200" y="15240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4806082" y="1390839"/>
            <a:ext cx="11284127" cy="831850"/>
          </a:xfrm>
          <a:prstGeom prst="rect">
            <a:avLst/>
          </a:prstGeom>
        </p:spPr>
        <p:txBody>
          <a:bodyPr lIns="0" tIns="0" rIns="0" bIns="0" rtlCol="0" anchor="t">
            <a:spAutoFit/>
          </a:bodyPr>
          <a:lstStyle/>
          <a:p>
            <a:pPr algn="l">
              <a:lnSpc>
                <a:spcPts val="6049"/>
              </a:lnSpc>
              <a:spcBef>
                <a:spcPct val="0"/>
              </a:spcBef>
            </a:pPr>
            <a:r>
              <a:rPr lang="en-US" sz="5499" b="1">
                <a:solidFill>
                  <a:srgbClr val="FFFFFF"/>
                </a:solidFill>
                <a:latin typeface="Poppins Bold"/>
                <a:ea typeface="Poppins Bold"/>
                <a:cs typeface="Poppins Bold"/>
                <a:sym typeface="Poppins Bold"/>
              </a:rPr>
              <a:t>WHAT IS THE OSI MODEL?</a:t>
            </a:r>
          </a:p>
        </p:txBody>
      </p:sp>
      <p:sp>
        <p:nvSpPr>
          <p:cNvPr id="9" name="TextBox 9"/>
          <p:cNvSpPr txBox="1"/>
          <p:nvPr/>
        </p:nvSpPr>
        <p:spPr>
          <a:xfrm>
            <a:off x="2166981" y="2717196"/>
            <a:ext cx="14399261" cy="1471878"/>
          </a:xfrm>
          <a:prstGeom prst="rect">
            <a:avLst/>
          </a:prstGeom>
        </p:spPr>
        <p:txBody>
          <a:bodyPr lIns="0" tIns="0" rIns="0" bIns="0" rtlCol="0" anchor="t">
            <a:spAutoFit/>
          </a:bodyPr>
          <a:lstStyle/>
          <a:p>
            <a:pPr algn="just">
              <a:lnSpc>
                <a:spcPts val="4062"/>
              </a:lnSpc>
            </a:pPr>
            <a:r>
              <a:rPr lang="en-US" sz="2902" b="1">
                <a:solidFill>
                  <a:srgbClr val="000000"/>
                </a:solidFill>
                <a:latin typeface="Poppins Bold"/>
                <a:ea typeface="Poppins Bold"/>
                <a:cs typeface="Poppins Bold"/>
                <a:sym typeface="Poppins Bold"/>
              </a:rPr>
              <a:t>Definition:</a:t>
            </a:r>
          </a:p>
          <a:p>
            <a:pPr marL="583370" lvl="1" indent="-291685" algn="just">
              <a:lnSpc>
                <a:spcPts val="3782"/>
              </a:lnSpc>
              <a:buFont typeface="Arial"/>
              <a:buChar char="•"/>
            </a:pPr>
            <a:r>
              <a:rPr lang="en-US" sz="2702">
                <a:solidFill>
                  <a:srgbClr val="000000"/>
                </a:solidFill>
                <a:latin typeface="Poppins"/>
                <a:ea typeface="Poppins"/>
                <a:cs typeface="Poppins"/>
                <a:sym typeface="Poppins"/>
              </a:rPr>
              <a:t>OSI (Open Systems Interconnection) Model is a 7-layer framework describing how data travels through a network</a:t>
            </a:r>
          </a:p>
        </p:txBody>
      </p:sp>
      <p:sp>
        <p:nvSpPr>
          <p:cNvPr id="10" name="TextBox 10"/>
          <p:cNvSpPr txBox="1"/>
          <p:nvPr/>
        </p:nvSpPr>
        <p:spPr>
          <a:xfrm>
            <a:off x="6926945" y="4858614"/>
            <a:ext cx="2238021" cy="780201"/>
          </a:xfrm>
          <a:prstGeom prst="rect">
            <a:avLst/>
          </a:prstGeom>
        </p:spPr>
        <p:txBody>
          <a:bodyPr lIns="0" tIns="0" rIns="0" bIns="0" rtlCol="0" anchor="t">
            <a:spAutoFit/>
          </a:bodyPr>
          <a:lstStyle/>
          <a:p>
            <a:pPr algn="l">
              <a:lnSpc>
                <a:spcPts val="3074"/>
              </a:lnSpc>
            </a:pPr>
            <a:r>
              <a:rPr lang="en-US" sz="2195" b="1">
                <a:solidFill>
                  <a:srgbClr val="000000"/>
                </a:solidFill>
                <a:latin typeface="Poppins Bold"/>
                <a:ea typeface="Poppins Bold"/>
                <a:cs typeface="Poppins Bold"/>
                <a:sym typeface="Poppins Bold"/>
              </a:rPr>
              <a:t>Layers:</a:t>
            </a:r>
          </a:p>
          <a:p>
            <a:pPr algn="l">
              <a:lnSpc>
                <a:spcPts val="3074"/>
              </a:lnSpc>
            </a:pPr>
            <a:endParaRPr lang="en-US" sz="2195" b="1">
              <a:solidFill>
                <a:srgbClr val="000000"/>
              </a:solidFill>
              <a:latin typeface="Poppins Bold"/>
              <a:ea typeface="Poppins Bold"/>
              <a:cs typeface="Poppins Bold"/>
              <a:sym typeface="Poppins Bold"/>
            </a:endParaRPr>
          </a:p>
        </p:txBody>
      </p:sp>
      <p:sp>
        <p:nvSpPr>
          <p:cNvPr id="11" name="TextBox 11"/>
          <p:cNvSpPr txBox="1"/>
          <p:nvPr/>
        </p:nvSpPr>
        <p:spPr>
          <a:xfrm>
            <a:off x="6848827" y="5453260"/>
            <a:ext cx="3734675" cy="3341318"/>
          </a:xfrm>
          <a:prstGeom prst="rect">
            <a:avLst/>
          </a:prstGeom>
        </p:spPr>
        <p:txBody>
          <a:bodyPr lIns="0" tIns="0" rIns="0" bIns="0" rtlCol="0" anchor="t">
            <a:spAutoFit/>
          </a:bodyPr>
          <a:lstStyle/>
          <a:p>
            <a:pPr marL="583370" lvl="1" indent="-291685" algn="l">
              <a:lnSpc>
                <a:spcPts val="3782"/>
              </a:lnSpc>
              <a:buFont typeface="Arial"/>
              <a:buChar char="•"/>
            </a:pPr>
            <a:r>
              <a:rPr lang="en-US" sz="2702">
                <a:solidFill>
                  <a:srgbClr val="000000"/>
                </a:solidFill>
                <a:latin typeface="Poppins"/>
                <a:ea typeface="Poppins"/>
                <a:cs typeface="Poppins"/>
                <a:sym typeface="Poppins"/>
              </a:rPr>
              <a:t>Physical </a:t>
            </a:r>
          </a:p>
          <a:p>
            <a:pPr marL="583370" lvl="1" indent="-291685" algn="l">
              <a:lnSpc>
                <a:spcPts val="3782"/>
              </a:lnSpc>
              <a:buFont typeface="Arial"/>
              <a:buChar char="•"/>
            </a:pPr>
            <a:r>
              <a:rPr lang="en-US" sz="2702">
                <a:solidFill>
                  <a:srgbClr val="000000"/>
                </a:solidFill>
                <a:latin typeface="Poppins"/>
                <a:ea typeface="Poppins"/>
                <a:cs typeface="Poppins"/>
                <a:sym typeface="Poppins"/>
              </a:rPr>
              <a:t>Data Link </a:t>
            </a:r>
          </a:p>
          <a:p>
            <a:pPr marL="583370" lvl="1" indent="-291685" algn="l">
              <a:lnSpc>
                <a:spcPts val="3782"/>
              </a:lnSpc>
              <a:buFont typeface="Arial"/>
              <a:buChar char="•"/>
            </a:pPr>
            <a:r>
              <a:rPr lang="en-US" sz="2702">
                <a:solidFill>
                  <a:srgbClr val="000000"/>
                </a:solidFill>
                <a:latin typeface="Poppins"/>
                <a:ea typeface="Poppins"/>
                <a:cs typeface="Poppins"/>
                <a:sym typeface="Poppins"/>
              </a:rPr>
              <a:t>Network </a:t>
            </a:r>
          </a:p>
          <a:p>
            <a:pPr marL="583370" lvl="1" indent="-291685" algn="l">
              <a:lnSpc>
                <a:spcPts val="3782"/>
              </a:lnSpc>
              <a:buFont typeface="Arial"/>
              <a:buChar char="•"/>
            </a:pPr>
            <a:r>
              <a:rPr lang="en-US" sz="2702">
                <a:solidFill>
                  <a:srgbClr val="000000"/>
                </a:solidFill>
                <a:latin typeface="Poppins"/>
                <a:ea typeface="Poppins"/>
                <a:cs typeface="Poppins"/>
                <a:sym typeface="Poppins"/>
              </a:rPr>
              <a:t>Transport </a:t>
            </a:r>
          </a:p>
          <a:p>
            <a:pPr marL="583370" lvl="1" indent="-291685" algn="l">
              <a:lnSpc>
                <a:spcPts val="3782"/>
              </a:lnSpc>
              <a:buFont typeface="Arial"/>
              <a:buChar char="•"/>
            </a:pPr>
            <a:r>
              <a:rPr lang="en-US" sz="2702">
                <a:solidFill>
                  <a:srgbClr val="000000"/>
                </a:solidFill>
                <a:latin typeface="Poppins"/>
                <a:ea typeface="Poppins"/>
                <a:cs typeface="Poppins"/>
                <a:sym typeface="Poppins"/>
              </a:rPr>
              <a:t>Session </a:t>
            </a:r>
          </a:p>
          <a:p>
            <a:pPr marL="583370" lvl="1" indent="-291685" algn="l">
              <a:lnSpc>
                <a:spcPts val="3782"/>
              </a:lnSpc>
              <a:buFont typeface="Arial"/>
              <a:buChar char="•"/>
            </a:pPr>
            <a:r>
              <a:rPr lang="en-US" sz="2702">
                <a:solidFill>
                  <a:srgbClr val="000000"/>
                </a:solidFill>
                <a:latin typeface="Poppins"/>
                <a:ea typeface="Poppins"/>
                <a:cs typeface="Poppins"/>
                <a:sym typeface="Poppins"/>
              </a:rPr>
              <a:t>Presentation </a:t>
            </a:r>
          </a:p>
          <a:p>
            <a:pPr marL="583370" lvl="1" indent="-291685" algn="l">
              <a:lnSpc>
                <a:spcPts val="3782"/>
              </a:lnSpc>
              <a:buFont typeface="Arial"/>
              <a:buChar char="•"/>
            </a:pPr>
            <a:r>
              <a:rPr lang="en-US" sz="2702">
                <a:solidFill>
                  <a:srgbClr val="000000"/>
                </a:solidFill>
                <a:latin typeface="Poppins"/>
                <a:ea typeface="Poppins"/>
                <a:cs typeface="Poppins"/>
                <a:sym typeface="Poppins"/>
              </a:rPr>
              <a:t>Application</a:t>
            </a:r>
          </a:p>
        </p:txBody>
      </p:sp>
      <p:sp>
        <p:nvSpPr>
          <p:cNvPr id="12" name="Freeform 12"/>
          <p:cNvSpPr/>
          <p:nvPr/>
        </p:nvSpPr>
        <p:spPr>
          <a:xfrm>
            <a:off x="6236946" y="4897649"/>
            <a:ext cx="394241" cy="369870"/>
          </a:xfrm>
          <a:custGeom>
            <a:avLst/>
            <a:gdLst/>
            <a:ahLst/>
            <a:cxnLst/>
            <a:rect l="l" t="t" r="r" b="b"/>
            <a:pathLst>
              <a:path w="394241" h="369870">
                <a:moveTo>
                  <a:pt x="0" y="0"/>
                </a:moveTo>
                <a:lnTo>
                  <a:pt x="394241" y="0"/>
                </a:lnTo>
                <a:lnTo>
                  <a:pt x="394241" y="369870"/>
                </a:lnTo>
                <a:lnTo>
                  <a:pt x="0" y="3698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3" name="Group 13"/>
          <p:cNvGrpSpPr/>
          <p:nvPr/>
        </p:nvGrpSpPr>
        <p:grpSpPr>
          <a:xfrm>
            <a:off x="16938967" y="0"/>
            <a:ext cx="1349033" cy="1709155"/>
            <a:chOff x="0" y="0"/>
            <a:chExt cx="571381" cy="723910"/>
          </a:xfrm>
        </p:grpSpPr>
        <p:sp>
          <p:nvSpPr>
            <p:cNvPr id="14" name="Freeform 14"/>
            <p:cNvSpPr/>
            <p:nvPr/>
          </p:nvSpPr>
          <p:spPr>
            <a:xfrm>
              <a:off x="0" y="0"/>
              <a:ext cx="571381" cy="723910"/>
            </a:xfrm>
            <a:custGeom>
              <a:avLst/>
              <a:gdLst/>
              <a:ahLst/>
              <a:cxnLst/>
              <a:rect l="l" t="t" r="r" b="b"/>
              <a:pathLst>
                <a:path w="571381" h="723910">
                  <a:moveTo>
                    <a:pt x="571381" y="0"/>
                  </a:moveTo>
                  <a:lnTo>
                    <a:pt x="571381" y="723910"/>
                  </a:lnTo>
                  <a:lnTo>
                    <a:pt x="285691" y="596910"/>
                  </a:lnTo>
                  <a:lnTo>
                    <a:pt x="0" y="723910"/>
                  </a:lnTo>
                  <a:lnTo>
                    <a:pt x="0" y="0"/>
                  </a:lnTo>
                  <a:lnTo>
                    <a:pt x="571381" y="0"/>
                  </a:lnTo>
                  <a:close/>
                </a:path>
              </a:pathLst>
            </a:custGeom>
            <a:solidFill>
              <a:srgbClr val="000000">
                <a:alpha val="56863"/>
              </a:srgbClr>
            </a:solidFill>
            <a:ln cap="sq">
              <a:noFill/>
              <a:prstDash val="dash"/>
              <a:miter/>
            </a:ln>
          </p:spPr>
        </p:sp>
        <p:sp>
          <p:nvSpPr>
            <p:cNvPr id="15" name="TextBox 15"/>
            <p:cNvSpPr txBox="1"/>
            <p:nvPr/>
          </p:nvSpPr>
          <p:spPr>
            <a:xfrm>
              <a:off x="0" y="-104775"/>
              <a:ext cx="571381" cy="701685"/>
            </a:xfrm>
            <a:prstGeom prst="rect">
              <a:avLst/>
            </a:prstGeom>
          </p:spPr>
          <p:txBody>
            <a:bodyPr lIns="127000" tIns="127000" rIns="127000" bIns="127000" rtlCol="0" anchor="ctr"/>
            <a:lstStyle/>
            <a:p>
              <a:pPr algn="ctr">
                <a:lnSpc>
                  <a:spcPts val="8122"/>
                </a:lnSpc>
              </a:pPr>
              <a:r>
                <a:rPr lang="en-US" sz="5801">
                  <a:solidFill>
                    <a:srgbClr val="FFFFFF">
                      <a:alpha val="56863"/>
                    </a:srgbClr>
                  </a:solidFill>
                  <a:latin typeface="Shrikhand"/>
                  <a:ea typeface="Shrikhand"/>
                  <a:cs typeface="Shrikhand"/>
                  <a:sym typeface="Shrikhand"/>
                </a:rPr>
                <a:t>03</a:t>
              </a:r>
            </a:p>
          </p:txBody>
        </p:sp>
      </p:grpSp>
      <p:sp>
        <p:nvSpPr>
          <p:cNvPr id="16" name="Freeform 16"/>
          <p:cNvSpPr/>
          <p:nvPr/>
        </p:nvSpPr>
        <p:spPr>
          <a:xfrm>
            <a:off x="1252078" y="2738285"/>
            <a:ext cx="791422" cy="644020"/>
          </a:xfrm>
          <a:custGeom>
            <a:avLst/>
            <a:gdLst/>
            <a:ahLst/>
            <a:cxnLst/>
            <a:rect l="l" t="t" r="r" b="b"/>
            <a:pathLst>
              <a:path w="791422" h="644020">
                <a:moveTo>
                  <a:pt x="0" y="0"/>
                </a:moveTo>
                <a:lnTo>
                  <a:pt x="791422" y="0"/>
                </a:lnTo>
                <a:lnTo>
                  <a:pt x="791422" y="644020"/>
                </a:lnTo>
                <a:lnTo>
                  <a:pt x="0" y="6440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a:off x="1431619" y="2875360"/>
            <a:ext cx="394241" cy="369870"/>
          </a:xfrm>
          <a:custGeom>
            <a:avLst/>
            <a:gdLst/>
            <a:ahLst/>
            <a:cxnLst/>
            <a:rect l="l" t="t" r="r" b="b"/>
            <a:pathLst>
              <a:path w="394241" h="369870">
                <a:moveTo>
                  <a:pt x="0" y="0"/>
                </a:moveTo>
                <a:lnTo>
                  <a:pt x="394241" y="0"/>
                </a:lnTo>
                <a:lnTo>
                  <a:pt x="394241" y="369870"/>
                </a:lnTo>
                <a:lnTo>
                  <a:pt x="0" y="3698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28224" y="4972004"/>
            <a:ext cx="612194" cy="658273"/>
          </a:xfrm>
          <a:custGeom>
            <a:avLst/>
            <a:gdLst/>
            <a:ahLst/>
            <a:cxnLst/>
            <a:rect l="l" t="t" r="r" b="b"/>
            <a:pathLst>
              <a:path w="612194" h="658273">
                <a:moveTo>
                  <a:pt x="0" y="0"/>
                </a:moveTo>
                <a:lnTo>
                  <a:pt x="612194" y="0"/>
                </a:lnTo>
                <a:lnTo>
                  <a:pt x="612194" y="658273"/>
                </a:lnTo>
                <a:lnTo>
                  <a:pt x="0" y="6582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830617" y="2137828"/>
            <a:ext cx="12947728" cy="987425"/>
          </a:xfrm>
          <a:prstGeom prst="rect">
            <a:avLst/>
          </a:prstGeom>
        </p:spPr>
        <p:txBody>
          <a:bodyPr lIns="0" tIns="0" rIns="0" bIns="0" rtlCol="0" anchor="t">
            <a:spAutoFit/>
          </a:bodyPr>
          <a:lstStyle/>
          <a:p>
            <a:pPr algn="ctr">
              <a:lnSpc>
                <a:spcPts val="7150"/>
              </a:lnSpc>
              <a:spcBef>
                <a:spcPct val="0"/>
              </a:spcBef>
            </a:pPr>
            <a:r>
              <a:rPr lang="en-US" sz="6500" b="1">
                <a:solidFill>
                  <a:srgbClr val="000000"/>
                </a:solidFill>
                <a:latin typeface="Poppins Bold"/>
                <a:ea typeface="Poppins Bold"/>
                <a:cs typeface="Poppins Bold"/>
                <a:sym typeface="Poppins Bold"/>
              </a:rPr>
              <a:t>WHAT IS CLOUD COMPUTING?</a:t>
            </a:r>
          </a:p>
        </p:txBody>
      </p:sp>
      <p:sp>
        <p:nvSpPr>
          <p:cNvPr id="4" name="TextBox 4"/>
          <p:cNvSpPr txBox="1"/>
          <p:nvPr/>
        </p:nvSpPr>
        <p:spPr>
          <a:xfrm>
            <a:off x="1652884" y="3153829"/>
            <a:ext cx="14982233" cy="2028773"/>
          </a:xfrm>
          <a:prstGeom prst="rect">
            <a:avLst/>
          </a:prstGeom>
        </p:spPr>
        <p:txBody>
          <a:bodyPr lIns="0" tIns="0" rIns="0" bIns="0" rtlCol="0" anchor="t">
            <a:spAutoFit/>
          </a:bodyPr>
          <a:lstStyle/>
          <a:p>
            <a:pPr algn="l">
              <a:lnSpc>
                <a:spcPts val="4622"/>
              </a:lnSpc>
            </a:pPr>
            <a:r>
              <a:rPr lang="en-US" sz="3302" b="1">
                <a:solidFill>
                  <a:srgbClr val="000000"/>
                </a:solidFill>
                <a:latin typeface="Poppins Bold"/>
                <a:ea typeface="Poppins Bold"/>
                <a:cs typeface="Poppins Bold"/>
                <a:sym typeface="Poppins Bold"/>
              </a:rPr>
              <a:t>Definition:</a:t>
            </a:r>
          </a:p>
          <a:p>
            <a:pPr algn="l">
              <a:lnSpc>
                <a:spcPts val="3782"/>
              </a:lnSpc>
            </a:pPr>
            <a:r>
              <a:rPr lang="en-US" sz="2702">
                <a:solidFill>
                  <a:srgbClr val="000000"/>
                </a:solidFill>
                <a:latin typeface="Poppins"/>
                <a:ea typeface="Poppins"/>
                <a:cs typeface="Poppins"/>
                <a:sym typeface="Poppins"/>
              </a:rPr>
              <a:t>Cloud Computing delivers computing services (like servers, storage, and applications) over the internet.</a:t>
            </a:r>
          </a:p>
          <a:p>
            <a:pPr algn="ctr">
              <a:lnSpc>
                <a:spcPts val="3782"/>
              </a:lnSpc>
            </a:pPr>
            <a:endParaRPr lang="en-US" sz="2702">
              <a:solidFill>
                <a:srgbClr val="000000"/>
              </a:solidFill>
              <a:latin typeface="Poppins"/>
              <a:ea typeface="Poppins"/>
              <a:cs typeface="Poppins"/>
              <a:sym typeface="Poppins"/>
            </a:endParaRPr>
          </a:p>
        </p:txBody>
      </p:sp>
      <p:sp>
        <p:nvSpPr>
          <p:cNvPr id="5" name="TextBox 5"/>
          <p:cNvSpPr txBox="1"/>
          <p:nvPr/>
        </p:nvSpPr>
        <p:spPr>
          <a:xfrm>
            <a:off x="5465034" y="5071207"/>
            <a:ext cx="2797537" cy="431292"/>
          </a:xfrm>
          <a:prstGeom prst="rect">
            <a:avLst/>
          </a:prstGeom>
        </p:spPr>
        <p:txBody>
          <a:bodyPr lIns="0" tIns="0" rIns="0" bIns="0" rtlCol="0" anchor="t">
            <a:spAutoFit/>
          </a:bodyPr>
          <a:lstStyle/>
          <a:p>
            <a:pPr algn="ctr">
              <a:lnSpc>
                <a:spcPts val="3294"/>
              </a:lnSpc>
            </a:pPr>
            <a:r>
              <a:rPr lang="en-US" sz="2700" b="1">
                <a:solidFill>
                  <a:srgbClr val="000000"/>
                </a:solidFill>
                <a:latin typeface="Poppins Bold"/>
                <a:ea typeface="Poppins Bold"/>
                <a:cs typeface="Poppins Bold"/>
                <a:sym typeface="Poppins Bold"/>
              </a:rPr>
              <a:t>Service Models:</a:t>
            </a:r>
          </a:p>
        </p:txBody>
      </p:sp>
      <p:sp>
        <p:nvSpPr>
          <p:cNvPr id="6" name="TextBox 6"/>
          <p:cNvSpPr txBox="1"/>
          <p:nvPr/>
        </p:nvSpPr>
        <p:spPr>
          <a:xfrm>
            <a:off x="5465034" y="5554077"/>
            <a:ext cx="9678895" cy="1436370"/>
          </a:xfrm>
          <a:prstGeom prst="rect">
            <a:avLst/>
          </a:prstGeom>
        </p:spPr>
        <p:txBody>
          <a:bodyPr lIns="0" tIns="0" rIns="0" bIns="0" rtlCol="0" anchor="t">
            <a:spAutoFit/>
          </a:bodyPr>
          <a:lstStyle/>
          <a:p>
            <a:pPr marL="582930" lvl="1" indent="-291465" algn="just">
              <a:lnSpc>
                <a:spcPts val="3779"/>
              </a:lnSpc>
              <a:buFont typeface="Arial"/>
              <a:buChar char="•"/>
            </a:pPr>
            <a:r>
              <a:rPr lang="en-US" sz="2700">
                <a:solidFill>
                  <a:srgbClr val="000000"/>
                </a:solidFill>
                <a:latin typeface="Poppins"/>
                <a:ea typeface="Poppins"/>
                <a:cs typeface="Poppins"/>
                <a:sym typeface="Poppins"/>
              </a:rPr>
              <a:t>IaaS: Virtual hardware (AWS EC2)</a:t>
            </a:r>
          </a:p>
          <a:p>
            <a:pPr marL="582930" lvl="1" indent="-291465" algn="just">
              <a:lnSpc>
                <a:spcPts val="3779"/>
              </a:lnSpc>
              <a:buFont typeface="Arial"/>
              <a:buChar char="•"/>
            </a:pPr>
            <a:r>
              <a:rPr lang="en-US" sz="2700">
                <a:solidFill>
                  <a:srgbClr val="000000"/>
                </a:solidFill>
                <a:latin typeface="Poppins"/>
                <a:ea typeface="Poppins"/>
                <a:cs typeface="Poppins"/>
                <a:sym typeface="Poppins"/>
              </a:rPr>
              <a:t>PaaS: Application platforms (Google App Engine)</a:t>
            </a:r>
          </a:p>
          <a:p>
            <a:pPr marL="582930" lvl="1" indent="-291465" algn="just">
              <a:lnSpc>
                <a:spcPts val="3779"/>
              </a:lnSpc>
              <a:buFont typeface="Arial"/>
              <a:buChar char="•"/>
            </a:pPr>
            <a:r>
              <a:rPr lang="en-US" sz="2700">
                <a:solidFill>
                  <a:srgbClr val="000000"/>
                </a:solidFill>
                <a:latin typeface="Poppins"/>
                <a:ea typeface="Poppins"/>
                <a:cs typeface="Poppins"/>
                <a:sym typeface="Poppins"/>
              </a:rPr>
              <a:t>SaaS: Ready-to-use software (Gmail, Zoom)</a:t>
            </a:r>
          </a:p>
        </p:txBody>
      </p:sp>
      <p:sp>
        <p:nvSpPr>
          <p:cNvPr id="7" name="TextBox 7"/>
          <p:cNvSpPr txBox="1"/>
          <p:nvPr/>
        </p:nvSpPr>
        <p:spPr>
          <a:xfrm>
            <a:off x="1963372" y="8085963"/>
            <a:ext cx="2564853" cy="431292"/>
          </a:xfrm>
          <a:prstGeom prst="rect">
            <a:avLst/>
          </a:prstGeom>
        </p:spPr>
        <p:txBody>
          <a:bodyPr lIns="0" tIns="0" rIns="0" bIns="0" rtlCol="0" anchor="t">
            <a:spAutoFit/>
          </a:bodyPr>
          <a:lstStyle/>
          <a:p>
            <a:pPr algn="ctr">
              <a:lnSpc>
                <a:spcPts val="3294"/>
              </a:lnSpc>
            </a:pPr>
            <a:r>
              <a:rPr lang="en-US" sz="2700" b="1">
                <a:solidFill>
                  <a:srgbClr val="000000"/>
                </a:solidFill>
                <a:latin typeface="Poppins Bold"/>
                <a:ea typeface="Poppins Bold"/>
                <a:cs typeface="Poppins Bold"/>
                <a:sym typeface="Poppins Bold"/>
              </a:rPr>
              <a:t>Benefits:</a:t>
            </a:r>
          </a:p>
        </p:txBody>
      </p:sp>
      <p:sp>
        <p:nvSpPr>
          <p:cNvPr id="8" name="TextBox 8"/>
          <p:cNvSpPr txBox="1"/>
          <p:nvPr/>
        </p:nvSpPr>
        <p:spPr>
          <a:xfrm>
            <a:off x="2287987" y="8774430"/>
            <a:ext cx="10238993" cy="483870"/>
          </a:xfrm>
          <a:prstGeom prst="rect">
            <a:avLst/>
          </a:prstGeom>
        </p:spPr>
        <p:txBody>
          <a:bodyPr lIns="0" tIns="0" rIns="0" bIns="0" rtlCol="0" anchor="t">
            <a:spAutoFit/>
          </a:bodyPr>
          <a:lstStyle/>
          <a:p>
            <a:pPr marL="582930" lvl="1" indent="-291465" algn="just">
              <a:lnSpc>
                <a:spcPts val="3779"/>
              </a:lnSpc>
              <a:buFont typeface="Arial"/>
              <a:buChar char="•"/>
            </a:pPr>
            <a:r>
              <a:rPr lang="en-US" sz="2700">
                <a:solidFill>
                  <a:srgbClr val="000000"/>
                </a:solidFill>
                <a:latin typeface="Poppins"/>
                <a:ea typeface="Poppins"/>
                <a:cs typeface="Poppins"/>
                <a:sym typeface="Poppins"/>
              </a:rPr>
              <a:t>Scalable, cost-efficient, accessible from anywhere.</a:t>
            </a:r>
          </a:p>
        </p:txBody>
      </p:sp>
      <p:sp>
        <p:nvSpPr>
          <p:cNvPr id="9" name="Freeform 9"/>
          <p:cNvSpPr/>
          <p:nvPr/>
        </p:nvSpPr>
        <p:spPr>
          <a:xfrm flipV="1">
            <a:off x="-957652" y="-109268"/>
            <a:ext cx="6422686" cy="3636846"/>
          </a:xfrm>
          <a:custGeom>
            <a:avLst/>
            <a:gdLst/>
            <a:ahLst/>
            <a:cxnLst/>
            <a:rect l="l" t="t" r="r" b="b"/>
            <a:pathLst>
              <a:path w="6422686" h="3636846">
                <a:moveTo>
                  <a:pt x="0" y="3636846"/>
                </a:moveTo>
                <a:lnTo>
                  <a:pt x="6422686" y="3636846"/>
                </a:lnTo>
                <a:lnTo>
                  <a:pt x="6422686" y="0"/>
                </a:lnTo>
                <a:lnTo>
                  <a:pt x="0" y="0"/>
                </a:lnTo>
                <a:lnTo>
                  <a:pt x="0" y="363684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flipH="1">
            <a:off x="12663448" y="6990447"/>
            <a:ext cx="6422686" cy="3636846"/>
          </a:xfrm>
          <a:custGeom>
            <a:avLst/>
            <a:gdLst/>
            <a:ahLst/>
            <a:cxnLst/>
            <a:rect l="l" t="t" r="r" b="b"/>
            <a:pathLst>
              <a:path w="6422686" h="3636846">
                <a:moveTo>
                  <a:pt x="6422686" y="0"/>
                </a:moveTo>
                <a:lnTo>
                  <a:pt x="0" y="0"/>
                </a:lnTo>
                <a:lnTo>
                  <a:pt x="0" y="3636846"/>
                </a:lnTo>
                <a:lnTo>
                  <a:pt x="6422686" y="3636846"/>
                </a:lnTo>
                <a:lnTo>
                  <a:pt x="6422686"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1363167" y="7986760"/>
            <a:ext cx="612194" cy="658273"/>
          </a:xfrm>
          <a:custGeom>
            <a:avLst/>
            <a:gdLst/>
            <a:ahLst/>
            <a:cxnLst/>
            <a:rect l="l" t="t" r="r" b="b"/>
            <a:pathLst>
              <a:path w="612194" h="658273">
                <a:moveTo>
                  <a:pt x="0" y="0"/>
                </a:moveTo>
                <a:lnTo>
                  <a:pt x="612194" y="0"/>
                </a:lnTo>
                <a:lnTo>
                  <a:pt x="612194" y="658273"/>
                </a:lnTo>
                <a:lnTo>
                  <a:pt x="0" y="6582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a:off x="16938967" y="0"/>
            <a:ext cx="1349033" cy="1709155"/>
            <a:chOff x="0" y="0"/>
            <a:chExt cx="571381" cy="723910"/>
          </a:xfrm>
        </p:grpSpPr>
        <p:sp>
          <p:nvSpPr>
            <p:cNvPr id="13" name="Freeform 13"/>
            <p:cNvSpPr/>
            <p:nvPr/>
          </p:nvSpPr>
          <p:spPr>
            <a:xfrm>
              <a:off x="0" y="0"/>
              <a:ext cx="571381" cy="723910"/>
            </a:xfrm>
            <a:custGeom>
              <a:avLst/>
              <a:gdLst/>
              <a:ahLst/>
              <a:cxnLst/>
              <a:rect l="l" t="t" r="r" b="b"/>
              <a:pathLst>
                <a:path w="571381" h="723910">
                  <a:moveTo>
                    <a:pt x="571381" y="0"/>
                  </a:moveTo>
                  <a:lnTo>
                    <a:pt x="571381" y="723910"/>
                  </a:lnTo>
                  <a:lnTo>
                    <a:pt x="285691" y="596910"/>
                  </a:lnTo>
                  <a:lnTo>
                    <a:pt x="0" y="723910"/>
                  </a:lnTo>
                  <a:lnTo>
                    <a:pt x="0" y="0"/>
                  </a:lnTo>
                  <a:lnTo>
                    <a:pt x="571381" y="0"/>
                  </a:lnTo>
                  <a:close/>
                </a:path>
              </a:pathLst>
            </a:custGeom>
            <a:solidFill>
              <a:srgbClr val="EEEFF6">
                <a:alpha val="87843"/>
              </a:srgbClr>
            </a:solidFill>
            <a:ln cap="sq">
              <a:noFill/>
              <a:prstDash val="dash"/>
              <a:miter/>
            </a:ln>
          </p:spPr>
        </p:sp>
        <p:sp>
          <p:nvSpPr>
            <p:cNvPr id="14" name="TextBox 14"/>
            <p:cNvSpPr txBox="1"/>
            <p:nvPr/>
          </p:nvSpPr>
          <p:spPr>
            <a:xfrm>
              <a:off x="0" y="-104775"/>
              <a:ext cx="571381" cy="701685"/>
            </a:xfrm>
            <a:prstGeom prst="rect">
              <a:avLst/>
            </a:prstGeom>
          </p:spPr>
          <p:txBody>
            <a:bodyPr lIns="127000" tIns="127000" rIns="127000" bIns="127000" rtlCol="0" anchor="ctr"/>
            <a:lstStyle/>
            <a:p>
              <a:pPr algn="ctr">
                <a:lnSpc>
                  <a:spcPts val="8122"/>
                </a:lnSpc>
              </a:pPr>
              <a:r>
                <a:rPr lang="en-US" sz="5801">
                  <a:solidFill>
                    <a:srgbClr val="000000">
                      <a:alpha val="87843"/>
                    </a:srgbClr>
                  </a:solidFill>
                  <a:latin typeface="Shrikhand"/>
                  <a:ea typeface="Shrikhand"/>
                  <a:cs typeface="Shrikhand"/>
                  <a:sym typeface="Shrikhand"/>
                </a:rPr>
                <a:t>04</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070556" y="1949621"/>
            <a:ext cx="14145328" cy="1065272"/>
            <a:chOff x="0" y="0"/>
            <a:chExt cx="4987205" cy="375582"/>
          </a:xfrm>
        </p:grpSpPr>
        <p:sp>
          <p:nvSpPr>
            <p:cNvPr id="3" name="Freeform 3"/>
            <p:cNvSpPr/>
            <p:nvPr/>
          </p:nvSpPr>
          <p:spPr>
            <a:xfrm>
              <a:off x="0" y="0"/>
              <a:ext cx="4987205" cy="375582"/>
            </a:xfrm>
            <a:custGeom>
              <a:avLst/>
              <a:gdLst/>
              <a:ahLst/>
              <a:cxnLst/>
              <a:rect l="l" t="t" r="r" b="b"/>
              <a:pathLst>
                <a:path w="4987205" h="375582">
                  <a:moveTo>
                    <a:pt x="203200" y="0"/>
                  </a:moveTo>
                  <a:lnTo>
                    <a:pt x="4987205" y="0"/>
                  </a:lnTo>
                  <a:lnTo>
                    <a:pt x="4784005" y="375582"/>
                  </a:lnTo>
                  <a:lnTo>
                    <a:pt x="0" y="375582"/>
                  </a:lnTo>
                  <a:lnTo>
                    <a:pt x="203200" y="0"/>
                  </a:lnTo>
                  <a:close/>
                </a:path>
              </a:pathLst>
            </a:custGeom>
            <a:solidFill>
              <a:srgbClr val="2C426B"/>
            </a:solidFill>
          </p:spPr>
        </p:sp>
        <p:sp>
          <p:nvSpPr>
            <p:cNvPr id="4" name="TextBox 4"/>
            <p:cNvSpPr txBox="1"/>
            <p:nvPr/>
          </p:nvSpPr>
          <p:spPr>
            <a:xfrm>
              <a:off x="101600" y="-38100"/>
              <a:ext cx="4784005" cy="413682"/>
            </a:xfrm>
            <a:prstGeom prst="rect">
              <a:avLst/>
            </a:prstGeom>
          </p:spPr>
          <p:txBody>
            <a:bodyPr lIns="50800" tIns="50800" rIns="50800" bIns="50800" rtlCol="0" anchor="ctr"/>
            <a:lstStyle/>
            <a:p>
              <a:pPr algn="ctr">
                <a:lnSpc>
                  <a:spcPts val="2514"/>
                </a:lnSpc>
              </a:pPr>
              <a:endParaRPr/>
            </a:p>
          </p:txBody>
        </p:sp>
      </p:grpSp>
      <p:sp>
        <p:nvSpPr>
          <p:cNvPr id="5" name="Freeform 5"/>
          <p:cNvSpPr/>
          <p:nvPr/>
        </p:nvSpPr>
        <p:spPr>
          <a:xfrm>
            <a:off x="3947121" y="7658926"/>
            <a:ext cx="791422" cy="644020"/>
          </a:xfrm>
          <a:custGeom>
            <a:avLst/>
            <a:gdLst/>
            <a:ahLst/>
            <a:cxnLst/>
            <a:rect l="l" t="t" r="r" b="b"/>
            <a:pathLst>
              <a:path w="791422" h="644020">
                <a:moveTo>
                  <a:pt x="0" y="0"/>
                </a:moveTo>
                <a:lnTo>
                  <a:pt x="791422" y="0"/>
                </a:lnTo>
                <a:lnTo>
                  <a:pt x="791422" y="644020"/>
                </a:lnTo>
                <a:lnTo>
                  <a:pt x="0" y="6440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2495973" y="4803592"/>
            <a:ext cx="791422" cy="644020"/>
          </a:xfrm>
          <a:custGeom>
            <a:avLst/>
            <a:gdLst/>
            <a:ahLst/>
            <a:cxnLst/>
            <a:rect l="l" t="t" r="r" b="b"/>
            <a:pathLst>
              <a:path w="791422" h="644020">
                <a:moveTo>
                  <a:pt x="0" y="0"/>
                </a:moveTo>
                <a:lnTo>
                  <a:pt x="791422" y="0"/>
                </a:lnTo>
                <a:lnTo>
                  <a:pt x="791422" y="644019"/>
                </a:lnTo>
                <a:lnTo>
                  <a:pt x="0" y="64401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0" y="-38379"/>
            <a:ext cx="7315200" cy="1524000"/>
          </a:xfrm>
          <a:custGeom>
            <a:avLst/>
            <a:gdLst/>
            <a:ahLst/>
            <a:cxnLst/>
            <a:rect l="l" t="t" r="r" b="b"/>
            <a:pathLst>
              <a:path w="7315200" h="1524000">
                <a:moveTo>
                  <a:pt x="0" y="0"/>
                </a:moveTo>
                <a:lnTo>
                  <a:pt x="7315200" y="0"/>
                </a:lnTo>
                <a:lnTo>
                  <a:pt x="7315200" y="1524000"/>
                </a:lnTo>
                <a:lnTo>
                  <a:pt x="0" y="1524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flipH="1" flipV="1">
            <a:off x="12132441" y="8763000"/>
            <a:ext cx="7315200" cy="1524000"/>
          </a:xfrm>
          <a:custGeom>
            <a:avLst/>
            <a:gdLst/>
            <a:ahLst/>
            <a:cxnLst/>
            <a:rect l="l" t="t" r="r" b="b"/>
            <a:pathLst>
              <a:path w="7315200" h="1524000">
                <a:moveTo>
                  <a:pt x="7315200" y="1524000"/>
                </a:moveTo>
                <a:lnTo>
                  <a:pt x="0" y="1524000"/>
                </a:lnTo>
                <a:lnTo>
                  <a:pt x="0" y="0"/>
                </a:lnTo>
                <a:lnTo>
                  <a:pt x="7315200" y="0"/>
                </a:lnTo>
                <a:lnTo>
                  <a:pt x="7315200" y="15240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4126662" y="7796001"/>
            <a:ext cx="394241" cy="369870"/>
          </a:xfrm>
          <a:custGeom>
            <a:avLst/>
            <a:gdLst/>
            <a:ahLst/>
            <a:cxnLst/>
            <a:rect l="l" t="t" r="r" b="b"/>
            <a:pathLst>
              <a:path w="394241" h="369870">
                <a:moveTo>
                  <a:pt x="0" y="0"/>
                </a:moveTo>
                <a:lnTo>
                  <a:pt x="394241" y="0"/>
                </a:lnTo>
                <a:lnTo>
                  <a:pt x="394241" y="369870"/>
                </a:lnTo>
                <a:lnTo>
                  <a:pt x="0" y="3698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TextBox 10"/>
          <p:cNvSpPr txBox="1"/>
          <p:nvPr/>
        </p:nvSpPr>
        <p:spPr>
          <a:xfrm>
            <a:off x="3673015" y="2183043"/>
            <a:ext cx="14198275" cy="831850"/>
          </a:xfrm>
          <a:prstGeom prst="rect">
            <a:avLst/>
          </a:prstGeom>
        </p:spPr>
        <p:txBody>
          <a:bodyPr lIns="0" tIns="0" rIns="0" bIns="0" rtlCol="0" anchor="t">
            <a:spAutoFit/>
          </a:bodyPr>
          <a:lstStyle/>
          <a:p>
            <a:pPr algn="l">
              <a:lnSpc>
                <a:spcPts val="6049"/>
              </a:lnSpc>
              <a:spcBef>
                <a:spcPct val="0"/>
              </a:spcBef>
            </a:pPr>
            <a:r>
              <a:rPr lang="en-US" sz="5499" b="1">
                <a:solidFill>
                  <a:srgbClr val="FFFFFF"/>
                </a:solidFill>
                <a:latin typeface="Poppins Bold"/>
                <a:ea typeface="Poppins Bold"/>
                <a:cs typeface="Poppins Bold"/>
                <a:sym typeface="Poppins Bold"/>
              </a:rPr>
              <a:t> WHAT IS IOT (INTERNET OF THINGS)?</a:t>
            </a:r>
          </a:p>
        </p:txBody>
      </p:sp>
      <p:sp>
        <p:nvSpPr>
          <p:cNvPr id="11" name="TextBox 11"/>
          <p:cNvSpPr txBox="1"/>
          <p:nvPr/>
        </p:nvSpPr>
        <p:spPr>
          <a:xfrm>
            <a:off x="1943603" y="3402693"/>
            <a:ext cx="14285202" cy="995628"/>
          </a:xfrm>
          <a:prstGeom prst="rect">
            <a:avLst/>
          </a:prstGeom>
        </p:spPr>
        <p:txBody>
          <a:bodyPr lIns="0" tIns="0" rIns="0" bIns="0" rtlCol="0" anchor="t">
            <a:spAutoFit/>
          </a:bodyPr>
          <a:lstStyle/>
          <a:p>
            <a:pPr algn="just">
              <a:lnSpc>
                <a:spcPts val="4062"/>
              </a:lnSpc>
            </a:pPr>
            <a:r>
              <a:rPr lang="en-US" sz="2902" b="1">
                <a:solidFill>
                  <a:srgbClr val="000000"/>
                </a:solidFill>
                <a:latin typeface="Poppins Bold"/>
                <a:ea typeface="Poppins Bold"/>
                <a:cs typeface="Poppins Bold"/>
                <a:sym typeface="Poppins Bold"/>
              </a:rPr>
              <a:t>Definition:</a:t>
            </a:r>
          </a:p>
          <a:p>
            <a:pPr marL="583370" lvl="1" indent="-291685" algn="just">
              <a:lnSpc>
                <a:spcPts val="3782"/>
              </a:lnSpc>
              <a:buFont typeface="Arial"/>
              <a:buChar char="•"/>
            </a:pPr>
            <a:r>
              <a:rPr lang="en-US" sz="2702">
                <a:solidFill>
                  <a:srgbClr val="000000"/>
                </a:solidFill>
                <a:latin typeface="Poppins"/>
                <a:ea typeface="Poppins"/>
                <a:cs typeface="Poppins"/>
                <a:sym typeface="Poppins"/>
              </a:rPr>
              <a:t>IoT connects everyday devices to the internet to collect and exchange data.</a:t>
            </a:r>
          </a:p>
        </p:txBody>
      </p:sp>
      <p:sp>
        <p:nvSpPr>
          <p:cNvPr id="12" name="TextBox 12"/>
          <p:cNvSpPr txBox="1"/>
          <p:nvPr/>
        </p:nvSpPr>
        <p:spPr>
          <a:xfrm>
            <a:off x="4816661" y="7756966"/>
            <a:ext cx="2002456" cy="390790"/>
          </a:xfrm>
          <a:prstGeom prst="rect">
            <a:avLst/>
          </a:prstGeom>
        </p:spPr>
        <p:txBody>
          <a:bodyPr lIns="0" tIns="0" rIns="0" bIns="0" rtlCol="0" anchor="t">
            <a:spAutoFit/>
          </a:bodyPr>
          <a:lstStyle/>
          <a:p>
            <a:pPr algn="l">
              <a:lnSpc>
                <a:spcPts val="3074"/>
              </a:lnSpc>
            </a:pPr>
            <a:r>
              <a:rPr lang="en-US" sz="2195" b="1">
                <a:solidFill>
                  <a:srgbClr val="000000"/>
                </a:solidFill>
                <a:latin typeface="Poppins Bold"/>
                <a:ea typeface="Poppins Bold"/>
                <a:cs typeface="Poppins Bold"/>
                <a:sym typeface="Poppins Bold"/>
              </a:rPr>
              <a:t>Example:</a:t>
            </a:r>
          </a:p>
        </p:txBody>
      </p:sp>
      <p:sp>
        <p:nvSpPr>
          <p:cNvPr id="13" name="TextBox 13"/>
          <p:cNvSpPr txBox="1"/>
          <p:nvPr/>
        </p:nvSpPr>
        <p:spPr>
          <a:xfrm>
            <a:off x="4816661" y="8226746"/>
            <a:ext cx="8725587" cy="483818"/>
          </a:xfrm>
          <a:prstGeom prst="rect">
            <a:avLst/>
          </a:prstGeom>
        </p:spPr>
        <p:txBody>
          <a:bodyPr lIns="0" tIns="0" rIns="0" bIns="0" rtlCol="0" anchor="t">
            <a:spAutoFit/>
          </a:bodyPr>
          <a:lstStyle/>
          <a:p>
            <a:pPr marL="583370" lvl="1" indent="-291685" algn="l">
              <a:lnSpc>
                <a:spcPts val="3782"/>
              </a:lnSpc>
              <a:buFont typeface="Arial"/>
              <a:buChar char="•"/>
            </a:pPr>
            <a:r>
              <a:rPr lang="en-US" sz="2702">
                <a:solidFill>
                  <a:srgbClr val="000000"/>
                </a:solidFill>
                <a:latin typeface="Poppins"/>
                <a:ea typeface="Poppins"/>
                <a:cs typeface="Poppins"/>
                <a:sym typeface="Poppins"/>
              </a:rPr>
              <a:t>Smartwatch, Smart Home, Smart Agriculture.</a:t>
            </a:r>
          </a:p>
        </p:txBody>
      </p:sp>
      <p:sp>
        <p:nvSpPr>
          <p:cNvPr id="14" name="TextBox 14"/>
          <p:cNvSpPr txBox="1"/>
          <p:nvPr/>
        </p:nvSpPr>
        <p:spPr>
          <a:xfrm>
            <a:off x="3365512" y="4901631"/>
            <a:ext cx="3455155" cy="390790"/>
          </a:xfrm>
          <a:prstGeom prst="rect">
            <a:avLst/>
          </a:prstGeom>
        </p:spPr>
        <p:txBody>
          <a:bodyPr lIns="0" tIns="0" rIns="0" bIns="0" rtlCol="0" anchor="t">
            <a:spAutoFit/>
          </a:bodyPr>
          <a:lstStyle/>
          <a:p>
            <a:pPr algn="l">
              <a:lnSpc>
                <a:spcPts val="3074"/>
              </a:lnSpc>
            </a:pPr>
            <a:r>
              <a:rPr lang="en-US" sz="2195" b="1">
                <a:solidFill>
                  <a:srgbClr val="000000"/>
                </a:solidFill>
                <a:latin typeface="Poppins Bold"/>
                <a:ea typeface="Poppins Bold"/>
                <a:cs typeface="Poppins Bold"/>
                <a:sym typeface="Poppins Bold"/>
              </a:rPr>
              <a:t>Main Components:</a:t>
            </a:r>
          </a:p>
        </p:txBody>
      </p:sp>
      <p:sp>
        <p:nvSpPr>
          <p:cNvPr id="15" name="TextBox 15"/>
          <p:cNvSpPr txBox="1"/>
          <p:nvPr/>
        </p:nvSpPr>
        <p:spPr>
          <a:xfrm>
            <a:off x="3287395" y="5341088"/>
            <a:ext cx="7650352" cy="1912568"/>
          </a:xfrm>
          <a:prstGeom prst="rect">
            <a:avLst/>
          </a:prstGeom>
        </p:spPr>
        <p:txBody>
          <a:bodyPr lIns="0" tIns="0" rIns="0" bIns="0" rtlCol="0" anchor="t">
            <a:spAutoFit/>
          </a:bodyPr>
          <a:lstStyle/>
          <a:p>
            <a:pPr marL="583370" lvl="1" indent="-291685" algn="l">
              <a:lnSpc>
                <a:spcPts val="3782"/>
              </a:lnSpc>
              <a:buFont typeface="Arial"/>
              <a:buChar char="•"/>
            </a:pPr>
            <a:r>
              <a:rPr lang="en-US" sz="2702">
                <a:solidFill>
                  <a:srgbClr val="000000"/>
                </a:solidFill>
                <a:latin typeface="Poppins"/>
                <a:ea typeface="Poppins"/>
                <a:cs typeface="Poppins"/>
                <a:sym typeface="Poppins"/>
              </a:rPr>
              <a:t>1. Devices/Sensors</a:t>
            </a:r>
          </a:p>
          <a:p>
            <a:pPr marL="583370" lvl="1" indent="-291685" algn="l">
              <a:lnSpc>
                <a:spcPts val="3782"/>
              </a:lnSpc>
              <a:buFont typeface="Arial"/>
              <a:buChar char="•"/>
            </a:pPr>
            <a:r>
              <a:rPr lang="en-US" sz="2702">
                <a:solidFill>
                  <a:srgbClr val="000000"/>
                </a:solidFill>
                <a:latin typeface="Poppins"/>
                <a:ea typeface="Poppins"/>
                <a:cs typeface="Poppins"/>
                <a:sym typeface="Poppins"/>
              </a:rPr>
              <a:t>2. Connectivity (Wi-Fi, 4G, Zigbee)</a:t>
            </a:r>
          </a:p>
          <a:p>
            <a:pPr marL="583370" lvl="1" indent="-291685" algn="l">
              <a:lnSpc>
                <a:spcPts val="3782"/>
              </a:lnSpc>
              <a:buFont typeface="Arial"/>
              <a:buChar char="•"/>
            </a:pPr>
            <a:r>
              <a:rPr lang="en-US" sz="2702">
                <a:solidFill>
                  <a:srgbClr val="000000"/>
                </a:solidFill>
                <a:latin typeface="Poppins"/>
                <a:ea typeface="Poppins"/>
                <a:cs typeface="Poppins"/>
                <a:sym typeface="Poppins"/>
              </a:rPr>
              <a:t>3. Cloud / Data Processing</a:t>
            </a:r>
          </a:p>
          <a:p>
            <a:pPr marL="583370" lvl="1" indent="-291685" algn="l">
              <a:lnSpc>
                <a:spcPts val="3782"/>
              </a:lnSpc>
              <a:buFont typeface="Arial"/>
              <a:buChar char="•"/>
            </a:pPr>
            <a:r>
              <a:rPr lang="en-US" sz="2702">
                <a:solidFill>
                  <a:srgbClr val="000000"/>
                </a:solidFill>
                <a:latin typeface="Poppins"/>
                <a:ea typeface="Poppins"/>
                <a:cs typeface="Poppins"/>
                <a:sym typeface="Poppins"/>
              </a:rPr>
              <a:t>4. User Interface (Apps, Dashboards)</a:t>
            </a:r>
          </a:p>
        </p:txBody>
      </p:sp>
      <p:sp>
        <p:nvSpPr>
          <p:cNvPr id="16" name="Freeform 16"/>
          <p:cNvSpPr/>
          <p:nvPr/>
        </p:nvSpPr>
        <p:spPr>
          <a:xfrm>
            <a:off x="2675513" y="4940666"/>
            <a:ext cx="394241" cy="369870"/>
          </a:xfrm>
          <a:custGeom>
            <a:avLst/>
            <a:gdLst/>
            <a:ahLst/>
            <a:cxnLst/>
            <a:rect l="l" t="t" r="r" b="b"/>
            <a:pathLst>
              <a:path w="394241" h="369870">
                <a:moveTo>
                  <a:pt x="0" y="0"/>
                </a:moveTo>
                <a:lnTo>
                  <a:pt x="394241" y="0"/>
                </a:lnTo>
                <a:lnTo>
                  <a:pt x="394241" y="369870"/>
                </a:lnTo>
                <a:lnTo>
                  <a:pt x="0" y="3698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7" name="Group 17"/>
          <p:cNvGrpSpPr/>
          <p:nvPr/>
        </p:nvGrpSpPr>
        <p:grpSpPr>
          <a:xfrm>
            <a:off x="16938967" y="0"/>
            <a:ext cx="1349033" cy="1709155"/>
            <a:chOff x="0" y="0"/>
            <a:chExt cx="571381" cy="723910"/>
          </a:xfrm>
        </p:grpSpPr>
        <p:sp>
          <p:nvSpPr>
            <p:cNvPr id="18" name="Freeform 18"/>
            <p:cNvSpPr/>
            <p:nvPr/>
          </p:nvSpPr>
          <p:spPr>
            <a:xfrm>
              <a:off x="0" y="0"/>
              <a:ext cx="571381" cy="723910"/>
            </a:xfrm>
            <a:custGeom>
              <a:avLst/>
              <a:gdLst/>
              <a:ahLst/>
              <a:cxnLst/>
              <a:rect l="l" t="t" r="r" b="b"/>
              <a:pathLst>
                <a:path w="571381" h="723910">
                  <a:moveTo>
                    <a:pt x="571381" y="0"/>
                  </a:moveTo>
                  <a:lnTo>
                    <a:pt x="571381" y="723910"/>
                  </a:lnTo>
                  <a:lnTo>
                    <a:pt x="285691" y="596910"/>
                  </a:lnTo>
                  <a:lnTo>
                    <a:pt x="0" y="723910"/>
                  </a:lnTo>
                  <a:lnTo>
                    <a:pt x="0" y="0"/>
                  </a:lnTo>
                  <a:lnTo>
                    <a:pt x="571381" y="0"/>
                  </a:lnTo>
                  <a:close/>
                </a:path>
              </a:pathLst>
            </a:custGeom>
            <a:solidFill>
              <a:srgbClr val="000000">
                <a:alpha val="50980"/>
              </a:srgbClr>
            </a:solidFill>
            <a:ln cap="sq">
              <a:noFill/>
              <a:prstDash val="dash"/>
              <a:miter/>
            </a:ln>
          </p:spPr>
        </p:sp>
        <p:sp>
          <p:nvSpPr>
            <p:cNvPr id="19" name="TextBox 19"/>
            <p:cNvSpPr txBox="1"/>
            <p:nvPr/>
          </p:nvSpPr>
          <p:spPr>
            <a:xfrm>
              <a:off x="0" y="-104775"/>
              <a:ext cx="571381" cy="701685"/>
            </a:xfrm>
            <a:prstGeom prst="rect">
              <a:avLst/>
            </a:prstGeom>
          </p:spPr>
          <p:txBody>
            <a:bodyPr lIns="127000" tIns="127000" rIns="127000" bIns="127000" rtlCol="0" anchor="ctr"/>
            <a:lstStyle/>
            <a:p>
              <a:pPr algn="ctr">
                <a:lnSpc>
                  <a:spcPts val="8122"/>
                </a:lnSpc>
              </a:pPr>
              <a:r>
                <a:rPr lang="en-US" sz="5801">
                  <a:solidFill>
                    <a:srgbClr val="FFFFFF">
                      <a:alpha val="50980"/>
                    </a:srgbClr>
                  </a:solidFill>
                  <a:latin typeface="Shrikhand"/>
                  <a:ea typeface="Shrikhand"/>
                  <a:cs typeface="Shrikhand"/>
                  <a:sym typeface="Shrikhand"/>
                </a:rPr>
                <a:t>05</a:t>
              </a:r>
            </a:p>
          </p:txBody>
        </p:sp>
      </p:grpSp>
      <p:sp>
        <p:nvSpPr>
          <p:cNvPr id="20" name="Freeform 20"/>
          <p:cNvSpPr/>
          <p:nvPr/>
        </p:nvSpPr>
        <p:spPr>
          <a:xfrm>
            <a:off x="1028700" y="3423783"/>
            <a:ext cx="791422" cy="644020"/>
          </a:xfrm>
          <a:custGeom>
            <a:avLst/>
            <a:gdLst/>
            <a:ahLst/>
            <a:cxnLst/>
            <a:rect l="l" t="t" r="r" b="b"/>
            <a:pathLst>
              <a:path w="791422" h="644020">
                <a:moveTo>
                  <a:pt x="0" y="0"/>
                </a:moveTo>
                <a:lnTo>
                  <a:pt x="791422" y="0"/>
                </a:lnTo>
                <a:lnTo>
                  <a:pt x="791422" y="644020"/>
                </a:lnTo>
                <a:lnTo>
                  <a:pt x="0" y="6440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1208241" y="3560858"/>
            <a:ext cx="394241" cy="369870"/>
          </a:xfrm>
          <a:custGeom>
            <a:avLst/>
            <a:gdLst/>
            <a:ahLst/>
            <a:cxnLst/>
            <a:rect l="l" t="t" r="r" b="b"/>
            <a:pathLst>
              <a:path w="394241" h="369870">
                <a:moveTo>
                  <a:pt x="0" y="0"/>
                </a:moveTo>
                <a:lnTo>
                  <a:pt x="394241" y="0"/>
                </a:lnTo>
                <a:lnTo>
                  <a:pt x="394241" y="369870"/>
                </a:lnTo>
                <a:lnTo>
                  <a:pt x="0" y="3698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728133" y="224498"/>
            <a:ext cx="12801260" cy="1065272"/>
            <a:chOff x="0" y="0"/>
            <a:chExt cx="4513328" cy="375582"/>
          </a:xfrm>
        </p:grpSpPr>
        <p:sp>
          <p:nvSpPr>
            <p:cNvPr id="3" name="Freeform 3"/>
            <p:cNvSpPr/>
            <p:nvPr/>
          </p:nvSpPr>
          <p:spPr>
            <a:xfrm>
              <a:off x="0" y="0"/>
              <a:ext cx="4513328" cy="375582"/>
            </a:xfrm>
            <a:custGeom>
              <a:avLst/>
              <a:gdLst/>
              <a:ahLst/>
              <a:cxnLst/>
              <a:rect l="l" t="t" r="r" b="b"/>
              <a:pathLst>
                <a:path w="4513328" h="375582">
                  <a:moveTo>
                    <a:pt x="203200" y="0"/>
                  </a:moveTo>
                  <a:lnTo>
                    <a:pt x="4513328" y="0"/>
                  </a:lnTo>
                  <a:lnTo>
                    <a:pt x="4310128" y="375582"/>
                  </a:lnTo>
                  <a:lnTo>
                    <a:pt x="0" y="375582"/>
                  </a:lnTo>
                  <a:lnTo>
                    <a:pt x="203200" y="0"/>
                  </a:lnTo>
                  <a:close/>
                </a:path>
              </a:pathLst>
            </a:custGeom>
            <a:solidFill>
              <a:srgbClr val="2C426B"/>
            </a:solidFill>
          </p:spPr>
        </p:sp>
        <p:sp>
          <p:nvSpPr>
            <p:cNvPr id="4" name="TextBox 4"/>
            <p:cNvSpPr txBox="1"/>
            <p:nvPr/>
          </p:nvSpPr>
          <p:spPr>
            <a:xfrm>
              <a:off x="101600" y="-38100"/>
              <a:ext cx="4310128" cy="413682"/>
            </a:xfrm>
            <a:prstGeom prst="rect">
              <a:avLst/>
            </a:prstGeom>
          </p:spPr>
          <p:txBody>
            <a:bodyPr lIns="50800" tIns="50800" rIns="50800" bIns="50800" rtlCol="0" anchor="ctr"/>
            <a:lstStyle/>
            <a:p>
              <a:pPr algn="ctr">
                <a:lnSpc>
                  <a:spcPts val="2514"/>
                </a:lnSpc>
              </a:pPr>
              <a:endParaRPr/>
            </a:p>
          </p:txBody>
        </p:sp>
      </p:grpSp>
      <p:sp>
        <p:nvSpPr>
          <p:cNvPr id="5" name="Freeform 5"/>
          <p:cNvSpPr/>
          <p:nvPr/>
        </p:nvSpPr>
        <p:spPr>
          <a:xfrm flipH="1">
            <a:off x="11432125" y="0"/>
            <a:ext cx="8064402" cy="10490279"/>
          </a:xfrm>
          <a:custGeom>
            <a:avLst/>
            <a:gdLst/>
            <a:ahLst/>
            <a:cxnLst/>
            <a:rect l="l" t="t" r="r" b="b"/>
            <a:pathLst>
              <a:path w="8064402" h="10490279">
                <a:moveTo>
                  <a:pt x="8064402" y="0"/>
                </a:moveTo>
                <a:lnTo>
                  <a:pt x="0" y="0"/>
                </a:lnTo>
                <a:lnTo>
                  <a:pt x="0" y="10490279"/>
                </a:lnTo>
                <a:lnTo>
                  <a:pt x="8064402" y="10490279"/>
                </a:lnTo>
                <a:lnTo>
                  <a:pt x="8064402"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2260909" y="143454"/>
            <a:ext cx="1467224" cy="3080785"/>
          </a:xfrm>
          <a:custGeom>
            <a:avLst/>
            <a:gdLst/>
            <a:ahLst/>
            <a:cxnLst/>
            <a:rect l="l" t="t" r="r" b="b"/>
            <a:pathLst>
              <a:path w="1467224" h="3080785">
                <a:moveTo>
                  <a:pt x="0" y="0"/>
                </a:moveTo>
                <a:lnTo>
                  <a:pt x="1467224" y="0"/>
                </a:lnTo>
                <a:lnTo>
                  <a:pt x="1467224" y="3080786"/>
                </a:lnTo>
                <a:lnTo>
                  <a:pt x="0" y="30807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16986593" y="0"/>
            <a:ext cx="1349033" cy="1709155"/>
            <a:chOff x="0" y="0"/>
            <a:chExt cx="571381" cy="723910"/>
          </a:xfrm>
        </p:grpSpPr>
        <p:sp>
          <p:nvSpPr>
            <p:cNvPr id="8" name="Freeform 8"/>
            <p:cNvSpPr/>
            <p:nvPr/>
          </p:nvSpPr>
          <p:spPr>
            <a:xfrm>
              <a:off x="0" y="0"/>
              <a:ext cx="571381" cy="723910"/>
            </a:xfrm>
            <a:custGeom>
              <a:avLst/>
              <a:gdLst/>
              <a:ahLst/>
              <a:cxnLst/>
              <a:rect l="l" t="t" r="r" b="b"/>
              <a:pathLst>
                <a:path w="571381" h="723910">
                  <a:moveTo>
                    <a:pt x="571381" y="0"/>
                  </a:moveTo>
                  <a:lnTo>
                    <a:pt x="571381" y="723910"/>
                  </a:lnTo>
                  <a:lnTo>
                    <a:pt x="285691" y="596910"/>
                  </a:lnTo>
                  <a:lnTo>
                    <a:pt x="0" y="723910"/>
                  </a:lnTo>
                  <a:lnTo>
                    <a:pt x="0" y="0"/>
                  </a:lnTo>
                  <a:lnTo>
                    <a:pt x="571381" y="0"/>
                  </a:lnTo>
                  <a:close/>
                </a:path>
              </a:pathLst>
            </a:custGeom>
            <a:solidFill>
              <a:srgbClr val="000000">
                <a:alpha val="50980"/>
              </a:srgbClr>
            </a:solidFill>
            <a:ln cap="sq">
              <a:noFill/>
              <a:prstDash val="dash"/>
              <a:miter/>
            </a:ln>
          </p:spPr>
        </p:sp>
        <p:sp>
          <p:nvSpPr>
            <p:cNvPr id="9" name="TextBox 9"/>
            <p:cNvSpPr txBox="1"/>
            <p:nvPr/>
          </p:nvSpPr>
          <p:spPr>
            <a:xfrm>
              <a:off x="0" y="-104775"/>
              <a:ext cx="571381" cy="701685"/>
            </a:xfrm>
            <a:prstGeom prst="rect">
              <a:avLst/>
            </a:prstGeom>
          </p:spPr>
          <p:txBody>
            <a:bodyPr lIns="127000" tIns="127000" rIns="127000" bIns="127000" rtlCol="0" anchor="ctr"/>
            <a:lstStyle/>
            <a:p>
              <a:pPr algn="ctr">
                <a:lnSpc>
                  <a:spcPts val="8122"/>
                </a:lnSpc>
              </a:pPr>
              <a:r>
                <a:rPr lang="en-US" sz="5801">
                  <a:solidFill>
                    <a:srgbClr val="FFFFFF">
                      <a:alpha val="50980"/>
                    </a:srgbClr>
                  </a:solidFill>
                  <a:latin typeface="Shrikhand"/>
                  <a:ea typeface="Shrikhand"/>
                  <a:cs typeface="Shrikhand"/>
                  <a:sym typeface="Shrikhand"/>
                </a:rPr>
                <a:t>06</a:t>
              </a:r>
            </a:p>
          </p:txBody>
        </p:sp>
      </p:grpSp>
      <p:graphicFrame>
        <p:nvGraphicFramePr>
          <p:cNvPr id="10" name="Object 10"/>
          <p:cNvGraphicFramePr/>
          <p:nvPr/>
        </p:nvGraphicFramePr>
        <p:xfrm>
          <a:off x="529630" y="1988602"/>
          <a:ext cx="7586662" cy="5257800"/>
        </p:xfrm>
        <a:graphic>
          <a:graphicData uri="http://schemas.openxmlformats.org/presentationml/2006/ole">
            <mc:AlternateContent xmlns:mc="http://schemas.openxmlformats.org/markup-compatibility/2006">
              <mc:Choice xmlns:v="urn:schemas-microsoft-com:vml" Requires="v">
                <p:oleObj name="Worksheet" r:id="rId6" imgW="9105900" imgH="6769100" progId="Excel.Sheet.12">
                  <p:embed/>
                </p:oleObj>
              </mc:Choice>
              <mc:Fallback>
                <p:oleObj name="Worksheet" r:id="rId6" imgW="9105900" imgH="6769100" progId="Excel.Sheet.12">
                  <p:embed/>
                  <p:pic>
                    <p:nvPicPr>
                      <p:cNvPr id="0" name=""/>
                      <p:cNvPicPr/>
                      <p:nvPr/>
                    </p:nvPicPr>
                    <p:blipFill>
                      <a:blip r:embed="rId7"/>
                      <a:stretch>
                        <a:fillRect/>
                      </a:stretch>
                    </p:blipFill>
                    <p:spPr>
                      <a:xfrm>
                        <a:off x="529630" y="1988602"/>
                        <a:ext cx="7586662" cy="5257800"/>
                      </a:xfrm>
                      <a:prstGeom prst="rect">
                        <a:avLst/>
                      </a:prstGeom>
                    </p:spPr>
                  </p:pic>
                </p:oleObj>
              </mc:Fallback>
            </mc:AlternateContent>
          </a:graphicData>
        </a:graphic>
      </p:graphicFrame>
      <p:sp>
        <p:nvSpPr>
          <p:cNvPr id="11" name="TextBox 11"/>
          <p:cNvSpPr txBox="1"/>
          <p:nvPr/>
        </p:nvSpPr>
        <p:spPr>
          <a:xfrm>
            <a:off x="4176155" y="446915"/>
            <a:ext cx="12353238" cy="581785"/>
          </a:xfrm>
          <a:prstGeom prst="rect">
            <a:avLst/>
          </a:prstGeom>
        </p:spPr>
        <p:txBody>
          <a:bodyPr lIns="0" tIns="0" rIns="0" bIns="0" rtlCol="0" anchor="t">
            <a:spAutoFit/>
          </a:bodyPr>
          <a:lstStyle/>
          <a:p>
            <a:pPr algn="l">
              <a:lnSpc>
                <a:spcPts val="4231"/>
              </a:lnSpc>
              <a:spcBef>
                <a:spcPct val="0"/>
              </a:spcBef>
            </a:pPr>
            <a:r>
              <a:rPr lang="en-US" sz="3846" b="1">
                <a:solidFill>
                  <a:srgbClr val="FFFFFF"/>
                </a:solidFill>
                <a:latin typeface="Poppins Bold"/>
                <a:ea typeface="Poppins Bold"/>
                <a:cs typeface="Poppins Bold"/>
                <a:sym typeface="Poppins Bold"/>
              </a:rPr>
              <a:t>OSI MODEL LAYER MAPPING FOR CLOUD AND IOT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76612" y="7193735"/>
            <a:ext cx="5295803" cy="1970398"/>
            <a:chOff x="0" y="0"/>
            <a:chExt cx="1394779" cy="518952"/>
          </a:xfrm>
        </p:grpSpPr>
        <p:sp>
          <p:nvSpPr>
            <p:cNvPr id="3" name="Freeform 3"/>
            <p:cNvSpPr/>
            <p:nvPr/>
          </p:nvSpPr>
          <p:spPr>
            <a:xfrm>
              <a:off x="0" y="0"/>
              <a:ext cx="1394779" cy="518952"/>
            </a:xfrm>
            <a:custGeom>
              <a:avLst/>
              <a:gdLst/>
              <a:ahLst/>
              <a:cxnLst/>
              <a:rect l="l" t="t" r="r" b="b"/>
              <a:pathLst>
                <a:path w="1394779" h="518952">
                  <a:moveTo>
                    <a:pt x="0" y="0"/>
                  </a:moveTo>
                  <a:lnTo>
                    <a:pt x="1394779" y="0"/>
                  </a:lnTo>
                  <a:lnTo>
                    <a:pt x="1394779" y="518952"/>
                  </a:lnTo>
                  <a:lnTo>
                    <a:pt x="0" y="518952"/>
                  </a:lnTo>
                  <a:close/>
                </a:path>
              </a:pathLst>
            </a:custGeom>
            <a:solidFill>
              <a:srgbClr val="EEEFF6"/>
            </a:solidFill>
          </p:spPr>
        </p:sp>
        <p:sp>
          <p:nvSpPr>
            <p:cNvPr id="4" name="TextBox 4"/>
            <p:cNvSpPr txBox="1"/>
            <p:nvPr/>
          </p:nvSpPr>
          <p:spPr>
            <a:xfrm>
              <a:off x="0" y="-76200"/>
              <a:ext cx="1394779" cy="595152"/>
            </a:xfrm>
            <a:prstGeom prst="rect">
              <a:avLst/>
            </a:prstGeom>
          </p:spPr>
          <p:txBody>
            <a:bodyPr lIns="50800" tIns="50800" rIns="50800" bIns="50800" rtlCol="0" anchor="ctr"/>
            <a:lstStyle/>
            <a:p>
              <a:pPr algn="ctr">
                <a:lnSpc>
                  <a:spcPts val="3779"/>
                </a:lnSpc>
              </a:pPr>
              <a:endParaRPr/>
            </a:p>
          </p:txBody>
        </p:sp>
      </p:grpSp>
      <p:grpSp>
        <p:nvGrpSpPr>
          <p:cNvPr id="5" name="Group 5"/>
          <p:cNvGrpSpPr/>
          <p:nvPr/>
        </p:nvGrpSpPr>
        <p:grpSpPr>
          <a:xfrm>
            <a:off x="1076612" y="2766236"/>
            <a:ext cx="5295803" cy="1627300"/>
            <a:chOff x="0" y="0"/>
            <a:chExt cx="1394779" cy="428589"/>
          </a:xfrm>
        </p:grpSpPr>
        <p:sp>
          <p:nvSpPr>
            <p:cNvPr id="6" name="Freeform 6"/>
            <p:cNvSpPr/>
            <p:nvPr/>
          </p:nvSpPr>
          <p:spPr>
            <a:xfrm>
              <a:off x="0" y="0"/>
              <a:ext cx="1394779" cy="428589"/>
            </a:xfrm>
            <a:custGeom>
              <a:avLst/>
              <a:gdLst/>
              <a:ahLst/>
              <a:cxnLst/>
              <a:rect l="l" t="t" r="r" b="b"/>
              <a:pathLst>
                <a:path w="1394779" h="428589">
                  <a:moveTo>
                    <a:pt x="0" y="0"/>
                  </a:moveTo>
                  <a:lnTo>
                    <a:pt x="1394779" y="0"/>
                  </a:lnTo>
                  <a:lnTo>
                    <a:pt x="1394779" y="428589"/>
                  </a:lnTo>
                  <a:lnTo>
                    <a:pt x="0" y="428589"/>
                  </a:lnTo>
                  <a:close/>
                </a:path>
              </a:pathLst>
            </a:custGeom>
            <a:solidFill>
              <a:srgbClr val="EEEFF6"/>
            </a:solidFill>
          </p:spPr>
        </p:sp>
        <p:sp>
          <p:nvSpPr>
            <p:cNvPr id="7" name="TextBox 7"/>
            <p:cNvSpPr txBox="1"/>
            <p:nvPr/>
          </p:nvSpPr>
          <p:spPr>
            <a:xfrm>
              <a:off x="0" y="-76200"/>
              <a:ext cx="1394779" cy="504789"/>
            </a:xfrm>
            <a:prstGeom prst="rect">
              <a:avLst/>
            </a:prstGeom>
          </p:spPr>
          <p:txBody>
            <a:bodyPr lIns="50800" tIns="50800" rIns="50800" bIns="50800" rtlCol="0" anchor="ctr"/>
            <a:lstStyle/>
            <a:p>
              <a:pPr algn="ctr">
                <a:lnSpc>
                  <a:spcPts val="3779"/>
                </a:lnSpc>
              </a:pPr>
              <a:endParaRPr/>
            </a:p>
          </p:txBody>
        </p:sp>
      </p:grpSp>
      <p:sp>
        <p:nvSpPr>
          <p:cNvPr id="8" name="Freeform 8"/>
          <p:cNvSpPr/>
          <p:nvPr/>
        </p:nvSpPr>
        <p:spPr>
          <a:xfrm>
            <a:off x="6324503" y="3006404"/>
            <a:ext cx="5638994" cy="5638994"/>
          </a:xfrm>
          <a:custGeom>
            <a:avLst/>
            <a:gdLst/>
            <a:ahLst/>
            <a:cxnLst/>
            <a:rect l="l" t="t" r="r" b="b"/>
            <a:pathLst>
              <a:path w="5638994" h="5638994">
                <a:moveTo>
                  <a:pt x="0" y="0"/>
                </a:moveTo>
                <a:lnTo>
                  <a:pt x="5638994" y="0"/>
                </a:lnTo>
                <a:lnTo>
                  <a:pt x="5638994" y="5638993"/>
                </a:lnTo>
                <a:lnTo>
                  <a:pt x="0" y="56389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143443" y="3825344"/>
            <a:ext cx="4001114" cy="400111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37527" r="-37527"/>
              </a:stretch>
            </a:blipFill>
          </p:spPr>
        </p:sp>
      </p:grpSp>
      <p:grpSp>
        <p:nvGrpSpPr>
          <p:cNvPr id="11" name="Group 11"/>
          <p:cNvGrpSpPr/>
          <p:nvPr/>
        </p:nvGrpSpPr>
        <p:grpSpPr>
          <a:xfrm>
            <a:off x="11963497" y="2622550"/>
            <a:ext cx="5295803" cy="1770986"/>
            <a:chOff x="0" y="0"/>
            <a:chExt cx="1394779" cy="466432"/>
          </a:xfrm>
        </p:grpSpPr>
        <p:sp>
          <p:nvSpPr>
            <p:cNvPr id="12" name="Freeform 12"/>
            <p:cNvSpPr/>
            <p:nvPr/>
          </p:nvSpPr>
          <p:spPr>
            <a:xfrm>
              <a:off x="0" y="0"/>
              <a:ext cx="1394779" cy="466432"/>
            </a:xfrm>
            <a:custGeom>
              <a:avLst/>
              <a:gdLst/>
              <a:ahLst/>
              <a:cxnLst/>
              <a:rect l="l" t="t" r="r" b="b"/>
              <a:pathLst>
                <a:path w="1394779" h="466432">
                  <a:moveTo>
                    <a:pt x="0" y="0"/>
                  </a:moveTo>
                  <a:lnTo>
                    <a:pt x="1394779" y="0"/>
                  </a:lnTo>
                  <a:lnTo>
                    <a:pt x="1394779" y="466432"/>
                  </a:lnTo>
                  <a:lnTo>
                    <a:pt x="0" y="466432"/>
                  </a:lnTo>
                  <a:close/>
                </a:path>
              </a:pathLst>
            </a:custGeom>
            <a:solidFill>
              <a:srgbClr val="EEEFF6"/>
            </a:solidFill>
          </p:spPr>
        </p:sp>
        <p:sp>
          <p:nvSpPr>
            <p:cNvPr id="13" name="TextBox 13"/>
            <p:cNvSpPr txBox="1"/>
            <p:nvPr/>
          </p:nvSpPr>
          <p:spPr>
            <a:xfrm>
              <a:off x="0" y="-76200"/>
              <a:ext cx="1394779" cy="542632"/>
            </a:xfrm>
            <a:prstGeom prst="rect">
              <a:avLst/>
            </a:prstGeom>
          </p:spPr>
          <p:txBody>
            <a:bodyPr lIns="50800" tIns="50800" rIns="50800" bIns="50800" rtlCol="0" anchor="ctr"/>
            <a:lstStyle/>
            <a:p>
              <a:pPr algn="ctr">
                <a:lnSpc>
                  <a:spcPts val="3779"/>
                </a:lnSpc>
              </a:pPr>
              <a:endParaRPr/>
            </a:p>
          </p:txBody>
        </p:sp>
      </p:grpSp>
      <p:grpSp>
        <p:nvGrpSpPr>
          <p:cNvPr id="14" name="Group 14"/>
          <p:cNvGrpSpPr/>
          <p:nvPr/>
        </p:nvGrpSpPr>
        <p:grpSpPr>
          <a:xfrm>
            <a:off x="11963497" y="7193735"/>
            <a:ext cx="5295803" cy="1970398"/>
            <a:chOff x="0" y="0"/>
            <a:chExt cx="1394779" cy="518952"/>
          </a:xfrm>
        </p:grpSpPr>
        <p:sp>
          <p:nvSpPr>
            <p:cNvPr id="15" name="Freeform 15"/>
            <p:cNvSpPr/>
            <p:nvPr/>
          </p:nvSpPr>
          <p:spPr>
            <a:xfrm>
              <a:off x="0" y="0"/>
              <a:ext cx="1394779" cy="518952"/>
            </a:xfrm>
            <a:custGeom>
              <a:avLst/>
              <a:gdLst/>
              <a:ahLst/>
              <a:cxnLst/>
              <a:rect l="l" t="t" r="r" b="b"/>
              <a:pathLst>
                <a:path w="1394779" h="518952">
                  <a:moveTo>
                    <a:pt x="0" y="0"/>
                  </a:moveTo>
                  <a:lnTo>
                    <a:pt x="1394779" y="0"/>
                  </a:lnTo>
                  <a:lnTo>
                    <a:pt x="1394779" y="518952"/>
                  </a:lnTo>
                  <a:lnTo>
                    <a:pt x="0" y="518952"/>
                  </a:lnTo>
                  <a:close/>
                </a:path>
              </a:pathLst>
            </a:custGeom>
            <a:solidFill>
              <a:srgbClr val="EEEFF6"/>
            </a:solidFill>
          </p:spPr>
        </p:sp>
        <p:sp>
          <p:nvSpPr>
            <p:cNvPr id="16" name="TextBox 16"/>
            <p:cNvSpPr txBox="1"/>
            <p:nvPr/>
          </p:nvSpPr>
          <p:spPr>
            <a:xfrm>
              <a:off x="0" y="-76200"/>
              <a:ext cx="1394779" cy="595152"/>
            </a:xfrm>
            <a:prstGeom prst="rect">
              <a:avLst/>
            </a:prstGeom>
          </p:spPr>
          <p:txBody>
            <a:bodyPr lIns="50800" tIns="50800" rIns="50800" bIns="50800" rtlCol="0" anchor="ctr"/>
            <a:lstStyle/>
            <a:p>
              <a:pPr algn="ctr">
                <a:lnSpc>
                  <a:spcPts val="3779"/>
                </a:lnSpc>
              </a:pPr>
              <a:endParaRPr/>
            </a:p>
          </p:txBody>
        </p:sp>
      </p:grpSp>
      <p:grpSp>
        <p:nvGrpSpPr>
          <p:cNvPr id="17" name="Group 17"/>
          <p:cNvGrpSpPr/>
          <p:nvPr/>
        </p:nvGrpSpPr>
        <p:grpSpPr>
          <a:xfrm>
            <a:off x="16986593" y="0"/>
            <a:ext cx="1349033" cy="1709155"/>
            <a:chOff x="0" y="0"/>
            <a:chExt cx="571381" cy="723910"/>
          </a:xfrm>
        </p:grpSpPr>
        <p:sp>
          <p:nvSpPr>
            <p:cNvPr id="18" name="Freeform 18"/>
            <p:cNvSpPr/>
            <p:nvPr/>
          </p:nvSpPr>
          <p:spPr>
            <a:xfrm>
              <a:off x="0" y="0"/>
              <a:ext cx="571381" cy="723910"/>
            </a:xfrm>
            <a:custGeom>
              <a:avLst/>
              <a:gdLst/>
              <a:ahLst/>
              <a:cxnLst/>
              <a:rect l="l" t="t" r="r" b="b"/>
              <a:pathLst>
                <a:path w="571381" h="723910">
                  <a:moveTo>
                    <a:pt x="571381" y="0"/>
                  </a:moveTo>
                  <a:lnTo>
                    <a:pt x="571381" y="723910"/>
                  </a:lnTo>
                  <a:lnTo>
                    <a:pt x="285691" y="596910"/>
                  </a:lnTo>
                  <a:lnTo>
                    <a:pt x="0" y="723910"/>
                  </a:lnTo>
                  <a:lnTo>
                    <a:pt x="0" y="0"/>
                  </a:lnTo>
                  <a:lnTo>
                    <a:pt x="571381" y="0"/>
                  </a:lnTo>
                  <a:close/>
                </a:path>
              </a:pathLst>
            </a:custGeom>
            <a:solidFill>
              <a:srgbClr val="EEEFF6">
                <a:alpha val="63922"/>
              </a:srgbClr>
            </a:solidFill>
            <a:ln cap="sq">
              <a:noFill/>
              <a:prstDash val="dash"/>
              <a:miter/>
            </a:ln>
          </p:spPr>
        </p:sp>
        <p:sp>
          <p:nvSpPr>
            <p:cNvPr id="19" name="TextBox 19"/>
            <p:cNvSpPr txBox="1"/>
            <p:nvPr/>
          </p:nvSpPr>
          <p:spPr>
            <a:xfrm>
              <a:off x="0" y="-104775"/>
              <a:ext cx="571381" cy="701685"/>
            </a:xfrm>
            <a:prstGeom prst="rect">
              <a:avLst/>
            </a:prstGeom>
          </p:spPr>
          <p:txBody>
            <a:bodyPr lIns="127000" tIns="127000" rIns="127000" bIns="127000" rtlCol="0" anchor="ctr"/>
            <a:lstStyle/>
            <a:p>
              <a:pPr algn="ctr">
                <a:lnSpc>
                  <a:spcPts val="8122"/>
                </a:lnSpc>
              </a:pPr>
              <a:r>
                <a:rPr lang="en-US" sz="5801">
                  <a:solidFill>
                    <a:srgbClr val="000000">
                      <a:alpha val="63922"/>
                    </a:srgbClr>
                  </a:solidFill>
                  <a:latin typeface="Shrikhand"/>
                  <a:ea typeface="Shrikhand"/>
                  <a:cs typeface="Shrikhand"/>
                  <a:sym typeface="Shrikhand"/>
                </a:rPr>
                <a:t>07</a:t>
              </a:r>
            </a:p>
          </p:txBody>
        </p:sp>
      </p:grpSp>
      <p:sp>
        <p:nvSpPr>
          <p:cNvPr id="20" name="TextBox 20"/>
          <p:cNvSpPr txBox="1"/>
          <p:nvPr/>
        </p:nvSpPr>
        <p:spPr>
          <a:xfrm>
            <a:off x="2660334" y="1488733"/>
            <a:ext cx="12967332" cy="477520"/>
          </a:xfrm>
          <a:prstGeom prst="rect">
            <a:avLst/>
          </a:prstGeom>
        </p:spPr>
        <p:txBody>
          <a:bodyPr lIns="0" tIns="0" rIns="0" bIns="0" rtlCol="0" anchor="t">
            <a:spAutoFit/>
          </a:bodyPr>
          <a:lstStyle/>
          <a:p>
            <a:pPr algn="ctr">
              <a:lnSpc>
                <a:spcPts val="3409"/>
              </a:lnSpc>
              <a:spcBef>
                <a:spcPct val="0"/>
              </a:spcBef>
            </a:pPr>
            <a:r>
              <a:rPr lang="en-US" sz="3099" b="1">
                <a:solidFill>
                  <a:srgbClr val="000000"/>
                </a:solidFill>
                <a:latin typeface="Poppins Bold"/>
                <a:ea typeface="Poppins Bold"/>
                <a:cs typeface="Poppins Bold"/>
                <a:sym typeface="Poppins Bold"/>
              </a:rPr>
              <a:t>SECURITY AND COMMUNICATION IN OSI LAYERS</a:t>
            </a:r>
          </a:p>
        </p:txBody>
      </p:sp>
      <p:sp>
        <p:nvSpPr>
          <p:cNvPr id="21" name="TextBox 21"/>
          <p:cNvSpPr txBox="1"/>
          <p:nvPr/>
        </p:nvSpPr>
        <p:spPr>
          <a:xfrm>
            <a:off x="12096999" y="2901290"/>
            <a:ext cx="4256718" cy="402336"/>
          </a:xfrm>
          <a:prstGeom prst="rect">
            <a:avLst/>
          </a:prstGeom>
        </p:spPr>
        <p:txBody>
          <a:bodyPr lIns="0" tIns="0" rIns="0" bIns="0" rtlCol="0" anchor="t">
            <a:spAutoFit/>
          </a:bodyPr>
          <a:lstStyle/>
          <a:p>
            <a:pPr algn="l">
              <a:lnSpc>
                <a:spcPts val="2997"/>
              </a:lnSpc>
            </a:pPr>
            <a:r>
              <a:rPr lang="en-US" sz="2700" b="1">
                <a:solidFill>
                  <a:srgbClr val="000000"/>
                </a:solidFill>
                <a:latin typeface="Poppins Bold"/>
                <a:ea typeface="Poppins Bold"/>
                <a:cs typeface="Poppins Bold"/>
                <a:sym typeface="Poppins Bold"/>
              </a:rPr>
              <a:t>Reliability:</a:t>
            </a:r>
          </a:p>
        </p:txBody>
      </p:sp>
      <p:sp>
        <p:nvSpPr>
          <p:cNvPr id="22" name="TextBox 22"/>
          <p:cNvSpPr txBox="1"/>
          <p:nvPr/>
        </p:nvSpPr>
        <p:spPr>
          <a:xfrm>
            <a:off x="12096999" y="3307184"/>
            <a:ext cx="4932976" cy="960120"/>
          </a:xfrm>
          <a:prstGeom prst="rect">
            <a:avLst/>
          </a:prstGeom>
        </p:spPr>
        <p:txBody>
          <a:bodyPr lIns="0" tIns="0" rIns="0" bIns="0" rtlCol="0" anchor="t">
            <a:spAutoFit/>
          </a:bodyPr>
          <a:lstStyle/>
          <a:p>
            <a:pPr algn="just">
              <a:lnSpc>
                <a:spcPts val="3779"/>
              </a:lnSpc>
            </a:pPr>
            <a:r>
              <a:rPr lang="en-US" sz="2700">
                <a:solidFill>
                  <a:srgbClr val="000000"/>
                </a:solidFill>
                <a:latin typeface="Poppins"/>
                <a:ea typeface="Poppins"/>
                <a:cs typeface="Poppins"/>
                <a:sym typeface="Poppins"/>
              </a:rPr>
              <a:t>Ensured by Transport Layer (TCP).</a:t>
            </a:r>
          </a:p>
        </p:txBody>
      </p:sp>
      <p:sp>
        <p:nvSpPr>
          <p:cNvPr id="23" name="TextBox 23"/>
          <p:cNvSpPr txBox="1"/>
          <p:nvPr/>
        </p:nvSpPr>
        <p:spPr>
          <a:xfrm>
            <a:off x="12096847" y="7424121"/>
            <a:ext cx="5162301" cy="402336"/>
          </a:xfrm>
          <a:prstGeom prst="rect">
            <a:avLst/>
          </a:prstGeom>
        </p:spPr>
        <p:txBody>
          <a:bodyPr lIns="0" tIns="0" rIns="0" bIns="0" rtlCol="0" anchor="t">
            <a:spAutoFit/>
          </a:bodyPr>
          <a:lstStyle/>
          <a:p>
            <a:pPr algn="l">
              <a:lnSpc>
                <a:spcPts val="2997"/>
              </a:lnSpc>
            </a:pPr>
            <a:r>
              <a:rPr lang="en-US" sz="2700" b="1">
                <a:solidFill>
                  <a:srgbClr val="000000"/>
                </a:solidFill>
                <a:latin typeface="Poppins Bold"/>
                <a:ea typeface="Poppins Bold"/>
                <a:cs typeface="Poppins Bold"/>
                <a:sym typeface="Poppins Bold"/>
              </a:rPr>
              <a:t>Physical Safety:</a:t>
            </a:r>
          </a:p>
        </p:txBody>
      </p:sp>
      <p:sp>
        <p:nvSpPr>
          <p:cNvPr id="24" name="TextBox 24"/>
          <p:cNvSpPr txBox="1"/>
          <p:nvPr/>
        </p:nvSpPr>
        <p:spPr>
          <a:xfrm>
            <a:off x="12144911" y="7933066"/>
            <a:ext cx="4932976" cy="960120"/>
          </a:xfrm>
          <a:prstGeom prst="rect">
            <a:avLst/>
          </a:prstGeom>
        </p:spPr>
        <p:txBody>
          <a:bodyPr lIns="0" tIns="0" rIns="0" bIns="0" rtlCol="0" anchor="t">
            <a:spAutoFit/>
          </a:bodyPr>
          <a:lstStyle/>
          <a:p>
            <a:pPr algn="just">
              <a:lnSpc>
                <a:spcPts val="3779"/>
              </a:lnSpc>
            </a:pPr>
            <a:r>
              <a:rPr lang="en-US" sz="2700">
                <a:solidFill>
                  <a:srgbClr val="000000"/>
                </a:solidFill>
                <a:latin typeface="Poppins"/>
                <a:ea typeface="Poppins"/>
                <a:cs typeface="Poppins"/>
                <a:sym typeface="Poppins"/>
              </a:rPr>
              <a:t>Hardware protection at Physical &amp; Data Link Layers.</a:t>
            </a:r>
          </a:p>
        </p:txBody>
      </p:sp>
      <p:sp>
        <p:nvSpPr>
          <p:cNvPr id="25" name="TextBox 25"/>
          <p:cNvSpPr txBox="1"/>
          <p:nvPr/>
        </p:nvSpPr>
        <p:spPr>
          <a:xfrm>
            <a:off x="2557647" y="2901290"/>
            <a:ext cx="3633354" cy="402336"/>
          </a:xfrm>
          <a:prstGeom prst="rect">
            <a:avLst/>
          </a:prstGeom>
        </p:spPr>
        <p:txBody>
          <a:bodyPr lIns="0" tIns="0" rIns="0" bIns="0" rtlCol="0" anchor="t">
            <a:spAutoFit/>
          </a:bodyPr>
          <a:lstStyle/>
          <a:p>
            <a:pPr algn="r">
              <a:lnSpc>
                <a:spcPts val="2997"/>
              </a:lnSpc>
            </a:pPr>
            <a:r>
              <a:rPr lang="en-US" sz="2700" b="1">
                <a:solidFill>
                  <a:srgbClr val="000000"/>
                </a:solidFill>
                <a:latin typeface="Poppins Bold"/>
                <a:ea typeface="Poppins Bold"/>
                <a:cs typeface="Poppins Bold"/>
                <a:sym typeface="Poppins Bold"/>
              </a:rPr>
              <a:t>Encryption:</a:t>
            </a:r>
          </a:p>
        </p:txBody>
      </p:sp>
      <p:sp>
        <p:nvSpPr>
          <p:cNvPr id="26" name="TextBox 26"/>
          <p:cNvSpPr txBox="1"/>
          <p:nvPr/>
        </p:nvSpPr>
        <p:spPr>
          <a:xfrm>
            <a:off x="1258026" y="3191079"/>
            <a:ext cx="4932976" cy="960120"/>
          </a:xfrm>
          <a:prstGeom prst="rect">
            <a:avLst/>
          </a:prstGeom>
        </p:spPr>
        <p:txBody>
          <a:bodyPr lIns="0" tIns="0" rIns="0" bIns="0" rtlCol="0" anchor="t">
            <a:spAutoFit/>
          </a:bodyPr>
          <a:lstStyle/>
          <a:p>
            <a:pPr algn="just">
              <a:lnSpc>
                <a:spcPts val="3779"/>
              </a:lnSpc>
            </a:pPr>
            <a:r>
              <a:rPr lang="en-US" sz="2700">
                <a:solidFill>
                  <a:srgbClr val="000000"/>
                </a:solidFill>
                <a:latin typeface="Poppins"/>
                <a:ea typeface="Poppins"/>
                <a:cs typeface="Poppins"/>
                <a:sym typeface="Poppins"/>
              </a:rPr>
              <a:t>Done at Presentation Layer (SSL/TLS).</a:t>
            </a:r>
          </a:p>
        </p:txBody>
      </p:sp>
      <p:sp>
        <p:nvSpPr>
          <p:cNvPr id="27" name="TextBox 27"/>
          <p:cNvSpPr txBox="1"/>
          <p:nvPr/>
        </p:nvSpPr>
        <p:spPr>
          <a:xfrm>
            <a:off x="2557799" y="7424121"/>
            <a:ext cx="3633354" cy="402336"/>
          </a:xfrm>
          <a:prstGeom prst="rect">
            <a:avLst/>
          </a:prstGeom>
        </p:spPr>
        <p:txBody>
          <a:bodyPr lIns="0" tIns="0" rIns="0" bIns="0" rtlCol="0" anchor="t">
            <a:spAutoFit/>
          </a:bodyPr>
          <a:lstStyle/>
          <a:p>
            <a:pPr algn="r">
              <a:lnSpc>
                <a:spcPts val="2997"/>
              </a:lnSpc>
            </a:pPr>
            <a:r>
              <a:rPr lang="en-US" sz="2700" b="1">
                <a:solidFill>
                  <a:srgbClr val="000000"/>
                </a:solidFill>
                <a:latin typeface="Poppins Bold"/>
                <a:ea typeface="Poppins Bold"/>
                <a:cs typeface="Poppins Bold"/>
                <a:sym typeface="Poppins Bold"/>
              </a:rPr>
              <a:t>Authentication:</a:t>
            </a:r>
          </a:p>
        </p:txBody>
      </p:sp>
      <p:sp>
        <p:nvSpPr>
          <p:cNvPr id="28" name="TextBox 28"/>
          <p:cNvSpPr txBox="1"/>
          <p:nvPr/>
        </p:nvSpPr>
        <p:spPr>
          <a:xfrm>
            <a:off x="1258026" y="7933066"/>
            <a:ext cx="4932976" cy="960120"/>
          </a:xfrm>
          <a:prstGeom prst="rect">
            <a:avLst/>
          </a:prstGeom>
        </p:spPr>
        <p:txBody>
          <a:bodyPr lIns="0" tIns="0" rIns="0" bIns="0" rtlCol="0" anchor="t">
            <a:spAutoFit/>
          </a:bodyPr>
          <a:lstStyle/>
          <a:p>
            <a:pPr algn="just">
              <a:lnSpc>
                <a:spcPts val="3779"/>
              </a:lnSpc>
            </a:pPr>
            <a:r>
              <a:rPr lang="en-US" sz="2700">
                <a:solidFill>
                  <a:srgbClr val="000000"/>
                </a:solidFill>
                <a:latin typeface="Poppins"/>
                <a:ea typeface="Poppins"/>
                <a:cs typeface="Poppins"/>
                <a:sym typeface="Poppins"/>
              </a:rPr>
              <a:t>Managed at Session and Application Layers.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99593" y="5665600"/>
            <a:ext cx="13916073" cy="1516277"/>
            <a:chOff x="0" y="0"/>
            <a:chExt cx="3334793" cy="363355"/>
          </a:xfrm>
        </p:grpSpPr>
        <p:sp>
          <p:nvSpPr>
            <p:cNvPr id="3" name="Freeform 3"/>
            <p:cNvSpPr/>
            <p:nvPr/>
          </p:nvSpPr>
          <p:spPr>
            <a:xfrm>
              <a:off x="0" y="0"/>
              <a:ext cx="3334793" cy="363355"/>
            </a:xfrm>
            <a:custGeom>
              <a:avLst/>
              <a:gdLst/>
              <a:ahLst/>
              <a:cxnLst/>
              <a:rect l="l" t="t" r="r" b="b"/>
              <a:pathLst>
                <a:path w="3334793" h="363355">
                  <a:moveTo>
                    <a:pt x="3131593" y="0"/>
                  </a:moveTo>
                  <a:lnTo>
                    <a:pt x="0" y="0"/>
                  </a:lnTo>
                  <a:lnTo>
                    <a:pt x="203200" y="363355"/>
                  </a:lnTo>
                  <a:lnTo>
                    <a:pt x="3334793" y="363355"/>
                  </a:lnTo>
                  <a:lnTo>
                    <a:pt x="3131593" y="0"/>
                  </a:lnTo>
                  <a:close/>
                </a:path>
              </a:pathLst>
            </a:custGeom>
            <a:solidFill>
              <a:srgbClr val="2C426B"/>
            </a:solidFill>
          </p:spPr>
        </p:sp>
        <p:sp>
          <p:nvSpPr>
            <p:cNvPr id="4" name="TextBox 4"/>
            <p:cNvSpPr txBox="1"/>
            <p:nvPr/>
          </p:nvSpPr>
          <p:spPr>
            <a:xfrm>
              <a:off x="101600" y="-38100"/>
              <a:ext cx="3131593" cy="40145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2186306" y="-715150"/>
            <a:ext cx="7726324" cy="9280869"/>
          </a:xfrm>
          <a:custGeom>
            <a:avLst/>
            <a:gdLst/>
            <a:ahLst/>
            <a:cxnLst/>
            <a:rect l="l" t="t" r="r" b="b"/>
            <a:pathLst>
              <a:path w="7726324" h="9280869">
                <a:moveTo>
                  <a:pt x="0" y="0"/>
                </a:moveTo>
                <a:lnTo>
                  <a:pt x="7726323" y="0"/>
                </a:lnTo>
                <a:lnTo>
                  <a:pt x="7726323" y="9280870"/>
                </a:lnTo>
                <a:lnTo>
                  <a:pt x="0" y="92808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0" y="2098993"/>
            <a:ext cx="14020558" cy="1254540"/>
            <a:chOff x="0" y="0"/>
            <a:chExt cx="4060801" cy="363355"/>
          </a:xfrm>
        </p:grpSpPr>
        <p:sp>
          <p:nvSpPr>
            <p:cNvPr id="7" name="Freeform 7"/>
            <p:cNvSpPr/>
            <p:nvPr/>
          </p:nvSpPr>
          <p:spPr>
            <a:xfrm>
              <a:off x="0" y="0"/>
              <a:ext cx="4060801" cy="363355"/>
            </a:xfrm>
            <a:custGeom>
              <a:avLst/>
              <a:gdLst/>
              <a:ahLst/>
              <a:cxnLst/>
              <a:rect l="l" t="t" r="r" b="b"/>
              <a:pathLst>
                <a:path w="4060801" h="363355">
                  <a:moveTo>
                    <a:pt x="3857601" y="0"/>
                  </a:moveTo>
                  <a:lnTo>
                    <a:pt x="0" y="0"/>
                  </a:lnTo>
                  <a:lnTo>
                    <a:pt x="203200" y="363355"/>
                  </a:lnTo>
                  <a:lnTo>
                    <a:pt x="4060801" y="363355"/>
                  </a:lnTo>
                  <a:lnTo>
                    <a:pt x="3857601" y="0"/>
                  </a:lnTo>
                  <a:close/>
                </a:path>
              </a:pathLst>
            </a:custGeom>
            <a:solidFill>
              <a:srgbClr val="2C426B"/>
            </a:solidFill>
          </p:spPr>
        </p:sp>
        <p:sp>
          <p:nvSpPr>
            <p:cNvPr id="8" name="TextBox 8"/>
            <p:cNvSpPr txBox="1"/>
            <p:nvPr/>
          </p:nvSpPr>
          <p:spPr>
            <a:xfrm>
              <a:off x="101600" y="-38100"/>
              <a:ext cx="3857601" cy="401455"/>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552095" y="9197774"/>
            <a:ext cx="14278578" cy="1206630"/>
            <a:chOff x="0" y="0"/>
            <a:chExt cx="4193134" cy="354346"/>
          </a:xfrm>
        </p:grpSpPr>
        <p:sp>
          <p:nvSpPr>
            <p:cNvPr id="10" name="Freeform 10"/>
            <p:cNvSpPr/>
            <p:nvPr/>
          </p:nvSpPr>
          <p:spPr>
            <a:xfrm>
              <a:off x="0" y="0"/>
              <a:ext cx="4193134" cy="354346"/>
            </a:xfrm>
            <a:custGeom>
              <a:avLst/>
              <a:gdLst/>
              <a:ahLst/>
              <a:cxnLst/>
              <a:rect l="l" t="t" r="r" b="b"/>
              <a:pathLst>
                <a:path w="4193134" h="354346">
                  <a:moveTo>
                    <a:pt x="3989934" y="0"/>
                  </a:moveTo>
                  <a:lnTo>
                    <a:pt x="0" y="0"/>
                  </a:lnTo>
                  <a:lnTo>
                    <a:pt x="203200" y="354346"/>
                  </a:lnTo>
                  <a:lnTo>
                    <a:pt x="4193134" y="354346"/>
                  </a:lnTo>
                  <a:lnTo>
                    <a:pt x="3989934" y="0"/>
                  </a:lnTo>
                  <a:close/>
                </a:path>
              </a:pathLst>
            </a:custGeom>
            <a:solidFill>
              <a:srgbClr val="424042"/>
            </a:solidFill>
          </p:spPr>
        </p:sp>
        <p:sp>
          <p:nvSpPr>
            <p:cNvPr id="11" name="TextBox 11"/>
            <p:cNvSpPr txBox="1"/>
            <p:nvPr/>
          </p:nvSpPr>
          <p:spPr>
            <a:xfrm>
              <a:off x="101600" y="-38100"/>
              <a:ext cx="3989934" cy="392446"/>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6938967" y="0"/>
            <a:ext cx="1349033" cy="1709155"/>
            <a:chOff x="0" y="0"/>
            <a:chExt cx="571381" cy="723910"/>
          </a:xfrm>
        </p:grpSpPr>
        <p:sp>
          <p:nvSpPr>
            <p:cNvPr id="13" name="Freeform 13"/>
            <p:cNvSpPr/>
            <p:nvPr/>
          </p:nvSpPr>
          <p:spPr>
            <a:xfrm>
              <a:off x="0" y="0"/>
              <a:ext cx="571381" cy="723910"/>
            </a:xfrm>
            <a:custGeom>
              <a:avLst/>
              <a:gdLst/>
              <a:ahLst/>
              <a:cxnLst/>
              <a:rect l="l" t="t" r="r" b="b"/>
              <a:pathLst>
                <a:path w="571381" h="723910">
                  <a:moveTo>
                    <a:pt x="571381" y="0"/>
                  </a:moveTo>
                  <a:lnTo>
                    <a:pt x="571381" y="723910"/>
                  </a:lnTo>
                  <a:lnTo>
                    <a:pt x="285691" y="596910"/>
                  </a:lnTo>
                  <a:lnTo>
                    <a:pt x="0" y="723910"/>
                  </a:lnTo>
                  <a:lnTo>
                    <a:pt x="0" y="0"/>
                  </a:lnTo>
                  <a:lnTo>
                    <a:pt x="571381" y="0"/>
                  </a:lnTo>
                  <a:close/>
                </a:path>
              </a:pathLst>
            </a:custGeom>
            <a:solidFill>
              <a:srgbClr val="424042">
                <a:alpha val="71765"/>
              </a:srgbClr>
            </a:solidFill>
            <a:ln cap="sq">
              <a:noFill/>
              <a:prstDash val="dash"/>
              <a:miter/>
            </a:ln>
          </p:spPr>
        </p:sp>
        <p:sp>
          <p:nvSpPr>
            <p:cNvPr id="14" name="TextBox 14"/>
            <p:cNvSpPr txBox="1"/>
            <p:nvPr/>
          </p:nvSpPr>
          <p:spPr>
            <a:xfrm>
              <a:off x="0" y="-104775"/>
              <a:ext cx="571381" cy="701685"/>
            </a:xfrm>
            <a:prstGeom prst="rect">
              <a:avLst/>
            </a:prstGeom>
          </p:spPr>
          <p:txBody>
            <a:bodyPr lIns="127000" tIns="127000" rIns="127000" bIns="127000" rtlCol="0" anchor="ctr"/>
            <a:lstStyle/>
            <a:p>
              <a:pPr algn="ctr">
                <a:lnSpc>
                  <a:spcPts val="8122"/>
                </a:lnSpc>
              </a:pPr>
              <a:r>
                <a:rPr lang="en-US" sz="5801">
                  <a:solidFill>
                    <a:srgbClr val="FFFFFF">
                      <a:alpha val="71765"/>
                    </a:srgbClr>
                  </a:solidFill>
                  <a:latin typeface="Shrikhand"/>
                  <a:ea typeface="Shrikhand"/>
                  <a:cs typeface="Shrikhand"/>
                  <a:sym typeface="Shrikhand"/>
                </a:rPr>
                <a:t>08</a:t>
              </a:r>
            </a:p>
          </p:txBody>
        </p:sp>
      </p:grpSp>
      <p:sp>
        <p:nvSpPr>
          <p:cNvPr id="15" name="TextBox 15"/>
          <p:cNvSpPr txBox="1"/>
          <p:nvPr/>
        </p:nvSpPr>
        <p:spPr>
          <a:xfrm>
            <a:off x="2243064" y="797427"/>
            <a:ext cx="7736104" cy="822246"/>
          </a:xfrm>
          <a:prstGeom prst="rect">
            <a:avLst/>
          </a:prstGeom>
        </p:spPr>
        <p:txBody>
          <a:bodyPr lIns="0" tIns="0" rIns="0" bIns="0" rtlCol="0" anchor="t">
            <a:spAutoFit/>
          </a:bodyPr>
          <a:lstStyle/>
          <a:p>
            <a:pPr algn="l">
              <a:lnSpc>
                <a:spcPts val="6125"/>
              </a:lnSpc>
            </a:pPr>
            <a:r>
              <a:rPr lang="en-US" sz="5062" b="1">
                <a:solidFill>
                  <a:srgbClr val="000000"/>
                </a:solidFill>
                <a:latin typeface="Poppins Bold"/>
                <a:ea typeface="Poppins Bold"/>
                <a:cs typeface="Poppins Bold"/>
                <a:sym typeface="Poppins Bold"/>
              </a:rPr>
              <a:t>PROBLEM</a:t>
            </a:r>
          </a:p>
        </p:txBody>
      </p:sp>
      <p:sp>
        <p:nvSpPr>
          <p:cNvPr id="16" name="TextBox 16"/>
          <p:cNvSpPr txBox="1"/>
          <p:nvPr/>
        </p:nvSpPr>
        <p:spPr>
          <a:xfrm>
            <a:off x="961398" y="2208102"/>
            <a:ext cx="12585695" cy="960120"/>
          </a:xfrm>
          <a:prstGeom prst="rect">
            <a:avLst/>
          </a:prstGeom>
        </p:spPr>
        <p:txBody>
          <a:bodyPr lIns="0" tIns="0" rIns="0" bIns="0" rtlCol="0" anchor="t">
            <a:spAutoFit/>
          </a:bodyPr>
          <a:lstStyle/>
          <a:p>
            <a:pPr marL="582930" lvl="1" indent="-291465" algn="l">
              <a:lnSpc>
                <a:spcPts val="3779"/>
              </a:lnSpc>
              <a:buFont typeface="Arial"/>
              <a:buChar char="•"/>
            </a:pPr>
            <a:r>
              <a:rPr lang="en-US" sz="2700">
                <a:solidFill>
                  <a:srgbClr val="FFFFFF"/>
                </a:solidFill>
                <a:latin typeface="Poppins"/>
                <a:ea typeface="Poppins"/>
                <a:cs typeface="Poppins"/>
                <a:sym typeface="Poppins"/>
              </a:rPr>
              <a:t>How do Cloud and IoT technologies communicate seamlessly over the Internet despite being built on different platforms and devices?</a:t>
            </a:r>
          </a:p>
        </p:txBody>
      </p:sp>
      <p:grpSp>
        <p:nvGrpSpPr>
          <p:cNvPr id="17" name="Group 17"/>
          <p:cNvGrpSpPr/>
          <p:nvPr/>
        </p:nvGrpSpPr>
        <p:grpSpPr>
          <a:xfrm>
            <a:off x="961398" y="3925285"/>
            <a:ext cx="14020558" cy="1254540"/>
            <a:chOff x="0" y="0"/>
            <a:chExt cx="4060801" cy="363355"/>
          </a:xfrm>
        </p:grpSpPr>
        <p:sp>
          <p:nvSpPr>
            <p:cNvPr id="18" name="Freeform 18"/>
            <p:cNvSpPr/>
            <p:nvPr/>
          </p:nvSpPr>
          <p:spPr>
            <a:xfrm>
              <a:off x="0" y="0"/>
              <a:ext cx="4060801" cy="363355"/>
            </a:xfrm>
            <a:custGeom>
              <a:avLst/>
              <a:gdLst/>
              <a:ahLst/>
              <a:cxnLst/>
              <a:rect l="l" t="t" r="r" b="b"/>
              <a:pathLst>
                <a:path w="4060801" h="363355">
                  <a:moveTo>
                    <a:pt x="3857601" y="0"/>
                  </a:moveTo>
                  <a:lnTo>
                    <a:pt x="0" y="0"/>
                  </a:lnTo>
                  <a:lnTo>
                    <a:pt x="203200" y="363355"/>
                  </a:lnTo>
                  <a:lnTo>
                    <a:pt x="4060801" y="363355"/>
                  </a:lnTo>
                  <a:lnTo>
                    <a:pt x="3857601" y="0"/>
                  </a:lnTo>
                  <a:close/>
                </a:path>
              </a:pathLst>
            </a:custGeom>
            <a:solidFill>
              <a:srgbClr val="2C426B"/>
            </a:solidFill>
          </p:spPr>
        </p:sp>
        <p:sp>
          <p:nvSpPr>
            <p:cNvPr id="19" name="TextBox 19"/>
            <p:cNvSpPr txBox="1"/>
            <p:nvPr/>
          </p:nvSpPr>
          <p:spPr>
            <a:xfrm>
              <a:off x="101600" y="-38100"/>
              <a:ext cx="3857601" cy="401455"/>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20"/>
          <p:cNvSpPr txBox="1"/>
          <p:nvPr/>
        </p:nvSpPr>
        <p:spPr>
          <a:xfrm>
            <a:off x="1721913" y="4034395"/>
            <a:ext cx="12499529" cy="960120"/>
          </a:xfrm>
          <a:prstGeom prst="rect">
            <a:avLst/>
          </a:prstGeom>
        </p:spPr>
        <p:txBody>
          <a:bodyPr lIns="0" tIns="0" rIns="0" bIns="0" rtlCol="0" anchor="t">
            <a:spAutoFit/>
          </a:bodyPr>
          <a:lstStyle/>
          <a:p>
            <a:pPr marL="582930" lvl="1" indent="-291465" algn="l">
              <a:lnSpc>
                <a:spcPts val="3779"/>
              </a:lnSpc>
              <a:buFont typeface="Arial"/>
              <a:buChar char="•"/>
            </a:pPr>
            <a:r>
              <a:rPr lang="en-US" sz="2700">
                <a:solidFill>
                  <a:srgbClr val="FFFFFF"/>
                </a:solidFill>
                <a:latin typeface="Poppins"/>
                <a:ea typeface="Poppins"/>
                <a:cs typeface="Poppins"/>
                <a:sym typeface="Poppins"/>
              </a:rPr>
              <a:t>In terms of breadth, the OSI model provides a universal framework for all networking technologies.</a:t>
            </a:r>
          </a:p>
        </p:txBody>
      </p:sp>
      <p:sp>
        <p:nvSpPr>
          <p:cNvPr id="21" name="TextBox 21"/>
          <p:cNvSpPr txBox="1"/>
          <p:nvPr/>
        </p:nvSpPr>
        <p:spPr>
          <a:xfrm>
            <a:off x="2628204" y="5662446"/>
            <a:ext cx="11712687" cy="1436370"/>
          </a:xfrm>
          <a:prstGeom prst="rect">
            <a:avLst/>
          </a:prstGeom>
        </p:spPr>
        <p:txBody>
          <a:bodyPr lIns="0" tIns="0" rIns="0" bIns="0" rtlCol="0" anchor="t">
            <a:spAutoFit/>
          </a:bodyPr>
          <a:lstStyle/>
          <a:p>
            <a:pPr marL="582930" lvl="1" indent="-291465" algn="l">
              <a:lnSpc>
                <a:spcPts val="3779"/>
              </a:lnSpc>
              <a:buFont typeface="Arial"/>
              <a:buChar char="•"/>
            </a:pPr>
            <a:r>
              <a:rPr lang="en-US" sz="2700">
                <a:solidFill>
                  <a:srgbClr val="FFFFFF"/>
                </a:solidFill>
                <a:latin typeface="Poppins"/>
                <a:ea typeface="Poppins"/>
                <a:cs typeface="Poppins"/>
                <a:sym typeface="Poppins"/>
              </a:rPr>
              <a:t>In terms of depth, each layer handles a specific technical responsibility — such as data routing, encryption, and session management</a:t>
            </a:r>
          </a:p>
        </p:txBody>
      </p:sp>
      <p:sp>
        <p:nvSpPr>
          <p:cNvPr id="22" name="Freeform 22"/>
          <p:cNvSpPr/>
          <p:nvPr/>
        </p:nvSpPr>
        <p:spPr>
          <a:xfrm flipH="1">
            <a:off x="11355307" y="8329299"/>
            <a:ext cx="6932693" cy="3249700"/>
          </a:xfrm>
          <a:custGeom>
            <a:avLst/>
            <a:gdLst/>
            <a:ahLst/>
            <a:cxnLst/>
            <a:rect l="l" t="t" r="r" b="b"/>
            <a:pathLst>
              <a:path w="6932693" h="3249700">
                <a:moveTo>
                  <a:pt x="6932693" y="0"/>
                </a:moveTo>
                <a:lnTo>
                  <a:pt x="0" y="0"/>
                </a:lnTo>
                <a:lnTo>
                  <a:pt x="0" y="3249700"/>
                </a:lnTo>
                <a:lnTo>
                  <a:pt x="6932693" y="3249700"/>
                </a:lnTo>
                <a:lnTo>
                  <a:pt x="6932693" y="0"/>
                </a:lnTo>
                <a:close/>
              </a:path>
            </a:pathLst>
          </a:custGeom>
          <a:blipFill>
            <a:blip r:embed="rId4"/>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088191" y="1869148"/>
            <a:ext cx="10783605" cy="3347085"/>
          </a:xfrm>
          <a:prstGeom prst="rect">
            <a:avLst/>
          </a:prstGeom>
        </p:spPr>
        <p:txBody>
          <a:bodyPr lIns="0" tIns="0" rIns="0" bIns="0" rtlCol="0" anchor="t">
            <a:spAutoFit/>
          </a:bodyPr>
          <a:lstStyle/>
          <a:p>
            <a:pPr algn="just">
              <a:lnSpc>
                <a:spcPts val="2940"/>
              </a:lnSpc>
            </a:pPr>
            <a:r>
              <a:rPr lang="en-US" sz="2100" b="1">
                <a:solidFill>
                  <a:srgbClr val="000000"/>
                </a:solidFill>
                <a:latin typeface="Poppins Bold"/>
                <a:ea typeface="Poppins Bold"/>
                <a:cs typeface="Poppins Bold"/>
                <a:sym typeface="Poppins Bold"/>
              </a:rPr>
              <a:t>Analysis:</a:t>
            </a:r>
          </a:p>
          <a:p>
            <a:pPr marL="453390" lvl="1" indent="-226695" algn="just">
              <a:lnSpc>
                <a:spcPts val="2940"/>
              </a:lnSpc>
              <a:buFont typeface="Arial"/>
              <a:buChar char="•"/>
            </a:pPr>
            <a:r>
              <a:rPr lang="en-US" sz="2100">
                <a:solidFill>
                  <a:srgbClr val="000000"/>
                </a:solidFill>
                <a:latin typeface="Poppins"/>
                <a:ea typeface="Poppins"/>
                <a:cs typeface="Poppins"/>
                <a:sym typeface="Poppins"/>
              </a:rPr>
              <a:t>For the Physical and Data Link layers, I observed how IoT devices connect through sensors, Wi-Fi, and Bluetooth.</a:t>
            </a:r>
          </a:p>
          <a:p>
            <a:pPr marL="453390" lvl="1" indent="-226695" algn="just">
              <a:lnSpc>
                <a:spcPts val="2940"/>
              </a:lnSpc>
              <a:buFont typeface="Arial"/>
              <a:buChar char="•"/>
            </a:pPr>
            <a:r>
              <a:rPr lang="en-US" sz="2100">
                <a:solidFill>
                  <a:srgbClr val="000000"/>
                </a:solidFill>
                <a:latin typeface="Poppins"/>
                <a:ea typeface="Poppins"/>
                <a:cs typeface="Poppins"/>
                <a:sym typeface="Poppins"/>
              </a:rPr>
              <a:t>At the Network and Transport layers, I studied how data is routed securely from IoT devices to Cloud servers using IP, TCP, and UDP.</a:t>
            </a:r>
          </a:p>
          <a:p>
            <a:pPr marL="453390" lvl="1" indent="-226695" algn="just">
              <a:lnSpc>
                <a:spcPts val="2940"/>
              </a:lnSpc>
              <a:buFont typeface="Arial"/>
              <a:buChar char="•"/>
            </a:pPr>
            <a:r>
              <a:rPr lang="en-US" sz="2100">
                <a:solidFill>
                  <a:srgbClr val="000000"/>
                </a:solidFill>
                <a:latin typeface="Poppins"/>
                <a:ea typeface="Poppins"/>
                <a:cs typeface="Poppins"/>
                <a:sym typeface="Poppins"/>
              </a:rPr>
              <a:t>The Session, Presentation, and Application layers were analyzed to understand how the cloud manages sessions, encrypts data, and delivers applications to users.</a:t>
            </a:r>
          </a:p>
          <a:p>
            <a:pPr algn="just">
              <a:lnSpc>
                <a:spcPts val="2940"/>
              </a:lnSpc>
            </a:pPr>
            <a:endParaRPr lang="en-US" sz="2100">
              <a:solidFill>
                <a:srgbClr val="000000"/>
              </a:solidFill>
              <a:latin typeface="Poppins"/>
              <a:ea typeface="Poppins"/>
              <a:cs typeface="Poppins"/>
              <a:sym typeface="Poppins"/>
            </a:endParaRPr>
          </a:p>
        </p:txBody>
      </p:sp>
      <p:grpSp>
        <p:nvGrpSpPr>
          <p:cNvPr id="3" name="Group 3"/>
          <p:cNvGrpSpPr/>
          <p:nvPr/>
        </p:nvGrpSpPr>
        <p:grpSpPr>
          <a:xfrm>
            <a:off x="4868736" y="5459528"/>
            <a:ext cx="11113512" cy="697158"/>
            <a:chOff x="0" y="0"/>
            <a:chExt cx="3176676" cy="199275"/>
          </a:xfrm>
        </p:grpSpPr>
        <p:sp>
          <p:nvSpPr>
            <p:cNvPr id="4" name="Freeform 4"/>
            <p:cNvSpPr/>
            <p:nvPr/>
          </p:nvSpPr>
          <p:spPr>
            <a:xfrm>
              <a:off x="0" y="0"/>
              <a:ext cx="3176675" cy="199275"/>
            </a:xfrm>
            <a:custGeom>
              <a:avLst/>
              <a:gdLst/>
              <a:ahLst/>
              <a:cxnLst/>
              <a:rect l="l" t="t" r="r" b="b"/>
              <a:pathLst>
                <a:path w="3176675" h="199275">
                  <a:moveTo>
                    <a:pt x="203200" y="0"/>
                  </a:moveTo>
                  <a:lnTo>
                    <a:pt x="3176675" y="0"/>
                  </a:lnTo>
                  <a:lnTo>
                    <a:pt x="2973475" y="199275"/>
                  </a:lnTo>
                  <a:lnTo>
                    <a:pt x="0" y="199275"/>
                  </a:lnTo>
                  <a:lnTo>
                    <a:pt x="203200" y="0"/>
                  </a:lnTo>
                  <a:close/>
                </a:path>
              </a:pathLst>
            </a:custGeom>
            <a:solidFill>
              <a:srgbClr val="2C426B"/>
            </a:solidFill>
          </p:spPr>
        </p:sp>
        <p:sp>
          <p:nvSpPr>
            <p:cNvPr id="5" name="TextBox 5"/>
            <p:cNvSpPr txBox="1"/>
            <p:nvPr/>
          </p:nvSpPr>
          <p:spPr>
            <a:xfrm>
              <a:off x="101600" y="-28575"/>
              <a:ext cx="2973476" cy="227850"/>
            </a:xfrm>
            <a:prstGeom prst="rect">
              <a:avLst/>
            </a:prstGeom>
          </p:spPr>
          <p:txBody>
            <a:bodyPr lIns="50800" tIns="50800" rIns="50800" bIns="50800" rtlCol="0" anchor="ctr"/>
            <a:lstStyle/>
            <a:p>
              <a:pPr algn="ctr">
                <a:lnSpc>
                  <a:spcPts val="2646"/>
                </a:lnSpc>
              </a:pPr>
              <a:endParaRPr/>
            </a:p>
          </p:txBody>
        </p:sp>
      </p:grpSp>
      <p:sp>
        <p:nvSpPr>
          <p:cNvPr id="6" name="AutoShape 6"/>
          <p:cNvSpPr/>
          <p:nvPr/>
        </p:nvSpPr>
        <p:spPr>
          <a:xfrm flipV="1">
            <a:off x="5575034" y="6944703"/>
            <a:ext cx="7823360" cy="0"/>
          </a:xfrm>
          <a:prstGeom prst="line">
            <a:avLst/>
          </a:prstGeom>
          <a:ln w="38100" cap="flat">
            <a:solidFill>
              <a:srgbClr val="000000"/>
            </a:solidFill>
            <a:prstDash val="solid"/>
            <a:headEnd type="none" w="sm" len="sm"/>
            <a:tailEnd type="none" w="sm" len="sm"/>
          </a:ln>
        </p:spPr>
      </p:sp>
      <p:sp>
        <p:nvSpPr>
          <p:cNvPr id="7" name="Freeform 7"/>
          <p:cNvSpPr/>
          <p:nvPr/>
        </p:nvSpPr>
        <p:spPr>
          <a:xfrm>
            <a:off x="7088191" y="6413861"/>
            <a:ext cx="404307" cy="404307"/>
          </a:xfrm>
          <a:custGeom>
            <a:avLst/>
            <a:gdLst/>
            <a:ahLst/>
            <a:cxnLst/>
            <a:rect l="l" t="t" r="r" b="b"/>
            <a:pathLst>
              <a:path w="404307" h="404307">
                <a:moveTo>
                  <a:pt x="0" y="0"/>
                </a:moveTo>
                <a:lnTo>
                  <a:pt x="404307" y="0"/>
                </a:lnTo>
                <a:lnTo>
                  <a:pt x="404307" y="404307"/>
                </a:lnTo>
                <a:lnTo>
                  <a:pt x="0" y="4043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7091277" y="5590953"/>
            <a:ext cx="7434453" cy="375285"/>
          </a:xfrm>
          <a:prstGeom prst="rect">
            <a:avLst/>
          </a:prstGeom>
        </p:spPr>
        <p:txBody>
          <a:bodyPr lIns="0" tIns="0" rIns="0" bIns="0" rtlCol="0" anchor="t">
            <a:spAutoFit/>
          </a:bodyPr>
          <a:lstStyle/>
          <a:p>
            <a:pPr algn="just">
              <a:lnSpc>
                <a:spcPts val="2940"/>
              </a:lnSpc>
            </a:pPr>
            <a:r>
              <a:rPr lang="en-US" sz="2100" b="1">
                <a:solidFill>
                  <a:srgbClr val="FFFFFF"/>
                </a:solidFill>
                <a:latin typeface="Poppins Bold"/>
                <a:ea typeface="Poppins Bold"/>
                <a:cs typeface="Poppins Bold"/>
                <a:sym typeface="Poppins Bold"/>
              </a:rPr>
              <a:t>Benefits:</a:t>
            </a:r>
          </a:p>
        </p:txBody>
      </p:sp>
      <p:sp>
        <p:nvSpPr>
          <p:cNvPr id="9" name="AutoShape 9"/>
          <p:cNvSpPr/>
          <p:nvPr/>
        </p:nvSpPr>
        <p:spPr>
          <a:xfrm flipV="1">
            <a:off x="5575034" y="7709552"/>
            <a:ext cx="7823360" cy="0"/>
          </a:xfrm>
          <a:prstGeom prst="line">
            <a:avLst/>
          </a:prstGeom>
          <a:ln w="38100" cap="flat">
            <a:solidFill>
              <a:srgbClr val="000000"/>
            </a:solidFill>
            <a:prstDash val="solid"/>
            <a:headEnd type="none" w="sm" len="sm"/>
            <a:tailEnd type="none" w="sm" len="sm"/>
          </a:ln>
        </p:spPr>
      </p:sp>
      <p:sp>
        <p:nvSpPr>
          <p:cNvPr id="10" name="Freeform 10"/>
          <p:cNvSpPr/>
          <p:nvPr/>
        </p:nvSpPr>
        <p:spPr>
          <a:xfrm>
            <a:off x="7088191" y="7178710"/>
            <a:ext cx="404307" cy="404307"/>
          </a:xfrm>
          <a:custGeom>
            <a:avLst/>
            <a:gdLst/>
            <a:ahLst/>
            <a:cxnLst/>
            <a:rect l="l" t="t" r="r" b="b"/>
            <a:pathLst>
              <a:path w="404307" h="404307">
                <a:moveTo>
                  <a:pt x="0" y="0"/>
                </a:moveTo>
                <a:lnTo>
                  <a:pt x="404307" y="0"/>
                </a:lnTo>
                <a:lnTo>
                  <a:pt x="404307" y="404307"/>
                </a:lnTo>
                <a:lnTo>
                  <a:pt x="0" y="4043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AutoShape 11"/>
          <p:cNvSpPr/>
          <p:nvPr/>
        </p:nvSpPr>
        <p:spPr>
          <a:xfrm flipV="1">
            <a:off x="5575034" y="8474401"/>
            <a:ext cx="7823360" cy="0"/>
          </a:xfrm>
          <a:prstGeom prst="line">
            <a:avLst/>
          </a:prstGeom>
          <a:ln w="38100" cap="flat">
            <a:solidFill>
              <a:srgbClr val="000000"/>
            </a:solidFill>
            <a:prstDash val="solid"/>
            <a:headEnd type="none" w="sm" len="sm"/>
            <a:tailEnd type="none" w="sm" len="sm"/>
          </a:ln>
        </p:spPr>
      </p:sp>
      <p:sp>
        <p:nvSpPr>
          <p:cNvPr id="12" name="Freeform 12"/>
          <p:cNvSpPr/>
          <p:nvPr/>
        </p:nvSpPr>
        <p:spPr>
          <a:xfrm>
            <a:off x="7088191" y="7943559"/>
            <a:ext cx="404307" cy="404307"/>
          </a:xfrm>
          <a:custGeom>
            <a:avLst/>
            <a:gdLst/>
            <a:ahLst/>
            <a:cxnLst/>
            <a:rect l="l" t="t" r="r" b="b"/>
            <a:pathLst>
              <a:path w="404307" h="404307">
                <a:moveTo>
                  <a:pt x="0" y="0"/>
                </a:moveTo>
                <a:lnTo>
                  <a:pt x="404307" y="0"/>
                </a:lnTo>
                <a:lnTo>
                  <a:pt x="404307" y="404307"/>
                </a:lnTo>
                <a:lnTo>
                  <a:pt x="0" y="4043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AutoShape 13"/>
          <p:cNvSpPr/>
          <p:nvPr/>
        </p:nvSpPr>
        <p:spPr>
          <a:xfrm flipV="1">
            <a:off x="5575034" y="9239250"/>
            <a:ext cx="7823360" cy="0"/>
          </a:xfrm>
          <a:prstGeom prst="line">
            <a:avLst/>
          </a:prstGeom>
          <a:ln w="38100" cap="flat">
            <a:solidFill>
              <a:srgbClr val="000000"/>
            </a:solidFill>
            <a:prstDash val="solid"/>
            <a:headEnd type="none" w="sm" len="sm"/>
            <a:tailEnd type="none" w="sm" len="sm"/>
          </a:ln>
        </p:spPr>
      </p:sp>
      <p:sp>
        <p:nvSpPr>
          <p:cNvPr id="14" name="Freeform 14"/>
          <p:cNvSpPr/>
          <p:nvPr/>
        </p:nvSpPr>
        <p:spPr>
          <a:xfrm>
            <a:off x="7088191" y="8708407"/>
            <a:ext cx="404307" cy="404307"/>
          </a:xfrm>
          <a:custGeom>
            <a:avLst/>
            <a:gdLst/>
            <a:ahLst/>
            <a:cxnLst/>
            <a:rect l="l" t="t" r="r" b="b"/>
            <a:pathLst>
              <a:path w="404307" h="404307">
                <a:moveTo>
                  <a:pt x="0" y="0"/>
                </a:moveTo>
                <a:lnTo>
                  <a:pt x="404307" y="0"/>
                </a:lnTo>
                <a:lnTo>
                  <a:pt x="404307" y="404308"/>
                </a:lnTo>
                <a:lnTo>
                  <a:pt x="0" y="4043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3175516" y="-17012"/>
            <a:ext cx="11196632" cy="6326097"/>
          </a:xfrm>
          <a:custGeom>
            <a:avLst/>
            <a:gdLst/>
            <a:ahLst/>
            <a:cxnLst/>
            <a:rect l="l" t="t" r="r" b="b"/>
            <a:pathLst>
              <a:path w="11196632" h="6326097">
                <a:moveTo>
                  <a:pt x="0" y="6326098"/>
                </a:moveTo>
                <a:lnTo>
                  <a:pt x="11196633" y="6326098"/>
                </a:lnTo>
                <a:lnTo>
                  <a:pt x="11196633" y="0"/>
                </a:lnTo>
                <a:lnTo>
                  <a:pt x="0" y="0"/>
                </a:lnTo>
                <a:lnTo>
                  <a:pt x="0" y="6326098"/>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12872769" y="0"/>
            <a:ext cx="1144210" cy="2402541"/>
          </a:xfrm>
          <a:custGeom>
            <a:avLst/>
            <a:gdLst/>
            <a:ahLst/>
            <a:cxnLst/>
            <a:rect l="l" t="t" r="r" b="b"/>
            <a:pathLst>
              <a:path w="1144210" h="2402541">
                <a:moveTo>
                  <a:pt x="0" y="0"/>
                </a:moveTo>
                <a:lnTo>
                  <a:pt x="1144210" y="0"/>
                </a:lnTo>
                <a:lnTo>
                  <a:pt x="1144210" y="2402541"/>
                </a:lnTo>
                <a:lnTo>
                  <a:pt x="0" y="240254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7" name="Group 17"/>
          <p:cNvGrpSpPr/>
          <p:nvPr/>
        </p:nvGrpSpPr>
        <p:grpSpPr>
          <a:xfrm>
            <a:off x="16986593" y="0"/>
            <a:ext cx="1349033" cy="1709155"/>
            <a:chOff x="0" y="0"/>
            <a:chExt cx="571381" cy="723910"/>
          </a:xfrm>
        </p:grpSpPr>
        <p:sp>
          <p:nvSpPr>
            <p:cNvPr id="18" name="Freeform 18"/>
            <p:cNvSpPr/>
            <p:nvPr/>
          </p:nvSpPr>
          <p:spPr>
            <a:xfrm>
              <a:off x="0" y="0"/>
              <a:ext cx="571381" cy="723910"/>
            </a:xfrm>
            <a:custGeom>
              <a:avLst/>
              <a:gdLst/>
              <a:ahLst/>
              <a:cxnLst/>
              <a:rect l="l" t="t" r="r" b="b"/>
              <a:pathLst>
                <a:path w="571381" h="723910">
                  <a:moveTo>
                    <a:pt x="571381" y="0"/>
                  </a:moveTo>
                  <a:lnTo>
                    <a:pt x="571381" y="723910"/>
                  </a:lnTo>
                  <a:lnTo>
                    <a:pt x="285691" y="596910"/>
                  </a:lnTo>
                  <a:lnTo>
                    <a:pt x="0" y="723910"/>
                  </a:lnTo>
                  <a:lnTo>
                    <a:pt x="0" y="0"/>
                  </a:lnTo>
                  <a:lnTo>
                    <a:pt x="571381" y="0"/>
                  </a:lnTo>
                  <a:close/>
                </a:path>
              </a:pathLst>
            </a:custGeom>
            <a:solidFill>
              <a:srgbClr val="FFFFFF">
                <a:alpha val="83922"/>
              </a:srgbClr>
            </a:solidFill>
            <a:ln cap="sq">
              <a:noFill/>
              <a:prstDash val="dash"/>
              <a:miter/>
            </a:ln>
          </p:spPr>
        </p:sp>
        <p:sp>
          <p:nvSpPr>
            <p:cNvPr id="19" name="TextBox 19"/>
            <p:cNvSpPr txBox="1"/>
            <p:nvPr/>
          </p:nvSpPr>
          <p:spPr>
            <a:xfrm>
              <a:off x="0" y="-104775"/>
              <a:ext cx="571381" cy="701685"/>
            </a:xfrm>
            <a:prstGeom prst="rect">
              <a:avLst/>
            </a:prstGeom>
          </p:spPr>
          <p:txBody>
            <a:bodyPr lIns="127000" tIns="127000" rIns="127000" bIns="127000" rtlCol="0" anchor="ctr"/>
            <a:lstStyle/>
            <a:p>
              <a:pPr algn="ctr">
                <a:lnSpc>
                  <a:spcPts val="8122"/>
                </a:lnSpc>
              </a:pPr>
              <a:r>
                <a:rPr lang="en-US" sz="5801">
                  <a:solidFill>
                    <a:srgbClr val="000000">
                      <a:alpha val="83922"/>
                    </a:srgbClr>
                  </a:solidFill>
                  <a:latin typeface="Shrikhand"/>
                  <a:ea typeface="Shrikhand"/>
                  <a:cs typeface="Shrikhand"/>
                  <a:sym typeface="Shrikhand"/>
                </a:rPr>
                <a:t>09</a:t>
              </a:r>
            </a:p>
          </p:txBody>
        </p:sp>
      </p:grpSp>
      <p:sp>
        <p:nvSpPr>
          <p:cNvPr id="20" name="TextBox 20"/>
          <p:cNvSpPr txBox="1"/>
          <p:nvPr/>
        </p:nvSpPr>
        <p:spPr>
          <a:xfrm>
            <a:off x="7091277" y="1034053"/>
            <a:ext cx="9138697" cy="831850"/>
          </a:xfrm>
          <a:prstGeom prst="rect">
            <a:avLst/>
          </a:prstGeom>
        </p:spPr>
        <p:txBody>
          <a:bodyPr lIns="0" tIns="0" rIns="0" bIns="0" rtlCol="0" anchor="t">
            <a:spAutoFit/>
          </a:bodyPr>
          <a:lstStyle/>
          <a:p>
            <a:pPr algn="l">
              <a:lnSpc>
                <a:spcPts val="6049"/>
              </a:lnSpc>
              <a:spcBef>
                <a:spcPct val="0"/>
              </a:spcBef>
            </a:pPr>
            <a:r>
              <a:rPr lang="en-US" sz="5499" b="1">
                <a:solidFill>
                  <a:srgbClr val="000000"/>
                </a:solidFill>
                <a:latin typeface="Poppins Bold"/>
                <a:ea typeface="Poppins Bold"/>
                <a:cs typeface="Poppins Bold"/>
                <a:sym typeface="Poppins Bold"/>
              </a:rPr>
              <a:t>ANALYSIS AND BENEFITS</a:t>
            </a:r>
          </a:p>
        </p:txBody>
      </p:sp>
      <p:sp>
        <p:nvSpPr>
          <p:cNvPr id="21" name="TextBox 21"/>
          <p:cNvSpPr txBox="1"/>
          <p:nvPr/>
        </p:nvSpPr>
        <p:spPr>
          <a:xfrm>
            <a:off x="7605201" y="6399823"/>
            <a:ext cx="4916799" cy="375285"/>
          </a:xfrm>
          <a:prstGeom prst="rect">
            <a:avLst/>
          </a:prstGeom>
        </p:spPr>
        <p:txBody>
          <a:bodyPr lIns="0" tIns="0" rIns="0" bIns="0" rtlCol="0" anchor="t">
            <a:spAutoFit/>
          </a:bodyPr>
          <a:lstStyle/>
          <a:p>
            <a:pPr algn="just">
              <a:lnSpc>
                <a:spcPts val="2940"/>
              </a:lnSpc>
            </a:pPr>
            <a:r>
              <a:rPr lang="en-US" sz="2100">
                <a:solidFill>
                  <a:srgbClr val="000000"/>
                </a:solidFill>
                <a:latin typeface="Poppins"/>
                <a:ea typeface="Poppins"/>
                <a:cs typeface="Poppins"/>
                <a:sym typeface="Poppins"/>
              </a:rPr>
              <a:t>Efficient communication</a:t>
            </a:r>
          </a:p>
        </p:txBody>
      </p:sp>
      <p:sp>
        <p:nvSpPr>
          <p:cNvPr id="22" name="TextBox 22"/>
          <p:cNvSpPr txBox="1"/>
          <p:nvPr/>
        </p:nvSpPr>
        <p:spPr>
          <a:xfrm>
            <a:off x="7605201" y="7164672"/>
            <a:ext cx="4916799" cy="375285"/>
          </a:xfrm>
          <a:prstGeom prst="rect">
            <a:avLst/>
          </a:prstGeom>
        </p:spPr>
        <p:txBody>
          <a:bodyPr lIns="0" tIns="0" rIns="0" bIns="0" rtlCol="0" anchor="t">
            <a:spAutoFit/>
          </a:bodyPr>
          <a:lstStyle/>
          <a:p>
            <a:pPr algn="just">
              <a:lnSpc>
                <a:spcPts val="2940"/>
              </a:lnSpc>
            </a:pPr>
            <a:r>
              <a:rPr lang="en-US" sz="2100">
                <a:solidFill>
                  <a:srgbClr val="000000"/>
                </a:solidFill>
                <a:latin typeface="Poppins"/>
                <a:ea typeface="Poppins"/>
                <a:cs typeface="Poppins"/>
                <a:sym typeface="Poppins"/>
              </a:rPr>
              <a:t>Enhanced interoperability</a:t>
            </a:r>
          </a:p>
        </p:txBody>
      </p:sp>
      <p:sp>
        <p:nvSpPr>
          <p:cNvPr id="23" name="TextBox 23"/>
          <p:cNvSpPr txBox="1"/>
          <p:nvPr/>
        </p:nvSpPr>
        <p:spPr>
          <a:xfrm>
            <a:off x="7605201" y="7929521"/>
            <a:ext cx="4916799" cy="375285"/>
          </a:xfrm>
          <a:prstGeom prst="rect">
            <a:avLst/>
          </a:prstGeom>
        </p:spPr>
        <p:txBody>
          <a:bodyPr lIns="0" tIns="0" rIns="0" bIns="0" rtlCol="0" anchor="t">
            <a:spAutoFit/>
          </a:bodyPr>
          <a:lstStyle/>
          <a:p>
            <a:pPr algn="just">
              <a:lnSpc>
                <a:spcPts val="2940"/>
              </a:lnSpc>
            </a:pPr>
            <a:r>
              <a:rPr lang="en-US" sz="2100">
                <a:solidFill>
                  <a:srgbClr val="000000"/>
                </a:solidFill>
                <a:latin typeface="Poppins"/>
                <a:ea typeface="Poppins"/>
                <a:cs typeface="Poppins"/>
                <a:sym typeface="Poppins"/>
              </a:rPr>
              <a:t>Data security &amp; encryption</a:t>
            </a:r>
          </a:p>
        </p:txBody>
      </p:sp>
      <p:sp>
        <p:nvSpPr>
          <p:cNvPr id="24" name="TextBox 24"/>
          <p:cNvSpPr txBox="1"/>
          <p:nvPr/>
        </p:nvSpPr>
        <p:spPr>
          <a:xfrm>
            <a:off x="7605201" y="8694370"/>
            <a:ext cx="5217833" cy="375285"/>
          </a:xfrm>
          <a:prstGeom prst="rect">
            <a:avLst/>
          </a:prstGeom>
        </p:spPr>
        <p:txBody>
          <a:bodyPr lIns="0" tIns="0" rIns="0" bIns="0" rtlCol="0" anchor="t">
            <a:spAutoFit/>
          </a:bodyPr>
          <a:lstStyle/>
          <a:p>
            <a:pPr algn="just">
              <a:lnSpc>
                <a:spcPts val="2940"/>
              </a:lnSpc>
            </a:pPr>
            <a:r>
              <a:rPr lang="en-US" sz="2100">
                <a:solidFill>
                  <a:srgbClr val="000000"/>
                </a:solidFill>
                <a:latin typeface="Poppins"/>
                <a:ea typeface="Poppins"/>
                <a:cs typeface="Poppins"/>
                <a:sym typeface="Poppins"/>
              </a:rPr>
              <a:t>Simplified troubleshooting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9751473" y="-281287"/>
            <a:ext cx="8798099" cy="10568287"/>
          </a:xfrm>
          <a:custGeom>
            <a:avLst/>
            <a:gdLst/>
            <a:ahLst/>
            <a:cxnLst/>
            <a:rect l="l" t="t" r="r" b="b"/>
            <a:pathLst>
              <a:path w="8798099" h="10568287">
                <a:moveTo>
                  <a:pt x="8798099" y="0"/>
                </a:moveTo>
                <a:lnTo>
                  <a:pt x="0" y="0"/>
                </a:lnTo>
                <a:lnTo>
                  <a:pt x="0" y="10568287"/>
                </a:lnTo>
                <a:lnTo>
                  <a:pt x="8798099" y="10568287"/>
                </a:lnTo>
                <a:lnTo>
                  <a:pt x="8798099"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3357063" y="0"/>
            <a:ext cx="3204067" cy="2622550"/>
            <a:chOff x="0" y="0"/>
            <a:chExt cx="406400" cy="332641"/>
          </a:xfrm>
        </p:grpSpPr>
        <p:sp>
          <p:nvSpPr>
            <p:cNvPr id="4" name="Freeform 4"/>
            <p:cNvSpPr/>
            <p:nvPr/>
          </p:nvSpPr>
          <p:spPr>
            <a:xfrm>
              <a:off x="0" y="0"/>
              <a:ext cx="406400" cy="332641"/>
            </a:xfrm>
            <a:custGeom>
              <a:avLst/>
              <a:gdLst/>
              <a:ahLst/>
              <a:cxnLst/>
              <a:rect l="l" t="t" r="r" b="b"/>
              <a:pathLst>
                <a:path w="406400" h="332641">
                  <a:moveTo>
                    <a:pt x="203200" y="0"/>
                  </a:moveTo>
                  <a:lnTo>
                    <a:pt x="406400" y="0"/>
                  </a:lnTo>
                  <a:lnTo>
                    <a:pt x="203200" y="332641"/>
                  </a:lnTo>
                  <a:lnTo>
                    <a:pt x="0" y="332641"/>
                  </a:lnTo>
                  <a:lnTo>
                    <a:pt x="203200" y="0"/>
                  </a:lnTo>
                  <a:close/>
                </a:path>
              </a:pathLst>
            </a:custGeom>
            <a:solidFill>
              <a:srgbClr val="2C426B"/>
            </a:solidFill>
          </p:spPr>
        </p:sp>
        <p:sp>
          <p:nvSpPr>
            <p:cNvPr id="5" name="TextBox 5"/>
            <p:cNvSpPr txBox="1"/>
            <p:nvPr/>
          </p:nvSpPr>
          <p:spPr>
            <a:xfrm>
              <a:off x="101600" y="-38100"/>
              <a:ext cx="203200" cy="370741"/>
            </a:xfrm>
            <a:prstGeom prst="rect">
              <a:avLst/>
            </a:prstGeom>
          </p:spPr>
          <p:txBody>
            <a:bodyPr lIns="50800" tIns="50800" rIns="50800" bIns="50800" rtlCol="0" anchor="ctr"/>
            <a:lstStyle/>
            <a:p>
              <a:pPr algn="ctr">
                <a:lnSpc>
                  <a:spcPts val="2514"/>
                </a:lnSpc>
              </a:pPr>
              <a:endParaRPr/>
            </a:p>
          </p:txBody>
        </p:sp>
      </p:grpSp>
      <p:sp>
        <p:nvSpPr>
          <p:cNvPr id="6" name="Freeform 6"/>
          <p:cNvSpPr/>
          <p:nvPr/>
        </p:nvSpPr>
        <p:spPr>
          <a:xfrm>
            <a:off x="11889839" y="168762"/>
            <a:ext cx="1467224" cy="3080785"/>
          </a:xfrm>
          <a:custGeom>
            <a:avLst/>
            <a:gdLst/>
            <a:ahLst/>
            <a:cxnLst/>
            <a:rect l="l" t="t" r="r" b="b"/>
            <a:pathLst>
              <a:path w="1467224" h="3080785">
                <a:moveTo>
                  <a:pt x="0" y="0"/>
                </a:moveTo>
                <a:lnTo>
                  <a:pt x="1467224" y="0"/>
                </a:lnTo>
                <a:lnTo>
                  <a:pt x="1467224" y="3080785"/>
                </a:lnTo>
                <a:lnTo>
                  <a:pt x="0" y="30807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1028700" y="1540393"/>
            <a:ext cx="5248561" cy="831850"/>
          </a:xfrm>
          <a:prstGeom prst="rect">
            <a:avLst/>
          </a:prstGeom>
        </p:spPr>
        <p:txBody>
          <a:bodyPr lIns="0" tIns="0" rIns="0" bIns="0" rtlCol="0" anchor="t">
            <a:spAutoFit/>
          </a:bodyPr>
          <a:lstStyle/>
          <a:p>
            <a:pPr algn="l">
              <a:lnSpc>
                <a:spcPts val="6049"/>
              </a:lnSpc>
              <a:spcBef>
                <a:spcPct val="0"/>
              </a:spcBef>
            </a:pPr>
            <a:r>
              <a:rPr lang="en-US" sz="5499" b="1">
                <a:solidFill>
                  <a:srgbClr val="000000"/>
                </a:solidFill>
                <a:latin typeface="Poppins Bold"/>
                <a:ea typeface="Poppins Bold"/>
                <a:cs typeface="Poppins Bold"/>
                <a:sym typeface="Poppins Bold"/>
              </a:rPr>
              <a:t>CONCLUSION</a:t>
            </a:r>
          </a:p>
        </p:txBody>
      </p:sp>
      <p:sp>
        <p:nvSpPr>
          <p:cNvPr id="8" name="TextBox 8"/>
          <p:cNvSpPr txBox="1"/>
          <p:nvPr/>
        </p:nvSpPr>
        <p:spPr>
          <a:xfrm>
            <a:off x="883585" y="2565400"/>
            <a:ext cx="9381084" cy="6399478"/>
          </a:xfrm>
          <a:prstGeom prst="rect">
            <a:avLst/>
          </a:prstGeom>
        </p:spPr>
        <p:txBody>
          <a:bodyPr lIns="0" tIns="0" rIns="0" bIns="0" rtlCol="0" anchor="t">
            <a:spAutoFit/>
          </a:bodyPr>
          <a:lstStyle/>
          <a:p>
            <a:pPr marL="497013" lvl="1" indent="-248506" algn="just">
              <a:lnSpc>
                <a:spcPts val="3222"/>
              </a:lnSpc>
              <a:buFont typeface="Arial"/>
              <a:buChar char="•"/>
            </a:pPr>
            <a:r>
              <a:rPr lang="en-US" sz="2302">
                <a:solidFill>
                  <a:srgbClr val="000000"/>
                </a:solidFill>
                <a:latin typeface="Poppins"/>
                <a:ea typeface="Poppins"/>
                <a:cs typeface="Poppins"/>
                <a:sym typeface="Poppins"/>
              </a:rPr>
              <a:t>the OSI model serves as the communication backbone for both Cloud Computing and IoT systems.</a:t>
            </a:r>
          </a:p>
          <a:p>
            <a:pPr algn="just">
              <a:lnSpc>
                <a:spcPts val="3222"/>
              </a:lnSpc>
            </a:pPr>
            <a:endParaRPr lang="en-US" sz="2302">
              <a:solidFill>
                <a:srgbClr val="000000"/>
              </a:solidFill>
              <a:latin typeface="Poppins"/>
              <a:ea typeface="Poppins"/>
              <a:cs typeface="Poppins"/>
              <a:sym typeface="Poppins"/>
            </a:endParaRPr>
          </a:p>
          <a:p>
            <a:pPr marL="497013" lvl="1" indent="-248506" algn="just">
              <a:lnSpc>
                <a:spcPts val="3222"/>
              </a:lnSpc>
              <a:buFont typeface="Arial"/>
              <a:buChar char="•"/>
            </a:pPr>
            <a:r>
              <a:rPr lang="en-US" sz="2302">
                <a:solidFill>
                  <a:srgbClr val="000000"/>
                </a:solidFill>
                <a:latin typeface="Poppins"/>
                <a:ea typeface="Poppins"/>
                <a:cs typeface="Poppins"/>
                <a:sym typeface="Poppins"/>
              </a:rPr>
              <a:t>The result of this analysis is a clear understanding that each OSI layer has a defined role — from connecting sensors to processing and visualizing data in the cloud.</a:t>
            </a:r>
          </a:p>
          <a:p>
            <a:pPr algn="just">
              <a:lnSpc>
                <a:spcPts val="3222"/>
              </a:lnSpc>
            </a:pPr>
            <a:endParaRPr lang="en-US" sz="2302">
              <a:solidFill>
                <a:srgbClr val="000000"/>
              </a:solidFill>
              <a:latin typeface="Poppins"/>
              <a:ea typeface="Poppins"/>
              <a:cs typeface="Poppins"/>
              <a:sym typeface="Poppins"/>
            </a:endParaRPr>
          </a:p>
          <a:p>
            <a:pPr marL="497013" lvl="1" indent="-248506" algn="just">
              <a:lnSpc>
                <a:spcPts val="3222"/>
              </a:lnSpc>
              <a:buFont typeface="Arial"/>
              <a:buChar char="•"/>
            </a:pPr>
            <a:r>
              <a:rPr lang="en-US" sz="2302">
                <a:solidFill>
                  <a:srgbClr val="000000"/>
                </a:solidFill>
                <a:latin typeface="Poppins"/>
                <a:ea typeface="Poppins"/>
                <a:cs typeface="Poppins"/>
                <a:sym typeface="Poppins"/>
              </a:rPr>
              <a:t>My proposal is that future IoT and Cloud solutions should continue to be designed in alignment with the OSI model, as it ensures interoperability, scalability, and security across diverse devices and platforms.</a:t>
            </a:r>
          </a:p>
          <a:p>
            <a:pPr algn="just">
              <a:lnSpc>
                <a:spcPts val="3222"/>
              </a:lnSpc>
            </a:pPr>
            <a:endParaRPr lang="en-US" sz="2302">
              <a:solidFill>
                <a:srgbClr val="000000"/>
              </a:solidFill>
              <a:latin typeface="Poppins"/>
              <a:ea typeface="Poppins"/>
              <a:cs typeface="Poppins"/>
              <a:sym typeface="Poppins"/>
            </a:endParaRPr>
          </a:p>
          <a:p>
            <a:pPr marL="497013" lvl="1" indent="-248506" algn="just">
              <a:lnSpc>
                <a:spcPts val="3222"/>
              </a:lnSpc>
              <a:buFont typeface="Arial"/>
              <a:buChar char="•"/>
            </a:pPr>
            <a:r>
              <a:rPr lang="en-US" sz="2302" b="1">
                <a:solidFill>
                  <a:srgbClr val="000000"/>
                </a:solidFill>
                <a:latin typeface="Poppins Bold"/>
                <a:ea typeface="Poppins Bold"/>
                <a:cs typeface="Poppins Bold"/>
                <a:sym typeface="Poppins Bold"/>
              </a:rPr>
              <a:t>summary:</a:t>
            </a:r>
            <a:r>
              <a:rPr lang="en-US" sz="2302">
                <a:solidFill>
                  <a:srgbClr val="000000"/>
                </a:solidFill>
                <a:latin typeface="Poppins"/>
                <a:ea typeface="Poppins"/>
                <a:cs typeface="Poppins"/>
                <a:sym typeface="Poppins"/>
              </a:rPr>
              <a:t> the OSI model bridges the gap between network theory and real-world smart technologies — making modern systems faster, safer, and more reliable.</a:t>
            </a:r>
          </a:p>
          <a:p>
            <a:pPr algn="just">
              <a:lnSpc>
                <a:spcPts val="3222"/>
              </a:lnSpc>
            </a:pPr>
            <a:endParaRPr lang="en-US" sz="2302">
              <a:solidFill>
                <a:srgbClr val="000000"/>
              </a:solidFill>
              <a:latin typeface="Poppins"/>
              <a:ea typeface="Poppins"/>
              <a:cs typeface="Poppins"/>
              <a:sym typeface="Poppins"/>
            </a:endParaRPr>
          </a:p>
        </p:txBody>
      </p:sp>
      <p:grpSp>
        <p:nvGrpSpPr>
          <p:cNvPr id="9" name="Group 9"/>
          <p:cNvGrpSpPr/>
          <p:nvPr/>
        </p:nvGrpSpPr>
        <p:grpSpPr>
          <a:xfrm>
            <a:off x="16986593" y="0"/>
            <a:ext cx="1349033" cy="1709155"/>
            <a:chOff x="0" y="0"/>
            <a:chExt cx="571381" cy="723910"/>
          </a:xfrm>
        </p:grpSpPr>
        <p:sp>
          <p:nvSpPr>
            <p:cNvPr id="10" name="Freeform 10"/>
            <p:cNvSpPr/>
            <p:nvPr/>
          </p:nvSpPr>
          <p:spPr>
            <a:xfrm>
              <a:off x="0" y="0"/>
              <a:ext cx="571381" cy="723910"/>
            </a:xfrm>
            <a:custGeom>
              <a:avLst/>
              <a:gdLst/>
              <a:ahLst/>
              <a:cxnLst/>
              <a:rect l="l" t="t" r="r" b="b"/>
              <a:pathLst>
                <a:path w="571381" h="723910">
                  <a:moveTo>
                    <a:pt x="571381" y="0"/>
                  </a:moveTo>
                  <a:lnTo>
                    <a:pt x="571381" y="723910"/>
                  </a:lnTo>
                  <a:lnTo>
                    <a:pt x="285691" y="596910"/>
                  </a:lnTo>
                  <a:lnTo>
                    <a:pt x="0" y="723910"/>
                  </a:lnTo>
                  <a:lnTo>
                    <a:pt x="0" y="0"/>
                  </a:lnTo>
                  <a:lnTo>
                    <a:pt x="571381" y="0"/>
                  </a:lnTo>
                  <a:close/>
                </a:path>
              </a:pathLst>
            </a:custGeom>
            <a:solidFill>
              <a:srgbClr val="2C426B">
                <a:alpha val="83922"/>
              </a:srgbClr>
            </a:solidFill>
            <a:ln cap="sq">
              <a:noFill/>
              <a:prstDash val="dash"/>
              <a:miter/>
            </a:ln>
          </p:spPr>
        </p:sp>
        <p:sp>
          <p:nvSpPr>
            <p:cNvPr id="11" name="TextBox 11"/>
            <p:cNvSpPr txBox="1"/>
            <p:nvPr/>
          </p:nvSpPr>
          <p:spPr>
            <a:xfrm>
              <a:off x="0" y="-104775"/>
              <a:ext cx="571381" cy="701685"/>
            </a:xfrm>
            <a:prstGeom prst="rect">
              <a:avLst/>
            </a:prstGeom>
          </p:spPr>
          <p:txBody>
            <a:bodyPr lIns="127000" tIns="127000" rIns="127000" bIns="127000" rtlCol="0" anchor="ctr"/>
            <a:lstStyle/>
            <a:p>
              <a:pPr algn="ctr">
                <a:lnSpc>
                  <a:spcPts val="8122"/>
                </a:lnSpc>
              </a:pPr>
              <a:r>
                <a:rPr lang="en-US" sz="5801">
                  <a:solidFill>
                    <a:srgbClr val="000000">
                      <a:alpha val="83922"/>
                    </a:srgbClr>
                  </a:solidFill>
                  <a:latin typeface="Shrikhand"/>
                  <a:ea typeface="Shrikhand"/>
                  <a:cs typeface="Shrikhand"/>
                  <a:sym typeface="Shrikhand"/>
                </a:rPr>
                <a:t>10</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933971" y="-151760"/>
            <a:ext cx="13770351" cy="10309569"/>
            <a:chOff x="0" y="0"/>
            <a:chExt cx="464326" cy="347631"/>
          </a:xfrm>
        </p:grpSpPr>
        <p:sp>
          <p:nvSpPr>
            <p:cNvPr id="3" name="Freeform 3"/>
            <p:cNvSpPr/>
            <p:nvPr/>
          </p:nvSpPr>
          <p:spPr>
            <a:xfrm>
              <a:off x="0" y="0"/>
              <a:ext cx="464326" cy="347631"/>
            </a:xfrm>
            <a:custGeom>
              <a:avLst/>
              <a:gdLst/>
              <a:ahLst/>
              <a:cxnLst/>
              <a:rect l="l" t="t" r="r" b="b"/>
              <a:pathLst>
                <a:path w="464326" h="347631">
                  <a:moveTo>
                    <a:pt x="203200" y="0"/>
                  </a:moveTo>
                  <a:lnTo>
                    <a:pt x="464326" y="0"/>
                  </a:lnTo>
                  <a:lnTo>
                    <a:pt x="261126" y="347631"/>
                  </a:lnTo>
                  <a:lnTo>
                    <a:pt x="0" y="347631"/>
                  </a:lnTo>
                  <a:lnTo>
                    <a:pt x="203200" y="0"/>
                  </a:lnTo>
                  <a:close/>
                </a:path>
              </a:pathLst>
            </a:custGeom>
            <a:blipFill>
              <a:blip r:embed="rId2"/>
              <a:stretch>
                <a:fillRect l="-16549" r="-16549"/>
              </a:stretch>
            </a:blipFill>
          </p:spPr>
        </p:sp>
      </p:grpSp>
      <p:sp>
        <p:nvSpPr>
          <p:cNvPr id="4" name="Freeform 4"/>
          <p:cNvSpPr/>
          <p:nvPr/>
        </p:nvSpPr>
        <p:spPr>
          <a:xfrm flipH="1">
            <a:off x="7333349" y="-475018"/>
            <a:ext cx="8582716" cy="10309569"/>
          </a:xfrm>
          <a:custGeom>
            <a:avLst/>
            <a:gdLst/>
            <a:ahLst/>
            <a:cxnLst/>
            <a:rect l="l" t="t" r="r" b="b"/>
            <a:pathLst>
              <a:path w="8582716" h="10309569">
                <a:moveTo>
                  <a:pt x="8582716" y="0"/>
                </a:moveTo>
                <a:lnTo>
                  <a:pt x="0" y="0"/>
                </a:lnTo>
                <a:lnTo>
                  <a:pt x="0" y="10309569"/>
                </a:lnTo>
                <a:lnTo>
                  <a:pt x="8582716" y="10309569"/>
                </a:lnTo>
                <a:lnTo>
                  <a:pt x="8582716"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703517" y="1771972"/>
            <a:ext cx="11749574" cy="1208669"/>
            <a:chOff x="0" y="0"/>
            <a:chExt cx="3844759" cy="395507"/>
          </a:xfrm>
        </p:grpSpPr>
        <p:sp>
          <p:nvSpPr>
            <p:cNvPr id="6" name="Freeform 6"/>
            <p:cNvSpPr/>
            <p:nvPr/>
          </p:nvSpPr>
          <p:spPr>
            <a:xfrm>
              <a:off x="0" y="0"/>
              <a:ext cx="3844759" cy="395507"/>
            </a:xfrm>
            <a:custGeom>
              <a:avLst/>
              <a:gdLst/>
              <a:ahLst/>
              <a:cxnLst/>
              <a:rect l="l" t="t" r="r" b="b"/>
              <a:pathLst>
                <a:path w="3844759" h="395507">
                  <a:moveTo>
                    <a:pt x="203200" y="0"/>
                  </a:moveTo>
                  <a:lnTo>
                    <a:pt x="3844759" y="0"/>
                  </a:lnTo>
                  <a:lnTo>
                    <a:pt x="3641559" y="395507"/>
                  </a:lnTo>
                  <a:lnTo>
                    <a:pt x="0" y="395507"/>
                  </a:lnTo>
                  <a:lnTo>
                    <a:pt x="203200" y="0"/>
                  </a:lnTo>
                  <a:close/>
                </a:path>
              </a:pathLst>
            </a:custGeom>
            <a:solidFill>
              <a:srgbClr val="2C426B"/>
            </a:solidFill>
          </p:spPr>
        </p:sp>
        <p:sp>
          <p:nvSpPr>
            <p:cNvPr id="7" name="TextBox 7"/>
            <p:cNvSpPr txBox="1"/>
            <p:nvPr/>
          </p:nvSpPr>
          <p:spPr>
            <a:xfrm>
              <a:off x="101600" y="-38100"/>
              <a:ext cx="3641559" cy="433607"/>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5433526" y="9258300"/>
            <a:ext cx="15461508" cy="1152502"/>
            <a:chOff x="0" y="0"/>
            <a:chExt cx="4685931" cy="349290"/>
          </a:xfrm>
        </p:grpSpPr>
        <p:sp>
          <p:nvSpPr>
            <p:cNvPr id="9" name="Freeform 9"/>
            <p:cNvSpPr/>
            <p:nvPr/>
          </p:nvSpPr>
          <p:spPr>
            <a:xfrm>
              <a:off x="0" y="0"/>
              <a:ext cx="4685931" cy="349290"/>
            </a:xfrm>
            <a:custGeom>
              <a:avLst/>
              <a:gdLst/>
              <a:ahLst/>
              <a:cxnLst/>
              <a:rect l="l" t="t" r="r" b="b"/>
              <a:pathLst>
                <a:path w="4685931" h="349290">
                  <a:moveTo>
                    <a:pt x="203200" y="0"/>
                  </a:moveTo>
                  <a:lnTo>
                    <a:pt x="4685931" y="0"/>
                  </a:lnTo>
                  <a:lnTo>
                    <a:pt x="4482731" y="349290"/>
                  </a:lnTo>
                  <a:lnTo>
                    <a:pt x="0" y="349290"/>
                  </a:lnTo>
                  <a:lnTo>
                    <a:pt x="203200" y="0"/>
                  </a:lnTo>
                  <a:close/>
                </a:path>
              </a:pathLst>
            </a:custGeom>
            <a:solidFill>
              <a:srgbClr val="424042"/>
            </a:solidFill>
          </p:spPr>
        </p:sp>
        <p:sp>
          <p:nvSpPr>
            <p:cNvPr id="10" name="TextBox 10"/>
            <p:cNvSpPr txBox="1"/>
            <p:nvPr/>
          </p:nvSpPr>
          <p:spPr>
            <a:xfrm>
              <a:off x="101600" y="-38100"/>
              <a:ext cx="4482731" cy="38739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6986593" y="0"/>
            <a:ext cx="1349033" cy="1709155"/>
            <a:chOff x="0" y="0"/>
            <a:chExt cx="571381" cy="723910"/>
          </a:xfrm>
        </p:grpSpPr>
        <p:sp>
          <p:nvSpPr>
            <p:cNvPr id="12" name="Freeform 12"/>
            <p:cNvSpPr/>
            <p:nvPr/>
          </p:nvSpPr>
          <p:spPr>
            <a:xfrm>
              <a:off x="0" y="0"/>
              <a:ext cx="571381" cy="723910"/>
            </a:xfrm>
            <a:custGeom>
              <a:avLst/>
              <a:gdLst/>
              <a:ahLst/>
              <a:cxnLst/>
              <a:rect l="l" t="t" r="r" b="b"/>
              <a:pathLst>
                <a:path w="571381" h="723910">
                  <a:moveTo>
                    <a:pt x="571381" y="0"/>
                  </a:moveTo>
                  <a:lnTo>
                    <a:pt x="571381" y="723910"/>
                  </a:lnTo>
                  <a:lnTo>
                    <a:pt x="285691" y="596910"/>
                  </a:lnTo>
                  <a:lnTo>
                    <a:pt x="0" y="723910"/>
                  </a:lnTo>
                  <a:lnTo>
                    <a:pt x="0" y="0"/>
                  </a:lnTo>
                  <a:lnTo>
                    <a:pt x="571381" y="0"/>
                  </a:lnTo>
                  <a:close/>
                </a:path>
              </a:pathLst>
            </a:custGeom>
            <a:solidFill>
              <a:srgbClr val="2C426B">
                <a:alpha val="83922"/>
              </a:srgbClr>
            </a:solidFill>
            <a:ln cap="sq">
              <a:noFill/>
              <a:prstDash val="dash"/>
              <a:miter/>
            </a:ln>
          </p:spPr>
        </p:sp>
        <p:sp>
          <p:nvSpPr>
            <p:cNvPr id="13" name="TextBox 13"/>
            <p:cNvSpPr txBox="1"/>
            <p:nvPr/>
          </p:nvSpPr>
          <p:spPr>
            <a:xfrm>
              <a:off x="0" y="-104775"/>
              <a:ext cx="571381" cy="701685"/>
            </a:xfrm>
            <a:prstGeom prst="rect">
              <a:avLst/>
            </a:prstGeom>
          </p:spPr>
          <p:txBody>
            <a:bodyPr lIns="127000" tIns="127000" rIns="127000" bIns="127000" rtlCol="0" anchor="ctr"/>
            <a:lstStyle/>
            <a:p>
              <a:pPr algn="ctr">
                <a:lnSpc>
                  <a:spcPts val="8122"/>
                </a:lnSpc>
              </a:pPr>
              <a:r>
                <a:rPr lang="en-US" sz="5801">
                  <a:solidFill>
                    <a:srgbClr val="000000">
                      <a:alpha val="83922"/>
                    </a:srgbClr>
                  </a:solidFill>
                  <a:latin typeface="Shrikhand"/>
                  <a:ea typeface="Shrikhand"/>
                  <a:cs typeface="Shrikhand"/>
                  <a:sym typeface="Shrikhand"/>
                </a:rPr>
                <a:t>11</a:t>
              </a:r>
            </a:p>
          </p:txBody>
        </p:sp>
      </p:grpSp>
      <p:sp>
        <p:nvSpPr>
          <p:cNvPr id="14" name="Freeform 14"/>
          <p:cNvSpPr/>
          <p:nvPr/>
        </p:nvSpPr>
        <p:spPr>
          <a:xfrm rot="-10800000" flipH="1">
            <a:off x="606" y="8148970"/>
            <a:ext cx="6932693" cy="3249700"/>
          </a:xfrm>
          <a:custGeom>
            <a:avLst/>
            <a:gdLst/>
            <a:ahLst/>
            <a:cxnLst/>
            <a:rect l="l" t="t" r="r" b="b"/>
            <a:pathLst>
              <a:path w="6932693" h="3249700">
                <a:moveTo>
                  <a:pt x="6932693" y="0"/>
                </a:moveTo>
                <a:lnTo>
                  <a:pt x="0" y="0"/>
                </a:lnTo>
                <a:lnTo>
                  <a:pt x="0" y="3249699"/>
                </a:lnTo>
                <a:lnTo>
                  <a:pt x="6932693" y="3249699"/>
                </a:lnTo>
                <a:lnTo>
                  <a:pt x="6932693" y="0"/>
                </a:lnTo>
                <a:close/>
              </a:path>
            </a:pathLst>
          </a:custGeom>
          <a:blipFill>
            <a:blip r:embed="rId5"/>
            <a:stretch>
              <a:fillRect/>
            </a:stretch>
          </a:blipFill>
        </p:spPr>
      </p:sp>
      <p:sp>
        <p:nvSpPr>
          <p:cNvPr id="15" name="TextBox 15"/>
          <p:cNvSpPr txBox="1"/>
          <p:nvPr/>
        </p:nvSpPr>
        <p:spPr>
          <a:xfrm>
            <a:off x="3332482" y="1885691"/>
            <a:ext cx="5172739" cy="981231"/>
          </a:xfrm>
          <a:prstGeom prst="rect">
            <a:avLst/>
          </a:prstGeom>
        </p:spPr>
        <p:txBody>
          <a:bodyPr lIns="0" tIns="0" rIns="0" bIns="0" rtlCol="0" anchor="t">
            <a:spAutoFit/>
          </a:bodyPr>
          <a:lstStyle/>
          <a:p>
            <a:pPr algn="r">
              <a:lnSpc>
                <a:spcPts val="7163"/>
              </a:lnSpc>
              <a:spcBef>
                <a:spcPct val="0"/>
              </a:spcBef>
            </a:pPr>
            <a:r>
              <a:rPr lang="en-US" sz="6512" b="1">
                <a:solidFill>
                  <a:srgbClr val="FFFFFF"/>
                </a:solidFill>
                <a:latin typeface="Poppins Bold"/>
                <a:ea typeface="Poppins Bold"/>
                <a:cs typeface="Poppins Bold"/>
                <a:sym typeface="Poppins Bold"/>
              </a:rPr>
              <a:t>THANK YOU </a:t>
            </a:r>
          </a:p>
        </p:txBody>
      </p:sp>
      <p:sp>
        <p:nvSpPr>
          <p:cNvPr id="16" name="TextBox 16"/>
          <p:cNvSpPr txBox="1"/>
          <p:nvPr/>
        </p:nvSpPr>
        <p:spPr>
          <a:xfrm>
            <a:off x="2886720" y="5626003"/>
            <a:ext cx="4446629" cy="1584920"/>
          </a:xfrm>
          <a:prstGeom prst="rect">
            <a:avLst/>
          </a:prstGeom>
        </p:spPr>
        <p:txBody>
          <a:bodyPr lIns="0" tIns="0" rIns="0" bIns="0" rtlCol="0" anchor="t">
            <a:spAutoFit/>
          </a:bodyPr>
          <a:lstStyle/>
          <a:p>
            <a:pPr algn="ctr">
              <a:lnSpc>
                <a:spcPts val="2520"/>
              </a:lnSpc>
            </a:pPr>
            <a:r>
              <a:rPr lang="en-US" sz="2000" b="1">
                <a:solidFill>
                  <a:srgbClr val="000000"/>
                </a:solidFill>
                <a:latin typeface="Poppins Bold"/>
                <a:ea typeface="Poppins Bold"/>
                <a:cs typeface="Poppins Bold"/>
                <a:sym typeface="Poppins Bold"/>
              </a:rPr>
              <a:t>Presented By: </a:t>
            </a:r>
          </a:p>
          <a:p>
            <a:pPr algn="ctr">
              <a:lnSpc>
                <a:spcPts val="2520"/>
              </a:lnSpc>
            </a:pPr>
            <a:r>
              <a:rPr lang="en-US" sz="2000" b="1">
                <a:solidFill>
                  <a:srgbClr val="000000"/>
                </a:solidFill>
                <a:latin typeface="Poppins Bold"/>
                <a:ea typeface="Poppins Bold"/>
                <a:cs typeface="Poppins Bold"/>
                <a:sym typeface="Poppins Bold"/>
              </a:rPr>
              <a:t>Sanjida Roksana Mim</a:t>
            </a:r>
          </a:p>
          <a:p>
            <a:pPr algn="ctr">
              <a:lnSpc>
                <a:spcPts val="2520"/>
              </a:lnSpc>
            </a:pPr>
            <a:r>
              <a:rPr lang="en-US" sz="2000" b="1">
                <a:solidFill>
                  <a:srgbClr val="000000"/>
                </a:solidFill>
                <a:latin typeface="Poppins Bold"/>
                <a:ea typeface="Poppins Bold"/>
                <a:cs typeface="Poppins Bold"/>
                <a:sym typeface="Poppins Bold"/>
              </a:rPr>
              <a:t>241311118</a:t>
            </a:r>
          </a:p>
          <a:p>
            <a:pPr algn="ctr">
              <a:lnSpc>
                <a:spcPts val="2520"/>
              </a:lnSpc>
            </a:pPr>
            <a:r>
              <a:rPr lang="en-US" sz="2000" b="1">
                <a:solidFill>
                  <a:srgbClr val="000000"/>
                </a:solidFill>
                <a:latin typeface="Poppins Bold"/>
                <a:ea typeface="Poppins Bold"/>
                <a:cs typeface="Poppins Bold"/>
                <a:sym typeface="Poppins Bold"/>
              </a:rPr>
              <a:t>dept. of CSE</a:t>
            </a:r>
          </a:p>
          <a:p>
            <a:pPr algn="ctr">
              <a:lnSpc>
                <a:spcPts val="2520"/>
              </a:lnSpc>
            </a:pPr>
            <a:r>
              <a:rPr lang="en-US" sz="2000" b="1">
                <a:solidFill>
                  <a:srgbClr val="000000"/>
                </a:solidFill>
                <a:latin typeface="Poppins Bold"/>
                <a:ea typeface="Poppins Bold"/>
                <a:cs typeface="Poppins Bold"/>
                <a:sym typeface="Poppins Bold"/>
              </a:rPr>
              <a:t>Varendra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601</Words>
  <Application>Microsoft Office PowerPoint</Application>
  <PresentationFormat>Custom</PresentationFormat>
  <Paragraphs>85</Paragraphs>
  <Slides>11</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18" baseType="lpstr">
      <vt:lpstr>Poppins</vt:lpstr>
      <vt:lpstr>Shrikhand</vt:lpstr>
      <vt:lpstr>Poppins Bold</vt:lpstr>
      <vt:lpstr>Calibri</vt:lpstr>
      <vt:lpstr>Arial</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241311118</dc:title>
  <cp:lastModifiedBy>MD. ABDULLAH AL MAHFUZ</cp:lastModifiedBy>
  <cp:revision>2</cp:revision>
  <dcterms:created xsi:type="dcterms:W3CDTF">2006-08-16T00:00:00Z</dcterms:created>
  <dcterms:modified xsi:type="dcterms:W3CDTF">2025-11-04T17:27:43Z</dcterms:modified>
  <dc:identifier>DAG3wEmBr6g</dc:identifier>
</cp:coreProperties>
</file>