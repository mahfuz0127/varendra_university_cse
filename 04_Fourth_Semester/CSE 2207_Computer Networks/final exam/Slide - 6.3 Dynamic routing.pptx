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3"/>
  </p:sldMasterIdLst>
  <p:notesMasterIdLst>
    <p:notesMasterId r:id="rId25"/>
  </p:notesMasterIdLst>
  <p:handoutMasterIdLst>
    <p:handoutMasterId r:id="rId26"/>
  </p:handoutMasterIdLst>
  <p:sldIdLst>
    <p:sldId id="571" r:id="rId4"/>
    <p:sldId id="583" r:id="rId5"/>
    <p:sldId id="584" r:id="rId6"/>
    <p:sldId id="585" r:id="rId7"/>
    <p:sldId id="589" r:id="rId8"/>
    <p:sldId id="573" r:id="rId9"/>
    <p:sldId id="574" r:id="rId10"/>
    <p:sldId id="575" r:id="rId11"/>
    <p:sldId id="588" r:id="rId12"/>
    <p:sldId id="586" r:id="rId13"/>
    <p:sldId id="587" r:id="rId14"/>
    <p:sldId id="546" r:id="rId15"/>
    <p:sldId id="547" r:id="rId16"/>
    <p:sldId id="592" r:id="rId17"/>
    <p:sldId id="590" r:id="rId18"/>
    <p:sldId id="591" r:id="rId19"/>
    <p:sldId id="562" r:id="rId20"/>
    <p:sldId id="563" r:id="rId21"/>
    <p:sldId id="566" r:id="rId22"/>
    <p:sldId id="459" r:id="rId23"/>
    <p:sldId id="458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CC00"/>
    <a:srgbClr val="996633"/>
    <a:srgbClr val="6666FF"/>
    <a:srgbClr val="3366FF"/>
    <a:srgbClr val="CCFF99"/>
    <a:srgbClr val="F3EE12"/>
    <a:srgbClr val="D4D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33" autoAdjust="0"/>
    <p:restoredTop sz="94660"/>
  </p:normalViewPr>
  <p:slideViewPr>
    <p:cSldViewPr>
      <p:cViewPr varScale="1">
        <p:scale>
          <a:sx n="71" d="100"/>
          <a:sy n="71" d="100"/>
        </p:scale>
        <p:origin x="153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>
            <a:extLst>
              <a:ext uri="{FF2B5EF4-FFF2-40B4-BE49-F238E27FC236}">
                <a16:creationId xmlns:a16="http://schemas.microsoft.com/office/drawing/2014/main" id="{7B85237C-8730-40FC-A94D-620916308D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6451" name="Rectangle 3">
            <a:extLst>
              <a:ext uri="{FF2B5EF4-FFF2-40B4-BE49-F238E27FC236}">
                <a16:creationId xmlns:a16="http://schemas.microsoft.com/office/drawing/2014/main" id="{4E953FDF-EBCA-4835-BC73-76AE30B9FF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6452" name="Rectangle 4">
            <a:extLst>
              <a:ext uri="{FF2B5EF4-FFF2-40B4-BE49-F238E27FC236}">
                <a16:creationId xmlns:a16="http://schemas.microsoft.com/office/drawing/2014/main" id="{685F26A4-9D7C-4779-A68F-69F47F96A9E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6453" name="Rectangle 5">
            <a:extLst>
              <a:ext uri="{FF2B5EF4-FFF2-40B4-BE49-F238E27FC236}">
                <a16:creationId xmlns:a16="http://schemas.microsoft.com/office/drawing/2014/main" id="{F2777C33-8555-4D90-B6DC-39CFB8647BC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85A7737-F8D1-4692-BEFB-432E6E1DE4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>
            <a:extLst>
              <a:ext uri="{FF2B5EF4-FFF2-40B4-BE49-F238E27FC236}">
                <a16:creationId xmlns:a16="http://schemas.microsoft.com/office/drawing/2014/main" id="{D241B18E-E070-409A-944F-289B6C2BD7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8499" name="Rectangle 3">
            <a:extLst>
              <a:ext uri="{FF2B5EF4-FFF2-40B4-BE49-F238E27FC236}">
                <a16:creationId xmlns:a16="http://schemas.microsoft.com/office/drawing/2014/main" id="{996B0FF3-E5DC-43AA-9BA2-C1167413D8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A5EDAEA-9B81-457C-9440-8F776D4ACA4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8501" name="Rectangle 5">
            <a:extLst>
              <a:ext uri="{FF2B5EF4-FFF2-40B4-BE49-F238E27FC236}">
                <a16:creationId xmlns:a16="http://schemas.microsoft.com/office/drawing/2014/main" id="{8A5E96D3-FC7B-4D0D-9B60-50B8B681C1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8502" name="Rectangle 6">
            <a:extLst>
              <a:ext uri="{FF2B5EF4-FFF2-40B4-BE49-F238E27FC236}">
                <a16:creationId xmlns:a16="http://schemas.microsoft.com/office/drawing/2014/main" id="{AE4E3B96-0315-4852-9BEE-A8ACC30F3C4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8503" name="Rectangle 7">
            <a:extLst>
              <a:ext uri="{FF2B5EF4-FFF2-40B4-BE49-F238E27FC236}">
                <a16:creationId xmlns:a16="http://schemas.microsoft.com/office/drawing/2014/main" id="{7CB48C5D-D1D8-4D73-9ABE-69F7D72C02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83405D2-8802-4C72-A0F4-F45F6FC2FC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CB2DF12-F5A2-4991-B938-4C9BADA35D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F9AA9078-EB40-4AF0-8571-5EF84AA2995F}" type="slidenum">
              <a:rPr lang="en-US" altLang="en-US" b="0">
                <a:latin typeface="Times New Roman" panose="02020603050405020304" pitchFamily="18" charset="0"/>
              </a:rPr>
              <a:pPr/>
              <a:t>1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CAE8CB1-65F8-459B-8DED-C5040FD6F7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C1F60A7-5A3F-43C2-9ED2-45AB8193F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BF43BD3-BD42-486C-8BC5-5C158D5563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60896594-2FD9-41D4-9B76-EF37F0B0F83C}" type="slidenum">
              <a:rPr lang="en-US" altLang="en-US" b="0">
                <a:latin typeface="Times New Roman" panose="02020603050405020304" pitchFamily="18" charset="0"/>
              </a:rPr>
              <a:pPr/>
              <a:t>2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2253939-E1D7-4D4C-935E-D64F7CB0C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62ED37B-CA8F-49C8-8626-70B2EABD4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4FCB7B39-F374-41E7-934C-6B50B045F8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FE5EAA4D-C102-4800-89D7-AA0FE195E60C}" type="slidenum">
              <a:rPr lang="en-US" altLang="en-US" b="0">
                <a:latin typeface="Times New Roman" panose="02020603050405020304" pitchFamily="18" charset="0"/>
              </a:rPr>
              <a:pPr/>
              <a:t>3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4354C86-5793-485C-81F1-7B378A6AB8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9BA866A-2817-4C8C-B343-A86F88AE1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8DD8C7C-58F7-408A-A5C8-62F4599E9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A978B9BA-C2B9-4477-83FC-12E5AA1092DA}" type="slidenum">
              <a:rPr lang="en-US" altLang="en-US" b="0">
                <a:latin typeface="Times New Roman" panose="02020603050405020304" pitchFamily="18" charset="0"/>
              </a:rPr>
              <a:pPr/>
              <a:t>4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C19AD883-3BB1-4813-8BAD-6FE6963C73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459EADB-B595-4DE6-8B10-ADAC6B36A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8193BC28-743D-4ED0-AB27-66BE0CAD9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96437A1D-5521-401A-8F6B-D599E20465E6}" type="slidenum">
              <a:rPr lang="en-US" altLang="en-US" b="0">
                <a:latin typeface="Times New Roman" panose="02020603050405020304" pitchFamily="18" charset="0"/>
              </a:rPr>
              <a:pPr/>
              <a:t>5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21D4548-DCD5-4544-984E-F6C37DFF72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997A8CE-7488-4721-BBC1-B817C6B66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4A58D38D-BF03-4060-B4E2-38C7EDF885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FEF756D3-71F7-44DC-B74E-73751C76FEC7}" type="slidenum">
              <a:rPr lang="en-US" altLang="en-US" b="0">
                <a:latin typeface="Times New Roman" panose="02020603050405020304" pitchFamily="18" charset="0"/>
              </a:rPr>
              <a:pPr/>
              <a:t>6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0F79D21-7012-47FA-9F8D-857B178CF3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DF81E3F-FD33-404B-91C6-6EA2B8CE6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DF0BE487-D07B-4F9D-89EF-0437F5497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7BFB29F9-8E2B-427B-9E5E-9F557F57FB2F}" type="slidenum">
              <a:rPr lang="en-US" altLang="en-US" b="0">
                <a:latin typeface="Times New Roman" panose="02020603050405020304" pitchFamily="18" charset="0"/>
              </a:rPr>
              <a:pPr/>
              <a:t>7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CB8BC23-5553-4B73-A695-634708870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B8CB785-1E06-4D02-B7B4-16AAF892B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368FDC17-6744-42E3-9464-F1F0BF6040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BCD86D37-878F-453B-B932-7E4D1A1888EB}" type="slidenum">
              <a:rPr lang="en-US" altLang="en-US" b="0">
                <a:latin typeface="Times New Roman" panose="02020603050405020304" pitchFamily="18" charset="0"/>
              </a:rPr>
              <a:pPr/>
              <a:t>8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00E0DA4-79D2-4795-A8DE-A36CF14B2D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909C0D7-AA58-4795-9EAF-8399B2565C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8ABE2CBF-06F2-40D5-9C97-9794326EFC9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8F15A19B-552E-4A4C-9E2E-7A770D5F93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6AEA507D-7BDA-4632-A004-9E05B428E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A919A6D-A93A-4EF0-A469-CB83F8A69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94060032-3B37-4072-B406-7CD62299D5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EB590D9D-6A30-4ABF-9D99-2600FC4CD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8037A098-23C9-462F-A030-A9926E859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cs typeface="Times New Roman" panose="02020603050405020304" pitchFamily="18" charset="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1C4E97-E188-4705-93FD-BD8EA36B8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F22F00-2F5F-429F-B34F-1175BFB27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3AB22C-B5F3-4E63-A702-A109376F924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</p:grpSp>
      <p:sp>
        <p:nvSpPr>
          <p:cNvPr id="14" name="Text Box 17">
            <a:extLst>
              <a:ext uri="{FF2B5EF4-FFF2-40B4-BE49-F238E27FC236}">
                <a16:creationId xmlns:a16="http://schemas.microsoft.com/office/drawing/2014/main" id="{1BB61C21-5972-479B-B27C-EFBE40844F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A6B9D630-AE45-4A54-A5B4-DD768A1C190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42DEE01D-991B-4740-A281-25B7CE06CA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B0C38205-7265-49A6-9938-B3BDC768A0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BCFAA62C-986B-4016-B7CA-80F08E831D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749B2CD-8731-4BE4-9B78-72A06FC5D1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29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E3A2FC3-0CE4-46C4-9ABC-6454F52AB7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9A37D79-CDD5-4D06-8E0F-D4905CADB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30173CA-6446-4903-8531-EE9A1774F0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476A3-A1BB-470A-84BE-6C591CA109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68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D96DB10-C91B-4FDD-9DF9-8937113600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EB4ECA-DA45-47E8-908C-CC3A7898E1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250D8C1-930B-43B9-BFE2-11DBA17C9E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C71FA-F980-4526-888F-4B40D384E9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953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FB5799-46FA-45DD-8BE5-1528E0D35F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91845DD-F483-48D1-AFA7-CF740D7238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8A6F064-FB7A-4F16-B120-9AA3E9779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2A1DC-1912-40EB-86BE-EAD8DE8B55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03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B5F31D6-28EC-4D57-9D43-CD0D79B54C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6CFE4CB8-4B83-4F30-AB78-0DA0D5A087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FB25585D-4BC4-4340-96C3-EA80ABF564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ECCEC-682C-4199-B4BD-E89693C90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136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EE28642-C840-4B67-8B80-4F0C402F85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C2A9B30-3882-4B3E-9572-E5C62DDD5F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EA49CD4-CDD0-4877-96FC-C10C6F4B26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9C825-D5A8-402B-B9ED-47A47CBB14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682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4A34168D-A196-4F79-B187-35124758FE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5CC60D0-8D56-4233-9F21-8EA787A935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811738D-1296-43E5-8BBD-66883C1E11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4689D-BA2E-458E-AC08-7076F4FCD3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44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B5990AC-AC01-4E40-B779-207F112C29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F6663D0-0753-44B5-8C58-ED332BB288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9C70B26-0190-450D-B7BE-850CB728D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801D5-A7B2-4A08-BBDD-B37232C7CB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272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8961BD2-1550-4CF5-9E75-D4B3D2D495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07A2256-336C-4FEE-A013-43F694D478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F9F883B-3C6E-4350-96C8-178DE032AB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2D53F-7FAB-4EAA-8A7B-B419F1ABB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87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19B1FC-766F-47A4-B902-60FEE4503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9EDEB22-556C-41A8-A593-9D53A31AAF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6C8C2F-A470-46B1-9B05-D7034B10E0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E22CE-8185-43EE-9623-D18BBB70DF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51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0E8B5D8-FBB4-461F-B519-09991A0A76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9226165-AEB8-4037-8293-C174BCE99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48FEF3-7881-421D-9E6C-C392780AF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2E6C7-D215-4D4E-BEB0-152678A75E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618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C2F8752-9A98-4602-B91C-FB61CA0F6B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D57EC61-76F1-4CF9-832C-904F837A77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2AC20A0-5548-4875-9F23-BFB45BF811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1724C-2992-4574-94B1-483DE7F064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288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E4D9C53-340E-4E7B-962C-A5D5CE916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64F3D12-81D7-41EB-B2A7-64FE22B219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5CAAC35-C800-4BAF-BE91-72EC7B3C9D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20E3B-9283-4CA8-80FA-B53A1032A0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98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1" name="Rectangle 11">
            <a:extLst>
              <a:ext uri="{FF2B5EF4-FFF2-40B4-BE49-F238E27FC236}">
                <a16:creationId xmlns:a16="http://schemas.microsoft.com/office/drawing/2014/main" id="{8CD30866-90C5-4695-82E2-C166654641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32" name="Rectangle 12">
            <a:extLst>
              <a:ext uri="{FF2B5EF4-FFF2-40B4-BE49-F238E27FC236}">
                <a16:creationId xmlns:a16="http://schemas.microsoft.com/office/drawing/2014/main" id="{E508778A-C872-4931-A415-F459D0844E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33" name="Rectangle 13">
            <a:extLst>
              <a:ext uri="{FF2B5EF4-FFF2-40B4-BE49-F238E27FC236}">
                <a16:creationId xmlns:a16="http://schemas.microsoft.com/office/drawing/2014/main" id="{F08CF1A9-8D47-4D80-8CBC-75DD62A8ED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/>
            </a:lvl1pPr>
          </a:lstStyle>
          <a:p>
            <a:pPr>
              <a:defRPr/>
            </a:pPr>
            <a:fld id="{2CA1DA88-3D0A-4CDB-9E6C-AC9B694B40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9" name="Text Box 14">
            <a:extLst>
              <a:ext uri="{FF2B5EF4-FFF2-40B4-BE49-F238E27FC236}">
                <a16:creationId xmlns:a16="http://schemas.microsoft.com/office/drawing/2014/main" id="{CC640B8C-70F8-40E2-8217-A41AC94CF3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30" name="Text Box 15">
            <a:extLst>
              <a:ext uri="{FF2B5EF4-FFF2-40B4-BE49-F238E27FC236}">
                <a16:creationId xmlns:a16="http://schemas.microsoft.com/office/drawing/2014/main" id="{F755AB4D-EBD8-4FA4-AA39-050CC642CD1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charset="0"/>
              </a:rPr>
              <a:t>The McGraw-Hill Companies, Inc., 2004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6FE82C93-3054-4CE9-9C41-1A02C1B9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endParaRPr lang="en-US" altLang="en-US" sz="20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sz="4400">
                <a:latin typeface="Arial" panose="020B0604020202020204" pitchFamily="34" charset="0"/>
              </a:rPr>
              <a:t>Network Layer:</a:t>
            </a:r>
          </a:p>
          <a:p>
            <a:pPr algn="ctr"/>
            <a:r>
              <a:rPr lang="en-US" altLang="en-US" sz="4400">
                <a:latin typeface="Arial" panose="020B0604020202020204" pitchFamily="34" charset="0"/>
              </a:rPr>
              <a:t>Delivery, Forwarding, </a:t>
            </a:r>
            <a:br>
              <a:rPr lang="en-US" altLang="en-US" sz="4400">
                <a:latin typeface="Arial" panose="020B0604020202020204" pitchFamily="34" charset="0"/>
              </a:rPr>
            </a:br>
            <a:r>
              <a:rPr lang="en-US" altLang="en-US" sz="4400">
                <a:latin typeface="Arial" panose="020B0604020202020204" pitchFamily="34" charset="0"/>
              </a:rPr>
              <a:t>and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1">
            <a:extLst>
              <a:ext uri="{FF2B5EF4-FFF2-40B4-BE49-F238E27FC236}">
                <a16:creationId xmlns:a16="http://schemas.microsoft.com/office/drawing/2014/main" id="{5C96A3CB-7E0E-4AE6-8076-23BA9DB6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2050" y="62436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l"/>
            <a:r>
              <a:rPr lang="en-US" altLang="en-US" b="0"/>
              <a:t>TCP/IP Protocol Suite</a:t>
            </a:r>
          </a:p>
        </p:txBody>
      </p:sp>
      <p:sp>
        <p:nvSpPr>
          <p:cNvPr id="7171" name="Slide Number Placeholder 2">
            <a:extLst>
              <a:ext uri="{FF2B5EF4-FFF2-40B4-BE49-F238E27FC236}">
                <a16:creationId xmlns:a16="http://schemas.microsoft.com/office/drawing/2014/main" id="{B26AF6D5-0514-41CE-9A4A-8EA36DBE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7600" y="6243638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5F91CCB3-BE3A-4F23-9E03-2808CF328D6F}" type="slidenum">
              <a:rPr lang="en-US" altLang="en-US" b="0"/>
              <a:pPr algn="ctr"/>
              <a:t>2</a:t>
            </a:fld>
            <a:endParaRPr lang="en-US" altLang="en-US" b="0"/>
          </a:p>
        </p:txBody>
      </p:sp>
      <p:sp>
        <p:nvSpPr>
          <p:cNvPr id="636930" name="Rectangle 2">
            <a:extLst>
              <a:ext uri="{FF2B5EF4-FFF2-40B4-BE49-F238E27FC236}">
                <a16:creationId xmlns:a16="http://schemas.microsoft.com/office/drawing/2014/main" id="{5A14A7DB-05A4-4110-A29D-C4F81BCBB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173" name="Text Box 3">
            <a:extLst>
              <a:ext uri="{FF2B5EF4-FFF2-40B4-BE49-F238E27FC236}">
                <a16:creationId xmlns:a16="http://schemas.microsoft.com/office/drawing/2014/main" id="{C25DBB49-2643-4CF2-B8C8-00B99EB77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5600"/>
            <a:ext cx="2835275" cy="6461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3600">
                <a:solidFill>
                  <a:schemeClr val="bg1"/>
                </a:solidFill>
                <a:latin typeface="Times" panose="02020603050405020304" pitchFamily="18" charset="0"/>
              </a:rPr>
              <a:t>  DELIVERY</a:t>
            </a:r>
          </a:p>
        </p:txBody>
      </p:sp>
      <p:sp>
        <p:nvSpPr>
          <p:cNvPr id="7174" name="Text Box 4">
            <a:extLst>
              <a:ext uri="{FF2B5EF4-FFF2-40B4-BE49-F238E27FC236}">
                <a16:creationId xmlns:a16="http://schemas.microsoft.com/office/drawing/2014/main" id="{71B9A144-63D6-4145-A276-B927D07F7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5" name="Rectangle 5">
            <a:extLst>
              <a:ext uri="{FF2B5EF4-FFF2-40B4-BE49-F238E27FC236}">
                <a16:creationId xmlns:a16="http://schemas.microsoft.com/office/drawing/2014/main" id="{D7BAB5F8-E499-4BDD-9C7D-44B2DA7E2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0"/>
            <a:ext cx="85344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Arial Unicode MS" panose="020B0604020202020204" pitchFamily="34" charset="-128"/>
              </a:rPr>
              <a:t>Delivery refers to the way a packet is handled by the underlying networks under the control of the network layers.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Arial Unicode MS" panose="020B0604020202020204" pitchFamily="34" charset="-128"/>
              </a:rPr>
              <a:t>The delivery of a packet to its final destination is accomplished using two different methods of delivery: direct and indirect.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1">
            <a:extLst>
              <a:ext uri="{FF2B5EF4-FFF2-40B4-BE49-F238E27FC236}">
                <a16:creationId xmlns:a16="http://schemas.microsoft.com/office/drawing/2014/main" id="{28A02A8D-1489-4F5E-AD54-68827631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2050" y="62436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l"/>
            <a:r>
              <a:rPr lang="en-US" altLang="en-US" b="0"/>
              <a:t>TCP/IP Protocol Suite</a:t>
            </a: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BB3E7927-D3AB-4DA8-B221-E6376E34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7600" y="6243638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0F9A3945-327F-45A2-8060-DDED1554CB4E}" type="slidenum">
              <a:rPr lang="en-US" altLang="en-US" b="0"/>
              <a:pPr algn="ctr"/>
              <a:t>3</a:t>
            </a:fld>
            <a:endParaRPr lang="en-US" altLang="en-US" b="0"/>
          </a:p>
        </p:txBody>
      </p:sp>
      <p:sp>
        <p:nvSpPr>
          <p:cNvPr id="9220" name="Text Box 2">
            <a:extLst>
              <a:ext uri="{FF2B5EF4-FFF2-40B4-BE49-F238E27FC236}">
                <a16:creationId xmlns:a16="http://schemas.microsoft.com/office/drawing/2014/main" id="{6F93D050-D11F-4967-94B3-1F75FEC96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i="1">
                <a:latin typeface="Times New Roman" panose="02020603050405020304" pitchFamily="18" charset="0"/>
              </a:rPr>
              <a:t>Direct delivery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68C7AD91-2035-441F-BB26-5B79A6AA8E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9222" name="Rectangle 4">
            <a:extLst>
              <a:ext uri="{FF2B5EF4-FFF2-40B4-BE49-F238E27FC236}">
                <a16:creationId xmlns:a16="http://schemas.microsoft.com/office/drawing/2014/main" id="{AC86DDCC-EFFF-4140-98E0-FF04B99DFC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9223" name="Rectangle 5">
            <a:extLst>
              <a:ext uri="{FF2B5EF4-FFF2-40B4-BE49-F238E27FC236}">
                <a16:creationId xmlns:a16="http://schemas.microsoft.com/office/drawing/2014/main" id="{0D264C61-EF36-4852-8751-02748517DC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9224" name="Rectangle 6">
            <a:extLst>
              <a:ext uri="{FF2B5EF4-FFF2-40B4-BE49-F238E27FC236}">
                <a16:creationId xmlns:a16="http://schemas.microsoft.com/office/drawing/2014/main" id="{1935FAAD-C199-4D05-92E3-CB13903A0C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9225" name="Rectangle 7">
            <a:extLst>
              <a:ext uri="{FF2B5EF4-FFF2-40B4-BE49-F238E27FC236}">
                <a16:creationId xmlns:a16="http://schemas.microsoft.com/office/drawing/2014/main" id="{E8F9F9B5-17EA-4592-BA2B-21D5FF3995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9226" name="Rectangle 8">
            <a:extLst>
              <a:ext uri="{FF2B5EF4-FFF2-40B4-BE49-F238E27FC236}">
                <a16:creationId xmlns:a16="http://schemas.microsoft.com/office/drawing/2014/main" id="{4A492BDE-21A4-427E-978A-32D9FB79301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9227" name="Rectangle 9">
            <a:extLst>
              <a:ext uri="{FF2B5EF4-FFF2-40B4-BE49-F238E27FC236}">
                <a16:creationId xmlns:a16="http://schemas.microsoft.com/office/drawing/2014/main" id="{3FC8991E-8798-4E11-99DA-7108BEDC61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9228" name="Picture 16">
            <a:extLst>
              <a:ext uri="{FF2B5EF4-FFF2-40B4-BE49-F238E27FC236}">
                <a16:creationId xmlns:a16="http://schemas.microsoft.com/office/drawing/2014/main" id="{CCF4FC17-5E81-45FB-B73E-1795FE672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503363"/>
            <a:ext cx="8045450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7204" name="Picture 20">
            <a:extLst>
              <a:ext uri="{FF2B5EF4-FFF2-40B4-BE49-F238E27FC236}">
                <a16:creationId xmlns:a16="http://schemas.microsoft.com/office/drawing/2014/main" id="{E044B839-8543-46EA-9689-D7DE0DF33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38" y="2359025"/>
            <a:ext cx="51641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7205" name="Picture 21">
            <a:extLst>
              <a:ext uri="{FF2B5EF4-FFF2-40B4-BE49-F238E27FC236}">
                <a16:creationId xmlns:a16="http://schemas.microsoft.com/office/drawing/2014/main" id="{D1D1002B-6041-427B-B2A7-5533C999C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163" y="2774950"/>
            <a:ext cx="3094037" cy="172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7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1">
            <a:extLst>
              <a:ext uri="{FF2B5EF4-FFF2-40B4-BE49-F238E27FC236}">
                <a16:creationId xmlns:a16="http://schemas.microsoft.com/office/drawing/2014/main" id="{B679F188-2320-433D-B468-55C103F89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2050" y="62436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l"/>
            <a:r>
              <a:rPr lang="en-US" altLang="en-US" b="0"/>
              <a:t>TCP/IP Protocol Suite</a:t>
            </a:r>
          </a:p>
        </p:txBody>
      </p:sp>
      <p:sp>
        <p:nvSpPr>
          <p:cNvPr id="11267" name="Slide Number Placeholder 2">
            <a:extLst>
              <a:ext uri="{FF2B5EF4-FFF2-40B4-BE49-F238E27FC236}">
                <a16:creationId xmlns:a16="http://schemas.microsoft.com/office/drawing/2014/main" id="{8FA80FA2-FADC-468F-B374-7A1A9DC0F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7600" y="6243638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CC3D519A-92E7-4EAA-AE77-16D20575D041}" type="slidenum">
              <a:rPr lang="en-US" altLang="en-US" b="0"/>
              <a:pPr algn="ctr"/>
              <a:t>4</a:t>
            </a:fld>
            <a:endParaRPr lang="en-US" altLang="en-US" b="0"/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A899C0D3-DCF3-4AAA-BDF1-D36DF3B32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i="1">
                <a:latin typeface="Times New Roman" panose="02020603050405020304" pitchFamily="18" charset="0"/>
              </a:rPr>
              <a:t>Indirect delivery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727D2E50-FCBC-4C38-8BCA-21FA366F99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1270" name="Rectangle 4">
            <a:extLst>
              <a:ext uri="{FF2B5EF4-FFF2-40B4-BE49-F238E27FC236}">
                <a16:creationId xmlns:a16="http://schemas.microsoft.com/office/drawing/2014/main" id="{FADE48C4-7048-422C-82AC-4C7743EF3E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1271" name="Rectangle 5">
            <a:extLst>
              <a:ext uri="{FF2B5EF4-FFF2-40B4-BE49-F238E27FC236}">
                <a16:creationId xmlns:a16="http://schemas.microsoft.com/office/drawing/2014/main" id="{43FAE0D3-B427-4E14-AED4-4C46AC149D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1272" name="Rectangle 6">
            <a:extLst>
              <a:ext uri="{FF2B5EF4-FFF2-40B4-BE49-F238E27FC236}">
                <a16:creationId xmlns:a16="http://schemas.microsoft.com/office/drawing/2014/main" id="{3A895DB4-24A0-4BCC-A08E-838A338C783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1273" name="Rectangle 7">
            <a:extLst>
              <a:ext uri="{FF2B5EF4-FFF2-40B4-BE49-F238E27FC236}">
                <a16:creationId xmlns:a16="http://schemas.microsoft.com/office/drawing/2014/main" id="{06CF0A01-1D16-4099-802F-3F0E351414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1274" name="Rectangle 8">
            <a:extLst>
              <a:ext uri="{FF2B5EF4-FFF2-40B4-BE49-F238E27FC236}">
                <a16:creationId xmlns:a16="http://schemas.microsoft.com/office/drawing/2014/main" id="{4174BE8E-AB9B-4B35-82C1-07B0F134FCA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11275" name="Rectangle 9">
            <a:extLst>
              <a:ext uri="{FF2B5EF4-FFF2-40B4-BE49-F238E27FC236}">
                <a16:creationId xmlns:a16="http://schemas.microsoft.com/office/drawing/2014/main" id="{D055BCF1-D624-4EA5-AD2B-EBF6508E2E7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11276" name="Picture 11">
            <a:extLst>
              <a:ext uri="{FF2B5EF4-FFF2-40B4-BE49-F238E27FC236}">
                <a16:creationId xmlns:a16="http://schemas.microsoft.com/office/drawing/2014/main" id="{A0CB828F-6C3F-419D-9FD6-3915E0FBC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298700"/>
            <a:ext cx="8455025" cy="165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13" name="Picture 13">
            <a:extLst>
              <a:ext uri="{FF2B5EF4-FFF2-40B4-BE49-F238E27FC236}">
                <a16:creationId xmlns:a16="http://schemas.microsoft.com/office/drawing/2014/main" id="{29AFB8B4-BA23-4544-80B8-0442E3EA9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00400"/>
            <a:ext cx="2084388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15" name="Picture 15">
            <a:extLst>
              <a:ext uri="{FF2B5EF4-FFF2-40B4-BE49-F238E27FC236}">
                <a16:creationId xmlns:a16="http://schemas.microsoft.com/office/drawing/2014/main" id="{F36C63DF-FFA7-41EF-AC04-CB932FCD2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822700"/>
            <a:ext cx="26685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17" name="Picture 17">
            <a:extLst>
              <a:ext uri="{FF2B5EF4-FFF2-40B4-BE49-F238E27FC236}">
                <a16:creationId xmlns:a16="http://schemas.microsoft.com/office/drawing/2014/main" id="{21A2D31D-D3E7-4274-88C8-A1AC66189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124200"/>
            <a:ext cx="220345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1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1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1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1">
            <a:extLst>
              <a:ext uri="{FF2B5EF4-FFF2-40B4-BE49-F238E27FC236}">
                <a16:creationId xmlns:a16="http://schemas.microsoft.com/office/drawing/2014/main" id="{5218EF92-3971-4716-8E99-AA8A8956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2050" y="62436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l"/>
            <a:r>
              <a:rPr lang="en-US" altLang="en-US" b="0"/>
              <a:t>TCP/IP Protocol Suite</a:t>
            </a:r>
          </a:p>
        </p:txBody>
      </p:sp>
      <p:sp>
        <p:nvSpPr>
          <p:cNvPr id="13315" name="Slide Number Placeholder 2">
            <a:extLst>
              <a:ext uri="{FF2B5EF4-FFF2-40B4-BE49-F238E27FC236}">
                <a16:creationId xmlns:a16="http://schemas.microsoft.com/office/drawing/2014/main" id="{74138ED1-9236-48F2-94B8-FE457A29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7600" y="6243638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fld id="{2A35CD3E-1724-4FB9-8D1F-DA10A66955EA}" type="slidenum">
              <a:rPr lang="en-US" altLang="en-US" b="0"/>
              <a:pPr algn="ctr"/>
              <a:t>5</a:t>
            </a:fld>
            <a:endParaRPr lang="en-US" altLang="en-US" b="0"/>
          </a:p>
        </p:txBody>
      </p:sp>
      <p:sp>
        <p:nvSpPr>
          <p:cNvPr id="657410" name="Rectangle 2">
            <a:extLst>
              <a:ext uri="{FF2B5EF4-FFF2-40B4-BE49-F238E27FC236}">
                <a16:creationId xmlns:a16="http://schemas.microsoft.com/office/drawing/2014/main" id="{8F969B54-5765-438B-984E-B2C9ED356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317" name="Text Box 3">
            <a:extLst>
              <a:ext uri="{FF2B5EF4-FFF2-40B4-BE49-F238E27FC236}">
                <a16:creationId xmlns:a16="http://schemas.microsoft.com/office/drawing/2014/main" id="{76E4F2F3-C5AB-4986-9434-FFD2FB9DD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5600"/>
            <a:ext cx="3656013" cy="6461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3600">
                <a:solidFill>
                  <a:schemeClr val="bg1"/>
                </a:solidFill>
                <a:latin typeface="Times" panose="02020603050405020304" pitchFamily="18" charset="0"/>
              </a:rPr>
              <a:t>  FORWARDING</a:t>
            </a:r>
          </a:p>
        </p:txBody>
      </p:sp>
      <p:sp>
        <p:nvSpPr>
          <p:cNvPr id="13318" name="Text Box 4">
            <a:extLst>
              <a:ext uri="{FF2B5EF4-FFF2-40B4-BE49-F238E27FC236}">
                <a16:creationId xmlns:a16="http://schemas.microsoft.com/office/drawing/2014/main" id="{66E63E3D-26C5-4994-B953-00C6F19A3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03AFE737-E125-40CA-A6CA-2CAD2E0D8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0"/>
            <a:ext cx="8534400" cy="6556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914400" indent="-4572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b="0" dirty="0">
                <a:latin typeface="Arial Unicode MS" pitchFamily="34" charset="-128"/>
              </a:rPr>
              <a:t>Forwarding refers to the way a packet is delivered to the next station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b="0" dirty="0">
                <a:latin typeface="Arial Unicode MS" pitchFamily="34" charset="-128"/>
              </a:rPr>
              <a:t>Forwarding requires a host or a router to have a routing table.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b="0" dirty="0">
                <a:latin typeface="Arial Unicode MS" pitchFamily="34" charset="-128"/>
              </a:rPr>
              <a:t>Routing refers the way routing table are created to help in forwarding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b="0" dirty="0">
                <a:latin typeface="Arial Unicode MS" pitchFamily="34" charset="-128"/>
              </a:rPr>
              <a:t>Several techniques can make the size of the routing table </a:t>
            </a:r>
          </a:p>
          <a:p>
            <a:pPr lvl="1" algn="just">
              <a:buFont typeface="Wingdings" panose="05000000000000000000" pitchFamily="2" charset="2"/>
              <a:buChar char="ü"/>
              <a:defRPr/>
            </a:pPr>
            <a:r>
              <a:rPr lang="en-US" altLang="en-US" sz="2800" b="0" dirty="0">
                <a:latin typeface="Arial Unicode MS" pitchFamily="34" charset="-128"/>
              </a:rPr>
              <a:t>Next hop method vs route method</a:t>
            </a:r>
          </a:p>
          <a:p>
            <a:pPr lvl="1" algn="just">
              <a:buFont typeface="Wingdings" panose="05000000000000000000" pitchFamily="2" charset="2"/>
              <a:buChar char="ü"/>
              <a:defRPr/>
            </a:pPr>
            <a:r>
              <a:rPr lang="en-US" altLang="en-US" sz="2800" b="0" dirty="0">
                <a:latin typeface="Arial Unicode MS" pitchFamily="34" charset="-128"/>
              </a:rPr>
              <a:t>Network specific method vs host specific method</a:t>
            </a:r>
          </a:p>
          <a:p>
            <a:pPr lvl="1" algn="just">
              <a:buFont typeface="Wingdings" panose="05000000000000000000" pitchFamily="2" charset="2"/>
              <a:buChar char="ü"/>
              <a:defRPr/>
            </a:pPr>
            <a:r>
              <a:rPr lang="en-US" altLang="en-US" sz="2800" b="0" dirty="0">
                <a:latin typeface="Arial Unicode MS" pitchFamily="34" charset="-128"/>
              </a:rPr>
              <a:t>Default method</a:t>
            </a:r>
          </a:p>
          <a:p>
            <a:pPr marL="457200" lvl="1" indent="0" algn="just">
              <a:defRPr/>
            </a:pPr>
            <a:endParaRPr lang="en-US" altLang="en-US" sz="2800" b="0" dirty="0">
              <a:latin typeface="Arial Unicode MS" pitchFamily="34" charset="-128"/>
            </a:endParaRPr>
          </a:p>
          <a:p>
            <a:pPr lvl="1" algn="just">
              <a:buFont typeface="Wingdings" panose="05000000000000000000" pitchFamily="2" charset="2"/>
              <a:buChar char="ü"/>
              <a:defRPr/>
            </a:pPr>
            <a:endParaRPr lang="en-US" altLang="en-US" sz="2800" b="0" dirty="0">
              <a:latin typeface="Arial Unicode MS" pitchFamily="34" charset="-128"/>
            </a:endParaRPr>
          </a:p>
          <a:p>
            <a:pPr lvl="1" algn="just">
              <a:buFont typeface="Wingdings" panose="05000000000000000000" pitchFamily="2" charset="2"/>
              <a:buChar char="Ø"/>
              <a:defRPr/>
            </a:pPr>
            <a:endParaRPr lang="en-US" altLang="en-US" sz="2800" dirty="0"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2">
            <a:extLst>
              <a:ext uri="{FF2B5EF4-FFF2-40B4-BE49-F238E27FC236}">
                <a16:creationId xmlns:a16="http://schemas.microsoft.com/office/drawing/2014/main" id="{21990858-F5D3-44AB-AF5D-860D329B5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AA7CA474-8A78-4BEB-882C-87D4ABAB7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358F54CD-9D74-440B-AC88-DB6C8A8B8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18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en-US" sz="2000" i="1">
                <a:latin typeface="Times New Roman" panose="02020603050405020304" pitchFamily="18" charset="0"/>
              </a:rPr>
              <a:t>Route method versus next-hop method</a:t>
            </a:r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7F504E8C-8A0B-420A-8FF2-D2C60D81E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B3E3FFB1-F0BB-4EA1-97B4-6C1487941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7559675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Text Box 7">
            <a:extLst>
              <a:ext uri="{FF2B5EF4-FFF2-40B4-BE49-F238E27FC236}">
                <a16:creationId xmlns:a16="http://schemas.microsoft.com/office/drawing/2014/main" id="{DA34DFCE-2772-4649-8052-63D22B46C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181600"/>
            <a:ext cx="72390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 next-hop routing, Routing table holds the information (IP address) that leads to the next hop (router) instead of holding information about the  complete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>
            <a:extLst>
              <a:ext uri="{FF2B5EF4-FFF2-40B4-BE49-F238E27FC236}">
                <a16:creationId xmlns:a16="http://schemas.microsoft.com/office/drawing/2014/main" id="{26069981-E7D8-4FB5-8D10-128D5EF2EF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1" name="Line 3">
            <a:extLst>
              <a:ext uri="{FF2B5EF4-FFF2-40B4-BE49-F238E27FC236}">
                <a16:creationId xmlns:a16="http://schemas.microsoft.com/office/drawing/2014/main" id="{8273FB3B-7C30-44A7-92CB-963436E9F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073AFBEE-63D8-4EBD-A4B0-1E601205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881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en-US" sz="2000" i="1">
                <a:latin typeface="Times New Roman" panose="02020603050405020304" pitchFamily="18" charset="0"/>
              </a:rPr>
              <a:t>Host-specific versus network-specific method</a:t>
            </a:r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E7DFF02C-F93A-4720-9D8E-19BB6CDA6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747FA0DB-E42C-46FD-9329-34EAC2DB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620125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5" name="Text Box 7">
            <a:extLst>
              <a:ext uri="{FF2B5EF4-FFF2-40B4-BE49-F238E27FC236}">
                <a16:creationId xmlns:a16="http://schemas.microsoft.com/office/drawing/2014/main" id="{EC3B89D5-AE28-4247-B9E0-89F011D3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495800"/>
            <a:ext cx="67818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Instead of having entry for each host connected to the same network, the table contains only a single entry for the address of the network itself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>
            <a:extLst>
              <a:ext uri="{FF2B5EF4-FFF2-40B4-BE49-F238E27FC236}">
                <a16:creationId xmlns:a16="http://schemas.microsoft.com/office/drawing/2014/main" id="{6AE8D9F0-DFD1-4E3D-B635-9070B6358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Line 3">
            <a:extLst>
              <a:ext uri="{FF2B5EF4-FFF2-40B4-BE49-F238E27FC236}">
                <a16:creationId xmlns:a16="http://schemas.microsoft.com/office/drawing/2014/main" id="{371680EA-E9C5-401E-B2D3-D4417BA18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B127A3B9-18DA-4B0F-91D8-766B16A3B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77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en-US" sz="2000" i="1">
                <a:latin typeface="Times New Roman" panose="02020603050405020304" pitchFamily="18" charset="0"/>
              </a:rPr>
              <a:t>Default method</a:t>
            </a: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177D5D36-4332-48C4-9803-DE05F7952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A1996DA6-B0A6-4314-8980-48DCC956B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90600"/>
            <a:ext cx="6462713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Text Box 7">
            <a:extLst>
              <a:ext uri="{FF2B5EF4-FFF2-40B4-BE49-F238E27FC236}">
                <a16:creationId xmlns:a16="http://schemas.microsoft.com/office/drawing/2014/main" id="{FB413CC2-FA1E-44DC-9F09-7438FCD5E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257800"/>
            <a:ext cx="678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Default router is used if the destination network address is not found in the routing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7C6F61E-2869-48C6-A4A6-114EE2C5B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Routing (IP routing)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DC6C7BD-EFF4-45B0-8ED4-789B98D1B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Routing Protocol: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path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(route) that the packets should follow to arrive to the desired destination</a:t>
            </a: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Routing Protocols: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the network layer that implements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routing algorithms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responsible for:</a:t>
            </a:r>
          </a:p>
          <a:p>
            <a:pPr lvl="1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Filling and updating routing tables (by finding the shortest paths from each source to each destination) This part is called </a:t>
            </a:r>
            <a:r>
              <a:rPr lang="en-US" altLang="en-US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</a:p>
          <a:p>
            <a:pPr lvl="1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Deciding which output interface an incoming packet should be transmitted on (by referring to the routing table). This part is called </a:t>
            </a:r>
            <a:r>
              <a:rPr lang="en-US" altLang="en-US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8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18083D1-E5E4-4EE7-8C88-26DFA2542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Routing Algorithms Classifications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2C826B8-6D27-4EA7-B71F-8CD93F794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105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entered manually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paths are precompiled </a:t>
            </a:r>
            <a:r>
              <a:rPr lang="en-US" altLang="en-US" sz="20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a special computer running the routing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Resulted information is entered </a:t>
            </a:r>
            <a:r>
              <a:rPr lang="en-US" altLang="en-US" sz="20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the administrator into the routing tables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not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update automatically if there is a change in the network or failure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(adaptive)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router or host learns the  state of the network by communicating with its </a:t>
            </a:r>
            <a:r>
              <a:rPr lang="en-US" altLang="en-US" sz="2000" b="1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neighbours.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collected information, each node can fill its routing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complexity is added to the router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F9CE933A-8EF2-405C-8A97-64D98706F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85800"/>
            <a:ext cx="8153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2F9C416-DB62-43A1-BDEC-B4935C129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Routing</a:t>
            </a:r>
            <a:br>
              <a:rPr lang="en-US" altLang="en-US" sz="36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6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AutoShape 3">
            <a:extLst>
              <a:ext uri="{FF2B5EF4-FFF2-40B4-BE49-F238E27FC236}">
                <a16:creationId xmlns:a16="http://schemas.microsoft.com/office/drawing/2014/main" id="{50DC5552-DEA5-4617-BF76-444B5F71F130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to determine  the shortest path between two nodes according to some cost condition.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shortest path is the path with the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cost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sum of the cost of the links on the path is minimum over all possible paths between the source and destination)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main algorithms to find the shortest path between any two nodes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Vector  (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Bellman-Ford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 )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State – (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788281F-9195-4C7A-BEC7-5E53778CA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Vector (DV) Routing</a:t>
            </a:r>
            <a:br>
              <a:rPr lang="en-US" altLang="en-US" sz="2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80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9F74110-7ABD-4EA2-B80E-3E88C7E97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990600"/>
            <a:ext cx="7772400" cy="5791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distance vector routing algorithm, also called a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Bellman-Ford algorithm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two of its inventors, is one where routes are selected based on the distance between networks.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idea: each network node maintains a Distance Vector (DV) table containing the 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distances from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itself to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destination nodes.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Distances are based on a chosen metric (Metric: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number of  hops, bandwidth, delay)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 transmits its </a:t>
            </a:r>
            <a:r>
              <a:rPr lang="en-US" altLang="en-US" sz="1800" i="1" dirty="0">
                <a:solidFill>
                  <a:srgbClr val="6700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vector table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of its </a:t>
            </a:r>
            <a:r>
              <a:rPr lang="en-US" altLang="en-US" sz="1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(directly connected  to it) </a:t>
            </a:r>
            <a:r>
              <a:rPr lang="en-US" altLang="en-US" sz="1800" b="1" u="sng" dirty="0">
                <a:latin typeface="Helvetica" panose="020B0604020202020204" pitchFamily="34" charset="0"/>
                <a:cs typeface="Times New Roman" panose="02020603050405020304" pitchFamily="18" charset="0"/>
              </a:rPr>
              <a:t>periodically </a:t>
            </a:r>
            <a:r>
              <a:rPr lang="en-US" altLang="en-US" sz="1800" dirty="0">
                <a:latin typeface="Helvetica" panose="020B0604020202020204" pitchFamily="34" charset="0"/>
                <a:cs typeface="Times New Roman" panose="02020603050405020304" pitchFamily="18" charset="0"/>
              </a:rPr>
              <a:t>(every 30 sec)  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router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recalculates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distance vector when: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receives a </a:t>
            </a:r>
            <a:r>
              <a:rPr lang="en-US" altLang="en-US" sz="1600" i="1" dirty="0">
                <a:solidFill>
                  <a:srgbClr val="6700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vector table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 neighbor containing different information than before.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discovers that a link to a neighbor has gone down  or  up (i.e., a topology changes).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Distances to all destinations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computed using information from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neighbors’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vectors.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DV calculation is based on minimizing the cost to each destination.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its DV, a router can directly derive its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table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36B4-B3E7-4217-B68D-936E1F9E4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Bellman-Ford</a:t>
            </a:r>
            <a:r>
              <a:rPr lang="en-US" altLang="en-US" sz="4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2538E2-FC84-44C6-89DC-5D2ACB84A82E}"/>
              </a:ext>
            </a:extLst>
          </p:cNvPr>
          <p:cNvGrpSpPr/>
          <p:nvPr/>
        </p:nvGrpSpPr>
        <p:grpSpPr>
          <a:xfrm>
            <a:off x="1028700" y="1706597"/>
            <a:ext cx="3543300" cy="1744815"/>
            <a:chOff x="1600200" y="2542982"/>
            <a:chExt cx="3543300" cy="174481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95138D6-F0F5-4FE7-8256-DD2A44511D43}"/>
                </a:ext>
              </a:extLst>
            </p:cNvPr>
            <p:cNvSpPr/>
            <p:nvPr/>
          </p:nvSpPr>
          <p:spPr bwMode="auto">
            <a:xfrm>
              <a:off x="1600200" y="3170657"/>
              <a:ext cx="457200" cy="516685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tx1"/>
                  </a:solidFill>
                  <a:latin typeface="Tahoma" pitchFamily="34" charset="0"/>
                  <a:cs typeface="Times New Roman" pitchFamily="18" charset="0"/>
                </a:rPr>
                <a:t>S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cs typeface="Times New Roman" pitchFamily="18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83EE119-D0E6-4CB9-AE64-09801C5428F8}"/>
                </a:ext>
              </a:extLst>
            </p:cNvPr>
            <p:cNvSpPr/>
            <p:nvPr/>
          </p:nvSpPr>
          <p:spPr bwMode="auto">
            <a:xfrm>
              <a:off x="4457700" y="3733799"/>
              <a:ext cx="457200" cy="516685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975D6D-40F6-4E7F-9A51-43D1C4AD0AFB}"/>
                </a:ext>
              </a:extLst>
            </p:cNvPr>
            <p:cNvSpPr/>
            <p:nvPr/>
          </p:nvSpPr>
          <p:spPr bwMode="auto">
            <a:xfrm>
              <a:off x="4457700" y="2616082"/>
              <a:ext cx="457200" cy="516685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5642EE0-4DAE-4A37-A378-37BA8BD6F5FE}"/>
                </a:ext>
              </a:extLst>
            </p:cNvPr>
            <p:cNvSpPr/>
            <p:nvPr/>
          </p:nvSpPr>
          <p:spPr bwMode="auto">
            <a:xfrm>
              <a:off x="2971800" y="3733799"/>
              <a:ext cx="457200" cy="516685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0A5A3C6-ACE7-4AD7-B7A1-52D29C300EA1}"/>
                </a:ext>
              </a:extLst>
            </p:cNvPr>
            <p:cNvSpPr/>
            <p:nvPr/>
          </p:nvSpPr>
          <p:spPr bwMode="auto">
            <a:xfrm>
              <a:off x="2971800" y="2653972"/>
              <a:ext cx="457200" cy="516685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cs typeface="Times New Roman" pitchFamily="18" charset="0"/>
                </a:rPr>
                <a:t>A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5DEF1D9-6EA6-44DF-925C-19DF2DD48871}"/>
                </a:ext>
              </a:extLst>
            </p:cNvPr>
            <p:cNvCxnSpPr>
              <a:stCxn id="4" idx="7"/>
              <a:endCxn id="8" idx="2"/>
            </p:cNvCxnSpPr>
            <p:nvPr/>
          </p:nvCxnSpPr>
          <p:spPr bwMode="auto">
            <a:xfrm flipV="1">
              <a:off x="1990445" y="2912315"/>
              <a:ext cx="981355" cy="334009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A371153-2C7E-4203-82B1-6DBBD1C25A01}"/>
                </a:ext>
              </a:extLst>
            </p:cNvPr>
            <p:cNvCxnSpPr>
              <a:cxnSpLocks/>
              <a:endCxn id="7" idx="2"/>
            </p:cNvCxnSpPr>
            <p:nvPr/>
          </p:nvCxnSpPr>
          <p:spPr bwMode="auto">
            <a:xfrm>
              <a:off x="1994927" y="3610043"/>
              <a:ext cx="976873" cy="382099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0253D43-3726-4DC9-BD8B-5010AF765D68}"/>
                </a:ext>
              </a:extLst>
            </p:cNvPr>
            <p:cNvCxnSpPr>
              <a:cxnSpLocks/>
              <a:endCxn id="6" idx="2"/>
            </p:cNvCxnSpPr>
            <p:nvPr/>
          </p:nvCxnSpPr>
          <p:spPr bwMode="auto">
            <a:xfrm>
              <a:off x="3429000" y="2874368"/>
              <a:ext cx="1028700" cy="57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BF9CCAE-70C6-4815-B653-A096ED34E5E8}"/>
                </a:ext>
              </a:extLst>
            </p:cNvPr>
            <p:cNvCxnSpPr>
              <a:cxnSpLocks/>
              <a:stCxn id="7" idx="6"/>
            </p:cNvCxnSpPr>
            <p:nvPr/>
          </p:nvCxnSpPr>
          <p:spPr bwMode="auto">
            <a:xfrm>
              <a:off x="3429000" y="3992142"/>
              <a:ext cx="1028700" cy="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5D15E57-E44B-4E0C-817C-371C1D0248A7}"/>
                </a:ext>
              </a:extLst>
            </p:cNvPr>
            <p:cNvCxnSpPr>
              <a:cxnSpLocks/>
              <a:stCxn id="6" idx="4"/>
              <a:endCxn id="5" idx="0"/>
            </p:cNvCxnSpPr>
            <p:nvPr/>
          </p:nvCxnSpPr>
          <p:spPr bwMode="auto">
            <a:xfrm>
              <a:off x="4686300" y="3132767"/>
              <a:ext cx="0" cy="601032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945F0FF-1705-4075-B422-364FFC4E0ED2}"/>
                </a:ext>
              </a:extLst>
            </p:cNvPr>
            <p:cNvCxnSpPr>
              <a:cxnSpLocks/>
              <a:stCxn id="7" idx="0"/>
              <a:endCxn id="8" idx="4"/>
            </p:cNvCxnSpPr>
            <p:nvPr/>
          </p:nvCxnSpPr>
          <p:spPr bwMode="auto">
            <a:xfrm flipV="1">
              <a:off x="3200400" y="3170657"/>
              <a:ext cx="0" cy="563142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94E7CCD-C450-4BD3-A0D4-6EC755B2A8DD}"/>
                </a:ext>
              </a:extLst>
            </p:cNvPr>
            <p:cNvSpPr txBox="1"/>
            <p:nvPr/>
          </p:nvSpPr>
          <p:spPr>
            <a:xfrm>
              <a:off x="2198594" y="272764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1C0C37-A621-4E55-9644-9F8181445F47}"/>
                </a:ext>
              </a:extLst>
            </p:cNvPr>
            <p:cNvSpPr txBox="1"/>
            <p:nvPr/>
          </p:nvSpPr>
          <p:spPr>
            <a:xfrm>
              <a:off x="2191870" y="3733799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57EE5FA-F666-4619-A59D-417D37D1FEC8}"/>
                </a:ext>
              </a:extLst>
            </p:cNvPr>
            <p:cNvSpPr txBox="1"/>
            <p:nvPr/>
          </p:nvSpPr>
          <p:spPr>
            <a:xfrm>
              <a:off x="3771900" y="254298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1167A67-BC79-4B2A-B3CA-B28443A6B44B}"/>
                </a:ext>
              </a:extLst>
            </p:cNvPr>
            <p:cNvSpPr txBox="1"/>
            <p:nvPr/>
          </p:nvSpPr>
          <p:spPr>
            <a:xfrm>
              <a:off x="3200400" y="326756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5ED32B-8D65-46C9-9A2C-718EC029AE39}"/>
                </a:ext>
              </a:extLst>
            </p:cNvPr>
            <p:cNvSpPr txBox="1"/>
            <p:nvPr/>
          </p:nvSpPr>
          <p:spPr>
            <a:xfrm>
              <a:off x="3657600" y="3918465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A490E92-F34B-43B7-AAF7-FA4A95A970EA}"/>
                </a:ext>
              </a:extLst>
            </p:cNvPr>
            <p:cNvSpPr txBox="1"/>
            <p:nvPr/>
          </p:nvSpPr>
          <p:spPr>
            <a:xfrm>
              <a:off x="4686300" y="3180801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16255CB-E292-4A71-A4BD-4541CA5F4E31}"/>
              </a:ext>
            </a:extLst>
          </p:cNvPr>
          <p:cNvSpPr txBox="1"/>
          <p:nvPr/>
        </p:nvSpPr>
        <p:spPr>
          <a:xfrm>
            <a:off x="685800" y="3884909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Edges: SA, SB, AC, BA, BD, CD</a:t>
            </a:r>
          </a:p>
          <a:p>
            <a:r>
              <a:rPr lang="en-US" dirty="0"/>
              <a:t>Number of Iteration: V-1 =5-1= 4</a:t>
            </a:r>
          </a:p>
        </p:txBody>
      </p:sp>
      <p:graphicFrame>
        <p:nvGraphicFramePr>
          <p:cNvPr id="40" name="Table 40">
            <a:extLst>
              <a:ext uri="{FF2B5EF4-FFF2-40B4-BE49-F238E27FC236}">
                <a16:creationId xmlns:a16="http://schemas.microsoft.com/office/drawing/2014/main" id="{A23ACCE6-4608-49FA-A255-2726C40B9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451451"/>
              </p:ext>
            </p:extLst>
          </p:nvPr>
        </p:nvGraphicFramePr>
        <p:xfrm>
          <a:off x="4769224" y="1620049"/>
          <a:ext cx="40386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1699">
                  <a:extLst>
                    <a:ext uri="{9D8B030D-6E8A-4147-A177-3AD203B41FA5}">
                      <a16:colId xmlns:a16="http://schemas.microsoft.com/office/drawing/2014/main" val="2173991792"/>
                    </a:ext>
                  </a:extLst>
                </a:gridCol>
                <a:gridCol w="614501">
                  <a:extLst>
                    <a:ext uri="{9D8B030D-6E8A-4147-A177-3AD203B41FA5}">
                      <a16:colId xmlns:a16="http://schemas.microsoft.com/office/drawing/2014/main" val="156701586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5309435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61677687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7135973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707817394"/>
                    </a:ext>
                  </a:extLst>
                </a:gridCol>
              </a:tblGrid>
              <a:tr h="293126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043849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r>
                        <a:rPr lang="en-US" sz="1400" b="1" dirty="0"/>
                        <a:t>Initial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603907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9254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794806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79940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0419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EB382B7-502B-4EE8-BC06-529BED842DD8}"/>
              </a:ext>
            </a:extLst>
          </p:cNvPr>
          <p:cNvSpPr txBox="1"/>
          <p:nvPr/>
        </p:nvSpPr>
        <p:spPr>
          <a:xfrm>
            <a:off x="5562600" y="3878194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Shortest Path tree:</a:t>
            </a:r>
          </a:p>
          <a:p>
            <a:r>
              <a:rPr lang="en-US" dirty="0"/>
              <a:t>S -&gt; B -&gt; A -&gt; C -&gt;D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4E1CF9-1B4E-4AF4-BC2B-AAAF4011FD47}"/>
              </a:ext>
            </a:extLst>
          </p:cNvPr>
          <p:cNvSpPr txBox="1"/>
          <p:nvPr/>
        </p:nvSpPr>
        <p:spPr>
          <a:xfrm>
            <a:off x="457200" y="5079464"/>
            <a:ext cx="7334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istance vector protocols example: 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 (Routing Information Protocol), </a:t>
            </a:r>
          </a:p>
          <a:p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EIGRP (Enhanced Interior Gateway Routing Protocol)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RIP follows Bellman-Ford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EIGRP follows Diffusing Update Algorithm (DUAL)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033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8B44-7712-465C-BF33-C4C22DC1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Information Protocol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239977-AE58-43EA-84B5-D6464B8FE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383" y="1561138"/>
            <a:ext cx="8911234" cy="3582041"/>
          </a:xfrm>
        </p:spPr>
      </p:pic>
    </p:spTree>
    <p:extLst>
      <p:ext uri="{BB962C8B-B14F-4D97-AF65-F5344CB8AC3E}">
        <p14:creationId xmlns:p14="http://schemas.microsoft.com/office/powerpoint/2010/main" val="2388068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B256-8DAD-4277-9778-0FC58C66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 Vs EIGRP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896DA7-33B9-4A61-A428-64D99DBCF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727" y="1295400"/>
            <a:ext cx="7560545" cy="4800600"/>
          </a:xfrm>
        </p:spPr>
      </p:pic>
    </p:spTree>
    <p:extLst>
      <p:ext uri="{BB962C8B-B14F-4D97-AF65-F5344CB8AC3E}">
        <p14:creationId xmlns:p14="http://schemas.microsoft.com/office/powerpoint/2010/main" val="4005761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943CA84-90A1-4D1F-A70A-63DC66998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Link State Routing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53A7461-4E7A-47EA-B7C7-19A64F23C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762000"/>
            <a:ext cx="7772400" cy="533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measures the cost (in delay, Bandwidth) between itself and its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routers (directly connected)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router builds a packet containing all these costs.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distributes these packets using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routers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routing area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sent when 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 change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link between the router and its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 reduce traffic)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builds map of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network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uses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shortest-path algorithm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(usually Dijkstra algorithm)  to compute a shortest path between itself and any other node in the area (creates the routing table)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OSPF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(Open Shortest Path first is an Example)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A2A8A5B-90F1-4115-9022-C7E534C9D4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distance vector &amp; Link state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697F99A-5C63-48F6-A549-F6BC9B843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827452"/>
              </p:ext>
            </p:extLst>
          </p:nvPr>
        </p:nvGraphicFramePr>
        <p:xfrm>
          <a:off x="685800" y="1905000"/>
          <a:ext cx="8001000" cy="419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1780702653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582611561"/>
                    </a:ext>
                  </a:extLst>
                </a:gridCol>
              </a:tblGrid>
              <a:tr h="4196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Distance Vector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Link State Routing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626377"/>
                  </a:ext>
                </a:extLst>
              </a:tr>
              <a:tr h="586395">
                <a:tc>
                  <a:txBody>
                    <a:bodyPr/>
                    <a:lstStyle/>
                    <a:p>
                      <a:r>
                        <a:rPr lang="en-US" sz="1400" dirty="0"/>
                        <a:t>Bandwidth required is less due to local sharing, small packets and no flooding.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Bandwidth required is more due to flooding and sending of large link state packets.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663773"/>
                  </a:ext>
                </a:extLst>
              </a:tr>
              <a:tr h="586395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local knowledge, since it updates table based on information from neighbors.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global knowledge, it have knowledge about entire network.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135603"/>
                  </a:ext>
                </a:extLst>
              </a:tr>
              <a:tr h="586395">
                <a:tc>
                  <a:txBody>
                    <a:bodyPr/>
                    <a:lstStyle/>
                    <a:p>
                      <a:r>
                        <a:rPr lang="en-US" sz="1400" u="none" dirty="0"/>
                        <a:t>Make use of Bellman Ford Algorithm.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 use of </a:t>
                      </a:r>
                      <a:r>
                        <a:rPr lang="en-US" sz="1400" dirty="0" err="1"/>
                        <a:t>Dijakstra's</a:t>
                      </a:r>
                      <a:r>
                        <a:rPr lang="en-US" sz="1400" dirty="0"/>
                        <a:t> algorithm.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642793"/>
                  </a:ext>
                </a:extLst>
              </a:tr>
              <a:tr h="419675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Traffic is less.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Traffic is more.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873355"/>
                  </a:ext>
                </a:extLst>
              </a:tr>
              <a:tr h="586395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Converges slowly, good news spread fast and bad news spread slowly.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Converges faster.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5734"/>
                  </a:ext>
                </a:extLst>
              </a:tr>
              <a:tr h="586395">
                <a:tc>
                  <a:txBody>
                    <a:bodyPr/>
                    <a:lstStyle/>
                    <a:p>
                      <a:r>
                        <a:rPr lang="en-US" sz="1400" dirty="0"/>
                        <a:t>Count of infinity problem.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count of infinity problem.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188823"/>
                  </a:ext>
                </a:extLst>
              </a:tr>
              <a:tr h="419675">
                <a:tc>
                  <a:txBody>
                    <a:bodyPr/>
                    <a:lstStyle/>
                    <a:p>
                      <a:r>
                        <a:rPr lang="en-US" sz="1400" dirty="0"/>
                        <a:t>Practical implementation is 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Practical implementation is OSPF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269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6A0BACA-043E-4360-B623-1A07B9225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systems (AS)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6D05A9F-FCBD-4A65-B4FB-F056C4243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7772400" cy="449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Internet, Autonomous system (AS) is either a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network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of networks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is controlled by a </a:t>
            </a:r>
            <a:r>
              <a:rPr lang="en-US" altLang="en-US" sz="18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network administrator </a:t>
            </a: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system is assigned </a:t>
            </a:r>
            <a:r>
              <a:rPr lang="en-US" altLang="en-US" sz="1800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globally unique number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sometimes called an Autonomous System Number (ASN). </a:t>
            </a: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systems are connected by special routers called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boarder routers or gateways routers.</a:t>
            </a: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Routers in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run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routing protocol this is called  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“intra-AS” (interior) routing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between autonomous systems is called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inter-AS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exterior routing</a:t>
            </a: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Gateways routers (boarder routers) are special routers in AS that run 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intra-AS” routing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and also responsible for routing to destinations outside AS by running </a:t>
            </a:r>
            <a:r>
              <a:rPr lang="en-US" altLang="en-US" sz="18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inter-AS 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(exterior) </a:t>
            </a:r>
            <a:r>
              <a:rPr lang="en-US" altLang="en-US" sz="18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protocol with other gateway (boarder) routers</a:t>
            </a: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865CE7F4-CD18-4ADC-8D01-0D06EBC4B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21.3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/>
              <a:t>Autonomous systems</a:t>
            </a:r>
          </a:p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C287F0F-5326-4102-90BC-D810DDD099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F34A345E-4223-49EF-BA57-76C761CD99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FD0453D3-E8EE-4CBC-9603-9FA16022E9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704FF6FB-5A7A-4FB0-88FE-39186A63DA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9C11253D-7AAB-410A-ACA1-72A476419A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5848" name="Rectangle 8">
            <a:extLst>
              <a:ext uri="{FF2B5EF4-FFF2-40B4-BE49-F238E27FC236}">
                <a16:creationId xmlns:a16="http://schemas.microsoft.com/office/drawing/2014/main" id="{29B1C779-1741-4F23-B9C9-3A4847A6067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8C2C78F7-898B-44D2-9CD5-2F42C9ACB9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35850" name="Picture 24">
            <a:extLst>
              <a:ext uri="{FF2B5EF4-FFF2-40B4-BE49-F238E27FC236}">
                <a16:creationId xmlns:a16="http://schemas.microsoft.com/office/drawing/2014/main" id="{92BF5D7C-454F-45F9-9009-D65C851BB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7092950" cy="437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1" name="Text Box 26">
            <a:extLst>
              <a:ext uri="{FF2B5EF4-FFF2-40B4-BE49-F238E27FC236}">
                <a16:creationId xmlns:a16="http://schemas.microsoft.com/office/drawing/2014/main" id="{D591DC1A-0897-45DF-B79F-3E337D436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181600"/>
            <a:ext cx="46482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/>
              <a:t>Routers R1,R2,R3,R4 are designated as border gateway routers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/>
              <a:t>These routers run both interior and exterior routing protocols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2EB28A05-CF18-44C2-9DEC-8BC14B55E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21.2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b="0" i="1"/>
              <a:t>Popular routing protocols</a:t>
            </a:r>
            <a:endParaRPr lang="en-US" altLang="en-US" b="0"/>
          </a:p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BA1298F-03B8-4F7A-842D-6CEC1C9FDA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927A709E-D618-4258-868B-E2C7D18D430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9585CB63-6D3E-46E7-B766-EE5FB735D9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BE71C586-EC40-4FBB-B029-A4DB0A6539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A4E0EF72-D572-4F05-A48F-18CE00F836F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1133707F-6816-487D-8FC2-04E2068C01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10615CD3-9A43-46FC-BC06-E206F9BAFD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en-US" altLang="en-US" sz="2400" b="0"/>
          </a:p>
        </p:txBody>
      </p:sp>
      <p:pic>
        <p:nvPicPr>
          <p:cNvPr id="36874" name="Picture 10">
            <a:extLst>
              <a:ext uri="{FF2B5EF4-FFF2-40B4-BE49-F238E27FC236}">
                <a16:creationId xmlns:a16="http://schemas.microsoft.com/office/drawing/2014/main" id="{B9BE6568-2B69-4113-B7A8-3E5E1D1A2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6354763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5" name="Text Box 11">
            <a:extLst>
              <a:ext uri="{FF2B5EF4-FFF2-40B4-BE49-F238E27FC236}">
                <a16:creationId xmlns:a16="http://schemas.microsoft.com/office/drawing/2014/main" id="{BFE03C95-1DFD-4D20-B8A5-793C67474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14800"/>
            <a:ext cx="7467600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/>
              <a:t> Interior routing (RIP, OSPF): between routers inside a single AS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/>
              <a:t> Exterior routing (BGP): between routers connecting several  AS</a:t>
            </a: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/>
              <a:t> BGP stands for Border Gateway Protocol Routing</a:t>
            </a:r>
          </a:p>
          <a:p>
            <a:pPr lvl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779924376A414F9F2E95E699889B10" ma:contentTypeVersion="3" ma:contentTypeDescription="Create a new document." ma:contentTypeScope="" ma:versionID="b41de44c5f5221349502e4f621f9e885">
  <xsd:schema xmlns:xsd="http://www.w3.org/2001/XMLSchema" xmlns:xs="http://www.w3.org/2001/XMLSchema" xmlns:p="http://schemas.microsoft.com/office/2006/metadata/properties" xmlns:ns2="aaa00505-5592-4795-b6e3-64c267295362" targetNamespace="http://schemas.microsoft.com/office/2006/metadata/properties" ma:root="true" ma:fieldsID="f141310c985cb07fe49e0768f8f9041f" ns2:_="">
    <xsd:import namespace="aaa00505-5592-4795-b6e3-64c2672953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00505-5592-4795-b6e3-64c2672953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87CAC6-9002-4573-A4B3-79506CC3E2BE}"/>
</file>

<file path=customXml/itemProps2.xml><?xml version="1.0" encoding="utf-8"?>
<ds:datastoreItem xmlns:ds="http://schemas.openxmlformats.org/officeDocument/2006/customXml" ds:itemID="{9F781BAD-25A1-48AD-8D98-72A2DC7378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74FEF7-D01D-41FF-BC5D-31882FBE3BA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4078</TotalTime>
  <Words>1261</Words>
  <Application>Microsoft Office PowerPoint</Application>
  <PresentationFormat>On-screen Show (4:3)</PresentationFormat>
  <Paragraphs>168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Unicode MS</vt:lpstr>
      <vt:lpstr>Helvetica</vt:lpstr>
      <vt:lpstr>McGrawHill-Italic</vt:lpstr>
      <vt:lpstr>Tahoma</vt:lpstr>
      <vt:lpstr>Times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Routing (IP routing)</vt:lpstr>
      <vt:lpstr>Routing Algorithms Classifications</vt:lpstr>
      <vt:lpstr>PowerPoint Presentation</vt:lpstr>
      <vt:lpstr>Shortest Path Routing </vt:lpstr>
      <vt:lpstr>Distance Vector (DV) Routing </vt:lpstr>
      <vt:lpstr>Bellman-Ford Algorithm</vt:lpstr>
      <vt:lpstr>Routing Information Protocol</vt:lpstr>
      <vt:lpstr>RIP Vs EIGRP </vt:lpstr>
      <vt:lpstr>Link State Routing</vt:lpstr>
      <vt:lpstr>Comparison between distance vector &amp; Link state</vt:lpstr>
      <vt:lpstr>Autonomous systems (AS)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CSE VU</cp:lastModifiedBy>
  <cp:revision>193</cp:revision>
  <dcterms:created xsi:type="dcterms:W3CDTF">2000-01-15T04:50:39Z</dcterms:created>
  <dcterms:modified xsi:type="dcterms:W3CDTF">2025-05-21T04:21:36Z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0x010100EF779924376A414F9F2E95E699889B10</vt:lpwstr>
  </property>
</Properties>
</file>