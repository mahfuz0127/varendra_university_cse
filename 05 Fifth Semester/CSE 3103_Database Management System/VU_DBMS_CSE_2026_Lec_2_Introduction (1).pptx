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93" r:id="rId2"/>
  </p:sldMasterIdLst>
  <p:notesMasterIdLst>
    <p:notesMasterId r:id="rId25"/>
  </p:notesMasterIdLst>
  <p:handoutMasterIdLst>
    <p:handoutMasterId r:id="rId26"/>
  </p:handoutMasterIdLst>
  <p:sldIdLst>
    <p:sldId id="256" r:id="rId3"/>
    <p:sldId id="303" r:id="rId4"/>
    <p:sldId id="258" r:id="rId5"/>
    <p:sldId id="331" r:id="rId6"/>
    <p:sldId id="342" r:id="rId7"/>
    <p:sldId id="335" r:id="rId8"/>
    <p:sldId id="338" r:id="rId9"/>
    <p:sldId id="341" r:id="rId10"/>
    <p:sldId id="340" r:id="rId11"/>
    <p:sldId id="339" r:id="rId12"/>
    <p:sldId id="277" r:id="rId13"/>
    <p:sldId id="304" r:id="rId14"/>
    <p:sldId id="305" r:id="rId15"/>
    <p:sldId id="333" r:id="rId16"/>
    <p:sldId id="306" r:id="rId17"/>
    <p:sldId id="334" r:id="rId18"/>
    <p:sldId id="307" r:id="rId19"/>
    <p:sldId id="308" r:id="rId20"/>
    <p:sldId id="309" r:id="rId21"/>
    <p:sldId id="310" r:id="rId22"/>
    <p:sldId id="311" r:id="rId23"/>
    <p:sldId id="312" r:id="rId24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68" autoAdjust="0"/>
    <p:restoredTop sz="91294" autoAdjust="0"/>
  </p:normalViewPr>
  <p:slideViewPr>
    <p:cSldViewPr snapToGrid="0">
      <p:cViewPr varScale="1">
        <p:scale>
          <a:sx n="63" d="100"/>
          <a:sy n="63" d="100"/>
        </p:scale>
        <p:origin x="124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E7B9068D-BA9E-43FF-A368-093BCE3D4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37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C4D715CB-083A-4111-8E48-C9405A80A1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048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7F3EE569-E30F-431D-B8BE-8C415086F6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70AFF9-3790-4629-9B99-ADC3E9CFB5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69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0BA18A46-500C-461B-9898-594FD719F39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B070AFF9-3790-4629-9B99-ADC3E9CFB5D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ED94908A-F711-41D2-889E-D56A66390F1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E146E3-3008-438A-B33F-C304124E01D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173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36E146E3-3008-438A-B33F-C304124E01D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DC713E2F-A5EA-472E-A32A-1E470FC5CA1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7F08811E-7CAC-4F9B-8C7D-AF93DA7034C1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E1C66DA5-FB20-4F2B-B5A0-0380A3A67B1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D081D4EB-8EF0-46BB-B0DD-0A680383849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8891A2F5-3EAA-4794-9F9E-22C377566AE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6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560286192 w 4128"/>
              <a:gd name="T1" fmla="*/ 205697824 h 479"/>
              <a:gd name="T2" fmla="*/ 2147483647 w 4128"/>
              <a:gd name="T3" fmla="*/ 205697824 h 479"/>
              <a:gd name="T4" fmla="*/ 2147483647 w 4128"/>
              <a:gd name="T5" fmla="*/ 441221624 h 479"/>
              <a:gd name="T6" fmla="*/ 0 w 4128"/>
              <a:gd name="T7" fmla="*/ 453563757 h 479"/>
              <a:gd name="T8" fmla="*/ 560286192 w 4128"/>
              <a:gd name="T9" fmla="*/ 205697824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Rectangle 8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CEF57BA-0CA4-497A-83EA-0DD3451F22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3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8416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348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76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82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691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86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895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094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591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47625"/>
            <a:ext cx="20383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47625"/>
            <a:ext cx="59626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5787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4762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36290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801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4762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1500" y="11144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" y="36290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0236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16" y="3773555"/>
            <a:ext cx="7567715" cy="1101897"/>
          </a:xfrm>
        </p:spPr>
        <p:txBody>
          <a:bodyPr>
            <a:noAutofit/>
          </a:bodyPr>
          <a:lstStyle>
            <a:lvl1pPr marL="0" indent="0" algn="l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516" y="5451785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1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516" y="5105537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3028798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9144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8541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39804" y="0"/>
            <a:ext cx="4577716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524" y="3074530"/>
            <a:ext cx="3316392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2746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5592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4581654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0904" y="3090573"/>
            <a:ext cx="3316393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905" y="1046140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0905" y="2241516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5235690" y="1947672"/>
            <a:ext cx="3915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1050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524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970340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524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0341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1993"/>
            <a:ext cx="7664035" cy="665713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0753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9525" y="-12700"/>
            <a:ext cx="916305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572001" y="1246189"/>
            <a:ext cx="3877526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36992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36843" y="1591500"/>
            <a:ext cx="4920854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6128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6" y="0"/>
            <a:ext cx="912113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033272"/>
            <a:ext cx="7886249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1880795"/>
            <a:ext cx="7888949" cy="782639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222569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9407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1834319" y="-12700"/>
            <a:ext cx="546735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6580"/>
            <a:ext cx="78867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046988" y="1497770"/>
            <a:ext cx="7050024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5853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6866572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6753290" y="3285679"/>
            <a:ext cx="2393442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280" y="973513"/>
            <a:ext cx="3137954" cy="2281355"/>
          </a:xfrm>
        </p:spPr>
        <p:txBody>
          <a:bodyPr>
            <a:noAutofit/>
          </a:bodyPr>
          <a:lstStyle>
            <a:lvl1pPr algn="r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0406" y="3675709"/>
            <a:ext cx="2351828" cy="1101897"/>
          </a:xfrm>
        </p:spPr>
        <p:txBody>
          <a:bodyPr>
            <a:noAutofit/>
          </a:bodyPr>
          <a:lstStyle>
            <a:lvl1pPr marL="0" indent="0" algn="r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6586" y="5019265"/>
            <a:ext cx="3275648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56586" y="4805882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91816" y="5685823"/>
            <a:ext cx="4440417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586" y="5466001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2273130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3773555"/>
            <a:ext cx="7567715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625" b="0" i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176627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9144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2225393"/>
            <a:ext cx="3833020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50"/>
            </a:lvl1pPr>
          </a:lstStyle>
          <a:p>
            <a:pPr marL="171450" lvl="0" indent="-17145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0250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7756"/>
            <a:ext cx="78867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9188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277756"/>
            <a:ext cx="3886200" cy="389920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77755"/>
            <a:ext cx="3886200" cy="3899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87200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2068513"/>
            <a:ext cx="3868340" cy="436562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68512"/>
            <a:ext cx="3887391" cy="436563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193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450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66148"/>
            <a:ext cx="2949178" cy="370284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8381" y="1947672"/>
            <a:ext cx="370332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58977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807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30500"/>
            <a:ext cx="2949178" cy="37384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39804" y="1"/>
            <a:ext cx="4577715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78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08278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74197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683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901" y="1998210"/>
            <a:ext cx="2327333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5481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8454" y="1998210"/>
            <a:ext cx="1682939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30066" y="1991988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3039" y="2015989"/>
            <a:ext cx="2219337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5045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39013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96095" y="2927531"/>
            <a:ext cx="1949398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07717" y="2925988"/>
            <a:ext cx="2794817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3100" y="5751926"/>
            <a:ext cx="7217801" cy="470478"/>
          </a:xfr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96094" y="4893792"/>
            <a:ext cx="19493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035" y="4893792"/>
            <a:ext cx="27844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044" y="3800404"/>
            <a:ext cx="2455164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596095" y="3864572"/>
            <a:ext cx="19493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907716" y="3864572"/>
            <a:ext cx="19494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741320"/>
            <a:ext cx="7880057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8380" y="1610268"/>
            <a:ext cx="6939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5020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76078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3759200" y="6613525"/>
            <a:ext cx="137001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l">
              <a:spcBef>
                <a:spcPct val="50000"/>
              </a:spcBef>
              <a:defRPr/>
            </a:pPr>
            <a:r>
              <a:rPr lang="en-US" sz="1100" b="1"/>
              <a:t>www.ru.ac.bd/cse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3300" y="600237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1" y="6002373"/>
            <a:ext cx="2549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211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574">
          <p15:clr>
            <a:srgbClr val="F26B43"/>
          </p15:clr>
        </p15:guide>
        <p15:guide id="3" pos="7106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4407">
          <p15:clr>
            <a:srgbClr val="F26B43"/>
          </p15:clr>
        </p15:guide>
        <p15:guide id="6" pos="3273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2277274" y="818774"/>
            <a:ext cx="6866726" cy="5143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50" dirty="0"/>
              <a:t>Database Management Systems</a:t>
            </a:r>
            <a:endParaRPr lang="ru-RU" sz="49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6996" y="4779395"/>
            <a:ext cx="7567715" cy="630805"/>
          </a:xfrm>
        </p:spPr>
        <p:txBody>
          <a:bodyPr/>
          <a:lstStyle/>
          <a:p>
            <a:r>
              <a:rPr lang="en-US" dirty="0"/>
              <a:t>Shamim Ahmad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050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Why Database Design is Important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/>
              <a:t>Defines the database’s expected use</a:t>
            </a:r>
          </a:p>
          <a:p>
            <a:r>
              <a:rPr lang="en-US" sz="3200"/>
              <a:t>Different approach needed for different types of databases</a:t>
            </a:r>
          </a:p>
          <a:p>
            <a:r>
              <a:rPr lang="en-US" sz="3200"/>
              <a:t>Avoid redundant data</a:t>
            </a:r>
          </a:p>
          <a:p>
            <a:r>
              <a:rPr lang="en-US" sz="3200"/>
              <a:t>Poorly designed database generates errors </a:t>
            </a:r>
            <a:r>
              <a:rPr lang="en-US" sz="3200">
                <a:sym typeface="Wingdings" pitchFamily="2" charset="2"/>
              </a:rPr>
              <a:t> leads to </a:t>
            </a:r>
            <a:r>
              <a:rPr lang="en-US" sz="3200"/>
              <a:t>bad decisions </a:t>
            </a:r>
            <a:r>
              <a:rPr lang="en-US" sz="3200">
                <a:sym typeface="Wingdings" pitchFamily="2" charset="2"/>
              </a:rPr>
              <a:t> </a:t>
            </a:r>
            <a:r>
              <a:rPr lang="en-US" sz="3200"/>
              <a:t>can lead to failure of organization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Purpose of Database System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2090103"/>
            <a:ext cx="7580313" cy="1537017"/>
          </a:xfrm>
        </p:spPr>
        <p:txBody>
          <a:bodyPr/>
          <a:lstStyle/>
          <a:p>
            <a:pPr algn="just"/>
            <a:r>
              <a:rPr lang="en-US" sz="3200" dirty="0"/>
              <a:t>In the early days, database applications were built on top of file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78180" y="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Purpose of Database System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7571" y="694531"/>
            <a:ext cx="8628857" cy="5468937"/>
          </a:xfrm>
        </p:spPr>
        <p:txBody>
          <a:bodyPr/>
          <a:lstStyle/>
          <a:p>
            <a:endParaRPr lang="en-US" dirty="0"/>
          </a:p>
          <a:p>
            <a:r>
              <a:rPr lang="en-US" sz="2400" dirty="0"/>
              <a:t>Drawbacks of using file systems to store data:</a:t>
            </a:r>
          </a:p>
          <a:p>
            <a:pPr lvl="1"/>
            <a:r>
              <a:rPr lang="en-US" sz="2000" dirty="0"/>
              <a:t>Data redundancy and inconsistency</a:t>
            </a:r>
          </a:p>
          <a:p>
            <a:pPr lvl="2"/>
            <a:r>
              <a:rPr lang="en-US" sz="2000" dirty="0"/>
              <a:t>Multiple </a:t>
            </a:r>
            <a:r>
              <a:rPr lang="en-US" sz="2000" b="1" dirty="0"/>
              <a:t>file formats</a:t>
            </a:r>
            <a:r>
              <a:rPr lang="en-US" sz="2000" dirty="0"/>
              <a:t>, duplication of information in different files</a:t>
            </a:r>
          </a:p>
          <a:p>
            <a:pPr lvl="1"/>
            <a:r>
              <a:rPr lang="en-US" sz="2000" dirty="0"/>
              <a:t>Difficulty </a:t>
            </a:r>
            <a:r>
              <a:rPr lang="en-US" sz="2000" b="1" dirty="0"/>
              <a:t>in accessing data </a:t>
            </a:r>
          </a:p>
          <a:p>
            <a:pPr lvl="2"/>
            <a:r>
              <a:rPr lang="en-US" sz="2000" dirty="0"/>
              <a:t>Need to write a new program to carry out each new task</a:t>
            </a:r>
          </a:p>
          <a:p>
            <a:pPr lvl="1"/>
            <a:r>
              <a:rPr lang="en-US" sz="2000" dirty="0"/>
              <a:t>Data multiple files and formats</a:t>
            </a:r>
          </a:p>
          <a:p>
            <a:pPr lvl="1"/>
            <a:r>
              <a:rPr lang="en-US" sz="2000" dirty="0"/>
              <a:t>Integrity problems</a:t>
            </a:r>
          </a:p>
          <a:p>
            <a:pPr lvl="2"/>
            <a:r>
              <a:rPr lang="en-US" sz="2000" dirty="0"/>
              <a:t>Integrity constraints  (e.g. account balance &gt; 0) become part of program code</a:t>
            </a:r>
          </a:p>
          <a:p>
            <a:pPr lvl="2"/>
            <a:r>
              <a:rPr lang="en-US" sz="2000" dirty="0"/>
              <a:t>Hard to add new constraints or change existing ones</a:t>
            </a:r>
          </a:p>
        </p:txBody>
      </p:sp>
    </p:spTree>
    <p:extLst>
      <p:ext uri="{BB962C8B-B14F-4D97-AF65-F5344CB8AC3E}">
        <p14:creationId xmlns:p14="http://schemas.microsoft.com/office/powerpoint/2010/main" val="2042004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A17D-3BE2-48D1-BA3A-519F096AE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Older Database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498342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3524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Historical Roots: Files and File Systems</a:t>
            </a:r>
            <a:br>
              <a:rPr lang="en-US"/>
            </a:br>
            <a:r>
              <a:rPr lang="en-US"/>
              <a:t>(continued)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A37BC8-6131-4BD8-8803-8B9A4C35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86" y="1467802"/>
            <a:ext cx="8676427" cy="418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9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04ABC-3DF1-4FBF-AFCB-21B619BA9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3886"/>
            <a:ext cx="9144000" cy="4198867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DC32E784-0A49-41E9-921D-AD6C452A9C7E}"/>
              </a:ext>
            </a:extLst>
          </p:cNvPr>
          <p:cNvSpPr txBox="1">
            <a:spLocks noChangeArrowheads="1"/>
          </p:cNvSpPr>
          <p:nvPr/>
        </p:nvSpPr>
        <p:spPr>
          <a:xfrm>
            <a:off x="327660" y="445647"/>
            <a:ext cx="80772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defRPr>
            </a:lvl9pPr>
          </a:lstStyle>
          <a:p>
            <a:pPr>
              <a:defRPr/>
            </a:pPr>
            <a:r>
              <a:rPr lang="en-US" kern="0" dirty="0"/>
              <a:t>COBOL Example</a:t>
            </a:r>
          </a:p>
        </p:txBody>
      </p:sp>
    </p:spTree>
    <p:extLst>
      <p:ext uri="{BB962C8B-B14F-4D97-AF65-F5344CB8AC3E}">
        <p14:creationId xmlns:p14="http://schemas.microsoft.com/office/powerpoint/2010/main" val="3266853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BF9CD9-02CD-4910-AC18-41D9BAB7F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28" y="-182069"/>
            <a:ext cx="8683943" cy="70400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815710-22D4-40F7-A57C-6B5AB3481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085" y="1895475"/>
            <a:ext cx="30289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28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BFB891-574A-4DEF-9055-350E7B61B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2051"/>
            <a:ext cx="9198534" cy="45138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4C34FA-E198-4F08-9B19-4326F865F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792" y="0"/>
            <a:ext cx="30289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98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57CCE0-E364-49BD-98A9-BAEEE3C13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1260157"/>
            <a:ext cx="8553450" cy="50387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E4AA94-816F-4A34-9E55-83295188D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525" y="-30480"/>
            <a:ext cx="30289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90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798513" y="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Purpose of Database Systems (Cont.)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90575"/>
            <a:ext cx="8080375" cy="4876800"/>
          </a:xfrm>
        </p:spPr>
        <p:txBody>
          <a:bodyPr/>
          <a:lstStyle/>
          <a:p>
            <a:r>
              <a:rPr lang="en-US" dirty="0"/>
              <a:t>Drawbacks of using file systems (cont.) </a:t>
            </a:r>
          </a:p>
          <a:p>
            <a:pPr lvl="1"/>
            <a:r>
              <a:rPr lang="en-US" dirty="0"/>
              <a:t>Atomicity of updates</a:t>
            </a:r>
          </a:p>
          <a:p>
            <a:pPr lvl="2"/>
            <a:r>
              <a:rPr lang="en-US" dirty="0"/>
              <a:t>Failures may leave database in an inconsistent state with partial updates carried out</a:t>
            </a:r>
          </a:p>
          <a:p>
            <a:pPr lvl="2"/>
            <a:r>
              <a:rPr lang="en-US" dirty="0"/>
              <a:t>E.g. transfer of funds from one account to another should either complete or not happen at all</a:t>
            </a:r>
          </a:p>
          <a:p>
            <a:pPr lvl="1"/>
            <a:r>
              <a:rPr lang="en-US" dirty="0"/>
              <a:t>Concurrent access by multiple users</a:t>
            </a:r>
          </a:p>
          <a:p>
            <a:pPr lvl="2"/>
            <a:r>
              <a:rPr lang="en-US" dirty="0"/>
              <a:t>Concurrent accessed needed for performance</a:t>
            </a:r>
          </a:p>
          <a:p>
            <a:pPr lvl="2"/>
            <a:r>
              <a:rPr lang="en-US" dirty="0"/>
              <a:t>Uncontrolled concurrent accesses can lead to inconsistencies</a:t>
            </a:r>
          </a:p>
          <a:p>
            <a:pPr lvl="3"/>
            <a:r>
              <a:rPr lang="en-US" dirty="0"/>
              <a:t>E.g. two people reading a balance and updating it at the same time</a:t>
            </a:r>
          </a:p>
          <a:p>
            <a:pPr lvl="1"/>
            <a:r>
              <a:rPr lang="en-US" dirty="0"/>
              <a:t>Security problems</a:t>
            </a:r>
          </a:p>
          <a:p>
            <a:r>
              <a:rPr lang="en-US" dirty="0"/>
              <a:t>Database systems offer solutions to all the above problems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Roots: Files and File Systems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Managing data with file systems is obsolete</a:t>
            </a:r>
          </a:p>
          <a:p>
            <a:pPr lvl="1"/>
            <a:r>
              <a:rPr lang="en-US" sz="2400" dirty="0"/>
              <a:t>Understanding </a:t>
            </a:r>
            <a:r>
              <a:rPr lang="en-US" sz="2400" b="1" dirty="0"/>
              <a:t>file system characteristics </a:t>
            </a:r>
            <a:r>
              <a:rPr lang="en-US" sz="2400" dirty="0"/>
              <a:t>makes database design easier to understand</a:t>
            </a:r>
          </a:p>
          <a:p>
            <a:pPr lvl="1"/>
            <a:r>
              <a:rPr lang="en-US" sz="2400" dirty="0"/>
              <a:t>Awareness of </a:t>
            </a:r>
            <a:r>
              <a:rPr lang="en-US" sz="2400" b="1" dirty="0"/>
              <a:t>problems with file systems helps </a:t>
            </a:r>
            <a:r>
              <a:rPr lang="en-US" sz="2400" dirty="0"/>
              <a:t>prevent similar problems in DBMS</a:t>
            </a:r>
          </a:p>
          <a:p>
            <a:pPr lvl="1"/>
            <a:r>
              <a:rPr lang="en-US" sz="2400" dirty="0"/>
              <a:t>Knowledge of </a:t>
            </a:r>
            <a:r>
              <a:rPr lang="en-US" sz="2400" b="1" dirty="0"/>
              <a:t>file systems is helpful </a:t>
            </a:r>
            <a:r>
              <a:rPr lang="en-US" sz="2400" dirty="0"/>
              <a:t>if you plan to convert an obsolete file system to a DBMS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3524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Historical Roots: Files and File Systems</a:t>
            </a:r>
            <a:br>
              <a:rPr lang="en-US"/>
            </a:br>
            <a:r>
              <a:rPr lang="en-US"/>
              <a:t>(continued)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2400" dirty="0"/>
              <a:t>Manual File systems:</a:t>
            </a:r>
          </a:p>
          <a:p>
            <a:r>
              <a:rPr lang="en-US" sz="2400" dirty="0"/>
              <a:t>Collection of file folders kept in file cabinet</a:t>
            </a:r>
          </a:p>
          <a:p>
            <a:r>
              <a:rPr lang="en-US" sz="2400" b="1" dirty="0"/>
              <a:t>Organization within folders </a:t>
            </a:r>
            <a:r>
              <a:rPr lang="en-US" sz="2400" dirty="0"/>
              <a:t>based on data’s expected use (ideally logically related)</a:t>
            </a:r>
          </a:p>
          <a:p>
            <a:r>
              <a:rPr lang="en-US" sz="2400" dirty="0"/>
              <a:t>System adequate for small amounts of data with few reporting requirements</a:t>
            </a:r>
          </a:p>
          <a:p>
            <a:r>
              <a:rPr lang="en-US" sz="2400" dirty="0"/>
              <a:t>Finding and using data in growing collections </a:t>
            </a:r>
            <a:r>
              <a:rPr lang="en-US" sz="2400" b="1" dirty="0"/>
              <a:t>of file folders became time-consuming and cumbersome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670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/>
              <a:t>Purpose of Database System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2AEBE9-B797-4C34-ADB8-D0E81CF41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3077"/>
            <a:ext cx="9144000" cy="504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98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0" y="8858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Historical Roots: Files and File Systems</a:t>
            </a:r>
            <a:br>
              <a:rPr lang="en-US"/>
            </a:br>
            <a:r>
              <a:rPr lang="en-US"/>
              <a:t>(continued)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828800"/>
            <a:ext cx="7848600" cy="1838325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dirty="0"/>
              <a:t>Conversion from manual to computer system:</a:t>
            </a:r>
          </a:p>
          <a:p>
            <a:r>
              <a:rPr lang="en-US" dirty="0"/>
              <a:t>Could be technically complex, requiring hiring of data processing (DP) specialists</a:t>
            </a:r>
          </a:p>
          <a:p>
            <a:r>
              <a:rPr lang="en-US" dirty="0"/>
              <a:t>Initially, </a:t>
            </a:r>
            <a:r>
              <a:rPr lang="en-US" b="1" dirty="0"/>
              <a:t>computer files were similar in design to manual files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pPr>
              <a:defRPr/>
            </a:pPr>
            <a:r>
              <a:rPr lang="en-US" sz="2800"/>
              <a:t>Historical Roots: Files and File Systems</a:t>
            </a:r>
            <a:br>
              <a:rPr lang="en-US" sz="2800"/>
            </a:br>
            <a:r>
              <a:rPr lang="en-US" sz="2800"/>
              <a:t>(continued)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134256-5604-4D0D-80FA-70B303471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5953"/>
            <a:ext cx="9143999" cy="559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725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Historical Roots: Files and File Systems</a:t>
            </a:r>
            <a:br>
              <a:rPr lang="en-US" sz="2800" dirty="0"/>
            </a:br>
            <a:r>
              <a:rPr lang="en-US" sz="2800" dirty="0"/>
              <a:t>(continued)</a:t>
            </a:r>
          </a:p>
        </p:txBody>
      </p:sp>
      <p:pic>
        <p:nvPicPr>
          <p:cNvPr id="25603" name="Picture 3" descr="Fig01-0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213485"/>
            <a:ext cx="9144000" cy="5349240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Historical Roots: Files and File Systems</a:t>
            </a:r>
            <a:br>
              <a:rPr lang="en-US" dirty="0"/>
            </a:br>
            <a:r>
              <a:rPr lang="en-US" dirty="0"/>
              <a:t>(continued)</a:t>
            </a:r>
          </a:p>
        </p:txBody>
      </p:sp>
      <p:pic>
        <p:nvPicPr>
          <p:cNvPr id="26627" name="Picture 3" descr="Tbl01-0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725" y="1501774"/>
            <a:ext cx="9144000" cy="5013325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905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Historical Roots: Files and File Systems</a:t>
            </a:r>
            <a:br>
              <a:rPr lang="en-US"/>
            </a:br>
            <a:r>
              <a:rPr lang="en-US"/>
              <a:t>(continued)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1495425"/>
            <a:ext cx="7848600" cy="3867150"/>
          </a:xfrm>
        </p:spPr>
        <p:txBody>
          <a:bodyPr/>
          <a:lstStyle/>
          <a:p>
            <a:r>
              <a:rPr lang="en-US" sz="2800" dirty="0"/>
              <a:t>DP specialist wrote programs for reports:</a:t>
            </a:r>
          </a:p>
          <a:p>
            <a:pPr lvl="1"/>
            <a:r>
              <a:rPr lang="en-US" sz="2400" b="1" dirty="0"/>
              <a:t>Monthly summaries </a:t>
            </a:r>
            <a:r>
              <a:rPr lang="en-US" sz="2400" dirty="0"/>
              <a:t>of types and amounts of insurance sold by agents</a:t>
            </a:r>
          </a:p>
          <a:p>
            <a:pPr lvl="1"/>
            <a:r>
              <a:rPr lang="en-US" sz="2400" dirty="0"/>
              <a:t>Monthly reports about </a:t>
            </a:r>
            <a:r>
              <a:rPr lang="en-US" sz="2400" b="1" dirty="0"/>
              <a:t>which customers </a:t>
            </a:r>
            <a:r>
              <a:rPr lang="en-US" sz="2400" dirty="0"/>
              <a:t>should be contacted for renewal</a:t>
            </a:r>
          </a:p>
          <a:p>
            <a:pPr lvl="1"/>
            <a:r>
              <a:rPr lang="en-US" sz="2400" dirty="0"/>
              <a:t>Reports that analyzed </a:t>
            </a:r>
            <a:r>
              <a:rPr lang="en-US" sz="2400" i="1" dirty="0"/>
              <a:t>ratios of insurance types sold by agent</a:t>
            </a:r>
          </a:p>
          <a:p>
            <a:pPr lvl="1"/>
            <a:r>
              <a:rPr lang="en-US" sz="2400" dirty="0"/>
              <a:t>Customer contact letters summarizing coverage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3333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Historical Roots: Files and File Systems</a:t>
            </a:r>
            <a:br>
              <a:rPr lang="en-US"/>
            </a:br>
            <a:r>
              <a:rPr lang="en-US"/>
              <a:t>(continued)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/>
              <a:t>Other departments requested databases be written for them</a:t>
            </a:r>
          </a:p>
          <a:p>
            <a:pPr lvl="1"/>
            <a:r>
              <a:rPr lang="en-US" sz="2800"/>
              <a:t>SALES database created for sales department</a:t>
            </a:r>
          </a:p>
          <a:p>
            <a:pPr lvl="1"/>
            <a:r>
              <a:rPr lang="en-US" sz="2800"/>
              <a:t>AGENT database created for personnel department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701040" y="-289560"/>
            <a:ext cx="8077200" cy="1216025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Historical Roots: Files and File Systems</a:t>
            </a:r>
            <a:br>
              <a:rPr lang="en-US" sz="2800" dirty="0"/>
            </a:br>
            <a:r>
              <a:rPr lang="en-US" sz="2800" dirty="0"/>
              <a:t>(continued)</a:t>
            </a:r>
          </a:p>
        </p:txBody>
      </p:sp>
      <p:pic>
        <p:nvPicPr>
          <p:cNvPr id="29699" name="Picture 3" descr="Fig01-04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02506"/>
            <a:ext cx="9144000" cy="5855494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5791200" y="4191000"/>
            <a:ext cx="180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algn="l">
              <a:spcBef>
                <a:spcPct val="20000"/>
              </a:spcBef>
              <a:buClr>
                <a:srgbClr val="FF6600"/>
              </a:buClr>
              <a:buSzPct val="75000"/>
              <a:buFont typeface="Monotype Sorts" pitchFamily="2" charset="2"/>
              <a:buNone/>
            </a:pPr>
            <a:endParaRPr lang="en-US">
              <a:latin typeface="Arial" pitchFamily="34" charset="0"/>
            </a:endParaRP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title"/>
          </p:nvPr>
        </p:nvSpPr>
        <p:spPr>
          <a:xfrm>
            <a:off x="571500" y="4095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Historical Roots: Files and File Systems</a:t>
            </a:r>
            <a:br>
              <a:rPr lang="en-US"/>
            </a:br>
            <a:r>
              <a:rPr lang="en-US"/>
              <a:t>(continued)</a:t>
            </a: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/>
              <a:t>As number of databases increased, small file system evolved</a:t>
            </a:r>
          </a:p>
          <a:p>
            <a:r>
              <a:rPr lang="en-US" sz="3200"/>
              <a:t>Each file used its own application programs</a:t>
            </a:r>
          </a:p>
          <a:p>
            <a:r>
              <a:rPr lang="en-US" sz="3200"/>
              <a:t>Each file was owned by individual or department who commissioned its creation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BMS_Template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MS_Templat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MS_Template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Settings\shamim\Application Data\Microsoft\Templates\DBMS_Template.pot</Template>
  <TotalTime>10100</TotalTime>
  <Words>592</Words>
  <Application>Microsoft Office PowerPoint</Application>
  <PresentationFormat>On-screen Show (4:3)</PresentationFormat>
  <Paragraphs>80</Paragraphs>
  <Slides>22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Helvetica</vt:lpstr>
      <vt:lpstr>Lucida Grande</vt:lpstr>
      <vt:lpstr>Monotype Sorts</vt:lpstr>
      <vt:lpstr>Times New Roman</vt:lpstr>
      <vt:lpstr>Verdana</vt:lpstr>
      <vt:lpstr>Wingdings</vt:lpstr>
      <vt:lpstr>DBMS_Template</vt:lpstr>
      <vt:lpstr>Office Theme</vt:lpstr>
      <vt:lpstr>Clip</vt:lpstr>
      <vt:lpstr>Database Management Systems</vt:lpstr>
      <vt:lpstr>Why Database Design is Important</vt:lpstr>
      <vt:lpstr>Purpose of Database System</vt:lpstr>
      <vt:lpstr>Purpose of Database System</vt:lpstr>
      <vt:lpstr>Older Database Management System</vt:lpstr>
      <vt:lpstr>Historical Roots: Files and File Systems (continued)</vt:lpstr>
      <vt:lpstr>PowerPoint Presentation</vt:lpstr>
      <vt:lpstr>PowerPoint Presentation</vt:lpstr>
      <vt:lpstr>PowerPoint Presentation</vt:lpstr>
      <vt:lpstr>PowerPoint Presentation</vt:lpstr>
      <vt:lpstr>Purpose of Database Systems (Cont.)</vt:lpstr>
      <vt:lpstr>Historical Roots: Files and File Systems</vt:lpstr>
      <vt:lpstr>Historical Roots: Files and File Systems (continued)</vt:lpstr>
      <vt:lpstr>Purpose of Database System</vt:lpstr>
      <vt:lpstr>Historical Roots: Files and File Systems (continued)</vt:lpstr>
      <vt:lpstr>Historical Roots: Files and File Systems (continued)</vt:lpstr>
      <vt:lpstr>Historical Roots: Files and File Systems (continued)</vt:lpstr>
      <vt:lpstr>Historical Roots: Files and File Systems (continued)</vt:lpstr>
      <vt:lpstr>Historical Roots: Files and File Systems (continued)</vt:lpstr>
      <vt:lpstr>Historical Roots: Files and File Systems (continued)</vt:lpstr>
      <vt:lpstr>Historical Roots: Files and File Systems (continued)</vt:lpstr>
      <vt:lpstr>Historical Roots: Files and File Systems (continued)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CSE Head</cp:lastModifiedBy>
  <cp:revision>140</cp:revision>
  <cp:lastPrinted>2001-02-09T15:35:27Z</cp:lastPrinted>
  <dcterms:created xsi:type="dcterms:W3CDTF">1999-11-04T20:50:09Z</dcterms:created>
  <dcterms:modified xsi:type="dcterms:W3CDTF">2025-08-17T05:58:59Z</dcterms:modified>
</cp:coreProperties>
</file>