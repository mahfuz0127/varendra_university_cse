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  <p:sldMasterId id="2147483719" r:id="rId2"/>
    <p:sldMasterId id="2147483731" r:id="rId3"/>
    <p:sldMasterId id="2147483743" r:id="rId4"/>
    <p:sldMasterId id="2147483747" r:id="rId5"/>
  </p:sldMasterIdLst>
  <p:notesMasterIdLst>
    <p:notesMasterId r:id="rId29"/>
  </p:notesMasterIdLst>
  <p:handoutMasterIdLst>
    <p:handoutMasterId r:id="rId30"/>
  </p:handoutMasterIdLst>
  <p:sldIdLst>
    <p:sldId id="476" r:id="rId6"/>
    <p:sldId id="477" r:id="rId7"/>
    <p:sldId id="283" r:id="rId8"/>
    <p:sldId id="479" r:id="rId9"/>
    <p:sldId id="384" r:id="rId10"/>
    <p:sldId id="478" r:id="rId11"/>
    <p:sldId id="395" r:id="rId12"/>
    <p:sldId id="299" r:id="rId13"/>
    <p:sldId id="285" r:id="rId14"/>
    <p:sldId id="270" r:id="rId15"/>
    <p:sldId id="264" r:id="rId16"/>
    <p:sldId id="480" r:id="rId17"/>
    <p:sldId id="387" r:id="rId18"/>
    <p:sldId id="326" r:id="rId19"/>
    <p:sldId id="388" r:id="rId20"/>
    <p:sldId id="396" r:id="rId21"/>
    <p:sldId id="386" r:id="rId22"/>
    <p:sldId id="389" r:id="rId23"/>
    <p:sldId id="394" r:id="rId24"/>
    <p:sldId id="382" r:id="rId25"/>
    <p:sldId id="390" r:id="rId26"/>
    <p:sldId id="391" r:id="rId27"/>
    <p:sldId id="392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9CC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94617" autoAdjust="0"/>
  </p:normalViewPr>
  <p:slideViewPr>
    <p:cSldViewPr>
      <p:cViewPr varScale="1">
        <p:scale>
          <a:sx n="65" d="100"/>
          <a:sy n="65" d="100"/>
        </p:scale>
        <p:origin x="1452" y="102"/>
      </p:cViewPr>
      <p:guideLst>
        <p:guide orient="horz" pos="2160"/>
        <p:guide pos="4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1698" y="-4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fld id="{CB1A079A-30B4-418A-A724-DCA50ECE76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545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1027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2" name="Rectangle 1028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3" name="Rectangle 1029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4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fld id="{9125F8DB-C135-4E04-9696-BEA915DA98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745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230445E-A660-448A-B4DC-782AD0E5DA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450330 w 8969375"/>
              <a:gd name="connsiteY0" fmla="*/ 3511550 h 6858000"/>
              <a:gd name="connsiteX1" fmla="*/ 8969375 w 8969375"/>
              <a:gd name="connsiteY1" fmla="*/ 3511550 h 6858000"/>
              <a:gd name="connsiteX2" fmla="*/ 8969375 w 8969375"/>
              <a:gd name="connsiteY2" fmla="*/ 6858000 h 6858000"/>
              <a:gd name="connsiteX3" fmla="*/ 5010150 w 8969375"/>
              <a:gd name="connsiteY3" fmla="*/ 6858000 h 6858000"/>
              <a:gd name="connsiteX4" fmla="*/ 1915160 w 8969375"/>
              <a:gd name="connsiteY4" fmla="*/ 3511550 h 6858000"/>
              <a:gd name="connsiteX5" fmla="*/ 3404870 w 8969375"/>
              <a:gd name="connsiteY5" fmla="*/ 3511550 h 6858000"/>
              <a:gd name="connsiteX6" fmla="*/ 1964690 w 8969375"/>
              <a:gd name="connsiteY6" fmla="*/ 6858000 h 6858000"/>
              <a:gd name="connsiteX7" fmla="*/ 474980 w 8969375"/>
              <a:gd name="connsiteY7" fmla="*/ 6858000 h 6858000"/>
              <a:gd name="connsiteX8" fmla="*/ 7961630 w 8969375"/>
              <a:gd name="connsiteY8" fmla="*/ 0 h 6858000"/>
              <a:gd name="connsiteX9" fmla="*/ 8969375 w 8969375"/>
              <a:gd name="connsiteY9" fmla="*/ 0 h 6858000"/>
              <a:gd name="connsiteX10" fmla="*/ 8969375 w 8969375"/>
              <a:gd name="connsiteY10" fmla="*/ 3346450 h 6858000"/>
              <a:gd name="connsiteX11" fmla="*/ 6521450 w 8969375"/>
              <a:gd name="connsiteY11" fmla="*/ 3346450 h 6858000"/>
              <a:gd name="connsiteX12" fmla="*/ 5163820 w 8969375"/>
              <a:gd name="connsiteY12" fmla="*/ 0 h 6858000"/>
              <a:gd name="connsiteX13" fmla="*/ 7726680 w 8969375"/>
              <a:gd name="connsiteY13" fmla="*/ 0 h 6858000"/>
              <a:gd name="connsiteX14" fmla="*/ 4775200 w 8969375"/>
              <a:gd name="connsiteY14" fmla="*/ 6858000 h 6858000"/>
              <a:gd name="connsiteX15" fmla="*/ 2213610 w 8969375"/>
              <a:gd name="connsiteY15" fmla="*/ 6858000 h 6858000"/>
              <a:gd name="connsiteX16" fmla="*/ 3426460 w 8969375"/>
              <a:gd name="connsiteY16" fmla="*/ 0 h 6858000"/>
              <a:gd name="connsiteX17" fmla="*/ 4916170 w 8969375"/>
              <a:gd name="connsiteY17" fmla="*/ 0 h 6858000"/>
              <a:gd name="connsiteX18" fmla="*/ 3475990 w 8969375"/>
              <a:gd name="connsiteY18" fmla="*/ 3346450 h 6858000"/>
              <a:gd name="connsiteX19" fmla="*/ 1986280 w 8969375"/>
              <a:gd name="connsiteY19" fmla="*/ 3346450 h 6858000"/>
              <a:gd name="connsiteX20" fmla="*/ 0 w 8969375"/>
              <a:gd name="connsiteY20" fmla="*/ 0 h 6858000"/>
              <a:gd name="connsiteX21" fmla="*/ 3195320 w 8969375"/>
              <a:gd name="connsiteY21" fmla="*/ 0 h 6858000"/>
              <a:gd name="connsiteX22" fmla="*/ 243840 w 8969375"/>
              <a:gd name="connsiteY22" fmla="*/ 6858000 h 6858000"/>
              <a:gd name="connsiteX23" fmla="*/ 0 w 8969375"/>
              <a:gd name="connsiteY23" fmla="*/ 6858000 h 6858000"/>
              <a:gd name="connsiteX0" fmla="*/ 6604567 w 9123612"/>
              <a:gd name="connsiteY0" fmla="*/ 3511550 h 6858000"/>
              <a:gd name="connsiteX1" fmla="*/ 9123612 w 9123612"/>
              <a:gd name="connsiteY1" fmla="*/ 3511550 h 6858000"/>
              <a:gd name="connsiteX2" fmla="*/ 9123612 w 9123612"/>
              <a:gd name="connsiteY2" fmla="*/ 6858000 h 6858000"/>
              <a:gd name="connsiteX3" fmla="*/ 5164387 w 9123612"/>
              <a:gd name="connsiteY3" fmla="*/ 6858000 h 6858000"/>
              <a:gd name="connsiteX4" fmla="*/ 6604567 w 9123612"/>
              <a:gd name="connsiteY4" fmla="*/ 3511550 h 6858000"/>
              <a:gd name="connsiteX5" fmla="*/ 2069397 w 9123612"/>
              <a:gd name="connsiteY5" fmla="*/ 3511550 h 6858000"/>
              <a:gd name="connsiteX6" fmla="*/ 3559107 w 9123612"/>
              <a:gd name="connsiteY6" fmla="*/ 3511550 h 6858000"/>
              <a:gd name="connsiteX7" fmla="*/ 2118927 w 9123612"/>
              <a:gd name="connsiteY7" fmla="*/ 6858000 h 6858000"/>
              <a:gd name="connsiteX8" fmla="*/ 629217 w 9123612"/>
              <a:gd name="connsiteY8" fmla="*/ 6858000 h 6858000"/>
              <a:gd name="connsiteX9" fmla="*/ 2069397 w 9123612"/>
              <a:gd name="connsiteY9" fmla="*/ 3511550 h 6858000"/>
              <a:gd name="connsiteX10" fmla="*/ 8115867 w 9123612"/>
              <a:gd name="connsiteY10" fmla="*/ 0 h 6858000"/>
              <a:gd name="connsiteX11" fmla="*/ 9123612 w 9123612"/>
              <a:gd name="connsiteY11" fmla="*/ 0 h 6858000"/>
              <a:gd name="connsiteX12" fmla="*/ 9123612 w 9123612"/>
              <a:gd name="connsiteY12" fmla="*/ 3346450 h 6858000"/>
              <a:gd name="connsiteX13" fmla="*/ 6675687 w 9123612"/>
              <a:gd name="connsiteY13" fmla="*/ 3346450 h 6858000"/>
              <a:gd name="connsiteX14" fmla="*/ 8115867 w 9123612"/>
              <a:gd name="connsiteY14" fmla="*/ 0 h 6858000"/>
              <a:gd name="connsiteX15" fmla="*/ 5318057 w 9123612"/>
              <a:gd name="connsiteY15" fmla="*/ 0 h 6858000"/>
              <a:gd name="connsiteX16" fmla="*/ 7880917 w 9123612"/>
              <a:gd name="connsiteY16" fmla="*/ 0 h 6858000"/>
              <a:gd name="connsiteX17" fmla="*/ 4929437 w 9123612"/>
              <a:gd name="connsiteY17" fmla="*/ 6858000 h 6858000"/>
              <a:gd name="connsiteX18" fmla="*/ 2367847 w 9123612"/>
              <a:gd name="connsiteY18" fmla="*/ 6858000 h 6858000"/>
              <a:gd name="connsiteX19" fmla="*/ 5318057 w 9123612"/>
              <a:gd name="connsiteY19" fmla="*/ 0 h 6858000"/>
              <a:gd name="connsiteX20" fmla="*/ 3580697 w 9123612"/>
              <a:gd name="connsiteY20" fmla="*/ 0 h 6858000"/>
              <a:gd name="connsiteX21" fmla="*/ 5070407 w 9123612"/>
              <a:gd name="connsiteY21" fmla="*/ 0 h 6858000"/>
              <a:gd name="connsiteX22" fmla="*/ 3630227 w 9123612"/>
              <a:gd name="connsiteY22" fmla="*/ 3346450 h 6858000"/>
              <a:gd name="connsiteX23" fmla="*/ 2140517 w 9123612"/>
              <a:gd name="connsiteY23" fmla="*/ 3346450 h 6858000"/>
              <a:gd name="connsiteX24" fmla="*/ 3580697 w 9123612"/>
              <a:gd name="connsiteY24" fmla="*/ 0 h 6858000"/>
              <a:gd name="connsiteX25" fmla="*/ 154237 w 9123612"/>
              <a:gd name="connsiteY25" fmla="*/ 0 h 6858000"/>
              <a:gd name="connsiteX26" fmla="*/ 3349557 w 9123612"/>
              <a:gd name="connsiteY26" fmla="*/ 0 h 6858000"/>
              <a:gd name="connsiteX27" fmla="*/ 398077 w 9123612"/>
              <a:gd name="connsiteY27" fmla="*/ 6858000 h 6858000"/>
              <a:gd name="connsiteX28" fmla="*/ 0 w 9123612"/>
              <a:gd name="connsiteY28" fmla="*/ 6858000 h 6858000"/>
              <a:gd name="connsiteX29" fmla="*/ 154237 w 9123612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18625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18625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054197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054197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lnTo>
                  <a:pt x="6636589" y="351155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lnTo>
                  <a:pt x="2101419" y="351155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lnTo>
                  <a:pt x="8147889" y="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lnTo>
                  <a:pt x="5350079" y="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lnTo>
                  <a:pt x="3612719" y="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lnTo>
                  <a:pt x="2947249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4843534-A750-4D01-BC62-26CD9AEA6A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516" y="3773555"/>
            <a:ext cx="7567715" cy="1101897"/>
          </a:xfrm>
        </p:spPr>
        <p:txBody>
          <a:bodyPr>
            <a:noAutofit/>
          </a:bodyPr>
          <a:lstStyle>
            <a:lvl1pPr marL="0" indent="0" algn="l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8E7B25A-0A4A-430B-903E-76193E2954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7516" y="5451785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1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20XX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88F3A2A-BD60-4F82-8064-8B157AF4DD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7516" y="5105537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125634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1FE90B3-361E-4150-BE53-368ADEA27D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30966"/>
            <a:ext cx="9144000" cy="6602574"/>
          </a:xfrm>
          <a:custGeom>
            <a:avLst/>
            <a:gdLst>
              <a:gd name="connsiteX0" fmla="*/ 5864259 w 12192000"/>
              <a:gd name="connsiteY0" fmla="*/ 2895444 h 6602574"/>
              <a:gd name="connsiteX1" fmla="*/ 5864259 w 12192000"/>
              <a:gd name="connsiteY1" fmla="*/ 5383374 h 6602574"/>
              <a:gd name="connsiteX2" fmla="*/ 0 w 12192000"/>
              <a:gd name="connsiteY2" fmla="*/ 6602574 h 6602574"/>
              <a:gd name="connsiteX3" fmla="*/ 0 w 12192000"/>
              <a:gd name="connsiteY3" fmla="*/ 4114644 h 6602574"/>
              <a:gd name="connsiteX4" fmla="*/ 12192000 w 12192000"/>
              <a:gd name="connsiteY4" fmla="*/ 2726690 h 6602574"/>
              <a:gd name="connsiteX5" fmla="*/ 12192000 w 12192000"/>
              <a:gd name="connsiteY5" fmla="*/ 5214620 h 6602574"/>
              <a:gd name="connsiteX6" fmla="*/ 6104805 w 12192000"/>
              <a:gd name="connsiteY6" fmla="*/ 6470494 h 6602574"/>
              <a:gd name="connsiteX7" fmla="*/ 6104805 w 12192000"/>
              <a:gd name="connsiteY7" fmla="*/ 3982564 h 6602574"/>
              <a:gd name="connsiteX8" fmla="*/ 12192000 w 12192000"/>
              <a:gd name="connsiteY8" fmla="*/ 0 h 6602574"/>
              <a:gd name="connsiteX9" fmla="*/ 12192000 w 12192000"/>
              <a:gd name="connsiteY9" fmla="*/ 2487923 h 6602574"/>
              <a:gd name="connsiteX10" fmla="*/ 6104805 w 12192000"/>
              <a:gd name="connsiteY10" fmla="*/ 3742534 h 6602574"/>
              <a:gd name="connsiteX11" fmla="*/ 6104805 w 12192000"/>
              <a:gd name="connsiteY11" fmla="*/ 1255874 h 660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602574">
                <a:moveTo>
                  <a:pt x="5864259" y="2895444"/>
                </a:moveTo>
                <a:lnTo>
                  <a:pt x="5864259" y="5383374"/>
                </a:lnTo>
                <a:lnTo>
                  <a:pt x="0" y="6602574"/>
                </a:lnTo>
                <a:lnTo>
                  <a:pt x="0" y="4114644"/>
                </a:lnTo>
                <a:close/>
                <a:moveTo>
                  <a:pt x="12192000" y="2726690"/>
                </a:moveTo>
                <a:lnTo>
                  <a:pt x="12192000" y="5214620"/>
                </a:lnTo>
                <a:lnTo>
                  <a:pt x="6104805" y="6470494"/>
                </a:lnTo>
                <a:lnTo>
                  <a:pt x="6104805" y="3982564"/>
                </a:lnTo>
                <a:close/>
                <a:moveTo>
                  <a:pt x="12192000" y="0"/>
                </a:moveTo>
                <a:lnTo>
                  <a:pt x="12192000" y="2487923"/>
                </a:lnTo>
                <a:lnTo>
                  <a:pt x="6104805" y="3742534"/>
                </a:lnTo>
                <a:lnTo>
                  <a:pt x="6104805" y="125587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AF4189-33DF-9B46-9624-C722FCE07D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6258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D8367A5-C050-47FB-A1BD-54CD13DE3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39804" y="0"/>
            <a:ext cx="4577716" cy="6858000"/>
          </a:xfrm>
          <a:custGeom>
            <a:avLst/>
            <a:gdLst>
              <a:gd name="connsiteX0" fmla="*/ 3914141 w 6103621"/>
              <a:gd name="connsiteY0" fmla="*/ 914400 h 6858000"/>
              <a:gd name="connsiteX1" fmla="*/ 6103621 w 6103621"/>
              <a:gd name="connsiteY1" fmla="*/ 914400 h 6858000"/>
              <a:gd name="connsiteX2" fmla="*/ 4339591 w 6103621"/>
              <a:gd name="connsiteY2" fmla="*/ 6858000 h 6858000"/>
              <a:gd name="connsiteX3" fmla="*/ 2150112 w 6103621"/>
              <a:gd name="connsiteY3" fmla="*/ 6858000 h 6858000"/>
              <a:gd name="connsiteX4" fmla="*/ 1769111 w 6103621"/>
              <a:gd name="connsiteY4" fmla="*/ 0 h 6858000"/>
              <a:gd name="connsiteX5" fmla="*/ 3958591 w 6103621"/>
              <a:gd name="connsiteY5" fmla="*/ 0 h 6858000"/>
              <a:gd name="connsiteX6" fmla="*/ 2189480 w 6103621"/>
              <a:gd name="connsiteY6" fmla="*/ 5943601 h 6858000"/>
              <a:gd name="connsiteX7" fmla="*/ 0 w 6103621"/>
              <a:gd name="connsiteY7" fmla="*/ 59436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3621" h="6858000">
                <a:moveTo>
                  <a:pt x="3914141" y="914400"/>
                </a:moveTo>
                <a:lnTo>
                  <a:pt x="6103621" y="914400"/>
                </a:lnTo>
                <a:lnTo>
                  <a:pt x="4339591" y="6858000"/>
                </a:lnTo>
                <a:lnTo>
                  <a:pt x="2150112" y="6858000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524" y="3074530"/>
            <a:ext cx="3316392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528AEE-54AB-4366-9576-BBA1CE5F3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2746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1867536-E941-4FED-8B68-2609143C2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73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2044CCF-605D-4D6E-A41D-D6AED53B22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04811"/>
            <a:ext cx="4581654" cy="5485128"/>
          </a:xfrm>
          <a:custGeom>
            <a:avLst/>
            <a:gdLst>
              <a:gd name="connsiteX0" fmla="*/ 0 w 6108872"/>
              <a:gd name="connsiteY0" fmla="*/ 2203471 h 5485128"/>
              <a:gd name="connsiteX1" fmla="*/ 6108872 w 6108872"/>
              <a:gd name="connsiteY1" fmla="*/ 3505695 h 5485128"/>
              <a:gd name="connsiteX2" fmla="*/ 6108872 w 6108872"/>
              <a:gd name="connsiteY2" fmla="*/ 5485128 h 5485128"/>
              <a:gd name="connsiteX3" fmla="*/ 0 w 6108872"/>
              <a:gd name="connsiteY3" fmla="*/ 4182903 h 5485128"/>
              <a:gd name="connsiteX4" fmla="*/ 0 w 6108872"/>
              <a:gd name="connsiteY4" fmla="*/ 0 h 5485128"/>
              <a:gd name="connsiteX5" fmla="*/ 6108872 w 6108872"/>
              <a:gd name="connsiteY5" fmla="*/ 1302225 h 5485128"/>
              <a:gd name="connsiteX6" fmla="*/ 6108872 w 6108872"/>
              <a:gd name="connsiteY6" fmla="*/ 3281657 h 5485128"/>
              <a:gd name="connsiteX7" fmla="*/ 0 w 6108872"/>
              <a:gd name="connsiteY7" fmla="*/ 1979432 h 5485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872" h="5485128">
                <a:moveTo>
                  <a:pt x="0" y="2203471"/>
                </a:moveTo>
                <a:lnTo>
                  <a:pt x="6108872" y="3505695"/>
                </a:lnTo>
                <a:lnTo>
                  <a:pt x="6108872" y="5485128"/>
                </a:lnTo>
                <a:lnTo>
                  <a:pt x="0" y="4182903"/>
                </a:lnTo>
                <a:close/>
                <a:moveTo>
                  <a:pt x="0" y="0"/>
                </a:moveTo>
                <a:lnTo>
                  <a:pt x="6108872" y="1302225"/>
                </a:lnTo>
                <a:lnTo>
                  <a:pt x="6108872" y="3281657"/>
                </a:lnTo>
                <a:lnTo>
                  <a:pt x="0" y="197943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F180F3-53B1-4A31-82A4-E6F9B5D8D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60904" y="3090573"/>
            <a:ext cx="3316393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D523330-9E96-4C6E-B5A4-6B543D365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905" y="1046140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08F6B3-0ADA-4ECF-8D25-7DFE4A3641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0905" y="2241516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5CCECBFE-3C2B-4492-BCDA-1EFEB5E3E092}"/>
              </a:ext>
            </a:extLst>
          </p:cNvPr>
          <p:cNvSpPr/>
          <p:nvPr userDrawn="1"/>
        </p:nvSpPr>
        <p:spPr>
          <a:xfrm flipH="1">
            <a:off x="5235690" y="1947672"/>
            <a:ext cx="3915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3441B044-38F8-49ED-845B-5D926C811447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2486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0524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970340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0524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0341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1993"/>
            <a:ext cx="7664035" cy="665713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5E78F6F2-1702-E74A-86B2-0C42A30F3378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9493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-9525" y="-12700"/>
            <a:ext cx="9163050" cy="6883400"/>
            <a:chOff x="-12700" y="-12700"/>
            <a:chExt cx="12217400" cy="68834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542021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Chart Placeholder 18">
            <a:extLst>
              <a:ext uri="{FF2B5EF4-FFF2-40B4-BE49-F238E27FC236}">
                <a16:creationId xmlns:a16="http://schemas.microsoft.com/office/drawing/2014/main" id="{68B512F2-EA3E-483F-B5D4-29DFD6C37B3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4572001" y="1246189"/>
            <a:ext cx="3877526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58E79F-20BB-644D-8C49-25B57E347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F8E92E6-C1C9-854A-93EE-FD201AF050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Graphic 15">
            <a:extLst>
              <a:ext uri="{FF2B5EF4-FFF2-40B4-BE49-F238E27FC236}">
                <a16:creationId xmlns:a16="http://schemas.microsoft.com/office/drawing/2014/main" id="{C1F625F0-F98F-D244-9020-86C86C287112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7554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C8EF6174-FF5D-41C2-BF6B-9D6ECB281A1D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D45BCEDF-86BB-41E2-9F09-5D3014AD1C4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36843" y="1591500"/>
            <a:ext cx="4920854" cy="376106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888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694C388-14E9-4848-A715-72B7DC6AF5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6" y="0"/>
            <a:ext cx="9121139" cy="6858000"/>
          </a:xfrm>
          <a:custGeom>
            <a:avLst/>
            <a:gdLst>
              <a:gd name="connsiteX0" fmla="*/ 12161519 w 12161519"/>
              <a:gd name="connsiteY0" fmla="*/ 638810 h 6858000"/>
              <a:gd name="connsiteX1" fmla="*/ 12161519 w 12161519"/>
              <a:gd name="connsiteY1" fmla="*/ 1922780 h 6858000"/>
              <a:gd name="connsiteX2" fmla="*/ 9531350 w 12161519"/>
              <a:gd name="connsiteY2" fmla="*/ 6858000 h 6858000"/>
              <a:gd name="connsiteX3" fmla="*/ 8846819 w 12161519"/>
              <a:gd name="connsiteY3" fmla="*/ 6858000 h 6858000"/>
              <a:gd name="connsiteX4" fmla="*/ 10704830 w 12161519"/>
              <a:gd name="connsiteY4" fmla="*/ 0 h 6858000"/>
              <a:gd name="connsiteX5" fmla="*/ 12161519 w 12161519"/>
              <a:gd name="connsiteY5" fmla="*/ 0 h 6858000"/>
              <a:gd name="connsiteX6" fmla="*/ 12161519 w 12161519"/>
              <a:gd name="connsiteY6" fmla="*/ 234950 h 6858000"/>
              <a:gd name="connsiteX7" fmla="*/ 8632190 w 12161519"/>
              <a:gd name="connsiteY7" fmla="*/ 6858000 h 6858000"/>
              <a:gd name="connsiteX8" fmla="*/ 7049770 w 12161519"/>
              <a:gd name="connsiteY8" fmla="*/ 6858000 h 6858000"/>
              <a:gd name="connsiteX9" fmla="*/ 5320030 w 12161519"/>
              <a:gd name="connsiteY9" fmla="*/ 0 h 6858000"/>
              <a:gd name="connsiteX10" fmla="*/ 10476230 w 12161519"/>
              <a:gd name="connsiteY10" fmla="*/ 0 h 6858000"/>
              <a:gd name="connsiteX11" fmla="*/ 6822440 w 12161519"/>
              <a:gd name="connsiteY11" fmla="*/ 6858000 h 6858000"/>
              <a:gd name="connsiteX12" fmla="*/ 1664970 w 12161519"/>
              <a:gd name="connsiteY12" fmla="*/ 6858000 h 6858000"/>
              <a:gd name="connsiteX13" fmla="*/ 3529330 w 12161519"/>
              <a:gd name="connsiteY13" fmla="*/ 0 h 6858000"/>
              <a:gd name="connsiteX14" fmla="*/ 5111750 w 12161519"/>
              <a:gd name="connsiteY14" fmla="*/ 0 h 6858000"/>
              <a:gd name="connsiteX15" fmla="*/ 1456690 w 12161519"/>
              <a:gd name="connsiteY15" fmla="*/ 6858000 h 6858000"/>
              <a:gd name="connsiteX16" fmla="*/ 0 w 12161519"/>
              <a:gd name="connsiteY16" fmla="*/ 6858000 h 6858000"/>
              <a:gd name="connsiteX17" fmla="*/ 0 w 12161519"/>
              <a:gd name="connsiteY17" fmla="*/ 6623050 h 6858000"/>
              <a:gd name="connsiteX18" fmla="*/ 2630170 w 12161519"/>
              <a:gd name="connsiteY18" fmla="*/ 0 h 6858000"/>
              <a:gd name="connsiteX19" fmla="*/ 3314700 w 12161519"/>
              <a:gd name="connsiteY19" fmla="*/ 0 h 6858000"/>
              <a:gd name="connsiteX20" fmla="*/ 0 w 12161519"/>
              <a:gd name="connsiteY20" fmla="*/ 6219190 h 6858000"/>
              <a:gd name="connsiteX21" fmla="*/ 0 w 12161519"/>
              <a:gd name="connsiteY21" fmla="*/ 49352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61519" h="6858000">
                <a:moveTo>
                  <a:pt x="12161519" y="638810"/>
                </a:moveTo>
                <a:lnTo>
                  <a:pt x="12161519" y="1922780"/>
                </a:lnTo>
                <a:lnTo>
                  <a:pt x="9531350" y="6858000"/>
                </a:lnTo>
                <a:lnTo>
                  <a:pt x="8846819" y="6858000"/>
                </a:lnTo>
                <a:close/>
                <a:moveTo>
                  <a:pt x="10704830" y="0"/>
                </a:moveTo>
                <a:lnTo>
                  <a:pt x="12161519" y="0"/>
                </a:lnTo>
                <a:lnTo>
                  <a:pt x="12161519" y="234950"/>
                </a:lnTo>
                <a:lnTo>
                  <a:pt x="8632190" y="6858000"/>
                </a:lnTo>
                <a:lnTo>
                  <a:pt x="7049770" y="6858000"/>
                </a:lnTo>
                <a:close/>
                <a:moveTo>
                  <a:pt x="5320030" y="0"/>
                </a:moveTo>
                <a:lnTo>
                  <a:pt x="10476230" y="0"/>
                </a:lnTo>
                <a:lnTo>
                  <a:pt x="6822440" y="6858000"/>
                </a:lnTo>
                <a:lnTo>
                  <a:pt x="1664970" y="6858000"/>
                </a:lnTo>
                <a:close/>
                <a:moveTo>
                  <a:pt x="3529330" y="0"/>
                </a:moveTo>
                <a:lnTo>
                  <a:pt x="5111750" y="0"/>
                </a:lnTo>
                <a:lnTo>
                  <a:pt x="1456690" y="6858000"/>
                </a:lnTo>
                <a:lnTo>
                  <a:pt x="0" y="6858000"/>
                </a:lnTo>
                <a:lnTo>
                  <a:pt x="0" y="6623050"/>
                </a:lnTo>
                <a:close/>
                <a:moveTo>
                  <a:pt x="2630170" y="0"/>
                </a:moveTo>
                <a:lnTo>
                  <a:pt x="3314700" y="0"/>
                </a:lnTo>
                <a:lnTo>
                  <a:pt x="0" y="6219190"/>
                </a:lnTo>
                <a:lnTo>
                  <a:pt x="0" y="493522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7B55F-CFD3-4921-BB2A-B14EB4E36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033272"/>
            <a:ext cx="7886249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 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932204AA-73EE-4F85-898B-E747C5ACC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1880795"/>
            <a:ext cx="7888949" cy="782639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Graphic 4">
            <a:extLst>
              <a:ext uri="{FF2B5EF4-FFF2-40B4-BE49-F238E27FC236}">
                <a16:creationId xmlns:a16="http://schemas.microsoft.com/office/drawing/2014/main" id="{38541361-4795-490E-8165-B4A338F8231D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E78DA-7F75-294B-AECF-F02F6C41615D}"/>
              </a:ext>
            </a:extLst>
          </p:cNvPr>
          <p:cNvSpPr txBox="1"/>
          <p:nvPr userDrawn="1"/>
        </p:nvSpPr>
        <p:spPr>
          <a:xfrm>
            <a:off x="222569" y="3002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275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1834319" y="-12700"/>
            <a:ext cx="546735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56580"/>
            <a:ext cx="78867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VIDEO SLIDE</a:t>
            </a:r>
            <a:endParaRPr lang="ru-RU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046988" y="1497770"/>
            <a:ext cx="7050024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2" name="Graphic 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299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8BA6D96-EFE3-4743-8FB5-544E9692D11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" y="0"/>
            <a:ext cx="6866572" cy="6858000"/>
          </a:xfrm>
          <a:custGeom>
            <a:avLst/>
            <a:gdLst>
              <a:gd name="connsiteX0" fmla="*/ 5490209 w 9155429"/>
              <a:gd name="connsiteY0" fmla="*/ 3511550 h 6858000"/>
              <a:gd name="connsiteX1" fmla="*/ 6979919 w 9155429"/>
              <a:gd name="connsiteY1" fmla="*/ 3511550 h 6858000"/>
              <a:gd name="connsiteX2" fmla="*/ 5541009 w 9155429"/>
              <a:gd name="connsiteY2" fmla="*/ 6858000 h 6858000"/>
              <a:gd name="connsiteX3" fmla="*/ 4050029 w 9155429"/>
              <a:gd name="connsiteY3" fmla="*/ 6858000 h 6858000"/>
              <a:gd name="connsiteX4" fmla="*/ 0 w 9155429"/>
              <a:gd name="connsiteY4" fmla="*/ 3511550 h 6858000"/>
              <a:gd name="connsiteX5" fmla="*/ 2444750 w 9155429"/>
              <a:gd name="connsiteY5" fmla="*/ 3511550 h 6858000"/>
              <a:gd name="connsiteX6" fmla="*/ 1004570 w 9155429"/>
              <a:gd name="connsiteY6" fmla="*/ 6858000 h 6858000"/>
              <a:gd name="connsiteX7" fmla="*/ 0 w 9155429"/>
              <a:gd name="connsiteY7" fmla="*/ 6858000 h 6858000"/>
              <a:gd name="connsiteX8" fmla="*/ 7001509 w 9155429"/>
              <a:gd name="connsiteY8" fmla="*/ 1 h 6858000"/>
              <a:gd name="connsiteX9" fmla="*/ 8491219 w 9155429"/>
              <a:gd name="connsiteY9" fmla="*/ 1 h 6858000"/>
              <a:gd name="connsiteX10" fmla="*/ 7051039 w 9155429"/>
              <a:gd name="connsiteY10" fmla="*/ 3346450 h 6858000"/>
              <a:gd name="connsiteX11" fmla="*/ 5561329 w 9155429"/>
              <a:gd name="connsiteY11" fmla="*/ 3346450 h 6858000"/>
              <a:gd name="connsiteX12" fmla="*/ 8722359 w 9155429"/>
              <a:gd name="connsiteY12" fmla="*/ 0 h 6858000"/>
              <a:gd name="connsiteX13" fmla="*/ 9155429 w 9155429"/>
              <a:gd name="connsiteY13" fmla="*/ 0 h 6858000"/>
              <a:gd name="connsiteX14" fmla="*/ 6203949 w 9155429"/>
              <a:gd name="connsiteY14" fmla="*/ 6858000 h 6858000"/>
              <a:gd name="connsiteX15" fmla="*/ 5772149 w 9155429"/>
              <a:gd name="connsiteY15" fmla="*/ 6858000 h 6858000"/>
              <a:gd name="connsiteX16" fmla="*/ 4190999 w 9155429"/>
              <a:gd name="connsiteY16" fmla="*/ 0 h 6858000"/>
              <a:gd name="connsiteX17" fmla="*/ 6753859 w 9155429"/>
              <a:gd name="connsiteY17" fmla="*/ 0 h 6858000"/>
              <a:gd name="connsiteX18" fmla="*/ 3802379 w 9155429"/>
              <a:gd name="connsiteY18" fmla="*/ 6858000 h 6858000"/>
              <a:gd name="connsiteX19" fmla="*/ 1239520 w 9155429"/>
              <a:gd name="connsiteY19" fmla="*/ 6858000 h 6858000"/>
              <a:gd name="connsiteX20" fmla="*/ 0 w 9155429"/>
              <a:gd name="connsiteY20" fmla="*/ 0 h 6858000"/>
              <a:gd name="connsiteX21" fmla="*/ 3956050 w 9155429"/>
              <a:gd name="connsiteY21" fmla="*/ 0 h 6858000"/>
              <a:gd name="connsiteX22" fmla="*/ 2515869 w 9155429"/>
              <a:gd name="connsiteY22" fmla="*/ 3346450 h 6858000"/>
              <a:gd name="connsiteX23" fmla="*/ 0 w 9155429"/>
              <a:gd name="connsiteY23" fmla="*/ 3346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429" h="6858000">
                <a:moveTo>
                  <a:pt x="5490209" y="3511550"/>
                </a:moveTo>
                <a:lnTo>
                  <a:pt x="6979919" y="3511550"/>
                </a:lnTo>
                <a:lnTo>
                  <a:pt x="5541009" y="6858000"/>
                </a:lnTo>
                <a:lnTo>
                  <a:pt x="4050029" y="6858000"/>
                </a:lnTo>
                <a:close/>
                <a:moveTo>
                  <a:pt x="0" y="3511550"/>
                </a:moveTo>
                <a:lnTo>
                  <a:pt x="2444750" y="3511550"/>
                </a:lnTo>
                <a:lnTo>
                  <a:pt x="1004570" y="6858000"/>
                </a:lnTo>
                <a:lnTo>
                  <a:pt x="0" y="6858000"/>
                </a:lnTo>
                <a:close/>
                <a:moveTo>
                  <a:pt x="7001509" y="1"/>
                </a:moveTo>
                <a:lnTo>
                  <a:pt x="8491219" y="1"/>
                </a:lnTo>
                <a:lnTo>
                  <a:pt x="7051039" y="3346450"/>
                </a:lnTo>
                <a:lnTo>
                  <a:pt x="5561329" y="3346450"/>
                </a:lnTo>
                <a:close/>
                <a:moveTo>
                  <a:pt x="8722359" y="0"/>
                </a:moveTo>
                <a:lnTo>
                  <a:pt x="9155429" y="0"/>
                </a:lnTo>
                <a:lnTo>
                  <a:pt x="6203949" y="6858000"/>
                </a:lnTo>
                <a:lnTo>
                  <a:pt x="5772149" y="6858000"/>
                </a:lnTo>
                <a:close/>
                <a:moveTo>
                  <a:pt x="4190999" y="0"/>
                </a:moveTo>
                <a:lnTo>
                  <a:pt x="6753859" y="0"/>
                </a:lnTo>
                <a:lnTo>
                  <a:pt x="3802379" y="6858000"/>
                </a:lnTo>
                <a:lnTo>
                  <a:pt x="1239520" y="6858000"/>
                </a:lnTo>
                <a:close/>
                <a:moveTo>
                  <a:pt x="0" y="0"/>
                </a:moveTo>
                <a:lnTo>
                  <a:pt x="3956050" y="0"/>
                </a:lnTo>
                <a:lnTo>
                  <a:pt x="2515869" y="3346450"/>
                </a:lnTo>
                <a:lnTo>
                  <a:pt x="0" y="33464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4" name="Graphic 19">
            <a:extLst>
              <a:ext uri="{FF2B5EF4-FFF2-40B4-BE49-F238E27FC236}">
                <a16:creationId xmlns:a16="http://schemas.microsoft.com/office/drawing/2014/main" id="{97347B99-304D-468D-B6F0-9D59E6077A64}"/>
              </a:ext>
            </a:extLst>
          </p:cNvPr>
          <p:cNvSpPr/>
          <p:nvPr userDrawn="1"/>
        </p:nvSpPr>
        <p:spPr>
          <a:xfrm flipH="1">
            <a:off x="6753290" y="3285679"/>
            <a:ext cx="2393442" cy="146304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B615286-AF88-4751-9BF6-3F030092F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280" y="973513"/>
            <a:ext cx="3137954" cy="2281355"/>
          </a:xfrm>
        </p:spPr>
        <p:txBody>
          <a:bodyPr>
            <a:noAutofit/>
          </a:bodyPr>
          <a:lstStyle>
            <a:lvl1pPr algn="r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E15D97E-2723-48C3-B835-65DB0286D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0406" y="3675709"/>
            <a:ext cx="2351828" cy="1101897"/>
          </a:xfrm>
        </p:spPr>
        <p:txBody>
          <a:bodyPr>
            <a:noAutofit/>
          </a:bodyPr>
          <a:lstStyle>
            <a:lvl1pPr marL="0" indent="0" algn="r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Alexander</a:t>
            </a:r>
            <a:br>
              <a:rPr lang="en-US" dirty="0"/>
            </a:br>
            <a:r>
              <a:rPr lang="en-US" dirty="0" err="1"/>
              <a:t>Martensson</a:t>
            </a:r>
            <a:endParaRPr lang="en-US" dirty="0"/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4D45CEBA-121A-426A-897A-9E3CDC5F5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56586" y="5019265"/>
            <a:ext cx="3275648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678-555-0128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767B0C7-7BD9-4BF1-8D3D-91DED2380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56586" y="4805882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6B74744-5435-47DD-B65F-16D8E7AC15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91816" y="5685823"/>
            <a:ext cx="4440417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martensson@example.com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815411-0E43-4B6B-92C7-6E312091A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56586" y="5466001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730874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43AF0D-28CB-4D3A-A944-CE3DCAAC5657}"/>
              </a:ext>
            </a:extLst>
          </p:cNvPr>
          <p:cNvSpPr/>
          <p:nvPr userDrawn="1"/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2101419 w 9155634"/>
              <a:gd name="connsiteY4" fmla="*/ 3511550 h 6858000"/>
              <a:gd name="connsiteX5" fmla="*/ 3591129 w 9155634"/>
              <a:gd name="connsiteY5" fmla="*/ 3511550 h 6858000"/>
              <a:gd name="connsiteX6" fmla="*/ 2150949 w 9155634"/>
              <a:gd name="connsiteY6" fmla="*/ 6858000 h 6858000"/>
              <a:gd name="connsiteX7" fmla="*/ 661239 w 9155634"/>
              <a:gd name="connsiteY7" fmla="*/ 6858000 h 6858000"/>
              <a:gd name="connsiteX8" fmla="*/ 8147889 w 9155634"/>
              <a:gd name="connsiteY8" fmla="*/ 0 h 6858000"/>
              <a:gd name="connsiteX9" fmla="*/ 9155634 w 9155634"/>
              <a:gd name="connsiteY9" fmla="*/ 0 h 6858000"/>
              <a:gd name="connsiteX10" fmla="*/ 9155634 w 9155634"/>
              <a:gd name="connsiteY10" fmla="*/ 3346450 h 6858000"/>
              <a:gd name="connsiteX11" fmla="*/ 6707709 w 9155634"/>
              <a:gd name="connsiteY11" fmla="*/ 3346450 h 6858000"/>
              <a:gd name="connsiteX12" fmla="*/ 5350079 w 9155634"/>
              <a:gd name="connsiteY12" fmla="*/ 0 h 6858000"/>
              <a:gd name="connsiteX13" fmla="*/ 7912939 w 9155634"/>
              <a:gd name="connsiteY13" fmla="*/ 0 h 6858000"/>
              <a:gd name="connsiteX14" fmla="*/ 4961459 w 9155634"/>
              <a:gd name="connsiteY14" fmla="*/ 6858000 h 6858000"/>
              <a:gd name="connsiteX15" fmla="*/ 2399869 w 9155634"/>
              <a:gd name="connsiteY15" fmla="*/ 6858000 h 6858000"/>
              <a:gd name="connsiteX16" fmla="*/ 3612719 w 9155634"/>
              <a:gd name="connsiteY16" fmla="*/ 0 h 6858000"/>
              <a:gd name="connsiteX17" fmla="*/ 5102429 w 9155634"/>
              <a:gd name="connsiteY17" fmla="*/ 0 h 6858000"/>
              <a:gd name="connsiteX18" fmla="*/ 3662249 w 9155634"/>
              <a:gd name="connsiteY18" fmla="*/ 3346450 h 6858000"/>
              <a:gd name="connsiteX19" fmla="*/ 2172539 w 9155634"/>
              <a:gd name="connsiteY19" fmla="*/ 3346450 h 6858000"/>
              <a:gd name="connsiteX20" fmla="*/ 2947249 w 9155634"/>
              <a:gd name="connsiteY20" fmla="*/ 0 h 6858000"/>
              <a:gd name="connsiteX21" fmla="*/ 3381579 w 9155634"/>
              <a:gd name="connsiteY21" fmla="*/ 0 h 6858000"/>
              <a:gd name="connsiteX22" fmla="*/ 430099 w 9155634"/>
              <a:gd name="connsiteY22" fmla="*/ 6858000 h 6858000"/>
              <a:gd name="connsiteX23" fmla="*/ 0 w 9155634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046DF3F-8EBA-4583-9F19-45C979F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6" y="3773555"/>
            <a:ext cx="7567715" cy="110189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625" b="0" i="0"/>
            </a:lvl1pPr>
          </a:lstStyle>
          <a:p>
            <a:pPr marL="171450" lvl="0" indent="-17145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54706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2713AA-FAF7-4D64-AB9D-53ACFDBF8B5B}"/>
              </a:ext>
            </a:extLst>
          </p:cNvPr>
          <p:cNvSpPr/>
          <p:nvPr userDrawn="1"/>
        </p:nvSpPr>
        <p:spPr>
          <a:xfrm>
            <a:off x="-1" y="172278"/>
            <a:ext cx="9144000" cy="6559826"/>
          </a:xfrm>
          <a:custGeom>
            <a:avLst/>
            <a:gdLst>
              <a:gd name="connsiteX0" fmla="*/ 5864259 w 12192000"/>
              <a:gd name="connsiteY0" fmla="*/ 2854132 h 6559826"/>
              <a:gd name="connsiteX1" fmla="*/ 5864259 w 12192000"/>
              <a:gd name="connsiteY1" fmla="*/ 5342062 h 6559826"/>
              <a:gd name="connsiteX2" fmla="*/ 6907 w 12192000"/>
              <a:gd name="connsiteY2" fmla="*/ 6559826 h 6559826"/>
              <a:gd name="connsiteX3" fmla="*/ 0 w 12192000"/>
              <a:gd name="connsiteY3" fmla="*/ 6559826 h 6559826"/>
              <a:gd name="connsiteX4" fmla="*/ 0 w 12192000"/>
              <a:gd name="connsiteY4" fmla="*/ 4073332 h 6559826"/>
              <a:gd name="connsiteX5" fmla="*/ 12192000 w 12192000"/>
              <a:gd name="connsiteY5" fmla="*/ 2685378 h 6559826"/>
              <a:gd name="connsiteX6" fmla="*/ 12192000 w 12192000"/>
              <a:gd name="connsiteY6" fmla="*/ 5173308 h 6559826"/>
              <a:gd name="connsiteX7" fmla="*/ 6104805 w 12192000"/>
              <a:gd name="connsiteY7" fmla="*/ 6429182 h 6559826"/>
              <a:gd name="connsiteX8" fmla="*/ 6104805 w 12192000"/>
              <a:gd name="connsiteY8" fmla="*/ 3941252 h 6559826"/>
              <a:gd name="connsiteX9" fmla="*/ 11991762 w 12192000"/>
              <a:gd name="connsiteY9" fmla="*/ 0 h 6559826"/>
              <a:gd name="connsiteX10" fmla="*/ 12192000 w 12192000"/>
              <a:gd name="connsiteY10" fmla="*/ 0 h 6559826"/>
              <a:gd name="connsiteX11" fmla="*/ 12192000 w 12192000"/>
              <a:gd name="connsiteY11" fmla="*/ 2446611 h 6559826"/>
              <a:gd name="connsiteX12" fmla="*/ 6104805 w 12192000"/>
              <a:gd name="connsiteY12" fmla="*/ 3701222 h 6559826"/>
              <a:gd name="connsiteX13" fmla="*/ 6104805 w 12192000"/>
              <a:gd name="connsiteY13" fmla="*/ 1214562 h 655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559826">
                <a:moveTo>
                  <a:pt x="5864259" y="2854132"/>
                </a:moveTo>
                <a:lnTo>
                  <a:pt x="5864259" y="5342062"/>
                </a:lnTo>
                <a:lnTo>
                  <a:pt x="6907" y="6559826"/>
                </a:lnTo>
                <a:lnTo>
                  <a:pt x="0" y="6559826"/>
                </a:lnTo>
                <a:lnTo>
                  <a:pt x="0" y="4073332"/>
                </a:lnTo>
                <a:close/>
                <a:moveTo>
                  <a:pt x="12192000" y="2685378"/>
                </a:moveTo>
                <a:lnTo>
                  <a:pt x="12192000" y="5173308"/>
                </a:lnTo>
                <a:lnTo>
                  <a:pt x="6104805" y="6429182"/>
                </a:lnTo>
                <a:lnTo>
                  <a:pt x="6104805" y="3941252"/>
                </a:lnTo>
                <a:close/>
                <a:moveTo>
                  <a:pt x="11991762" y="0"/>
                </a:moveTo>
                <a:lnTo>
                  <a:pt x="12192000" y="0"/>
                </a:lnTo>
                <a:lnTo>
                  <a:pt x="12192000" y="2446611"/>
                </a:lnTo>
                <a:lnTo>
                  <a:pt x="6104805" y="3701222"/>
                </a:lnTo>
                <a:lnTo>
                  <a:pt x="6104805" y="1214562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B87DE7-6A4B-4A0E-8622-C9BA93F0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930" y="2225393"/>
            <a:ext cx="3833020" cy="7826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50"/>
            </a:lvl1pPr>
          </a:lstStyle>
          <a:p>
            <a:pPr marL="171450" lvl="0" indent="-17145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02860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799919-7F2B-44B7-BF0B-B0CE733A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77756"/>
            <a:ext cx="7886700" cy="38992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715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0D6CB-9BA0-4BA9-9CF5-9D21E9F57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277756"/>
            <a:ext cx="3886200" cy="3899207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B0DDB5D-8949-4E45-A7CD-0402580B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277755"/>
            <a:ext cx="3886200" cy="38992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06735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C817C4-D92F-4269-B22D-5C2E52241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2068513"/>
            <a:ext cx="3868340" cy="436562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61514A7-2DEE-47E3-BCB4-FB81E998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455C9D3-0938-4236-8E64-BBF582FC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2068512"/>
            <a:ext cx="3887391" cy="436563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7331E254-1410-4989-81DE-84B684AC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059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8ABD79-6AF5-4911-BEC2-A492F3E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4509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89A680-EBE7-45A3-B520-2C50F59C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66148"/>
            <a:ext cx="2949178" cy="370284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2EEB9F-D255-46E9-AFBB-FCC4D93B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F729341-632E-4151-9863-D40D91A16F84}"/>
              </a:ext>
            </a:extLst>
          </p:cNvPr>
          <p:cNvSpPr/>
          <p:nvPr userDrawn="1"/>
        </p:nvSpPr>
        <p:spPr>
          <a:xfrm>
            <a:off x="-8381" y="1947672"/>
            <a:ext cx="370332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97908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469CAF-CD13-4CCC-9569-14C8070A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8074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D4C583-322D-4347-807F-F6D6AF88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30500"/>
            <a:ext cx="2949178" cy="37384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38DBAD-2265-4E62-AB5B-F66A60D5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39804" y="1"/>
            <a:ext cx="4577715" cy="6857999"/>
          </a:xfrm>
          <a:custGeom>
            <a:avLst/>
            <a:gdLst>
              <a:gd name="connsiteX0" fmla="*/ 3914141 w 6103620"/>
              <a:gd name="connsiteY0" fmla="*/ 914400 h 6857999"/>
              <a:gd name="connsiteX1" fmla="*/ 6103620 w 6103620"/>
              <a:gd name="connsiteY1" fmla="*/ 914400 h 6857999"/>
              <a:gd name="connsiteX2" fmla="*/ 6103620 w 6103620"/>
              <a:gd name="connsiteY2" fmla="*/ 914404 h 6857999"/>
              <a:gd name="connsiteX3" fmla="*/ 4339591 w 6103620"/>
              <a:gd name="connsiteY3" fmla="*/ 6857999 h 6857999"/>
              <a:gd name="connsiteX4" fmla="*/ 2150113 w 6103620"/>
              <a:gd name="connsiteY4" fmla="*/ 6857999 h 6857999"/>
              <a:gd name="connsiteX5" fmla="*/ 1769111 w 6103620"/>
              <a:gd name="connsiteY5" fmla="*/ 0 h 6857999"/>
              <a:gd name="connsiteX6" fmla="*/ 3958591 w 6103620"/>
              <a:gd name="connsiteY6" fmla="*/ 0 h 6857999"/>
              <a:gd name="connsiteX7" fmla="*/ 2189480 w 6103620"/>
              <a:gd name="connsiteY7" fmla="*/ 5943601 h 6857999"/>
              <a:gd name="connsiteX8" fmla="*/ 0 w 6103620"/>
              <a:gd name="connsiteY8" fmla="*/ 594360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3620" h="6857999">
                <a:moveTo>
                  <a:pt x="3914141" y="914400"/>
                </a:moveTo>
                <a:lnTo>
                  <a:pt x="6103620" y="914400"/>
                </a:lnTo>
                <a:lnTo>
                  <a:pt x="6103620" y="914404"/>
                </a:lnTo>
                <a:lnTo>
                  <a:pt x="4339591" y="6857999"/>
                </a:lnTo>
                <a:lnTo>
                  <a:pt x="2150113" y="6857999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5570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D7B9076-7693-4C5F-8305-D5529FF80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EMPTY SLIDE</a:t>
            </a:r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35652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42487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683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1901" y="1998210"/>
            <a:ext cx="2327333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5481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08454" y="1998210"/>
            <a:ext cx="1682939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30066" y="1991988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3039" y="2015989"/>
            <a:ext cx="2219337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5045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39013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96095" y="2927531"/>
            <a:ext cx="1949398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07717" y="2925988"/>
            <a:ext cx="2794817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3100" y="5751926"/>
            <a:ext cx="7217801" cy="470478"/>
          </a:xfr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96094" y="4893792"/>
            <a:ext cx="19493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8035" y="4893792"/>
            <a:ext cx="27844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65044" y="3800404"/>
            <a:ext cx="2455164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596095" y="3864572"/>
            <a:ext cx="19493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5907716" y="3864572"/>
            <a:ext cx="19494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B58C539-3FDE-4755-BEB4-C953AA29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741320"/>
            <a:ext cx="7880057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TEMPALTE</a:t>
            </a:r>
            <a:endParaRPr lang="ru-RU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8EDA54DA-ED01-4416-96BF-C8968F4684B4}"/>
              </a:ext>
            </a:extLst>
          </p:cNvPr>
          <p:cNvSpPr/>
          <p:nvPr userDrawn="1"/>
        </p:nvSpPr>
        <p:spPr>
          <a:xfrm>
            <a:off x="-8380" y="1610268"/>
            <a:ext cx="6939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94799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6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560286192 w 4128"/>
              <a:gd name="T1" fmla="*/ 205697824 h 479"/>
              <a:gd name="T2" fmla="*/ 2147483647 w 4128"/>
              <a:gd name="T3" fmla="*/ 205697824 h 479"/>
              <a:gd name="T4" fmla="*/ 2147483647 w 4128"/>
              <a:gd name="T5" fmla="*/ 441221624 h 479"/>
              <a:gd name="T6" fmla="*/ 0 w 4128"/>
              <a:gd name="T7" fmla="*/ 453563757 h 479"/>
              <a:gd name="T8" fmla="*/ 560286192 w 4128"/>
              <a:gd name="T9" fmla="*/ 205697824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" name="Rectangle 8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5" name="Rectangle 8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6" name="Date Placeholder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 b="0">
                <a:solidFill>
                  <a:srgbClr val="578963"/>
                </a:solidFill>
                <a:latin typeface="Times New Roman" pitchFamily="18" charset="0"/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Footer Placeholder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b="0">
                <a:solidFill>
                  <a:srgbClr val="578963"/>
                </a:solidFill>
                <a:latin typeface="Times New Roman" pitchFamily="18" charset="0"/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b="0">
                <a:solidFill>
                  <a:srgbClr val="578963"/>
                </a:solidFill>
                <a:latin typeface="Times New Roman" pitchFamily="18" charset="0"/>
                <a:ea typeface="SimSun" pitchFamily="2" charset="-122"/>
              </a:defRPr>
            </a:lvl1pPr>
          </a:lstStyle>
          <a:p>
            <a:pPr>
              <a:defRPr/>
            </a:pPr>
            <a:fld id="{F714698A-4C45-4C52-B7BE-58224D01B0F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55424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97318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62327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15954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93534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1128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153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343389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83303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6418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47625"/>
            <a:ext cx="20383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47625"/>
            <a:ext cx="59626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63531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6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302203 w 4128"/>
              <a:gd name="T1" fmla="*/ 202829 h 479"/>
              <a:gd name="T2" fmla="*/ 7653337 w 4128"/>
              <a:gd name="T3" fmla="*/ 202829 h 479"/>
              <a:gd name="T4" fmla="*/ 7653337 w 4128"/>
              <a:gd name="T5" fmla="*/ 435068 h 479"/>
              <a:gd name="T6" fmla="*/ 0 w 4128"/>
              <a:gd name="T7" fmla="*/ 447238 h 479"/>
              <a:gd name="T8" fmla="*/ 302203 w 4128"/>
              <a:gd name="T9" fmla="*/ 202829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aphicFrame>
        <p:nvGraphicFramePr>
          <p:cNvPr id="5" name="Rectangle 8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5" name="Rectangle 8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6" name="Date Placeholder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 smtClean="0">
                <a:solidFill>
                  <a:srgbClr val="578963"/>
                </a:solidFill>
                <a:latin typeface="Times New Roman" pitchFamily="18" charset="0"/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Footer Placeholder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smtClean="0">
                <a:solidFill>
                  <a:srgbClr val="578963"/>
                </a:solidFill>
                <a:latin typeface="Times New Roman" pitchFamily="18" charset="0"/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rgbClr val="578963"/>
                </a:solidFill>
                <a:latin typeface="Times New Roman" pitchFamily="18" charset="0"/>
                <a:ea typeface="SimSun" pitchFamily="2" charset="-122"/>
              </a:defRPr>
            </a:lvl1pPr>
          </a:lstStyle>
          <a:p>
            <a:pPr>
              <a:defRPr/>
            </a:pPr>
            <a:fld id="{950BDB86-0594-46E6-AF61-CDFB45A3EC8B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251172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06970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04524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50874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95410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34156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57810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90487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57465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34644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47625"/>
            <a:ext cx="20383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47625"/>
            <a:ext cx="59626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93346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33"/>
            <a:ext cx="9144000" cy="228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4796667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2524400"/>
            <a:ext cx="8118600" cy="20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5120852"/>
            <a:ext cx="8118600" cy="10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 smtClean="0"/>
              <a:pPr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067916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 smtClean="0"/>
              <a:pPr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579825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86200"/>
            <a:ext cx="8520600" cy="28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4304567"/>
            <a:ext cx="85206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 smtClean="0"/>
              <a:pPr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175175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33"/>
            <a:ext cx="9144000" cy="228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4796667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2524400"/>
            <a:ext cx="8118600" cy="20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5120852"/>
            <a:ext cx="8118600" cy="10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 smtClean="0"/>
              <a:pPr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016846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4796667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2524400"/>
            <a:ext cx="8118600" cy="20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 smtClean="0"/>
              <a:pPr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014991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6727600"/>
            <a:ext cx="9144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 smtClean="0"/>
              <a:pPr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76924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562233"/>
            <a:ext cx="3999900" cy="4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562233"/>
            <a:ext cx="3999900" cy="4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 smtClean="0"/>
              <a:pPr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7824280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 smtClean="0"/>
              <a:pPr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546816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86200"/>
            <a:ext cx="8520600" cy="28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4304567"/>
            <a:ext cx="85206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 smtClean="0"/>
              <a:pPr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3173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47621" y="6002373"/>
            <a:ext cx="4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  <a:latin typeface="+mn-lt"/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3300" y="600237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8651" y="6002373"/>
            <a:ext cx="2549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9874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pos="574">
          <p15:clr>
            <a:srgbClr val="F26B43"/>
          </p15:clr>
        </p15:guide>
        <p15:guide id="3" pos="7106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pos="4407">
          <p15:clr>
            <a:srgbClr val="F26B43"/>
          </p15:clr>
        </p15:guide>
        <p15:guide id="6" pos="3273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76078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152400"/>
            <a:ext cx="9144000" cy="1314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Text Box 41"/>
          <p:cNvSpPr txBox="1">
            <a:spLocks noChangeArrowheads="1"/>
          </p:cNvSpPr>
          <p:nvPr/>
        </p:nvSpPr>
        <p:spPr bwMode="auto">
          <a:xfrm>
            <a:off x="4559300" y="6613525"/>
            <a:ext cx="2889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1000">
                <a:solidFill>
                  <a:schemeClr val="tx2"/>
                </a:solidFill>
                <a:ea typeface="SimSun" pitchFamily="2" charset="-122"/>
              </a:rPr>
              <a:t>2.</a:t>
            </a:r>
          </a:p>
        </p:txBody>
      </p:sp>
      <p:sp>
        <p:nvSpPr>
          <p:cNvPr id="75818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2472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05000"/>
        <a:buFont typeface="Monotype Sorts" pitchFamily="2" charset="2"/>
        <a:buChar char="H"/>
        <a:defRPr kumimoji="1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5000"/>
        <a:buFont typeface="Monotype Sorts" pitchFamily="2" charset="2"/>
        <a:buChar char="4"/>
        <a:defRPr kumimoji="1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76078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152400"/>
            <a:ext cx="9144000" cy="1314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Text Box 41"/>
          <p:cNvSpPr txBox="1">
            <a:spLocks noChangeArrowheads="1"/>
          </p:cNvSpPr>
          <p:nvPr/>
        </p:nvSpPr>
        <p:spPr bwMode="auto">
          <a:xfrm>
            <a:off x="4559300" y="6613525"/>
            <a:ext cx="2889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000" b="1" dirty="0">
                <a:solidFill>
                  <a:schemeClr val="tx2"/>
                </a:solidFill>
                <a:ea typeface="SimSun" pitchFamily="2" charset="-122"/>
              </a:rPr>
              <a:t>2.</a:t>
            </a:r>
          </a:p>
        </p:txBody>
      </p:sp>
      <p:sp>
        <p:nvSpPr>
          <p:cNvPr id="75818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1474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05000"/>
        <a:buFont typeface="Monotype Sorts" pitchFamily="2" charset="2"/>
        <a:buChar char="H"/>
        <a:defRPr kumimoji="1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5000"/>
        <a:buFont typeface="Monotype Sorts" pitchFamily="2" charset="2"/>
        <a:buChar char="4"/>
        <a:defRPr kumimoji="1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 smtClean="0"/>
              <a:pPr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39610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8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62133"/>
            <a:ext cx="8520600" cy="45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 smtClean="0"/>
              <a:pPr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60959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Building glass walls and sky">
            <a:extLst>
              <a:ext uri="{FF2B5EF4-FFF2-40B4-BE49-F238E27FC236}">
                <a16:creationId xmlns:a16="http://schemas.microsoft.com/office/drawing/2014/main" id="{873751CF-C490-45B5-B248-BF86A59ECF2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/>
          <a:srcRect l="-48" t="6766" r="19843" b="3091"/>
          <a:stretch/>
        </p:blipFill>
        <p:spPr>
          <a:xfrm>
            <a:off x="2277274" y="818774"/>
            <a:ext cx="6866726" cy="51435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E9371-6E05-45E0-803B-4C39AC28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950" dirty="0"/>
              <a:t>Database Management Systems</a:t>
            </a:r>
            <a:endParaRPr lang="ru-RU" sz="49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0FE25-038A-4A14-B11A-432FECB7F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Shamim Ahmad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2683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009FF-FBCD-48E9-9C14-6EF6F8136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ERD to Tables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69D17-17D2-48E8-B3DE-4852C46DF0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0731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728663" y="476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Reduction of an E-R Schema to Tables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854075"/>
            <a:ext cx="8655050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b="1" dirty="0">
                <a:ea typeface="SimSun" pitchFamily="2" charset="-122"/>
              </a:rPr>
              <a:t>Primary keys</a:t>
            </a:r>
            <a:r>
              <a:rPr lang="en-US" altLang="zh-CN" sz="2400" dirty="0">
                <a:ea typeface="SimSun" pitchFamily="2" charset="-122"/>
              </a:rPr>
              <a:t> allow </a:t>
            </a:r>
            <a:r>
              <a:rPr lang="en-US" altLang="zh-CN" sz="2400" b="1" dirty="0">
                <a:ea typeface="SimSun" pitchFamily="2" charset="-122"/>
              </a:rPr>
              <a:t>entity sets and relationship sets to be expressed uniformly as </a:t>
            </a:r>
            <a:r>
              <a:rPr lang="en-US" altLang="zh-CN" sz="2400" b="1" i="1" dirty="0">
                <a:ea typeface="SimSun" pitchFamily="2" charset="-122"/>
              </a:rPr>
              <a:t>tables </a:t>
            </a:r>
            <a:r>
              <a:rPr lang="en-US" altLang="zh-CN" sz="2400" dirty="0">
                <a:ea typeface="SimSun" pitchFamily="2" charset="-122"/>
              </a:rPr>
              <a:t>which represent the contents of the database.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SimSun" pitchFamily="2" charset="-122"/>
              </a:rPr>
              <a:t>A database which conforms to an E-R diagram can be represented by a </a:t>
            </a:r>
            <a:r>
              <a:rPr lang="en-US" altLang="zh-CN" sz="2400" b="1" dirty="0">
                <a:ea typeface="SimSun" pitchFamily="2" charset="-122"/>
              </a:rPr>
              <a:t>collection of tables</a:t>
            </a:r>
            <a:r>
              <a:rPr lang="en-US" altLang="zh-CN" sz="2400" dirty="0">
                <a:ea typeface="SimSun" pitchFamily="2" charset="-122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SimSun" pitchFamily="2" charset="-122"/>
              </a:rPr>
              <a:t>For each entity set and relationship set there is </a:t>
            </a:r>
            <a:r>
              <a:rPr lang="en-US" altLang="zh-CN" sz="2400" b="1" dirty="0">
                <a:ea typeface="SimSun" pitchFamily="2" charset="-122"/>
              </a:rPr>
              <a:t>a unique table which is assigned th</a:t>
            </a:r>
            <a:r>
              <a:rPr lang="en-US" altLang="zh-CN" sz="2400" dirty="0">
                <a:ea typeface="SimSun" pitchFamily="2" charset="-122"/>
              </a:rPr>
              <a:t>e name of the corresponding </a:t>
            </a:r>
            <a:r>
              <a:rPr lang="en-US" altLang="zh-CN" sz="2400" b="1" i="1" dirty="0">
                <a:ea typeface="SimSun" pitchFamily="2" charset="-122"/>
              </a:rPr>
              <a:t>entity set </a:t>
            </a:r>
            <a:r>
              <a:rPr lang="en-US" altLang="zh-CN" sz="2400" dirty="0">
                <a:ea typeface="SimSun" pitchFamily="2" charset="-122"/>
              </a:rPr>
              <a:t>or relationship set.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SimSun" pitchFamily="2" charset="-122"/>
              </a:rPr>
              <a:t>Each table has a number of columns </a:t>
            </a:r>
            <a:r>
              <a:rPr lang="en-US" altLang="zh-CN" sz="2400" b="1" dirty="0">
                <a:ea typeface="SimSun" pitchFamily="2" charset="-122"/>
              </a:rPr>
              <a:t>(generally corresponding to attributes</a:t>
            </a:r>
            <a:r>
              <a:rPr lang="en-US" altLang="zh-CN" sz="2400" dirty="0">
                <a:ea typeface="SimSun" pitchFamily="2" charset="-122"/>
              </a:rPr>
              <a:t>), which have unique names.</a:t>
            </a: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ea typeface="SimSun" pitchFamily="2" charset="-122"/>
              </a:rPr>
              <a:t>Converting an E-R diagram to a table format is the basis for deriving a relational database design from an E-R diagram</a:t>
            </a:r>
            <a:r>
              <a:rPr lang="en-US" altLang="zh-CN" sz="2400" dirty="0">
                <a:ea typeface="SimSun" pitchFamily="2" charset="-122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836242-CF13-4D44-83ED-54392A6F1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05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Arial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409A33-1988-4EB9-AC85-79584F85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90737"/>
            <a:ext cx="7886700" cy="1325563"/>
          </a:xfrm>
        </p:spPr>
        <p:txBody>
          <a:bodyPr/>
          <a:lstStyle/>
          <a:p>
            <a:r>
              <a:rPr lang="en-US" altLang="zh-CN" dirty="0">
                <a:ea typeface="SimSun" pitchFamily="2" charset="-122"/>
              </a:rPr>
              <a:t>Representing Entity Sets</a:t>
            </a:r>
            <a:br>
              <a:rPr lang="en-US" altLang="zh-CN" dirty="0">
                <a:ea typeface="SimSun" pitchFamily="2" charset="-122"/>
              </a:rPr>
            </a:br>
            <a:r>
              <a:rPr lang="en-US" altLang="zh-CN" dirty="0">
                <a:ea typeface="SimSun" pitchFamily="2" charset="-122"/>
              </a:rPr>
              <a:t>  as Tables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474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38150" y="47625"/>
            <a:ext cx="8496300" cy="6096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SimSun" pitchFamily="2" charset="-122"/>
              </a:rPr>
              <a:t>Representing </a:t>
            </a:r>
            <a:r>
              <a:rPr lang="en-US" altLang="zh-CN" sz="3600" dirty="0">
                <a:ea typeface="SimSun" pitchFamily="2" charset="-122"/>
              </a:rPr>
              <a:t>strong</a:t>
            </a:r>
            <a:r>
              <a:rPr lang="en-US" altLang="zh-CN" dirty="0">
                <a:ea typeface="SimSun" pitchFamily="2" charset="-122"/>
              </a:rPr>
              <a:t> Entity Sets as Tables</a:t>
            </a:r>
            <a:endParaRPr lang="en-US" dirty="0">
              <a:ea typeface="SimSun" pitchFamily="2" charset="-122"/>
            </a:endParaRP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889000" y="795338"/>
            <a:ext cx="7478713" cy="63023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A strong entity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set reduces to a table with the 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same attributes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.</a:t>
            </a:r>
          </a:p>
        </p:txBody>
      </p:sp>
      <p:grpSp>
        <p:nvGrpSpPr>
          <p:cNvPr id="27652" name="Group 4"/>
          <p:cNvGrpSpPr>
            <a:grpSpLocks/>
          </p:cNvGrpSpPr>
          <p:nvPr/>
        </p:nvGrpSpPr>
        <p:grpSpPr bwMode="auto">
          <a:xfrm>
            <a:off x="304800" y="1600200"/>
            <a:ext cx="8686800" cy="4995863"/>
            <a:chOff x="96" y="768"/>
            <a:chExt cx="5472" cy="3147"/>
          </a:xfrm>
        </p:grpSpPr>
        <p:sp>
          <p:nvSpPr>
            <p:cNvPr id="27653" name="Rectangle 5"/>
            <p:cNvSpPr>
              <a:spLocks noChangeArrowheads="1"/>
            </p:cNvSpPr>
            <p:nvPr/>
          </p:nvSpPr>
          <p:spPr bwMode="auto">
            <a:xfrm>
              <a:off x="1788" y="3666"/>
              <a:ext cx="56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3.6</a:t>
              </a:r>
            </a:p>
          </p:txBody>
        </p:sp>
        <p:sp>
          <p:nvSpPr>
            <p:cNvPr id="27654" name="Rectangle 6"/>
            <p:cNvSpPr>
              <a:spLocks noChangeArrowheads="1"/>
            </p:cNvSpPr>
            <p:nvPr/>
          </p:nvSpPr>
          <p:spPr bwMode="auto">
            <a:xfrm>
              <a:off x="1224" y="3666"/>
              <a:ext cx="56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EE</a:t>
              </a:r>
            </a:p>
          </p:txBody>
        </p:sp>
        <p:sp>
          <p:nvSpPr>
            <p:cNvPr id="27655" name="Rectangle 7"/>
            <p:cNvSpPr>
              <a:spLocks noChangeArrowheads="1"/>
            </p:cNvSpPr>
            <p:nvPr/>
          </p:nvSpPr>
          <p:spPr bwMode="auto">
            <a:xfrm>
              <a:off x="660" y="3666"/>
              <a:ext cx="56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Mary</a:t>
              </a:r>
            </a:p>
          </p:txBody>
        </p:sp>
        <p:sp>
          <p:nvSpPr>
            <p:cNvPr id="27656" name="Rectangle 8"/>
            <p:cNvSpPr>
              <a:spLocks noChangeArrowheads="1"/>
            </p:cNvSpPr>
            <p:nvPr/>
          </p:nvSpPr>
          <p:spPr bwMode="auto">
            <a:xfrm>
              <a:off x="96" y="3666"/>
              <a:ext cx="56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5678</a:t>
              </a:r>
            </a:p>
          </p:txBody>
        </p:sp>
        <p:sp>
          <p:nvSpPr>
            <p:cNvPr id="27657" name="Rectangle 9"/>
            <p:cNvSpPr>
              <a:spLocks noChangeArrowheads="1"/>
            </p:cNvSpPr>
            <p:nvPr/>
          </p:nvSpPr>
          <p:spPr bwMode="auto">
            <a:xfrm>
              <a:off x="1788" y="3417"/>
              <a:ext cx="564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2.8</a:t>
              </a:r>
            </a:p>
          </p:txBody>
        </p:sp>
        <p:sp>
          <p:nvSpPr>
            <p:cNvPr id="27658" name="Rectangle 10"/>
            <p:cNvSpPr>
              <a:spLocks noChangeArrowheads="1"/>
            </p:cNvSpPr>
            <p:nvPr/>
          </p:nvSpPr>
          <p:spPr bwMode="auto">
            <a:xfrm>
              <a:off x="1224" y="3417"/>
              <a:ext cx="564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CS</a:t>
              </a:r>
            </a:p>
          </p:txBody>
        </p:sp>
        <p:sp>
          <p:nvSpPr>
            <p:cNvPr id="27659" name="Rectangle 11"/>
            <p:cNvSpPr>
              <a:spLocks noChangeArrowheads="1"/>
            </p:cNvSpPr>
            <p:nvPr/>
          </p:nvSpPr>
          <p:spPr bwMode="auto">
            <a:xfrm>
              <a:off x="660" y="3417"/>
              <a:ext cx="564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John</a:t>
              </a:r>
            </a:p>
          </p:txBody>
        </p:sp>
        <p:sp>
          <p:nvSpPr>
            <p:cNvPr id="27660" name="Rectangle 12"/>
            <p:cNvSpPr>
              <a:spLocks noChangeArrowheads="1"/>
            </p:cNvSpPr>
            <p:nvPr/>
          </p:nvSpPr>
          <p:spPr bwMode="auto">
            <a:xfrm>
              <a:off x="96" y="3417"/>
              <a:ext cx="564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1234</a:t>
              </a:r>
            </a:p>
          </p:txBody>
        </p:sp>
        <p:sp>
          <p:nvSpPr>
            <p:cNvPr id="27661" name="Rectangle 13"/>
            <p:cNvSpPr>
              <a:spLocks noChangeArrowheads="1"/>
            </p:cNvSpPr>
            <p:nvPr/>
          </p:nvSpPr>
          <p:spPr bwMode="auto">
            <a:xfrm>
              <a:off x="1788" y="3168"/>
              <a:ext cx="56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GPA</a:t>
              </a:r>
            </a:p>
          </p:txBody>
        </p:sp>
        <p:sp>
          <p:nvSpPr>
            <p:cNvPr id="27662" name="Rectangle 14"/>
            <p:cNvSpPr>
              <a:spLocks noChangeArrowheads="1"/>
            </p:cNvSpPr>
            <p:nvPr/>
          </p:nvSpPr>
          <p:spPr bwMode="auto">
            <a:xfrm>
              <a:off x="1224" y="3168"/>
              <a:ext cx="56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Major</a:t>
              </a:r>
            </a:p>
          </p:txBody>
        </p:sp>
        <p:sp>
          <p:nvSpPr>
            <p:cNvPr id="27663" name="Rectangle 15"/>
            <p:cNvSpPr>
              <a:spLocks noChangeArrowheads="1"/>
            </p:cNvSpPr>
            <p:nvPr/>
          </p:nvSpPr>
          <p:spPr bwMode="auto">
            <a:xfrm>
              <a:off x="660" y="3168"/>
              <a:ext cx="56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Name</a:t>
              </a:r>
            </a:p>
          </p:txBody>
        </p:sp>
        <p:sp>
          <p:nvSpPr>
            <p:cNvPr id="27664" name="Rectangle 16"/>
            <p:cNvSpPr>
              <a:spLocks noChangeArrowheads="1"/>
            </p:cNvSpPr>
            <p:nvPr/>
          </p:nvSpPr>
          <p:spPr bwMode="auto">
            <a:xfrm>
              <a:off x="96" y="3168"/>
              <a:ext cx="56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SID</a:t>
              </a:r>
            </a:p>
          </p:txBody>
        </p:sp>
        <p:sp>
          <p:nvSpPr>
            <p:cNvPr id="27665" name="Line 17"/>
            <p:cNvSpPr>
              <a:spLocks noChangeShapeType="1"/>
            </p:cNvSpPr>
            <p:nvPr/>
          </p:nvSpPr>
          <p:spPr bwMode="auto">
            <a:xfrm>
              <a:off x="96" y="3168"/>
              <a:ext cx="22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66" name="Line 18"/>
            <p:cNvSpPr>
              <a:spLocks noChangeShapeType="1"/>
            </p:cNvSpPr>
            <p:nvPr/>
          </p:nvSpPr>
          <p:spPr bwMode="auto">
            <a:xfrm>
              <a:off x="96" y="3417"/>
              <a:ext cx="22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67" name="Line 19"/>
            <p:cNvSpPr>
              <a:spLocks noChangeShapeType="1"/>
            </p:cNvSpPr>
            <p:nvPr/>
          </p:nvSpPr>
          <p:spPr bwMode="auto">
            <a:xfrm>
              <a:off x="96" y="3666"/>
              <a:ext cx="22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68" name="Line 20"/>
            <p:cNvSpPr>
              <a:spLocks noChangeShapeType="1"/>
            </p:cNvSpPr>
            <p:nvPr/>
          </p:nvSpPr>
          <p:spPr bwMode="auto">
            <a:xfrm>
              <a:off x="96" y="3915"/>
              <a:ext cx="22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69" name="Line 21"/>
            <p:cNvSpPr>
              <a:spLocks noChangeShapeType="1"/>
            </p:cNvSpPr>
            <p:nvPr/>
          </p:nvSpPr>
          <p:spPr bwMode="auto">
            <a:xfrm>
              <a:off x="96" y="3168"/>
              <a:ext cx="0" cy="74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70" name="Line 22"/>
            <p:cNvSpPr>
              <a:spLocks noChangeShapeType="1"/>
            </p:cNvSpPr>
            <p:nvPr/>
          </p:nvSpPr>
          <p:spPr bwMode="auto">
            <a:xfrm>
              <a:off x="660" y="3168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71" name="Line 23"/>
            <p:cNvSpPr>
              <a:spLocks noChangeShapeType="1"/>
            </p:cNvSpPr>
            <p:nvPr/>
          </p:nvSpPr>
          <p:spPr bwMode="auto">
            <a:xfrm>
              <a:off x="1224" y="3168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72" name="Line 24"/>
            <p:cNvSpPr>
              <a:spLocks noChangeShapeType="1"/>
            </p:cNvSpPr>
            <p:nvPr/>
          </p:nvSpPr>
          <p:spPr bwMode="auto">
            <a:xfrm>
              <a:off x="1788" y="3168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73" name="Line 25"/>
            <p:cNvSpPr>
              <a:spLocks noChangeShapeType="1"/>
            </p:cNvSpPr>
            <p:nvPr/>
          </p:nvSpPr>
          <p:spPr bwMode="auto">
            <a:xfrm>
              <a:off x="2352" y="3168"/>
              <a:ext cx="0" cy="74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74" name="Rectangle 26"/>
            <p:cNvSpPr>
              <a:spLocks noChangeArrowheads="1"/>
            </p:cNvSpPr>
            <p:nvPr/>
          </p:nvSpPr>
          <p:spPr bwMode="auto">
            <a:xfrm>
              <a:off x="912" y="1296"/>
              <a:ext cx="72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75" name="Text Box 27"/>
            <p:cNvSpPr txBox="1">
              <a:spLocks noChangeArrowheads="1"/>
            </p:cNvSpPr>
            <p:nvPr/>
          </p:nvSpPr>
          <p:spPr bwMode="auto">
            <a:xfrm>
              <a:off x="960" y="1344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Student</a:t>
              </a:r>
            </a:p>
          </p:txBody>
        </p:sp>
        <p:sp>
          <p:nvSpPr>
            <p:cNvPr id="27676" name="Oval 28"/>
            <p:cNvSpPr>
              <a:spLocks noChangeArrowheads="1"/>
            </p:cNvSpPr>
            <p:nvPr/>
          </p:nvSpPr>
          <p:spPr bwMode="auto">
            <a:xfrm>
              <a:off x="1200" y="768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77" name="Oval 29"/>
            <p:cNvSpPr>
              <a:spLocks noChangeArrowheads="1"/>
            </p:cNvSpPr>
            <p:nvPr/>
          </p:nvSpPr>
          <p:spPr bwMode="auto">
            <a:xfrm>
              <a:off x="192" y="768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78" name="Oval 30"/>
            <p:cNvSpPr>
              <a:spLocks noChangeArrowheads="1"/>
            </p:cNvSpPr>
            <p:nvPr/>
          </p:nvSpPr>
          <p:spPr bwMode="auto">
            <a:xfrm>
              <a:off x="192" y="1824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79" name="Oval 31"/>
            <p:cNvSpPr>
              <a:spLocks noChangeArrowheads="1"/>
            </p:cNvSpPr>
            <p:nvPr/>
          </p:nvSpPr>
          <p:spPr bwMode="auto">
            <a:xfrm>
              <a:off x="1440" y="1872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80" name="Line 32"/>
            <p:cNvSpPr>
              <a:spLocks noChangeShapeType="1"/>
            </p:cNvSpPr>
            <p:nvPr/>
          </p:nvSpPr>
          <p:spPr bwMode="auto">
            <a:xfrm>
              <a:off x="576" y="1104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81" name="Line 33"/>
            <p:cNvSpPr>
              <a:spLocks noChangeShapeType="1"/>
            </p:cNvSpPr>
            <p:nvPr/>
          </p:nvSpPr>
          <p:spPr bwMode="auto">
            <a:xfrm flipH="1">
              <a:off x="1296" y="1104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82" name="Line 34"/>
            <p:cNvSpPr>
              <a:spLocks noChangeShapeType="1"/>
            </p:cNvSpPr>
            <p:nvPr/>
          </p:nvSpPr>
          <p:spPr bwMode="auto">
            <a:xfrm flipH="1" flipV="1">
              <a:off x="1392" y="1584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83" name="Line 35"/>
            <p:cNvSpPr>
              <a:spLocks noChangeShapeType="1"/>
            </p:cNvSpPr>
            <p:nvPr/>
          </p:nvSpPr>
          <p:spPr bwMode="auto">
            <a:xfrm flipV="1">
              <a:off x="720" y="1584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84" name="Text Box 36"/>
            <p:cNvSpPr txBox="1">
              <a:spLocks noChangeArrowheads="1"/>
            </p:cNvSpPr>
            <p:nvPr/>
          </p:nvSpPr>
          <p:spPr bwMode="auto">
            <a:xfrm>
              <a:off x="336" y="816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SID</a:t>
              </a:r>
            </a:p>
          </p:txBody>
        </p:sp>
        <p:sp>
          <p:nvSpPr>
            <p:cNvPr id="27685" name="Text Box 37"/>
            <p:cNvSpPr txBox="1">
              <a:spLocks noChangeArrowheads="1"/>
            </p:cNvSpPr>
            <p:nvPr/>
          </p:nvSpPr>
          <p:spPr bwMode="auto">
            <a:xfrm>
              <a:off x="1296" y="816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Name</a:t>
              </a:r>
            </a:p>
          </p:txBody>
        </p:sp>
        <p:sp>
          <p:nvSpPr>
            <p:cNvPr id="27686" name="Text Box 38"/>
            <p:cNvSpPr txBox="1">
              <a:spLocks noChangeArrowheads="1"/>
            </p:cNvSpPr>
            <p:nvPr/>
          </p:nvSpPr>
          <p:spPr bwMode="auto">
            <a:xfrm>
              <a:off x="288" y="1872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Major</a:t>
              </a:r>
            </a:p>
          </p:txBody>
        </p:sp>
        <p:sp>
          <p:nvSpPr>
            <p:cNvPr id="27687" name="Text Box 39"/>
            <p:cNvSpPr txBox="1">
              <a:spLocks noChangeArrowheads="1"/>
            </p:cNvSpPr>
            <p:nvPr/>
          </p:nvSpPr>
          <p:spPr bwMode="auto">
            <a:xfrm>
              <a:off x="1584" y="1920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GPA</a:t>
              </a:r>
            </a:p>
          </p:txBody>
        </p:sp>
        <p:sp>
          <p:nvSpPr>
            <p:cNvPr id="27688" name="AutoShape 40"/>
            <p:cNvSpPr>
              <a:spLocks noChangeArrowheads="1"/>
            </p:cNvSpPr>
            <p:nvPr/>
          </p:nvSpPr>
          <p:spPr bwMode="auto">
            <a:xfrm>
              <a:off x="624" y="2256"/>
              <a:ext cx="1200" cy="7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89" name="AutoShape 41"/>
            <p:cNvSpPr>
              <a:spLocks noChangeArrowheads="1"/>
            </p:cNvSpPr>
            <p:nvPr/>
          </p:nvSpPr>
          <p:spPr bwMode="auto">
            <a:xfrm>
              <a:off x="2352" y="1200"/>
              <a:ext cx="1056" cy="480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90" name="Text Box 42"/>
            <p:cNvSpPr txBox="1">
              <a:spLocks noChangeArrowheads="1"/>
            </p:cNvSpPr>
            <p:nvPr/>
          </p:nvSpPr>
          <p:spPr bwMode="auto">
            <a:xfrm>
              <a:off x="2592" y="1296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Advisor</a:t>
              </a:r>
            </a:p>
          </p:txBody>
        </p:sp>
        <p:sp>
          <p:nvSpPr>
            <p:cNvPr id="27691" name="Line 43"/>
            <p:cNvSpPr>
              <a:spLocks noChangeShapeType="1"/>
            </p:cNvSpPr>
            <p:nvPr/>
          </p:nvSpPr>
          <p:spPr bwMode="auto">
            <a:xfrm>
              <a:off x="1632" y="14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92" name="Rectangle 44"/>
            <p:cNvSpPr>
              <a:spLocks noChangeArrowheads="1"/>
            </p:cNvSpPr>
            <p:nvPr/>
          </p:nvSpPr>
          <p:spPr bwMode="auto">
            <a:xfrm>
              <a:off x="4128" y="1296"/>
              <a:ext cx="72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93" name="Text Box 45"/>
            <p:cNvSpPr txBox="1">
              <a:spLocks noChangeArrowheads="1"/>
            </p:cNvSpPr>
            <p:nvPr/>
          </p:nvSpPr>
          <p:spPr bwMode="auto">
            <a:xfrm>
              <a:off x="4128" y="1344"/>
              <a:ext cx="7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Professor</a:t>
              </a:r>
            </a:p>
          </p:txBody>
        </p:sp>
        <p:sp>
          <p:nvSpPr>
            <p:cNvPr id="27694" name="Line 46"/>
            <p:cNvSpPr>
              <a:spLocks noChangeShapeType="1"/>
            </p:cNvSpPr>
            <p:nvPr/>
          </p:nvSpPr>
          <p:spPr bwMode="auto">
            <a:xfrm>
              <a:off x="3408" y="14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95" name="Oval 47"/>
            <p:cNvSpPr>
              <a:spLocks noChangeArrowheads="1"/>
            </p:cNvSpPr>
            <p:nvPr/>
          </p:nvSpPr>
          <p:spPr bwMode="auto">
            <a:xfrm>
              <a:off x="3408" y="768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96" name="Text Box 48"/>
            <p:cNvSpPr txBox="1">
              <a:spLocks noChangeArrowheads="1"/>
            </p:cNvSpPr>
            <p:nvPr/>
          </p:nvSpPr>
          <p:spPr bwMode="auto">
            <a:xfrm>
              <a:off x="3552" y="816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SSN</a:t>
              </a:r>
            </a:p>
          </p:txBody>
        </p:sp>
        <p:sp>
          <p:nvSpPr>
            <p:cNvPr id="27697" name="Oval 49"/>
            <p:cNvSpPr>
              <a:spLocks noChangeArrowheads="1"/>
            </p:cNvSpPr>
            <p:nvPr/>
          </p:nvSpPr>
          <p:spPr bwMode="auto">
            <a:xfrm>
              <a:off x="4608" y="768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698" name="Text Box 50"/>
            <p:cNvSpPr txBox="1">
              <a:spLocks noChangeArrowheads="1"/>
            </p:cNvSpPr>
            <p:nvPr/>
          </p:nvSpPr>
          <p:spPr bwMode="auto">
            <a:xfrm>
              <a:off x="4704" y="816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Name</a:t>
              </a:r>
            </a:p>
          </p:txBody>
        </p:sp>
        <p:sp>
          <p:nvSpPr>
            <p:cNvPr id="27699" name="Oval 51"/>
            <p:cNvSpPr>
              <a:spLocks noChangeArrowheads="1"/>
            </p:cNvSpPr>
            <p:nvPr/>
          </p:nvSpPr>
          <p:spPr bwMode="auto">
            <a:xfrm>
              <a:off x="4800" y="1776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700" name="Text Box 52"/>
            <p:cNvSpPr txBox="1">
              <a:spLocks noChangeArrowheads="1"/>
            </p:cNvSpPr>
            <p:nvPr/>
          </p:nvSpPr>
          <p:spPr bwMode="auto">
            <a:xfrm>
              <a:off x="4896" y="1824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Dept</a:t>
              </a:r>
            </a:p>
          </p:txBody>
        </p:sp>
        <p:sp>
          <p:nvSpPr>
            <p:cNvPr id="27701" name="Line 53"/>
            <p:cNvSpPr>
              <a:spLocks noChangeShapeType="1"/>
            </p:cNvSpPr>
            <p:nvPr/>
          </p:nvSpPr>
          <p:spPr bwMode="auto">
            <a:xfrm>
              <a:off x="3888" y="1104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702" name="Line 54"/>
            <p:cNvSpPr>
              <a:spLocks noChangeShapeType="1"/>
            </p:cNvSpPr>
            <p:nvPr/>
          </p:nvSpPr>
          <p:spPr bwMode="auto">
            <a:xfrm flipH="1">
              <a:off x="4560" y="1104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703" name="Line 55"/>
            <p:cNvSpPr>
              <a:spLocks noChangeShapeType="1"/>
            </p:cNvSpPr>
            <p:nvPr/>
          </p:nvSpPr>
          <p:spPr bwMode="auto">
            <a:xfrm flipH="1" flipV="1">
              <a:off x="4704" y="1584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704" name="AutoShape 56"/>
            <p:cNvSpPr>
              <a:spLocks noChangeArrowheads="1"/>
            </p:cNvSpPr>
            <p:nvPr/>
          </p:nvSpPr>
          <p:spPr bwMode="auto">
            <a:xfrm>
              <a:off x="3744" y="2256"/>
              <a:ext cx="1200" cy="7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705" name="Rectangle 57"/>
            <p:cNvSpPr>
              <a:spLocks noChangeArrowheads="1"/>
            </p:cNvSpPr>
            <p:nvPr/>
          </p:nvSpPr>
          <p:spPr bwMode="auto">
            <a:xfrm>
              <a:off x="4752" y="3666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CS</a:t>
              </a:r>
            </a:p>
          </p:txBody>
        </p:sp>
        <p:sp>
          <p:nvSpPr>
            <p:cNvPr id="27706" name="Rectangle 58"/>
            <p:cNvSpPr>
              <a:spLocks noChangeArrowheads="1"/>
            </p:cNvSpPr>
            <p:nvPr/>
          </p:nvSpPr>
          <p:spPr bwMode="auto">
            <a:xfrm>
              <a:off x="3936" y="3666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Lee</a:t>
              </a:r>
            </a:p>
          </p:txBody>
        </p:sp>
        <p:sp>
          <p:nvSpPr>
            <p:cNvPr id="27707" name="Rectangle 59"/>
            <p:cNvSpPr>
              <a:spLocks noChangeArrowheads="1"/>
            </p:cNvSpPr>
            <p:nvPr/>
          </p:nvSpPr>
          <p:spPr bwMode="auto">
            <a:xfrm>
              <a:off x="3120" y="3666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8888</a:t>
              </a:r>
            </a:p>
          </p:txBody>
        </p:sp>
        <p:sp>
          <p:nvSpPr>
            <p:cNvPr id="27708" name="Rectangle 60"/>
            <p:cNvSpPr>
              <a:spLocks noChangeArrowheads="1"/>
            </p:cNvSpPr>
            <p:nvPr/>
          </p:nvSpPr>
          <p:spPr bwMode="auto">
            <a:xfrm>
              <a:off x="4752" y="3417"/>
              <a:ext cx="81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Math</a:t>
              </a:r>
            </a:p>
          </p:txBody>
        </p:sp>
        <p:sp>
          <p:nvSpPr>
            <p:cNvPr id="27709" name="Rectangle 61"/>
            <p:cNvSpPr>
              <a:spLocks noChangeArrowheads="1"/>
            </p:cNvSpPr>
            <p:nvPr/>
          </p:nvSpPr>
          <p:spPr bwMode="auto">
            <a:xfrm>
              <a:off x="3936" y="3417"/>
              <a:ext cx="81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Smith</a:t>
              </a:r>
            </a:p>
          </p:txBody>
        </p:sp>
        <p:sp>
          <p:nvSpPr>
            <p:cNvPr id="27710" name="Rectangle 62"/>
            <p:cNvSpPr>
              <a:spLocks noChangeArrowheads="1"/>
            </p:cNvSpPr>
            <p:nvPr/>
          </p:nvSpPr>
          <p:spPr bwMode="auto">
            <a:xfrm>
              <a:off x="3120" y="3417"/>
              <a:ext cx="81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9999</a:t>
              </a:r>
            </a:p>
          </p:txBody>
        </p:sp>
        <p:sp>
          <p:nvSpPr>
            <p:cNvPr id="27711" name="Rectangle 63"/>
            <p:cNvSpPr>
              <a:spLocks noChangeArrowheads="1"/>
            </p:cNvSpPr>
            <p:nvPr/>
          </p:nvSpPr>
          <p:spPr bwMode="auto">
            <a:xfrm>
              <a:off x="4752" y="3168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Dept</a:t>
              </a:r>
            </a:p>
          </p:txBody>
        </p:sp>
        <p:sp>
          <p:nvSpPr>
            <p:cNvPr id="27712" name="Rectangle 64"/>
            <p:cNvSpPr>
              <a:spLocks noChangeArrowheads="1"/>
            </p:cNvSpPr>
            <p:nvPr/>
          </p:nvSpPr>
          <p:spPr bwMode="auto">
            <a:xfrm>
              <a:off x="3936" y="3168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Name</a:t>
              </a:r>
            </a:p>
          </p:txBody>
        </p:sp>
        <p:sp>
          <p:nvSpPr>
            <p:cNvPr id="27713" name="Rectangle 65"/>
            <p:cNvSpPr>
              <a:spLocks noChangeArrowheads="1"/>
            </p:cNvSpPr>
            <p:nvPr/>
          </p:nvSpPr>
          <p:spPr bwMode="auto">
            <a:xfrm>
              <a:off x="3120" y="3168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SSN</a:t>
              </a:r>
            </a:p>
          </p:txBody>
        </p:sp>
        <p:sp>
          <p:nvSpPr>
            <p:cNvPr id="27714" name="Line 66"/>
            <p:cNvSpPr>
              <a:spLocks noChangeShapeType="1"/>
            </p:cNvSpPr>
            <p:nvPr/>
          </p:nvSpPr>
          <p:spPr bwMode="auto">
            <a:xfrm>
              <a:off x="3120" y="3168"/>
              <a:ext cx="24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715" name="Line 67"/>
            <p:cNvSpPr>
              <a:spLocks noChangeShapeType="1"/>
            </p:cNvSpPr>
            <p:nvPr/>
          </p:nvSpPr>
          <p:spPr bwMode="auto">
            <a:xfrm>
              <a:off x="3120" y="3417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716" name="Line 68"/>
            <p:cNvSpPr>
              <a:spLocks noChangeShapeType="1"/>
            </p:cNvSpPr>
            <p:nvPr/>
          </p:nvSpPr>
          <p:spPr bwMode="auto">
            <a:xfrm>
              <a:off x="3120" y="3666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717" name="Line 69"/>
            <p:cNvSpPr>
              <a:spLocks noChangeShapeType="1"/>
            </p:cNvSpPr>
            <p:nvPr/>
          </p:nvSpPr>
          <p:spPr bwMode="auto">
            <a:xfrm>
              <a:off x="3120" y="3915"/>
              <a:ext cx="24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718" name="Line 70"/>
            <p:cNvSpPr>
              <a:spLocks noChangeShapeType="1"/>
            </p:cNvSpPr>
            <p:nvPr/>
          </p:nvSpPr>
          <p:spPr bwMode="auto">
            <a:xfrm>
              <a:off x="3120" y="3168"/>
              <a:ext cx="0" cy="74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719" name="Line 71"/>
            <p:cNvSpPr>
              <a:spLocks noChangeShapeType="1"/>
            </p:cNvSpPr>
            <p:nvPr/>
          </p:nvSpPr>
          <p:spPr bwMode="auto">
            <a:xfrm>
              <a:off x="3936" y="3168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720" name="Line 72"/>
            <p:cNvSpPr>
              <a:spLocks noChangeShapeType="1"/>
            </p:cNvSpPr>
            <p:nvPr/>
          </p:nvSpPr>
          <p:spPr bwMode="auto">
            <a:xfrm>
              <a:off x="4752" y="3168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27721" name="Line 73"/>
            <p:cNvSpPr>
              <a:spLocks noChangeShapeType="1"/>
            </p:cNvSpPr>
            <p:nvPr/>
          </p:nvSpPr>
          <p:spPr bwMode="auto">
            <a:xfrm>
              <a:off x="5568" y="3168"/>
              <a:ext cx="0" cy="74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836242-CF13-4D44-83ED-54392A6F1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409A33-1988-4EB9-AC85-79584F85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66218"/>
            <a:ext cx="7886700" cy="1325563"/>
          </a:xfrm>
        </p:spPr>
        <p:txBody>
          <a:bodyPr/>
          <a:lstStyle/>
          <a:p>
            <a:r>
              <a:rPr lang="en-US" altLang="zh-CN" dirty="0">
                <a:ea typeface="SimSun" pitchFamily="2" charset="-122"/>
              </a:rPr>
              <a:t>Representing Relationship </a:t>
            </a:r>
            <a:br>
              <a:rPr lang="en-US" altLang="zh-CN" dirty="0">
                <a:ea typeface="SimSun" pitchFamily="2" charset="-122"/>
              </a:rPr>
            </a:br>
            <a:r>
              <a:rPr lang="en-US" altLang="zh-CN" dirty="0">
                <a:ea typeface="SimSun" pitchFamily="2" charset="-122"/>
              </a:rPr>
              <a:t>Sets as Tables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97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Many-to-many Relationship Sets</a:t>
            </a:r>
            <a:endParaRPr lang="en-US">
              <a:ea typeface="SimSun" pitchFamily="2" charset="-122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3200" u="sng" dirty="0">
                <a:ea typeface="PMingLiU" pitchFamily="18" charset="-120"/>
              </a:rPr>
              <a:t>For many-to-many relationship</a:t>
            </a:r>
            <a:endParaRPr lang="en-US" altLang="zh-TW" sz="3200" dirty="0">
              <a:ea typeface="PMingLiU" pitchFamily="18" charset="-120"/>
            </a:endParaRPr>
          </a:p>
          <a:p>
            <a:pPr lvl="1"/>
            <a:r>
              <a:rPr lang="en-US" altLang="zh-TW" sz="3200" dirty="0">
                <a:ea typeface="PMingLiU" pitchFamily="18" charset="-120"/>
              </a:rPr>
              <a:t>Same thing as one-to-one relationship without </a:t>
            </a:r>
            <a:r>
              <a:rPr lang="en-US" altLang="zh-TW" sz="3200" b="1" dirty="0">
                <a:ea typeface="PMingLiU" pitchFamily="18" charset="-120"/>
              </a:rPr>
              <a:t>total participation</a:t>
            </a:r>
            <a:r>
              <a:rPr lang="en-US" altLang="zh-TW" sz="3200" dirty="0">
                <a:ea typeface="PMingLiU" pitchFamily="18" charset="-120"/>
              </a:rPr>
              <a:t>.  </a:t>
            </a:r>
          </a:p>
          <a:p>
            <a:pPr lvl="1"/>
            <a:r>
              <a:rPr lang="en-US" altLang="zh-TW" sz="3200" dirty="0">
                <a:ea typeface="PMingLiU" pitchFamily="18" charset="-120"/>
              </a:rPr>
              <a:t>Primary key of this new schema is the union of the foreign keys of both entity 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Entity Sets </a:t>
            </a:r>
            <a:r>
              <a:rPr lang="en-US" altLang="zh-CN" i="1">
                <a:ea typeface="SimSun" pitchFamily="2" charset="-122"/>
              </a:rPr>
              <a:t>customer</a:t>
            </a:r>
            <a:r>
              <a:rPr lang="en-US" altLang="zh-CN">
                <a:ea typeface="SimSun" pitchFamily="2" charset="-122"/>
              </a:rPr>
              <a:t> and </a:t>
            </a:r>
            <a:r>
              <a:rPr lang="en-US" altLang="zh-CN" i="1">
                <a:ea typeface="SimSun" pitchFamily="2" charset="-122"/>
              </a:rPr>
              <a:t>loan</a:t>
            </a:r>
            <a:endParaRPr lang="en-US" altLang="zh-CN">
              <a:ea typeface="SimSun" pitchFamily="2" charset="-122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8" t="7512" r="1233" b="9859"/>
          <a:stretch>
            <a:fillRect/>
          </a:stretch>
        </p:blipFill>
        <p:spPr bwMode="auto">
          <a:xfrm>
            <a:off x="317500" y="1549400"/>
            <a:ext cx="8572500" cy="48133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252413" y="849313"/>
            <a:ext cx="87058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customer-id      customer-  customer-  customer-         loan-      amount</a:t>
            </a:r>
            <a:b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                          name          street          city                    number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474562" y="2882096"/>
            <a:ext cx="5544273" cy="578734"/>
          </a:xfrm>
          <a:prstGeom prst="rect">
            <a:avLst/>
          </a:prstGeom>
          <a:noFill/>
          <a:ln w="571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 w="57150">
                <a:solidFill>
                  <a:srgbClr val="CC3300">
                    <a:satMod val="155000"/>
                  </a:srgbClr>
                </a:solidFill>
                <a:prstDash val="solid"/>
              </a:ln>
              <a:solidFill>
                <a:srgbClr val="666699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Helvetica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5" y="114300"/>
            <a:ext cx="8429625" cy="4572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SimSun" pitchFamily="2" charset="-122"/>
              </a:rPr>
              <a:t>Representing Relationship Sets as Tables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1688" y="985838"/>
            <a:ext cx="7029450" cy="1736725"/>
          </a:xfrm>
        </p:spPr>
        <p:txBody>
          <a:bodyPr/>
          <a:lstStyle/>
          <a:p>
            <a:pPr algn="just"/>
            <a:r>
              <a:rPr lang="en-US" altLang="zh-CN">
                <a:ea typeface="SimSun" pitchFamily="2" charset="-122"/>
              </a:rPr>
              <a:t>A </a:t>
            </a:r>
            <a:r>
              <a:rPr lang="en-US" altLang="zh-CN" b="1">
                <a:solidFill>
                  <a:srgbClr val="FF0000"/>
                </a:solidFill>
                <a:ea typeface="SimSun" pitchFamily="2" charset="-122"/>
              </a:rPr>
              <a:t>many-to-many relationship</a:t>
            </a:r>
            <a:r>
              <a:rPr lang="en-US" altLang="zh-CN">
                <a:ea typeface="SimSun" pitchFamily="2" charset="-122"/>
              </a:rPr>
              <a:t> set is represented as a table with columns for the </a:t>
            </a:r>
            <a:r>
              <a:rPr lang="en-US" altLang="zh-CN" b="1">
                <a:solidFill>
                  <a:srgbClr val="FF0000"/>
                </a:solidFill>
                <a:ea typeface="SimSun" pitchFamily="2" charset="-122"/>
              </a:rPr>
              <a:t>primary keys of the two participating entity sets</a:t>
            </a:r>
            <a:r>
              <a:rPr lang="en-US" altLang="zh-CN">
                <a:ea typeface="SimSun" pitchFamily="2" charset="-122"/>
              </a:rPr>
              <a:t>, and any descriptive attributes of the relationship set. </a:t>
            </a:r>
          </a:p>
          <a:p>
            <a:pPr algn="just"/>
            <a:r>
              <a:rPr lang="en-US" altLang="zh-CN">
                <a:ea typeface="SimSun" pitchFamily="2" charset="-122"/>
              </a:rPr>
              <a:t>E.g.: table for relationship set </a:t>
            </a:r>
            <a:r>
              <a:rPr lang="en-US" altLang="zh-CN" i="1">
                <a:ea typeface="SimSun" pitchFamily="2" charset="-122"/>
              </a:rPr>
              <a:t>borrower</a:t>
            </a:r>
          </a:p>
        </p:txBody>
      </p:sp>
      <p:pic>
        <p:nvPicPr>
          <p:cNvPr id="30724" name="Picture 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8" t="2570" r="10164" b="3038"/>
          <a:stretch>
            <a:fillRect/>
          </a:stretch>
        </p:blipFill>
        <p:spPr bwMode="auto">
          <a:xfrm>
            <a:off x="2628900" y="2979738"/>
            <a:ext cx="3995738" cy="35433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17976" y="497269"/>
            <a:ext cx="7322477" cy="6051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+mn-lt"/>
              </a:rPr>
              <a:t>Many To Many Relationship(Cont.)</a:t>
            </a:r>
          </a:p>
          <a:p>
            <a:endParaRPr lang="en-US" sz="3200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prstClr val="black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t>10</a:t>
            </a:fld>
            <a:endParaRPr lang="en" kern="0">
              <a:solidFill>
                <a:prstClr val="black"/>
              </a:solidFill>
            </a:endParaRPr>
          </a:p>
        </p:txBody>
      </p:sp>
      <p:pic>
        <p:nvPicPr>
          <p:cNvPr id="4" name="Picture 3" descr="M to 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865" y="1232495"/>
            <a:ext cx="6039293" cy="193233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3685997"/>
          <a:ext cx="3891516" cy="142113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308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8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Calibri"/>
                          <a:cs typeface="Times New Roman"/>
                        </a:rPr>
                        <a:t>Email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Calibri"/>
                          <a:cs typeface="Times New Roman"/>
                        </a:rPr>
                        <a:t>Mobile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ononnaontora@gmail.com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Calibri"/>
                          <a:cs typeface="Times New Roman"/>
                        </a:rPr>
                        <a:t>01700000000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sumaia@vu.edu.bd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Calibri"/>
                          <a:cs typeface="Times New Roman"/>
                        </a:rPr>
                        <a:t>01700000000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sumaiavu381332@gmail.com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Calibri"/>
                          <a:cs typeface="Times New Roman"/>
                        </a:rPr>
                        <a:t>01700000000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Calibri"/>
                          <a:cs typeface="Times New Roman"/>
                        </a:rPr>
                        <a:t>raisha12@gmail.com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Calibri"/>
                          <a:cs typeface="Times New Roman"/>
                        </a:rPr>
                        <a:t>01700000011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Calibri"/>
                          <a:cs typeface="Times New Roman"/>
                        </a:rPr>
                        <a:t>raisha_afroza@gmail.com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Calibri"/>
                          <a:cs typeface="Times New Roman"/>
                        </a:rPr>
                        <a:t>01700000011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005128" y="3742660"/>
          <a:ext cx="2138872" cy="1371600"/>
        </p:xfrm>
        <a:graphic>
          <a:graphicData uri="http://schemas.openxmlformats.org/drawingml/2006/table">
            <a:tbl>
              <a:tblPr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93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Calibri"/>
                          <a:cs typeface="Times New Roman"/>
                        </a:rPr>
                        <a:t>Name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Calibri"/>
                          <a:cs typeface="Times New Roman"/>
                        </a:rPr>
                        <a:t>AC_NO.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Calibri"/>
                          <a:cs typeface="Times New Roman"/>
                        </a:rPr>
                        <a:t>City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err="1">
                          <a:latin typeface="Calibri"/>
                          <a:ea typeface="Calibri"/>
                          <a:cs typeface="Times New Roman"/>
                        </a:rPr>
                        <a:t>Ononna</a:t>
                      </a:r>
                      <a:endParaRPr lang="en-US" sz="1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Calibri"/>
                          <a:cs typeface="Times New Roman"/>
                        </a:rPr>
                        <a:t>AC11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Calibri"/>
                          <a:cs typeface="Times New Roman"/>
                        </a:rPr>
                        <a:t>Raj.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Calibri"/>
                          <a:cs typeface="Times New Roman"/>
                        </a:rPr>
                        <a:t>Raisha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Calibri"/>
                          <a:cs typeface="Times New Roman"/>
                        </a:rPr>
                        <a:t>AC12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err="1">
                          <a:latin typeface="Calibri"/>
                          <a:ea typeface="Calibri"/>
                          <a:cs typeface="Times New Roman"/>
                        </a:rPr>
                        <a:t>Khul</a:t>
                      </a:r>
                      <a:r>
                        <a:rPr lang="en-US" sz="1400"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Calibri"/>
                          <a:cs typeface="Times New Roman"/>
                        </a:rPr>
                        <a:t>Mahbub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Calibri"/>
                          <a:cs typeface="Times New Roman"/>
                        </a:rPr>
                        <a:t>AC25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Calibri"/>
                          <a:cs typeface="Times New Roman"/>
                        </a:rPr>
                        <a:t>Dhaka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8308" y="3980627"/>
          <a:ext cx="2651125" cy="1270381"/>
        </p:xfrm>
        <a:graphic>
          <a:graphicData uri="http://schemas.openxmlformats.org/drawingml/2006/table">
            <a:tbl>
              <a:tblPr/>
              <a:tblGrid>
                <a:gridCol w="1910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4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latin typeface="Calibri"/>
                          <a:ea typeface="Calibri"/>
                          <a:cs typeface="Times New Roman"/>
                        </a:rPr>
                        <a:t>Email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latin typeface="Calibri"/>
                          <a:ea typeface="Calibri"/>
                          <a:cs typeface="Times New Roman"/>
                        </a:rPr>
                        <a:t>Name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Calibri"/>
                          <a:ea typeface="Calibri"/>
                          <a:cs typeface="Times New Roman"/>
                        </a:rPr>
                        <a:t>ononnaontora@gmail.com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Calibri"/>
                          <a:ea typeface="Calibri"/>
                          <a:cs typeface="Times New Roman"/>
                        </a:rPr>
                        <a:t>ononna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Calibri"/>
                          <a:ea typeface="Calibri"/>
                          <a:cs typeface="Times New Roman"/>
                        </a:rPr>
                        <a:t>sumaia@vu.edu.bd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err="1">
                          <a:latin typeface="Calibri"/>
                          <a:ea typeface="Calibri"/>
                          <a:cs typeface="Times New Roman"/>
                        </a:rPr>
                        <a:t>ononna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Calibri"/>
                          <a:ea typeface="Calibri"/>
                          <a:cs typeface="Times New Roman"/>
                        </a:rPr>
                        <a:t>sumaiavu381332@gmail.com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err="1">
                          <a:latin typeface="Calibri"/>
                          <a:ea typeface="Calibri"/>
                          <a:cs typeface="Times New Roman"/>
                        </a:rPr>
                        <a:t>ononna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Calibri"/>
                          <a:ea typeface="Calibri"/>
                          <a:cs typeface="Times New Roman"/>
                        </a:rPr>
                        <a:t>raisha12@gmail.com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err="1">
                          <a:latin typeface="Calibri"/>
                          <a:ea typeface="Calibri"/>
                          <a:cs typeface="Times New Roman"/>
                        </a:rPr>
                        <a:t>Raisha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Calibri"/>
                          <a:ea typeface="Calibri"/>
                          <a:cs typeface="Times New Roman"/>
                        </a:rPr>
                        <a:t> raisha_afroza@gmail.com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err="1">
                          <a:latin typeface="Calibri"/>
                          <a:ea typeface="Calibri"/>
                          <a:cs typeface="Times New Roman"/>
                        </a:rPr>
                        <a:t>Raisha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latin typeface="Calibri"/>
                          <a:ea typeface="Calibri"/>
                          <a:cs typeface="Times New Roman"/>
                        </a:rPr>
                        <a:t>mahbub@gmail.com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Mahbub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2261" y="3111352"/>
            <a:ext cx="627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US" sz="1400" b="1" kern="0">
                <a:solidFill>
                  <a:srgbClr val="FF0000"/>
                </a:solidFill>
                <a:latin typeface="Arial"/>
                <a:cs typeface="Arial"/>
                <a:sym typeface="Arial"/>
              </a:rPr>
              <a:t>PK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endParaRPr lang="en-US"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00262" y="3462226"/>
            <a:ext cx="552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US" sz="1400" b="1" kern="0">
                <a:solidFill>
                  <a:srgbClr val="FF0000"/>
                </a:solidFill>
                <a:latin typeface="Arial"/>
                <a:cs typeface="Arial"/>
                <a:sym typeface="Arial"/>
              </a:rPr>
              <a:t>PK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endParaRPr lang="en-US"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rot="16200000" flipH="1">
            <a:off x="641608" y="3359555"/>
            <a:ext cx="603844" cy="55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931235" y="3050880"/>
            <a:ext cx="375285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7288621" y="3520707"/>
            <a:ext cx="340238" cy="10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6422065" y="3355904"/>
            <a:ext cx="1084522" cy="21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H="1">
            <a:off x="6224701" y="3583838"/>
            <a:ext cx="466503" cy="132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06604" y="3622603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US" sz="1400" b="1" kern="0">
                <a:solidFill>
                  <a:srgbClr val="FF0000"/>
                </a:solidFill>
                <a:latin typeface="Arial"/>
                <a:cs typeface="Arial"/>
                <a:sym typeface="Arial"/>
              </a:rPr>
              <a:t>FK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665" y="3646083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US" sz="1400" b="1" kern="0">
                <a:solidFill>
                  <a:srgbClr val="FF0000"/>
                </a:solidFill>
                <a:latin typeface="Arial"/>
                <a:cs typeface="Arial"/>
                <a:sym typeface="Arial"/>
              </a:rPr>
              <a:t>FK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rot="5400000">
            <a:off x="4224007" y="3506751"/>
            <a:ext cx="898894" cy="115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048169"/>
            <a:ext cx="8520600" cy="4632290"/>
          </a:xfrm>
        </p:spPr>
        <p:txBody>
          <a:bodyPr/>
          <a:lstStyle/>
          <a:p>
            <a:pPr>
              <a:buNone/>
            </a:pPr>
            <a:r>
              <a:rPr lang="en-US" sz="2400" b="1" dirty="0">
                <a:latin typeface="Calibri" pitchFamily="34" charset="0"/>
              </a:rPr>
              <a:t>Foreign Key:</a:t>
            </a:r>
          </a:p>
          <a:p>
            <a:pPr algn="just"/>
            <a:r>
              <a:rPr lang="en-US" dirty="0">
                <a:latin typeface="Calibri" pitchFamily="34" charset="0"/>
              </a:rPr>
              <a:t>A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</a:rPr>
              <a:t>FOREIGN KEY </a:t>
            </a:r>
            <a:r>
              <a:rPr lang="en-US" dirty="0">
                <a:latin typeface="Calibri" pitchFamily="34" charset="0"/>
              </a:rPr>
              <a:t>is a key used to link two tables together.</a:t>
            </a:r>
            <a:endParaRPr lang="en-US" b="1" dirty="0">
              <a:latin typeface="Calibri" pitchFamily="34" charset="0"/>
            </a:endParaRPr>
          </a:p>
          <a:p>
            <a:pPr algn="just"/>
            <a:r>
              <a:rPr lang="en-US" dirty="0">
                <a:latin typeface="Calibri" pitchFamily="34" charset="0"/>
              </a:rPr>
              <a:t>A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</a:rPr>
              <a:t>FOREIGN KEY </a:t>
            </a:r>
            <a:r>
              <a:rPr lang="en-US" dirty="0">
                <a:latin typeface="Calibri" pitchFamily="34" charset="0"/>
              </a:rPr>
              <a:t>is a field (or collection of fields) in one table that refers to the PRIMARY KEY in another table.</a:t>
            </a:r>
          </a:p>
          <a:p>
            <a:pPr algn="just"/>
            <a:r>
              <a:rPr lang="en-US" dirty="0">
                <a:latin typeface="Calibri" pitchFamily="34" charset="0"/>
              </a:rPr>
              <a:t>The table containing the foreign key is called the child table, and the table containing the candidate key is called the referenced or parent table.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48827" y="3416717"/>
          <a:ext cx="3510225" cy="1761324"/>
        </p:xfrm>
        <a:graphic>
          <a:graphicData uri="http://schemas.openxmlformats.org/drawingml/2006/table">
            <a:tbl>
              <a:tblPr firstRow="1" bandRow="1"/>
              <a:tblGrid>
                <a:gridCol w="1179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331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S_id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S_Name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S_CGPA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3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13231003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Tasnim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3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13231001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Jui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3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13231111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Dipty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82532" y="3477010"/>
          <a:ext cx="4059535" cy="1530208"/>
        </p:xfrm>
        <a:graphic>
          <a:graphicData uri="http://schemas.openxmlformats.org/drawingml/2006/table">
            <a:tbl>
              <a:tblPr firstRow="1" bandRow="1"/>
              <a:tblGrid>
                <a:gridCol w="1419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552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S_id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13231003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Summer13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5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13231001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Summer13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5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13231117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Fall14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45029" y="5318719"/>
            <a:ext cx="22236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US" sz="14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TableName</a:t>
            </a:r>
            <a:r>
              <a:rPr lang="en-US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: </a:t>
            </a:r>
            <a:r>
              <a:rPr lang="en-US" sz="14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Student_Info</a:t>
            </a:r>
            <a:endParaRPr lang="en-US"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47883" y="5290249"/>
            <a:ext cx="1984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US" sz="14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TableName</a:t>
            </a:r>
            <a:r>
              <a:rPr lang="en-US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: </a:t>
            </a:r>
            <a:r>
              <a:rPr lang="en-US" sz="14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Dept_Info</a:t>
            </a:r>
            <a:endParaRPr lang="en-US"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prstClr val="black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t>11</a:t>
            </a:fld>
            <a:endParaRPr lang="en" kern="0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836242-CF13-4D44-83ED-54392A6F1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495E168-DA5E-4888-8D8A-92B118324C14}" type="slidenum">
              <a:rPr kumimoji="0" lang="ru-RU" sz="1050" b="0" i="0" u="none" strike="noStrike" kern="1200" cap="none" spc="0" normalizeH="0" baseline="0" noProof="0" smtClean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latin typeface="Lucida Grande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CD00"/>
              </a:solidFill>
              <a:effectLst/>
              <a:uLnTx/>
              <a:uFillTx/>
              <a:latin typeface="Lucida Grande"/>
              <a:ea typeface="+mn-ea"/>
              <a:cs typeface="Arial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409A33-1988-4EB9-AC85-79584F85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67000"/>
            <a:ext cx="7886700" cy="1325563"/>
          </a:xfrm>
        </p:spPr>
        <p:txBody>
          <a:bodyPr/>
          <a:lstStyle/>
          <a:p>
            <a:r>
              <a:rPr lang="en-US" altLang="zh-CN" dirty="0">
                <a:ea typeface="SimSun" pitchFamily="2" charset="-122"/>
              </a:rPr>
              <a:t>Representing Relationship sets </a:t>
            </a:r>
            <a:br>
              <a:rPr lang="en-US" altLang="zh-CN" dirty="0">
                <a:ea typeface="SimSun" pitchFamily="2" charset="-122"/>
              </a:rPr>
            </a:br>
            <a:r>
              <a:rPr lang="en-US" altLang="zh-CN" dirty="0">
                <a:ea typeface="SimSun" pitchFamily="2" charset="-122"/>
              </a:rPr>
              <a:t>without a </a:t>
            </a:r>
            <a:r>
              <a:rPr lang="en-US" altLang="zh-CN" u="sng" dirty="0">
                <a:ea typeface="SimSun" pitchFamily="2" charset="-122"/>
              </a:rPr>
              <a:t>separate</a:t>
            </a:r>
            <a:r>
              <a:rPr lang="en-US" altLang="zh-CN" dirty="0">
                <a:ea typeface="SimSun" pitchFamily="2" charset="-122"/>
              </a:rPr>
              <a:t> Tables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623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Many-to-one and One-to-many</a:t>
            </a: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800100" y="2438400"/>
            <a:ext cx="7848600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TW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PMingLiU" pitchFamily="18" charset="-120"/>
                <a:cs typeface="+mn-cs"/>
              </a:rPr>
              <a:t>For one-to-many</a:t>
            </a:r>
            <a:r>
              <a:rPr kumimoji="1" lang="en-US" altLang="zh-TW" sz="2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PMingLiU" pitchFamily="18" charset="-120"/>
                <a:cs typeface="+mn-cs"/>
              </a:rPr>
              <a:t> relationship </a:t>
            </a:r>
            <a:r>
              <a:rPr kumimoji="1" lang="en-US" altLang="zh-TW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PMingLiU" pitchFamily="18" charset="-120"/>
                <a:cs typeface="+mn-cs"/>
              </a:rPr>
              <a:t>w/out total </a:t>
            </a:r>
            <a:r>
              <a:rPr kumimoji="1" lang="en-US" altLang="zh-TW" sz="2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PMingLiU" pitchFamily="18" charset="-120"/>
                <a:cs typeface="+mn-cs"/>
              </a:rPr>
              <a:t>participation</a:t>
            </a: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PMingLiU" pitchFamily="18" charset="-120"/>
                <a:cs typeface="+mn-cs"/>
              </a:rPr>
              <a:t>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PMingLiU" pitchFamily="18" charset="-120"/>
                <a:cs typeface="+mn-cs"/>
              </a:rPr>
              <a:t>Same thing as one-to-one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Redundancy of Tables</a:t>
            </a:r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4" t="30377" r="832" b="30377"/>
          <a:stretch>
            <a:fillRect/>
          </a:stretch>
        </p:blipFill>
        <p:spPr bwMode="auto">
          <a:xfrm>
            <a:off x="588963" y="4114800"/>
            <a:ext cx="8077200" cy="24257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772" name="Rectangle 5"/>
          <p:cNvSpPr>
            <a:spLocks noChangeArrowheads="1"/>
          </p:cNvSpPr>
          <p:nvPr/>
        </p:nvSpPr>
        <p:spPr bwMode="auto">
          <a:xfrm>
            <a:off x="865188" y="1036638"/>
            <a:ext cx="7524750" cy="284956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Many-to-one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and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one-to-many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relationship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sets that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are total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on the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many-side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can be represented by adding an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extra attribute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to the many side, containing the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primary key of the one side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E.g.: Instead of creating a table for relationship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account-branch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, add an attribute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branch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name to the entity set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account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solidFill>
                  <a:srgbClr val="FF0000"/>
                </a:solidFill>
                <a:ea typeface="PMingLiU" pitchFamily="18" charset="-120"/>
              </a:rPr>
              <a:t>Example – Many-to-One Relationship Set</a:t>
            </a:r>
            <a:endParaRPr lang="en-US">
              <a:solidFill>
                <a:srgbClr val="FF0000"/>
              </a:solidFill>
            </a:endParaRPr>
          </a:p>
        </p:txBody>
      </p:sp>
      <p:grpSp>
        <p:nvGrpSpPr>
          <p:cNvPr id="34819" name="Group 3"/>
          <p:cNvGrpSpPr>
            <a:grpSpLocks/>
          </p:cNvGrpSpPr>
          <p:nvPr/>
        </p:nvGrpSpPr>
        <p:grpSpPr bwMode="auto">
          <a:xfrm>
            <a:off x="342900" y="1047750"/>
            <a:ext cx="8534400" cy="5548313"/>
            <a:chOff x="192" y="624"/>
            <a:chExt cx="5376" cy="3495"/>
          </a:xfrm>
        </p:grpSpPr>
        <p:sp>
          <p:nvSpPr>
            <p:cNvPr id="34820" name="Rectangle 4"/>
            <p:cNvSpPr>
              <a:spLocks noChangeArrowheads="1"/>
            </p:cNvSpPr>
            <p:nvPr/>
          </p:nvSpPr>
          <p:spPr bwMode="auto">
            <a:xfrm>
              <a:off x="3776" y="3330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567-890</a:t>
              </a:r>
            </a:p>
          </p:txBody>
        </p:sp>
        <p:sp>
          <p:nvSpPr>
            <p:cNvPr id="34821" name="Rectangle 5"/>
            <p:cNvSpPr>
              <a:spLocks noChangeArrowheads="1"/>
            </p:cNvSpPr>
            <p:nvPr/>
          </p:nvSpPr>
          <p:spPr bwMode="auto">
            <a:xfrm>
              <a:off x="3776" y="3081"/>
              <a:ext cx="89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123-456</a:t>
              </a:r>
            </a:p>
          </p:txBody>
        </p:sp>
        <p:sp>
          <p:nvSpPr>
            <p:cNvPr id="34822" name="Rectangle 6"/>
            <p:cNvSpPr>
              <a:spLocks noChangeArrowheads="1"/>
            </p:cNvSpPr>
            <p:nvPr/>
          </p:nvSpPr>
          <p:spPr bwMode="auto">
            <a:xfrm>
              <a:off x="3776" y="2832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Pro_SSN</a:t>
              </a:r>
            </a:p>
          </p:txBody>
        </p:sp>
        <p:sp>
          <p:nvSpPr>
            <p:cNvPr id="34823" name="Rectangle 7"/>
            <p:cNvSpPr>
              <a:spLocks noChangeArrowheads="1"/>
            </p:cNvSpPr>
            <p:nvPr/>
          </p:nvSpPr>
          <p:spPr bwMode="auto">
            <a:xfrm>
              <a:off x="1984" y="3330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Physics</a:t>
              </a:r>
            </a:p>
          </p:txBody>
        </p:sp>
        <p:sp>
          <p:nvSpPr>
            <p:cNvPr id="34824" name="Rectangle 8"/>
            <p:cNvSpPr>
              <a:spLocks noChangeArrowheads="1"/>
            </p:cNvSpPr>
            <p:nvPr/>
          </p:nvSpPr>
          <p:spPr bwMode="auto">
            <a:xfrm>
              <a:off x="1984" y="3081"/>
              <a:ext cx="89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Economy</a:t>
              </a:r>
            </a:p>
          </p:txBody>
        </p:sp>
        <p:sp>
          <p:nvSpPr>
            <p:cNvPr id="34825" name="Rectangle 9"/>
            <p:cNvSpPr>
              <a:spLocks noChangeArrowheads="1"/>
            </p:cNvSpPr>
            <p:nvPr/>
          </p:nvSpPr>
          <p:spPr bwMode="auto">
            <a:xfrm>
              <a:off x="1984" y="2832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Major</a:t>
              </a:r>
            </a:p>
          </p:txBody>
        </p:sp>
        <p:sp>
          <p:nvSpPr>
            <p:cNvPr id="34826" name="Rectangle 10"/>
            <p:cNvSpPr>
              <a:spLocks noChangeArrowheads="1"/>
            </p:cNvSpPr>
            <p:nvPr/>
          </p:nvSpPr>
          <p:spPr bwMode="auto">
            <a:xfrm>
              <a:off x="2880" y="3330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4.0</a:t>
              </a:r>
            </a:p>
          </p:txBody>
        </p:sp>
        <p:sp>
          <p:nvSpPr>
            <p:cNvPr id="34827" name="Rectangle 11"/>
            <p:cNvSpPr>
              <a:spLocks noChangeArrowheads="1"/>
            </p:cNvSpPr>
            <p:nvPr/>
          </p:nvSpPr>
          <p:spPr bwMode="auto">
            <a:xfrm>
              <a:off x="2880" y="3081"/>
              <a:ext cx="89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-4.0</a:t>
              </a:r>
            </a:p>
          </p:txBody>
        </p:sp>
        <p:sp>
          <p:nvSpPr>
            <p:cNvPr id="34828" name="Rectangle 12"/>
            <p:cNvSpPr>
              <a:spLocks noChangeArrowheads="1"/>
            </p:cNvSpPr>
            <p:nvPr/>
          </p:nvSpPr>
          <p:spPr bwMode="auto">
            <a:xfrm>
              <a:off x="2880" y="2832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GPA</a:t>
              </a:r>
            </a:p>
          </p:txBody>
        </p:sp>
        <p:sp>
          <p:nvSpPr>
            <p:cNvPr id="34829" name="Rectangle 13"/>
            <p:cNvSpPr>
              <a:spLocks noChangeArrowheads="1"/>
            </p:cNvSpPr>
            <p:nvPr/>
          </p:nvSpPr>
          <p:spPr bwMode="auto">
            <a:xfrm>
              <a:off x="4672" y="3330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Fall 2005</a:t>
              </a:r>
            </a:p>
          </p:txBody>
        </p:sp>
        <p:sp>
          <p:nvSpPr>
            <p:cNvPr id="34830" name="Rectangle 14"/>
            <p:cNvSpPr>
              <a:spLocks noChangeArrowheads="1"/>
            </p:cNvSpPr>
            <p:nvPr/>
          </p:nvSpPr>
          <p:spPr bwMode="auto">
            <a:xfrm>
              <a:off x="4672" y="3081"/>
              <a:ext cx="89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Fall 2006</a:t>
              </a:r>
            </a:p>
          </p:txBody>
        </p:sp>
        <p:sp>
          <p:nvSpPr>
            <p:cNvPr id="34831" name="Rectangle 15"/>
            <p:cNvSpPr>
              <a:spLocks noChangeArrowheads="1"/>
            </p:cNvSpPr>
            <p:nvPr/>
          </p:nvSpPr>
          <p:spPr bwMode="auto">
            <a:xfrm>
              <a:off x="4672" y="2832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Ad_Sem</a:t>
              </a:r>
            </a:p>
          </p:txBody>
        </p:sp>
        <p:sp>
          <p:nvSpPr>
            <p:cNvPr id="34832" name="Rectangle 16"/>
            <p:cNvSpPr>
              <a:spLocks noChangeArrowheads="1"/>
            </p:cNvSpPr>
            <p:nvPr/>
          </p:nvSpPr>
          <p:spPr bwMode="auto">
            <a:xfrm>
              <a:off x="1088" y="3330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Lisa</a:t>
              </a:r>
            </a:p>
          </p:txBody>
        </p:sp>
        <p:sp>
          <p:nvSpPr>
            <p:cNvPr id="34833" name="Rectangle 17"/>
            <p:cNvSpPr>
              <a:spLocks noChangeArrowheads="1"/>
            </p:cNvSpPr>
            <p:nvPr/>
          </p:nvSpPr>
          <p:spPr bwMode="auto">
            <a:xfrm>
              <a:off x="192" y="3330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8888</a:t>
              </a:r>
            </a:p>
          </p:txBody>
        </p:sp>
        <p:sp>
          <p:nvSpPr>
            <p:cNvPr id="34834" name="Rectangle 18"/>
            <p:cNvSpPr>
              <a:spLocks noChangeArrowheads="1"/>
            </p:cNvSpPr>
            <p:nvPr/>
          </p:nvSpPr>
          <p:spPr bwMode="auto">
            <a:xfrm>
              <a:off x="1088" y="3081"/>
              <a:ext cx="89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Bart</a:t>
              </a:r>
            </a:p>
          </p:txBody>
        </p:sp>
        <p:sp>
          <p:nvSpPr>
            <p:cNvPr id="34835" name="Rectangle 19"/>
            <p:cNvSpPr>
              <a:spLocks noChangeArrowheads="1"/>
            </p:cNvSpPr>
            <p:nvPr/>
          </p:nvSpPr>
          <p:spPr bwMode="auto">
            <a:xfrm>
              <a:off x="192" y="3081"/>
              <a:ext cx="89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9999</a:t>
              </a:r>
            </a:p>
          </p:txBody>
        </p:sp>
        <p:sp>
          <p:nvSpPr>
            <p:cNvPr id="34836" name="Rectangle 20"/>
            <p:cNvSpPr>
              <a:spLocks noChangeArrowheads="1"/>
            </p:cNvSpPr>
            <p:nvPr/>
          </p:nvSpPr>
          <p:spPr bwMode="auto">
            <a:xfrm>
              <a:off x="1088" y="2832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Name</a:t>
              </a:r>
            </a:p>
          </p:txBody>
        </p:sp>
        <p:sp>
          <p:nvSpPr>
            <p:cNvPr id="34837" name="Rectangle 21"/>
            <p:cNvSpPr>
              <a:spLocks noChangeArrowheads="1"/>
            </p:cNvSpPr>
            <p:nvPr/>
          </p:nvSpPr>
          <p:spPr bwMode="auto">
            <a:xfrm>
              <a:off x="192" y="2832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SID</a:t>
              </a:r>
            </a:p>
          </p:txBody>
        </p:sp>
        <p:sp>
          <p:nvSpPr>
            <p:cNvPr id="34838" name="Line 22"/>
            <p:cNvSpPr>
              <a:spLocks noChangeShapeType="1"/>
            </p:cNvSpPr>
            <p:nvPr/>
          </p:nvSpPr>
          <p:spPr bwMode="auto">
            <a:xfrm>
              <a:off x="192" y="2832"/>
              <a:ext cx="53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39" name="Line 23"/>
            <p:cNvSpPr>
              <a:spLocks noChangeShapeType="1"/>
            </p:cNvSpPr>
            <p:nvPr/>
          </p:nvSpPr>
          <p:spPr bwMode="auto">
            <a:xfrm>
              <a:off x="192" y="3081"/>
              <a:ext cx="53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40" name="Line 24"/>
            <p:cNvSpPr>
              <a:spLocks noChangeShapeType="1"/>
            </p:cNvSpPr>
            <p:nvPr/>
          </p:nvSpPr>
          <p:spPr bwMode="auto">
            <a:xfrm>
              <a:off x="192" y="3330"/>
              <a:ext cx="53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41" name="Line 25"/>
            <p:cNvSpPr>
              <a:spLocks noChangeShapeType="1"/>
            </p:cNvSpPr>
            <p:nvPr/>
          </p:nvSpPr>
          <p:spPr bwMode="auto">
            <a:xfrm>
              <a:off x="192" y="3579"/>
              <a:ext cx="53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42" name="Line 26"/>
            <p:cNvSpPr>
              <a:spLocks noChangeShapeType="1"/>
            </p:cNvSpPr>
            <p:nvPr/>
          </p:nvSpPr>
          <p:spPr bwMode="auto">
            <a:xfrm>
              <a:off x="192" y="2832"/>
              <a:ext cx="0" cy="74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43" name="Line 27"/>
            <p:cNvSpPr>
              <a:spLocks noChangeShapeType="1"/>
            </p:cNvSpPr>
            <p:nvPr/>
          </p:nvSpPr>
          <p:spPr bwMode="auto">
            <a:xfrm>
              <a:off x="1088" y="2832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44" name="Line 28"/>
            <p:cNvSpPr>
              <a:spLocks noChangeShapeType="1"/>
            </p:cNvSpPr>
            <p:nvPr/>
          </p:nvSpPr>
          <p:spPr bwMode="auto">
            <a:xfrm>
              <a:off x="1984" y="2832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45" name="Line 29"/>
            <p:cNvSpPr>
              <a:spLocks noChangeShapeType="1"/>
            </p:cNvSpPr>
            <p:nvPr/>
          </p:nvSpPr>
          <p:spPr bwMode="auto">
            <a:xfrm>
              <a:off x="5568" y="2832"/>
              <a:ext cx="0" cy="74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46" name="Line 30"/>
            <p:cNvSpPr>
              <a:spLocks noChangeShapeType="1"/>
            </p:cNvSpPr>
            <p:nvPr/>
          </p:nvSpPr>
          <p:spPr bwMode="auto">
            <a:xfrm>
              <a:off x="3776" y="2832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47" name="Line 31"/>
            <p:cNvSpPr>
              <a:spLocks noChangeShapeType="1"/>
            </p:cNvSpPr>
            <p:nvPr/>
          </p:nvSpPr>
          <p:spPr bwMode="auto">
            <a:xfrm>
              <a:off x="2880" y="2832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48" name="Line 32"/>
            <p:cNvSpPr>
              <a:spLocks noChangeShapeType="1"/>
            </p:cNvSpPr>
            <p:nvPr/>
          </p:nvSpPr>
          <p:spPr bwMode="auto">
            <a:xfrm>
              <a:off x="4672" y="2832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49" name="Rectangle 33"/>
            <p:cNvSpPr>
              <a:spLocks noChangeArrowheads="1"/>
            </p:cNvSpPr>
            <p:nvPr/>
          </p:nvSpPr>
          <p:spPr bwMode="auto">
            <a:xfrm>
              <a:off x="912" y="1296"/>
              <a:ext cx="72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50" name="Text Box 34"/>
            <p:cNvSpPr txBox="1">
              <a:spLocks noChangeArrowheads="1"/>
            </p:cNvSpPr>
            <p:nvPr/>
          </p:nvSpPr>
          <p:spPr bwMode="auto">
            <a:xfrm>
              <a:off x="960" y="1344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Student</a:t>
              </a:r>
            </a:p>
          </p:txBody>
        </p:sp>
        <p:sp>
          <p:nvSpPr>
            <p:cNvPr id="34851" name="Oval 35"/>
            <p:cNvSpPr>
              <a:spLocks noChangeArrowheads="1"/>
            </p:cNvSpPr>
            <p:nvPr/>
          </p:nvSpPr>
          <p:spPr bwMode="auto">
            <a:xfrm>
              <a:off x="1200" y="768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52" name="Oval 36"/>
            <p:cNvSpPr>
              <a:spLocks noChangeArrowheads="1"/>
            </p:cNvSpPr>
            <p:nvPr/>
          </p:nvSpPr>
          <p:spPr bwMode="auto">
            <a:xfrm>
              <a:off x="192" y="768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53" name="Oval 37"/>
            <p:cNvSpPr>
              <a:spLocks noChangeArrowheads="1"/>
            </p:cNvSpPr>
            <p:nvPr/>
          </p:nvSpPr>
          <p:spPr bwMode="auto">
            <a:xfrm>
              <a:off x="192" y="1824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54" name="Oval 38"/>
            <p:cNvSpPr>
              <a:spLocks noChangeArrowheads="1"/>
            </p:cNvSpPr>
            <p:nvPr/>
          </p:nvSpPr>
          <p:spPr bwMode="auto">
            <a:xfrm>
              <a:off x="1440" y="1872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55" name="Line 39"/>
            <p:cNvSpPr>
              <a:spLocks noChangeShapeType="1"/>
            </p:cNvSpPr>
            <p:nvPr/>
          </p:nvSpPr>
          <p:spPr bwMode="auto">
            <a:xfrm>
              <a:off x="576" y="1104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56" name="Line 40"/>
            <p:cNvSpPr>
              <a:spLocks noChangeShapeType="1"/>
            </p:cNvSpPr>
            <p:nvPr/>
          </p:nvSpPr>
          <p:spPr bwMode="auto">
            <a:xfrm flipH="1">
              <a:off x="1296" y="1104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57" name="Line 41"/>
            <p:cNvSpPr>
              <a:spLocks noChangeShapeType="1"/>
            </p:cNvSpPr>
            <p:nvPr/>
          </p:nvSpPr>
          <p:spPr bwMode="auto">
            <a:xfrm flipH="1" flipV="1">
              <a:off x="1392" y="1584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58" name="Line 42"/>
            <p:cNvSpPr>
              <a:spLocks noChangeShapeType="1"/>
            </p:cNvSpPr>
            <p:nvPr/>
          </p:nvSpPr>
          <p:spPr bwMode="auto">
            <a:xfrm flipV="1">
              <a:off x="720" y="1584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59" name="Text Box 43"/>
            <p:cNvSpPr txBox="1">
              <a:spLocks noChangeArrowheads="1"/>
            </p:cNvSpPr>
            <p:nvPr/>
          </p:nvSpPr>
          <p:spPr bwMode="auto">
            <a:xfrm>
              <a:off x="336" y="816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SID</a:t>
              </a:r>
            </a:p>
          </p:txBody>
        </p:sp>
        <p:sp>
          <p:nvSpPr>
            <p:cNvPr id="34860" name="Text Box 44"/>
            <p:cNvSpPr txBox="1">
              <a:spLocks noChangeArrowheads="1"/>
            </p:cNvSpPr>
            <p:nvPr/>
          </p:nvSpPr>
          <p:spPr bwMode="auto">
            <a:xfrm>
              <a:off x="1296" y="816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Name</a:t>
              </a:r>
            </a:p>
          </p:txBody>
        </p:sp>
        <p:sp>
          <p:nvSpPr>
            <p:cNvPr id="34861" name="Text Box 45"/>
            <p:cNvSpPr txBox="1">
              <a:spLocks noChangeArrowheads="1"/>
            </p:cNvSpPr>
            <p:nvPr/>
          </p:nvSpPr>
          <p:spPr bwMode="auto">
            <a:xfrm>
              <a:off x="288" y="1872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Major</a:t>
              </a:r>
            </a:p>
          </p:txBody>
        </p:sp>
        <p:sp>
          <p:nvSpPr>
            <p:cNvPr id="34862" name="Text Box 46"/>
            <p:cNvSpPr txBox="1">
              <a:spLocks noChangeArrowheads="1"/>
            </p:cNvSpPr>
            <p:nvPr/>
          </p:nvSpPr>
          <p:spPr bwMode="auto">
            <a:xfrm>
              <a:off x="1584" y="1920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GPA</a:t>
              </a:r>
            </a:p>
          </p:txBody>
        </p:sp>
        <p:sp>
          <p:nvSpPr>
            <p:cNvPr id="34863" name="AutoShape 47"/>
            <p:cNvSpPr>
              <a:spLocks noChangeArrowheads="1"/>
            </p:cNvSpPr>
            <p:nvPr/>
          </p:nvSpPr>
          <p:spPr bwMode="auto">
            <a:xfrm>
              <a:off x="2352" y="1200"/>
              <a:ext cx="1056" cy="480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64" name="Rectangle 48"/>
            <p:cNvSpPr>
              <a:spLocks noChangeArrowheads="1"/>
            </p:cNvSpPr>
            <p:nvPr/>
          </p:nvSpPr>
          <p:spPr bwMode="auto">
            <a:xfrm>
              <a:off x="4128" y="1296"/>
              <a:ext cx="76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65" name="Oval 49"/>
            <p:cNvSpPr>
              <a:spLocks noChangeArrowheads="1"/>
            </p:cNvSpPr>
            <p:nvPr/>
          </p:nvSpPr>
          <p:spPr bwMode="auto">
            <a:xfrm>
              <a:off x="4608" y="768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66" name="Text Box 50"/>
            <p:cNvSpPr txBox="1">
              <a:spLocks noChangeArrowheads="1"/>
            </p:cNvSpPr>
            <p:nvPr/>
          </p:nvSpPr>
          <p:spPr bwMode="auto">
            <a:xfrm>
              <a:off x="4704" y="816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SSN</a:t>
              </a:r>
            </a:p>
          </p:txBody>
        </p:sp>
        <p:sp>
          <p:nvSpPr>
            <p:cNvPr id="34867" name="Line 51"/>
            <p:cNvSpPr>
              <a:spLocks noChangeShapeType="1"/>
            </p:cNvSpPr>
            <p:nvPr/>
          </p:nvSpPr>
          <p:spPr bwMode="auto">
            <a:xfrm flipH="1">
              <a:off x="4560" y="1104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68" name="AutoShape 52"/>
            <p:cNvSpPr>
              <a:spLocks noChangeArrowheads="1"/>
            </p:cNvSpPr>
            <p:nvPr/>
          </p:nvSpPr>
          <p:spPr bwMode="auto">
            <a:xfrm>
              <a:off x="2256" y="1920"/>
              <a:ext cx="1200" cy="7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69" name="Text Box 53"/>
            <p:cNvSpPr txBox="1">
              <a:spLocks noChangeArrowheads="1"/>
            </p:cNvSpPr>
            <p:nvPr/>
          </p:nvSpPr>
          <p:spPr bwMode="auto">
            <a:xfrm>
              <a:off x="4176" y="1344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Professor</a:t>
              </a:r>
            </a:p>
          </p:txBody>
        </p:sp>
        <p:sp>
          <p:nvSpPr>
            <p:cNvPr id="34870" name="Text Box 54"/>
            <p:cNvSpPr txBox="1">
              <a:spLocks noChangeArrowheads="1"/>
            </p:cNvSpPr>
            <p:nvPr/>
          </p:nvSpPr>
          <p:spPr bwMode="auto">
            <a:xfrm>
              <a:off x="240" y="3888"/>
              <a:ext cx="52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* Primary key of this table is </a:t>
              </a:r>
              <a:r>
                <a:rPr kumimoji="1" lang="en-US" altLang="zh-TW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SID</a:t>
              </a: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 </a:t>
              </a:r>
            </a:p>
          </p:txBody>
        </p:sp>
        <p:sp>
          <p:nvSpPr>
            <p:cNvPr id="34871" name="Line 55"/>
            <p:cNvSpPr>
              <a:spLocks noChangeShapeType="1"/>
            </p:cNvSpPr>
            <p:nvPr/>
          </p:nvSpPr>
          <p:spPr bwMode="auto">
            <a:xfrm>
              <a:off x="3408" y="14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72" name="Oval 56"/>
            <p:cNvSpPr>
              <a:spLocks noChangeArrowheads="1"/>
            </p:cNvSpPr>
            <p:nvPr/>
          </p:nvSpPr>
          <p:spPr bwMode="auto">
            <a:xfrm>
              <a:off x="2880" y="624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73" name="Text Box 57"/>
            <p:cNvSpPr txBox="1">
              <a:spLocks noChangeArrowheads="1"/>
            </p:cNvSpPr>
            <p:nvPr/>
          </p:nvSpPr>
          <p:spPr bwMode="auto">
            <a:xfrm>
              <a:off x="2832" y="672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Semester</a:t>
              </a:r>
            </a:p>
          </p:txBody>
        </p:sp>
        <p:sp>
          <p:nvSpPr>
            <p:cNvPr id="34874" name="Line 58"/>
            <p:cNvSpPr>
              <a:spLocks noChangeShapeType="1"/>
            </p:cNvSpPr>
            <p:nvPr/>
          </p:nvSpPr>
          <p:spPr bwMode="auto">
            <a:xfrm flipV="1">
              <a:off x="2976" y="960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75" name="Oval 59"/>
            <p:cNvSpPr>
              <a:spLocks noChangeArrowheads="1"/>
            </p:cNvSpPr>
            <p:nvPr/>
          </p:nvSpPr>
          <p:spPr bwMode="auto">
            <a:xfrm>
              <a:off x="4704" y="1920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76" name="Text Box 60"/>
            <p:cNvSpPr txBox="1">
              <a:spLocks noChangeArrowheads="1"/>
            </p:cNvSpPr>
            <p:nvPr/>
          </p:nvSpPr>
          <p:spPr bwMode="auto">
            <a:xfrm>
              <a:off x="4752" y="1968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Name</a:t>
              </a:r>
            </a:p>
          </p:txBody>
        </p:sp>
        <p:sp>
          <p:nvSpPr>
            <p:cNvPr id="34877" name="Line 61"/>
            <p:cNvSpPr>
              <a:spLocks noChangeShapeType="1"/>
            </p:cNvSpPr>
            <p:nvPr/>
          </p:nvSpPr>
          <p:spPr bwMode="auto">
            <a:xfrm>
              <a:off x="4752" y="1632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78" name="Line 62"/>
            <p:cNvSpPr>
              <a:spLocks noChangeShapeType="1"/>
            </p:cNvSpPr>
            <p:nvPr/>
          </p:nvSpPr>
          <p:spPr bwMode="auto">
            <a:xfrm flipH="1">
              <a:off x="1632" y="1392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79" name="Text Box 63"/>
            <p:cNvSpPr txBox="1">
              <a:spLocks noChangeArrowheads="1"/>
            </p:cNvSpPr>
            <p:nvPr/>
          </p:nvSpPr>
          <p:spPr bwMode="auto">
            <a:xfrm>
              <a:off x="1920" y="816"/>
              <a:ext cx="110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N:1 Relationship</a:t>
              </a:r>
            </a:p>
          </p:txBody>
        </p:sp>
        <p:sp>
          <p:nvSpPr>
            <p:cNvPr id="34880" name="Oval 64"/>
            <p:cNvSpPr>
              <a:spLocks noChangeArrowheads="1"/>
            </p:cNvSpPr>
            <p:nvPr/>
          </p:nvSpPr>
          <p:spPr bwMode="auto">
            <a:xfrm>
              <a:off x="3744" y="1920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81" name="Text Box 65"/>
            <p:cNvSpPr txBox="1">
              <a:spLocks noChangeArrowheads="1"/>
            </p:cNvSpPr>
            <p:nvPr/>
          </p:nvSpPr>
          <p:spPr bwMode="auto">
            <a:xfrm>
              <a:off x="3888" y="1968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Dept</a:t>
              </a:r>
            </a:p>
          </p:txBody>
        </p:sp>
        <p:sp>
          <p:nvSpPr>
            <p:cNvPr id="34882" name="Line 66"/>
            <p:cNvSpPr>
              <a:spLocks noChangeShapeType="1"/>
            </p:cNvSpPr>
            <p:nvPr/>
          </p:nvSpPr>
          <p:spPr bwMode="auto">
            <a:xfrm flipH="1">
              <a:off x="4128" y="163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83" name="Line 67"/>
            <p:cNvSpPr>
              <a:spLocks noChangeShapeType="1"/>
            </p:cNvSpPr>
            <p:nvPr/>
          </p:nvSpPr>
          <p:spPr bwMode="auto">
            <a:xfrm>
              <a:off x="1632" y="1488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4884" name="Text Box 68"/>
            <p:cNvSpPr txBox="1">
              <a:spLocks noChangeArrowheads="1"/>
            </p:cNvSpPr>
            <p:nvPr/>
          </p:nvSpPr>
          <p:spPr bwMode="auto">
            <a:xfrm>
              <a:off x="2592" y="1296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Advisor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One-to-one Relationship Set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7848600" cy="4876800"/>
          </a:xfrm>
        </p:spPr>
        <p:txBody>
          <a:bodyPr/>
          <a:lstStyle/>
          <a:p>
            <a:r>
              <a:rPr lang="en-US" altLang="zh-TW" sz="2400" u="sng" dirty="0">
                <a:ea typeface="PMingLiU" pitchFamily="18" charset="-120"/>
              </a:rPr>
              <a:t>For </a:t>
            </a:r>
            <a:r>
              <a:rPr lang="en-US" altLang="zh-TW" sz="2400" b="1" u="sng" dirty="0">
                <a:solidFill>
                  <a:srgbClr val="FF0000"/>
                </a:solidFill>
                <a:ea typeface="PMingLiU" pitchFamily="18" charset="-120"/>
              </a:rPr>
              <a:t>one-to-one r</a:t>
            </a:r>
            <a:r>
              <a:rPr lang="en-US" altLang="zh-TW" sz="2400" u="sng" dirty="0">
                <a:ea typeface="PMingLiU" pitchFamily="18" charset="-120"/>
              </a:rPr>
              <a:t>elationship </a:t>
            </a:r>
            <a:r>
              <a:rPr lang="en-US" altLang="zh-TW" sz="2400" b="1" u="sng" dirty="0">
                <a:ea typeface="PMingLiU" pitchFamily="18" charset="-120"/>
              </a:rPr>
              <a:t>w/out total </a:t>
            </a:r>
            <a:r>
              <a:rPr lang="en-US" altLang="zh-TW" sz="2400" u="sng" dirty="0">
                <a:ea typeface="PMingLiU" pitchFamily="18" charset="-120"/>
              </a:rPr>
              <a:t>participation</a:t>
            </a:r>
            <a:r>
              <a:rPr lang="en-US" altLang="zh-TW" sz="2400" dirty="0">
                <a:ea typeface="PMingLiU" pitchFamily="18" charset="-120"/>
              </a:rPr>
              <a:t> </a:t>
            </a:r>
          </a:p>
          <a:p>
            <a:pPr lvl="1"/>
            <a:r>
              <a:rPr lang="en-US" altLang="zh-TW" sz="2400" dirty="0">
                <a:ea typeface="PMingLiU" pitchFamily="18" charset="-120"/>
              </a:rPr>
              <a:t>Build a table with </a:t>
            </a:r>
            <a:r>
              <a:rPr lang="en-US" altLang="zh-TW" sz="2400" b="1" dirty="0">
                <a:ea typeface="PMingLiU" pitchFamily="18" charset="-120"/>
              </a:rPr>
              <a:t>two columns</a:t>
            </a:r>
            <a:r>
              <a:rPr lang="en-US" altLang="zh-TW" sz="2400" dirty="0">
                <a:ea typeface="PMingLiU" pitchFamily="18" charset="-120"/>
              </a:rPr>
              <a:t>, one column for each participating </a:t>
            </a:r>
            <a:r>
              <a:rPr lang="en-US" altLang="zh-TW" sz="2400" b="1" dirty="0">
                <a:ea typeface="PMingLiU" pitchFamily="18" charset="-120"/>
              </a:rPr>
              <a:t>entity set’s primary </a:t>
            </a:r>
            <a:r>
              <a:rPr lang="en-US" altLang="zh-TW" sz="2400" dirty="0">
                <a:ea typeface="PMingLiU" pitchFamily="18" charset="-120"/>
              </a:rPr>
              <a:t>key.  Add successive columns, one for each descriptive attributes of the relationship set (if any).</a:t>
            </a:r>
          </a:p>
          <a:p>
            <a:r>
              <a:rPr lang="en-US" altLang="zh-TW" sz="2400" u="sng" dirty="0">
                <a:ea typeface="PMingLiU" pitchFamily="18" charset="-120"/>
              </a:rPr>
              <a:t>For </a:t>
            </a:r>
            <a:r>
              <a:rPr lang="en-US" altLang="zh-TW" sz="2400" b="1" u="sng" dirty="0">
                <a:solidFill>
                  <a:srgbClr val="FF0000"/>
                </a:solidFill>
                <a:ea typeface="PMingLiU" pitchFamily="18" charset="-120"/>
              </a:rPr>
              <a:t>one-to-one</a:t>
            </a:r>
            <a:r>
              <a:rPr lang="en-US" altLang="zh-TW" sz="2400" u="sng" dirty="0">
                <a:ea typeface="PMingLiU" pitchFamily="18" charset="-120"/>
              </a:rPr>
              <a:t> relationship with </a:t>
            </a:r>
            <a:r>
              <a:rPr lang="en-US" altLang="zh-TW" sz="2400" b="1" u="sng" dirty="0">
                <a:ea typeface="PMingLiU" pitchFamily="18" charset="-120"/>
              </a:rPr>
              <a:t>one entity set having total participation</a:t>
            </a:r>
          </a:p>
          <a:p>
            <a:pPr lvl="1"/>
            <a:r>
              <a:rPr lang="en-US" altLang="zh-TW" sz="2400" dirty="0">
                <a:ea typeface="PMingLiU" pitchFamily="18" charset="-120"/>
              </a:rPr>
              <a:t>Augment </a:t>
            </a:r>
            <a:r>
              <a:rPr lang="en-US" altLang="zh-TW" sz="2400" b="1" dirty="0">
                <a:ea typeface="PMingLiU" pitchFamily="18" charset="-120"/>
              </a:rPr>
              <a:t>one extra column </a:t>
            </a:r>
            <a:r>
              <a:rPr lang="en-US" altLang="zh-TW" sz="2400" dirty="0">
                <a:ea typeface="PMingLiU" pitchFamily="18" charset="-120"/>
              </a:rPr>
              <a:t>on the right side of the table of the entity set </a:t>
            </a:r>
            <a:r>
              <a:rPr lang="en-US" altLang="zh-TW" sz="2400" b="1" dirty="0">
                <a:ea typeface="PMingLiU" pitchFamily="18" charset="-120"/>
              </a:rPr>
              <a:t>with total participation</a:t>
            </a:r>
            <a:r>
              <a:rPr lang="en-US" altLang="zh-TW" sz="2400" dirty="0">
                <a:ea typeface="PMingLiU" pitchFamily="18" charset="-120"/>
              </a:rPr>
              <a:t>, put in there the </a:t>
            </a:r>
            <a:r>
              <a:rPr lang="en-US" altLang="zh-TW" sz="2400" b="1" dirty="0">
                <a:ea typeface="PMingLiU" pitchFamily="18" charset="-120"/>
              </a:rPr>
              <a:t>primary key </a:t>
            </a:r>
            <a:r>
              <a:rPr lang="en-US" altLang="zh-TW" sz="2400" dirty="0">
                <a:ea typeface="PMingLiU" pitchFamily="18" charset="-120"/>
              </a:rPr>
              <a:t>of the entity set </a:t>
            </a:r>
            <a:r>
              <a:rPr lang="en-US" altLang="zh-TW" sz="2400" b="1" dirty="0">
                <a:ea typeface="PMingLiU" pitchFamily="18" charset="-120"/>
              </a:rPr>
              <a:t>without complete </a:t>
            </a:r>
            <a:r>
              <a:rPr lang="en-US" altLang="zh-TW" sz="2400" dirty="0">
                <a:ea typeface="PMingLiU" pitchFamily="18" charset="-120"/>
              </a:rPr>
              <a:t>participation as per to the relationship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>
                <a:solidFill>
                  <a:srgbClr val="FF0000"/>
                </a:solidFill>
                <a:ea typeface="PMingLiU" pitchFamily="18" charset="-120"/>
              </a:rPr>
              <a:t>One-to-One (W/out Total)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37891" name="Group 3"/>
          <p:cNvGrpSpPr>
            <a:grpSpLocks/>
          </p:cNvGrpSpPr>
          <p:nvPr/>
        </p:nvGrpSpPr>
        <p:grpSpPr bwMode="auto">
          <a:xfrm>
            <a:off x="704850" y="990600"/>
            <a:ext cx="8153400" cy="4919663"/>
            <a:chOff x="192" y="624"/>
            <a:chExt cx="5136" cy="3099"/>
          </a:xfrm>
        </p:grpSpPr>
        <p:sp>
          <p:nvSpPr>
            <p:cNvPr id="37892" name="Rectangle 4"/>
            <p:cNvSpPr>
              <a:spLocks noChangeArrowheads="1"/>
            </p:cNvSpPr>
            <p:nvPr/>
          </p:nvSpPr>
          <p:spPr bwMode="auto">
            <a:xfrm>
              <a:off x="3200" y="3474"/>
              <a:ext cx="102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5678</a:t>
              </a:r>
            </a:p>
          </p:txBody>
        </p:sp>
        <p:sp>
          <p:nvSpPr>
            <p:cNvPr id="37893" name="Rectangle 5"/>
            <p:cNvSpPr>
              <a:spLocks noChangeArrowheads="1"/>
            </p:cNvSpPr>
            <p:nvPr/>
          </p:nvSpPr>
          <p:spPr bwMode="auto">
            <a:xfrm>
              <a:off x="2176" y="3474"/>
              <a:ext cx="102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05</a:t>
              </a:r>
            </a:p>
          </p:txBody>
        </p:sp>
        <p:sp>
          <p:nvSpPr>
            <p:cNvPr id="37894" name="Rectangle 6"/>
            <p:cNvSpPr>
              <a:spLocks noChangeArrowheads="1"/>
            </p:cNvSpPr>
            <p:nvPr/>
          </p:nvSpPr>
          <p:spPr bwMode="auto">
            <a:xfrm>
              <a:off x="1152" y="3474"/>
              <a:ext cx="102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8888</a:t>
              </a:r>
            </a:p>
          </p:txBody>
        </p:sp>
        <p:sp>
          <p:nvSpPr>
            <p:cNvPr id="37895" name="Rectangle 7"/>
            <p:cNvSpPr>
              <a:spLocks noChangeArrowheads="1"/>
            </p:cNvSpPr>
            <p:nvPr/>
          </p:nvSpPr>
          <p:spPr bwMode="auto">
            <a:xfrm>
              <a:off x="3200" y="3225"/>
              <a:ext cx="1024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1234</a:t>
              </a:r>
            </a:p>
          </p:txBody>
        </p:sp>
        <p:sp>
          <p:nvSpPr>
            <p:cNvPr id="37896" name="Rectangle 8"/>
            <p:cNvSpPr>
              <a:spLocks noChangeArrowheads="1"/>
            </p:cNvSpPr>
            <p:nvPr/>
          </p:nvSpPr>
          <p:spPr bwMode="auto">
            <a:xfrm>
              <a:off x="2176" y="3225"/>
              <a:ext cx="1024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07</a:t>
              </a:r>
            </a:p>
          </p:txBody>
        </p:sp>
        <p:sp>
          <p:nvSpPr>
            <p:cNvPr id="37897" name="Rectangle 9"/>
            <p:cNvSpPr>
              <a:spLocks noChangeArrowheads="1"/>
            </p:cNvSpPr>
            <p:nvPr/>
          </p:nvSpPr>
          <p:spPr bwMode="auto">
            <a:xfrm>
              <a:off x="1152" y="3225"/>
              <a:ext cx="1024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9999</a:t>
              </a:r>
            </a:p>
          </p:txBody>
        </p:sp>
        <p:sp>
          <p:nvSpPr>
            <p:cNvPr id="37898" name="Rectangle 10"/>
            <p:cNvSpPr>
              <a:spLocks noChangeArrowheads="1"/>
            </p:cNvSpPr>
            <p:nvPr/>
          </p:nvSpPr>
          <p:spPr bwMode="auto">
            <a:xfrm>
              <a:off x="3200" y="2976"/>
              <a:ext cx="102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S_Degree</a:t>
              </a:r>
            </a:p>
          </p:txBody>
        </p:sp>
        <p:sp>
          <p:nvSpPr>
            <p:cNvPr id="37899" name="Rectangle 11"/>
            <p:cNvSpPr>
              <a:spLocks noChangeArrowheads="1"/>
            </p:cNvSpPr>
            <p:nvPr/>
          </p:nvSpPr>
          <p:spPr bwMode="auto">
            <a:xfrm>
              <a:off x="2176" y="2976"/>
              <a:ext cx="102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Maj_ID Co</a:t>
              </a:r>
            </a:p>
          </p:txBody>
        </p:sp>
        <p:sp>
          <p:nvSpPr>
            <p:cNvPr id="37900" name="Rectangle 12"/>
            <p:cNvSpPr>
              <a:spLocks noChangeArrowheads="1"/>
            </p:cNvSpPr>
            <p:nvPr/>
          </p:nvSpPr>
          <p:spPr bwMode="auto">
            <a:xfrm>
              <a:off x="1152" y="2976"/>
              <a:ext cx="102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SID</a:t>
              </a:r>
            </a:p>
          </p:txBody>
        </p:sp>
        <p:sp>
          <p:nvSpPr>
            <p:cNvPr id="37901" name="Line 13"/>
            <p:cNvSpPr>
              <a:spLocks noChangeShapeType="1"/>
            </p:cNvSpPr>
            <p:nvPr/>
          </p:nvSpPr>
          <p:spPr bwMode="auto">
            <a:xfrm>
              <a:off x="1152" y="2976"/>
              <a:ext cx="30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02" name="Line 14"/>
            <p:cNvSpPr>
              <a:spLocks noChangeShapeType="1"/>
            </p:cNvSpPr>
            <p:nvPr/>
          </p:nvSpPr>
          <p:spPr bwMode="auto">
            <a:xfrm>
              <a:off x="1152" y="3225"/>
              <a:ext cx="30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03" name="Line 15"/>
            <p:cNvSpPr>
              <a:spLocks noChangeShapeType="1"/>
            </p:cNvSpPr>
            <p:nvPr/>
          </p:nvSpPr>
          <p:spPr bwMode="auto">
            <a:xfrm>
              <a:off x="1152" y="3474"/>
              <a:ext cx="30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04" name="Line 16"/>
            <p:cNvSpPr>
              <a:spLocks noChangeShapeType="1"/>
            </p:cNvSpPr>
            <p:nvPr/>
          </p:nvSpPr>
          <p:spPr bwMode="auto">
            <a:xfrm>
              <a:off x="1152" y="3723"/>
              <a:ext cx="30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05" name="Line 17"/>
            <p:cNvSpPr>
              <a:spLocks noChangeShapeType="1"/>
            </p:cNvSpPr>
            <p:nvPr/>
          </p:nvSpPr>
          <p:spPr bwMode="auto">
            <a:xfrm>
              <a:off x="1152" y="2976"/>
              <a:ext cx="0" cy="74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06" name="Line 18"/>
            <p:cNvSpPr>
              <a:spLocks noChangeShapeType="1"/>
            </p:cNvSpPr>
            <p:nvPr/>
          </p:nvSpPr>
          <p:spPr bwMode="auto">
            <a:xfrm>
              <a:off x="2176" y="2976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07" name="Line 19"/>
            <p:cNvSpPr>
              <a:spLocks noChangeShapeType="1"/>
            </p:cNvSpPr>
            <p:nvPr/>
          </p:nvSpPr>
          <p:spPr bwMode="auto">
            <a:xfrm>
              <a:off x="3200" y="2976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08" name="Line 20"/>
            <p:cNvSpPr>
              <a:spLocks noChangeShapeType="1"/>
            </p:cNvSpPr>
            <p:nvPr/>
          </p:nvSpPr>
          <p:spPr bwMode="auto">
            <a:xfrm>
              <a:off x="4224" y="2976"/>
              <a:ext cx="0" cy="74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09" name="Rectangle 21"/>
            <p:cNvSpPr>
              <a:spLocks noChangeArrowheads="1"/>
            </p:cNvSpPr>
            <p:nvPr/>
          </p:nvSpPr>
          <p:spPr bwMode="auto">
            <a:xfrm>
              <a:off x="912" y="1296"/>
              <a:ext cx="72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10" name="Text Box 22"/>
            <p:cNvSpPr txBox="1">
              <a:spLocks noChangeArrowheads="1"/>
            </p:cNvSpPr>
            <p:nvPr/>
          </p:nvSpPr>
          <p:spPr bwMode="auto">
            <a:xfrm>
              <a:off x="960" y="1344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Student</a:t>
              </a:r>
            </a:p>
          </p:txBody>
        </p:sp>
        <p:sp>
          <p:nvSpPr>
            <p:cNvPr id="37911" name="Oval 23"/>
            <p:cNvSpPr>
              <a:spLocks noChangeArrowheads="1"/>
            </p:cNvSpPr>
            <p:nvPr/>
          </p:nvSpPr>
          <p:spPr bwMode="auto">
            <a:xfrm>
              <a:off x="1200" y="768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12" name="Oval 24"/>
            <p:cNvSpPr>
              <a:spLocks noChangeArrowheads="1"/>
            </p:cNvSpPr>
            <p:nvPr/>
          </p:nvSpPr>
          <p:spPr bwMode="auto">
            <a:xfrm>
              <a:off x="192" y="768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13" name="Oval 25"/>
            <p:cNvSpPr>
              <a:spLocks noChangeArrowheads="1"/>
            </p:cNvSpPr>
            <p:nvPr/>
          </p:nvSpPr>
          <p:spPr bwMode="auto">
            <a:xfrm>
              <a:off x="192" y="1824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14" name="Oval 26"/>
            <p:cNvSpPr>
              <a:spLocks noChangeArrowheads="1"/>
            </p:cNvSpPr>
            <p:nvPr/>
          </p:nvSpPr>
          <p:spPr bwMode="auto">
            <a:xfrm>
              <a:off x="1440" y="1872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15" name="Line 27"/>
            <p:cNvSpPr>
              <a:spLocks noChangeShapeType="1"/>
            </p:cNvSpPr>
            <p:nvPr/>
          </p:nvSpPr>
          <p:spPr bwMode="auto">
            <a:xfrm>
              <a:off x="576" y="1104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16" name="Line 28"/>
            <p:cNvSpPr>
              <a:spLocks noChangeShapeType="1"/>
            </p:cNvSpPr>
            <p:nvPr/>
          </p:nvSpPr>
          <p:spPr bwMode="auto">
            <a:xfrm flipH="1">
              <a:off x="1296" y="1104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17" name="Line 29"/>
            <p:cNvSpPr>
              <a:spLocks noChangeShapeType="1"/>
            </p:cNvSpPr>
            <p:nvPr/>
          </p:nvSpPr>
          <p:spPr bwMode="auto">
            <a:xfrm flipH="1" flipV="1">
              <a:off x="1392" y="1584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18" name="Line 30"/>
            <p:cNvSpPr>
              <a:spLocks noChangeShapeType="1"/>
            </p:cNvSpPr>
            <p:nvPr/>
          </p:nvSpPr>
          <p:spPr bwMode="auto">
            <a:xfrm flipV="1">
              <a:off x="720" y="1584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19" name="Text Box 31"/>
            <p:cNvSpPr txBox="1">
              <a:spLocks noChangeArrowheads="1"/>
            </p:cNvSpPr>
            <p:nvPr/>
          </p:nvSpPr>
          <p:spPr bwMode="auto">
            <a:xfrm>
              <a:off x="336" y="816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SID</a:t>
              </a:r>
            </a:p>
          </p:txBody>
        </p:sp>
        <p:sp>
          <p:nvSpPr>
            <p:cNvPr id="37920" name="Text Box 32"/>
            <p:cNvSpPr txBox="1">
              <a:spLocks noChangeArrowheads="1"/>
            </p:cNvSpPr>
            <p:nvPr/>
          </p:nvSpPr>
          <p:spPr bwMode="auto">
            <a:xfrm>
              <a:off x="1296" y="816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Name</a:t>
              </a:r>
            </a:p>
          </p:txBody>
        </p:sp>
        <p:sp>
          <p:nvSpPr>
            <p:cNvPr id="37921" name="Text Box 33"/>
            <p:cNvSpPr txBox="1">
              <a:spLocks noChangeArrowheads="1"/>
            </p:cNvSpPr>
            <p:nvPr/>
          </p:nvSpPr>
          <p:spPr bwMode="auto">
            <a:xfrm>
              <a:off x="288" y="1872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Major</a:t>
              </a:r>
            </a:p>
          </p:txBody>
        </p:sp>
        <p:sp>
          <p:nvSpPr>
            <p:cNvPr id="37922" name="Text Box 34"/>
            <p:cNvSpPr txBox="1">
              <a:spLocks noChangeArrowheads="1"/>
            </p:cNvSpPr>
            <p:nvPr/>
          </p:nvSpPr>
          <p:spPr bwMode="auto">
            <a:xfrm>
              <a:off x="1584" y="1920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GPA</a:t>
              </a:r>
            </a:p>
          </p:txBody>
        </p:sp>
        <p:sp>
          <p:nvSpPr>
            <p:cNvPr id="37923" name="AutoShape 35"/>
            <p:cNvSpPr>
              <a:spLocks noChangeArrowheads="1"/>
            </p:cNvSpPr>
            <p:nvPr/>
          </p:nvSpPr>
          <p:spPr bwMode="auto">
            <a:xfrm>
              <a:off x="2352" y="1200"/>
              <a:ext cx="1056" cy="480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24" name="Rectangle 36"/>
            <p:cNvSpPr>
              <a:spLocks noChangeArrowheads="1"/>
            </p:cNvSpPr>
            <p:nvPr/>
          </p:nvSpPr>
          <p:spPr bwMode="auto">
            <a:xfrm>
              <a:off x="4128" y="1296"/>
              <a:ext cx="76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25" name="Oval 37"/>
            <p:cNvSpPr>
              <a:spLocks noChangeArrowheads="1"/>
            </p:cNvSpPr>
            <p:nvPr/>
          </p:nvSpPr>
          <p:spPr bwMode="auto">
            <a:xfrm>
              <a:off x="4608" y="768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26" name="Text Box 38"/>
            <p:cNvSpPr txBox="1">
              <a:spLocks noChangeArrowheads="1"/>
            </p:cNvSpPr>
            <p:nvPr/>
          </p:nvSpPr>
          <p:spPr bwMode="auto">
            <a:xfrm>
              <a:off x="4608" y="816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ID Code</a:t>
              </a:r>
            </a:p>
          </p:txBody>
        </p:sp>
        <p:sp>
          <p:nvSpPr>
            <p:cNvPr id="37927" name="Line 39"/>
            <p:cNvSpPr>
              <a:spLocks noChangeShapeType="1"/>
            </p:cNvSpPr>
            <p:nvPr/>
          </p:nvSpPr>
          <p:spPr bwMode="auto">
            <a:xfrm flipH="1">
              <a:off x="4560" y="1104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28" name="AutoShape 40"/>
            <p:cNvSpPr>
              <a:spLocks noChangeArrowheads="1"/>
            </p:cNvSpPr>
            <p:nvPr/>
          </p:nvSpPr>
          <p:spPr bwMode="auto">
            <a:xfrm>
              <a:off x="2256" y="1920"/>
              <a:ext cx="1200" cy="7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29" name="Line 41"/>
            <p:cNvSpPr>
              <a:spLocks noChangeShapeType="1"/>
            </p:cNvSpPr>
            <p:nvPr/>
          </p:nvSpPr>
          <p:spPr bwMode="auto">
            <a:xfrm flipH="1">
              <a:off x="1632" y="14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30" name="Text Box 42"/>
            <p:cNvSpPr txBox="1">
              <a:spLocks noChangeArrowheads="1"/>
            </p:cNvSpPr>
            <p:nvPr/>
          </p:nvSpPr>
          <p:spPr bwMode="auto">
            <a:xfrm>
              <a:off x="4272" y="1344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Major</a:t>
              </a:r>
            </a:p>
          </p:txBody>
        </p:sp>
        <p:sp>
          <p:nvSpPr>
            <p:cNvPr id="37931" name="Text Box 43"/>
            <p:cNvSpPr txBox="1">
              <a:spLocks noChangeArrowheads="1"/>
            </p:cNvSpPr>
            <p:nvPr/>
          </p:nvSpPr>
          <p:spPr bwMode="auto">
            <a:xfrm>
              <a:off x="2640" y="1344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study</a:t>
              </a:r>
            </a:p>
          </p:txBody>
        </p:sp>
        <p:sp>
          <p:nvSpPr>
            <p:cNvPr id="37932" name="Line 44"/>
            <p:cNvSpPr>
              <a:spLocks noChangeShapeType="1"/>
            </p:cNvSpPr>
            <p:nvPr/>
          </p:nvSpPr>
          <p:spPr bwMode="auto">
            <a:xfrm>
              <a:off x="3408" y="14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33" name="Oval 45"/>
            <p:cNvSpPr>
              <a:spLocks noChangeArrowheads="1"/>
            </p:cNvSpPr>
            <p:nvPr/>
          </p:nvSpPr>
          <p:spPr bwMode="auto">
            <a:xfrm>
              <a:off x="2880" y="624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7934" name="Text Box 46"/>
            <p:cNvSpPr txBox="1">
              <a:spLocks noChangeArrowheads="1"/>
            </p:cNvSpPr>
            <p:nvPr/>
          </p:nvSpPr>
          <p:spPr bwMode="auto">
            <a:xfrm>
              <a:off x="2928" y="672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Degree</a:t>
              </a:r>
            </a:p>
          </p:txBody>
        </p:sp>
        <p:sp>
          <p:nvSpPr>
            <p:cNvPr id="37935" name="Line 47"/>
            <p:cNvSpPr>
              <a:spLocks noChangeShapeType="1"/>
            </p:cNvSpPr>
            <p:nvPr/>
          </p:nvSpPr>
          <p:spPr bwMode="auto">
            <a:xfrm flipV="1">
              <a:off x="2976" y="960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>
                <a:solidFill>
                  <a:srgbClr val="FF0000"/>
                </a:solidFill>
                <a:ea typeface="PMingLiU" pitchFamily="18" charset="-120"/>
              </a:rPr>
              <a:t>One-to-One (Total Student side)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38915" name="Group 3"/>
          <p:cNvGrpSpPr>
            <a:grpSpLocks/>
          </p:cNvGrpSpPr>
          <p:nvPr/>
        </p:nvGrpSpPr>
        <p:grpSpPr bwMode="auto">
          <a:xfrm>
            <a:off x="361950" y="1028700"/>
            <a:ext cx="8534400" cy="5548313"/>
            <a:chOff x="192" y="624"/>
            <a:chExt cx="5376" cy="3495"/>
          </a:xfrm>
        </p:grpSpPr>
        <p:sp>
          <p:nvSpPr>
            <p:cNvPr id="38916" name="Rectangle 4"/>
            <p:cNvSpPr>
              <a:spLocks noChangeArrowheads="1"/>
            </p:cNvSpPr>
            <p:nvPr/>
          </p:nvSpPr>
          <p:spPr bwMode="auto">
            <a:xfrm>
              <a:off x="3776" y="3330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567-890</a:t>
              </a:r>
            </a:p>
          </p:txBody>
        </p:sp>
        <p:sp>
          <p:nvSpPr>
            <p:cNvPr id="38917" name="Rectangle 5"/>
            <p:cNvSpPr>
              <a:spLocks noChangeArrowheads="1"/>
            </p:cNvSpPr>
            <p:nvPr/>
          </p:nvSpPr>
          <p:spPr bwMode="auto">
            <a:xfrm>
              <a:off x="3776" y="3081"/>
              <a:ext cx="89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123-456</a:t>
              </a:r>
            </a:p>
          </p:txBody>
        </p:sp>
        <p:sp>
          <p:nvSpPr>
            <p:cNvPr id="38918" name="Rectangle 6"/>
            <p:cNvSpPr>
              <a:spLocks noChangeArrowheads="1"/>
            </p:cNvSpPr>
            <p:nvPr/>
          </p:nvSpPr>
          <p:spPr bwMode="auto">
            <a:xfrm>
              <a:off x="3776" y="2832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LP_S/N</a:t>
              </a:r>
            </a:p>
          </p:txBody>
        </p:sp>
        <p:sp>
          <p:nvSpPr>
            <p:cNvPr id="38919" name="Rectangle 7"/>
            <p:cNvSpPr>
              <a:spLocks noChangeArrowheads="1"/>
            </p:cNvSpPr>
            <p:nvPr/>
          </p:nvSpPr>
          <p:spPr bwMode="auto">
            <a:xfrm>
              <a:off x="1984" y="3330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Physics</a:t>
              </a:r>
            </a:p>
          </p:txBody>
        </p:sp>
        <p:sp>
          <p:nvSpPr>
            <p:cNvPr id="38920" name="Rectangle 8"/>
            <p:cNvSpPr>
              <a:spLocks noChangeArrowheads="1"/>
            </p:cNvSpPr>
            <p:nvPr/>
          </p:nvSpPr>
          <p:spPr bwMode="auto">
            <a:xfrm>
              <a:off x="1984" y="3081"/>
              <a:ext cx="89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Economy</a:t>
              </a:r>
            </a:p>
          </p:txBody>
        </p:sp>
        <p:sp>
          <p:nvSpPr>
            <p:cNvPr id="38921" name="Rectangle 9"/>
            <p:cNvSpPr>
              <a:spLocks noChangeArrowheads="1"/>
            </p:cNvSpPr>
            <p:nvPr/>
          </p:nvSpPr>
          <p:spPr bwMode="auto">
            <a:xfrm>
              <a:off x="1984" y="2832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Major</a:t>
              </a:r>
            </a:p>
          </p:txBody>
        </p:sp>
        <p:sp>
          <p:nvSpPr>
            <p:cNvPr id="38922" name="Rectangle 10"/>
            <p:cNvSpPr>
              <a:spLocks noChangeArrowheads="1"/>
            </p:cNvSpPr>
            <p:nvPr/>
          </p:nvSpPr>
          <p:spPr bwMode="auto">
            <a:xfrm>
              <a:off x="2880" y="3330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4.0</a:t>
              </a:r>
            </a:p>
          </p:txBody>
        </p:sp>
        <p:sp>
          <p:nvSpPr>
            <p:cNvPr id="38923" name="Rectangle 11"/>
            <p:cNvSpPr>
              <a:spLocks noChangeArrowheads="1"/>
            </p:cNvSpPr>
            <p:nvPr/>
          </p:nvSpPr>
          <p:spPr bwMode="auto">
            <a:xfrm>
              <a:off x="2880" y="3081"/>
              <a:ext cx="89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-4.0</a:t>
              </a:r>
            </a:p>
          </p:txBody>
        </p:sp>
        <p:sp>
          <p:nvSpPr>
            <p:cNvPr id="38924" name="Rectangle 12"/>
            <p:cNvSpPr>
              <a:spLocks noChangeArrowheads="1"/>
            </p:cNvSpPr>
            <p:nvPr/>
          </p:nvSpPr>
          <p:spPr bwMode="auto">
            <a:xfrm>
              <a:off x="2880" y="2832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GPA</a:t>
              </a:r>
            </a:p>
          </p:txBody>
        </p:sp>
        <p:sp>
          <p:nvSpPr>
            <p:cNvPr id="38925" name="Rectangle 13"/>
            <p:cNvSpPr>
              <a:spLocks noChangeArrowheads="1"/>
            </p:cNvSpPr>
            <p:nvPr/>
          </p:nvSpPr>
          <p:spPr bwMode="auto">
            <a:xfrm>
              <a:off x="4672" y="3330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Loan</a:t>
              </a:r>
            </a:p>
          </p:txBody>
        </p:sp>
        <p:sp>
          <p:nvSpPr>
            <p:cNvPr id="38926" name="Rectangle 14"/>
            <p:cNvSpPr>
              <a:spLocks noChangeArrowheads="1"/>
            </p:cNvSpPr>
            <p:nvPr/>
          </p:nvSpPr>
          <p:spPr bwMode="auto">
            <a:xfrm>
              <a:off x="4672" y="3081"/>
              <a:ext cx="89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Own</a:t>
              </a:r>
            </a:p>
          </p:txBody>
        </p:sp>
        <p:sp>
          <p:nvSpPr>
            <p:cNvPr id="38927" name="Rectangle 15"/>
            <p:cNvSpPr>
              <a:spLocks noChangeArrowheads="1"/>
            </p:cNvSpPr>
            <p:nvPr/>
          </p:nvSpPr>
          <p:spPr bwMode="auto">
            <a:xfrm>
              <a:off x="4672" y="2832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Hav_Cond</a:t>
              </a:r>
            </a:p>
          </p:txBody>
        </p:sp>
        <p:sp>
          <p:nvSpPr>
            <p:cNvPr id="38928" name="Rectangle 16"/>
            <p:cNvSpPr>
              <a:spLocks noChangeArrowheads="1"/>
            </p:cNvSpPr>
            <p:nvPr/>
          </p:nvSpPr>
          <p:spPr bwMode="auto">
            <a:xfrm>
              <a:off x="1088" y="3330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Lisa</a:t>
              </a:r>
            </a:p>
          </p:txBody>
        </p:sp>
        <p:sp>
          <p:nvSpPr>
            <p:cNvPr id="38929" name="Rectangle 17"/>
            <p:cNvSpPr>
              <a:spLocks noChangeArrowheads="1"/>
            </p:cNvSpPr>
            <p:nvPr/>
          </p:nvSpPr>
          <p:spPr bwMode="auto">
            <a:xfrm>
              <a:off x="192" y="3330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8888</a:t>
              </a:r>
            </a:p>
          </p:txBody>
        </p:sp>
        <p:sp>
          <p:nvSpPr>
            <p:cNvPr id="38930" name="Rectangle 18"/>
            <p:cNvSpPr>
              <a:spLocks noChangeArrowheads="1"/>
            </p:cNvSpPr>
            <p:nvPr/>
          </p:nvSpPr>
          <p:spPr bwMode="auto">
            <a:xfrm>
              <a:off x="1088" y="3081"/>
              <a:ext cx="89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Bart</a:t>
              </a:r>
            </a:p>
          </p:txBody>
        </p:sp>
        <p:sp>
          <p:nvSpPr>
            <p:cNvPr id="38931" name="Rectangle 19"/>
            <p:cNvSpPr>
              <a:spLocks noChangeArrowheads="1"/>
            </p:cNvSpPr>
            <p:nvPr/>
          </p:nvSpPr>
          <p:spPr bwMode="auto">
            <a:xfrm>
              <a:off x="192" y="3081"/>
              <a:ext cx="89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9999</a:t>
              </a:r>
            </a:p>
          </p:txBody>
        </p:sp>
        <p:sp>
          <p:nvSpPr>
            <p:cNvPr id="38932" name="Rectangle 20"/>
            <p:cNvSpPr>
              <a:spLocks noChangeArrowheads="1"/>
            </p:cNvSpPr>
            <p:nvPr/>
          </p:nvSpPr>
          <p:spPr bwMode="auto">
            <a:xfrm>
              <a:off x="1088" y="2832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Name</a:t>
              </a:r>
            </a:p>
          </p:txBody>
        </p:sp>
        <p:sp>
          <p:nvSpPr>
            <p:cNvPr id="38933" name="Rectangle 21"/>
            <p:cNvSpPr>
              <a:spLocks noChangeArrowheads="1"/>
            </p:cNvSpPr>
            <p:nvPr/>
          </p:nvSpPr>
          <p:spPr bwMode="auto">
            <a:xfrm>
              <a:off x="192" y="2832"/>
              <a:ext cx="8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SID</a:t>
              </a:r>
            </a:p>
          </p:txBody>
        </p:sp>
        <p:sp>
          <p:nvSpPr>
            <p:cNvPr id="38934" name="Line 22"/>
            <p:cNvSpPr>
              <a:spLocks noChangeShapeType="1"/>
            </p:cNvSpPr>
            <p:nvPr/>
          </p:nvSpPr>
          <p:spPr bwMode="auto">
            <a:xfrm>
              <a:off x="192" y="2832"/>
              <a:ext cx="53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35" name="Line 23"/>
            <p:cNvSpPr>
              <a:spLocks noChangeShapeType="1"/>
            </p:cNvSpPr>
            <p:nvPr/>
          </p:nvSpPr>
          <p:spPr bwMode="auto">
            <a:xfrm>
              <a:off x="192" y="3081"/>
              <a:ext cx="53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36" name="Line 24"/>
            <p:cNvSpPr>
              <a:spLocks noChangeShapeType="1"/>
            </p:cNvSpPr>
            <p:nvPr/>
          </p:nvSpPr>
          <p:spPr bwMode="auto">
            <a:xfrm>
              <a:off x="192" y="3330"/>
              <a:ext cx="53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37" name="Line 25"/>
            <p:cNvSpPr>
              <a:spLocks noChangeShapeType="1"/>
            </p:cNvSpPr>
            <p:nvPr/>
          </p:nvSpPr>
          <p:spPr bwMode="auto">
            <a:xfrm>
              <a:off x="192" y="3579"/>
              <a:ext cx="53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38" name="Line 26"/>
            <p:cNvSpPr>
              <a:spLocks noChangeShapeType="1"/>
            </p:cNvSpPr>
            <p:nvPr/>
          </p:nvSpPr>
          <p:spPr bwMode="auto">
            <a:xfrm>
              <a:off x="192" y="2832"/>
              <a:ext cx="0" cy="74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39" name="Line 27"/>
            <p:cNvSpPr>
              <a:spLocks noChangeShapeType="1"/>
            </p:cNvSpPr>
            <p:nvPr/>
          </p:nvSpPr>
          <p:spPr bwMode="auto">
            <a:xfrm>
              <a:off x="1088" y="2832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40" name="Line 28"/>
            <p:cNvSpPr>
              <a:spLocks noChangeShapeType="1"/>
            </p:cNvSpPr>
            <p:nvPr/>
          </p:nvSpPr>
          <p:spPr bwMode="auto">
            <a:xfrm>
              <a:off x="1984" y="2832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41" name="Line 29"/>
            <p:cNvSpPr>
              <a:spLocks noChangeShapeType="1"/>
            </p:cNvSpPr>
            <p:nvPr/>
          </p:nvSpPr>
          <p:spPr bwMode="auto">
            <a:xfrm>
              <a:off x="5568" y="2832"/>
              <a:ext cx="0" cy="74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42" name="Line 30"/>
            <p:cNvSpPr>
              <a:spLocks noChangeShapeType="1"/>
            </p:cNvSpPr>
            <p:nvPr/>
          </p:nvSpPr>
          <p:spPr bwMode="auto">
            <a:xfrm>
              <a:off x="3776" y="2832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43" name="Line 31"/>
            <p:cNvSpPr>
              <a:spLocks noChangeShapeType="1"/>
            </p:cNvSpPr>
            <p:nvPr/>
          </p:nvSpPr>
          <p:spPr bwMode="auto">
            <a:xfrm>
              <a:off x="2880" y="2832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44" name="Line 32"/>
            <p:cNvSpPr>
              <a:spLocks noChangeShapeType="1"/>
            </p:cNvSpPr>
            <p:nvPr/>
          </p:nvSpPr>
          <p:spPr bwMode="auto">
            <a:xfrm>
              <a:off x="4672" y="2832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45" name="Rectangle 33"/>
            <p:cNvSpPr>
              <a:spLocks noChangeArrowheads="1"/>
            </p:cNvSpPr>
            <p:nvPr/>
          </p:nvSpPr>
          <p:spPr bwMode="auto">
            <a:xfrm>
              <a:off x="912" y="1296"/>
              <a:ext cx="72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46" name="Text Box 34"/>
            <p:cNvSpPr txBox="1">
              <a:spLocks noChangeArrowheads="1"/>
            </p:cNvSpPr>
            <p:nvPr/>
          </p:nvSpPr>
          <p:spPr bwMode="auto">
            <a:xfrm>
              <a:off x="960" y="1344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Student</a:t>
              </a:r>
            </a:p>
          </p:txBody>
        </p:sp>
        <p:sp>
          <p:nvSpPr>
            <p:cNvPr id="38947" name="Oval 35"/>
            <p:cNvSpPr>
              <a:spLocks noChangeArrowheads="1"/>
            </p:cNvSpPr>
            <p:nvPr/>
          </p:nvSpPr>
          <p:spPr bwMode="auto">
            <a:xfrm>
              <a:off x="1200" y="768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48" name="Oval 36"/>
            <p:cNvSpPr>
              <a:spLocks noChangeArrowheads="1"/>
            </p:cNvSpPr>
            <p:nvPr/>
          </p:nvSpPr>
          <p:spPr bwMode="auto">
            <a:xfrm>
              <a:off x="192" y="768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49" name="Oval 37"/>
            <p:cNvSpPr>
              <a:spLocks noChangeArrowheads="1"/>
            </p:cNvSpPr>
            <p:nvPr/>
          </p:nvSpPr>
          <p:spPr bwMode="auto">
            <a:xfrm>
              <a:off x="192" y="1824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50" name="Oval 38"/>
            <p:cNvSpPr>
              <a:spLocks noChangeArrowheads="1"/>
            </p:cNvSpPr>
            <p:nvPr/>
          </p:nvSpPr>
          <p:spPr bwMode="auto">
            <a:xfrm>
              <a:off x="1440" y="1872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51" name="Line 39"/>
            <p:cNvSpPr>
              <a:spLocks noChangeShapeType="1"/>
            </p:cNvSpPr>
            <p:nvPr/>
          </p:nvSpPr>
          <p:spPr bwMode="auto">
            <a:xfrm>
              <a:off x="576" y="1104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52" name="Line 40"/>
            <p:cNvSpPr>
              <a:spLocks noChangeShapeType="1"/>
            </p:cNvSpPr>
            <p:nvPr/>
          </p:nvSpPr>
          <p:spPr bwMode="auto">
            <a:xfrm flipH="1">
              <a:off x="1296" y="1104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53" name="Line 41"/>
            <p:cNvSpPr>
              <a:spLocks noChangeShapeType="1"/>
            </p:cNvSpPr>
            <p:nvPr/>
          </p:nvSpPr>
          <p:spPr bwMode="auto">
            <a:xfrm flipH="1" flipV="1">
              <a:off x="1392" y="1584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54" name="Line 42"/>
            <p:cNvSpPr>
              <a:spLocks noChangeShapeType="1"/>
            </p:cNvSpPr>
            <p:nvPr/>
          </p:nvSpPr>
          <p:spPr bwMode="auto">
            <a:xfrm flipV="1">
              <a:off x="720" y="1584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55" name="Text Box 43"/>
            <p:cNvSpPr txBox="1">
              <a:spLocks noChangeArrowheads="1"/>
            </p:cNvSpPr>
            <p:nvPr/>
          </p:nvSpPr>
          <p:spPr bwMode="auto">
            <a:xfrm>
              <a:off x="336" y="816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SID</a:t>
              </a:r>
            </a:p>
          </p:txBody>
        </p:sp>
        <p:sp>
          <p:nvSpPr>
            <p:cNvPr id="38956" name="Text Box 44"/>
            <p:cNvSpPr txBox="1">
              <a:spLocks noChangeArrowheads="1"/>
            </p:cNvSpPr>
            <p:nvPr/>
          </p:nvSpPr>
          <p:spPr bwMode="auto">
            <a:xfrm>
              <a:off x="1296" y="816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Name</a:t>
              </a:r>
            </a:p>
          </p:txBody>
        </p:sp>
        <p:sp>
          <p:nvSpPr>
            <p:cNvPr id="38957" name="Text Box 45"/>
            <p:cNvSpPr txBox="1">
              <a:spLocks noChangeArrowheads="1"/>
            </p:cNvSpPr>
            <p:nvPr/>
          </p:nvSpPr>
          <p:spPr bwMode="auto">
            <a:xfrm>
              <a:off x="288" y="1872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Major</a:t>
              </a:r>
            </a:p>
          </p:txBody>
        </p:sp>
        <p:sp>
          <p:nvSpPr>
            <p:cNvPr id="38958" name="Text Box 46"/>
            <p:cNvSpPr txBox="1">
              <a:spLocks noChangeArrowheads="1"/>
            </p:cNvSpPr>
            <p:nvPr/>
          </p:nvSpPr>
          <p:spPr bwMode="auto">
            <a:xfrm>
              <a:off x="1584" y="1920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GPA</a:t>
              </a:r>
            </a:p>
          </p:txBody>
        </p:sp>
        <p:sp>
          <p:nvSpPr>
            <p:cNvPr id="38959" name="AutoShape 47"/>
            <p:cNvSpPr>
              <a:spLocks noChangeArrowheads="1"/>
            </p:cNvSpPr>
            <p:nvPr/>
          </p:nvSpPr>
          <p:spPr bwMode="auto">
            <a:xfrm>
              <a:off x="2352" y="1200"/>
              <a:ext cx="1056" cy="480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60" name="Rectangle 48"/>
            <p:cNvSpPr>
              <a:spLocks noChangeArrowheads="1"/>
            </p:cNvSpPr>
            <p:nvPr/>
          </p:nvSpPr>
          <p:spPr bwMode="auto">
            <a:xfrm>
              <a:off x="4128" y="1296"/>
              <a:ext cx="768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61" name="Oval 49"/>
            <p:cNvSpPr>
              <a:spLocks noChangeArrowheads="1"/>
            </p:cNvSpPr>
            <p:nvPr/>
          </p:nvSpPr>
          <p:spPr bwMode="auto">
            <a:xfrm>
              <a:off x="4608" y="768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62" name="Text Box 50"/>
            <p:cNvSpPr txBox="1">
              <a:spLocks noChangeArrowheads="1"/>
            </p:cNvSpPr>
            <p:nvPr/>
          </p:nvSpPr>
          <p:spPr bwMode="auto">
            <a:xfrm>
              <a:off x="4704" y="816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S/N #</a:t>
              </a:r>
            </a:p>
          </p:txBody>
        </p:sp>
        <p:sp>
          <p:nvSpPr>
            <p:cNvPr id="38963" name="Line 51"/>
            <p:cNvSpPr>
              <a:spLocks noChangeShapeType="1"/>
            </p:cNvSpPr>
            <p:nvPr/>
          </p:nvSpPr>
          <p:spPr bwMode="auto">
            <a:xfrm flipH="1">
              <a:off x="4560" y="1104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64" name="AutoShape 52"/>
            <p:cNvSpPr>
              <a:spLocks noChangeArrowheads="1"/>
            </p:cNvSpPr>
            <p:nvPr/>
          </p:nvSpPr>
          <p:spPr bwMode="auto">
            <a:xfrm>
              <a:off x="2256" y="1920"/>
              <a:ext cx="1200" cy="7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65" name="Text Box 53"/>
            <p:cNvSpPr txBox="1">
              <a:spLocks noChangeArrowheads="1"/>
            </p:cNvSpPr>
            <p:nvPr/>
          </p:nvSpPr>
          <p:spPr bwMode="auto">
            <a:xfrm>
              <a:off x="4176" y="1344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Laptop</a:t>
              </a:r>
            </a:p>
          </p:txBody>
        </p:sp>
        <p:sp>
          <p:nvSpPr>
            <p:cNvPr id="38966" name="Text Box 54"/>
            <p:cNvSpPr txBox="1">
              <a:spLocks noChangeArrowheads="1"/>
            </p:cNvSpPr>
            <p:nvPr/>
          </p:nvSpPr>
          <p:spPr bwMode="auto">
            <a:xfrm>
              <a:off x="2640" y="1344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Have</a:t>
              </a:r>
            </a:p>
          </p:txBody>
        </p:sp>
        <p:sp>
          <p:nvSpPr>
            <p:cNvPr id="38967" name="Text Box 55"/>
            <p:cNvSpPr txBox="1">
              <a:spLocks noChangeArrowheads="1"/>
            </p:cNvSpPr>
            <p:nvPr/>
          </p:nvSpPr>
          <p:spPr bwMode="auto">
            <a:xfrm>
              <a:off x="240" y="3888"/>
              <a:ext cx="52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* Primary key can be either </a:t>
              </a:r>
              <a:r>
                <a:rPr kumimoji="1" lang="en-US" altLang="zh-TW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SID</a:t>
              </a: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 or </a:t>
              </a:r>
              <a:r>
                <a:rPr kumimoji="1" lang="en-US" altLang="zh-TW" sz="1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LP_S/N</a:t>
              </a:r>
              <a:endPara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PMingLiU" pitchFamily="18" charset="-120"/>
                <a:cs typeface="+mn-cs"/>
              </a:endParaRPr>
            </a:p>
          </p:txBody>
        </p:sp>
        <p:sp>
          <p:nvSpPr>
            <p:cNvPr id="38968" name="Line 56"/>
            <p:cNvSpPr>
              <a:spLocks noChangeShapeType="1"/>
            </p:cNvSpPr>
            <p:nvPr/>
          </p:nvSpPr>
          <p:spPr bwMode="auto">
            <a:xfrm>
              <a:off x="3408" y="14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69" name="Oval 57"/>
            <p:cNvSpPr>
              <a:spLocks noChangeArrowheads="1"/>
            </p:cNvSpPr>
            <p:nvPr/>
          </p:nvSpPr>
          <p:spPr bwMode="auto">
            <a:xfrm>
              <a:off x="2880" y="624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70" name="Text Box 58"/>
            <p:cNvSpPr txBox="1">
              <a:spLocks noChangeArrowheads="1"/>
            </p:cNvSpPr>
            <p:nvPr/>
          </p:nvSpPr>
          <p:spPr bwMode="auto">
            <a:xfrm>
              <a:off x="2832" y="672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Condition</a:t>
              </a:r>
            </a:p>
          </p:txBody>
        </p:sp>
        <p:sp>
          <p:nvSpPr>
            <p:cNvPr id="38971" name="Line 59"/>
            <p:cNvSpPr>
              <a:spLocks noChangeShapeType="1"/>
            </p:cNvSpPr>
            <p:nvPr/>
          </p:nvSpPr>
          <p:spPr bwMode="auto">
            <a:xfrm flipV="1">
              <a:off x="2976" y="960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72" name="Oval 60"/>
            <p:cNvSpPr>
              <a:spLocks noChangeArrowheads="1"/>
            </p:cNvSpPr>
            <p:nvPr/>
          </p:nvSpPr>
          <p:spPr bwMode="auto">
            <a:xfrm>
              <a:off x="4704" y="1920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73" name="Text Box 61"/>
            <p:cNvSpPr txBox="1">
              <a:spLocks noChangeArrowheads="1"/>
            </p:cNvSpPr>
            <p:nvPr/>
          </p:nvSpPr>
          <p:spPr bwMode="auto">
            <a:xfrm>
              <a:off x="4752" y="1968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Brand</a:t>
              </a:r>
            </a:p>
          </p:txBody>
        </p:sp>
        <p:sp>
          <p:nvSpPr>
            <p:cNvPr id="38974" name="Line 62"/>
            <p:cNvSpPr>
              <a:spLocks noChangeShapeType="1"/>
            </p:cNvSpPr>
            <p:nvPr/>
          </p:nvSpPr>
          <p:spPr bwMode="auto">
            <a:xfrm>
              <a:off x="4752" y="1632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75" name="Line 63"/>
            <p:cNvSpPr>
              <a:spLocks noChangeShapeType="1"/>
            </p:cNvSpPr>
            <p:nvPr/>
          </p:nvSpPr>
          <p:spPr bwMode="auto">
            <a:xfrm flipH="1">
              <a:off x="1632" y="1392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76" name="Line 64"/>
            <p:cNvSpPr>
              <a:spLocks noChangeShapeType="1"/>
            </p:cNvSpPr>
            <p:nvPr/>
          </p:nvSpPr>
          <p:spPr bwMode="auto">
            <a:xfrm>
              <a:off x="1632" y="144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38977" name="Text Box 65"/>
            <p:cNvSpPr txBox="1">
              <a:spLocks noChangeArrowheads="1"/>
            </p:cNvSpPr>
            <p:nvPr/>
          </p:nvSpPr>
          <p:spPr bwMode="auto">
            <a:xfrm>
              <a:off x="1920" y="816"/>
              <a:ext cx="110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1:1 Relationship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Composite and Multivalued Attributes</a:t>
            </a:r>
            <a:endParaRPr lang="zh-CN" altLang="en-US">
              <a:ea typeface="SimSun" pitchFamily="2" charset="-122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304925"/>
            <a:ext cx="8801100" cy="4311650"/>
          </a:xfrm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zh-CN" sz="2800" b="1">
                <a:solidFill>
                  <a:srgbClr val="FF0000"/>
                </a:solidFill>
                <a:ea typeface="SimSun" pitchFamily="2" charset="-122"/>
              </a:rPr>
              <a:t>Composite</a:t>
            </a:r>
            <a:r>
              <a:rPr lang="en-US" altLang="zh-CN" sz="2800" b="1">
                <a:ea typeface="SimSun" pitchFamily="2" charset="-122"/>
              </a:rPr>
              <a:t> attributes are </a:t>
            </a:r>
            <a:r>
              <a:rPr lang="en-US" altLang="zh-CN" sz="2800" b="1">
                <a:solidFill>
                  <a:srgbClr val="FF0000"/>
                </a:solidFill>
                <a:ea typeface="SimSun" pitchFamily="2" charset="-122"/>
              </a:rPr>
              <a:t>flattened </a:t>
            </a:r>
            <a:r>
              <a:rPr lang="en-US" altLang="zh-CN" sz="2800" b="1">
                <a:ea typeface="SimSun" pitchFamily="2" charset="-122"/>
              </a:rPr>
              <a:t>out by creating a separate attribute for </a:t>
            </a:r>
            <a:r>
              <a:rPr lang="en-US" altLang="zh-CN" sz="2800" b="1">
                <a:solidFill>
                  <a:srgbClr val="FF0000"/>
                </a:solidFill>
                <a:ea typeface="SimSun" pitchFamily="2" charset="-122"/>
              </a:rPr>
              <a:t>each component attribute</a:t>
            </a:r>
          </a:p>
          <a:p>
            <a:pPr lvl="1"/>
            <a:r>
              <a:rPr lang="en-US" altLang="zh-CN" sz="2400" b="1">
                <a:ea typeface="SimSun" pitchFamily="2" charset="-122"/>
              </a:rPr>
              <a:t>E.g. given entity set </a:t>
            </a:r>
            <a:r>
              <a:rPr lang="en-US" altLang="zh-CN" sz="2400" b="1" i="1">
                <a:ea typeface="SimSun" pitchFamily="2" charset="-122"/>
              </a:rPr>
              <a:t>custome</a:t>
            </a:r>
            <a:r>
              <a:rPr lang="en-US" altLang="zh-CN" sz="2400" b="1">
                <a:ea typeface="SimSun" pitchFamily="2" charset="-122"/>
              </a:rPr>
              <a:t>r with composite attribute </a:t>
            </a:r>
            <a:r>
              <a:rPr lang="en-US" altLang="zh-CN" sz="2400" b="1" i="1">
                <a:solidFill>
                  <a:srgbClr val="FF0000"/>
                </a:solidFill>
                <a:ea typeface="SimSun" pitchFamily="2" charset="-122"/>
              </a:rPr>
              <a:t>name</a:t>
            </a:r>
            <a:r>
              <a:rPr lang="en-US" altLang="zh-CN" sz="2400" b="1">
                <a:solidFill>
                  <a:srgbClr val="FF0000"/>
                </a:solidFill>
                <a:ea typeface="SimSun" pitchFamily="2" charset="-122"/>
              </a:rPr>
              <a:t> </a:t>
            </a:r>
            <a:r>
              <a:rPr lang="en-US" altLang="zh-CN" sz="2400" b="1">
                <a:ea typeface="SimSun" pitchFamily="2" charset="-122"/>
              </a:rPr>
              <a:t>with component attributes </a:t>
            </a:r>
            <a:r>
              <a:rPr lang="en-US" altLang="zh-CN" sz="2400" b="1" i="1">
                <a:solidFill>
                  <a:srgbClr val="FF0000"/>
                </a:solidFill>
                <a:ea typeface="SimSun" pitchFamily="2" charset="-122"/>
              </a:rPr>
              <a:t>first-name</a:t>
            </a:r>
            <a:r>
              <a:rPr lang="en-US" altLang="zh-CN" sz="2400" b="1" i="1">
                <a:ea typeface="SimSun" pitchFamily="2" charset="-122"/>
              </a:rPr>
              <a:t> </a:t>
            </a:r>
            <a:r>
              <a:rPr lang="en-US" altLang="zh-CN" sz="2400" b="1">
                <a:ea typeface="SimSun" pitchFamily="2" charset="-122"/>
              </a:rPr>
              <a:t>and </a:t>
            </a:r>
            <a:r>
              <a:rPr lang="en-US" altLang="zh-CN" sz="2400" b="1" i="1">
                <a:solidFill>
                  <a:srgbClr val="FF0000"/>
                </a:solidFill>
                <a:ea typeface="SimSun" pitchFamily="2" charset="-122"/>
              </a:rPr>
              <a:t>last-name</a:t>
            </a:r>
            <a:r>
              <a:rPr lang="en-US" altLang="zh-CN" sz="2400" b="1">
                <a:ea typeface="SimSun" pitchFamily="2" charset="-122"/>
              </a:rPr>
              <a:t> the table corresponding to the entity set has two attributes</a:t>
            </a:r>
            <a:br>
              <a:rPr lang="en-US" altLang="zh-CN" sz="2400" b="1">
                <a:ea typeface="SimSun" pitchFamily="2" charset="-122"/>
              </a:rPr>
            </a:br>
            <a:r>
              <a:rPr lang="en-US" altLang="zh-CN" sz="2400" b="1">
                <a:ea typeface="SimSun" pitchFamily="2" charset="-122"/>
              </a:rPr>
              <a:t>                 </a:t>
            </a:r>
            <a:r>
              <a:rPr lang="en-US" altLang="zh-CN" sz="2400" b="1" i="1">
                <a:solidFill>
                  <a:srgbClr val="FF0000"/>
                </a:solidFill>
                <a:ea typeface="SimSun" pitchFamily="2" charset="-122"/>
              </a:rPr>
              <a:t>name.first-name</a:t>
            </a:r>
            <a:r>
              <a:rPr lang="en-US" altLang="zh-CN" sz="2400" b="1">
                <a:ea typeface="SimSun" pitchFamily="2" charset="-122"/>
              </a:rPr>
              <a:t>  and </a:t>
            </a:r>
            <a:r>
              <a:rPr lang="en-US" altLang="zh-CN" sz="2400" b="1" i="1">
                <a:solidFill>
                  <a:srgbClr val="FF0000"/>
                </a:solidFill>
                <a:ea typeface="SimSun" pitchFamily="2" charset="-122"/>
              </a:rPr>
              <a:t>name.last-name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Composite and Multivalued Attributes</a:t>
            </a:r>
            <a:endParaRPr lang="zh-CN" altLang="en-US">
              <a:ea typeface="SimSun" pitchFamily="2" charset="-122"/>
            </a:endParaRPr>
          </a:p>
        </p:txBody>
      </p:sp>
      <p:sp>
        <p:nvSpPr>
          <p:cNvPr id="4096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" y="885825"/>
            <a:ext cx="8801100" cy="5816600"/>
          </a:xfrm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zh-CN" sz="2800" b="1">
                <a:ea typeface="SimSun" pitchFamily="2" charset="-122"/>
              </a:rPr>
              <a:t>A </a:t>
            </a:r>
            <a:r>
              <a:rPr lang="en-US" altLang="zh-CN" sz="2800" b="1">
                <a:solidFill>
                  <a:srgbClr val="FF0000"/>
                </a:solidFill>
                <a:ea typeface="SimSun" pitchFamily="2" charset="-122"/>
              </a:rPr>
              <a:t>multivalued </a:t>
            </a:r>
            <a:r>
              <a:rPr lang="en-US" altLang="zh-CN" sz="2800" b="1">
                <a:ea typeface="SimSun" pitchFamily="2" charset="-122"/>
              </a:rPr>
              <a:t>attribute</a:t>
            </a:r>
            <a:r>
              <a:rPr lang="en-US" altLang="zh-CN" sz="2800" b="1">
                <a:solidFill>
                  <a:srgbClr val="FF0000"/>
                </a:solidFill>
                <a:ea typeface="SimSun" pitchFamily="2" charset="-122"/>
              </a:rPr>
              <a:t> M</a:t>
            </a:r>
            <a:r>
              <a:rPr lang="en-US" altLang="zh-CN" sz="2800" b="1">
                <a:ea typeface="SimSun" pitchFamily="2" charset="-122"/>
              </a:rPr>
              <a:t> of an entity </a:t>
            </a:r>
            <a:r>
              <a:rPr lang="en-US" altLang="zh-CN" sz="2800" b="1">
                <a:solidFill>
                  <a:srgbClr val="FF0000"/>
                </a:solidFill>
                <a:ea typeface="SimSun" pitchFamily="2" charset="-122"/>
              </a:rPr>
              <a:t>E is</a:t>
            </a:r>
            <a:r>
              <a:rPr lang="en-US" altLang="zh-CN" sz="2800" b="1">
                <a:ea typeface="SimSun" pitchFamily="2" charset="-122"/>
              </a:rPr>
              <a:t> represented by a </a:t>
            </a:r>
            <a:r>
              <a:rPr lang="en-US" altLang="zh-CN" sz="2800" b="1">
                <a:solidFill>
                  <a:srgbClr val="FF0000"/>
                </a:solidFill>
                <a:ea typeface="SimSun" pitchFamily="2" charset="-122"/>
              </a:rPr>
              <a:t>separate table EM</a:t>
            </a:r>
          </a:p>
          <a:p>
            <a:pPr lvl="1"/>
            <a:r>
              <a:rPr lang="en-US" altLang="zh-CN" sz="2400" b="1">
                <a:ea typeface="SimSun" pitchFamily="2" charset="-122"/>
              </a:rPr>
              <a:t>Table EM has attributes corresponding to the </a:t>
            </a:r>
            <a:r>
              <a:rPr lang="en-US" altLang="zh-CN" sz="2400" b="1">
                <a:solidFill>
                  <a:srgbClr val="FF0000"/>
                </a:solidFill>
                <a:ea typeface="SimSun" pitchFamily="2" charset="-122"/>
              </a:rPr>
              <a:t>primary key of E</a:t>
            </a:r>
            <a:r>
              <a:rPr lang="en-US" altLang="zh-CN" sz="2400" b="1">
                <a:ea typeface="SimSun" pitchFamily="2" charset="-122"/>
              </a:rPr>
              <a:t> and an attribute corresponding to </a:t>
            </a:r>
            <a:r>
              <a:rPr lang="en-US" altLang="zh-CN" sz="2400" b="1">
                <a:solidFill>
                  <a:srgbClr val="FF0000"/>
                </a:solidFill>
                <a:ea typeface="SimSun" pitchFamily="2" charset="-122"/>
              </a:rPr>
              <a:t>multivalued attribute M</a:t>
            </a:r>
          </a:p>
          <a:p>
            <a:pPr lvl="1">
              <a:buFont typeface="Monotype Sorts" pitchFamily="2" charset="2"/>
              <a:buNone/>
            </a:pPr>
            <a:endParaRPr lang="en-US" altLang="zh-CN" sz="2400" b="1" i="1">
              <a:ea typeface="SimSun" pitchFamily="2" charset="-122"/>
            </a:endParaRPr>
          </a:p>
          <a:p>
            <a:pPr lvl="1"/>
            <a:r>
              <a:rPr lang="en-US" altLang="zh-CN" sz="2400" b="1">
                <a:ea typeface="SimSun" pitchFamily="2" charset="-122"/>
              </a:rPr>
              <a:t>Each value of the </a:t>
            </a:r>
            <a:r>
              <a:rPr lang="en-US" altLang="zh-CN" sz="2400" b="1">
                <a:solidFill>
                  <a:srgbClr val="FF0000"/>
                </a:solidFill>
                <a:ea typeface="SimSun" pitchFamily="2" charset="-122"/>
              </a:rPr>
              <a:t>multivalued attribute</a:t>
            </a:r>
            <a:r>
              <a:rPr lang="en-US" altLang="zh-CN" sz="2400" b="1">
                <a:ea typeface="SimSun" pitchFamily="2" charset="-122"/>
              </a:rPr>
              <a:t> maps to a </a:t>
            </a:r>
            <a:r>
              <a:rPr lang="en-US" altLang="zh-CN" sz="2400" b="1">
                <a:solidFill>
                  <a:srgbClr val="FF0000"/>
                </a:solidFill>
                <a:ea typeface="SimSun" pitchFamily="2" charset="-122"/>
              </a:rPr>
              <a:t>separate row</a:t>
            </a:r>
            <a:r>
              <a:rPr lang="en-US" altLang="zh-CN" sz="2400" b="1">
                <a:ea typeface="SimSun" pitchFamily="2" charset="-122"/>
              </a:rPr>
              <a:t> of the table EM</a:t>
            </a:r>
          </a:p>
          <a:p>
            <a:pPr lvl="2"/>
            <a:endParaRPr lang="zh-CN" altLang="en-US" sz="2400" b="1"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2800">
                <a:solidFill>
                  <a:srgbClr val="FF0000"/>
                </a:solidFill>
                <a:ea typeface="PMingLiU" pitchFamily="18" charset="-120"/>
              </a:rPr>
              <a:t>Representing Composite Attribute</a:t>
            </a:r>
            <a:endParaRPr lang="en-US" sz="2800">
              <a:solidFill>
                <a:srgbClr val="FF0000"/>
              </a:solidFill>
            </a:endParaRPr>
          </a:p>
        </p:txBody>
      </p:sp>
      <p:grpSp>
        <p:nvGrpSpPr>
          <p:cNvPr id="41987" name="Group 3"/>
          <p:cNvGrpSpPr>
            <a:grpSpLocks/>
          </p:cNvGrpSpPr>
          <p:nvPr/>
        </p:nvGrpSpPr>
        <p:grpSpPr bwMode="auto">
          <a:xfrm>
            <a:off x="590550" y="2114550"/>
            <a:ext cx="8382000" cy="3048000"/>
            <a:chOff x="384" y="2160"/>
            <a:chExt cx="5280" cy="1920"/>
          </a:xfrm>
        </p:grpSpPr>
        <p:sp>
          <p:nvSpPr>
            <p:cNvPr id="41988" name="Rectangle 4"/>
            <p:cNvSpPr>
              <a:spLocks noChangeArrowheads="1"/>
            </p:cNvSpPr>
            <p:nvPr/>
          </p:nvSpPr>
          <p:spPr bwMode="auto">
            <a:xfrm>
              <a:off x="624" y="2688"/>
              <a:ext cx="72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1989" name="Text Box 5"/>
            <p:cNvSpPr txBox="1">
              <a:spLocks noChangeArrowheads="1"/>
            </p:cNvSpPr>
            <p:nvPr/>
          </p:nvSpPr>
          <p:spPr bwMode="auto">
            <a:xfrm>
              <a:off x="624" y="2736"/>
              <a:ext cx="7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Professor</a:t>
              </a:r>
            </a:p>
          </p:txBody>
        </p:sp>
        <p:sp>
          <p:nvSpPr>
            <p:cNvPr id="41990" name="Oval 6"/>
            <p:cNvSpPr>
              <a:spLocks noChangeArrowheads="1"/>
            </p:cNvSpPr>
            <p:nvPr/>
          </p:nvSpPr>
          <p:spPr bwMode="auto">
            <a:xfrm>
              <a:off x="384" y="2160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1991" name="Text Box 7"/>
            <p:cNvSpPr txBox="1">
              <a:spLocks noChangeArrowheads="1"/>
            </p:cNvSpPr>
            <p:nvPr/>
          </p:nvSpPr>
          <p:spPr bwMode="auto">
            <a:xfrm>
              <a:off x="480" y="2208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SSN</a:t>
              </a:r>
            </a:p>
          </p:txBody>
        </p:sp>
        <p:sp>
          <p:nvSpPr>
            <p:cNvPr id="41992" name="Oval 8"/>
            <p:cNvSpPr>
              <a:spLocks noChangeArrowheads="1"/>
            </p:cNvSpPr>
            <p:nvPr/>
          </p:nvSpPr>
          <p:spPr bwMode="auto">
            <a:xfrm>
              <a:off x="1200" y="2160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1993" name="Text Box 9"/>
            <p:cNvSpPr txBox="1">
              <a:spLocks noChangeArrowheads="1"/>
            </p:cNvSpPr>
            <p:nvPr/>
          </p:nvSpPr>
          <p:spPr bwMode="auto">
            <a:xfrm>
              <a:off x="1296" y="2208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Name</a:t>
              </a:r>
            </a:p>
          </p:txBody>
        </p:sp>
        <p:sp>
          <p:nvSpPr>
            <p:cNvPr id="41994" name="Oval 10"/>
            <p:cNvSpPr>
              <a:spLocks noChangeArrowheads="1"/>
            </p:cNvSpPr>
            <p:nvPr/>
          </p:nvSpPr>
          <p:spPr bwMode="auto">
            <a:xfrm>
              <a:off x="1296" y="3168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1995" name="Text Box 11"/>
            <p:cNvSpPr txBox="1">
              <a:spLocks noChangeArrowheads="1"/>
            </p:cNvSpPr>
            <p:nvPr/>
          </p:nvSpPr>
          <p:spPr bwMode="auto">
            <a:xfrm>
              <a:off x="1296" y="3216"/>
              <a:ext cx="6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Address</a:t>
              </a:r>
            </a:p>
          </p:txBody>
        </p:sp>
        <p:sp>
          <p:nvSpPr>
            <p:cNvPr id="41996" name="Line 12"/>
            <p:cNvSpPr>
              <a:spLocks noChangeShapeType="1"/>
            </p:cNvSpPr>
            <p:nvPr/>
          </p:nvSpPr>
          <p:spPr bwMode="auto">
            <a:xfrm flipH="1" flipV="1">
              <a:off x="1200" y="2976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1997" name="Rectangle 13"/>
            <p:cNvSpPr>
              <a:spLocks noChangeArrowheads="1"/>
            </p:cNvSpPr>
            <p:nvPr/>
          </p:nvSpPr>
          <p:spPr bwMode="auto">
            <a:xfrm>
              <a:off x="4032" y="2994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1 B St.</a:t>
              </a:r>
            </a:p>
          </p:txBody>
        </p:sp>
        <p:sp>
          <p:nvSpPr>
            <p:cNvPr id="41998" name="Rectangle 14"/>
            <p:cNvSpPr>
              <a:spLocks noChangeArrowheads="1"/>
            </p:cNvSpPr>
            <p:nvPr/>
          </p:nvSpPr>
          <p:spPr bwMode="auto">
            <a:xfrm>
              <a:off x="4032" y="2745"/>
              <a:ext cx="81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50 1</a:t>
              </a:r>
              <a:r>
                <a:rPr kumimoji="1" lang="en-US" altLang="zh-TW" sz="14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st</a:t>
              </a: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 St.</a:t>
              </a:r>
            </a:p>
          </p:txBody>
        </p:sp>
        <p:sp>
          <p:nvSpPr>
            <p:cNvPr id="41999" name="Rectangle 15"/>
            <p:cNvSpPr>
              <a:spLocks noChangeArrowheads="1"/>
            </p:cNvSpPr>
            <p:nvPr/>
          </p:nvSpPr>
          <p:spPr bwMode="auto">
            <a:xfrm>
              <a:off x="4032" y="2496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Street</a:t>
              </a:r>
            </a:p>
          </p:txBody>
        </p:sp>
        <p:sp>
          <p:nvSpPr>
            <p:cNvPr id="42000" name="Rectangle 16"/>
            <p:cNvSpPr>
              <a:spLocks noChangeArrowheads="1"/>
            </p:cNvSpPr>
            <p:nvPr/>
          </p:nvSpPr>
          <p:spPr bwMode="auto">
            <a:xfrm>
              <a:off x="4848" y="2994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San Jose</a:t>
              </a:r>
            </a:p>
          </p:txBody>
        </p:sp>
        <p:sp>
          <p:nvSpPr>
            <p:cNvPr id="42001" name="Rectangle 17"/>
            <p:cNvSpPr>
              <a:spLocks noChangeArrowheads="1"/>
            </p:cNvSpPr>
            <p:nvPr/>
          </p:nvSpPr>
          <p:spPr bwMode="auto">
            <a:xfrm>
              <a:off x="3216" y="2994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Dr. Lee</a:t>
              </a:r>
            </a:p>
          </p:txBody>
        </p:sp>
        <p:sp>
          <p:nvSpPr>
            <p:cNvPr id="42002" name="Rectangle 18"/>
            <p:cNvSpPr>
              <a:spLocks noChangeArrowheads="1"/>
            </p:cNvSpPr>
            <p:nvPr/>
          </p:nvSpPr>
          <p:spPr bwMode="auto">
            <a:xfrm>
              <a:off x="2400" y="2994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8888</a:t>
              </a:r>
            </a:p>
          </p:txBody>
        </p:sp>
        <p:sp>
          <p:nvSpPr>
            <p:cNvPr id="42003" name="Rectangle 19"/>
            <p:cNvSpPr>
              <a:spLocks noChangeArrowheads="1"/>
            </p:cNvSpPr>
            <p:nvPr/>
          </p:nvSpPr>
          <p:spPr bwMode="auto">
            <a:xfrm>
              <a:off x="4848" y="2745"/>
              <a:ext cx="81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Fake City</a:t>
              </a:r>
            </a:p>
          </p:txBody>
        </p:sp>
        <p:sp>
          <p:nvSpPr>
            <p:cNvPr id="42004" name="Rectangle 20"/>
            <p:cNvSpPr>
              <a:spLocks noChangeArrowheads="1"/>
            </p:cNvSpPr>
            <p:nvPr/>
          </p:nvSpPr>
          <p:spPr bwMode="auto">
            <a:xfrm>
              <a:off x="3216" y="2745"/>
              <a:ext cx="81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Dr. Smith</a:t>
              </a:r>
            </a:p>
          </p:txBody>
        </p:sp>
        <p:sp>
          <p:nvSpPr>
            <p:cNvPr id="42005" name="Rectangle 21"/>
            <p:cNvSpPr>
              <a:spLocks noChangeArrowheads="1"/>
            </p:cNvSpPr>
            <p:nvPr/>
          </p:nvSpPr>
          <p:spPr bwMode="auto">
            <a:xfrm>
              <a:off x="2400" y="2745"/>
              <a:ext cx="81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9999</a:t>
              </a:r>
            </a:p>
          </p:txBody>
        </p:sp>
        <p:sp>
          <p:nvSpPr>
            <p:cNvPr id="42006" name="Rectangle 22"/>
            <p:cNvSpPr>
              <a:spLocks noChangeArrowheads="1"/>
            </p:cNvSpPr>
            <p:nvPr/>
          </p:nvSpPr>
          <p:spPr bwMode="auto">
            <a:xfrm>
              <a:off x="4848" y="2496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City</a:t>
              </a:r>
            </a:p>
          </p:txBody>
        </p:sp>
        <p:sp>
          <p:nvSpPr>
            <p:cNvPr id="42007" name="Rectangle 23"/>
            <p:cNvSpPr>
              <a:spLocks noChangeArrowheads="1"/>
            </p:cNvSpPr>
            <p:nvPr/>
          </p:nvSpPr>
          <p:spPr bwMode="auto">
            <a:xfrm>
              <a:off x="3216" y="2496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Name</a:t>
              </a:r>
            </a:p>
          </p:txBody>
        </p:sp>
        <p:sp>
          <p:nvSpPr>
            <p:cNvPr id="42008" name="Rectangle 24"/>
            <p:cNvSpPr>
              <a:spLocks noChangeArrowheads="1"/>
            </p:cNvSpPr>
            <p:nvPr/>
          </p:nvSpPr>
          <p:spPr bwMode="auto">
            <a:xfrm>
              <a:off x="2400" y="2496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SSN</a:t>
              </a:r>
            </a:p>
          </p:txBody>
        </p:sp>
        <p:sp>
          <p:nvSpPr>
            <p:cNvPr id="42009" name="Line 25"/>
            <p:cNvSpPr>
              <a:spLocks noChangeShapeType="1"/>
            </p:cNvSpPr>
            <p:nvPr/>
          </p:nvSpPr>
          <p:spPr bwMode="auto">
            <a:xfrm>
              <a:off x="2400" y="2496"/>
              <a:ext cx="326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2010" name="Line 26"/>
            <p:cNvSpPr>
              <a:spLocks noChangeShapeType="1"/>
            </p:cNvSpPr>
            <p:nvPr/>
          </p:nvSpPr>
          <p:spPr bwMode="auto">
            <a:xfrm>
              <a:off x="2400" y="2745"/>
              <a:ext cx="32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2011" name="Line 27"/>
            <p:cNvSpPr>
              <a:spLocks noChangeShapeType="1"/>
            </p:cNvSpPr>
            <p:nvPr/>
          </p:nvSpPr>
          <p:spPr bwMode="auto">
            <a:xfrm>
              <a:off x="2400" y="2994"/>
              <a:ext cx="32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2012" name="Line 28"/>
            <p:cNvSpPr>
              <a:spLocks noChangeShapeType="1"/>
            </p:cNvSpPr>
            <p:nvPr/>
          </p:nvSpPr>
          <p:spPr bwMode="auto">
            <a:xfrm>
              <a:off x="2400" y="3243"/>
              <a:ext cx="326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2013" name="Line 29"/>
            <p:cNvSpPr>
              <a:spLocks noChangeShapeType="1"/>
            </p:cNvSpPr>
            <p:nvPr/>
          </p:nvSpPr>
          <p:spPr bwMode="auto">
            <a:xfrm>
              <a:off x="2400" y="2496"/>
              <a:ext cx="0" cy="74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2014" name="Line 30"/>
            <p:cNvSpPr>
              <a:spLocks noChangeShapeType="1"/>
            </p:cNvSpPr>
            <p:nvPr/>
          </p:nvSpPr>
          <p:spPr bwMode="auto">
            <a:xfrm>
              <a:off x="3216" y="2496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2015" name="Line 31"/>
            <p:cNvSpPr>
              <a:spLocks noChangeShapeType="1"/>
            </p:cNvSpPr>
            <p:nvPr/>
          </p:nvSpPr>
          <p:spPr bwMode="auto">
            <a:xfrm>
              <a:off x="4032" y="2496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2016" name="Line 32"/>
            <p:cNvSpPr>
              <a:spLocks noChangeShapeType="1"/>
            </p:cNvSpPr>
            <p:nvPr/>
          </p:nvSpPr>
          <p:spPr bwMode="auto">
            <a:xfrm>
              <a:off x="5664" y="2496"/>
              <a:ext cx="0" cy="74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2017" name="Line 33"/>
            <p:cNvSpPr>
              <a:spLocks noChangeShapeType="1"/>
            </p:cNvSpPr>
            <p:nvPr/>
          </p:nvSpPr>
          <p:spPr bwMode="auto">
            <a:xfrm>
              <a:off x="4848" y="2496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2018" name="Line 34"/>
            <p:cNvSpPr>
              <a:spLocks noChangeShapeType="1"/>
            </p:cNvSpPr>
            <p:nvPr/>
          </p:nvSpPr>
          <p:spPr bwMode="auto">
            <a:xfrm>
              <a:off x="768" y="2496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2019" name="Line 35"/>
            <p:cNvSpPr>
              <a:spLocks noChangeShapeType="1"/>
            </p:cNvSpPr>
            <p:nvPr/>
          </p:nvSpPr>
          <p:spPr bwMode="auto">
            <a:xfrm flipH="1">
              <a:off x="1152" y="2496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2020" name="Oval 36"/>
            <p:cNvSpPr>
              <a:spLocks noChangeArrowheads="1"/>
            </p:cNvSpPr>
            <p:nvPr/>
          </p:nvSpPr>
          <p:spPr bwMode="auto">
            <a:xfrm>
              <a:off x="384" y="3744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2021" name="Text Box 37"/>
            <p:cNvSpPr txBox="1">
              <a:spLocks noChangeArrowheads="1"/>
            </p:cNvSpPr>
            <p:nvPr/>
          </p:nvSpPr>
          <p:spPr bwMode="auto">
            <a:xfrm>
              <a:off x="480" y="3792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Street</a:t>
              </a:r>
            </a:p>
          </p:txBody>
        </p:sp>
        <p:sp>
          <p:nvSpPr>
            <p:cNvPr id="42022" name="Oval 38"/>
            <p:cNvSpPr>
              <a:spLocks noChangeArrowheads="1"/>
            </p:cNvSpPr>
            <p:nvPr/>
          </p:nvSpPr>
          <p:spPr bwMode="auto">
            <a:xfrm>
              <a:off x="1584" y="3744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2023" name="Text Box 39"/>
            <p:cNvSpPr txBox="1">
              <a:spLocks noChangeArrowheads="1"/>
            </p:cNvSpPr>
            <p:nvPr/>
          </p:nvSpPr>
          <p:spPr bwMode="auto">
            <a:xfrm>
              <a:off x="1680" y="3792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City</a:t>
              </a:r>
            </a:p>
          </p:txBody>
        </p:sp>
        <p:sp>
          <p:nvSpPr>
            <p:cNvPr id="42024" name="Line 40"/>
            <p:cNvSpPr>
              <a:spLocks noChangeShapeType="1"/>
            </p:cNvSpPr>
            <p:nvPr/>
          </p:nvSpPr>
          <p:spPr bwMode="auto">
            <a:xfrm flipH="1">
              <a:off x="816" y="3504"/>
              <a:ext cx="62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2025" name="Line 41"/>
            <p:cNvSpPr>
              <a:spLocks noChangeShapeType="1"/>
            </p:cNvSpPr>
            <p:nvPr/>
          </p:nvSpPr>
          <p:spPr bwMode="auto">
            <a:xfrm>
              <a:off x="1776" y="3504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2026" name="AutoShape 42"/>
            <p:cNvSpPr>
              <a:spLocks noChangeArrowheads="1"/>
            </p:cNvSpPr>
            <p:nvPr/>
          </p:nvSpPr>
          <p:spPr bwMode="auto">
            <a:xfrm>
              <a:off x="1776" y="2688"/>
              <a:ext cx="432" cy="288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2800">
                <a:solidFill>
                  <a:srgbClr val="FF0000"/>
                </a:solidFill>
                <a:ea typeface="PMingLiU" pitchFamily="18" charset="-120"/>
              </a:rPr>
              <a:t>Representing Multivalue Attribute</a:t>
            </a:r>
            <a:endParaRPr lang="en-US" sz="2800">
              <a:solidFill>
                <a:srgbClr val="FF0000"/>
              </a:solidFill>
            </a:endParaRPr>
          </a:p>
        </p:txBody>
      </p:sp>
      <p:grpSp>
        <p:nvGrpSpPr>
          <p:cNvPr id="43011" name="Group 3"/>
          <p:cNvGrpSpPr>
            <a:grpSpLocks/>
          </p:cNvGrpSpPr>
          <p:nvPr/>
        </p:nvGrpSpPr>
        <p:grpSpPr bwMode="auto">
          <a:xfrm>
            <a:off x="228600" y="1219200"/>
            <a:ext cx="8763000" cy="5191125"/>
            <a:chOff x="96" y="768"/>
            <a:chExt cx="5520" cy="3270"/>
          </a:xfrm>
        </p:grpSpPr>
        <p:sp>
          <p:nvSpPr>
            <p:cNvPr id="43012" name="Rectangle 4"/>
            <p:cNvSpPr>
              <a:spLocks noChangeArrowheads="1"/>
            </p:cNvSpPr>
            <p:nvPr/>
          </p:nvSpPr>
          <p:spPr bwMode="auto">
            <a:xfrm>
              <a:off x="1932" y="3666"/>
              <a:ext cx="6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3.6</a:t>
              </a:r>
            </a:p>
          </p:txBody>
        </p:sp>
        <p:sp>
          <p:nvSpPr>
            <p:cNvPr id="43013" name="Rectangle 5"/>
            <p:cNvSpPr>
              <a:spLocks noChangeArrowheads="1"/>
            </p:cNvSpPr>
            <p:nvPr/>
          </p:nvSpPr>
          <p:spPr bwMode="auto">
            <a:xfrm>
              <a:off x="1320" y="3666"/>
              <a:ext cx="6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EE</a:t>
              </a:r>
            </a:p>
          </p:txBody>
        </p:sp>
        <p:sp>
          <p:nvSpPr>
            <p:cNvPr id="43014" name="Rectangle 6"/>
            <p:cNvSpPr>
              <a:spLocks noChangeArrowheads="1"/>
            </p:cNvSpPr>
            <p:nvPr/>
          </p:nvSpPr>
          <p:spPr bwMode="auto">
            <a:xfrm>
              <a:off x="708" y="3666"/>
              <a:ext cx="6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Homer</a:t>
              </a:r>
            </a:p>
          </p:txBody>
        </p:sp>
        <p:sp>
          <p:nvSpPr>
            <p:cNvPr id="43015" name="Rectangle 7"/>
            <p:cNvSpPr>
              <a:spLocks noChangeArrowheads="1"/>
            </p:cNvSpPr>
            <p:nvPr/>
          </p:nvSpPr>
          <p:spPr bwMode="auto">
            <a:xfrm>
              <a:off x="96" y="3666"/>
              <a:ext cx="6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5678</a:t>
              </a:r>
            </a:p>
          </p:txBody>
        </p:sp>
        <p:sp>
          <p:nvSpPr>
            <p:cNvPr id="43016" name="Rectangle 8"/>
            <p:cNvSpPr>
              <a:spLocks noChangeArrowheads="1"/>
            </p:cNvSpPr>
            <p:nvPr/>
          </p:nvSpPr>
          <p:spPr bwMode="auto">
            <a:xfrm>
              <a:off x="1932" y="3417"/>
              <a:ext cx="612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2.8</a:t>
              </a:r>
            </a:p>
          </p:txBody>
        </p:sp>
        <p:sp>
          <p:nvSpPr>
            <p:cNvPr id="43017" name="Rectangle 9"/>
            <p:cNvSpPr>
              <a:spLocks noChangeArrowheads="1"/>
            </p:cNvSpPr>
            <p:nvPr/>
          </p:nvSpPr>
          <p:spPr bwMode="auto">
            <a:xfrm>
              <a:off x="1320" y="3417"/>
              <a:ext cx="612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CS</a:t>
              </a:r>
            </a:p>
          </p:txBody>
        </p:sp>
        <p:sp>
          <p:nvSpPr>
            <p:cNvPr id="43018" name="Rectangle 10"/>
            <p:cNvSpPr>
              <a:spLocks noChangeArrowheads="1"/>
            </p:cNvSpPr>
            <p:nvPr/>
          </p:nvSpPr>
          <p:spPr bwMode="auto">
            <a:xfrm>
              <a:off x="708" y="3417"/>
              <a:ext cx="612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John</a:t>
              </a:r>
            </a:p>
          </p:txBody>
        </p:sp>
        <p:sp>
          <p:nvSpPr>
            <p:cNvPr id="43019" name="Rectangle 11"/>
            <p:cNvSpPr>
              <a:spLocks noChangeArrowheads="1"/>
            </p:cNvSpPr>
            <p:nvPr/>
          </p:nvSpPr>
          <p:spPr bwMode="auto">
            <a:xfrm>
              <a:off x="96" y="3417"/>
              <a:ext cx="612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1234</a:t>
              </a:r>
            </a:p>
          </p:txBody>
        </p:sp>
        <p:sp>
          <p:nvSpPr>
            <p:cNvPr id="43020" name="Rectangle 12"/>
            <p:cNvSpPr>
              <a:spLocks noChangeArrowheads="1"/>
            </p:cNvSpPr>
            <p:nvPr/>
          </p:nvSpPr>
          <p:spPr bwMode="auto">
            <a:xfrm>
              <a:off x="1932" y="3168"/>
              <a:ext cx="6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GPA</a:t>
              </a:r>
            </a:p>
          </p:txBody>
        </p:sp>
        <p:sp>
          <p:nvSpPr>
            <p:cNvPr id="43021" name="Rectangle 13"/>
            <p:cNvSpPr>
              <a:spLocks noChangeArrowheads="1"/>
            </p:cNvSpPr>
            <p:nvPr/>
          </p:nvSpPr>
          <p:spPr bwMode="auto">
            <a:xfrm>
              <a:off x="1320" y="3168"/>
              <a:ext cx="6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Major</a:t>
              </a:r>
            </a:p>
          </p:txBody>
        </p:sp>
        <p:sp>
          <p:nvSpPr>
            <p:cNvPr id="43022" name="Rectangle 14"/>
            <p:cNvSpPr>
              <a:spLocks noChangeArrowheads="1"/>
            </p:cNvSpPr>
            <p:nvPr/>
          </p:nvSpPr>
          <p:spPr bwMode="auto">
            <a:xfrm>
              <a:off x="708" y="3168"/>
              <a:ext cx="6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Name</a:t>
              </a:r>
            </a:p>
          </p:txBody>
        </p:sp>
        <p:sp>
          <p:nvSpPr>
            <p:cNvPr id="43023" name="Rectangle 15"/>
            <p:cNvSpPr>
              <a:spLocks noChangeArrowheads="1"/>
            </p:cNvSpPr>
            <p:nvPr/>
          </p:nvSpPr>
          <p:spPr bwMode="auto">
            <a:xfrm>
              <a:off x="96" y="3168"/>
              <a:ext cx="6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SID</a:t>
              </a:r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>
              <a:off x="96" y="3168"/>
              <a:ext cx="24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>
              <a:off x="96" y="3417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>
              <a:off x="96" y="3666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>
              <a:off x="96" y="3915"/>
              <a:ext cx="24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>
              <a:off x="96" y="3168"/>
              <a:ext cx="0" cy="74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>
              <a:off x="708" y="3168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30" name="Line 22"/>
            <p:cNvSpPr>
              <a:spLocks noChangeShapeType="1"/>
            </p:cNvSpPr>
            <p:nvPr/>
          </p:nvSpPr>
          <p:spPr bwMode="auto">
            <a:xfrm>
              <a:off x="1320" y="3168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31" name="Line 23"/>
            <p:cNvSpPr>
              <a:spLocks noChangeShapeType="1"/>
            </p:cNvSpPr>
            <p:nvPr/>
          </p:nvSpPr>
          <p:spPr bwMode="auto">
            <a:xfrm>
              <a:off x="1932" y="3168"/>
              <a:ext cx="0" cy="7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32" name="Line 24"/>
            <p:cNvSpPr>
              <a:spLocks noChangeShapeType="1"/>
            </p:cNvSpPr>
            <p:nvPr/>
          </p:nvSpPr>
          <p:spPr bwMode="auto">
            <a:xfrm>
              <a:off x="2544" y="3168"/>
              <a:ext cx="0" cy="74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33" name="Rectangle 25"/>
            <p:cNvSpPr>
              <a:spLocks noChangeArrowheads="1"/>
            </p:cNvSpPr>
            <p:nvPr/>
          </p:nvSpPr>
          <p:spPr bwMode="auto">
            <a:xfrm>
              <a:off x="912" y="1296"/>
              <a:ext cx="72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34" name="Text Box 26"/>
            <p:cNvSpPr txBox="1">
              <a:spLocks noChangeArrowheads="1"/>
            </p:cNvSpPr>
            <p:nvPr/>
          </p:nvSpPr>
          <p:spPr bwMode="auto">
            <a:xfrm>
              <a:off x="960" y="1344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Student</a:t>
              </a:r>
            </a:p>
          </p:txBody>
        </p:sp>
        <p:sp>
          <p:nvSpPr>
            <p:cNvPr id="43035" name="Oval 27"/>
            <p:cNvSpPr>
              <a:spLocks noChangeArrowheads="1"/>
            </p:cNvSpPr>
            <p:nvPr/>
          </p:nvSpPr>
          <p:spPr bwMode="auto">
            <a:xfrm>
              <a:off x="1200" y="768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36" name="Oval 28"/>
            <p:cNvSpPr>
              <a:spLocks noChangeArrowheads="1"/>
            </p:cNvSpPr>
            <p:nvPr/>
          </p:nvSpPr>
          <p:spPr bwMode="auto">
            <a:xfrm>
              <a:off x="192" y="768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37" name="Oval 29"/>
            <p:cNvSpPr>
              <a:spLocks noChangeArrowheads="1"/>
            </p:cNvSpPr>
            <p:nvPr/>
          </p:nvSpPr>
          <p:spPr bwMode="auto">
            <a:xfrm>
              <a:off x="192" y="1824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38" name="Oval 30"/>
            <p:cNvSpPr>
              <a:spLocks noChangeArrowheads="1"/>
            </p:cNvSpPr>
            <p:nvPr/>
          </p:nvSpPr>
          <p:spPr bwMode="auto">
            <a:xfrm>
              <a:off x="1440" y="1872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39" name="Line 31"/>
            <p:cNvSpPr>
              <a:spLocks noChangeShapeType="1"/>
            </p:cNvSpPr>
            <p:nvPr/>
          </p:nvSpPr>
          <p:spPr bwMode="auto">
            <a:xfrm>
              <a:off x="576" y="1104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40" name="Line 32"/>
            <p:cNvSpPr>
              <a:spLocks noChangeShapeType="1"/>
            </p:cNvSpPr>
            <p:nvPr/>
          </p:nvSpPr>
          <p:spPr bwMode="auto">
            <a:xfrm flipH="1">
              <a:off x="1296" y="1104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41" name="Line 33"/>
            <p:cNvSpPr>
              <a:spLocks noChangeShapeType="1"/>
            </p:cNvSpPr>
            <p:nvPr/>
          </p:nvSpPr>
          <p:spPr bwMode="auto">
            <a:xfrm flipH="1" flipV="1">
              <a:off x="1392" y="1584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42" name="Line 34"/>
            <p:cNvSpPr>
              <a:spLocks noChangeShapeType="1"/>
            </p:cNvSpPr>
            <p:nvPr/>
          </p:nvSpPr>
          <p:spPr bwMode="auto">
            <a:xfrm flipV="1">
              <a:off x="720" y="1584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43" name="Text Box 35"/>
            <p:cNvSpPr txBox="1">
              <a:spLocks noChangeArrowheads="1"/>
            </p:cNvSpPr>
            <p:nvPr/>
          </p:nvSpPr>
          <p:spPr bwMode="auto">
            <a:xfrm>
              <a:off x="336" y="816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SID</a:t>
              </a:r>
            </a:p>
          </p:txBody>
        </p:sp>
        <p:sp>
          <p:nvSpPr>
            <p:cNvPr id="43044" name="Text Box 36"/>
            <p:cNvSpPr txBox="1">
              <a:spLocks noChangeArrowheads="1"/>
            </p:cNvSpPr>
            <p:nvPr/>
          </p:nvSpPr>
          <p:spPr bwMode="auto">
            <a:xfrm>
              <a:off x="1296" y="816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Name</a:t>
              </a:r>
            </a:p>
          </p:txBody>
        </p:sp>
        <p:sp>
          <p:nvSpPr>
            <p:cNvPr id="43045" name="Text Box 37"/>
            <p:cNvSpPr txBox="1">
              <a:spLocks noChangeArrowheads="1"/>
            </p:cNvSpPr>
            <p:nvPr/>
          </p:nvSpPr>
          <p:spPr bwMode="auto">
            <a:xfrm>
              <a:off x="288" y="1872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Major</a:t>
              </a:r>
            </a:p>
          </p:txBody>
        </p:sp>
        <p:sp>
          <p:nvSpPr>
            <p:cNvPr id="43046" name="Text Box 38"/>
            <p:cNvSpPr txBox="1">
              <a:spLocks noChangeArrowheads="1"/>
            </p:cNvSpPr>
            <p:nvPr/>
          </p:nvSpPr>
          <p:spPr bwMode="auto">
            <a:xfrm>
              <a:off x="1584" y="1920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GPA</a:t>
              </a:r>
            </a:p>
          </p:txBody>
        </p:sp>
        <p:sp>
          <p:nvSpPr>
            <p:cNvPr id="43047" name="AutoShape 39"/>
            <p:cNvSpPr>
              <a:spLocks noChangeArrowheads="1"/>
            </p:cNvSpPr>
            <p:nvPr/>
          </p:nvSpPr>
          <p:spPr bwMode="auto">
            <a:xfrm>
              <a:off x="624" y="2256"/>
              <a:ext cx="1200" cy="7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48" name="AutoShape 40"/>
            <p:cNvSpPr>
              <a:spLocks noChangeArrowheads="1"/>
            </p:cNvSpPr>
            <p:nvPr/>
          </p:nvSpPr>
          <p:spPr bwMode="auto">
            <a:xfrm>
              <a:off x="2784" y="1728"/>
              <a:ext cx="1200" cy="7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49" name="Rectangle 41"/>
            <p:cNvSpPr>
              <a:spLocks noChangeArrowheads="1"/>
            </p:cNvSpPr>
            <p:nvPr/>
          </p:nvSpPr>
          <p:spPr bwMode="auto">
            <a:xfrm>
              <a:off x="3504" y="3540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Lisa</a:t>
              </a:r>
            </a:p>
          </p:txBody>
        </p:sp>
        <p:sp>
          <p:nvSpPr>
            <p:cNvPr id="43050" name="Rectangle 42"/>
            <p:cNvSpPr>
              <a:spLocks noChangeArrowheads="1"/>
            </p:cNvSpPr>
            <p:nvPr/>
          </p:nvSpPr>
          <p:spPr bwMode="auto">
            <a:xfrm>
              <a:off x="2688" y="3540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5678</a:t>
              </a:r>
            </a:p>
          </p:txBody>
        </p:sp>
        <p:sp>
          <p:nvSpPr>
            <p:cNvPr id="43051" name="Rectangle 43"/>
            <p:cNvSpPr>
              <a:spLocks noChangeArrowheads="1"/>
            </p:cNvSpPr>
            <p:nvPr/>
          </p:nvSpPr>
          <p:spPr bwMode="auto">
            <a:xfrm>
              <a:off x="3504" y="3291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Bart</a:t>
              </a:r>
            </a:p>
          </p:txBody>
        </p:sp>
        <p:sp>
          <p:nvSpPr>
            <p:cNvPr id="43052" name="Rectangle 44"/>
            <p:cNvSpPr>
              <a:spLocks noChangeArrowheads="1"/>
            </p:cNvSpPr>
            <p:nvPr/>
          </p:nvSpPr>
          <p:spPr bwMode="auto">
            <a:xfrm>
              <a:off x="2688" y="3291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5678</a:t>
              </a:r>
            </a:p>
          </p:txBody>
        </p:sp>
        <p:sp>
          <p:nvSpPr>
            <p:cNvPr id="43053" name="Rectangle 45"/>
            <p:cNvSpPr>
              <a:spLocks noChangeArrowheads="1"/>
            </p:cNvSpPr>
            <p:nvPr/>
          </p:nvSpPr>
          <p:spPr bwMode="auto">
            <a:xfrm>
              <a:off x="3504" y="3042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Mary</a:t>
              </a:r>
            </a:p>
          </p:txBody>
        </p:sp>
        <p:sp>
          <p:nvSpPr>
            <p:cNvPr id="43054" name="Rectangle 46"/>
            <p:cNvSpPr>
              <a:spLocks noChangeArrowheads="1"/>
            </p:cNvSpPr>
            <p:nvPr/>
          </p:nvSpPr>
          <p:spPr bwMode="auto">
            <a:xfrm>
              <a:off x="2688" y="3042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1234</a:t>
              </a:r>
            </a:p>
          </p:txBody>
        </p:sp>
        <p:sp>
          <p:nvSpPr>
            <p:cNvPr id="43055" name="Rectangle 47"/>
            <p:cNvSpPr>
              <a:spLocks noChangeArrowheads="1"/>
            </p:cNvSpPr>
            <p:nvPr/>
          </p:nvSpPr>
          <p:spPr bwMode="auto">
            <a:xfrm>
              <a:off x="3504" y="3789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Maggie</a:t>
              </a:r>
            </a:p>
          </p:txBody>
        </p:sp>
        <p:sp>
          <p:nvSpPr>
            <p:cNvPr id="43056" name="Rectangle 48"/>
            <p:cNvSpPr>
              <a:spLocks noChangeArrowheads="1"/>
            </p:cNvSpPr>
            <p:nvPr/>
          </p:nvSpPr>
          <p:spPr bwMode="auto">
            <a:xfrm>
              <a:off x="2688" y="3789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5678</a:t>
              </a:r>
            </a:p>
          </p:txBody>
        </p:sp>
        <p:sp>
          <p:nvSpPr>
            <p:cNvPr id="43057" name="Rectangle 49"/>
            <p:cNvSpPr>
              <a:spLocks noChangeArrowheads="1"/>
            </p:cNvSpPr>
            <p:nvPr/>
          </p:nvSpPr>
          <p:spPr bwMode="auto">
            <a:xfrm>
              <a:off x="3504" y="2793"/>
              <a:ext cx="81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Johnson</a:t>
              </a:r>
            </a:p>
          </p:txBody>
        </p:sp>
        <p:sp>
          <p:nvSpPr>
            <p:cNvPr id="43058" name="Rectangle 50"/>
            <p:cNvSpPr>
              <a:spLocks noChangeArrowheads="1"/>
            </p:cNvSpPr>
            <p:nvPr/>
          </p:nvSpPr>
          <p:spPr bwMode="auto">
            <a:xfrm>
              <a:off x="2688" y="2793"/>
              <a:ext cx="816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1234</a:t>
              </a:r>
            </a:p>
          </p:txBody>
        </p:sp>
        <p:sp>
          <p:nvSpPr>
            <p:cNvPr id="43059" name="Rectangle 51"/>
            <p:cNvSpPr>
              <a:spLocks noChangeArrowheads="1"/>
            </p:cNvSpPr>
            <p:nvPr/>
          </p:nvSpPr>
          <p:spPr bwMode="auto">
            <a:xfrm>
              <a:off x="3504" y="2544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Children</a:t>
              </a:r>
            </a:p>
          </p:txBody>
        </p:sp>
        <p:sp>
          <p:nvSpPr>
            <p:cNvPr id="43060" name="Rectangle 52"/>
            <p:cNvSpPr>
              <a:spLocks noChangeArrowheads="1"/>
            </p:cNvSpPr>
            <p:nvPr/>
          </p:nvSpPr>
          <p:spPr bwMode="auto">
            <a:xfrm>
              <a:off x="2688" y="2544"/>
              <a:ext cx="81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3300"/>
                </a:buClr>
                <a:buSzPct val="90000"/>
                <a:buFont typeface="Monotype Sorts" pitchFamily="2" charset="2"/>
                <a:buNone/>
                <a:tabLst/>
                <a:defRPr/>
              </a:pPr>
              <a:r>
                <a:rPr kumimoji="1" lang="en-US" altLang="zh-TW" sz="14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PMingLiU" pitchFamily="18" charset="-120"/>
                  <a:cs typeface="+mn-cs"/>
                </a:rPr>
                <a:t>Stud_SID</a:t>
              </a:r>
            </a:p>
          </p:txBody>
        </p:sp>
        <p:sp>
          <p:nvSpPr>
            <p:cNvPr id="43061" name="Line 53"/>
            <p:cNvSpPr>
              <a:spLocks noChangeShapeType="1"/>
            </p:cNvSpPr>
            <p:nvPr/>
          </p:nvSpPr>
          <p:spPr bwMode="auto">
            <a:xfrm>
              <a:off x="2688" y="2544"/>
              <a:ext cx="163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62" name="Line 54"/>
            <p:cNvSpPr>
              <a:spLocks noChangeShapeType="1"/>
            </p:cNvSpPr>
            <p:nvPr/>
          </p:nvSpPr>
          <p:spPr bwMode="auto">
            <a:xfrm>
              <a:off x="2688" y="2793"/>
              <a:ext cx="1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63" name="Line 55"/>
            <p:cNvSpPr>
              <a:spLocks noChangeShapeType="1"/>
            </p:cNvSpPr>
            <p:nvPr/>
          </p:nvSpPr>
          <p:spPr bwMode="auto">
            <a:xfrm>
              <a:off x="2688" y="3042"/>
              <a:ext cx="1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64" name="Line 56"/>
            <p:cNvSpPr>
              <a:spLocks noChangeShapeType="1"/>
            </p:cNvSpPr>
            <p:nvPr/>
          </p:nvSpPr>
          <p:spPr bwMode="auto">
            <a:xfrm>
              <a:off x="2688" y="4038"/>
              <a:ext cx="163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65" name="Line 57"/>
            <p:cNvSpPr>
              <a:spLocks noChangeShapeType="1"/>
            </p:cNvSpPr>
            <p:nvPr/>
          </p:nvSpPr>
          <p:spPr bwMode="auto">
            <a:xfrm>
              <a:off x="2688" y="2544"/>
              <a:ext cx="0" cy="149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66" name="Line 58"/>
            <p:cNvSpPr>
              <a:spLocks noChangeShapeType="1"/>
            </p:cNvSpPr>
            <p:nvPr/>
          </p:nvSpPr>
          <p:spPr bwMode="auto">
            <a:xfrm>
              <a:off x="3504" y="2544"/>
              <a:ext cx="0" cy="14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67" name="Line 59"/>
            <p:cNvSpPr>
              <a:spLocks noChangeShapeType="1"/>
            </p:cNvSpPr>
            <p:nvPr/>
          </p:nvSpPr>
          <p:spPr bwMode="auto">
            <a:xfrm>
              <a:off x="4320" y="2544"/>
              <a:ext cx="0" cy="149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68" name="Line 60"/>
            <p:cNvSpPr>
              <a:spLocks noChangeShapeType="1"/>
            </p:cNvSpPr>
            <p:nvPr/>
          </p:nvSpPr>
          <p:spPr bwMode="auto">
            <a:xfrm>
              <a:off x="2688" y="3291"/>
              <a:ext cx="1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69" name="Line 61"/>
            <p:cNvSpPr>
              <a:spLocks noChangeShapeType="1"/>
            </p:cNvSpPr>
            <p:nvPr/>
          </p:nvSpPr>
          <p:spPr bwMode="auto">
            <a:xfrm>
              <a:off x="2688" y="3540"/>
              <a:ext cx="1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70" name="Line 62"/>
            <p:cNvSpPr>
              <a:spLocks noChangeShapeType="1"/>
            </p:cNvSpPr>
            <p:nvPr/>
          </p:nvSpPr>
          <p:spPr bwMode="auto">
            <a:xfrm>
              <a:off x="2688" y="3789"/>
              <a:ext cx="1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71" name="Oval 63"/>
            <p:cNvSpPr>
              <a:spLocks noChangeArrowheads="1"/>
            </p:cNvSpPr>
            <p:nvPr/>
          </p:nvSpPr>
          <p:spPr bwMode="auto">
            <a:xfrm>
              <a:off x="2784" y="1152"/>
              <a:ext cx="864" cy="48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72" name="Oval 64"/>
            <p:cNvSpPr>
              <a:spLocks noChangeArrowheads="1"/>
            </p:cNvSpPr>
            <p:nvPr/>
          </p:nvSpPr>
          <p:spPr bwMode="auto">
            <a:xfrm>
              <a:off x="2880" y="1200"/>
              <a:ext cx="672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73" name="Text Box 65"/>
            <p:cNvSpPr txBox="1">
              <a:spLocks noChangeArrowheads="1"/>
            </p:cNvSpPr>
            <p:nvPr/>
          </p:nvSpPr>
          <p:spPr bwMode="auto">
            <a:xfrm>
              <a:off x="2880" y="1248"/>
              <a:ext cx="6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Children</a:t>
              </a:r>
            </a:p>
          </p:txBody>
        </p:sp>
        <p:sp>
          <p:nvSpPr>
            <p:cNvPr id="43074" name="Line 66"/>
            <p:cNvSpPr>
              <a:spLocks noChangeShapeType="1"/>
            </p:cNvSpPr>
            <p:nvPr/>
          </p:nvSpPr>
          <p:spPr bwMode="auto">
            <a:xfrm flipH="1">
              <a:off x="1632" y="1392"/>
              <a:ext cx="115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  <p:sp>
          <p:nvSpPr>
            <p:cNvPr id="43075" name="Text Box 67"/>
            <p:cNvSpPr txBox="1">
              <a:spLocks noChangeArrowheads="1"/>
            </p:cNvSpPr>
            <p:nvPr/>
          </p:nvSpPr>
          <p:spPr bwMode="auto">
            <a:xfrm>
              <a:off x="3888" y="768"/>
              <a:ext cx="1728" cy="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PMingLiU" pitchFamily="18" charset="-120"/>
                  <a:cs typeface="+mn-cs"/>
                </a:rPr>
                <a:t>The primary key for this table is Student_SID + Children, the union of all attributes</a:t>
              </a:r>
            </a:p>
          </p:txBody>
        </p:sp>
        <p:sp>
          <p:nvSpPr>
            <p:cNvPr id="43076" name="Line 68"/>
            <p:cNvSpPr>
              <a:spLocks noChangeShapeType="1"/>
            </p:cNvSpPr>
            <p:nvPr/>
          </p:nvSpPr>
          <p:spPr bwMode="auto">
            <a:xfrm flipH="1">
              <a:off x="4224" y="1344"/>
              <a:ext cx="576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77825"/>
            <a:ext cx="9201150" cy="609600"/>
          </a:xfrm>
        </p:spPr>
        <p:txBody>
          <a:bodyPr/>
          <a:lstStyle/>
          <a:p>
            <a:pPr>
              <a:defRPr/>
            </a:pPr>
            <a:r>
              <a:rPr lang="en-US" altLang="zh-TW">
                <a:solidFill>
                  <a:srgbClr val="FF0000"/>
                </a:solidFill>
                <a:ea typeface="PMingLiU" pitchFamily="18" charset="-120"/>
              </a:rPr>
              <a:t>Representing Relationship Set</a:t>
            </a:r>
            <a:br>
              <a:rPr lang="en-US" altLang="zh-TW">
                <a:solidFill>
                  <a:srgbClr val="FF0000"/>
                </a:solidFill>
                <a:ea typeface="PMingLiU" pitchFamily="18" charset="-120"/>
              </a:rPr>
            </a:br>
            <a:r>
              <a:rPr lang="en-US" altLang="zh-TW">
                <a:solidFill>
                  <a:srgbClr val="FF0000"/>
                </a:solidFill>
                <a:ea typeface="PMingLiU" pitchFamily="18" charset="-120"/>
              </a:rPr>
              <a:t>N-ary Relationship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6083" name="Rectangle 4"/>
          <p:cNvSpPr>
            <a:spLocks noChangeArrowheads="1"/>
          </p:cNvSpPr>
          <p:nvPr/>
        </p:nvSpPr>
        <p:spPr bwMode="auto">
          <a:xfrm>
            <a:off x="330200" y="1427163"/>
            <a:ext cx="8694738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>
                <a:tab pos="346075" algn="l"/>
                <a:tab pos="1255713" algn="ctr"/>
                <a:tab pos="2452688" algn="l"/>
                <a:tab pos="3824288" algn="ctr"/>
              </a:tabLst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</a:t>
            </a:r>
            <a:r>
              <a:rPr kumimoji="1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PMingLiU" pitchFamily="18" charset="-120"/>
                <a:cs typeface="+mn-cs"/>
              </a:rPr>
              <a:t>Intuitively Simple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>
                <a:tab pos="346075" algn="l"/>
                <a:tab pos="1255713" algn="ctr"/>
                <a:tab pos="2452688" algn="l"/>
                <a:tab pos="3824288" algn="ctr"/>
              </a:tabLst>
              <a:defRPr/>
            </a:pPr>
            <a:r>
              <a:rPr kumimoji="1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PMingLiU" pitchFamily="18" charset="-120"/>
                <a:cs typeface="+mn-cs"/>
              </a:rPr>
              <a:t>Build a new table with as many columns as there are attributes for the union of the primary keys of all participating entity sets.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>
                <a:tab pos="346075" algn="l"/>
                <a:tab pos="1255713" algn="ctr"/>
                <a:tab pos="2452688" algn="l"/>
                <a:tab pos="3824288" algn="ctr"/>
              </a:tabLst>
              <a:defRPr/>
            </a:pPr>
            <a:r>
              <a:rPr kumimoji="1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PMingLiU" pitchFamily="18" charset="-120"/>
                <a:cs typeface="+mn-cs"/>
              </a:rPr>
              <a:t>Augment additional columns for descriptive attributes of the relationship set (if necessary)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>
                <a:tab pos="346075" algn="l"/>
                <a:tab pos="1255713" algn="ctr"/>
                <a:tab pos="2452688" algn="l"/>
                <a:tab pos="3824288" algn="ctr"/>
              </a:tabLst>
              <a:defRPr/>
            </a:pPr>
            <a:r>
              <a:rPr kumimoji="1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PMingLiU" pitchFamily="18" charset="-120"/>
                <a:cs typeface="+mn-cs"/>
              </a:rPr>
              <a:t>The primary key of this table is the union of all primary keys of entity sets that are on “many” side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>
                <a:tab pos="346075" algn="l"/>
                <a:tab pos="1255713" algn="ctr"/>
                <a:tab pos="2452688" algn="l"/>
                <a:tab pos="3824288" algn="ctr"/>
              </a:tabLst>
              <a:defRPr/>
            </a:pPr>
            <a:r>
              <a:rPr kumimoji="1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PMingLiU" pitchFamily="18" charset="-120"/>
                <a:cs typeface="+mn-cs"/>
              </a:rPr>
              <a:t>That is it, we are done. 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>
                <a:tab pos="346075" algn="l"/>
                <a:tab pos="1255713" algn="ctr"/>
                <a:tab pos="2452688" algn="l"/>
                <a:tab pos="3824288" algn="ctr"/>
              </a:tabLst>
              <a:defRPr/>
            </a:pP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SimSun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05000"/>
              <a:buFont typeface="Monotype Sorts" pitchFamily="2" charset="2"/>
              <a:buNone/>
              <a:tabLst>
                <a:tab pos="346075" algn="l"/>
                <a:tab pos="1255713" algn="ctr"/>
                <a:tab pos="2452688" algn="l"/>
                <a:tab pos="3824288" algn="ctr"/>
              </a:tabLst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5">
      <a:dk1>
        <a:sysClr val="windowText" lastClr="000000"/>
      </a:dk1>
      <a:lt1>
        <a:sysClr val="window" lastClr="FFFFFF"/>
      </a:lt1>
      <a:dk2>
        <a:srgbClr val="FFCD00"/>
      </a:dk2>
      <a:lt2>
        <a:srgbClr val="00AEDE"/>
      </a:lt2>
      <a:accent1>
        <a:srgbClr val="002E62"/>
      </a:accent1>
      <a:accent2>
        <a:srgbClr val="004CB9"/>
      </a:accent2>
      <a:accent3>
        <a:srgbClr val="FF9D00"/>
      </a:accent3>
      <a:accent4>
        <a:srgbClr val="57A773"/>
      </a:accent4>
      <a:accent5>
        <a:srgbClr val="D11149"/>
      </a:accent5>
      <a:accent6>
        <a:srgbClr val="00111F"/>
      </a:accent6>
      <a:hlink>
        <a:srgbClr val="FFFFFF"/>
      </a:hlink>
      <a:folHlink>
        <a:srgbClr val="FFFFFF"/>
      </a:folHlink>
    </a:clrScheme>
    <a:fontScheme name="Custom 22">
      <a:majorFont>
        <a:latin typeface="Verdana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GeneralDesign02_MO - v4" id="{6FF23145-4007-4574-94C2-B80E45F46FD9}" vid="{0FB396FC-CF2E-452A-9B17-DA6C73B1359A}"/>
    </a:ext>
  </a:extLst>
</a:theme>
</file>

<file path=ppt/theme/theme2.xml><?xml version="1.0" encoding="utf-8"?>
<a:theme xmlns:a="http://schemas.openxmlformats.org/drawingml/2006/main" name="db-book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book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db-book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db-book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book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db-book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Paperback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Paperback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5536</TotalTime>
  <Words>1092</Words>
  <Application>Microsoft Office PowerPoint</Application>
  <PresentationFormat>On-screen Show (4:3)</PresentationFormat>
  <Paragraphs>293</Paragraphs>
  <Slides>23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9" baseType="lpstr">
      <vt:lpstr>Arial</vt:lpstr>
      <vt:lpstr>Calibri</vt:lpstr>
      <vt:lpstr>Helvetica</vt:lpstr>
      <vt:lpstr>Lucida Grande</vt:lpstr>
      <vt:lpstr>Monotype Sorts</vt:lpstr>
      <vt:lpstr>Old Standard TT</vt:lpstr>
      <vt:lpstr>Tahoma</vt:lpstr>
      <vt:lpstr>Times New Roman</vt:lpstr>
      <vt:lpstr>Verdana</vt:lpstr>
      <vt:lpstr>Wingdings</vt:lpstr>
      <vt:lpstr>Office Theme</vt:lpstr>
      <vt:lpstr>db-book</vt:lpstr>
      <vt:lpstr>1_db-book</vt:lpstr>
      <vt:lpstr>Paperback</vt:lpstr>
      <vt:lpstr>1_Paperback</vt:lpstr>
      <vt:lpstr>Clip</vt:lpstr>
      <vt:lpstr>Database Management Systems</vt:lpstr>
      <vt:lpstr> ERD to Tables </vt:lpstr>
      <vt:lpstr>Reduction of an E-R Schema to Tables</vt:lpstr>
      <vt:lpstr>Representing Entity Sets   as Tables</vt:lpstr>
      <vt:lpstr>Representing strong Entity Sets as Tables</vt:lpstr>
      <vt:lpstr>Representing Relationship  Sets as Tables</vt:lpstr>
      <vt:lpstr>Many-to-many Relationship Sets</vt:lpstr>
      <vt:lpstr>Entity Sets customer and loan</vt:lpstr>
      <vt:lpstr>Representing Relationship Sets as Tables</vt:lpstr>
      <vt:lpstr>PowerPoint Presentation</vt:lpstr>
      <vt:lpstr>PowerPoint Presentation</vt:lpstr>
      <vt:lpstr>Representing Relationship sets  without a separate Tables</vt:lpstr>
      <vt:lpstr>Many-to-one and One-to-many</vt:lpstr>
      <vt:lpstr>Redundancy of Tables</vt:lpstr>
      <vt:lpstr>Example – Many-to-One Relationship Set</vt:lpstr>
      <vt:lpstr>One-to-one Relationship Set</vt:lpstr>
      <vt:lpstr>One-to-One (W/out Total)</vt:lpstr>
      <vt:lpstr>One-to-One (Total Student side)</vt:lpstr>
      <vt:lpstr>Composite and Multivalued Attributes</vt:lpstr>
      <vt:lpstr>Composite and Multivalued Attributes</vt:lpstr>
      <vt:lpstr>Representing Composite Attribute</vt:lpstr>
      <vt:lpstr>Representing Multivalue Attribute</vt:lpstr>
      <vt:lpstr>Representing Relationship Set N-ary Relationship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of a Digital Voltmeter using Verilog HDL  &amp;  Xilinx Spartan II FPGA Board</dc:title>
  <dc:creator>Qaosar</dc:creator>
  <cp:lastModifiedBy>CSE Head</cp:lastModifiedBy>
  <cp:revision>230</cp:revision>
  <cp:lastPrinted>1601-01-01T00:00:00Z</cp:lastPrinted>
  <dcterms:created xsi:type="dcterms:W3CDTF">2009-01-28T10:37:00Z</dcterms:created>
  <dcterms:modified xsi:type="dcterms:W3CDTF">2025-08-25T17:13:46Z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2</vt:i4>
  </property>
  <property fmtid="{D5CDD505-2E9C-101B-9397-08002B2CF9AE}" pid="3" name="LCID">
    <vt:i4>1033</vt:i4>
  </property>
</Properties>
</file>