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5" r:id="rId1"/>
    <p:sldMasterId id="2147483680" r:id="rId2"/>
    <p:sldMasterId id="2147483692" r:id="rId3"/>
    <p:sldMasterId id="2147484002" r:id="rId4"/>
    <p:sldMasterId id="2147484023" r:id="rId5"/>
  </p:sldMasterIdLst>
  <p:notesMasterIdLst>
    <p:notesMasterId r:id="rId25"/>
  </p:notesMasterIdLst>
  <p:handoutMasterIdLst>
    <p:handoutMasterId r:id="rId26"/>
  </p:handoutMasterIdLst>
  <p:sldIdLst>
    <p:sldId id="476" r:id="rId6"/>
    <p:sldId id="477" r:id="rId7"/>
    <p:sldId id="259" r:id="rId8"/>
    <p:sldId id="530" r:id="rId9"/>
    <p:sldId id="258" r:id="rId10"/>
    <p:sldId id="422" r:id="rId11"/>
    <p:sldId id="261" r:id="rId12"/>
    <p:sldId id="423" r:id="rId13"/>
    <p:sldId id="424" r:id="rId14"/>
    <p:sldId id="425" r:id="rId15"/>
    <p:sldId id="426" r:id="rId16"/>
    <p:sldId id="262" r:id="rId17"/>
    <p:sldId id="468" r:id="rId18"/>
    <p:sldId id="531" r:id="rId19"/>
    <p:sldId id="428" r:id="rId20"/>
    <p:sldId id="427" r:id="rId21"/>
    <p:sldId id="512" r:id="rId22"/>
    <p:sldId id="429" r:id="rId23"/>
    <p:sldId id="513" r:id="rId2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88" autoAdjust="0"/>
    <p:restoredTop sz="94746" autoAdjust="0"/>
  </p:normalViewPr>
  <p:slideViewPr>
    <p:cSldViewPr snapToGrid="0">
      <p:cViewPr>
        <p:scale>
          <a:sx n="100" d="100"/>
          <a:sy n="100" d="100"/>
        </p:scale>
        <p:origin x="576" y="7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29" d="100"/>
          <a:sy n="29" d="100"/>
        </p:scale>
        <p:origin x="-2012" y="-6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09B3EF7-C549-46C1-B916-9FA687A3999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Helvetic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B1954BB9-0FDB-4EDA-9F74-067CC3B5EB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Helvetic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65E44E30-8996-404B-A448-F1C415C512D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Helvetic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02BA17A9-89BD-4F6F-B2C7-BE2C4ACF493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smtClean="0"/>
            </a:lvl1pPr>
          </a:lstStyle>
          <a:p>
            <a:pPr>
              <a:defRPr/>
            </a:pPr>
            <a:fld id="{E64066EB-16E0-4B37-A7E9-EFF9DC74BB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9F708C1D-5E4A-40D9-8CC5-4B7FB5A857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Helvetic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CE8920B1-57A3-4D0D-8B20-40C2CFAA443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Helvetic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053FB066-5FE9-4C9E-8DC0-B50175B35CC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CEB0B6E2-036D-4094-ACD6-094A9757364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F17D160F-5F41-4C12-B612-F578AE0292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Helvetic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5BE7D79B-924A-4DBE-AAB0-5FEAE300ED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smtClean="0"/>
            </a:lvl1pPr>
          </a:lstStyle>
          <a:p>
            <a:pPr>
              <a:defRPr/>
            </a:pPr>
            <a:fld id="{CD358EBC-B420-4670-8528-4C3F1014BA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B24D6A02-43B0-4D35-A2FC-BA1940AAAB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12EA9E20-E17F-4F09-A2D2-38F01612E96E}" type="slidenum">
              <a:rPr lang="en-US" altLang="en-US" sz="1300"/>
              <a:pPr/>
              <a:t>6</a:t>
            </a:fld>
            <a:endParaRPr lang="en-US" altLang="en-US" sz="13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B1DE881B-4604-47B7-8764-C03B587E56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553276CB-E59E-4AFB-92CA-819DA2774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PT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F8DD1319-9A8F-4F1B-B999-093E895D8B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85216ADC-FC02-4B77-BDA0-3537B008C9AA}" type="slidenum">
              <a:rPr lang="en-US" altLang="en-US" sz="1300"/>
              <a:pPr/>
              <a:t>8</a:t>
            </a:fld>
            <a:endParaRPr lang="en-US" altLang="en-US" sz="13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FF55166-D456-442B-A42A-37A710A86F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24F5CE3F-4413-47FB-8F4A-145644B12D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PT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57063154-4B95-4925-AF92-ECB348E97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C1C81C8-8422-4FC9-B97C-6EA7107F11FF}" type="slidenum">
              <a:rPr lang="en-US" altLang="en-US" sz="1300"/>
              <a:pPr/>
              <a:t>9</a:t>
            </a:fld>
            <a:endParaRPr lang="en-US" altLang="en-US" sz="13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BC2EFE8-2015-4561-9843-32880717D5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F3667D24-52D5-48CD-94F4-607A8050A3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PT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2D6B3E9E-44A0-4341-8968-FD881B3093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52D870C-43C1-4407-9F0F-2ED84684BC14}" type="slidenum">
              <a:rPr lang="en-US" altLang="en-US" sz="1300"/>
              <a:pPr/>
              <a:t>10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6AC6ABB-CD56-44EC-8881-3E7B4E3EE8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F8A1911-A989-4992-B239-87FD211473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PT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27E64FF-DA48-49B4-A534-64EFC914B4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7955A95E-2039-4F11-B417-7B8A2F03878E}" type="slidenum">
              <a:rPr lang="en-US" altLang="en-US" sz="1300"/>
              <a:pPr/>
              <a:t>11</a:t>
            </a:fld>
            <a:endParaRPr lang="en-US" altLang="en-US" sz="13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F906ECE-63B4-437A-A9C0-3C71976403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EFBF1293-50BB-4D9B-A162-8CFE9D94D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PT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8017A1EC-E694-4149-A041-C3599E7976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25DD49B-4F0E-4C30-8C5F-2AABBC8E2CCE}" type="slidenum">
              <a:rPr lang="en-US" altLang="en-US" sz="1300"/>
              <a:pPr/>
              <a:t>13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7173B39-16A2-4FA3-AC07-B6452AB4FC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450347F-5298-4AFC-A779-DBD8F3235A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PT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C1C2B945-F8DD-4CC3-83E2-286426BB66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5F2EB5E8-EB63-4BAF-8B89-3C7F33BACFCD}" type="slidenum">
              <a:rPr lang="en-US" altLang="en-US" sz="1300"/>
              <a:pPr/>
              <a:t>15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1EEDC87-4D54-44E6-B7DB-9EEBB3F72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A1AB2C3-91F2-4FD2-A17A-FCBCB97060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PT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77B1498F-09A1-4A18-945F-5467B7AC94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84652841-B644-421C-9E08-9A2B5309F3F7}" type="slidenum">
              <a:rPr lang="en-US" altLang="en-US" sz="1300"/>
              <a:pPr/>
              <a:t>16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EA920AA-0972-428F-82B2-FABF107ADA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EC02410A-EF65-4482-9933-8BF4E9788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PT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70ADA22-53F6-4534-9268-4375FD34C9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56FD6D34-304C-404C-830C-38DCD6D84F16}" type="slidenum">
              <a:rPr lang="en-US" altLang="en-US" sz="1300"/>
              <a:pPr/>
              <a:t>17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DF0230F-4935-423D-8A21-422EFD004F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3F0DA426-9AEC-49B4-A6F1-D98D816552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PT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C0D033FF-D21D-4A57-9A3F-26451F69AE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2158B28-6402-4D01-9478-A20C9B6989C7}" type="slidenum">
              <a:rPr lang="en-US" altLang="en-US" sz="1300"/>
              <a:pPr/>
              <a:t>18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24D6D5F4-D808-420F-8B9E-1B1F621F53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B7F8C5-E1A4-4D30-B273-B962D7D8C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PT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554BFC9D-5A7C-4A7E-A2D9-D143F16EC6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D3A29D7-3118-4C83-83F5-17F21D5E70B7}" type="slidenum">
              <a:rPr lang="en-US" altLang="en-US" sz="1300"/>
              <a:pPr/>
              <a:t>19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8B908F82-E321-4AC8-AD5B-9D7F3DE9B7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10D4CD93-7195-44A4-8009-38D6060B93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PT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030">
            <a:extLst>
              <a:ext uri="{FF2B5EF4-FFF2-40B4-BE49-F238E27FC236}">
                <a16:creationId xmlns:a16="http://schemas.microsoft.com/office/drawing/2014/main" id="{6C2D2D62-D409-4DBC-9E46-C728FD5A4DCA}"/>
              </a:ext>
            </a:extLst>
          </p:cNvPr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4098" name="Rectangle 1030">
                        <a:extLst>
                          <a:ext uri="{FF2B5EF4-FFF2-40B4-BE49-F238E27FC236}">
                            <a16:creationId xmlns:a16="http://schemas.microsoft.com/office/drawing/2014/main" id="{3FC5F7EE-9D66-4DAB-A124-76019C7CC4A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2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1603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1028">
            <a:extLst>
              <a:ext uri="{FF2B5EF4-FFF2-40B4-BE49-F238E27FC236}">
                <a16:creationId xmlns:a16="http://schemas.microsoft.com/office/drawing/2014/main" id="{299FFADA-8D55-4F78-93DD-4CC2DD16719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600">
                <a:solidFill>
                  <a:srgbClr val="578963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1029">
            <a:extLst>
              <a:ext uri="{FF2B5EF4-FFF2-40B4-BE49-F238E27FC236}">
                <a16:creationId xmlns:a16="http://schemas.microsoft.com/office/drawing/2014/main" id="{3B661FE2-6D0A-4B40-995D-4E6EC2FD50F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F46AC29D-AB21-4F11-AB8B-A211325813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993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6C15D35-F4D2-400F-BC31-AB99E54C8C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F641C0-9B28-4BEC-B6A2-C5676376EF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360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511353-08EF-47D4-A16D-1C29BDB9BF1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4DAAD-6C7C-49F1-BC76-CA9998050D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4504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A06CB3-334E-432A-A6ED-FAD51B662E8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200D06-4FF9-4C6C-8189-93B599EF8B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940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122363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1238" y="1122363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2AE5C87-035E-45D2-966A-E019A144487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59381-C7A3-42C9-A594-F19C67A2E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27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D99E350-ACAA-4BBA-9B70-A30567C6E05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E86183-7A79-4479-A972-777A605BB5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78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9BADF9B-EECD-4176-B5BC-0D4A2B3CCC0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97CCE-0263-40B3-895A-EE2AADB4D1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797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491C0C3-7F35-4667-83D4-CCBA6059880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9E170-41F9-4C4D-8D3D-0A1DD3A2FD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558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53CBCCE-5D0D-4DB9-AFDD-A74802E5F2B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ADA07-2A95-4AD9-A3F5-3C298CB46B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623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A9D300-FDEA-4E9A-9378-EB04FD33895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BBC88-A8F7-4230-8902-EC9E3F7D4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973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32D23-9B16-4FD4-B25D-5FFA4E7A17F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61748-BAA8-4991-8507-5CB2D96652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687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908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908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6F68FD-03BD-4011-9263-56161013E9F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53E7A-E566-49D4-9EC6-3C48DFC05C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731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E8F25-2AB5-409B-899E-A86492EA0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E4812-CF49-4D4E-82A9-4D7A95C4B1B8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9AFD6-D136-4838-BB3B-10445FE8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BF4D7-7CE2-416C-9DD1-BD2385EB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E09F28-E11C-4720-8731-638A929D43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4831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E0CB2-EA67-4506-B714-5C6D781D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883AA-15BD-422D-BC2F-45272334CE4E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2BE3F-15EB-4331-889A-7CD67805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171A9-4DBF-47C6-815F-44ACECD4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A9157-C26F-467B-AF33-CDFEEDB1DD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216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0D4D2-C1DD-4006-AF12-0493ABC3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B1AD4-B0EC-4A4B-B567-0F2B79D32199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2537D-C2AF-40D5-A4BD-12C8F6739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3225D-FF35-4694-A441-56132028B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18BA1-7A3C-43D9-8253-4B2071CEF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1850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7B8E84-4734-4169-9F53-469CD943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D9594-B44E-4241-B006-AB34C3764FD6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DB12D90-4A25-4857-A98D-1EA41C87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610432E-9EF9-4D9C-B39C-41784AE0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7C741-89A2-477C-BF49-4CF99C4F6C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1956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17076FA-84C4-4A30-A4F0-FC05C751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05F949-E9BC-439D-8569-4E72B8AB5E77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386B79-AEA6-4937-B8F3-0A1AFC5F4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83D32E4-04D9-423B-BA32-1A6769AE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68B4E-26F9-41E9-B929-283D952F8D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0496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62EE4D-3D9B-4CD9-8A07-B17B67C0C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49831-6285-412A-A849-D71898DF8390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BE23DAB-CF2B-4591-A0B4-4725BD90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3B46100-B62D-4CF4-9BDF-35CDC0A5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50481-07BF-446F-924D-A73981BB65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1101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1250E25-82CD-4137-A889-00308CB4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B4AB7-759D-4245-800C-CBC7A3E9F86B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E64064-BD40-4EA4-B04F-B2F0D37E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D4D7162-E56B-41D2-8E5B-DB8B3C67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520D1-97DA-4303-94C7-F576E15D8D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5521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5264BF3-303A-4317-B62C-A159EFCE8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002B2-7051-41C3-9146-D60047A42BC5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48C012B-129F-47F5-B0B3-E7BCB5642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8121FB-0482-431A-861C-6F67F373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77651-2363-41D6-8F0B-50A665F178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9789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8714B3-E03B-4C3F-A678-F3D0F83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6B853-5AE4-4A77-A723-33D28ED468E3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B5D7BC9-5350-461A-9130-21B121C7C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C86741-766B-42B6-A925-678C83C0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7D9D-F7A3-4FA2-99BC-64DDA183FA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48035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966BE-DB50-4DFA-B3BD-81204023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69C7A-5128-47BE-B0C2-741E34F573DB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6FE4D-3968-4B6A-810C-91A601E15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9DC6E-2B92-4BE5-9F7F-909D4D59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70B377-B6A6-49F3-8D30-A08BCB7861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424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2EA88-C9DC-44BC-9632-F7B8AA0F6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578760-55DC-48C9-A9A1-089E319F1FFB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0BCA3-3695-4AED-B07D-3A7A65EC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122A4-4F97-49DC-BB13-83F972FE2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4B97E-119D-458C-B552-39F6419946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10442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CAF81-0023-4F9B-A1FC-7EE347418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53EC7-4EB5-4858-AE7F-F4506BBFDBE0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5F26-0162-460C-BCBC-56C5DE20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780EA-7B02-48C7-9775-DFCB9513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7E751-A0D6-4D46-B5CA-2535AA925F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4143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62215-F7B0-4983-9588-82D433E5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B6ECC-D294-4E42-868C-DA8E14B82BFF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591A1-9724-4804-8EB1-7E7869D2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4BF40-7770-4E79-9381-C1A2208D1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EA46C-20C3-4D32-80FC-8FC0212953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31240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73C5A-5B9B-4397-813C-48E2F571B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18911-68B9-4D48-BE37-214CB2512DD5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1042F-3018-4EAB-877B-5B9B835D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092AE-9E6A-49D3-9EC8-31B9182A8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644A5-B00C-4B41-B43C-9FAC880E80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4686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40145A5-7375-4893-A402-82E565F1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06C092-E87F-4EC1-850D-86EC4403E83F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6D0BD54-ACB5-4D47-AAAE-D614DF81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57D5873-3593-40A0-98BC-57BA46834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DA833-54FF-475F-B456-ECE6FD402F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92391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871DB40-B091-4A7C-A90E-A2682672D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8A4CF-4C1D-4DCC-B09E-8FF16EB250CF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6AF6E55-6E14-4902-99B4-403E745F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460395-84CC-49A0-9696-9B7F8A86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E6398D-9F1D-4351-B8A3-E13BC28FFD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4581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17902F8-AF29-4717-9D58-0369766D2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7C17B3-0C5E-4E31-A1F6-942F7BF680F4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5C1D62-CB5F-4A64-8949-4FD2840C1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BDBA4B4-8D7D-478B-8881-990F3EFB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51FF2-31D5-458F-B28E-770CE6E0CB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69601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1AD82FF-9BD4-412B-9178-15B6FA5CE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BD72C-A127-4634-9697-546E9002FA46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94582B-59E6-4AF8-B1E5-3C51C2A7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ADC793-C3A3-4248-B89E-A8CE90398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AC155-4233-4DBE-B4E9-9D9E8A4D6C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34484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DAB8580-E87B-46E5-8E8C-0111A53B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5C301-2514-4BED-A70E-9C944F9C45A3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6FBCF20-1C22-42B2-A0FE-DD895D3C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64BF9D9-884A-403A-9F5C-ADFB18A7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C1A03-12D9-4690-9D91-FCF0A45CAC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1118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E1CCFC9-A1C1-4271-80E2-00AA9A034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11CAC-6B13-434D-B79E-B751334778EF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E5D95A-7FC9-4D74-931C-128B2345B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E8D2538-FCCE-42AD-8A5B-196A8340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74854-236E-4B87-A358-334F36B4E6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54688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D89E4-80FC-4EBD-8AD8-B2482B103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31100A-66CF-4886-802C-ED8517076399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0E0-5970-4647-86EB-89E97409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2F57C-CDFC-48A4-9AED-16FEAFCC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40641-7D31-4114-A434-9A38B61FA0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06927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9596E-6C48-4600-BE5A-09251649E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9982C1-0F6A-4EA6-9A40-442CC9E7F697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0F33A-8827-4EF7-8604-DACF1C25A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904B3-3E1A-4AEB-97CB-0D1DE081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3A019-F826-4A58-AC59-49C0C950B4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91483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3226E60-D666-4A89-8017-8E2772CD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D07B0-BB14-44C9-9E9E-A03F220B7578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5AFD54-F229-4E6C-AF50-D120A3C8E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F245397-FEF3-45AF-A9DF-58462522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460E2F-EE8A-4352-A0FD-7B019BBFF1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93845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40DE253-87CA-4AD8-8D0C-C558E295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E0DCB-4CFD-4DA4-B8F5-BA786142B486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EF66DA-2F75-46B5-84DC-6F391384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414E19-D5F3-4E7D-A100-CFE65ECE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E6CD8-9B4C-4699-8B54-06C2F2A35C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17540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8827144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41150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50462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36757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68299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36146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953625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688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22266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4313156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624876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8116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071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55339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8797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33350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6651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450948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367689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10541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6452" y="1122363"/>
            <a:ext cx="6751097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6452" y="3602038"/>
            <a:ext cx="6751097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345C-E78F-4D56-93EC-01CC770E2274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222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A742-5D7A-4FCC-B6C7-17FDDBCE4BE2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4308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2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FF61-B939-4AE8-8722-515140725ED9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027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6267-FBCE-4879-9E5C-EE32147A0932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282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354" y="2088320"/>
            <a:ext cx="36593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1502" y="2088320"/>
            <a:ext cx="364916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36738-06C9-4D3E-B0E0-4DD58561607D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7316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0115-87A2-42BF-BF1E-5AE119768C4E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672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36187-2BAA-4448-8029-FF606AB3CCB1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9678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5A7F9-C45C-442C-8B96-115AF3CDF0F0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7723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447330" cy="23622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3" y="758881"/>
            <a:ext cx="2441517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2971800"/>
            <a:ext cx="4451213" cy="28194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A80B-AC08-44F9-A571-8A374323709C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1425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74DA-5FAC-41EE-AF9A-31196C947755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364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1D16-71E6-451D-910A-E2A56E14466B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4451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D8D1-5A2E-4B54-8406-855B6E97C6DF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735241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467" y="2972093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775103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29EA-9AD3-4BFA-B623-FC771E60A3B5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730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A98E-9054-42E7-9276-984F904753EA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7641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4195899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298987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772161"/>
            <a:ext cx="247421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4195899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98987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72160"/>
            <a:ext cx="2475252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4195899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298987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772162"/>
            <a:ext cx="2470694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ECC9-5184-4245-A7A6-ECB4D02BDEEF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678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293B-522D-4A72-9AEC-FEF5C60E52EB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8268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4FB-80C6-4227-847E-0C94C20FA958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38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DDDD"/>
            </a:gs>
            <a:gs pos="100000">
              <a:srgbClr val="F8F8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DC06802-A461-4CA7-9D00-0227CE340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122363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80579" name="Rectangle 3">
            <a:extLst>
              <a:ext uri="{FF2B5EF4-FFF2-40B4-BE49-F238E27FC236}">
                <a16:creationId xmlns:a16="http://schemas.microsoft.com/office/drawing/2014/main" id="{FF99F321-AC28-4145-9594-4B17E62C26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1469814-DB3F-44A5-8522-36BA71B6E0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Text Box 5">
            <a:extLst>
              <a:ext uri="{FF2B5EF4-FFF2-40B4-BE49-F238E27FC236}">
                <a16:creationId xmlns:a16="http://schemas.microsoft.com/office/drawing/2014/main" id="{878F796F-7326-47F9-89B0-236A4A0CF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6613525"/>
            <a:ext cx="696913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chemeClr val="tx2"/>
                </a:solidFill>
              </a:rPr>
              <a:t>15-17.</a:t>
            </a:r>
            <a:fld id="{4CEADBDC-3535-4B93-B7B1-C3BE2DBD6F43}" type="slidenum">
              <a:rPr lang="en-US" altLang="en-US" sz="1000" b="1" smtClean="0">
                <a:solidFill>
                  <a:schemeClr val="tx2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chemeClr val="tx2"/>
              </a:solidFill>
            </a:endParaRPr>
          </a:p>
        </p:txBody>
      </p:sp>
      <p:sp>
        <p:nvSpPr>
          <p:cNvPr id="280582" name="Rectangle 6">
            <a:extLst>
              <a:ext uri="{FF2B5EF4-FFF2-40B4-BE49-F238E27FC236}">
                <a16:creationId xmlns:a16="http://schemas.microsoft.com/office/drawing/2014/main" id="{8928B265-56A7-4D13-9509-2DC76F6F9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Text Box 7">
            <a:extLst>
              <a:ext uri="{FF2B5EF4-FFF2-40B4-BE49-F238E27FC236}">
                <a16:creationId xmlns:a16="http://schemas.microsoft.com/office/drawing/2014/main" id="{B838C7CD-4AB1-4FFB-9C72-50631174E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424180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Helvetic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chemeClr val="tx2"/>
                </a:solidFill>
              </a:rPr>
              <a:t>José Alferes - Adaptado de Database System Concepts - 5</a:t>
            </a:r>
            <a:r>
              <a:rPr lang="en-US" sz="1000" b="1" baseline="30000">
                <a:solidFill>
                  <a:schemeClr val="tx2"/>
                </a:solidFill>
              </a:rPr>
              <a:t>th</a:t>
            </a:r>
            <a:r>
              <a:rPr lang="en-US" sz="1000" b="1">
                <a:solidFill>
                  <a:schemeClr val="tx2"/>
                </a:solidFill>
              </a:rPr>
              <a:t> Edition</a:t>
            </a:r>
          </a:p>
        </p:txBody>
      </p:sp>
      <p:sp>
        <p:nvSpPr>
          <p:cNvPr id="1031" name="Freeform 8">
            <a:extLst>
              <a:ext uri="{FF2B5EF4-FFF2-40B4-BE49-F238E27FC236}">
                <a16:creationId xmlns:a16="http://schemas.microsoft.com/office/drawing/2014/main" id="{5F237E94-EFE7-47FE-BC7F-BFCBBC1E4A73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1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48B94E78-C192-40DD-AA14-5BE0F4855E7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E2988586-BE13-4260-B427-7F0F80BE1F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0AD3A-D944-4E9A-9DB9-EE40CCDCC6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" charset="0"/>
              </a:defRPr>
            </a:lvl1pPr>
          </a:lstStyle>
          <a:p>
            <a:pPr>
              <a:defRPr/>
            </a:pPr>
            <a:fld id="{87300774-8221-4836-A4AA-C14A74FDCB56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586E4-48B0-4188-A5C8-515E93185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1F7AC-A1A1-4807-A23A-E047EE0FE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B6201C8-10B4-4912-B161-1DB5199BE9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D085ED10-76EF-49A8-9333-FDD8E5D1522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2706B701-66BA-432A-A8B9-CD749BD33D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8DF1E-5A03-438A-93E7-5E8DD9974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" charset="0"/>
              </a:defRPr>
            </a:lvl1pPr>
          </a:lstStyle>
          <a:p>
            <a:pPr>
              <a:defRPr/>
            </a:pPr>
            <a:fld id="{F2BB2F00-9BF7-40B6-BB6B-B66074009029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4B666-05EE-4F0B-BA80-D51C38EAA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9709E-08FC-47C9-A583-A1F5147D4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78F0D64-8708-46F6-BE67-954905C104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  <p:sldLayoutId id="2147483996" r:id="rId9"/>
    <p:sldLayoutId id="2147483997" r:id="rId10"/>
    <p:sldLayoutId id="2147483998" r:id="rId11"/>
    <p:sldLayoutId id="2147483999" r:id="rId12"/>
    <p:sldLayoutId id="2147484000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4337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16" r:id="rId14"/>
    <p:sldLayoutId id="2147484017" r:id="rId15"/>
    <p:sldLayoutId id="2147484018" r:id="rId16"/>
    <p:sldLayoutId id="2147484019" r:id="rId17"/>
    <p:sldLayoutId id="2147484020" r:id="rId18"/>
    <p:sldLayoutId id="2147484021" r:id="rId19"/>
    <p:sldLayoutId id="2147484022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FD33F-969B-4D1B-99EF-2D3AC30505CF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40B71-8F19-4C7E-AABA-243A847DE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212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  <p:sldLayoutId id="2147484035" r:id="rId12"/>
    <p:sldLayoutId id="2147484036" r:id="rId13"/>
    <p:sldLayoutId id="2147484037" r:id="rId14"/>
    <p:sldLayoutId id="2147484038" r:id="rId15"/>
    <p:sldLayoutId id="2147484039" r:id="rId16"/>
    <p:sldLayoutId id="2147484040" r:id="rId17"/>
  </p:sldLayoutIdLst>
  <p:hf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2683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09FF-FBCD-48E9-9C14-6EF6F813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Transaction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69D17-17D2-48E8-B3DE-4852C46DF0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0731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166C8-7F1F-4D02-AD88-85A9FC3CE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50"/>
            <a:ext cx="7765321" cy="939019"/>
          </a:xfrm>
        </p:spPr>
        <p:txBody>
          <a:bodyPr/>
          <a:lstStyle/>
          <a:p>
            <a:pPr algn="l"/>
            <a:r>
              <a:rPr lang="en-US" dirty="0"/>
              <a:t>Transaction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FB734-BD29-40DC-949F-C3D6A22FD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914" y="1722414"/>
            <a:ext cx="8567225" cy="3861581"/>
          </a:xfrm>
        </p:spPr>
        <p:txBody>
          <a:bodyPr>
            <a:normAutofit lnSpcReduction="10000"/>
          </a:bodyPr>
          <a:lstStyle/>
          <a:p>
            <a:r>
              <a:rPr lang="en-US" sz="2100" dirty="0"/>
              <a:t>Suppose, Mr. A and Mr. Y have a bank account.  Now need to transfer 1000 taka from Mr. A accounts to Mr. Y accounts.</a:t>
            </a:r>
          </a:p>
          <a:p>
            <a:r>
              <a:rPr lang="en-US" sz="2100" dirty="0">
                <a:effectLst/>
              </a:rPr>
              <a:t>Transaction:</a:t>
            </a:r>
          </a:p>
          <a:p>
            <a:pPr marL="685800" lvl="2" indent="0">
              <a:buNone/>
            </a:pPr>
            <a:r>
              <a:rPr lang="en-US" sz="1800" dirty="0">
                <a:effectLst/>
              </a:rPr>
              <a:t>Read (</a:t>
            </a:r>
            <a:r>
              <a:rPr lang="en-US" sz="1800" dirty="0" err="1">
                <a:effectLst/>
              </a:rPr>
              <a:t>Mr.A</a:t>
            </a:r>
            <a:r>
              <a:rPr lang="en-US" sz="1800" dirty="0">
                <a:effectLst/>
              </a:rPr>
              <a:t>)</a:t>
            </a:r>
          </a:p>
          <a:p>
            <a:pPr marL="685800" lvl="2" indent="0">
              <a:buNone/>
            </a:pPr>
            <a:r>
              <a:rPr lang="en-US" sz="1800" dirty="0" err="1">
                <a:effectLst/>
              </a:rPr>
              <a:t>Mr.A</a:t>
            </a:r>
            <a:r>
              <a:rPr lang="en-US" sz="1800" dirty="0">
                <a:effectLst/>
              </a:rPr>
              <a:t> = </a:t>
            </a:r>
            <a:r>
              <a:rPr lang="en-US" sz="1800" dirty="0" err="1">
                <a:effectLst/>
              </a:rPr>
              <a:t>Mr.A</a:t>
            </a:r>
            <a:r>
              <a:rPr lang="en-US" sz="1800" dirty="0">
                <a:effectLst/>
              </a:rPr>
              <a:t> -1000</a:t>
            </a:r>
          </a:p>
          <a:p>
            <a:pPr marL="685800" lvl="2" indent="0">
              <a:buNone/>
            </a:pPr>
            <a:r>
              <a:rPr lang="en-US" sz="1800" dirty="0">
                <a:effectLst/>
              </a:rPr>
              <a:t>Write (</a:t>
            </a:r>
            <a:r>
              <a:rPr lang="en-US" sz="1800" dirty="0" err="1">
                <a:effectLst/>
              </a:rPr>
              <a:t>Mr.A</a:t>
            </a:r>
            <a:r>
              <a:rPr lang="en-US" sz="1800" dirty="0">
                <a:effectLst/>
              </a:rPr>
              <a:t>)</a:t>
            </a:r>
          </a:p>
          <a:p>
            <a:pPr marL="685800" lvl="2" indent="0">
              <a:buNone/>
            </a:pPr>
            <a:r>
              <a:rPr lang="en-US" sz="1800" dirty="0">
                <a:effectLst/>
              </a:rPr>
              <a:t>Read (</a:t>
            </a:r>
            <a:r>
              <a:rPr lang="en-US" sz="1800" dirty="0" err="1">
                <a:effectLst/>
              </a:rPr>
              <a:t>Mr.Y</a:t>
            </a:r>
            <a:r>
              <a:rPr lang="en-US" sz="1800" dirty="0">
                <a:effectLst/>
              </a:rPr>
              <a:t>)</a:t>
            </a:r>
          </a:p>
          <a:p>
            <a:pPr marL="685800" lvl="2" indent="0">
              <a:buNone/>
            </a:pPr>
            <a:r>
              <a:rPr lang="en-US" sz="1800" dirty="0">
                <a:effectLst/>
              </a:rPr>
              <a:t>Mr. Y = </a:t>
            </a:r>
            <a:r>
              <a:rPr lang="en-US" sz="1800" dirty="0" err="1">
                <a:effectLst/>
              </a:rPr>
              <a:t>Mr.Y</a:t>
            </a:r>
            <a:r>
              <a:rPr lang="en-US" sz="1800" dirty="0">
                <a:effectLst/>
              </a:rPr>
              <a:t> +1000</a:t>
            </a:r>
          </a:p>
          <a:p>
            <a:pPr marL="685800" lvl="2" indent="0">
              <a:buNone/>
            </a:pPr>
            <a:r>
              <a:rPr lang="en-US" sz="1800" dirty="0">
                <a:effectLst/>
              </a:rPr>
              <a:t>Write (</a:t>
            </a:r>
            <a:r>
              <a:rPr lang="en-US" sz="1800" dirty="0" err="1">
                <a:effectLst/>
              </a:rPr>
              <a:t>Mr.Y</a:t>
            </a:r>
            <a:r>
              <a:rPr lang="en-US" sz="1800" dirty="0">
                <a:effectLst/>
              </a:rPr>
              <a:t>)</a:t>
            </a:r>
          </a:p>
          <a:p>
            <a:pPr marL="685800" lvl="2" indent="0">
              <a:buNone/>
            </a:pPr>
            <a:r>
              <a:rPr lang="en-US" sz="1800" dirty="0">
                <a:effectLst/>
              </a:rPr>
              <a:t>COMMIT</a:t>
            </a:r>
          </a:p>
          <a:p>
            <a:pPr marL="685800" lvl="2" indent="0">
              <a:buNone/>
            </a:pPr>
            <a:endParaRPr lang="en-US" sz="1800" dirty="0">
              <a:effectLst/>
            </a:endParaRP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7929B3DD-D1AB-47BD-A123-3D484EFDF817}"/>
              </a:ext>
            </a:extLst>
          </p:cNvPr>
          <p:cNvSpPr/>
          <p:nvPr/>
        </p:nvSpPr>
        <p:spPr>
          <a:xfrm>
            <a:off x="5834576" y="2777491"/>
            <a:ext cx="1361050" cy="168812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prstClr val="white"/>
                </a:solidFill>
                <a:latin typeface="Rockwell" panose="02060603020205020403"/>
              </a:rPr>
              <a:t>Database</a:t>
            </a:r>
          </a:p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prstClr val="white"/>
                </a:solidFill>
                <a:latin typeface="Rockwell" panose="02060603020205020403"/>
              </a:rPr>
              <a:t>Server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EBD087-24EA-469A-87A5-C8CFB82AACF8}"/>
              </a:ext>
            </a:extLst>
          </p:cNvPr>
          <p:cNvCxnSpPr>
            <a:cxnSpLocks/>
          </p:cNvCxnSpPr>
          <p:nvPr/>
        </p:nvCxnSpPr>
        <p:spPr>
          <a:xfrm>
            <a:off x="1972994" y="5225269"/>
            <a:ext cx="4663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9759F2-179E-47E8-8F6B-5F767810D1B5}"/>
              </a:ext>
            </a:extLst>
          </p:cNvPr>
          <p:cNvCxnSpPr>
            <a:cxnSpLocks/>
          </p:cNvCxnSpPr>
          <p:nvPr/>
        </p:nvCxnSpPr>
        <p:spPr>
          <a:xfrm flipV="1">
            <a:off x="6636434" y="4465613"/>
            <a:ext cx="0" cy="759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5C0AD74-3F77-461A-B409-95A058D01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fld id="{6BE40B71-8F19-4C7E-AABA-243A847DEC41}" type="slidenum">
              <a:rPr lang="en-US">
                <a:solidFill>
                  <a:prstClr val="white">
                    <a:tint val="75000"/>
                  </a:prstClr>
                </a:solidFill>
                <a:latin typeface="Rockwell" panose="02060603020205020403"/>
              </a:rPr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t>3</a:t>
            </a:fld>
            <a:endParaRPr lang="en-US">
              <a:solidFill>
                <a:prstClr val="white">
                  <a:tint val="75000"/>
                </a:prstClr>
              </a:solidFill>
              <a:latin typeface="Rockwell" panose="02060603020205020403"/>
            </a:endParaRPr>
          </a:p>
        </p:txBody>
      </p:sp>
    </p:spTree>
    <p:extLst>
      <p:ext uri="{BB962C8B-B14F-4D97-AF65-F5344CB8AC3E}">
        <p14:creationId xmlns:p14="http://schemas.microsoft.com/office/powerpoint/2010/main" val="222785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0E4588-02C6-44F6-9181-BAFA42B44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49" y="636790"/>
            <a:ext cx="6145301" cy="55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60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E1AE-2220-4C93-8656-44723962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0662"/>
            <a:ext cx="7765321" cy="684041"/>
          </a:xfrm>
        </p:spPr>
        <p:txBody>
          <a:bodyPr/>
          <a:lstStyle/>
          <a:p>
            <a:pPr algn="l"/>
            <a:r>
              <a:rPr lang="en-US" dirty="0"/>
              <a:t>Transaction example (Cont’d):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CF11E5-5844-4A67-8D58-0F5A995EC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976" y="1659109"/>
            <a:ext cx="5884664" cy="4102976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8AD34-DEA0-40A1-9E39-FA0F99A0C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fld id="{6BE40B71-8F19-4C7E-AABA-243A847DEC41}" type="slidenum">
              <a:rPr lang="en-US">
                <a:solidFill>
                  <a:prstClr val="white">
                    <a:tint val="75000"/>
                  </a:prstClr>
                </a:solidFill>
                <a:latin typeface="Rockwell" panose="02060603020205020403"/>
              </a:rPr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t>5</a:t>
            </a:fld>
            <a:endParaRPr lang="en-US">
              <a:solidFill>
                <a:prstClr val="white">
                  <a:tint val="75000"/>
                </a:prstClr>
              </a:solidFill>
              <a:latin typeface="Rockwell" panose="02060603020205020403"/>
            </a:endParaRPr>
          </a:p>
        </p:txBody>
      </p:sp>
    </p:spTree>
    <p:extLst>
      <p:ext uri="{BB962C8B-B14F-4D97-AF65-F5344CB8AC3E}">
        <p14:creationId xmlns:p14="http://schemas.microsoft.com/office/powerpoint/2010/main" val="2769398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>
            <a:extLst>
              <a:ext uri="{FF2B5EF4-FFF2-40B4-BE49-F238E27FC236}">
                <a16:creationId xmlns:a16="http://schemas.microsoft.com/office/drawing/2014/main" id="{44664F00-14E5-4460-A60F-77726DFC55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Transaction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77FFD1B-5A13-43B8-AA60-C42C78E75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22363"/>
            <a:ext cx="7386638" cy="4867275"/>
          </a:xfrm>
        </p:spPr>
        <p:txBody>
          <a:bodyPr/>
          <a:lstStyle/>
          <a:p>
            <a:r>
              <a:rPr lang="en-US" altLang="en-US" sz="1800" dirty="0"/>
              <a:t>A </a:t>
            </a:r>
            <a:r>
              <a:rPr lang="en-US" altLang="en-US" sz="1800" b="1" dirty="0">
                <a:solidFill>
                  <a:schemeClr val="tx2"/>
                </a:solidFill>
              </a:rPr>
              <a:t>transaction</a:t>
            </a:r>
            <a:r>
              <a:rPr lang="en-US" altLang="en-US" sz="1800" i="1" dirty="0"/>
              <a:t> </a:t>
            </a:r>
            <a:r>
              <a:rPr lang="en-US" altLang="en-US" sz="1800" dirty="0"/>
              <a:t>is a </a:t>
            </a:r>
            <a:r>
              <a:rPr lang="en-US" altLang="en-US" sz="1800" i="1" dirty="0"/>
              <a:t>unit </a:t>
            </a:r>
            <a:r>
              <a:rPr lang="en-US" altLang="en-US" sz="1800" dirty="0"/>
              <a:t>of program execution that accesses and  possibly updates various data items.</a:t>
            </a:r>
          </a:p>
          <a:p>
            <a:r>
              <a:rPr lang="en-US" altLang="en-US" sz="1800" dirty="0"/>
              <a:t>E.g. transaction to transfer €50 from account A to account B: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1600" dirty="0"/>
              <a:t>1.	</a:t>
            </a:r>
            <a:r>
              <a:rPr lang="en-US" altLang="en-US" sz="1600" b="1" dirty="0" err="1"/>
              <a:t>read_from_acoount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1600" dirty="0"/>
              <a:t>2.	</a:t>
            </a:r>
            <a:r>
              <a:rPr lang="en-US" altLang="en-US" sz="1600" i="1" dirty="0"/>
              <a:t>A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A – </a:t>
            </a:r>
            <a:r>
              <a:rPr lang="en-US" altLang="en-US" sz="1600" dirty="0"/>
              <a:t>50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1600" dirty="0"/>
              <a:t>3.	</a:t>
            </a:r>
            <a:r>
              <a:rPr lang="en-US" altLang="en-US" sz="1600" b="1" dirty="0" err="1"/>
              <a:t>write_to_account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1600" dirty="0"/>
              <a:t>4.	</a:t>
            </a:r>
            <a:r>
              <a:rPr lang="en-US" altLang="en-US" sz="1600" b="1" dirty="0" err="1"/>
              <a:t>read_from_accont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r>
              <a:rPr lang="en-US" altLang="en-US" sz="1600" dirty="0"/>
              <a:t>)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1600" dirty="0"/>
              <a:t>5.	</a:t>
            </a:r>
            <a:r>
              <a:rPr lang="en-US" altLang="en-US" sz="1600" i="1" dirty="0"/>
              <a:t>B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B + </a:t>
            </a:r>
            <a:r>
              <a:rPr lang="en-US" altLang="en-US" sz="1600" dirty="0"/>
              <a:t>50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1600" dirty="0"/>
              <a:t>6.	</a:t>
            </a:r>
            <a:r>
              <a:rPr lang="en-US" altLang="en-US" sz="1600" b="1" dirty="0" err="1"/>
              <a:t>write_to_account</a:t>
            </a:r>
            <a:r>
              <a:rPr lang="en-US" altLang="en-US" sz="1600" dirty="0"/>
              <a:t>(</a:t>
            </a:r>
            <a:r>
              <a:rPr lang="en-US" altLang="en-US" sz="1600" i="1" dirty="0"/>
              <a:t>B)</a:t>
            </a:r>
            <a:endParaRPr lang="en-US" altLang="en-US" sz="1800" dirty="0"/>
          </a:p>
          <a:p>
            <a:r>
              <a:rPr lang="en-US" altLang="en-US" sz="1800" dirty="0"/>
              <a:t>Two main issues to deal with:</a:t>
            </a:r>
          </a:p>
          <a:p>
            <a:pPr lvl="1"/>
            <a:r>
              <a:rPr lang="en-US" altLang="en-US" sz="1800" dirty="0"/>
              <a:t>Failures of various kinds, such as </a:t>
            </a:r>
            <a:r>
              <a:rPr lang="en-US" altLang="en-US" sz="1800" b="1" dirty="0"/>
              <a:t>hardware failures and system crashes</a:t>
            </a:r>
          </a:p>
          <a:p>
            <a:pPr lvl="1"/>
            <a:r>
              <a:rPr lang="en-US" altLang="en-US" sz="1800" dirty="0"/>
              <a:t>Concurrent execution of </a:t>
            </a:r>
            <a:r>
              <a:rPr lang="en-US" altLang="en-US" sz="1800" b="1" dirty="0"/>
              <a:t>multiple transactions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EA86-9B84-4D46-B189-27DDC7362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50"/>
            <a:ext cx="7765321" cy="587327"/>
          </a:xfrm>
        </p:spPr>
        <p:txBody>
          <a:bodyPr/>
          <a:lstStyle/>
          <a:p>
            <a:pPr algn="l"/>
            <a:r>
              <a:rPr lang="en-US" dirty="0"/>
              <a:t>ACID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7F0DA-DE70-485C-BDC9-F0A1E3A55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5" y="1444576"/>
            <a:ext cx="8693834" cy="4202723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latin typeface="urw-din"/>
              </a:rPr>
              <a:t>In order to maintain consistency in a database, before and after the transaction, certain properties are followed. These are called </a:t>
            </a:r>
            <a:r>
              <a:rPr lang="en-US" sz="1800" b="1" dirty="0">
                <a:effectLst/>
                <a:latin typeface="urw-din"/>
              </a:rPr>
              <a:t>ACID</a:t>
            </a:r>
            <a:r>
              <a:rPr lang="en-US" sz="1800" dirty="0">
                <a:effectLst/>
                <a:latin typeface="urw-din"/>
              </a:rPr>
              <a:t> properties. </a:t>
            </a:r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3FF679-C98F-42B2-B145-E25DC07CE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532" y="2628076"/>
            <a:ext cx="6092651" cy="208020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9A0B8-92B6-483D-9286-7A189D99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fld id="{6BE40B71-8F19-4C7E-AABA-243A847DEC41}" type="slidenum">
              <a:rPr lang="en-US">
                <a:solidFill>
                  <a:prstClr val="white">
                    <a:tint val="75000"/>
                  </a:prstClr>
                </a:solidFill>
                <a:latin typeface="Rockwell" panose="02060603020205020403"/>
              </a:rPr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t>7</a:t>
            </a:fld>
            <a:endParaRPr lang="en-US">
              <a:solidFill>
                <a:prstClr val="white">
                  <a:tint val="75000"/>
                </a:prstClr>
              </a:solidFill>
              <a:latin typeface="Rockwell" panose="02060603020205020403"/>
            </a:endParaRPr>
          </a:p>
        </p:txBody>
      </p:sp>
    </p:spTree>
    <p:extLst>
      <p:ext uri="{BB962C8B-B14F-4D97-AF65-F5344CB8AC3E}">
        <p14:creationId xmlns:p14="http://schemas.microsoft.com/office/powerpoint/2010/main" val="1634633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>
            <a:extLst>
              <a:ext uri="{FF2B5EF4-FFF2-40B4-BE49-F238E27FC236}">
                <a16:creationId xmlns:a16="http://schemas.microsoft.com/office/drawing/2014/main" id="{F1313E8D-38F3-40F2-AACA-A3C8BD0E09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Transaction ACID properties</a:t>
            </a:r>
          </a:p>
        </p:txBody>
      </p:sp>
      <p:sp>
        <p:nvSpPr>
          <p:cNvPr id="672771" name="Rectangle 3">
            <a:extLst>
              <a:ext uri="{FF2B5EF4-FFF2-40B4-BE49-F238E27FC236}">
                <a16:creationId xmlns:a16="http://schemas.microsoft.com/office/drawing/2014/main" id="{C7AF7D4A-9E06-449C-928B-D252306EB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06488"/>
            <a:ext cx="7653338" cy="5000625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Char char="n"/>
              <a:defRPr/>
            </a:pPr>
            <a:r>
              <a:rPr lang="en-US" sz="1600" dirty="0"/>
              <a:t>E.g. transaction to transfer €50 from account A to account B: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400" dirty="0"/>
              <a:t>1.	</a:t>
            </a:r>
            <a:r>
              <a:rPr lang="en-US" sz="1400" b="1" dirty="0" err="1"/>
              <a:t>read_from_acoount</a:t>
            </a:r>
            <a:r>
              <a:rPr lang="en-US" sz="1400" dirty="0"/>
              <a:t>(</a:t>
            </a:r>
            <a:r>
              <a:rPr lang="en-US" sz="1400" i="1" dirty="0"/>
              <a:t>A</a:t>
            </a:r>
            <a:r>
              <a:rPr lang="en-US" sz="14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400" dirty="0"/>
              <a:t>2.	</a:t>
            </a:r>
            <a:r>
              <a:rPr lang="en-US" sz="1400" i="1" dirty="0"/>
              <a:t>A</a:t>
            </a:r>
            <a:r>
              <a:rPr lang="en-US" sz="1400" dirty="0"/>
              <a:t> := </a:t>
            </a:r>
            <a:r>
              <a:rPr lang="en-US" sz="1400" i="1" dirty="0"/>
              <a:t>A – </a:t>
            </a:r>
            <a:r>
              <a:rPr lang="en-US" sz="14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400" dirty="0"/>
              <a:t>3.	</a:t>
            </a:r>
            <a:r>
              <a:rPr lang="en-US" sz="1400" b="1" dirty="0" err="1"/>
              <a:t>write_to_account</a:t>
            </a:r>
            <a:r>
              <a:rPr lang="en-US" sz="1400" dirty="0"/>
              <a:t>(</a:t>
            </a:r>
            <a:r>
              <a:rPr lang="en-US" sz="1400" i="1" dirty="0"/>
              <a:t>A</a:t>
            </a:r>
            <a:r>
              <a:rPr lang="en-US" sz="14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400" dirty="0"/>
              <a:t>4.	</a:t>
            </a:r>
            <a:r>
              <a:rPr lang="en-US" sz="1400" b="1" dirty="0" err="1"/>
              <a:t>read_from_accont</a:t>
            </a:r>
            <a:r>
              <a:rPr lang="en-US" sz="1400" dirty="0"/>
              <a:t>(</a:t>
            </a:r>
            <a:r>
              <a:rPr lang="en-US" sz="1400" i="1" dirty="0"/>
              <a:t>B</a:t>
            </a:r>
            <a:r>
              <a:rPr lang="en-US" sz="14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400" dirty="0"/>
              <a:t>5.	</a:t>
            </a:r>
            <a:r>
              <a:rPr lang="en-US" sz="1400" i="1" dirty="0"/>
              <a:t>B</a:t>
            </a:r>
            <a:r>
              <a:rPr lang="en-US" sz="1400" dirty="0"/>
              <a:t> := </a:t>
            </a:r>
            <a:r>
              <a:rPr lang="en-US" sz="1400" i="1" dirty="0"/>
              <a:t>B + </a:t>
            </a:r>
            <a:r>
              <a:rPr lang="en-US" sz="14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400" dirty="0"/>
              <a:t>6.	</a:t>
            </a:r>
            <a:r>
              <a:rPr lang="en-US" sz="1400" b="1" dirty="0" err="1"/>
              <a:t>write_to_account</a:t>
            </a:r>
            <a:r>
              <a:rPr lang="en-US" sz="1400" dirty="0"/>
              <a:t>(</a:t>
            </a:r>
            <a:r>
              <a:rPr lang="en-US" sz="1400" i="1" dirty="0"/>
              <a:t>B)</a:t>
            </a:r>
            <a:endParaRPr lang="en-US" sz="1600" dirty="0"/>
          </a:p>
          <a:p>
            <a:pPr>
              <a:lnSpc>
                <a:spcPct val="90000"/>
              </a:lnSpc>
              <a:buFont typeface="Monotype Sorts" charset="2"/>
              <a:buChar char="n"/>
              <a:defRPr/>
            </a:pPr>
            <a:r>
              <a:rPr lang="en-US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1600" b="1" dirty="0">
                <a:solidFill>
                  <a:schemeClr val="tx2"/>
                </a:solidFill>
              </a:rPr>
              <a:t>tomicity requirement</a:t>
            </a:r>
            <a:r>
              <a:rPr lang="en-US" sz="1600" b="1" dirty="0"/>
              <a:t> </a:t>
            </a:r>
          </a:p>
          <a:p>
            <a:pPr lvl="1">
              <a:lnSpc>
                <a:spcPct val="90000"/>
              </a:lnSpc>
              <a:buFont typeface="Monotype Sorts" charset="2"/>
              <a:buChar char="l"/>
              <a:defRPr/>
            </a:pPr>
            <a:r>
              <a:rPr lang="en-US" sz="1600" dirty="0"/>
              <a:t>if the transaction fails </a:t>
            </a:r>
            <a:r>
              <a:rPr lang="en-US" sz="1600" b="1" dirty="0"/>
              <a:t>after step 3 and before step 6</a:t>
            </a:r>
            <a:r>
              <a:rPr lang="en-US" sz="1600" dirty="0"/>
              <a:t>, money will be “lost” leading to an inconsistent database state</a:t>
            </a:r>
          </a:p>
          <a:p>
            <a:pPr lvl="2">
              <a:lnSpc>
                <a:spcPct val="90000"/>
              </a:lnSpc>
              <a:buFont typeface="Webdings" charset="2"/>
              <a:buChar char="4"/>
              <a:defRPr/>
            </a:pPr>
            <a:r>
              <a:rPr lang="en-US" sz="1600" dirty="0"/>
              <a:t>Failure could be due to </a:t>
            </a:r>
            <a:r>
              <a:rPr lang="en-US" sz="1600" b="1" dirty="0"/>
              <a:t>software or hardware</a:t>
            </a:r>
          </a:p>
          <a:p>
            <a:pPr lvl="1">
              <a:lnSpc>
                <a:spcPct val="90000"/>
              </a:lnSpc>
              <a:buFont typeface="Monotype Sorts" charset="2"/>
              <a:buChar char="l"/>
              <a:defRPr/>
            </a:pPr>
            <a:r>
              <a:rPr lang="en-US" sz="1600" dirty="0"/>
              <a:t>the system should ensure that </a:t>
            </a:r>
            <a:r>
              <a:rPr lang="en-US" sz="1600" b="1" dirty="0">
                <a:solidFill>
                  <a:srgbClr val="FF0000"/>
                </a:solidFill>
              </a:rPr>
              <a:t>updates of a partially exec</a:t>
            </a:r>
            <a:r>
              <a:rPr lang="en-US" sz="1600" dirty="0"/>
              <a:t>uted transaction are not reflected in the database</a:t>
            </a:r>
          </a:p>
          <a:p>
            <a:pPr lvl="1">
              <a:lnSpc>
                <a:spcPct val="90000"/>
              </a:lnSpc>
              <a:buFont typeface="Monotype Sorts" charset="2"/>
              <a:buChar char="l"/>
              <a:defRPr/>
            </a:pPr>
            <a:r>
              <a:rPr lang="en-US" sz="1600" b="1" dirty="0">
                <a:solidFill>
                  <a:srgbClr val="FF0000"/>
                </a:solidFill>
              </a:rPr>
              <a:t>All or nothing</a:t>
            </a:r>
            <a:r>
              <a:rPr lang="en-US" sz="1600" dirty="0"/>
              <a:t>, regarding the execution of the transaction</a:t>
            </a:r>
          </a:p>
          <a:p>
            <a:pPr>
              <a:lnSpc>
                <a:spcPct val="90000"/>
              </a:lnSpc>
              <a:buFont typeface="Monotype Sorts" charset="2"/>
              <a:buChar char="n"/>
              <a:defRPr/>
            </a:pPr>
            <a:r>
              <a:rPr lang="en-US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sz="1600" b="1" dirty="0">
                <a:solidFill>
                  <a:schemeClr val="tx2"/>
                </a:solidFill>
              </a:rPr>
              <a:t>urability requirement</a:t>
            </a:r>
            <a:r>
              <a:rPr lang="en-US" sz="1600" b="1" dirty="0"/>
              <a:t> </a:t>
            </a:r>
            <a:r>
              <a:rPr lang="en-US" sz="1600" dirty="0"/>
              <a:t>— once the user has been notified </a:t>
            </a:r>
            <a:r>
              <a:rPr lang="en-US" sz="1600" b="1" dirty="0"/>
              <a:t>of transaction has completio</a:t>
            </a:r>
            <a:r>
              <a:rPr lang="en-US" sz="1600" dirty="0"/>
              <a:t>n, the </a:t>
            </a:r>
            <a:r>
              <a:rPr lang="en-US" sz="1600" b="1" dirty="0"/>
              <a:t>updates </a:t>
            </a:r>
            <a:r>
              <a:rPr lang="en-US" sz="1600" b="1" dirty="0">
                <a:solidFill>
                  <a:srgbClr val="FF0000"/>
                </a:solidFill>
              </a:rPr>
              <a:t>must persist </a:t>
            </a:r>
            <a:r>
              <a:rPr lang="en-US" sz="1600" dirty="0"/>
              <a:t>in the database even if there are </a:t>
            </a:r>
            <a:r>
              <a:rPr lang="en-US" sz="1600" b="1" dirty="0"/>
              <a:t>software or hardware failures</a:t>
            </a:r>
            <a:r>
              <a:rPr lang="en-US" sz="16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>
            <a:extLst>
              <a:ext uri="{FF2B5EF4-FFF2-40B4-BE49-F238E27FC236}">
                <a16:creationId xmlns:a16="http://schemas.microsoft.com/office/drawing/2014/main" id="{096C7BDB-E9F4-4F89-810D-D9EF4CCED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Transaction ACID properties (Cont.)</a:t>
            </a:r>
          </a:p>
        </p:txBody>
      </p:sp>
      <p:sp>
        <p:nvSpPr>
          <p:cNvPr id="674819" name="Rectangle 3">
            <a:extLst>
              <a:ext uri="{FF2B5EF4-FFF2-40B4-BE49-F238E27FC236}">
                <a16:creationId xmlns:a16="http://schemas.microsoft.com/office/drawing/2014/main" id="{B7A65655-FD94-453C-8832-AC950A21D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4225" y="1106488"/>
            <a:ext cx="7812088" cy="5362575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Char char="n"/>
              <a:defRPr/>
            </a:pPr>
            <a:r>
              <a:rPr lang="en-US" sz="1600" dirty="0"/>
              <a:t>Transaction to transfer €50 from account A to account B: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400" dirty="0"/>
              <a:t>1.	</a:t>
            </a:r>
            <a:r>
              <a:rPr lang="en-US" sz="1400" b="1" dirty="0" err="1"/>
              <a:t>read_from_acoount</a:t>
            </a:r>
            <a:r>
              <a:rPr lang="en-US" sz="1400" dirty="0"/>
              <a:t>(</a:t>
            </a:r>
            <a:r>
              <a:rPr lang="en-US" sz="1400" i="1" dirty="0"/>
              <a:t>A</a:t>
            </a:r>
            <a:r>
              <a:rPr lang="en-US" sz="14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400" dirty="0"/>
              <a:t>2.	</a:t>
            </a:r>
            <a:r>
              <a:rPr lang="en-US" sz="1400" i="1" dirty="0"/>
              <a:t>A</a:t>
            </a:r>
            <a:r>
              <a:rPr lang="en-US" sz="1400" dirty="0"/>
              <a:t> := </a:t>
            </a:r>
            <a:r>
              <a:rPr lang="en-US" sz="1400" i="1" dirty="0"/>
              <a:t>A – </a:t>
            </a:r>
            <a:r>
              <a:rPr lang="en-US" sz="14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400" dirty="0"/>
              <a:t>3.	</a:t>
            </a:r>
            <a:r>
              <a:rPr lang="en-US" sz="1400" b="1" dirty="0" err="1"/>
              <a:t>write_to_account</a:t>
            </a:r>
            <a:r>
              <a:rPr lang="en-US" sz="1400" dirty="0"/>
              <a:t>(</a:t>
            </a:r>
            <a:r>
              <a:rPr lang="en-US" sz="1400" i="1" dirty="0"/>
              <a:t>A</a:t>
            </a:r>
            <a:r>
              <a:rPr lang="en-US" sz="14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400" dirty="0"/>
              <a:t>4.	</a:t>
            </a:r>
            <a:r>
              <a:rPr lang="en-US" sz="1400" b="1" dirty="0" err="1"/>
              <a:t>read_from_accont</a:t>
            </a:r>
            <a:r>
              <a:rPr lang="en-US" sz="1400" dirty="0"/>
              <a:t>(</a:t>
            </a:r>
            <a:r>
              <a:rPr lang="en-US" sz="1400" i="1" dirty="0"/>
              <a:t>B</a:t>
            </a:r>
            <a:r>
              <a:rPr lang="en-US" sz="14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400" dirty="0"/>
              <a:t>5.	</a:t>
            </a:r>
            <a:r>
              <a:rPr lang="en-US" sz="1400" i="1" dirty="0"/>
              <a:t>B</a:t>
            </a:r>
            <a:r>
              <a:rPr lang="en-US" sz="1400" dirty="0"/>
              <a:t> := </a:t>
            </a:r>
            <a:r>
              <a:rPr lang="en-US" sz="1400" i="1" dirty="0"/>
              <a:t>B + </a:t>
            </a:r>
            <a:r>
              <a:rPr lang="en-US" sz="14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400" dirty="0"/>
              <a:t>6.	</a:t>
            </a:r>
            <a:r>
              <a:rPr lang="en-US" sz="1400" b="1" dirty="0" err="1"/>
              <a:t>write_to_account</a:t>
            </a:r>
            <a:r>
              <a:rPr lang="en-US" sz="1400" dirty="0"/>
              <a:t>(</a:t>
            </a:r>
            <a:r>
              <a:rPr lang="en-US" sz="1400" i="1" dirty="0"/>
              <a:t>B)</a:t>
            </a:r>
            <a:endParaRPr lang="en-US" sz="1600" dirty="0"/>
          </a:p>
          <a:p>
            <a:pPr>
              <a:lnSpc>
                <a:spcPct val="90000"/>
              </a:lnSpc>
              <a:buFont typeface="Monotype Sorts" charset="2"/>
              <a:buChar char="n"/>
              <a:defRPr/>
            </a:pPr>
            <a:r>
              <a:rPr lang="en-US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1600" b="1" dirty="0">
                <a:solidFill>
                  <a:schemeClr val="tx2"/>
                </a:solidFill>
              </a:rPr>
              <a:t>onsistency requirement</a:t>
            </a:r>
            <a:r>
              <a:rPr lang="en-US" sz="1600" dirty="0"/>
              <a:t> in above example:</a:t>
            </a:r>
          </a:p>
          <a:p>
            <a:pPr lvl="1">
              <a:lnSpc>
                <a:spcPct val="90000"/>
              </a:lnSpc>
              <a:buFont typeface="Monotype Sorts" charset="2"/>
              <a:buChar char="l"/>
              <a:defRPr/>
            </a:pPr>
            <a:r>
              <a:rPr lang="en-US" sz="1600" b="1" dirty="0"/>
              <a:t> the sum of A and B </a:t>
            </a:r>
            <a:r>
              <a:rPr lang="en-US" sz="1600" dirty="0"/>
              <a:t>is </a:t>
            </a:r>
            <a:r>
              <a:rPr lang="en-US" sz="1600" b="1" dirty="0"/>
              <a:t>unchanged by the execution of the transacti</a:t>
            </a:r>
            <a:r>
              <a:rPr lang="en-US" sz="1600" dirty="0"/>
              <a:t>on</a:t>
            </a:r>
          </a:p>
          <a:p>
            <a:pPr>
              <a:lnSpc>
                <a:spcPct val="90000"/>
              </a:lnSpc>
              <a:buFont typeface="Monotype Sorts" charset="2"/>
              <a:buChar char="n"/>
              <a:defRPr/>
            </a:pPr>
            <a:r>
              <a:rPr lang="en-US" sz="1600" dirty="0"/>
              <a:t>In general, consistency requirements include </a:t>
            </a:r>
          </a:p>
          <a:p>
            <a:pPr lvl="2">
              <a:lnSpc>
                <a:spcPct val="90000"/>
              </a:lnSpc>
              <a:buFont typeface="Webdings" charset="2"/>
              <a:buChar char="4"/>
              <a:defRPr/>
            </a:pPr>
            <a:r>
              <a:rPr lang="en-US" sz="1600" dirty="0"/>
              <a:t>Explicitly </a:t>
            </a:r>
            <a:r>
              <a:rPr lang="en-US" sz="1600" b="1" dirty="0"/>
              <a:t>specified integrity constraints </a:t>
            </a:r>
            <a:r>
              <a:rPr lang="en-US" sz="1600" dirty="0"/>
              <a:t>such as primary keys and foreign keys</a:t>
            </a:r>
          </a:p>
          <a:p>
            <a:pPr lvl="2">
              <a:lnSpc>
                <a:spcPct val="90000"/>
              </a:lnSpc>
              <a:buFont typeface="Webdings" charset="2"/>
              <a:buChar char="4"/>
              <a:defRPr/>
            </a:pPr>
            <a:r>
              <a:rPr lang="en-US" sz="1600" dirty="0"/>
              <a:t>Implicit integrity constraints</a:t>
            </a:r>
          </a:p>
          <a:p>
            <a:pPr lvl="3">
              <a:lnSpc>
                <a:spcPct val="90000"/>
              </a:lnSpc>
              <a:defRPr/>
            </a:pPr>
            <a:r>
              <a:rPr lang="en-US" sz="1600" dirty="0"/>
              <a:t>e.g. </a:t>
            </a:r>
            <a:r>
              <a:rPr lang="en-US" sz="1600" b="1" dirty="0">
                <a:solidFill>
                  <a:srgbClr val="FF0000"/>
                </a:solidFill>
              </a:rPr>
              <a:t>sum of balances of all accounts</a:t>
            </a:r>
            <a:r>
              <a:rPr lang="en-US" sz="1600" dirty="0"/>
              <a:t>, minus sum of loan amounts must equal value of cash-in-hand</a:t>
            </a:r>
          </a:p>
          <a:p>
            <a:pPr lvl="1">
              <a:lnSpc>
                <a:spcPct val="90000"/>
              </a:lnSpc>
              <a:buFont typeface="Monotype Sorts" charset="2"/>
              <a:buChar char="l"/>
              <a:defRPr/>
            </a:pPr>
            <a:r>
              <a:rPr lang="en-US" sz="1600" dirty="0"/>
              <a:t>A transaction must see a consistent database and must leave a consistent database</a:t>
            </a:r>
          </a:p>
          <a:p>
            <a:pPr lvl="1">
              <a:lnSpc>
                <a:spcPct val="90000"/>
              </a:lnSpc>
              <a:buFont typeface="Monotype Sorts" charset="2"/>
              <a:buChar char="l"/>
              <a:defRPr/>
            </a:pPr>
            <a:r>
              <a:rPr lang="en-US" sz="1600" dirty="0"/>
              <a:t>During transaction execution the database may be </a:t>
            </a:r>
            <a:r>
              <a:rPr lang="en-US" sz="1600" b="1" dirty="0"/>
              <a:t>temporarily inconsistent</a:t>
            </a:r>
            <a:r>
              <a:rPr lang="en-US" sz="1600" dirty="0"/>
              <a:t>.</a:t>
            </a:r>
          </a:p>
          <a:p>
            <a:pPr lvl="2">
              <a:lnSpc>
                <a:spcPct val="90000"/>
              </a:lnSpc>
              <a:buFont typeface="Webdings" charset="2"/>
              <a:buChar char="4"/>
              <a:defRPr/>
            </a:pPr>
            <a:r>
              <a:rPr lang="en-US" sz="1600" dirty="0"/>
              <a:t>Constraints to be v</a:t>
            </a:r>
            <a:r>
              <a:rPr lang="en-US" sz="1600" b="1" dirty="0"/>
              <a:t>erified</a:t>
            </a:r>
            <a:r>
              <a:rPr lang="en-US" sz="1600" dirty="0"/>
              <a:t> only at the </a:t>
            </a:r>
            <a:r>
              <a:rPr lang="en-US" sz="1600" b="1" dirty="0"/>
              <a:t>end of the transaction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6" name="Rectangle 2">
            <a:extLst>
              <a:ext uri="{FF2B5EF4-FFF2-40B4-BE49-F238E27FC236}">
                <a16:creationId xmlns:a16="http://schemas.microsoft.com/office/drawing/2014/main" id="{788B5C9E-80B4-4BC8-BA4F-DB46D260D2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Transaction ACID properties (Cont.)</a:t>
            </a:r>
          </a:p>
        </p:txBody>
      </p:sp>
      <p:sp>
        <p:nvSpPr>
          <p:cNvPr id="676867" name="Rectangle 3">
            <a:extLst>
              <a:ext uri="{FF2B5EF4-FFF2-40B4-BE49-F238E27FC236}">
                <a16:creationId xmlns:a16="http://schemas.microsoft.com/office/drawing/2014/main" id="{66462AB2-7826-4170-BAFE-2FC86D515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22363"/>
            <a:ext cx="7615238" cy="4884737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Char char="n"/>
              <a:defRPr/>
            </a:pPr>
            <a:r>
              <a:rPr lang="en-US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1800" b="1" dirty="0">
                <a:solidFill>
                  <a:schemeClr val="tx2"/>
                </a:solidFill>
              </a:rPr>
              <a:t>solation requirement</a:t>
            </a:r>
            <a:r>
              <a:rPr lang="en-US" sz="1800" dirty="0"/>
              <a:t> — if between </a:t>
            </a:r>
            <a:r>
              <a:rPr lang="en-US" sz="1800" b="1" dirty="0"/>
              <a:t>steps 3 and 6</a:t>
            </a:r>
            <a:r>
              <a:rPr lang="en-US" sz="1800" dirty="0">
                <a:solidFill>
                  <a:srgbClr val="FF0000"/>
                </a:solidFill>
              </a:rPr>
              <a:t>, another transaction T2 is allowed </a:t>
            </a:r>
            <a:r>
              <a:rPr lang="en-US" sz="1800" dirty="0"/>
              <a:t>to access the </a:t>
            </a:r>
            <a:r>
              <a:rPr lang="en-US" sz="1800" b="1" dirty="0"/>
              <a:t>partially updated database</a:t>
            </a:r>
            <a:r>
              <a:rPr lang="en-US" sz="1800" dirty="0"/>
              <a:t>, it will see an inconsistent database (</a:t>
            </a:r>
            <a:r>
              <a:rPr lang="en-US" sz="1800" b="1" dirty="0"/>
              <a:t>the sum  </a:t>
            </a:r>
            <a:r>
              <a:rPr lang="en-US" sz="1800" b="1" i="1" dirty="0"/>
              <a:t>A + B</a:t>
            </a:r>
            <a:r>
              <a:rPr lang="en-US" sz="1800" b="1" dirty="0"/>
              <a:t> will </a:t>
            </a:r>
            <a:r>
              <a:rPr lang="en-US" sz="1800" b="1" dirty="0">
                <a:solidFill>
                  <a:srgbClr val="FF0000"/>
                </a:solidFill>
              </a:rPr>
              <a:t>be less </a:t>
            </a:r>
            <a:r>
              <a:rPr lang="en-US" sz="1800" dirty="0"/>
              <a:t>than it should be).</a:t>
            </a:r>
            <a:br>
              <a:rPr lang="en-US" sz="1800" dirty="0"/>
            </a:br>
            <a:r>
              <a:rPr lang="en-US" sz="1800" dirty="0"/>
              <a:t>         </a:t>
            </a:r>
            <a:r>
              <a:rPr lang="en-US" sz="1800" b="1" dirty="0"/>
              <a:t>T1                                        T2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600" dirty="0"/>
              <a:t>1.	</a:t>
            </a:r>
            <a:r>
              <a:rPr lang="en-US" sz="1600" b="1" dirty="0"/>
              <a:t>read</a:t>
            </a:r>
            <a:r>
              <a:rPr lang="en-US" sz="1600" dirty="0"/>
              <a:t>(</a:t>
            </a:r>
            <a:r>
              <a:rPr lang="en-US" sz="1600" i="1" dirty="0"/>
              <a:t>A</a:t>
            </a:r>
            <a:r>
              <a:rPr lang="en-US" sz="16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600" dirty="0"/>
              <a:t>2.	</a:t>
            </a:r>
            <a:r>
              <a:rPr lang="en-US" sz="1600" i="1" dirty="0"/>
              <a:t>A</a:t>
            </a:r>
            <a:r>
              <a:rPr lang="en-US" sz="1600" dirty="0"/>
              <a:t> := </a:t>
            </a:r>
            <a:r>
              <a:rPr lang="en-US" sz="1600" i="1" dirty="0"/>
              <a:t>A – </a:t>
            </a:r>
            <a:r>
              <a:rPr lang="en-US" sz="16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600" dirty="0"/>
              <a:t>3.	</a:t>
            </a:r>
            <a:r>
              <a:rPr lang="en-US" sz="1600" b="1" dirty="0"/>
              <a:t>write</a:t>
            </a:r>
            <a:r>
              <a:rPr lang="en-US" sz="1600" dirty="0"/>
              <a:t>(</a:t>
            </a:r>
            <a:r>
              <a:rPr lang="en-US" sz="1600" i="1" dirty="0"/>
              <a:t>A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/>
              <a:t>                                      read(A), read(B), print(A+B)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600" dirty="0"/>
              <a:t>4.	</a:t>
            </a:r>
            <a:r>
              <a:rPr lang="en-US" sz="1600" b="1" dirty="0"/>
              <a:t>read</a:t>
            </a:r>
            <a:r>
              <a:rPr lang="en-US" sz="1600" dirty="0"/>
              <a:t>(</a:t>
            </a:r>
            <a:r>
              <a:rPr lang="en-US" sz="1600" i="1" dirty="0"/>
              <a:t>B</a:t>
            </a:r>
            <a:r>
              <a:rPr lang="en-US" sz="16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600" dirty="0"/>
              <a:t>5.	</a:t>
            </a:r>
            <a:r>
              <a:rPr lang="en-US" sz="1600" i="1" dirty="0"/>
              <a:t>B</a:t>
            </a:r>
            <a:r>
              <a:rPr lang="en-US" sz="1600" dirty="0"/>
              <a:t> := </a:t>
            </a:r>
            <a:r>
              <a:rPr lang="en-US" sz="1600" i="1" dirty="0"/>
              <a:t>B + </a:t>
            </a:r>
            <a:r>
              <a:rPr lang="en-US" sz="16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1600" dirty="0"/>
              <a:t>6.	</a:t>
            </a:r>
            <a:r>
              <a:rPr lang="en-US" sz="1600" b="1" dirty="0"/>
              <a:t>write</a:t>
            </a:r>
            <a:r>
              <a:rPr lang="en-US" sz="1600" dirty="0"/>
              <a:t>(</a:t>
            </a:r>
            <a:r>
              <a:rPr lang="en-US" sz="1600" i="1" dirty="0"/>
              <a:t>B</a:t>
            </a:r>
            <a:endParaRPr lang="en-US" sz="1800" dirty="0"/>
          </a:p>
          <a:p>
            <a:pPr>
              <a:lnSpc>
                <a:spcPct val="90000"/>
              </a:lnSpc>
              <a:buFont typeface="Monotype Sorts" charset="2"/>
              <a:buChar char="n"/>
              <a:defRPr/>
            </a:pPr>
            <a:r>
              <a:rPr lang="en-US" sz="1800" dirty="0"/>
              <a:t>Isolation can be ensured trivially by running transactions </a:t>
            </a:r>
            <a:r>
              <a:rPr lang="en-US" sz="1800" b="1" dirty="0">
                <a:solidFill>
                  <a:schemeClr val="tx2"/>
                </a:solidFill>
              </a:rPr>
              <a:t>serially</a:t>
            </a:r>
          </a:p>
          <a:p>
            <a:pPr lvl="1">
              <a:lnSpc>
                <a:spcPct val="90000"/>
              </a:lnSpc>
              <a:buFont typeface="Monotype Sorts" charset="2"/>
              <a:buChar char="l"/>
              <a:defRPr/>
            </a:pPr>
            <a:r>
              <a:rPr lang="en-US" sz="1800" dirty="0"/>
              <a:t> that is, </a:t>
            </a:r>
            <a:r>
              <a:rPr lang="en-US" sz="1800" b="1" dirty="0"/>
              <a:t>one after the other.   </a:t>
            </a:r>
          </a:p>
          <a:p>
            <a:pPr>
              <a:lnSpc>
                <a:spcPct val="90000"/>
              </a:lnSpc>
              <a:buFont typeface="Monotype Sorts" charset="2"/>
              <a:buChar char="n"/>
              <a:defRPr/>
            </a:pPr>
            <a:r>
              <a:rPr lang="en-US" sz="1800" dirty="0"/>
              <a:t>However, executing multiple </a:t>
            </a:r>
            <a:r>
              <a:rPr lang="en-US" sz="1800" b="1" dirty="0">
                <a:solidFill>
                  <a:srgbClr val="FF0000"/>
                </a:solidFill>
              </a:rPr>
              <a:t>transactions concurrently </a:t>
            </a:r>
            <a:r>
              <a:rPr lang="en-US" sz="1800" dirty="0"/>
              <a:t>has significant benefits, as we will see later.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>
            <a:extLst>
              <a:ext uri="{FF2B5EF4-FFF2-40B4-BE49-F238E27FC236}">
                <a16:creationId xmlns:a16="http://schemas.microsoft.com/office/drawing/2014/main" id="{AEFE7271-4DB7-43A3-AFEA-53A958E12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ACID Properties - Summary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5E3BB60-D25A-4048-B0EC-81BF91E6A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2081213"/>
            <a:ext cx="7872413" cy="4170362"/>
          </a:xfrm>
        </p:spPr>
        <p:txBody>
          <a:bodyPr/>
          <a:lstStyle/>
          <a:p>
            <a:r>
              <a:rPr lang="en-US" altLang="en-US" sz="1800" b="1" dirty="0">
                <a:solidFill>
                  <a:schemeClr val="tx2"/>
                </a:solidFill>
              </a:rPr>
              <a:t>Atomicity</a:t>
            </a:r>
            <a:r>
              <a:rPr lang="en-US" altLang="en-US" sz="1800" b="1" dirty="0"/>
              <a:t> </a:t>
            </a:r>
            <a:r>
              <a:rPr lang="en-US" altLang="en-US" sz="1800" dirty="0"/>
              <a:t> Either </a:t>
            </a:r>
            <a:r>
              <a:rPr lang="en-US" altLang="en-US" sz="1800" b="1" dirty="0"/>
              <a:t>all operations </a:t>
            </a:r>
            <a:r>
              <a:rPr lang="en-US" altLang="en-US" sz="1800" dirty="0"/>
              <a:t>of the transaction are properly reflected in the database or </a:t>
            </a:r>
            <a:r>
              <a:rPr lang="en-US" altLang="en-US" sz="1800" b="1" dirty="0"/>
              <a:t>none are.</a:t>
            </a:r>
          </a:p>
          <a:p>
            <a:r>
              <a:rPr lang="en-US" altLang="en-US" sz="1800" b="1" dirty="0">
                <a:solidFill>
                  <a:schemeClr val="tx2"/>
                </a:solidFill>
              </a:rPr>
              <a:t>Consistency</a:t>
            </a:r>
            <a:r>
              <a:rPr lang="en-US" altLang="en-US" sz="1800" dirty="0"/>
              <a:t>  Execution of a (single) transaction preserves the </a:t>
            </a:r>
            <a:r>
              <a:rPr lang="en-US" altLang="en-US" sz="1800" b="1" dirty="0"/>
              <a:t>consistency of the database</a:t>
            </a:r>
            <a:r>
              <a:rPr lang="en-US" altLang="en-US" sz="1800" dirty="0"/>
              <a:t>.</a:t>
            </a:r>
          </a:p>
          <a:p>
            <a:r>
              <a:rPr lang="en-US" altLang="en-US" sz="1800" b="1" dirty="0">
                <a:solidFill>
                  <a:schemeClr val="tx2"/>
                </a:solidFill>
              </a:rPr>
              <a:t>Isolation</a:t>
            </a:r>
            <a:r>
              <a:rPr lang="en-US" altLang="en-US" sz="1800" dirty="0"/>
              <a:t>  Although multiple transactions may </a:t>
            </a:r>
            <a:r>
              <a:rPr lang="en-US" altLang="en-US" sz="1800" b="1" dirty="0"/>
              <a:t>execute concurrently</a:t>
            </a:r>
            <a:r>
              <a:rPr lang="en-US" altLang="en-US" sz="1800" dirty="0"/>
              <a:t>, each transaction must be unaware of other concurrently executing transactions.  </a:t>
            </a:r>
            <a:r>
              <a:rPr lang="en-US" altLang="en-US" sz="1800" b="1" dirty="0"/>
              <a:t>Intermediate transaction results </a:t>
            </a:r>
            <a:r>
              <a:rPr lang="en-US" altLang="en-US" sz="1800" dirty="0"/>
              <a:t>must be hidden from other concurrently executed transactions.  </a:t>
            </a:r>
          </a:p>
          <a:p>
            <a:pPr lvl="1"/>
            <a:r>
              <a:rPr lang="en-US" altLang="en-US" sz="1800" dirty="0"/>
              <a:t>That is, for every pair of transactions </a:t>
            </a:r>
            <a:r>
              <a:rPr lang="en-US" altLang="en-US" sz="1800" i="1" dirty="0" err="1"/>
              <a:t>T</a:t>
            </a:r>
            <a:r>
              <a:rPr lang="en-US" altLang="en-US" sz="1800" i="1" baseline="-25000" dirty="0" err="1"/>
              <a:t>i</a:t>
            </a:r>
            <a:r>
              <a:rPr lang="en-US" altLang="en-US" sz="1800" i="1" dirty="0"/>
              <a:t> </a:t>
            </a:r>
            <a:r>
              <a:rPr lang="en-US" altLang="en-US" sz="1800" dirty="0"/>
              <a:t>and </a:t>
            </a:r>
            <a:r>
              <a:rPr lang="en-US" altLang="en-US" sz="1800" i="1" dirty="0" err="1"/>
              <a:t>T</a:t>
            </a:r>
            <a:r>
              <a:rPr lang="en-US" altLang="en-US" sz="1800" i="1" baseline="-25000" dirty="0" err="1"/>
              <a:t>j</a:t>
            </a:r>
            <a:r>
              <a:rPr lang="en-US" altLang="en-US" sz="1800" i="1" dirty="0"/>
              <a:t>, </a:t>
            </a:r>
            <a:r>
              <a:rPr lang="en-US" altLang="en-US" sz="1800" dirty="0"/>
              <a:t>it appears to </a:t>
            </a:r>
            <a:r>
              <a:rPr lang="en-US" altLang="en-US" sz="1800" i="1" dirty="0" err="1"/>
              <a:t>T</a:t>
            </a:r>
            <a:r>
              <a:rPr lang="en-US" altLang="en-US" sz="1800" i="1" baseline="-25000" dirty="0" err="1"/>
              <a:t>i</a:t>
            </a:r>
            <a:r>
              <a:rPr lang="en-US" altLang="en-US" sz="1800" i="1" dirty="0"/>
              <a:t> </a:t>
            </a:r>
            <a:r>
              <a:rPr lang="en-US" altLang="en-US" sz="1800" dirty="0"/>
              <a:t>that either </a:t>
            </a:r>
            <a:r>
              <a:rPr lang="en-US" altLang="en-US" sz="1800" b="1" i="1" dirty="0" err="1"/>
              <a:t>T</a:t>
            </a:r>
            <a:r>
              <a:rPr lang="en-US" altLang="en-US" sz="1800" b="1" i="1" baseline="-25000" dirty="0" err="1"/>
              <a:t>j</a:t>
            </a:r>
            <a:r>
              <a:rPr lang="en-US" altLang="en-US" sz="1800" b="1" i="1" dirty="0"/>
              <a:t>, </a:t>
            </a:r>
            <a:r>
              <a:rPr lang="en-US" altLang="en-US" sz="1800" b="1" dirty="0"/>
              <a:t>finished </a:t>
            </a:r>
            <a:r>
              <a:rPr lang="en-US" altLang="en-US" sz="1800" dirty="0"/>
              <a:t>execution before </a:t>
            </a:r>
            <a:r>
              <a:rPr lang="en-US" altLang="en-US" sz="1800" b="1" i="1" dirty="0" err="1"/>
              <a:t>T</a:t>
            </a:r>
            <a:r>
              <a:rPr lang="en-US" altLang="en-US" sz="1800" b="1" i="1" baseline="-25000" dirty="0" err="1"/>
              <a:t>i</a:t>
            </a:r>
            <a:r>
              <a:rPr lang="en-US" altLang="en-US" sz="1800" b="1" dirty="0"/>
              <a:t> started</a:t>
            </a:r>
            <a:r>
              <a:rPr lang="en-US" altLang="en-US" sz="1800" dirty="0"/>
              <a:t>, or </a:t>
            </a:r>
            <a:r>
              <a:rPr lang="en-US" altLang="en-US" sz="1800" b="1" i="1" dirty="0" err="1"/>
              <a:t>T</a:t>
            </a:r>
            <a:r>
              <a:rPr lang="en-US" altLang="en-US" sz="1800" b="1" i="1" baseline="-25000" dirty="0" err="1"/>
              <a:t>j</a:t>
            </a:r>
            <a:r>
              <a:rPr lang="en-US" altLang="en-US" sz="1800" b="1" dirty="0"/>
              <a:t> started </a:t>
            </a:r>
            <a:r>
              <a:rPr lang="en-US" altLang="en-US" sz="1800" dirty="0"/>
              <a:t>execution after </a:t>
            </a:r>
            <a:r>
              <a:rPr lang="en-US" altLang="en-US" sz="1800" b="1" i="1" dirty="0" err="1"/>
              <a:t>T</a:t>
            </a:r>
            <a:r>
              <a:rPr lang="en-US" altLang="en-US" sz="1800" b="1" i="1" baseline="-25000" dirty="0" err="1"/>
              <a:t>i</a:t>
            </a:r>
            <a:r>
              <a:rPr lang="en-US" altLang="en-US" sz="1800" b="1" dirty="0"/>
              <a:t> finished.</a:t>
            </a:r>
          </a:p>
          <a:p>
            <a:r>
              <a:rPr lang="en-US" altLang="en-US" sz="1800" b="1" dirty="0">
                <a:solidFill>
                  <a:schemeClr val="tx2"/>
                </a:solidFill>
              </a:rPr>
              <a:t>Durability</a:t>
            </a:r>
            <a:r>
              <a:rPr lang="en-US" altLang="en-US" sz="1800" b="1" dirty="0"/>
              <a:t>.  </a:t>
            </a:r>
            <a:r>
              <a:rPr lang="en-US" altLang="en-US" sz="1800" dirty="0"/>
              <a:t>After a transaction completes successfully, the changes it has made to the </a:t>
            </a:r>
            <a:r>
              <a:rPr lang="en-US" altLang="en-US" sz="1800" b="1" dirty="0"/>
              <a:t>database </a:t>
            </a:r>
            <a:r>
              <a:rPr lang="en-US" altLang="en-US" sz="1800" b="1" dirty="0">
                <a:solidFill>
                  <a:srgbClr val="FF0000"/>
                </a:solidFill>
              </a:rPr>
              <a:t>persist</a:t>
            </a:r>
            <a:r>
              <a:rPr lang="en-US" altLang="en-US" sz="1800" b="1" dirty="0"/>
              <a:t>, even if there are system failures</a:t>
            </a:r>
            <a:r>
              <a:rPr lang="en-US" altLang="en-US" sz="1800" dirty="0"/>
              <a:t>. </a:t>
            </a:r>
            <a:endParaRPr lang="en-US" altLang="en-US" sz="1800" i="1" dirty="0"/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63FFF406-E7B2-428B-A8E1-6C555B5D1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1106488"/>
            <a:ext cx="82423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800"/>
              <a:t>A  </a:t>
            </a:r>
            <a:r>
              <a:rPr lang="en-US" altLang="en-US" sz="1800" b="1">
                <a:solidFill>
                  <a:schemeClr val="tx2"/>
                </a:solidFill>
              </a:rPr>
              <a:t>transaction</a:t>
            </a:r>
            <a:r>
              <a:rPr kumimoji="0" lang="en-US" altLang="en-US" sz="1800"/>
              <a:t>  is a </a:t>
            </a:r>
            <a:r>
              <a:rPr kumimoji="0" lang="en-US" altLang="en-US" sz="1800" b="1"/>
              <a:t>unit of program execution </a:t>
            </a:r>
            <a:r>
              <a:rPr kumimoji="0" lang="en-US" altLang="en-US" sz="1800"/>
              <a:t>that accesses and possibly updates various data items.To preserve the </a:t>
            </a:r>
            <a:r>
              <a:rPr kumimoji="0" lang="en-US" altLang="en-US" sz="1800" b="1"/>
              <a:t>integrity of data </a:t>
            </a:r>
            <a:r>
              <a:rPr kumimoji="0" lang="en-US" altLang="en-US" sz="1800"/>
              <a:t>the database system must ensure: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49A6-FC18-4268-AEBD-2FCD6FD3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50"/>
            <a:ext cx="8450667" cy="576776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7FE5555-96AC-47DA-8D43-6F901B6081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81" y="1029713"/>
            <a:ext cx="7799586" cy="4798574"/>
          </a:xfr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1F322BF-2E36-4444-94A4-921D0B71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fld id="{6BE40B71-8F19-4C7E-AABA-243A847DEC41}" type="slidenum">
              <a:rPr lang="en-US">
                <a:solidFill>
                  <a:prstClr val="white">
                    <a:tint val="75000"/>
                  </a:prstClr>
                </a:solidFill>
                <a:latin typeface="Rockwell" panose="02060603020205020403"/>
              </a:rPr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t>12</a:t>
            </a:fld>
            <a:endParaRPr lang="en-US">
              <a:solidFill>
                <a:prstClr val="white">
                  <a:tint val="75000"/>
                </a:prstClr>
              </a:solidFill>
              <a:latin typeface="Rockwell" panose="02060603020205020403"/>
            </a:endParaRPr>
          </a:p>
        </p:txBody>
      </p:sp>
    </p:spTree>
    <p:extLst>
      <p:ext uri="{BB962C8B-B14F-4D97-AF65-F5344CB8AC3E}">
        <p14:creationId xmlns:p14="http://schemas.microsoft.com/office/powerpoint/2010/main" val="4056739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Rectangle 2">
            <a:extLst>
              <a:ext uri="{FF2B5EF4-FFF2-40B4-BE49-F238E27FC236}">
                <a16:creationId xmlns:a16="http://schemas.microsoft.com/office/drawing/2014/main" id="{E571E19B-B8F3-4EA6-88C8-8B9CB218B1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Non-ACID Transactions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8F4B6D9-547E-41B9-9DAC-6BE91EE46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There are application domains where ACID properties are not </a:t>
            </a:r>
            <a:r>
              <a:rPr lang="en-US" altLang="en-US" sz="1800" b="1" dirty="0">
                <a:solidFill>
                  <a:srgbClr val="FF0000"/>
                </a:solidFill>
              </a:rPr>
              <a:t>necessarily desired or, most likely, not always possible</a:t>
            </a:r>
            <a:r>
              <a:rPr lang="en-US" altLang="en-US" sz="1800" b="1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This is the case of so-called </a:t>
            </a:r>
            <a:r>
              <a:rPr lang="en-US" altLang="en-US" sz="1800" b="1" dirty="0">
                <a:solidFill>
                  <a:schemeClr val="tx2"/>
                </a:solidFill>
              </a:rPr>
              <a:t>long-duration</a:t>
            </a:r>
            <a:r>
              <a:rPr lang="en-US" altLang="en-US" sz="1800" dirty="0"/>
              <a:t> </a:t>
            </a:r>
            <a:r>
              <a:rPr lang="en-US" altLang="en-US" sz="1800" b="1" dirty="0">
                <a:solidFill>
                  <a:schemeClr val="tx2"/>
                </a:solidFill>
              </a:rPr>
              <a:t>transactions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Suppose that a transaction takes a lot of time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In this case it is</a:t>
            </a:r>
            <a:r>
              <a:rPr lang="en-US" altLang="en-US" sz="1800" b="1" dirty="0"/>
              <a:t> unlikely </a:t>
            </a:r>
            <a:r>
              <a:rPr lang="en-US" altLang="en-US" sz="1800" dirty="0"/>
              <a:t>that isolation can/should be guaranteed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E.g. Consider a transaction of </a:t>
            </a:r>
            <a:r>
              <a:rPr lang="en-US" altLang="en-US" sz="1800" b="1" dirty="0"/>
              <a:t>booking a hotel and a flight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Without </a:t>
            </a:r>
            <a:r>
              <a:rPr lang="en-US" altLang="en-US" sz="1800" dirty="0">
                <a:solidFill>
                  <a:srgbClr val="FF0000"/>
                </a:solidFill>
              </a:rPr>
              <a:t>Isolation, </a:t>
            </a:r>
            <a:r>
              <a:rPr lang="en-US" altLang="en-US" sz="1800" b="1" dirty="0">
                <a:solidFill>
                  <a:srgbClr val="FF0000"/>
                </a:solidFill>
              </a:rPr>
              <a:t>Atomicity may be compromised</a:t>
            </a:r>
          </a:p>
          <a:p>
            <a:pPr>
              <a:lnSpc>
                <a:spcPct val="90000"/>
              </a:lnSpc>
            </a:pPr>
            <a:r>
              <a:rPr lang="en-US" altLang="en-US" sz="1800" b="1" dirty="0"/>
              <a:t>Consistency and Durability should be preserved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Usual solution for long-duration transaction is to define </a:t>
            </a:r>
            <a:r>
              <a:rPr lang="en-US" altLang="en-US" sz="1800" b="1" dirty="0">
                <a:solidFill>
                  <a:schemeClr val="tx2"/>
                </a:solidFill>
              </a:rPr>
              <a:t>compensation</a:t>
            </a:r>
            <a:r>
              <a:rPr lang="en-US" altLang="en-US" sz="1800" b="1" dirty="0"/>
              <a:t> </a:t>
            </a:r>
            <a:r>
              <a:rPr lang="en-US" altLang="en-US" sz="1800" b="1" dirty="0">
                <a:solidFill>
                  <a:schemeClr val="tx2"/>
                </a:solidFill>
              </a:rPr>
              <a:t>action</a:t>
            </a:r>
            <a:r>
              <a:rPr lang="en-US" altLang="en-US" sz="1800" b="1" dirty="0"/>
              <a:t> </a:t>
            </a:r>
            <a:r>
              <a:rPr lang="en-US" altLang="en-US" sz="1800" dirty="0"/>
              <a:t>– </a:t>
            </a:r>
            <a:r>
              <a:rPr lang="en-US" altLang="en-US" sz="1800" b="1" dirty="0"/>
              <a:t>what to do if later the transaction fails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In (centralized) databases long-duration transactions are usually not considered.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But these are more and more important, specially in the </a:t>
            </a:r>
            <a:r>
              <a:rPr lang="en-US" altLang="en-US" sz="1800" b="1" dirty="0"/>
              <a:t>context of the Web.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1233E8C-DB0B-4AED-B3FC-EB7453F74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764224"/>
              </p:ext>
            </p:extLst>
          </p:nvPr>
        </p:nvGraphicFramePr>
        <p:xfrm>
          <a:off x="1600200" y="742950"/>
          <a:ext cx="6021705" cy="3141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683">
                  <a:extLst>
                    <a:ext uri="{9D8B030D-6E8A-4147-A177-3AD203B41FA5}">
                      <a16:colId xmlns:a16="http://schemas.microsoft.com/office/drawing/2014/main" val="3035556193"/>
                    </a:ext>
                  </a:extLst>
                </a:gridCol>
                <a:gridCol w="724232">
                  <a:extLst>
                    <a:ext uri="{9D8B030D-6E8A-4147-A177-3AD203B41FA5}">
                      <a16:colId xmlns:a16="http://schemas.microsoft.com/office/drawing/2014/main" val="3035974644"/>
                    </a:ext>
                  </a:extLst>
                </a:gridCol>
                <a:gridCol w="659133">
                  <a:extLst>
                    <a:ext uri="{9D8B030D-6E8A-4147-A177-3AD203B41FA5}">
                      <a16:colId xmlns:a16="http://schemas.microsoft.com/office/drawing/2014/main" val="1143680776"/>
                    </a:ext>
                  </a:extLst>
                </a:gridCol>
                <a:gridCol w="691682">
                  <a:extLst>
                    <a:ext uri="{9D8B030D-6E8A-4147-A177-3AD203B41FA5}">
                      <a16:colId xmlns:a16="http://schemas.microsoft.com/office/drawing/2014/main" val="269942095"/>
                    </a:ext>
                  </a:extLst>
                </a:gridCol>
                <a:gridCol w="849975">
                  <a:extLst>
                    <a:ext uri="{9D8B030D-6E8A-4147-A177-3AD203B41FA5}">
                      <a16:colId xmlns:a16="http://schemas.microsoft.com/office/drawing/2014/main" val="1215476681"/>
                    </a:ext>
                  </a:extLst>
                </a:gridCol>
              </a:tblGrid>
              <a:tr h="371656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223062"/>
                  </a:ext>
                </a:extLst>
              </a:tr>
              <a:tr h="6414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read_from_acoount</a:t>
                      </a:r>
                      <a:r>
                        <a:rPr lang="en-US" sz="1800" dirty="0"/>
                        <a:t>(</a:t>
                      </a:r>
                      <a:r>
                        <a:rPr lang="en-US" sz="1800" i="1" dirty="0"/>
                        <a:t>A</a:t>
                      </a:r>
                      <a:r>
                        <a:rPr lang="en-US" sz="1800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374151"/>
                  </a:ext>
                </a:extLst>
              </a:tr>
              <a:tr h="371656">
                <a:tc>
                  <a:txBody>
                    <a:bodyPr/>
                    <a:lstStyle/>
                    <a:p>
                      <a:r>
                        <a:rPr lang="en-US" sz="1800" i="1" dirty="0"/>
                        <a:t>A</a:t>
                      </a:r>
                      <a:r>
                        <a:rPr lang="en-US" sz="1800" dirty="0"/>
                        <a:t> := </a:t>
                      </a:r>
                      <a:r>
                        <a:rPr lang="en-US" sz="1800" i="1" dirty="0"/>
                        <a:t>A – </a:t>
                      </a:r>
                      <a:r>
                        <a:rPr lang="en-US" sz="1800" dirty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608911"/>
                  </a:ext>
                </a:extLst>
              </a:tr>
              <a:tr h="6414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write_to_account</a:t>
                      </a:r>
                      <a:r>
                        <a:rPr lang="en-US" sz="1800" dirty="0"/>
                        <a:t>(</a:t>
                      </a:r>
                      <a:r>
                        <a:rPr lang="en-US" sz="1800" i="1" dirty="0"/>
                        <a:t>A</a:t>
                      </a:r>
                      <a:r>
                        <a:rPr lang="en-US" sz="1800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150309"/>
                  </a:ext>
                </a:extLst>
              </a:tr>
              <a:tr h="371656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read_from_accont</a:t>
                      </a:r>
                      <a:r>
                        <a:rPr lang="en-US" sz="1800" dirty="0"/>
                        <a:t>(B)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485102"/>
                  </a:ext>
                </a:extLst>
              </a:tr>
              <a:tr h="371656">
                <a:tc>
                  <a:txBody>
                    <a:bodyPr/>
                    <a:lstStyle/>
                    <a:p>
                      <a:r>
                        <a:rPr lang="en-US" sz="1800" i="1" dirty="0"/>
                        <a:t>B</a:t>
                      </a:r>
                      <a:r>
                        <a:rPr lang="en-US" sz="1800" dirty="0"/>
                        <a:t> := </a:t>
                      </a:r>
                      <a:r>
                        <a:rPr lang="en-US" sz="1800" i="1" dirty="0"/>
                        <a:t>B + </a:t>
                      </a:r>
                      <a:r>
                        <a:rPr lang="en-US" sz="1800" dirty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436279"/>
                  </a:ext>
                </a:extLst>
              </a:tr>
              <a:tr h="371656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write_to_account</a:t>
                      </a:r>
                      <a:r>
                        <a:rPr lang="en-US" sz="1800" dirty="0"/>
                        <a:t>(</a:t>
                      </a:r>
                      <a:r>
                        <a:rPr lang="en-US" sz="1800" i="1" dirty="0"/>
                        <a:t>B)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560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00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>
            <a:extLst>
              <a:ext uri="{FF2B5EF4-FFF2-40B4-BE49-F238E27FC236}">
                <a16:creationId xmlns:a16="http://schemas.microsoft.com/office/drawing/2014/main" id="{57B675D5-C0CC-42E6-BB63-D6E861EF8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Transaction State (Cont.)</a:t>
            </a:r>
          </a:p>
        </p:txBody>
      </p:sp>
      <p:pic>
        <p:nvPicPr>
          <p:cNvPr id="27651" name="Picture 3">
            <a:extLst>
              <a:ext uri="{FF2B5EF4-FFF2-40B4-BE49-F238E27FC236}">
                <a16:creationId xmlns:a16="http://schemas.microsoft.com/office/drawing/2014/main" id="{3251771E-6A49-403A-B141-76A37D9E3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7" t="551" r="10124" b="551"/>
          <a:stretch>
            <a:fillRect/>
          </a:stretch>
        </p:blipFill>
        <p:spPr bwMode="auto">
          <a:xfrm>
            <a:off x="1863725" y="1106488"/>
            <a:ext cx="5529263" cy="5129212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Rectangle 2">
            <a:extLst>
              <a:ext uri="{FF2B5EF4-FFF2-40B4-BE49-F238E27FC236}">
                <a16:creationId xmlns:a16="http://schemas.microsoft.com/office/drawing/2014/main" id="{113A6ED5-A6A7-425D-BAE5-AE559F9BE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Transaction State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8621545-AABC-4988-BBBD-789980C94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06488"/>
            <a:ext cx="7493000" cy="50720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b="1" dirty="0">
                <a:solidFill>
                  <a:schemeClr val="tx2"/>
                </a:solidFill>
              </a:rPr>
              <a:t>Active </a:t>
            </a:r>
            <a:r>
              <a:rPr lang="en-US" altLang="en-US" sz="1800" dirty="0"/>
              <a:t>–</a:t>
            </a:r>
            <a:r>
              <a:rPr lang="en-US" altLang="en-US" sz="1800" b="1" dirty="0">
                <a:solidFill>
                  <a:schemeClr val="tx2"/>
                </a:solidFill>
              </a:rPr>
              <a:t> </a:t>
            </a:r>
            <a:r>
              <a:rPr lang="en-US" altLang="en-US" sz="1800" dirty="0"/>
              <a:t>the initial state; the transaction stays in this state while it is executing</a:t>
            </a:r>
          </a:p>
          <a:p>
            <a:pPr>
              <a:lnSpc>
                <a:spcPct val="90000"/>
              </a:lnSpc>
            </a:pPr>
            <a:r>
              <a:rPr lang="en-US" altLang="en-US" sz="1800" b="1" dirty="0">
                <a:solidFill>
                  <a:schemeClr val="tx2"/>
                </a:solidFill>
              </a:rPr>
              <a:t>Partially committed </a:t>
            </a:r>
            <a:r>
              <a:rPr lang="en-US" altLang="en-US" sz="1800" dirty="0"/>
              <a:t>–</a:t>
            </a:r>
            <a:r>
              <a:rPr lang="en-US" altLang="en-US" sz="1800" b="1" dirty="0">
                <a:solidFill>
                  <a:schemeClr val="tx2"/>
                </a:solidFill>
              </a:rPr>
              <a:t> </a:t>
            </a:r>
            <a:r>
              <a:rPr lang="en-US" altLang="en-US" sz="1800" dirty="0"/>
              <a:t>after the </a:t>
            </a:r>
            <a:r>
              <a:rPr lang="en-US" altLang="en-US" sz="1800" b="1" dirty="0"/>
              <a:t>final statement </a:t>
            </a:r>
            <a:r>
              <a:rPr lang="en-US" altLang="en-US" sz="1800" dirty="0"/>
              <a:t>has been executed.</a:t>
            </a:r>
          </a:p>
          <a:p>
            <a:pPr>
              <a:lnSpc>
                <a:spcPct val="90000"/>
              </a:lnSpc>
            </a:pPr>
            <a:r>
              <a:rPr lang="en-US" altLang="en-US" sz="1800" b="1" dirty="0">
                <a:solidFill>
                  <a:schemeClr val="tx2"/>
                </a:solidFill>
              </a:rPr>
              <a:t>Failed </a:t>
            </a:r>
            <a:r>
              <a:rPr lang="en-US" altLang="en-US" sz="1800" dirty="0"/>
              <a:t>–</a:t>
            </a:r>
            <a:r>
              <a:rPr lang="en-US" altLang="en-US" sz="1600" b="1" dirty="0"/>
              <a:t> </a:t>
            </a:r>
            <a:r>
              <a:rPr lang="en-US" altLang="en-US" sz="1800" dirty="0"/>
              <a:t>after the discovery that </a:t>
            </a:r>
            <a:r>
              <a:rPr lang="en-US" altLang="en-US" sz="1800" b="1" dirty="0"/>
              <a:t>normal execution </a:t>
            </a:r>
            <a:r>
              <a:rPr lang="en-US" altLang="en-US" sz="1800" dirty="0"/>
              <a:t>can </a:t>
            </a:r>
            <a:r>
              <a:rPr lang="en-US" altLang="en-US" sz="1800" b="1" dirty="0"/>
              <a:t>no longer proceed.</a:t>
            </a:r>
          </a:p>
          <a:p>
            <a:pPr>
              <a:lnSpc>
                <a:spcPct val="90000"/>
              </a:lnSpc>
            </a:pPr>
            <a:r>
              <a:rPr lang="en-US" altLang="en-US" sz="1800" b="1" dirty="0">
                <a:solidFill>
                  <a:schemeClr val="tx2"/>
                </a:solidFill>
              </a:rPr>
              <a:t>Aborted </a:t>
            </a:r>
            <a:r>
              <a:rPr lang="en-US" altLang="en-US" sz="1800" dirty="0"/>
              <a:t>– after the transaction has been </a:t>
            </a:r>
            <a:r>
              <a:rPr lang="en-US" altLang="en-US" sz="1800" b="1" dirty="0"/>
              <a:t>rolled back </a:t>
            </a:r>
            <a:r>
              <a:rPr lang="en-US" altLang="en-US" sz="1800" dirty="0"/>
              <a:t>and the database </a:t>
            </a:r>
            <a:r>
              <a:rPr lang="en-US" altLang="en-US" sz="1800" b="1" dirty="0"/>
              <a:t>restored to its state prior </a:t>
            </a:r>
            <a:r>
              <a:rPr lang="en-US" altLang="en-US" sz="1800" dirty="0"/>
              <a:t>to the start of the transaction.  Two options after it has been aborted: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dirty="0"/>
              <a:t>restart</a:t>
            </a:r>
            <a:r>
              <a:rPr lang="en-US" altLang="en-US" sz="1800" dirty="0"/>
              <a:t> the transaction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 can be done only if no internal logical error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dirty="0"/>
              <a:t>kill </a:t>
            </a:r>
            <a:r>
              <a:rPr lang="en-US" altLang="en-US" sz="1800" dirty="0"/>
              <a:t>the transaction</a:t>
            </a:r>
          </a:p>
          <a:p>
            <a:pPr>
              <a:lnSpc>
                <a:spcPct val="90000"/>
              </a:lnSpc>
            </a:pPr>
            <a:r>
              <a:rPr lang="en-US" altLang="en-US" sz="1800" b="1" dirty="0">
                <a:solidFill>
                  <a:schemeClr val="tx2"/>
                </a:solidFill>
              </a:rPr>
              <a:t>Committed </a:t>
            </a:r>
            <a:r>
              <a:rPr lang="en-US" altLang="en-US" sz="1800" dirty="0"/>
              <a:t>– after </a:t>
            </a:r>
            <a:r>
              <a:rPr lang="en-US" altLang="en-US" sz="1800" b="1" dirty="0"/>
              <a:t>successful completion.</a:t>
            </a:r>
          </a:p>
          <a:p>
            <a:pPr>
              <a:lnSpc>
                <a:spcPct val="90000"/>
              </a:lnSpc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1800" dirty="0"/>
              <a:t>To guarantee atomicity, </a:t>
            </a:r>
            <a:r>
              <a:rPr lang="en-US" altLang="en-US" sz="1800" b="1" dirty="0"/>
              <a:t>external observable action </a:t>
            </a:r>
            <a:r>
              <a:rPr lang="en-US" altLang="en-US" sz="1800" dirty="0"/>
              <a:t>should all be performed (in order) after the </a:t>
            </a:r>
            <a:r>
              <a:rPr lang="en-US" altLang="en-US" sz="1800" b="1" dirty="0"/>
              <a:t>transaction is committed</a:t>
            </a:r>
            <a:r>
              <a:rPr lang="en-US" altLang="en-US" sz="18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Rectangle 2">
            <a:extLst>
              <a:ext uri="{FF2B5EF4-FFF2-40B4-BE49-F238E27FC236}">
                <a16:creationId xmlns:a16="http://schemas.microsoft.com/office/drawing/2014/main" id="{C3F8D093-E386-4F45-8A28-E10C45197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Committed Transactions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C3DCA05-3515-469D-B057-4689B122E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5688" y="2084388"/>
            <a:ext cx="7661275" cy="2833687"/>
          </a:xfrm>
        </p:spPr>
        <p:txBody>
          <a:bodyPr/>
          <a:lstStyle/>
          <a:p>
            <a:r>
              <a:rPr lang="en-US" altLang="en-US" sz="1800" dirty="0"/>
              <a:t>A committed transaction that has performed updates transforms the database into anew </a:t>
            </a:r>
            <a:r>
              <a:rPr lang="en-US" altLang="en-US" sz="1800" b="1" dirty="0">
                <a:solidFill>
                  <a:srgbClr val="FF0000"/>
                </a:solidFill>
              </a:rPr>
              <a:t>consistent state</a:t>
            </a:r>
            <a:r>
              <a:rPr lang="en-US" altLang="en-US" sz="1800" dirty="0">
                <a:solidFill>
                  <a:srgbClr val="FF0000"/>
                </a:solidFill>
              </a:rPr>
              <a:t>, which </a:t>
            </a:r>
            <a:r>
              <a:rPr lang="en-US" altLang="en-US" sz="1800" b="1" dirty="0">
                <a:solidFill>
                  <a:srgbClr val="FF0000"/>
                </a:solidFill>
              </a:rPr>
              <a:t>must persist </a:t>
            </a:r>
            <a:r>
              <a:rPr lang="en-US" altLang="en-US" sz="1800" dirty="0">
                <a:solidFill>
                  <a:srgbClr val="FF0000"/>
                </a:solidFill>
              </a:rPr>
              <a:t>even if there is a </a:t>
            </a:r>
            <a:r>
              <a:rPr lang="en-US" altLang="en-US" sz="1800" b="1" dirty="0">
                <a:solidFill>
                  <a:srgbClr val="FF0000"/>
                </a:solidFill>
              </a:rPr>
              <a:t>system failure.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It cannot undo its effects by aborting it</a:t>
            </a:r>
          </a:p>
          <a:p>
            <a:r>
              <a:rPr lang="en-US" altLang="en-US" sz="1800" dirty="0"/>
              <a:t>The only way to undo the effects of a committed transaction is to execute a </a:t>
            </a:r>
            <a:r>
              <a:rPr lang="en-US" altLang="en-US" sz="1800" b="1" dirty="0"/>
              <a:t>compensating transaction.</a:t>
            </a:r>
          </a:p>
          <a:p>
            <a:pPr>
              <a:lnSpc>
                <a:spcPct val="90000"/>
              </a:lnSpc>
            </a:pPr>
            <a:endParaRPr lang="en-US" altLang="en-US" sz="1800" dirty="0"/>
          </a:p>
          <a:p>
            <a:pPr>
              <a:lnSpc>
                <a:spcPct val="90000"/>
              </a:lnSpc>
            </a:pPr>
            <a:endParaRPr lang="en-US" altLang="en-US" sz="18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>
            <a:extLst>
              <a:ext uri="{FF2B5EF4-FFF2-40B4-BE49-F238E27FC236}">
                <a16:creationId xmlns:a16="http://schemas.microsoft.com/office/drawing/2014/main" id="{99402B1E-AAC4-462F-98CF-31D8CAE2E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1688" y="495300"/>
            <a:ext cx="7664450" cy="457200"/>
          </a:xfrm>
        </p:spPr>
        <p:txBody>
          <a:bodyPr/>
          <a:lstStyle/>
          <a:p>
            <a:pPr>
              <a:defRPr/>
            </a:pPr>
            <a:r>
              <a:rPr lang="en-US"/>
              <a:t>Implementation of Atomicity and Durability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3CCBAF4-3ED5-4778-A874-E1B272301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917575"/>
            <a:ext cx="7753350" cy="2630488"/>
          </a:xfrm>
        </p:spPr>
        <p:txBody>
          <a:bodyPr/>
          <a:lstStyle/>
          <a:p>
            <a:r>
              <a:rPr lang="en-US" altLang="en-US" sz="1800" dirty="0"/>
              <a:t>The </a:t>
            </a:r>
            <a:r>
              <a:rPr lang="en-US" altLang="en-US" sz="1800" b="1" dirty="0">
                <a:solidFill>
                  <a:schemeClr val="tx2"/>
                </a:solidFill>
              </a:rPr>
              <a:t>recovery-management </a:t>
            </a:r>
            <a:r>
              <a:rPr lang="en-US" altLang="en-US" sz="1800" dirty="0"/>
              <a:t>component of a database system implements the support for atomicity and durability.</a:t>
            </a:r>
          </a:p>
          <a:p>
            <a:r>
              <a:rPr lang="en-US" altLang="en-US" sz="1800" dirty="0"/>
              <a:t>E.g. the </a:t>
            </a:r>
            <a:r>
              <a:rPr lang="en-US" altLang="en-US" sz="1800" b="1" i="1" dirty="0">
                <a:solidFill>
                  <a:schemeClr val="tx2"/>
                </a:solidFill>
              </a:rPr>
              <a:t>shadow-database</a:t>
            </a:r>
            <a:r>
              <a:rPr lang="en-US" altLang="en-US" sz="1800" dirty="0"/>
              <a:t> scheme:</a:t>
            </a:r>
          </a:p>
          <a:p>
            <a:pPr lvl="1"/>
            <a:r>
              <a:rPr lang="en-US" altLang="en-US" sz="1800" dirty="0"/>
              <a:t>all updates are made on a </a:t>
            </a:r>
            <a:r>
              <a:rPr lang="en-US" altLang="en-US" sz="1800" b="1" i="1" dirty="0"/>
              <a:t>shadow copy</a:t>
            </a:r>
            <a:r>
              <a:rPr lang="en-US" altLang="en-US" sz="1800" b="1" dirty="0"/>
              <a:t> </a:t>
            </a:r>
            <a:r>
              <a:rPr lang="en-US" altLang="en-US" sz="1800" dirty="0"/>
              <a:t>of the database</a:t>
            </a:r>
          </a:p>
          <a:p>
            <a:pPr lvl="2"/>
            <a:r>
              <a:rPr lang="en-US" altLang="en-US" sz="1800" dirty="0"/>
              <a:t> </a:t>
            </a:r>
            <a:r>
              <a:rPr lang="en-US" altLang="en-US" sz="1800" b="1" dirty="0" err="1"/>
              <a:t>db_pointer</a:t>
            </a:r>
            <a:r>
              <a:rPr lang="en-US" altLang="en-US" sz="1800" dirty="0"/>
              <a:t> is made to point to the updated shadow copy  after</a:t>
            </a:r>
          </a:p>
          <a:p>
            <a:pPr lvl="3"/>
            <a:r>
              <a:rPr lang="en-US" altLang="en-US" sz="1800" dirty="0"/>
              <a:t> the transaction </a:t>
            </a:r>
            <a:r>
              <a:rPr lang="en-US" altLang="en-US" sz="1800" dirty="0">
                <a:solidFill>
                  <a:srgbClr val="FF0000"/>
                </a:solidFill>
              </a:rPr>
              <a:t>reaches partial commit </a:t>
            </a:r>
            <a:r>
              <a:rPr lang="en-US" altLang="en-US" sz="1800" dirty="0"/>
              <a:t>and </a:t>
            </a:r>
          </a:p>
          <a:p>
            <a:pPr lvl="3"/>
            <a:r>
              <a:rPr lang="en-US" altLang="en-US" sz="1800" dirty="0"/>
              <a:t>all updated pages have been flushed to disk.</a:t>
            </a:r>
          </a:p>
        </p:txBody>
      </p:sp>
      <p:pic>
        <p:nvPicPr>
          <p:cNvPr id="29700" name="Picture 4">
            <a:extLst>
              <a:ext uri="{FF2B5EF4-FFF2-40B4-BE49-F238E27FC236}">
                <a16:creationId xmlns:a16="http://schemas.microsoft.com/office/drawing/2014/main" id="{5EE5E0FD-E982-4776-AA19-9EA67296C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" t="18303" r="597" b="18567"/>
          <a:stretch>
            <a:fillRect/>
          </a:stretch>
        </p:blipFill>
        <p:spPr bwMode="auto">
          <a:xfrm>
            <a:off x="1458913" y="3654425"/>
            <a:ext cx="6180137" cy="2955925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>
            <a:extLst>
              <a:ext uri="{FF2B5EF4-FFF2-40B4-BE49-F238E27FC236}">
                <a16:creationId xmlns:a16="http://schemas.microsoft.com/office/drawing/2014/main" id="{04D101AD-CADF-4A14-AC9F-28EE06065F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1688" y="495300"/>
            <a:ext cx="7664450" cy="457200"/>
          </a:xfrm>
        </p:spPr>
        <p:txBody>
          <a:bodyPr/>
          <a:lstStyle/>
          <a:p>
            <a:pPr>
              <a:defRPr/>
            </a:pPr>
            <a:r>
              <a:rPr lang="en-US"/>
              <a:t>Implementation of Atomicity and Durability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B5C45D8-E7C5-4118-8935-01AC121B2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917575"/>
            <a:ext cx="7753350" cy="2630488"/>
          </a:xfrm>
        </p:spPr>
        <p:txBody>
          <a:bodyPr/>
          <a:lstStyle/>
          <a:p>
            <a:r>
              <a:rPr lang="en-US" altLang="en-US" sz="1800"/>
              <a:t>The </a:t>
            </a:r>
            <a:r>
              <a:rPr lang="en-US" altLang="en-US" sz="1800" b="1">
                <a:solidFill>
                  <a:schemeClr val="tx2"/>
                </a:solidFill>
              </a:rPr>
              <a:t>recovery-management </a:t>
            </a:r>
            <a:r>
              <a:rPr lang="en-US" altLang="en-US" sz="1800"/>
              <a:t>component of a database system implements the support for atomicity and durability.</a:t>
            </a:r>
          </a:p>
          <a:p>
            <a:r>
              <a:rPr lang="en-US" altLang="en-US" sz="1800"/>
              <a:t>E.g. the </a:t>
            </a:r>
            <a:r>
              <a:rPr lang="en-US" altLang="en-US" sz="1800" b="1" i="1">
                <a:solidFill>
                  <a:schemeClr val="tx2"/>
                </a:solidFill>
              </a:rPr>
              <a:t>shadow-database</a:t>
            </a:r>
            <a:r>
              <a:rPr lang="en-US" altLang="en-US" sz="1800"/>
              <a:t> scheme:</a:t>
            </a:r>
          </a:p>
          <a:p>
            <a:pPr lvl="1"/>
            <a:r>
              <a:rPr lang="en-US" altLang="en-US" sz="1800"/>
              <a:t>all updates are made on a </a:t>
            </a:r>
            <a:r>
              <a:rPr lang="en-US" altLang="en-US" sz="1800" b="1" i="1"/>
              <a:t>shadow copy</a:t>
            </a:r>
            <a:r>
              <a:rPr lang="en-US" altLang="en-US" sz="1800" b="1"/>
              <a:t> </a:t>
            </a:r>
            <a:r>
              <a:rPr lang="en-US" altLang="en-US" sz="1800"/>
              <a:t>of the database</a:t>
            </a:r>
          </a:p>
          <a:p>
            <a:pPr lvl="2"/>
            <a:r>
              <a:rPr lang="en-US" altLang="en-US" sz="1800"/>
              <a:t> </a:t>
            </a:r>
            <a:r>
              <a:rPr lang="en-US" altLang="en-US" sz="1800" b="1"/>
              <a:t>db_pointer</a:t>
            </a:r>
            <a:r>
              <a:rPr lang="en-US" altLang="en-US" sz="1800"/>
              <a:t> is made to point to the updated shadow copy  after</a:t>
            </a:r>
          </a:p>
          <a:p>
            <a:pPr lvl="3"/>
            <a:r>
              <a:rPr lang="en-US" altLang="en-US" sz="1800"/>
              <a:t> the transaction reaches partial commit and </a:t>
            </a:r>
          </a:p>
          <a:p>
            <a:pPr lvl="3"/>
            <a:r>
              <a:rPr lang="en-US" altLang="en-US" sz="1400"/>
              <a:t>a</a:t>
            </a:r>
            <a:r>
              <a:rPr lang="en-US" altLang="en-US" sz="1800"/>
              <a:t>fter the operating system has written all the pages to disk</a:t>
            </a:r>
            <a:endParaRPr lang="en-US" altLang="en-US" sz="7200"/>
          </a:p>
        </p:txBody>
      </p:sp>
      <p:pic>
        <p:nvPicPr>
          <p:cNvPr id="31748" name="Picture 4">
            <a:extLst>
              <a:ext uri="{FF2B5EF4-FFF2-40B4-BE49-F238E27FC236}">
                <a16:creationId xmlns:a16="http://schemas.microsoft.com/office/drawing/2014/main" id="{ED431153-A368-4E80-984B-8A4A587E9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" t="18303" r="597" b="18567"/>
          <a:stretch>
            <a:fillRect/>
          </a:stretch>
        </p:blipFill>
        <p:spPr bwMode="auto">
          <a:xfrm>
            <a:off x="1458913" y="3654425"/>
            <a:ext cx="6180137" cy="2955925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5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D4FE1632-F131-47D3-A814-99E9CD025E20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Settings\mt\Application Data\Microsoft\Templates\db-5-grey.pot</Template>
  <TotalTime>21472</TotalTime>
  <Words>1388</Words>
  <Application>Microsoft Office PowerPoint</Application>
  <PresentationFormat>On-screen Show (4:3)</PresentationFormat>
  <Paragraphs>146</Paragraphs>
  <Slides>19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7" baseType="lpstr">
      <vt:lpstr>Arial</vt:lpstr>
      <vt:lpstr>Bookman Old Style</vt:lpstr>
      <vt:lpstr>Calibri</vt:lpstr>
      <vt:lpstr>Helvetica</vt:lpstr>
      <vt:lpstr>Lucida Grande</vt:lpstr>
      <vt:lpstr>Monotype Sorts</vt:lpstr>
      <vt:lpstr>Rockwell</vt:lpstr>
      <vt:lpstr>Times New Roman</vt:lpstr>
      <vt:lpstr>urw-din</vt:lpstr>
      <vt:lpstr>Verdana</vt:lpstr>
      <vt:lpstr>Webdings</vt:lpstr>
      <vt:lpstr>Wingdings</vt:lpstr>
      <vt:lpstr>db-5-grey</vt:lpstr>
      <vt:lpstr>Custom Design</vt:lpstr>
      <vt:lpstr>1_Custom Design</vt:lpstr>
      <vt:lpstr>Office Theme</vt:lpstr>
      <vt:lpstr>Damask</vt:lpstr>
      <vt:lpstr>Clip</vt:lpstr>
      <vt:lpstr>Database Management Systems</vt:lpstr>
      <vt:lpstr> Transaction </vt:lpstr>
      <vt:lpstr>Transaction Example:</vt:lpstr>
      <vt:lpstr>PowerPoint Presentation</vt:lpstr>
      <vt:lpstr>Transaction example (Cont’d):</vt:lpstr>
      <vt:lpstr>Transaction Concept</vt:lpstr>
      <vt:lpstr>ACID Properties</vt:lpstr>
      <vt:lpstr>Transaction ACID properties</vt:lpstr>
      <vt:lpstr>Transaction ACID properties (Cont.)</vt:lpstr>
      <vt:lpstr>Transaction ACID properties (Cont.)</vt:lpstr>
      <vt:lpstr>ACID Properties - Summary</vt:lpstr>
      <vt:lpstr>PowerPoint Presentation</vt:lpstr>
      <vt:lpstr>Non-ACID Transactions</vt:lpstr>
      <vt:lpstr>PowerPoint Presentation</vt:lpstr>
      <vt:lpstr>Transaction State (Cont.)</vt:lpstr>
      <vt:lpstr>Transaction State</vt:lpstr>
      <vt:lpstr>Committed Transactions</vt:lpstr>
      <vt:lpstr>Implementation of Atomicity and Durability</vt:lpstr>
      <vt:lpstr>Implementation of Atomicity and Durability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15-17: Transaction Management</dc:title>
  <dc:creator>Jose Alferes</dc:creator>
  <cp:lastModifiedBy>CSE Head</cp:lastModifiedBy>
  <cp:revision>490</cp:revision>
  <cp:lastPrinted>1999-06-28T19:27:31Z</cp:lastPrinted>
  <dcterms:created xsi:type="dcterms:W3CDTF">2000-02-23T18:58:38Z</dcterms:created>
  <dcterms:modified xsi:type="dcterms:W3CDTF">2026-05-11T02:59:23Z</dcterms:modified>
</cp:coreProperties>
</file>