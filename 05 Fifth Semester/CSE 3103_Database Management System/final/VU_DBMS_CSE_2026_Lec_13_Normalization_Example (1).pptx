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5" r:id="rId2"/>
    <p:sldMasterId id="2147483676" r:id="rId3"/>
  </p:sldMasterIdLst>
  <p:notesMasterIdLst>
    <p:notesMasterId r:id="rId45"/>
  </p:notesMasterIdLst>
  <p:sldIdLst>
    <p:sldId id="476" r:id="rId4"/>
    <p:sldId id="477" r:id="rId5"/>
    <p:sldId id="345" r:id="rId6"/>
    <p:sldId id="264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479" r:id="rId17"/>
    <p:sldId id="279" r:id="rId18"/>
    <p:sldId id="280" r:id="rId19"/>
    <p:sldId id="492" r:id="rId20"/>
    <p:sldId id="282" r:id="rId21"/>
    <p:sldId id="284" r:id="rId22"/>
    <p:sldId id="285" r:id="rId23"/>
    <p:sldId id="480" r:id="rId24"/>
    <p:sldId id="481" r:id="rId25"/>
    <p:sldId id="286" r:id="rId26"/>
    <p:sldId id="287" r:id="rId27"/>
    <p:sldId id="288" r:id="rId28"/>
    <p:sldId id="289" r:id="rId29"/>
    <p:sldId id="290" r:id="rId30"/>
    <p:sldId id="482" r:id="rId31"/>
    <p:sldId id="483" r:id="rId32"/>
    <p:sldId id="485" r:id="rId33"/>
    <p:sldId id="484" r:id="rId34"/>
    <p:sldId id="292" r:id="rId35"/>
    <p:sldId id="293" r:id="rId36"/>
    <p:sldId id="294" r:id="rId37"/>
    <p:sldId id="295" r:id="rId38"/>
    <p:sldId id="486" r:id="rId39"/>
    <p:sldId id="487" r:id="rId40"/>
    <p:sldId id="488" r:id="rId41"/>
    <p:sldId id="490" r:id="rId42"/>
    <p:sldId id="491" r:id="rId43"/>
    <p:sldId id="296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68" autoAdjust="0"/>
    <p:restoredTop sz="93554" autoAdjust="0"/>
  </p:normalViewPr>
  <p:slideViewPr>
    <p:cSldViewPr snapToGrid="0">
      <p:cViewPr varScale="1">
        <p:scale>
          <a:sx n="64" d="100"/>
          <a:sy n="64" d="100"/>
        </p:scale>
        <p:origin x="16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752F15-0A74-44D8-BFB8-3DED3969A2B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0B9291-C556-48E8-8E11-8CFEDB8B0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673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0B9291-C556-48E8-8E11-8CFEDB8B080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954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0B9291-C556-48E8-8E11-8CFEDB8B080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547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5A756-67C5-4C3D-940E-E41EF3B79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F79278-FEA3-4F76-88B9-7E02BA758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4B8AF-B8A4-410A-BD2E-EBE57C3289A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9295A9-7B52-42F7-A315-F13796B5C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AF7831-F069-407A-B6A5-D564BC897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9EA43-180E-4FA1-A8E0-52FF3B51B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133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74195EE-D9CC-4CFB-8863-F770C8B556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ACC636-61E0-4A44-84D7-0798989D23F3}" type="datetime9">
              <a:rPr lang="en-US"/>
              <a:pPr>
                <a:defRPr/>
              </a:pPr>
              <a:t>5/17/2026 11:39:23 PM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B0DF2D9-ADE7-4050-8946-48491A5F54C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FDFEB8-F9CE-4AFC-AB2A-482C0B697F8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0407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230445E-A660-448A-B4DC-782AD0E5DA6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4893" y="0"/>
            <a:ext cx="6866726" cy="6858000"/>
          </a:xfrm>
          <a:custGeom>
            <a:avLst/>
            <a:gdLst>
              <a:gd name="connsiteX0" fmla="*/ 6450330 w 8969375"/>
              <a:gd name="connsiteY0" fmla="*/ 3511550 h 6858000"/>
              <a:gd name="connsiteX1" fmla="*/ 8969375 w 8969375"/>
              <a:gd name="connsiteY1" fmla="*/ 3511550 h 6858000"/>
              <a:gd name="connsiteX2" fmla="*/ 8969375 w 8969375"/>
              <a:gd name="connsiteY2" fmla="*/ 6858000 h 6858000"/>
              <a:gd name="connsiteX3" fmla="*/ 5010150 w 8969375"/>
              <a:gd name="connsiteY3" fmla="*/ 6858000 h 6858000"/>
              <a:gd name="connsiteX4" fmla="*/ 1915160 w 8969375"/>
              <a:gd name="connsiteY4" fmla="*/ 3511550 h 6858000"/>
              <a:gd name="connsiteX5" fmla="*/ 3404870 w 8969375"/>
              <a:gd name="connsiteY5" fmla="*/ 3511550 h 6858000"/>
              <a:gd name="connsiteX6" fmla="*/ 1964690 w 8969375"/>
              <a:gd name="connsiteY6" fmla="*/ 6858000 h 6858000"/>
              <a:gd name="connsiteX7" fmla="*/ 474980 w 8969375"/>
              <a:gd name="connsiteY7" fmla="*/ 6858000 h 6858000"/>
              <a:gd name="connsiteX8" fmla="*/ 7961630 w 8969375"/>
              <a:gd name="connsiteY8" fmla="*/ 0 h 6858000"/>
              <a:gd name="connsiteX9" fmla="*/ 8969375 w 8969375"/>
              <a:gd name="connsiteY9" fmla="*/ 0 h 6858000"/>
              <a:gd name="connsiteX10" fmla="*/ 8969375 w 8969375"/>
              <a:gd name="connsiteY10" fmla="*/ 3346450 h 6858000"/>
              <a:gd name="connsiteX11" fmla="*/ 6521450 w 8969375"/>
              <a:gd name="connsiteY11" fmla="*/ 3346450 h 6858000"/>
              <a:gd name="connsiteX12" fmla="*/ 5163820 w 8969375"/>
              <a:gd name="connsiteY12" fmla="*/ 0 h 6858000"/>
              <a:gd name="connsiteX13" fmla="*/ 7726680 w 8969375"/>
              <a:gd name="connsiteY13" fmla="*/ 0 h 6858000"/>
              <a:gd name="connsiteX14" fmla="*/ 4775200 w 8969375"/>
              <a:gd name="connsiteY14" fmla="*/ 6858000 h 6858000"/>
              <a:gd name="connsiteX15" fmla="*/ 2213610 w 8969375"/>
              <a:gd name="connsiteY15" fmla="*/ 6858000 h 6858000"/>
              <a:gd name="connsiteX16" fmla="*/ 3426460 w 8969375"/>
              <a:gd name="connsiteY16" fmla="*/ 0 h 6858000"/>
              <a:gd name="connsiteX17" fmla="*/ 4916170 w 8969375"/>
              <a:gd name="connsiteY17" fmla="*/ 0 h 6858000"/>
              <a:gd name="connsiteX18" fmla="*/ 3475990 w 8969375"/>
              <a:gd name="connsiteY18" fmla="*/ 3346450 h 6858000"/>
              <a:gd name="connsiteX19" fmla="*/ 1986280 w 8969375"/>
              <a:gd name="connsiteY19" fmla="*/ 3346450 h 6858000"/>
              <a:gd name="connsiteX20" fmla="*/ 0 w 8969375"/>
              <a:gd name="connsiteY20" fmla="*/ 0 h 6858000"/>
              <a:gd name="connsiteX21" fmla="*/ 3195320 w 8969375"/>
              <a:gd name="connsiteY21" fmla="*/ 0 h 6858000"/>
              <a:gd name="connsiteX22" fmla="*/ 243840 w 8969375"/>
              <a:gd name="connsiteY22" fmla="*/ 6858000 h 6858000"/>
              <a:gd name="connsiteX23" fmla="*/ 0 w 8969375"/>
              <a:gd name="connsiteY23" fmla="*/ 6858000 h 6858000"/>
              <a:gd name="connsiteX0" fmla="*/ 6604567 w 9123612"/>
              <a:gd name="connsiteY0" fmla="*/ 3511550 h 6858000"/>
              <a:gd name="connsiteX1" fmla="*/ 9123612 w 9123612"/>
              <a:gd name="connsiteY1" fmla="*/ 3511550 h 6858000"/>
              <a:gd name="connsiteX2" fmla="*/ 9123612 w 9123612"/>
              <a:gd name="connsiteY2" fmla="*/ 6858000 h 6858000"/>
              <a:gd name="connsiteX3" fmla="*/ 5164387 w 9123612"/>
              <a:gd name="connsiteY3" fmla="*/ 6858000 h 6858000"/>
              <a:gd name="connsiteX4" fmla="*/ 6604567 w 9123612"/>
              <a:gd name="connsiteY4" fmla="*/ 3511550 h 6858000"/>
              <a:gd name="connsiteX5" fmla="*/ 2069397 w 9123612"/>
              <a:gd name="connsiteY5" fmla="*/ 3511550 h 6858000"/>
              <a:gd name="connsiteX6" fmla="*/ 3559107 w 9123612"/>
              <a:gd name="connsiteY6" fmla="*/ 3511550 h 6858000"/>
              <a:gd name="connsiteX7" fmla="*/ 2118927 w 9123612"/>
              <a:gd name="connsiteY7" fmla="*/ 6858000 h 6858000"/>
              <a:gd name="connsiteX8" fmla="*/ 629217 w 9123612"/>
              <a:gd name="connsiteY8" fmla="*/ 6858000 h 6858000"/>
              <a:gd name="connsiteX9" fmla="*/ 2069397 w 9123612"/>
              <a:gd name="connsiteY9" fmla="*/ 3511550 h 6858000"/>
              <a:gd name="connsiteX10" fmla="*/ 8115867 w 9123612"/>
              <a:gd name="connsiteY10" fmla="*/ 0 h 6858000"/>
              <a:gd name="connsiteX11" fmla="*/ 9123612 w 9123612"/>
              <a:gd name="connsiteY11" fmla="*/ 0 h 6858000"/>
              <a:gd name="connsiteX12" fmla="*/ 9123612 w 9123612"/>
              <a:gd name="connsiteY12" fmla="*/ 3346450 h 6858000"/>
              <a:gd name="connsiteX13" fmla="*/ 6675687 w 9123612"/>
              <a:gd name="connsiteY13" fmla="*/ 3346450 h 6858000"/>
              <a:gd name="connsiteX14" fmla="*/ 8115867 w 9123612"/>
              <a:gd name="connsiteY14" fmla="*/ 0 h 6858000"/>
              <a:gd name="connsiteX15" fmla="*/ 5318057 w 9123612"/>
              <a:gd name="connsiteY15" fmla="*/ 0 h 6858000"/>
              <a:gd name="connsiteX16" fmla="*/ 7880917 w 9123612"/>
              <a:gd name="connsiteY16" fmla="*/ 0 h 6858000"/>
              <a:gd name="connsiteX17" fmla="*/ 4929437 w 9123612"/>
              <a:gd name="connsiteY17" fmla="*/ 6858000 h 6858000"/>
              <a:gd name="connsiteX18" fmla="*/ 2367847 w 9123612"/>
              <a:gd name="connsiteY18" fmla="*/ 6858000 h 6858000"/>
              <a:gd name="connsiteX19" fmla="*/ 5318057 w 9123612"/>
              <a:gd name="connsiteY19" fmla="*/ 0 h 6858000"/>
              <a:gd name="connsiteX20" fmla="*/ 3580697 w 9123612"/>
              <a:gd name="connsiteY20" fmla="*/ 0 h 6858000"/>
              <a:gd name="connsiteX21" fmla="*/ 5070407 w 9123612"/>
              <a:gd name="connsiteY21" fmla="*/ 0 h 6858000"/>
              <a:gd name="connsiteX22" fmla="*/ 3630227 w 9123612"/>
              <a:gd name="connsiteY22" fmla="*/ 3346450 h 6858000"/>
              <a:gd name="connsiteX23" fmla="*/ 2140517 w 9123612"/>
              <a:gd name="connsiteY23" fmla="*/ 3346450 h 6858000"/>
              <a:gd name="connsiteX24" fmla="*/ 3580697 w 9123612"/>
              <a:gd name="connsiteY24" fmla="*/ 0 h 6858000"/>
              <a:gd name="connsiteX25" fmla="*/ 154237 w 9123612"/>
              <a:gd name="connsiteY25" fmla="*/ 0 h 6858000"/>
              <a:gd name="connsiteX26" fmla="*/ 3349557 w 9123612"/>
              <a:gd name="connsiteY26" fmla="*/ 0 h 6858000"/>
              <a:gd name="connsiteX27" fmla="*/ 398077 w 9123612"/>
              <a:gd name="connsiteY27" fmla="*/ 6858000 h 6858000"/>
              <a:gd name="connsiteX28" fmla="*/ 0 w 9123612"/>
              <a:gd name="connsiteY28" fmla="*/ 6858000 h 6858000"/>
              <a:gd name="connsiteX29" fmla="*/ 154237 w 9123612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18625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18625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054197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054197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lnTo>
                  <a:pt x="6636589" y="351155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lnTo>
                  <a:pt x="2101419" y="351155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lnTo>
                  <a:pt x="8147889" y="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lnTo>
                  <a:pt x="5350079" y="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lnTo>
                  <a:pt x="3612719" y="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lnTo>
                  <a:pt x="2947249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8139" y="3369468"/>
            <a:ext cx="27918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1096345"/>
            <a:ext cx="7883066" cy="2281355"/>
          </a:xfrm>
        </p:spPr>
        <p:txBody>
          <a:bodyPr>
            <a:noAutofit/>
          </a:bodyPr>
          <a:lstStyle>
            <a:lvl1pPr algn="l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ru-RU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A4843534-A750-4D01-BC62-26CD9AEA6A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516" y="3773555"/>
            <a:ext cx="7567715" cy="1101897"/>
          </a:xfrm>
        </p:spPr>
        <p:txBody>
          <a:bodyPr>
            <a:noAutofit/>
          </a:bodyPr>
          <a:lstStyle>
            <a:lvl1pPr marL="0" indent="0" algn="l">
              <a:buNone/>
              <a:defRPr sz="2625" b="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Tagline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F8E7B25A-0A4A-430B-903E-76193E2954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7516" y="5451785"/>
            <a:ext cx="3275648" cy="324417"/>
          </a:xfrm>
        </p:spPr>
        <p:txBody>
          <a:bodyPr>
            <a:noAutofit/>
          </a:bodyPr>
          <a:lstStyle>
            <a:lvl1pPr marL="0" indent="0" algn="l">
              <a:buNone/>
              <a:defRPr sz="1650" b="1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20XX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B88F3A2A-BD60-4F82-8064-8B157AF4DD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7516" y="5105537"/>
            <a:ext cx="3275648" cy="324417"/>
          </a:xfrm>
        </p:spPr>
        <p:txBody>
          <a:bodyPr>
            <a:noAutofit/>
          </a:bodyPr>
          <a:lstStyle>
            <a:lvl1pPr marL="0" indent="0" algn="l">
              <a:buNone/>
              <a:defRPr sz="16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Month</a:t>
            </a:r>
          </a:p>
        </p:txBody>
      </p:sp>
    </p:spTree>
    <p:extLst>
      <p:ext uri="{BB962C8B-B14F-4D97-AF65-F5344CB8AC3E}">
        <p14:creationId xmlns:p14="http://schemas.microsoft.com/office/powerpoint/2010/main" val="1982278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61FE90B3-361E-4150-BE53-368ADEA27D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130966"/>
            <a:ext cx="9144000" cy="6602574"/>
          </a:xfrm>
          <a:custGeom>
            <a:avLst/>
            <a:gdLst>
              <a:gd name="connsiteX0" fmla="*/ 5864259 w 12192000"/>
              <a:gd name="connsiteY0" fmla="*/ 2895444 h 6602574"/>
              <a:gd name="connsiteX1" fmla="*/ 5864259 w 12192000"/>
              <a:gd name="connsiteY1" fmla="*/ 5383374 h 6602574"/>
              <a:gd name="connsiteX2" fmla="*/ 0 w 12192000"/>
              <a:gd name="connsiteY2" fmla="*/ 6602574 h 6602574"/>
              <a:gd name="connsiteX3" fmla="*/ 0 w 12192000"/>
              <a:gd name="connsiteY3" fmla="*/ 4114644 h 6602574"/>
              <a:gd name="connsiteX4" fmla="*/ 12192000 w 12192000"/>
              <a:gd name="connsiteY4" fmla="*/ 2726690 h 6602574"/>
              <a:gd name="connsiteX5" fmla="*/ 12192000 w 12192000"/>
              <a:gd name="connsiteY5" fmla="*/ 5214620 h 6602574"/>
              <a:gd name="connsiteX6" fmla="*/ 6104805 w 12192000"/>
              <a:gd name="connsiteY6" fmla="*/ 6470494 h 6602574"/>
              <a:gd name="connsiteX7" fmla="*/ 6104805 w 12192000"/>
              <a:gd name="connsiteY7" fmla="*/ 3982564 h 6602574"/>
              <a:gd name="connsiteX8" fmla="*/ 12192000 w 12192000"/>
              <a:gd name="connsiteY8" fmla="*/ 0 h 6602574"/>
              <a:gd name="connsiteX9" fmla="*/ 12192000 w 12192000"/>
              <a:gd name="connsiteY9" fmla="*/ 2487923 h 6602574"/>
              <a:gd name="connsiteX10" fmla="*/ 6104805 w 12192000"/>
              <a:gd name="connsiteY10" fmla="*/ 3742534 h 6602574"/>
              <a:gd name="connsiteX11" fmla="*/ 6104805 w 12192000"/>
              <a:gd name="connsiteY11" fmla="*/ 1255874 h 6602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602574">
                <a:moveTo>
                  <a:pt x="5864259" y="2895444"/>
                </a:moveTo>
                <a:lnTo>
                  <a:pt x="5864259" y="5383374"/>
                </a:lnTo>
                <a:lnTo>
                  <a:pt x="0" y="6602574"/>
                </a:lnTo>
                <a:lnTo>
                  <a:pt x="0" y="4114644"/>
                </a:lnTo>
                <a:close/>
                <a:moveTo>
                  <a:pt x="12192000" y="2726690"/>
                </a:moveTo>
                <a:lnTo>
                  <a:pt x="12192000" y="5214620"/>
                </a:lnTo>
                <a:lnTo>
                  <a:pt x="6104805" y="6470494"/>
                </a:lnTo>
                <a:lnTo>
                  <a:pt x="6104805" y="3982564"/>
                </a:lnTo>
                <a:close/>
                <a:moveTo>
                  <a:pt x="12192000" y="0"/>
                </a:moveTo>
                <a:lnTo>
                  <a:pt x="12192000" y="2487923"/>
                </a:lnTo>
                <a:lnTo>
                  <a:pt x="6104805" y="3742534"/>
                </a:lnTo>
                <a:lnTo>
                  <a:pt x="6104805" y="125587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931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Graphic 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8AF4189-33DF-9B46-9624-C722FCE07D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5393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4548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9D8367A5-C050-47FB-A1BD-54CD13DE3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139804" y="0"/>
            <a:ext cx="4577716" cy="6858000"/>
          </a:xfrm>
          <a:custGeom>
            <a:avLst/>
            <a:gdLst>
              <a:gd name="connsiteX0" fmla="*/ 3914141 w 6103621"/>
              <a:gd name="connsiteY0" fmla="*/ 914400 h 6858000"/>
              <a:gd name="connsiteX1" fmla="*/ 6103621 w 6103621"/>
              <a:gd name="connsiteY1" fmla="*/ 914400 h 6858000"/>
              <a:gd name="connsiteX2" fmla="*/ 4339591 w 6103621"/>
              <a:gd name="connsiteY2" fmla="*/ 6858000 h 6858000"/>
              <a:gd name="connsiteX3" fmla="*/ 2150112 w 6103621"/>
              <a:gd name="connsiteY3" fmla="*/ 6858000 h 6858000"/>
              <a:gd name="connsiteX4" fmla="*/ 1769111 w 6103621"/>
              <a:gd name="connsiteY4" fmla="*/ 0 h 6858000"/>
              <a:gd name="connsiteX5" fmla="*/ 3958591 w 6103621"/>
              <a:gd name="connsiteY5" fmla="*/ 0 h 6858000"/>
              <a:gd name="connsiteX6" fmla="*/ 2189480 w 6103621"/>
              <a:gd name="connsiteY6" fmla="*/ 5943601 h 6858000"/>
              <a:gd name="connsiteX7" fmla="*/ 0 w 6103621"/>
              <a:gd name="connsiteY7" fmla="*/ 594360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3621" h="6858000">
                <a:moveTo>
                  <a:pt x="3914141" y="914400"/>
                </a:moveTo>
                <a:lnTo>
                  <a:pt x="6103621" y="914400"/>
                </a:lnTo>
                <a:lnTo>
                  <a:pt x="4339591" y="6858000"/>
                </a:lnTo>
                <a:lnTo>
                  <a:pt x="2150112" y="6858000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302F0820-F94A-40EF-B3BE-26CD0CB551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524" y="3074530"/>
            <a:ext cx="3316392" cy="2588637"/>
          </a:xfrm>
        </p:spPr>
        <p:txBody>
          <a:bodyPr lIns="0"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3528AEE-54AB-4366-9576-BBA1CE5F3A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2746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1</a:t>
            </a:r>
            <a:endParaRPr lang="ru-RU" dirty="0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A1867536-E941-4FED-8B68-2609143C2A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5393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6" name="Graphic 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6470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B2044CCF-605D-4D6E-A41D-D6AED53B223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404811"/>
            <a:ext cx="4581654" cy="5485128"/>
          </a:xfrm>
          <a:custGeom>
            <a:avLst/>
            <a:gdLst>
              <a:gd name="connsiteX0" fmla="*/ 0 w 6108872"/>
              <a:gd name="connsiteY0" fmla="*/ 2203471 h 5485128"/>
              <a:gd name="connsiteX1" fmla="*/ 6108872 w 6108872"/>
              <a:gd name="connsiteY1" fmla="*/ 3505695 h 5485128"/>
              <a:gd name="connsiteX2" fmla="*/ 6108872 w 6108872"/>
              <a:gd name="connsiteY2" fmla="*/ 5485128 h 5485128"/>
              <a:gd name="connsiteX3" fmla="*/ 0 w 6108872"/>
              <a:gd name="connsiteY3" fmla="*/ 4182903 h 5485128"/>
              <a:gd name="connsiteX4" fmla="*/ 0 w 6108872"/>
              <a:gd name="connsiteY4" fmla="*/ 0 h 5485128"/>
              <a:gd name="connsiteX5" fmla="*/ 6108872 w 6108872"/>
              <a:gd name="connsiteY5" fmla="*/ 1302225 h 5485128"/>
              <a:gd name="connsiteX6" fmla="*/ 6108872 w 6108872"/>
              <a:gd name="connsiteY6" fmla="*/ 3281657 h 5485128"/>
              <a:gd name="connsiteX7" fmla="*/ 0 w 6108872"/>
              <a:gd name="connsiteY7" fmla="*/ 1979432 h 5485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8872" h="5485128">
                <a:moveTo>
                  <a:pt x="0" y="2203471"/>
                </a:moveTo>
                <a:lnTo>
                  <a:pt x="6108872" y="3505695"/>
                </a:lnTo>
                <a:lnTo>
                  <a:pt x="6108872" y="5485128"/>
                </a:lnTo>
                <a:lnTo>
                  <a:pt x="0" y="4182903"/>
                </a:lnTo>
                <a:close/>
                <a:moveTo>
                  <a:pt x="0" y="0"/>
                </a:moveTo>
                <a:lnTo>
                  <a:pt x="6108872" y="1302225"/>
                </a:lnTo>
                <a:lnTo>
                  <a:pt x="6108872" y="3281657"/>
                </a:lnTo>
                <a:lnTo>
                  <a:pt x="0" y="197943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E7F180F3-53B1-4A31-82A4-E6F9B5D8D8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60904" y="3090573"/>
            <a:ext cx="3316393" cy="2588637"/>
          </a:xfrm>
        </p:spPr>
        <p:txBody>
          <a:bodyPr lIns="0"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D523330-9E96-4C6E-B5A4-6B543D365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0905" y="1046140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2</a:t>
            </a:r>
            <a:endParaRPr lang="ru-R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A08F6B3-0ADA-4ECF-8D25-7DFE4A3641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60905" y="2241516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Graphic 15">
            <a:extLst>
              <a:ext uri="{FF2B5EF4-FFF2-40B4-BE49-F238E27FC236}">
                <a16:creationId xmlns:a16="http://schemas.microsoft.com/office/drawing/2014/main" id="{5CCECBFE-3C2B-4492-BCDA-1EFEB5E3E092}"/>
              </a:ext>
            </a:extLst>
          </p:cNvPr>
          <p:cNvSpPr/>
          <p:nvPr userDrawn="1"/>
        </p:nvSpPr>
        <p:spPr>
          <a:xfrm flipH="1">
            <a:off x="5235690" y="1947672"/>
            <a:ext cx="3915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3441B044-38F8-49ED-845B-5D926C811447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5510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ec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3373955-AB5B-4186-8098-9DBA0AB2650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0524" y="2993042"/>
            <a:ext cx="3274219" cy="454353"/>
          </a:xfrm>
        </p:spPr>
        <p:txBody>
          <a:bodyPr>
            <a:noAutofit/>
          </a:bodyPr>
          <a:lstStyle>
            <a:lvl1pPr marL="0" indent="0">
              <a:buNone/>
              <a:defRPr sz="2025" b="1">
                <a:solidFill>
                  <a:schemeClr val="bg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1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3A3472E-32B4-4CAD-B5D0-420AA3FB4CE3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970340" y="2993042"/>
            <a:ext cx="3274219" cy="454353"/>
          </a:xfrm>
        </p:spPr>
        <p:txBody>
          <a:bodyPr>
            <a:noAutofit/>
          </a:bodyPr>
          <a:lstStyle>
            <a:lvl1pPr marL="0" indent="0">
              <a:buNone/>
              <a:defRPr sz="2025" b="1">
                <a:solidFill>
                  <a:schemeClr val="bg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2 title</a:t>
            </a: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1AEED068-3EA0-4BF4-875C-02473E9EB0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0524" y="3563412"/>
            <a:ext cx="3274219" cy="2333625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3590B9DA-A2DF-4AE1-9A98-C7B84F48C3A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70341" y="3563412"/>
            <a:ext cx="3274219" cy="2333625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COMPARISON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1993"/>
            <a:ext cx="7664035" cy="665713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5E78F6F2-1702-E74A-86B2-0C42A30F3378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9992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-9525" y="-12700"/>
            <a:ext cx="9163050" cy="6883400"/>
            <a:chOff x="-12700" y="-12700"/>
            <a:chExt cx="12217400" cy="68834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542021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Chart Placeholder 18">
            <a:extLst>
              <a:ext uri="{FF2B5EF4-FFF2-40B4-BE49-F238E27FC236}">
                <a16:creationId xmlns:a16="http://schemas.microsoft.com/office/drawing/2014/main" id="{68B512F2-EA3E-483F-B5D4-29DFD6C37B36}"/>
              </a:ext>
            </a:extLst>
          </p:cNvPr>
          <p:cNvSpPr>
            <a:spLocks noGrp="1"/>
          </p:cNvSpPr>
          <p:nvPr>
            <p:ph type="chart" sz="quarter" idx="32"/>
          </p:nvPr>
        </p:nvSpPr>
        <p:spPr>
          <a:xfrm>
            <a:off x="4572001" y="1246189"/>
            <a:ext cx="3877526" cy="436562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chart</a:t>
            </a:r>
            <a:endParaRPr lang="ru-RU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D58E79F-20BB-644D-8C49-25B57E347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317174"/>
            <a:ext cx="2119122" cy="1524185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CHART</a:t>
            </a:r>
            <a:br>
              <a:rPr lang="en-US" dirty="0"/>
            </a:br>
            <a:r>
              <a:rPr lang="en-US" dirty="0"/>
              <a:t>SLIDE</a:t>
            </a:r>
            <a:endParaRPr lang="ru-RU" dirty="0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EF8E92E6-C1C9-854A-93EE-FD201AF050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3198229"/>
            <a:ext cx="2119122" cy="2154741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Graphic 15">
            <a:extLst>
              <a:ext uri="{FF2B5EF4-FFF2-40B4-BE49-F238E27FC236}">
                <a16:creationId xmlns:a16="http://schemas.microsoft.com/office/drawing/2014/main" id="{C1F625F0-F98F-D244-9020-86C86C287112}"/>
              </a:ext>
            </a:extLst>
          </p:cNvPr>
          <p:cNvSpPr/>
          <p:nvPr userDrawn="1"/>
        </p:nvSpPr>
        <p:spPr>
          <a:xfrm>
            <a:off x="-8380" y="2899869"/>
            <a:ext cx="1971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751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317174"/>
            <a:ext cx="2119122" cy="1524185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TABLE</a:t>
            </a:r>
            <a:br>
              <a:rPr lang="en-US" dirty="0"/>
            </a:br>
            <a:r>
              <a:rPr lang="en-US" dirty="0"/>
              <a:t>SLIDE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3198229"/>
            <a:ext cx="2119122" cy="2154741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2" name="Graphic 15">
            <a:extLst>
              <a:ext uri="{FF2B5EF4-FFF2-40B4-BE49-F238E27FC236}">
                <a16:creationId xmlns:a16="http://schemas.microsoft.com/office/drawing/2014/main" id="{C8EF6174-FF5D-41C2-BF6B-9D6ECB281A1D}"/>
              </a:ext>
            </a:extLst>
          </p:cNvPr>
          <p:cNvSpPr/>
          <p:nvPr userDrawn="1"/>
        </p:nvSpPr>
        <p:spPr>
          <a:xfrm>
            <a:off x="-8380" y="2899869"/>
            <a:ext cx="1971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Table Placeholder 17">
            <a:extLst>
              <a:ext uri="{FF2B5EF4-FFF2-40B4-BE49-F238E27FC236}">
                <a16:creationId xmlns:a16="http://schemas.microsoft.com/office/drawing/2014/main" id="{D45BCEDF-86BB-41E2-9F09-5D3014AD1C45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536843" y="1591500"/>
            <a:ext cx="4920854" cy="3761069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table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4252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itle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E694C388-14E9-4848-A715-72B7DC6AF5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26" y="0"/>
            <a:ext cx="9121139" cy="6858000"/>
          </a:xfrm>
          <a:custGeom>
            <a:avLst/>
            <a:gdLst>
              <a:gd name="connsiteX0" fmla="*/ 12161519 w 12161519"/>
              <a:gd name="connsiteY0" fmla="*/ 638810 h 6858000"/>
              <a:gd name="connsiteX1" fmla="*/ 12161519 w 12161519"/>
              <a:gd name="connsiteY1" fmla="*/ 1922780 h 6858000"/>
              <a:gd name="connsiteX2" fmla="*/ 9531350 w 12161519"/>
              <a:gd name="connsiteY2" fmla="*/ 6858000 h 6858000"/>
              <a:gd name="connsiteX3" fmla="*/ 8846819 w 12161519"/>
              <a:gd name="connsiteY3" fmla="*/ 6858000 h 6858000"/>
              <a:gd name="connsiteX4" fmla="*/ 10704830 w 12161519"/>
              <a:gd name="connsiteY4" fmla="*/ 0 h 6858000"/>
              <a:gd name="connsiteX5" fmla="*/ 12161519 w 12161519"/>
              <a:gd name="connsiteY5" fmla="*/ 0 h 6858000"/>
              <a:gd name="connsiteX6" fmla="*/ 12161519 w 12161519"/>
              <a:gd name="connsiteY6" fmla="*/ 234950 h 6858000"/>
              <a:gd name="connsiteX7" fmla="*/ 8632190 w 12161519"/>
              <a:gd name="connsiteY7" fmla="*/ 6858000 h 6858000"/>
              <a:gd name="connsiteX8" fmla="*/ 7049770 w 12161519"/>
              <a:gd name="connsiteY8" fmla="*/ 6858000 h 6858000"/>
              <a:gd name="connsiteX9" fmla="*/ 5320030 w 12161519"/>
              <a:gd name="connsiteY9" fmla="*/ 0 h 6858000"/>
              <a:gd name="connsiteX10" fmla="*/ 10476230 w 12161519"/>
              <a:gd name="connsiteY10" fmla="*/ 0 h 6858000"/>
              <a:gd name="connsiteX11" fmla="*/ 6822440 w 12161519"/>
              <a:gd name="connsiteY11" fmla="*/ 6858000 h 6858000"/>
              <a:gd name="connsiteX12" fmla="*/ 1664970 w 12161519"/>
              <a:gd name="connsiteY12" fmla="*/ 6858000 h 6858000"/>
              <a:gd name="connsiteX13" fmla="*/ 3529330 w 12161519"/>
              <a:gd name="connsiteY13" fmla="*/ 0 h 6858000"/>
              <a:gd name="connsiteX14" fmla="*/ 5111750 w 12161519"/>
              <a:gd name="connsiteY14" fmla="*/ 0 h 6858000"/>
              <a:gd name="connsiteX15" fmla="*/ 1456690 w 12161519"/>
              <a:gd name="connsiteY15" fmla="*/ 6858000 h 6858000"/>
              <a:gd name="connsiteX16" fmla="*/ 0 w 12161519"/>
              <a:gd name="connsiteY16" fmla="*/ 6858000 h 6858000"/>
              <a:gd name="connsiteX17" fmla="*/ 0 w 12161519"/>
              <a:gd name="connsiteY17" fmla="*/ 6623050 h 6858000"/>
              <a:gd name="connsiteX18" fmla="*/ 2630170 w 12161519"/>
              <a:gd name="connsiteY18" fmla="*/ 0 h 6858000"/>
              <a:gd name="connsiteX19" fmla="*/ 3314700 w 12161519"/>
              <a:gd name="connsiteY19" fmla="*/ 0 h 6858000"/>
              <a:gd name="connsiteX20" fmla="*/ 0 w 12161519"/>
              <a:gd name="connsiteY20" fmla="*/ 6219190 h 6858000"/>
              <a:gd name="connsiteX21" fmla="*/ 0 w 12161519"/>
              <a:gd name="connsiteY21" fmla="*/ 493522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61519" h="6858000">
                <a:moveTo>
                  <a:pt x="12161519" y="638810"/>
                </a:moveTo>
                <a:lnTo>
                  <a:pt x="12161519" y="1922780"/>
                </a:lnTo>
                <a:lnTo>
                  <a:pt x="9531350" y="6858000"/>
                </a:lnTo>
                <a:lnTo>
                  <a:pt x="8846819" y="6858000"/>
                </a:lnTo>
                <a:close/>
                <a:moveTo>
                  <a:pt x="10704830" y="0"/>
                </a:moveTo>
                <a:lnTo>
                  <a:pt x="12161519" y="0"/>
                </a:lnTo>
                <a:lnTo>
                  <a:pt x="12161519" y="234950"/>
                </a:lnTo>
                <a:lnTo>
                  <a:pt x="8632190" y="6858000"/>
                </a:lnTo>
                <a:lnTo>
                  <a:pt x="7049770" y="6858000"/>
                </a:lnTo>
                <a:close/>
                <a:moveTo>
                  <a:pt x="5320030" y="0"/>
                </a:moveTo>
                <a:lnTo>
                  <a:pt x="10476230" y="0"/>
                </a:lnTo>
                <a:lnTo>
                  <a:pt x="6822440" y="6858000"/>
                </a:lnTo>
                <a:lnTo>
                  <a:pt x="1664970" y="6858000"/>
                </a:lnTo>
                <a:close/>
                <a:moveTo>
                  <a:pt x="3529330" y="0"/>
                </a:moveTo>
                <a:lnTo>
                  <a:pt x="5111750" y="0"/>
                </a:lnTo>
                <a:lnTo>
                  <a:pt x="1456690" y="6858000"/>
                </a:lnTo>
                <a:lnTo>
                  <a:pt x="0" y="6858000"/>
                </a:lnTo>
                <a:lnTo>
                  <a:pt x="0" y="6623050"/>
                </a:lnTo>
                <a:close/>
                <a:moveTo>
                  <a:pt x="2630170" y="0"/>
                </a:moveTo>
                <a:lnTo>
                  <a:pt x="3314700" y="0"/>
                </a:lnTo>
                <a:lnTo>
                  <a:pt x="0" y="6219190"/>
                </a:lnTo>
                <a:lnTo>
                  <a:pt x="0" y="493522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FD7B55F-CFD3-4921-BB2A-B14EB4E363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033272"/>
            <a:ext cx="7886249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BIG IMAGE SLIDE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932204AA-73EE-4F85-898B-E747C5ACC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1880795"/>
            <a:ext cx="7888949" cy="782639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Graphic 4">
            <a:extLst>
              <a:ext uri="{FF2B5EF4-FFF2-40B4-BE49-F238E27FC236}">
                <a16:creationId xmlns:a16="http://schemas.microsoft.com/office/drawing/2014/main" id="{38541361-4795-490E-8165-B4A338F8231D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2E78DA-7F75-294B-AECF-F02F6C41615D}"/>
              </a:ext>
            </a:extLst>
          </p:cNvPr>
          <p:cNvSpPr txBox="1"/>
          <p:nvPr userDrawn="1"/>
        </p:nvSpPr>
        <p:spPr>
          <a:xfrm>
            <a:off x="222569" y="30025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348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F5D581-F5B0-4701-B187-0D4FAB44900C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6"/>
          </a:solid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ru-RU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E5F41AB-E2B9-45DD-B1C7-9F4DBA4946B9}"/>
              </a:ext>
            </a:extLst>
          </p:cNvPr>
          <p:cNvSpPr/>
          <p:nvPr userDrawn="1"/>
        </p:nvSpPr>
        <p:spPr>
          <a:xfrm>
            <a:off x="1834319" y="-12700"/>
            <a:ext cx="5467350" cy="6883400"/>
          </a:xfrm>
          <a:custGeom>
            <a:avLst/>
            <a:gdLst>
              <a:gd name="connsiteX0" fmla="*/ 5063490 w 7289800"/>
              <a:gd name="connsiteY0" fmla="*/ 12700 h 6883400"/>
              <a:gd name="connsiteX1" fmla="*/ 2499360 w 7289800"/>
              <a:gd name="connsiteY1" fmla="*/ 6870700 h 6883400"/>
              <a:gd name="connsiteX2" fmla="*/ 4721860 w 7289800"/>
              <a:gd name="connsiteY2" fmla="*/ 6870700 h 6883400"/>
              <a:gd name="connsiteX3" fmla="*/ 7285990 w 7289800"/>
              <a:gd name="connsiteY3" fmla="*/ 12700 h 6883400"/>
              <a:gd name="connsiteX4" fmla="*/ 5063490 w 7289800"/>
              <a:gd name="connsiteY4" fmla="*/ 12700 h 6883400"/>
              <a:gd name="connsiteX5" fmla="*/ 12700 w 7289800"/>
              <a:gd name="connsiteY5" fmla="*/ 6870700 h 6883400"/>
              <a:gd name="connsiteX6" fmla="*/ 2235200 w 7289800"/>
              <a:gd name="connsiteY6" fmla="*/ 6870700 h 6883400"/>
              <a:gd name="connsiteX7" fmla="*/ 4799331 w 7289800"/>
              <a:gd name="connsiteY7" fmla="*/ 12700 h 6883400"/>
              <a:gd name="connsiteX8" fmla="*/ 2576830 w 7289800"/>
              <a:gd name="connsiteY8" fmla="*/ 12700 h 6883400"/>
              <a:gd name="connsiteX9" fmla="*/ 12700 w 7289800"/>
              <a:gd name="connsiteY9" fmla="*/ 6870700 h 688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89800" h="6883400">
                <a:moveTo>
                  <a:pt x="5063490" y="12700"/>
                </a:moveTo>
                <a:lnTo>
                  <a:pt x="2499360" y="6870700"/>
                </a:lnTo>
                <a:lnTo>
                  <a:pt x="4721860" y="6870700"/>
                </a:lnTo>
                <a:lnTo>
                  <a:pt x="7285990" y="12700"/>
                </a:lnTo>
                <a:lnTo>
                  <a:pt x="5063490" y="12700"/>
                </a:lnTo>
                <a:close/>
                <a:moveTo>
                  <a:pt x="12700" y="6870700"/>
                </a:moveTo>
                <a:lnTo>
                  <a:pt x="2235200" y="6870700"/>
                </a:lnTo>
                <a:lnTo>
                  <a:pt x="4799331" y="12700"/>
                </a:lnTo>
                <a:lnTo>
                  <a:pt x="2576830" y="12700"/>
                </a:lnTo>
                <a:lnTo>
                  <a:pt x="12700" y="68707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10C334-F1CE-4CEF-ADC6-D1BADB994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156580"/>
            <a:ext cx="7886700" cy="1325563"/>
          </a:xfrm>
        </p:spPr>
        <p:txBody>
          <a:bodyPr lIns="0" rIns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VIDEO SLIDE</a:t>
            </a:r>
            <a:endParaRPr lang="ru-RU" dirty="0"/>
          </a:p>
        </p:txBody>
      </p:sp>
      <p:sp>
        <p:nvSpPr>
          <p:cNvPr id="16" name="Media Placeholder 7">
            <a:extLst>
              <a:ext uri="{FF2B5EF4-FFF2-40B4-BE49-F238E27FC236}">
                <a16:creationId xmlns:a16="http://schemas.microsoft.com/office/drawing/2014/main" id="{A11F77F4-4B16-4503-B9B6-AE22C686E3E3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>
          <a:xfrm>
            <a:off x="1046988" y="1497770"/>
            <a:ext cx="7050024" cy="4215384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media</a:t>
            </a:r>
            <a:endParaRPr lang="ru-RU" dirty="0"/>
          </a:p>
        </p:txBody>
      </p:sp>
      <p:sp>
        <p:nvSpPr>
          <p:cNvPr id="12" name="Graphic 4">
            <a:extLst>
              <a:ext uri="{FF2B5EF4-FFF2-40B4-BE49-F238E27FC236}">
                <a16:creationId xmlns:a16="http://schemas.microsoft.com/office/drawing/2014/main" id="{C7654E36-50FF-425E-B595-F3957610B5D8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78877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8BA6D96-EFE3-4743-8FB5-544E9692D11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" y="0"/>
            <a:ext cx="6866572" cy="6858000"/>
          </a:xfrm>
          <a:custGeom>
            <a:avLst/>
            <a:gdLst>
              <a:gd name="connsiteX0" fmla="*/ 5490209 w 9155429"/>
              <a:gd name="connsiteY0" fmla="*/ 3511550 h 6858000"/>
              <a:gd name="connsiteX1" fmla="*/ 6979919 w 9155429"/>
              <a:gd name="connsiteY1" fmla="*/ 3511550 h 6858000"/>
              <a:gd name="connsiteX2" fmla="*/ 5541009 w 9155429"/>
              <a:gd name="connsiteY2" fmla="*/ 6858000 h 6858000"/>
              <a:gd name="connsiteX3" fmla="*/ 4050029 w 9155429"/>
              <a:gd name="connsiteY3" fmla="*/ 6858000 h 6858000"/>
              <a:gd name="connsiteX4" fmla="*/ 0 w 9155429"/>
              <a:gd name="connsiteY4" fmla="*/ 3511550 h 6858000"/>
              <a:gd name="connsiteX5" fmla="*/ 2444750 w 9155429"/>
              <a:gd name="connsiteY5" fmla="*/ 3511550 h 6858000"/>
              <a:gd name="connsiteX6" fmla="*/ 1004570 w 9155429"/>
              <a:gd name="connsiteY6" fmla="*/ 6858000 h 6858000"/>
              <a:gd name="connsiteX7" fmla="*/ 0 w 9155429"/>
              <a:gd name="connsiteY7" fmla="*/ 6858000 h 6858000"/>
              <a:gd name="connsiteX8" fmla="*/ 7001509 w 9155429"/>
              <a:gd name="connsiteY8" fmla="*/ 1 h 6858000"/>
              <a:gd name="connsiteX9" fmla="*/ 8491219 w 9155429"/>
              <a:gd name="connsiteY9" fmla="*/ 1 h 6858000"/>
              <a:gd name="connsiteX10" fmla="*/ 7051039 w 9155429"/>
              <a:gd name="connsiteY10" fmla="*/ 3346450 h 6858000"/>
              <a:gd name="connsiteX11" fmla="*/ 5561329 w 9155429"/>
              <a:gd name="connsiteY11" fmla="*/ 3346450 h 6858000"/>
              <a:gd name="connsiteX12" fmla="*/ 8722359 w 9155429"/>
              <a:gd name="connsiteY12" fmla="*/ 0 h 6858000"/>
              <a:gd name="connsiteX13" fmla="*/ 9155429 w 9155429"/>
              <a:gd name="connsiteY13" fmla="*/ 0 h 6858000"/>
              <a:gd name="connsiteX14" fmla="*/ 6203949 w 9155429"/>
              <a:gd name="connsiteY14" fmla="*/ 6858000 h 6858000"/>
              <a:gd name="connsiteX15" fmla="*/ 5772149 w 9155429"/>
              <a:gd name="connsiteY15" fmla="*/ 6858000 h 6858000"/>
              <a:gd name="connsiteX16" fmla="*/ 4190999 w 9155429"/>
              <a:gd name="connsiteY16" fmla="*/ 0 h 6858000"/>
              <a:gd name="connsiteX17" fmla="*/ 6753859 w 9155429"/>
              <a:gd name="connsiteY17" fmla="*/ 0 h 6858000"/>
              <a:gd name="connsiteX18" fmla="*/ 3802379 w 9155429"/>
              <a:gd name="connsiteY18" fmla="*/ 6858000 h 6858000"/>
              <a:gd name="connsiteX19" fmla="*/ 1239520 w 9155429"/>
              <a:gd name="connsiteY19" fmla="*/ 6858000 h 6858000"/>
              <a:gd name="connsiteX20" fmla="*/ 0 w 9155429"/>
              <a:gd name="connsiteY20" fmla="*/ 0 h 6858000"/>
              <a:gd name="connsiteX21" fmla="*/ 3956050 w 9155429"/>
              <a:gd name="connsiteY21" fmla="*/ 0 h 6858000"/>
              <a:gd name="connsiteX22" fmla="*/ 2515869 w 9155429"/>
              <a:gd name="connsiteY22" fmla="*/ 3346450 h 6858000"/>
              <a:gd name="connsiteX23" fmla="*/ 0 w 9155429"/>
              <a:gd name="connsiteY23" fmla="*/ 33464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429" h="6858000">
                <a:moveTo>
                  <a:pt x="5490209" y="3511550"/>
                </a:moveTo>
                <a:lnTo>
                  <a:pt x="6979919" y="3511550"/>
                </a:lnTo>
                <a:lnTo>
                  <a:pt x="5541009" y="6858000"/>
                </a:lnTo>
                <a:lnTo>
                  <a:pt x="4050029" y="6858000"/>
                </a:lnTo>
                <a:close/>
                <a:moveTo>
                  <a:pt x="0" y="3511550"/>
                </a:moveTo>
                <a:lnTo>
                  <a:pt x="2444750" y="3511550"/>
                </a:lnTo>
                <a:lnTo>
                  <a:pt x="1004570" y="6858000"/>
                </a:lnTo>
                <a:lnTo>
                  <a:pt x="0" y="6858000"/>
                </a:lnTo>
                <a:close/>
                <a:moveTo>
                  <a:pt x="7001509" y="1"/>
                </a:moveTo>
                <a:lnTo>
                  <a:pt x="8491219" y="1"/>
                </a:lnTo>
                <a:lnTo>
                  <a:pt x="7051039" y="3346450"/>
                </a:lnTo>
                <a:lnTo>
                  <a:pt x="5561329" y="3346450"/>
                </a:lnTo>
                <a:close/>
                <a:moveTo>
                  <a:pt x="8722359" y="0"/>
                </a:moveTo>
                <a:lnTo>
                  <a:pt x="9155429" y="0"/>
                </a:lnTo>
                <a:lnTo>
                  <a:pt x="6203949" y="6858000"/>
                </a:lnTo>
                <a:lnTo>
                  <a:pt x="5772149" y="6858000"/>
                </a:lnTo>
                <a:close/>
                <a:moveTo>
                  <a:pt x="4190999" y="0"/>
                </a:moveTo>
                <a:lnTo>
                  <a:pt x="6753859" y="0"/>
                </a:lnTo>
                <a:lnTo>
                  <a:pt x="3802379" y="6858000"/>
                </a:lnTo>
                <a:lnTo>
                  <a:pt x="1239520" y="6858000"/>
                </a:lnTo>
                <a:close/>
                <a:moveTo>
                  <a:pt x="0" y="0"/>
                </a:moveTo>
                <a:lnTo>
                  <a:pt x="3956050" y="0"/>
                </a:lnTo>
                <a:lnTo>
                  <a:pt x="2515869" y="3346450"/>
                </a:lnTo>
                <a:lnTo>
                  <a:pt x="0" y="334645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14" name="Graphic 19">
            <a:extLst>
              <a:ext uri="{FF2B5EF4-FFF2-40B4-BE49-F238E27FC236}">
                <a16:creationId xmlns:a16="http://schemas.microsoft.com/office/drawing/2014/main" id="{97347B99-304D-468D-B6F0-9D59E6077A64}"/>
              </a:ext>
            </a:extLst>
          </p:cNvPr>
          <p:cNvSpPr/>
          <p:nvPr userDrawn="1"/>
        </p:nvSpPr>
        <p:spPr>
          <a:xfrm flipH="1">
            <a:off x="6753290" y="3285679"/>
            <a:ext cx="2393442" cy="146304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B615286-AF88-4751-9BF6-3F030092F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280" y="973513"/>
            <a:ext cx="3137954" cy="2281355"/>
          </a:xfrm>
        </p:spPr>
        <p:txBody>
          <a:bodyPr>
            <a:noAutofit/>
          </a:bodyPr>
          <a:lstStyle>
            <a:lvl1pPr algn="r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YOU!</a:t>
            </a:r>
            <a:endParaRPr lang="ru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5E15D97E-2723-48C3-B835-65DB0286DB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0406" y="3675709"/>
            <a:ext cx="2351828" cy="1101897"/>
          </a:xfrm>
        </p:spPr>
        <p:txBody>
          <a:bodyPr>
            <a:noAutofit/>
          </a:bodyPr>
          <a:lstStyle>
            <a:lvl1pPr marL="0" indent="0" algn="r">
              <a:buNone/>
              <a:defRPr sz="2625" b="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Alexander</a:t>
            </a:r>
            <a:br>
              <a:rPr lang="en-US" dirty="0"/>
            </a:br>
            <a:r>
              <a:rPr lang="en-US" dirty="0" err="1"/>
              <a:t>Martensson</a:t>
            </a:r>
            <a:endParaRPr lang="en-US" dirty="0"/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4D45CEBA-121A-426A-897A-9E3CDC5F5CC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56586" y="5019265"/>
            <a:ext cx="3275648" cy="474519"/>
          </a:xfrm>
        </p:spPr>
        <p:txBody>
          <a:bodyPr>
            <a:noAutofit/>
          </a:bodyPr>
          <a:lstStyle>
            <a:lvl1pPr marL="0" indent="0" algn="r">
              <a:buNone/>
              <a:defRPr sz="1650" b="0" i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678-555-0128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0767B0C7-7BD9-4BF1-8D3D-91DED23803E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56586" y="4805882"/>
            <a:ext cx="3275648" cy="288000"/>
          </a:xfrm>
        </p:spPr>
        <p:txBody>
          <a:bodyPr>
            <a:noAutofit/>
          </a:bodyPr>
          <a:lstStyle>
            <a:lvl1pPr marL="0" indent="0" algn="r">
              <a:buNone/>
              <a:defRPr sz="10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6B74744-5435-47DD-B65F-16D8E7AC15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91816" y="5685823"/>
            <a:ext cx="4440417" cy="474519"/>
          </a:xfrm>
        </p:spPr>
        <p:txBody>
          <a:bodyPr>
            <a:noAutofit/>
          </a:bodyPr>
          <a:lstStyle>
            <a:lvl1pPr marL="0" indent="0" algn="r">
              <a:buNone/>
              <a:defRPr sz="1650" b="0" i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martensson@example.com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20815411-0E43-4B6B-92C7-6E312091AB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56586" y="5466001"/>
            <a:ext cx="3275648" cy="288000"/>
          </a:xfrm>
        </p:spPr>
        <p:txBody>
          <a:bodyPr>
            <a:noAutofit/>
          </a:bodyPr>
          <a:lstStyle>
            <a:lvl1pPr marL="0" indent="0" algn="r">
              <a:buNone/>
              <a:defRPr sz="10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27889667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43AF0D-28CB-4D3A-A944-CE3DCAAC5657}"/>
              </a:ext>
            </a:extLst>
          </p:cNvPr>
          <p:cNvSpPr/>
          <p:nvPr userDrawn="1"/>
        </p:nvSpPr>
        <p:spPr>
          <a:xfrm>
            <a:off x="2274893" y="0"/>
            <a:ext cx="6866726" cy="6858000"/>
          </a:xfrm>
          <a:custGeom>
            <a:avLst/>
            <a:gdLst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2101419 w 9155634"/>
              <a:gd name="connsiteY4" fmla="*/ 3511550 h 6858000"/>
              <a:gd name="connsiteX5" fmla="*/ 3591129 w 9155634"/>
              <a:gd name="connsiteY5" fmla="*/ 3511550 h 6858000"/>
              <a:gd name="connsiteX6" fmla="*/ 2150949 w 9155634"/>
              <a:gd name="connsiteY6" fmla="*/ 6858000 h 6858000"/>
              <a:gd name="connsiteX7" fmla="*/ 661239 w 9155634"/>
              <a:gd name="connsiteY7" fmla="*/ 6858000 h 6858000"/>
              <a:gd name="connsiteX8" fmla="*/ 8147889 w 9155634"/>
              <a:gd name="connsiteY8" fmla="*/ 0 h 6858000"/>
              <a:gd name="connsiteX9" fmla="*/ 9155634 w 9155634"/>
              <a:gd name="connsiteY9" fmla="*/ 0 h 6858000"/>
              <a:gd name="connsiteX10" fmla="*/ 9155634 w 9155634"/>
              <a:gd name="connsiteY10" fmla="*/ 3346450 h 6858000"/>
              <a:gd name="connsiteX11" fmla="*/ 6707709 w 9155634"/>
              <a:gd name="connsiteY11" fmla="*/ 3346450 h 6858000"/>
              <a:gd name="connsiteX12" fmla="*/ 5350079 w 9155634"/>
              <a:gd name="connsiteY12" fmla="*/ 0 h 6858000"/>
              <a:gd name="connsiteX13" fmla="*/ 7912939 w 9155634"/>
              <a:gd name="connsiteY13" fmla="*/ 0 h 6858000"/>
              <a:gd name="connsiteX14" fmla="*/ 4961459 w 9155634"/>
              <a:gd name="connsiteY14" fmla="*/ 6858000 h 6858000"/>
              <a:gd name="connsiteX15" fmla="*/ 2399869 w 9155634"/>
              <a:gd name="connsiteY15" fmla="*/ 6858000 h 6858000"/>
              <a:gd name="connsiteX16" fmla="*/ 3612719 w 9155634"/>
              <a:gd name="connsiteY16" fmla="*/ 0 h 6858000"/>
              <a:gd name="connsiteX17" fmla="*/ 5102429 w 9155634"/>
              <a:gd name="connsiteY17" fmla="*/ 0 h 6858000"/>
              <a:gd name="connsiteX18" fmla="*/ 3662249 w 9155634"/>
              <a:gd name="connsiteY18" fmla="*/ 3346450 h 6858000"/>
              <a:gd name="connsiteX19" fmla="*/ 2172539 w 9155634"/>
              <a:gd name="connsiteY19" fmla="*/ 3346450 h 6858000"/>
              <a:gd name="connsiteX20" fmla="*/ 2947249 w 9155634"/>
              <a:gd name="connsiteY20" fmla="*/ 0 h 6858000"/>
              <a:gd name="connsiteX21" fmla="*/ 3381579 w 9155634"/>
              <a:gd name="connsiteY21" fmla="*/ 0 h 6858000"/>
              <a:gd name="connsiteX22" fmla="*/ 430099 w 9155634"/>
              <a:gd name="connsiteY22" fmla="*/ 6858000 h 6858000"/>
              <a:gd name="connsiteX23" fmla="*/ 0 w 9155634"/>
              <a:gd name="connsiteY2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8139" y="3369468"/>
            <a:ext cx="27918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1096345"/>
            <a:ext cx="7883066" cy="2281355"/>
          </a:xfrm>
        </p:spPr>
        <p:txBody>
          <a:bodyPr>
            <a:noAutofit/>
          </a:bodyPr>
          <a:lstStyle>
            <a:lvl1pPr algn="l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ru-RU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046DF3F-8EBA-4583-9F19-45C979FDA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6" y="3773555"/>
            <a:ext cx="7567715" cy="110189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2625" b="0" i="0"/>
            </a:lvl1pPr>
          </a:lstStyle>
          <a:p>
            <a:pPr marL="171450" lvl="0" indent="-17145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717760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82713AA-FAF7-4D64-AB9D-53ACFDBF8B5B}"/>
              </a:ext>
            </a:extLst>
          </p:cNvPr>
          <p:cNvSpPr/>
          <p:nvPr userDrawn="1"/>
        </p:nvSpPr>
        <p:spPr>
          <a:xfrm>
            <a:off x="-1" y="172278"/>
            <a:ext cx="9144000" cy="6559826"/>
          </a:xfrm>
          <a:custGeom>
            <a:avLst/>
            <a:gdLst>
              <a:gd name="connsiteX0" fmla="*/ 5864259 w 12192000"/>
              <a:gd name="connsiteY0" fmla="*/ 2854132 h 6559826"/>
              <a:gd name="connsiteX1" fmla="*/ 5864259 w 12192000"/>
              <a:gd name="connsiteY1" fmla="*/ 5342062 h 6559826"/>
              <a:gd name="connsiteX2" fmla="*/ 6907 w 12192000"/>
              <a:gd name="connsiteY2" fmla="*/ 6559826 h 6559826"/>
              <a:gd name="connsiteX3" fmla="*/ 0 w 12192000"/>
              <a:gd name="connsiteY3" fmla="*/ 6559826 h 6559826"/>
              <a:gd name="connsiteX4" fmla="*/ 0 w 12192000"/>
              <a:gd name="connsiteY4" fmla="*/ 4073332 h 6559826"/>
              <a:gd name="connsiteX5" fmla="*/ 12192000 w 12192000"/>
              <a:gd name="connsiteY5" fmla="*/ 2685378 h 6559826"/>
              <a:gd name="connsiteX6" fmla="*/ 12192000 w 12192000"/>
              <a:gd name="connsiteY6" fmla="*/ 5173308 h 6559826"/>
              <a:gd name="connsiteX7" fmla="*/ 6104805 w 12192000"/>
              <a:gd name="connsiteY7" fmla="*/ 6429182 h 6559826"/>
              <a:gd name="connsiteX8" fmla="*/ 6104805 w 12192000"/>
              <a:gd name="connsiteY8" fmla="*/ 3941252 h 6559826"/>
              <a:gd name="connsiteX9" fmla="*/ 11991762 w 12192000"/>
              <a:gd name="connsiteY9" fmla="*/ 0 h 6559826"/>
              <a:gd name="connsiteX10" fmla="*/ 12192000 w 12192000"/>
              <a:gd name="connsiteY10" fmla="*/ 0 h 6559826"/>
              <a:gd name="connsiteX11" fmla="*/ 12192000 w 12192000"/>
              <a:gd name="connsiteY11" fmla="*/ 2446611 h 6559826"/>
              <a:gd name="connsiteX12" fmla="*/ 6104805 w 12192000"/>
              <a:gd name="connsiteY12" fmla="*/ 3701222 h 6559826"/>
              <a:gd name="connsiteX13" fmla="*/ 6104805 w 12192000"/>
              <a:gd name="connsiteY13" fmla="*/ 1214562 h 6559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559826">
                <a:moveTo>
                  <a:pt x="5864259" y="2854132"/>
                </a:moveTo>
                <a:lnTo>
                  <a:pt x="5864259" y="5342062"/>
                </a:lnTo>
                <a:lnTo>
                  <a:pt x="6907" y="6559826"/>
                </a:lnTo>
                <a:lnTo>
                  <a:pt x="0" y="6559826"/>
                </a:lnTo>
                <a:lnTo>
                  <a:pt x="0" y="4073332"/>
                </a:lnTo>
                <a:close/>
                <a:moveTo>
                  <a:pt x="12192000" y="2685378"/>
                </a:moveTo>
                <a:lnTo>
                  <a:pt x="12192000" y="5173308"/>
                </a:lnTo>
                <a:lnTo>
                  <a:pt x="6104805" y="6429182"/>
                </a:lnTo>
                <a:lnTo>
                  <a:pt x="6104805" y="3941252"/>
                </a:lnTo>
                <a:close/>
                <a:moveTo>
                  <a:pt x="11991762" y="0"/>
                </a:moveTo>
                <a:lnTo>
                  <a:pt x="12192000" y="0"/>
                </a:lnTo>
                <a:lnTo>
                  <a:pt x="12192000" y="2446611"/>
                </a:lnTo>
                <a:lnTo>
                  <a:pt x="6104805" y="3701222"/>
                </a:lnTo>
                <a:lnTo>
                  <a:pt x="6104805" y="1214562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931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Graphic 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3B87DE7-6A4B-4A0E-8622-C9BA93F0B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930" y="2225393"/>
            <a:ext cx="3833020" cy="78263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50"/>
            </a:lvl1pPr>
          </a:lstStyle>
          <a:p>
            <a:pPr marL="171450" lvl="0" indent="-17145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17204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799919-7F2B-44B7-BF0B-B0CE733AC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77756"/>
            <a:ext cx="7886700" cy="389920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098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460D6CB-9BA0-4BA9-9CF5-9D21E9F570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2277756"/>
            <a:ext cx="3886200" cy="3899207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B0DDB5D-8949-4E45-A7CD-0402580BB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2277755"/>
            <a:ext cx="3886200" cy="389920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81407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2C817C4-D92F-4269-B22D-5C2E52241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2068513"/>
            <a:ext cx="3868340" cy="436562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C61514A7-2DEE-47E3-BCB4-FB81E9981D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455C9D3-0938-4236-8E64-BBF582FCD2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2068512"/>
            <a:ext cx="3887391" cy="436563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7331E254-1410-4989-81DE-84B684ACC7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51492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68ABD79-6AF5-4911-BEC2-A492F3ECD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34509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489A680-EBE7-45A3-B520-2C50F59C7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166148"/>
            <a:ext cx="2949178" cy="370284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02EEB9F-D255-46E9-AFBB-FCC4D93BE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500">
                <a:solidFill>
                  <a:schemeClr val="bg1"/>
                </a:solidFill>
              </a:defRPr>
            </a:lvl4pPr>
            <a:lvl5pPr>
              <a:defRPr sz="1500">
                <a:solidFill>
                  <a:schemeClr val="bg1"/>
                </a:solidFill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4F729341-632E-4151-9863-D40D91A16F84}"/>
              </a:ext>
            </a:extLst>
          </p:cNvPr>
          <p:cNvSpPr/>
          <p:nvPr userDrawn="1"/>
        </p:nvSpPr>
        <p:spPr>
          <a:xfrm>
            <a:off x="-8381" y="1947672"/>
            <a:ext cx="370332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81946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Graphic 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4469CAF-CD13-4CCC-9569-14C8070A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38074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6D4C583-322D-4347-807F-F6D6AF885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130500"/>
            <a:ext cx="2949178" cy="37384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138DBAD-2265-4E62-AB5B-F66A60D53F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39804" y="1"/>
            <a:ext cx="4577715" cy="6857999"/>
          </a:xfrm>
          <a:custGeom>
            <a:avLst/>
            <a:gdLst>
              <a:gd name="connsiteX0" fmla="*/ 3914141 w 6103620"/>
              <a:gd name="connsiteY0" fmla="*/ 914400 h 6857999"/>
              <a:gd name="connsiteX1" fmla="*/ 6103620 w 6103620"/>
              <a:gd name="connsiteY1" fmla="*/ 914400 h 6857999"/>
              <a:gd name="connsiteX2" fmla="*/ 6103620 w 6103620"/>
              <a:gd name="connsiteY2" fmla="*/ 914404 h 6857999"/>
              <a:gd name="connsiteX3" fmla="*/ 4339591 w 6103620"/>
              <a:gd name="connsiteY3" fmla="*/ 6857999 h 6857999"/>
              <a:gd name="connsiteX4" fmla="*/ 2150113 w 6103620"/>
              <a:gd name="connsiteY4" fmla="*/ 6857999 h 6857999"/>
              <a:gd name="connsiteX5" fmla="*/ 1769111 w 6103620"/>
              <a:gd name="connsiteY5" fmla="*/ 0 h 6857999"/>
              <a:gd name="connsiteX6" fmla="*/ 3958591 w 6103620"/>
              <a:gd name="connsiteY6" fmla="*/ 0 h 6857999"/>
              <a:gd name="connsiteX7" fmla="*/ 2189480 w 6103620"/>
              <a:gd name="connsiteY7" fmla="*/ 5943601 h 6857999"/>
              <a:gd name="connsiteX8" fmla="*/ 0 w 6103620"/>
              <a:gd name="connsiteY8" fmla="*/ 594360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3620" h="6857999">
                <a:moveTo>
                  <a:pt x="3914141" y="914400"/>
                </a:moveTo>
                <a:lnTo>
                  <a:pt x="6103620" y="914400"/>
                </a:lnTo>
                <a:lnTo>
                  <a:pt x="6103620" y="914404"/>
                </a:lnTo>
                <a:lnTo>
                  <a:pt x="4339591" y="6857999"/>
                </a:lnTo>
                <a:lnTo>
                  <a:pt x="2150113" y="6857999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5675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AD7B9076-7693-4C5F-8305-D5529FF80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EMPTY SLIDE</a:t>
            </a:r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3647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167600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ua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10000CCD-6AFF-4E65-8858-5502306E58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683" y="1974209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  <a:endParaRPr lang="ru-RU" dirty="0"/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5D777E5-98F6-416A-8D23-3399269D85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81901" y="1998210"/>
            <a:ext cx="2327333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C979BADF-99B5-4C91-AAE5-FC2C4DBEDE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5481" y="1974209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  <a:endParaRPr lang="ru-RU" dirty="0"/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6706F6A2-1599-4D73-9288-3ECEACDDCA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08454" y="1998210"/>
            <a:ext cx="1682939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BAE5E245-1702-4722-895D-0808BB0A86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30066" y="1991988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  <a:endParaRPr lang="ru-RU" dirty="0"/>
          </a:p>
        </p:txBody>
      </p:sp>
      <p:sp>
        <p:nvSpPr>
          <p:cNvPr id="36" name="Text Placeholder 24">
            <a:extLst>
              <a:ext uri="{FF2B5EF4-FFF2-40B4-BE49-F238E27FC236}">
                <a16:creationId xmlns:a16="http://schemas.microsoft.com/office/drawing/2014/main" id="{3701E665-3CED-413C-BAC6-CE003B1494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23039" y="2015989"/>
            <a:ext cx="2219337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4">
            <a:extLst>
              <a:ext uri="{FF2B5EF4-FFF2-40B4-BE49-F238E27FC236}">
                <a16:creationId xmlns:a16="http://schemas.microsoft.com/office/drawing/2014/main" id="{E01406B4-D44B-4D1E-91F3-D87541EAD4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5045" y="2927531"/>
            <a:ext cx="1273969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9AAD5CF9-9A59-4C5F-8C29-B92AD60121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039013" y="2927531"/>
            <a:ext cx="1273969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4">
            <a:extLst>
              <a:ext uri="{FF2B5EF4-FFF2-40B4-BE49-F238E27FC236}">
                <a16:creationId xmlns:a16="http://schemas.microsoft.com/office/drawing/2014/main" id="{C6725172-65CC-4645-B23F-E77886468F3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96095" y="2927531"/>
            <a:ext cx="1949398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4">
            <a:extLst>
              <a:ext uri="{FF2B5EF4-FFF2-40B4-BE49-F238E27FC236}">
                <a16:creationId xmlns:a16="http://schemas.microsoft.com/office/drawing/2014/main" id="{0EA5E6CA-5C78-4B75-BA22-59750E7D450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907717" y="2925988"/>
            <a:ext cx="2794817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4">
            <a:extLst>
              <a:ext uri="{FF2B5EF4-FFF2-40B4-BE49-F238E27FC236}">
                <a16:creationId xmlns:a16="http://schemas.microsoft.com/office/drawing/2014/main" id="{E1C61752-F57C-4FBF-93F3-06F43CCA43C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3100" y="5751926"/>
            <a:ext cx="7217801" cy="470478"/>
          </a:xfrm>
        </p:spPr>
        <p:txBody>
          <a:bodyPr>
            <a:normAutofit/>
          </a:bodyPr>
          <a:lstStyle>
            <a:lvl1pPr marL="0" indent="0" algn="ctr"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4">
            <a:extLst>
              <a:ext uri="{FF2B5EF4-FFF2-40B4-BE49-F238E27FC236}">
                <a16:creationId xmlns:a16="http://schemas.microsoft.com/office/drawing/2014/main" id="{E0232175-FB97-4039-8136-B9DD27441C0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96094" y="4893792"/>
            <a:ext cx="1949399" cy="615026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4">
            <a:extLst>
              <a:ext uri="{FF2B5EF4-FFF2-40B4-BE49-F238E27FC236}">
                <a16:creationId xmlns:a16="http://schemas.microsoft.com/office/drawing/2014/main" id="{6E5262C3-0603-403F-AB36-FB4EB9FC7BC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18035" y="4893792"/>
            <a:ext cx="2784499" cy="615026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Picture Placeholder 12">
            <a:extLst>
              <a:ext uri="{FF2B5EF4-FFF2-40B4-BE49-F238E27FC236}">
                <a16:creationId xmlns:a16="http://schemas.microsoft.com/office/drawing/2014/main" id="{D2FBACFC-8B68-4A37-95A4-26BE5A23D75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65044" y="3800404"/>
            <a:ext cx="2455164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6" name="Picture Placeholder 12">
            <a:extLst>
              <a:ext uri="{FF2B5EF4-FFF2-40B4-BE49-F238E27FC236}">
                <a16:creationId xmlns:a16="http://schemas.microsoft.com/office/drawing/2014/main" id="{5A6A36C6-8489-4333-927A-141D8F98AE50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596095" y="3864572"/>
            <a:ext cx="1949399" cy="89611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BB2DF986-C446-4302-9099-B1512AD5D8CA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5907716" y="3864572"/>
            <a:ext cx="1949400" cy="896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BB58C539-3FDE-4755-BEB4-C953AA2926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741320"/>
            <a:ext cx="7880057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HOW TO USE THIS TEMPALTE</a:t>
            </a:r>
            <a:endParaRPr lang="ru-RU" dirty="0"/>
          </a:p>
        </p:txBody>
      </p:sp>
      <p:sp>
        <p:nvSpPr>
          <p:cNvPr id="23" name="Graphic 15">
            <a:extLst>
              <a:ext uri="{FF2B5EF4-FFF2-40B4-BE49-F238E27FC236}">
                <a16:creationId xmlns:a16="http://schemas.microsoft.com/office/drawing/2014/main" id="{8EDA54DA-ED01-4416-96BF-C8968F4684B4}"/>
              </a:ext>
            </a:extLst>
          </p:cNvPr>
          <p:cNvSpPr/>
          <p:nvPr userDrawn="1"/>
        </p:nvSpPr>
        <p:spPr>
          <a:xfrm>
            <a:off x="-8380" y="1610268"/>
            <a:ext cx="6939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70948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rotWithShape="0">
          <a:gsLst>
            <a:gs pos="0">
              <a:schemeClr val="bg1"/>
            </a:gs>
            <a:gs pos="100000">
              <a:srgbClr val="879CA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9A0AEC96-10D1-49F2-8764-EA8EA90F101B}"/>
              </a:ext>
            </a:extLst>
          </p:cNvPr>
          <p:cNvSpPr>
            <a:spLocks/>
          </p:cNvSpPr>
          <p:nvPr/>
        </p:nvSpPr>
        <p:spPr bwMode="gray">
          <a:xfrm>
            <a:off x="690563" y="3340100"/>
            <a:ext cx="7653337" cy="485775"/>
          </a:xfrm>
          <a:custGeom>
            <a:avLst/>
            <a:gdLst>
              <a:gd name="T0" fmla="*/ 2147483646 w 4128"/>
              <a:gd name="T1" fmla="*/ 2147483646 h 479"/>
              <a:gd name="T2" fmla="*/ 2147483646 w 4128"/>
              <a:gd name="T3" fmla="*/ 2147483646 h 479"/>
              <a:gd name="T4" fmla="*/ 2147483646 w 4128"/>
              <a:gd name="T5" fmla="*/ 2147483646 h 479"/>
              <a:gd name="T6" fmla="*/ 0 w 4128"/>
              <a:gd name="T7" fmla="*/ 2147483646 h 479"/>
              <a:gd name="T8" fmla="*/ 2147483646 w 4128"/>
              <a:gd name="T9" fmla="*/ 2147483646 h 4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" name="Rectangle 8">
            <a:extLst>
              <a:ext uri="{FF2B5EF4-FFF2-40B4-BE49-F238E27FC236}">
                <a16:creationId xmlns:a16="http://schemas.microsoft.com/office/drawing/2014/main" id="{3C24819A-18A1-4B71-955E-92D3527463C3}"/>
              </a:ext>
            </a:extLst>
          </p:cNvPr>
          <p:cNvGraphicFramePr>
            <a:graphicFrameLocks/>
          </p:cNvGraphicFramePr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0" imgH="0" progId="MS_ClipArt_Gallery.2">
                  <p:embed/>
                </p:oleObj>
              </mc:Choice>
              <mc:Fallback>
                <p:oleObj name="Clip" r:id="rId2" imgW="0" imgH="0" progId="MS_ClipArt_Gallery.2">
                  <p:embed/>
                  <p:pic>
                    <p:nvPicPr>
                      <p:cNvPr id="5" name="Rectangle 8">
                        <a:extLst>
                          <a:ext uri="{FF2B5EF4-FFF2-40B4-BE49-F238E27FC236}">
                            <a16:creationId xmlns:a16="http://schemas.microsoft.com/office/drawing/2014/main" id="{3C24819A-18A1-4B71-955E-92D3527463C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3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674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4FC101-745C-4651-BDC1-167E2CAA5C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2997200" y="5727700"/>
            <a:ext cx="3581400" cy="457200"/>
          </a:xfrm>
        </p:spPr>
        <p:txBody>
          <a:bodyPr/>
          <a:lstStyle>
            <a:lvl1pPr>
              <a:defRPr sz="2000"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Version Date:</a:t>
            </a:r>
            <a:r>
              <a:rPr lang="en-US" sz="1800"/>
              <a:t> </a:t>
            </a:r>
            <a:fld id="{9C1C6E58-121E-4182-8C79-118BD7C9C4AC}" type="datetime9">
              <a:rPr lang="en-US"/>
              <a:pPr>
                <a:defRPr/>
              </a:pPr>
              <a:t>5/17/2026 11:39:23 PM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0168453-04CF-4D70-89BA-974E24D23A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solidFill>
                  <a:srgbClr val="578963"/>
                </a:solidFill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61A08BA-5FD5-48A7-A052-A27A267CD9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63600" y="5791200"/>
            <a:ext cx="190500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altLang="en-US"/>
              <a:t>As</a:t>
            </a:r>
            <a:r>
              <a:rPr lang="en-US" altLang="en-US">
                <a:solidFill>
                  <a:srgbClr val="578963"/>
                </a:solidFill>
              </a:rPr>
              <a:t> </a:t>
            </a:r>
            <a:fld id="{97DE4FA4-25AA-4584-88C4-A5EDBE3DAAAC}" type="slidenum">
              <a:rPr lang="en-US" altLang="en-US" smtClean="0">
                <a:solidFill>
                  <a:srgbClr val="578963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24254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74195EE-D9CC-4CFB-8863-F770C8B556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ACC636-61E0-4A44-84D7-0798989D23F3}" type="datetime9">
              <a:rPr lang="en-US"/>
              <a:pPr>
                <a:defRPr/>
              </a:pPr>
              <a:t>5/17/2026 11:39:23 PM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B0DF2D9-ADE7-4050-8946-48491A5F54C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FDFEB8-F9CE-4AFC-AB2A-482C0B697F8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64088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693FD3B-4B69-45C1-BE6B-3966277249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A54608-5D76-445D-B747-74269E611D68}" type="datetime9">
              <a:rPr lang="en-US"/>
              <a:pPr>
                <a:defRPr/>
              </a:pPr>
              <a:t>5/17/2026 11:39:23 PM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D4B7F23-8242-4784-83CB-9EECAEE9C1B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078281-3546-49B9-8741-20EE9AC22A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43297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0E8A1E-E662-47D9-A0BF-78A5E2F89F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BCCE8B-3013-4BFD-BD39-83DCDFBDAFC4}" type="datetime9">
              <a:rPr lang="en-US"/>
              <a:pPr>
                <a:defRPr/>
              </a:pPr>
              <a:t>5/17/2026 11:39:23 PM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543983-E8EB-4C26-BB4A-3F96B6E8DE0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6F14B0-644D-481C-A64C-DC249A5343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42749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DF847D1-7A20-4D18-B72C-110F8BD36F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84C7F2-3281-467E-821B-E0F5F9C3E97F}" type="datetime9">
              <a:rPr lang="en-US"/>
              <a:pPr>
                <a:defRPr/>
              </a:pPr>
              <a:t>5/17/2026 11:39:23 PM</a:t>
            </a:fld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A15381E-4547-43FA-AD1E-38D47558CFD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A9C8DD-2BF8-4BAE-8877-0341A98B8F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54880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FFF7EC2-429A-402F-9779-E14CC1BE98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59BD92-8FAC-43A7-806E-985B7A42F597}" type="datetime9">
              <a:rPr lang="en-US"/>
              <a:pPr>
                <a:defRPr/>
              </a:pPr>
              <a:t>5/17/2026 11:39:23 PM</a:t>
            </a:fld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BC406E8-2C35-4624-B439-8CA4CE3E4F2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059132-AD95-4FCB-B27A-46DAA7754D3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918676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0B8B27F-1DA7-4411-BDB0-D453EA623B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6502A6-471C-40C1-B211-80BD9894BC52}" type="datetime9">
              <a:rPr lang="en-US"/>
              <a:pPr>
                <a:defRPr/>
              </a:pPr>
              <a:t>5/17/2026 11:39:23 PM</a:t>
            </a:fld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537F3A4-EE2E-482B-9DDE-66FC80A0BF1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C2543C-9DFF-4735-83BD-548437777F9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14615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99B20A-5B58-4B89-9F2C-8E2A902332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0BB6B1-7688-4475-93F4-8A4921DD59EB}" type="datetime9">
              <a:rPr lang="en-US"/>
              <a:pPr>
                <a:defRPr/>
              </a:pPr>
              <a:t>5/17/2026 11:39:23 PM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26C310-FAB1-4207-B56F-6412E4773A8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BA4B72-D66C-444B-BF24-D7393E1926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88398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F8B440-E6A0-4313-AD7A-72468E3948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1E182-237F-4B35-9550-0315A3882E61}" type="datetime9">
              <a:rPr lang="en-US"/>
              <a:pPr>
                <a:defRPr/>
              </a:pPr>
              <a:t>5/17/2026 11:39:23 PM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0796F7-58E4-43B1-BE5B-855AF97470A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0FF1BF-8711-41A9-9EFA-F678256122B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16338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D6FEB54-1760-44A2-ABFB-30960D1C42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734CA-107D-4EE7-81D0-ADBAF6B9F021}" type="datetime9">
              <a:rPr lang="en-US"/>
              <a:pPr>
                <a:defRPr/>
              </a:pPr>
              <a:t>5/17/2026 11:39:23 PM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FA1B9B2-0463-4A68-AB72-E0BA0B5C6D4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FD4D95-9F0C-4ADB-B5FF-82FA3B736ED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22760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6575" y="0"/>
            <a:ext cx="2105025" cy="5991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0"/>
            <a:ext cx="6162675" cy="5991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677B863-BEC6-40EF-94DA-42E2445CB0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01E875-40ED-4C58-BBDA-14541A445785}" type="datetime9">
              <a:rPr lang="en-US"/>
              <a:pPr>
                <a:defRPr/>
              </a:pPr>
              <a:t>5/17/2026 11:39:23 PM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0FF31D-2443-4D84-ADA7-35921E4C838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CC746A-932B-4779-ACFC-D6315EC33E6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263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584B68-CC11-401B-A7CE-93D2C2869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0BE36-7485-4BE9-AEC8-36B0009E4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A4BD5-B376-4FF1-9254-6DFF474468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4B8AF-B8A4-410A-BD2E-EBE57C3289A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8B24D-78F7-4843-B228-77134577B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53EA3-6CCB-4832-8908-613979539D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B9EA43-180E-4FA1-A8E0-52FF3B51B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149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88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47621" y="6002373"/>
            <a:ext cx="412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  <a:latin typeface="+mn-lt"/>
              </a:defRPr>
            </a:lvl1pPr>
          </a:lstStyle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04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43300" y="600237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MM.DD.20XX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8651" y="6002373"/>
            <a:ext cx="2549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ADD A FOOTER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454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  <p:sldLayoutId id="2147483674" r:id="rId19"/>
    <p:sldLayoutId id="2147483675" r:id="rId20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2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2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2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>
          <p15:clr>
            <a:srgbClr val="F26B43"/>
          </p15:clr>
        </p15:guide>
        <p15:guide id="2" pos="574">
          <p15:clr>
            <a:srgbClr val="F26B43"/>
          </p15:clr>
        </p15:guide>
        <p15:guide id="3" pos="7106">
          <p15:clr>
            <a:srgbClr val="F26B43"/>
          </p15:clr>
        </p15:guide>
        <p15:guide id="4" orient="horz" pos="3748">
          <p15:clr>
            <a:srgbClr val="F26B43"/>
          </p15:clr>
        </p15:guide>
        <p15:guide id="5" pos="4407">
          <p15:clr>
            <a:srgbClr val="F26B43"/>
          </p15:clr>
        </p15:guide>
        <p15:guide id="6" pos="3273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216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9BB4C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EEDEF25-D390-447F-B51A-87AF4C5C7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2400"/>
            <a:ext cx="9144000" cy="13144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3FC282B-4FCE-463F-A1EA-4C3856C423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71500" y="1114425"/>
            <a:ext cx="7848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15716" name="Rectangle 4">
            <a:extLst>
              <a:ext uri="{FF2B5EF4-FFF2-40B4-BE49-F238E27FC236}">
                <a16:creationId xmlns:a16="http://schemas.microsoft.com/office/drawing/2014/main" id="{AAACF482-DA06-4C42-93DF-5A082A11BEA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765300" y="6616700"/>
            <a:ext cx="19050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000">
                <a:solidFill>
                  <a:schemeClr val="tx2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E5696336-1307-465A-89D8-2811F6BBC11E}" type="datetime9">
              <a:rPr lang="en-US"/>
              <a:pPr>
                <a:defRPr/>
              </a:pPr>
              <a:t>5/17/2026 11:39:22 PM</a:t>
            </a:fld>
            <a:endParaRPr lang="en-US"/>
          </a:p>
        </p:txBody>
      </p:sp>
      <p:sp>
        <p:nvSpPr>
          <p:cNvPr id="115717" name="Rectangle 5">
            <a:extLst>
              <a:ext uri="{FF2B5EF4-FFF2-40B4-BE49-F238E27FC236}">
                <a16:creationId xmlns:a16="http://schemas.microsoft.com/office/drawing/2014/main" id="{0C5CDEED-DF68-4A9A-9EE7-F70C3B5F1DB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9AEA662-E3B0-43F0-A1E3-369AC82A0C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15718" name="Oval 6">
            <a:extLst>
              <a:ext uri="{FF2B5EF4-FFF2-40B4-BE49-F238E27FC236}">
                <a16:creationId xmlns:a16="http://schemas.microsoft.com/office/drawing/2014/main" id="{0619F8C9-63F1-43F4-B5C6-DD091F2A63E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42875" y="0"/>
            <a:ext cx="838200" cy="781050"/>
          </a:xfrm>
          <a:prstGeom prst="ellipse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tint val="70196"/>
                  <a:invGamma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31" name="Freeform 7">
            <a:extLst>
              <a:ext uri="{FF2B5EF4-FFF2-40B4-BE49-F238E27FC236}">
                <a16:creationId xmlns:a16="http://schemas.microsoft.com/office/drawing/2014/main" id="{528CE50E-D349-4E7D-9D26-1822FA30DCAB}"/>
              </a:ext>
            </a:extLst>
          </p:cNvPr>
          <p:cNvSpPr>
            <a:spLocks/>
          </p:cNvSpPr>
          <p:nvPr/>
        </p:nvSpPr>
        <p:spPr bwMode="auto">
          <a:xfrm>
            <a:off x="31750" y="338138"/>
            <a:ext cx="390525" cy="149225"/>
          </a:xfrm>
          <a:custGeom>
            <a:avLst/>
            <a:gdLst>
              <a:gd name="T0" fmla="*/ 2147483646 w 246"/>
              <a:gd name="T1" fmla="*/ 2147483646 h 94"/>
              <a:gd name="T2" fmla="*/ 2147483646 w 246"/>
              <a:gd name="T3" fmla="*/ 2147483646 h 94"/>
              <a:gd name="T4" fmla="*/ 2147483646 w 246"/>
              <a:gd name="T5" fmla="*/ 2147483646 h 94"/>
              <a:gd name="T6" fmla="*/ 2147483646 w 246"/>
              <a:gd name="T7" fmla="*/ 2147483646 h 94"/>
              <a:gd name="T8" fmla="*/ 2147483646 w 246"/>
              <a:gd name="T9" fmla="*/ 2147483646 h 94"/>
              <a:gd name="T10" fmla="*/ 2147483646 w 246"/>
              <a:gd name="T11" fmla="*/ 2147483646 h 94"/>
              <a:gd name="T12" fmla="*/ 2147483646 w 246"/>
              <a:gd name="T13" fmla="*/ 2147483646 h 94"/>
              <a:gd name="T14" fmla="*/ 2147483646 w 246"/>
              <a:gd name="T15" fmla="*/ 2147483646 h 94"/>
              <a:gd name="T16" fmla="*/ 2147483646 w 246"/>
              <a:gd name="T17" fmla="*/ 2147483646 h 94"/>
              <a:gd name="T18" fmla="*/ 2147483646 w 246"/>
              <a:gd name="T19" fmla="*/ 2147483646 h 94"/>
              <a:gd name="T20" fmla="*/ 2147483646 w 246"/>
              <a:gd name="T21" fmla="*/ 2147483646 h 94"/>
              <a:gd name="T22" fmla="*/ 2147483646 w 246"/>
              <a:gd name="T23" fmla="*/ 2147483646 h 94"/>
              <a:gd name="T24" fmla="*/ 2147483646 w 246"/>
              <a:gd name="T25" fmla="*/ 2147483646 h 94"/>
              <a:gd name="T26" fmla="*/ 2147483646 w 246"/>
              <a:gd name="T27" fmla="*/ 2147483646 h 94"/>
              <a:gd name="T28" fmla="*/ 2147483646 w 246"/>
              <a:gd name="T29" fmla="*/ 2147483646 h 94"/>
              <a:gd name="T30" fmla="*/ 2147483646 w 246"/>
              <a:gd name="T31" fmla="*/ 2147483646 h 94"/>
              <a:gd name="T32" fmla="*/ 2147483646 w 246"/>
              <a:gd name="T33" fmla="*/ 2147483646 h 94"/>
              <a:gd name="T34" fmla="*/ 2147483646 w 246"/>
              <a:gd name="T35" fmla="*/ 2147483646 h 94"/>
              <a:gd name="T36" fmla="*/ 2147483646 w 246"/>
              <a:gd name="T37" fmla="*/ 2147483646 h 94"/>
              <a:gd name="T38" fmla="*/ 2147483646 w 246"/>
              <a:gd name="T39" fmla="*/ 2147483646 h 94"/>
              <a:gd name="T40" fmla="*/ 2147483646 w 246"/>
              <a:gd name="T41" fmla="*/ 2147483646 h 94"/>
              <a:gd name="T42" fmla="*/ 2147483646 w 246"/>
              <a:gd name="T43" fmla="*/ 2147483646 h 94"/>
              <a:gd name="T44" fmla="*/ 2147483646 w 246"/>
              <a:gd name="T45" fmla="*/ 2147483646 h 94"/>
              <a:gd name="T46" fmla="*/ 2147483646 w 246"/>
              <a:gd name="T47" fmla="*/ 2147483646 h 94"/>
              <a:gd name="T48" fmla="*/ 2147483646 w 246"/>
              <a:gd name="T49" fmla="*/ 2147483646 h 94"/>
              <a:gd name="T50" fmla="*/ 2147483646 w 246"/>
              <a:gd name="T51" fmla="*/ 2147483646 h 94"/>
              <a:gd name="T52" fmla="*/ 2147483646 w 246"/>
              <a:gd name="T53" fmla="*/ 2147483646 h 94"/>
              <a:gd name="T54" fmla="*/ 2147483646 w 246"/>
              <a:gd name="T55" fmla="*/ 2147483646 h 94"/>
              <a:gd name="T56" fmla="*/ 2147483646 w 246"/>
              <a:gd name="T57" fmla="*/ 2147483646 h 94"/>
              <a:gd name="T58" fmla="*/ 2147483646 w 246"/>
              <a:gd name="T59" fmla="*/ 2147483646 h 94"/>
              <a:gd name="T60" fmla="*/ 2147483646 w 246"/>
              <a:gd name="T61" fmla="*/ 2147483646 h 94"/>
              <a:gd name="T62" fmla="*/ 2147483646 w 246"/>
              <a:gd name="T63" fmla="*/ 2147483646 h 94"/>
              <a:gd name="T64" fmla="*/ 2147483646 w 246"/>
              <a:gd name="T65" fmla="*/ 2147483646 h 94"/>
              <a:gd name="T66" fmla="*/ 2147483646 w 246"/>
              <a:gd name="T67" fmla="*/ 2147483646 h 94"/>
              <a:gd name="T68" fmla="*/ 2147483646 w 246"/>
              <a:gd name="T69" fmla="*/ 2147483646 h 94"/>
              <a:gd name="T70" fmla="*/ 2147483646 w 246"/>
              <a:gd name="T71" fmla="*/ 2147483646 h 94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46" h="94">
                <a:moveTo>
                  <a:pt x="0" y="55"/>
                </a:moveTo>
                <a:lnTo>
                  <a:pt x="7" y="52"/>
                </a:lnTo>
                <a:lnTo>
                  <a:pt x="14" y="50"/>
                </a:lnTo>
                <a:lnTo>
                  <a:pt x="22" y="48"/>
                </a:lnTo>
                <a:lnTo>
                  <a:pt x="30" y="48"/>
                </a:lnTo>
                <a:lnTo>
                  <a:pt x="38" y="48"/>
                </a:lnTo>
                <a:lnTo>
                  <a:pt x="45" y="48"/>
                </a:lnTo>
                <a:lnTo>
                  <a:pt x="53" y="50"/>
                </a:lnTo>
                <a:lnTo>
                  <a:pt x="61" y="51"/>
                </a:lnTo>
                <a:lnTo>
                  <a:pt x="69" y="54"/>
                </a:lnTo>
                <a:lnTo>
                  <a:pt x="76" y="56"/>
                </a:lnTo>
                <a:lnTo>
                  <a:pt x="84" y="59"/>
                </a:lnTo>
                <a:lnTo>
                  <a:pt x="92" y="62"/>
                </a:lnTo>
                <a:lnTo>
                  <a:pt x="99" y="65"/>
                </a:lnTo>
                <a:lnTo>
                  <a:pt x="106" y="68"/>
                </a:lnTo>
                <a:lnTo>
                  <a:pt x="113" y="72"/>
                </a:lnTo>
                <a:lnTo>
                  <a:pt x="119" y="75"/>
                </a:lnTo>
                <a:lnTo>
                  <a:pt x="124" y="66"/>
                </a:lnTo>
                <a:lnTo>
                  <a:pt x="130" y="56"/>
                </a:lnTo>
                <a:lnTo>
                  <a:pt x="136" y="48"/>
                </a:lnTo>
                <a:lnTo>
                  <a:pt x="143" y="42"/>
                </a:lnTo>
                <a:lnTo>
                  <a:pt x="150" y="35"/>
                </a:lnTo>
                <a:lnTo>
                  <a:pt x="158" y="29"/>
                </a:lnTo>
                <a:lnTo>
                  <a:pt x="166" y="24"/>
                </a:lnTo>
                <a:lnTo>
                  <a:pt x="175" y="20"/>
                </a:lnTo>
                <a:lnTo>
                  <a:pt x="183" y="16"/>
                </a:lnTo>
                <a:lnTo>
                  <a:pt x="193" y="13"/>
                </a:lnTo>
                <a:lnTo>
                  <a:pt x="201" y="9"/>
                </a:lnTo>
                <a:lnTo>
                  <a:pt x="210" y="7"/>
                </a:lnTo>
                <a:lnTo>
                  <a:pt x="219" y="5"/>
                </a:lnTo>
                <a:lnTo>
                  <a:pt x="228" y="3"/>
                </a:lnTo>
                <a:lnTo>
                  <a:pt x="237" y="1"/>
                </a:lnTo>
                <a:lnTo>
                  <a:pt x="245" y="0"/>
                </a:lnTo>
                <a:lnTo>
                  <a:pt x="237" y="3"/>
                </a:lnTo>
                <a:lnTo>
                  <a:pt x="230" y="7"/>
                </a:lnTo>
                <a:lnTo>
                  <a:pt x="222" y="11"/>
                </a:lnTo>
                <a:lnTo>
                  <a:pt x="214" y="15"/>
                </a:lnTo>
                <a:lnTo>
                  <a:pt x="207" y="19"/>
                </a:lnTo>
                <a:lnTo>
                  <a:pt x="199" y="24"/>
                </a:lnTo>
                <a:lnTo>
                  <a:pt x="191" y="28"/>
                </a:lnTo>
                <a:lnTo>
                  <a:pt x="185" y="33"/>
                </a:lnTo>
                <a:lnTo>
                  <a:pt x="177" y="39"/>
                </a:lnTo>
                <a:lnTo>
                  <a:pt x="170" y="44"/>
                </a:lnTo>
                <a:lnTo>
                  <a:pt x="163" y="51"/>
                </a:lnTo>
                <a:lnTo>
                  <a:pt x="158" y="57"/>
                </a:lnTo>
                <a:lnTo>
                  <a:pt x="152" y="64"/>
                </a:lnTo>
                <a:lnTo>
                  <a:pt x="146" y="71"/>
                </a:lnTo>
                <a:lnTo>
                  <a:pt x="142" y="79"/>
                </a:lnTo>
                <a:lnTo>
                  <a:pt x="138" y="87"/>
                </a:lnTo>
                <a:lnTo>
                  <a:pt x="135" y="90"/>
                </a:lnTo>
                <a:lnTo>
                  <a:pt x="133" y="92"/>
                </a:lnTo>
                <a:lnTo>
                  <a:pt x="130" y="93"/>
                </a:lnTo>
                <a:lnTo>
                  <a:pt x="127" y="91"/>
                </a:lnTo>
                <a:lnTo>
                  <a:pt x="123" y="90"/>
                </a:lnTo>
                <a:lnTo>
                  <a:pt x="120" y="89"/>
                </a:lnTo>
                <a:lnTo>
                  <a:pt x="116" y="87"/>
                </a:lnTo>
                <a:lnTo>
                  <a:pt x="113" y="86"/>
                </a:lnTo>
                <a:lnTo>
                  <a:pt x="107" y="84"/>
                </a:lnTo>
                <a:lnTo>
                  <a:pt x="101" y="80"/>
                </a:lnTo>
                <a:lnTo>
                  <a:pt x="93" y="78"/>
                </a:lnTo>
                <a:lnTo>
                  <a:pt x="87" y="74"/>
                </a:lnTo>
                <a:lnTo>
                  <a:pt x="79" y="71"/>
                </a:lnTo>
                <a:lnTo>
                  <a:pt x="71" y="67"/>
                </a:lnTo>
                <a:lnTo>
                  <a:pt x="63" y="64"/>
                </a:lnTo>
                <a:lnTo>
                  <a:pt x="55" y="61"/>
                </a:lnTo>
                <a:lnTo>
                  <a:pt x="47" y="58"/>
                </a:lnTo>
                <a:lnTo>
                  <a:pt x="39" y="55"/>
                </a:lnTo>
                <a:lnTo>
                  <a:pt x="31" y="54"/>
                </a:lnTo>
                <a:lnTo>
                  <a:pt x="24" y="52"/>
                </a:lnTo>
                <a:lnTo>
                  <a:pt x="17" y="52"/>
                </a:lnTo>
                <a:lnTo>
                  <a:pt x="10" y="52"/>
                </a:lnTo>
                <a:lnTo>
                  <a:pt x="5" y="53"/>
                </a:lnTo>
                <a:lnTo>
                  <a:pt x="0" y="55"/>
                </a:lnTo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37D1D963-7171-4253-8593-AADC7FB084D0}"/>
              </a:ext>
            </a:extLst>
          </p:cNvPr>
          <p:cNvSpPr>
            <a:spLocks/>
          </p:cNvSpPr>
          <p:nvPr/>
        </p:nvSpPr>
        <p:spPr bwMode="auto">
          <a:xfrm>
            <a:off x="619125" y="638175"/>
            <a:ext cx="468313" cy="177800"/>
          </a:xfrm>
          <a:custGeom>
            <a:avLst/>
            <a:gdLst>
              <a:gd name="T0" fmla="*/ 2147483646 w 295"/>
              <a:gd name="T1" fmla="*/ 2147483646 h 112"/>
              <a:gd name="T2" fmla="*/ 2147483646 w 295"/>
              <a:gd name="T3" fmla="*/ 2147483646 h 112"/>
              <a:gd name="T4" fmla="*/ 2147483646 w 295"/>
              <a:gd name="T5" fmla="*/ 2147483646 h 112"/>
              <a:gd name="T6" fmla="*/ 2147483646 w 295"/>
              <a:gd name="T7" fmla="*/ 2147483646 h 112"/>
              <a:gd name="T8" fmla="*/ 2147483646 w 295"/>
              <a:gd name="T9" fmla="*/ 2147483646 h 112"/>
              <a:gd name="T10" fmla="*/ 2147483646 w 295"/>
              <a:gd name="T11" fmla="*/ 2147483646 h 112"/>
              <a:gd name="T12" fmla="*/ 2147483646 w 295"/>
              <a:gd name="T13" fmla="*/ 2147483646 h 112"/>
              <a:gd name="T14" fmla="*/ 2147483646 w 295"/>
              <a:gd name="T15" fmla="*/ 2147483646 h 112"/>
              <a:gd name="T16" fmla="*/ 2147483646 w 295"/>
              <a:gd name="T17" fmla="*/ 2147483646 h 112"/>
              <a:gd name="T18" fmla="*/ 2147483646 w 295"/>
              <a:gd name="T19" fmla="*/ 2147483646 h 112"/>
              <a:gd name="T20" fmla="*/ 2147483646 w 295"/>
              <a:gd name="T21" fmla="*/ 2147483646 h 112"/>
              <a:gd name="T22" fmla="*/ 2147483646 w 295"/>
              <a:gd name="T23" fmla="*/ 2147483646 h 112"/>
              <a:gd name="T24" fmla="*/ 2147483646 w 295"/>
              <a:gd name="T25" fmla="*/ 2147483646 h 112"/>
              <a:gd name="T26" fmla="*/ 2147483646 w 295"/>
              <a:gd name="T27" fmla="*/ 2147483646 h 112"/>
              <a:gd name="T28" fmla="*/ 2147483646 w 295"/>
              <a:gd name="T29" fmla="*/ 2147483646 h 112"/>
              <a:gd name="T30" fmla="*/ 2147483646 w 295"/>
              <a:gd name="T31" fmla="*/ 2147483646 h 112"/>
              <a:gd name="T32" fmla="*/ 2147483646 w 295"/>
              <a:gd name="T33" fmla="*/ 2147483646 h 112"/>
              <a:gd name="T34" fmla="*/ 2147483646 w 295"/>
              <a:gd name="T35" fmla="*/ 2147483646 h 112"/>
              <a:gd name="T36" fmla="*/ 2147483646 w 295"/>
              <a:gd name="T37" fmla="*/ 2147483646 h 112"/>
              <a:gd name="T38" fmla="*/ 2147483646 w 295"/>
              <a:gd name="T39" fmla="*/ 2147483646 h 112"/>
              <a:gd name="T40" fmla="*/ 2147483646 w 295"/>
              <a:gd name="T41" fmla="*/ 2147483646 h 112"/>
              <a:gd name="T42" fmla="*/ 2147483646 w 295"/>
              <a:gd name="T43" fmla="*/ 2147483646 h 112"/>
              <a:gd name="T44" fmla="*/ 2147483646 w 295"/>
              <a:gd name="T45" fmla="*/ 2147483646 h 112"/>
              <a:gd name="T46" fmla="*/ 2147483646 w 295"/>
              <a:gd name="T47" fmla="*/ 2147483646 h 112"/>
              <a:gd name="T48" fmla="*/ 2147483646 w 295"/>
              <a:gd name="T49" fmla="*/ 2147483646 h 112"/>
              <a:gd name="T50" fmla="*/ 2147483646 w 295"/>
              <a:gd name="T51" fmla="*/ 2147483646 h 112"/>
              <a:gd name="T52" fmla="*/ 2147483646 w 295"/>
              <a:gd name="T53" fmla="*/ 2147483646 h 112"/>
              <a:gd name="T54" fmla="*/ 2147483646 w 295"/>
              <a:gd name="T55" fmla="*/ 2147483646 h 112"/>
              <a:gd name="T56" fmla="*/ 2147483646 w 295"/>
              <a:gd name="T57" fmla="*/ 2147483646 h 112"/>
              <a:gd name="T58" fmla="*/ 2147483646 w 295"/>
              <a:gd name="T59" fmla="*/ 2147483646 h 112"/>
              <a:gd name="T60" fmla="*/ 2147483646 w 295"/>
              <a:gd name="T61" fmla="*/ 2147483646 h 112"/>
              <a:gd name="T62" fmla="*/ 2147483646 w 295"/>
              <a:gd name="T63" fmla="*/ 2147483646 h 112"/>
              <a:gd name="T64" fmla="*/ 2147483646 w 295"/>
              <a:gd name="T65" fmla="*/ 2147483646 h 112"/>
              <a:gd name="T66" fmla="*/ 2147483646 w 295"/>
              <a:gd name="T67" fmla="*/ 2147483646 h 112"/>
              <a:gd name="T68" fmla="*/ 2147483646 w 295"/>
              <a:gd name="T69" fmla="*/ 2147483646 h 112"/>
              <a:gd name="T70" fmla="*/ 2147483646 w 295"/>
              <a:gd name="T71" fmla="*/ 2147483646 h 112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95" h="112">
                <a:moveTo>
                  <a:pt x="0" y="65"/>
                </a:moveTo>
                <a:lnTo>
                  <a:pt x="8" y="62"/>
                </a:lnTo>
                <a:lnTo>
                  <a:pt x="16" y="59"/>
                </a:lnTo>
                <a:lnTo>
                  <a:pt x="26" y="57"/>
                </a:lnTo>
                <a:lnTo>
                  <a:pt x="36" y="57"/>
                </a:lnTo>
                <a:lnTo>
                  <a:pt x="45" y="57"/>
                </a:lnTo>
                <a:lnTo>
                  <a:pt x="54" y="57"/>
                </a:lnTo>
                <a:lnTo>
                  <a:pt x="63" y="59"/>
                </a:lnTo>
                <a:lnTo>
                  <a:pt x="73" y="60"/>
                </a:lnTo>
                <a:lnTo>
                  <a:pt x="82" y="64"/>
                </a:lnTo>
                <a:lnTo>
                  <a:pt x="91" y="66"/>
                </a:lnTo>
                <a:lnTo>
                  <a:pt x="100" y="70"/>
                </a:lnTo>
                <a:lnTo>
                  <a:pt x="110" y="74"/>
                </a:lnTo>
                <a:lnTo>
                  <a:pt x="118" y="77"/>
                </a:lnTo>
                <a:lnTo>
                  <a:pt x="127" y="81"/>
                </a:lnTo>
                <a:lnTo>
                  <a:pt x="135" y="85"/>
                </a:lnTo>
                <a:lnTo>
                  <a:pt x="142" y="89"/>
                </a:lnTo>
                <a:lnTo>
                  <a:pt x="148" y="78"/>
                </a:lnTo>
                <a:lnTo>
                  <a:pt x="156" y="66"/>
                </a:lnTo>
                <a:lnTo>
                  <a:pt x="163" y="57"/>
                </a:lnTo>
                <a:lnTo>
                  <a:pt x="171" y="50"/>
                </a:lnTo>
                <a:lnTo>
                  <a:pt x="180" y="41"/>
                </a:lnTo>
                <a:lnTo>
                  <a:pt x="189" y="34"/>
                </a:lnTo>
                <a:lnTo>
                  <a:pt x="199" y="28"/>
                </a:lnTo>
                <a:lnTo>
                  <a:pt x="210" y="23"/>
                </a:lnTo>
                <a:lnTo>
                  <a:pt x="219" y="19"/>
                </a:lnTo>
                <a:lnTo>
                  <a:pt x="231" y="15"/>
                </a:lnTo>
                <a:lnTo>
                  <a:pt x="241" y="10"/>
                </a:lnTo>
                <a:lnTo>
                  <a:pt x="252" y="8"/>
                </a:lnTo>
                <a:lnTo>
                  <a:pt x="262" y="5"/>
                </a:lnTo>
                <a:lnTo>
                  <a:pt x="273" y="3"/>
                </a:lnTo>
                <a:lnTo>
                  <a:pt x="284" y="1"/>
                </a:lnTo>
                <a:lnTo>
                  <a:pt x="294" y="0"/>
                </a:lnTo>
                <a:lnTo>
                  <a:pt x="284" y="3"/>
                </a:lnTo>
                <a:lnTo>
                  <a:pt x="276" y="8"/>
                </a:lnTo>
                <a:lnTo>
                  <a:pt x="266" y="13"/>
                </a:lnTo>
                <a:lnTo>
                  <a:pt x="256" y="17"/>
                </a:lnTo>
                <a:lnTo>
                  <a:pt x="248" y="22"/>
                </a:lnTo>
                <a:lnTo>
                  <a:pt x="238" y="28"/>
                </a:lnTo>
                <a:lnTo>
                  <a:pt x="229" y="33"/>
                </a:lnTo>
                <a:lnTo>
                  <a:pt x="222" y="39"/>
                </a:lnTo>
                <a:lnTo>
                  <a:pt x="212" y="46"/>
                </a:lnTo>
                <a:lnTo>
                  <a:pt x="204" y="52"/>
                </a:lnTo>
                <a:lnTo>
                  <a:pt x="195" y="60"/>
                </a:lnTo>
                <a:lnTo>
                  <a:pt x="189" y="68"/>
                </a:lnTo>
                <a:lnTo>
                  <a:pt x="182" y="76"/>
                </a:lnTo>
                <a:lnTo>
                  <a:pt x="175" y="84"/>
                </a:lnTo>
                <a:lnTo>
                  <a:pt x="170" y="94"/>
                </a:lnTo>
                <a:lnTo>
                  <a:pt x="165" y="103"/>
                </a:lnTo>
                <a:lnTo>
                  <a:pt x="162" y="107"/>
                </a:lnTo>
                <a:lnTo>
                  <a:pt x="159" y="109"/>
                </a:lnTo>
                <a:lnTo>
                  <a:pt x="156" y="111"/>
                </a:lnTo>
                <a:lnTo>
                  <a:pt x="152" y="108"/>
                </a:lnTo>
                <a:lnTo>
                  <a:pt x="147" y="107"/>
                </a:lnTo>
                <a:lnTo>
                  <a:pt x="144" y="106"/>
                </a:lnTo>
                <a:lnTo>
                  <a:pt x="139" y="103"/>
                </a:lnTo>
                <a:lnTo>
                  <a:pt x="135" y="102"/>
                </a:lnTo>
                <a:lnTo>
                  <a:pt x="128" y="100"/>
                </a:lnTo>
                <a:lnTo>
                  <a:pt x="121" y="95"/>
                </a:lnTo>
                <a:lnTo>
                  <a:pt x="111" y="93"/>
                </a:lnTo>
                <a:lnTo>
                  <a:pt x="104" y="88"/>
                </a:lnTo>
                <a:lnTo>
                  <a:pt x="94" y="84"/>
                </a:lnTo>
                <a:lnTo>
                  <a:pt x="85" y="79"/>
                </a:lnTo>
                <a:lnTo>
                  <a:pt x="75" y="76"/>
                </a:lnTo>
                <a:lnTo>
                  <a:pt x="66" y="72"/>
                </a:lnTo>
                <a:lnTo>
                  <a:pt x="56" y="69"/>
                </a:lnTo>
                <a:lnTo>
                  <a:pt x="46" y="65"/>
                </a:lnTo>
                <a:lnTo>
                  <a:pt x="37" y="64"/>
                </a:lnTo>
                <a:lnTo>
                  <a:pt x="28" y="62"/>
                </a:lnTo>
                <a:lnTo>
                  <a:pt x="20" y="62"/>
                </a:lnTo>
                <a:lnTo>
                  <a:pt x="12" y="62"/>
                </a:lnTo>
                <a:lnTo>
                  <a:pt x="6" y="63"/>
                </a:lnTo>
                <a:lnTo>
                  <a:pt x="0" y="65"/>
                </a:lnTo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3" name="Freeform 9">
            <a:extLst>
              <a:ext uri="{FF2B5EF4-FFF2-40B4-BE49-F238E27FC236}">
                <a16:creationId xmlns:a16="http://schemas.microsoft.com/office/drawing/2014/main" id="{315CCE24-47C6-471D-803B-E6DBBE13B1D4}"/>
              </a:ext>
            </a:extLst>
          </p:cNvPr>
          <p:cNvSpPr>
            <a:spLocks/>
          </p:cNvSpPr>
          <p:nvPr/>
        </p:nvSpPr>
        <p:spPr bwMode="auto">
          <a:xfrm>
            <a:off x="7515225" y="6257925"/>
            <a:ext cx="1524000" cy="533400"/>
          </a:xfrm>
          <a:custGeom>
            <a:avLst/>
            <a:gdLst>
              <a:gd name="T0" fmla="*/ 2147483646 w 1453"/>
              <a:gd name="T1" fmla="*/ 2147483646 h 374"/>
              <a:gd name="T2" fmla="*/ 2147483646 w 1453"/>
              <a:gd name="T3" fmla="*/ 2147483646 h 374"/>
              <a:gd name="T4" fmla="*/ 2147483646 w 1453"/>
              <a:gd name="T5" fmla="*/ 2147483646 h 374"/>
              <a:gd name="T6" fmla="*/ 2147483646 w 1453"/>
              <a:gd name="T7" fmla="*/ 2147483646 h 374"/>
              <a:gd name="T8" fmla="*/ 2147483646 w 1453"/>
              <a:gd name="T9" fmla="*/ 2147483646 h 374"/>
              <a:gd name="T10" fmla="*/ 2147483646 w 1453"/>
              <a:gd name="T11" fmla="*/ 2147483646 h 374"/>
              <a:gd name="T12" fmla="*/ 0 w 1453"/>
              <a:gd name="T13" fmla="*/ 2147483646 h 374"/>
              <a:gd name="T14" fmla="*/ 0 w 1453"/>
              <a:gd name="T15" fmla="*/ 2147483646 h 374"/>
              <a:gd name="T16" fmla="*/ 2147483646 w 1453"/>
              <a:gd name="T17" fmla="*/ 2147483646 h 374"/>
              <a:gd name="T18" fmla="*/ 2147483646 w 1453"/>
              <a:gd name="T19" fmla="*/ 2147483646 h 374"/>
              <a:gd name="T20" fmla="*/ 2147483646 w 1453"/>
              <a:gd name="T21" fmla="*/ 2147483646 h 374"/>
              <a:gd name="T22" fmla="*/ 2147483646 w 1453"/>
              <a:gd name="T23" fmla="*/ 2147483646 h 374"/>
              <a:gd name="T24" fmla="*/ 2147483646 w 1453"/>
              <a:gd name="T25" fmla="*/ 2147483646 h 374"/>
              <a:gd name="T26" fmla="*/ 2147483646 w 1453"/>
              <a:gd name="T27" fmla="*/ 2147483646 h 374"/>
              <a:gd name="T28" fmla="*/ 2147483646 w 1453"/>
              <a:gd name="T29" fmla="*/ 2147483646 h 374"/>
              <a:gd name="T30" fmla="*/ 2147483646 w 1453"/>
              <a:gd name="T31" fmla="*/ 2147483646 h 374"/>
              <a:gd name="T32" fmla="*/ 2147483646 w 1453"/>
              <a:gd name="T33" fmla="*/ 2147483646 h 374"/>
              <a:gd name="T34" fmla="*/ 2147483646 w 1453"/>
              <a:gd name="T35" fmla="*/ 2147483646 h 374"/>
              <a:gd name="T36" fmla="*/ 2147483646 w 1453"/>
              <a:gd name="T37" fmla="*/ 2147483646 h 374"/>
              <a:gd name="T38" fmla="*/ 2147483646 w 1453"/>
              <a:gd name="T39" fmla="*/ 2147483646 h 374"/>
              <a:gd name="T40" fmla="*/ 2147483646 w 1453"/>
              <a:gd name="T41" fmla="*/ 2147483646 h 374"/>
              <a:gd name="T42" fmla="*/ 2147483646 w 1453"/>
              <a:gd name="T43" fmla="*/ 2147483646 h 374"/>
              <a:gd name="T44" fmla="*/ 2147483646 w 1453"/>
              <a:gd name="T45" fmla="*/ 2147483646 h 374"/>
              <a:gd name="T46" fmla="*/ 2147483646 w 1453"/>
              <a:gd name="T47" fmla="*/ 2147483646 h 374"/>
              <a:gd name="T48" fmla="*/ 2147483646 w 1453"/>
              <a:gd name="T49" fmla="*/ 2147483646 h 374"/>
              <a:gd name="T50" fmla="*/ 2147483646 w 1453"/>
              <a:gd name="T51" fmla="*/ 2147483646 h 374"/>
              <a:gd name="T52" fmla="*/ 2147483646 w 1453"/>
              <a:gd name="T53" fmla="*/ 2147483646 h 374"/>
              <a:gd name="T54" fmla="*/ 2147483646 w 1453"/>
              <a:gd name="T55" fmla="*/ 2147483646 h 374"/>
              <a:gd name="T56" fmla="*/ 2147483646 w 1453"/>
              <a:gd name="T57" fmla="*/ 2147483646 h 374"/>
              <a:gd name="T58" fmla="*/ 2147483646 w 1453"/>
              <a:gd name="T59" fmla="*/ 2147483646 h 374"/>
              <a:gd name="T60" fmla="*/ 2147483646 w 1453"/>
              <a:gd name="T61" fmla="*/ 2147483646 h 374"/>
              <a:gd name="T62" fmla="*/ 2147483646 w 1453"/>
              <a:gd name="T63" fmla="*/ 2147483646 h 374"/>
              <a:gd name="T64" fmla="*/ 2147483646 w 1453"/>
              <a:gd name="T65" fmla="*/ 2147483646 h 374"/>
              <a:gd name="T66" fmla="*/ 2147483646 w 1453"/>
              <a:gd name="T67" fmla="*/ 2147483646 h 374"/>
              <a:gd name="T68" fmla="*/ 2147483646 w 1453"/>
              <a:gd name="T69" fmla="*/ 2147483646 h 374"/>
              <a:gd name="T70" fmla="*/ 2147483646 w 1453"/>
              <a:gd name="T71" fmla="*/ 2147483646 h 374"/>
              <a:gd name="T72" fmla="*/ 2147483646 w 1453"/>
              <a:gd name="T73" fmla="*/ 2147483646 h 374"/>
              <a:gd name="T74" fmla="*/ 2147483646 w 1453"/>
              <a:gd name="T75" fmla="*/ 2147483646 h 374"/>
              <a:gd name="T76" fmla="*/ 2147483646 w 1453"/>
              <a:gd name="T77" fmla="*/ 2147483646 h 374"/>
              <a:gd name="T78" fmla="*/ 2147483646 w 1453"/>
              <a:gd name="T79" fmla="*/ 2147483646 h 374"/>
              <a:gd name="T80" fmla="*/ 2147483646 w 1453"/>
              <a:gd name="T81" fmla="*/ 2147483646 h 374"/>
              <a:gd name="T82" fmla="*/ 2147483646 w 1453"/>
              <a:gd name="T83" fmla="*/ 2147483646 h 374"/>
              <a:gd name="T84" fmla="*/ 2147483646 w 1453"/>
              <a:gd name="T85" fmla="*/ 2147483646 h 374"/>
              <a:gd name="T86" fmla="*/ 2147483646 w 1453"/>
              <a:gd name="T87" fmla="*/ 2147483646 h 374"/>
              <a:gd name="T88" fmla="*/ 2147483646 w 1453"/>
              <a:gd name="T89" fmla="*/ 2147483646 h 374"/>
              <a:gd name="T90" fmla="*/ 2147483646 w 1453"/>
              <a:gd name="T91" fmla="*/ 2147483646 h 374"/>
              <a:gd name="T92" fmla="*/ 2147483646 w 1453"/>
              <a:gd name="T93" fmla="*/ 2147483646 h 374"/>
              <a:gd name="T94" fmla="*/ 2147483646 w 1453"/>
              <a:gd name="T95" fmla="*/ 2147483646 h 374"/>
              <a:gd name="T96" fmla="*/ 2147483646 w 1453"/>
              <a:gd name="T97" fmla="*/ 2147483646 h 374"/>
              <a:gd name="T98" fmla="*/ 2147483646 w 1453"/>
              <a:gd name="T99" fmla="*/ 2147483646 h 374"/>
              <a:gd name="T100" fmla="*/ 2147483646 w 1453"/>
              <a:gd name="T101" fmla="*/ 2147483646 h 374"/>
              <a:gd name="T102" fmla="*/ 2147483646 w 1453"/>
              <a:gd name="T103" fmla="*/ 2147483646 h 374"/>
              <a:gd name="T104" fmla="*/ 2147483646 w 1453"/>
              <a:gd name="T105" fmla="*/ 2147483646 h 374"/>
              <a:gd name="T106" fmla="*/ 2147483646 w 1453"/>
              <a:gd name="T107" fmla="*/ 2147483646 h 374"/>
              <a:gd name="T108" fmla="*/ 2147483646 w 1453"/>
              <a:gd name="T109" fmla="*/ 2147483646 h 374"/>
              <a:gd name="T110" fmla="*/ 2147483646 w 1453"/>
              <a:gd name="T111" fmla="*/ 2147483646 h 374"/>
              <a:gd name="T112" fmla="*/ 2147483646 w 1453"/>
              <a:gd name="T113" fmla="*/ 0 h 374"/>
              <a:gd name="T114" fmla="*/ 2147483646 w 1453"/>
              <a:gd name="T115" fmla="*/ 0 h 374"/>
              <a:gd name="T116" fmla="*/ 2147483646 w 1453"/>
              <a:gd name="T117" fmla="*/ 2147483646 h 374"/>
              <a:gd name="T118" fmla="*/ 2147483646 w 1453"/>
              <a:gd name="T119" fmla="*/ 2147483646 h 374"/>
              <a:gd name="T120" fmla="*/ 2147483646 w 1453"/>
              <a:gd name="T121" fmla="*/ 2147483646 h 374"/>
              <a:gd name="T122" fmla="*/ 2147483646 w 1453"/>
              <a:gd name="T123" fmla="*/ 2147483646 h 374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1453" h="374">
                <a:moveTo>
                  <a:pt x="319" y="12"/>
                </a:moveTo>
                <a:lnTo>
                  <a:pt x="285" y="7"/>
                </a:lnTo>
                <a:lnTo>
                  <a:pt x="260" y="7"/>
                </a:lnTo>
                <a:lnTo>
                  <a:pt x="234" y="15"/>
                </a:lnTo>
                <a:lnTo>
                  <a:pt x="209" y="37"/>
                </a:lnTo>
                <a:lnTo>
                  <a:pt x="184" y="52"/>
                </a:lnTo>
                <a:lnTo>
                  <a:pt x="159" y="67"/>
                </a:lnTo>
                <a:lnTo>
                  <a:pt x="133" y="82"/>
                </a:lnTo>
                <a:lnTo>
                  <a:pt x="109" y="89"/>
                </a:lnTo>
                <a:lnTo>
                  <a:pt x="83" y="89"/>
                </a:lnTo>
                <a:lnTo>
                  <a:pt x="58" y="89"/>
                </a:lnTo>
                <a:lnTo>
                  <a:pt x="34" y="104"/>
                </a:lnTo>
                <a:lnTo>
                  <a:pt x="8" y="119"/>
                </a:lnTo>
                <a:lnTo>
                  <a:pt x="0" y="141"/>
                </a:lnTo>
                <a:lnTo>
                  <a:pt x="0" y="164"/>
                </a:lnTo>
                <a:lnTo>
                  <a:pt x="0" y="186"/>
                </a:lnTo>
                <a:lnTo>
                  <a:pt x="8" y="208"/>
                </a:lnTo>
                <a:lnTo>
                  <a:pt x="17" y="231"/>
                </a:lnTo>
                <a:lnTo>
                  <a:pt x="42" y="231"/>
                </a:lnTo>
                <a:lnTo>
                  <a:pt x="66" y="238"/>
                </a:lnTo>
                <a:lnTo>
                  <a:pt x="92" y="238"/>
                </a:lnTo>
                <a:lnTo>
                  <a:pt x="117" y="223"/>
                </a:lnTo>
                <a:lnTo>
                  <a:pt x="142" y="216"/>
                </a:lnTo>
                <a:lnTo>
                  <a:pt x="159" y="238"/>
                </a:lnTo>
                <a:lnTo>
                  <a:pt x="176" y="261"/>
                </a:lnTo>
                <a:lnTo>
                  <a:pt x="201" y="283"/>
                </a:lnTo>
                <a:lnTo>
                  <a:pt x="226" y="298"/>
                </a:lnTo>
                <a:lnTo>
                  <a:pt x="251" y="313"/>
                </a:lnTo>
                <a:lnTo>
                  <a:pt x="285" y="321"/>
                </a:lnTo>
                <a:lnTo>
                  <a:pt x="310" y="313"/>
                </a:lnTo>
                <a:lnTo>
                  <a:pt x="335" y="305"/>
                </a:lnTo>
                <a:lnTo>
                  <a:pt x="361" y="305"/>
                </a:lnTo>
                <a:lnTo>
                  <a:pt x="385" y="313"/>
                </a:lnTo>
                <a:lnTo>
                  <a:pt x="411" y="328"/>
                </a:lnTo>
                <a:lnTo>
                  <a:pt x="436" y="335"/>
                </a:lnTo>
                <a:lnTo>
                  <a:pt x="461" y="357"/>
                </a:lnTo>
                <a:lnTo>
                  <a:pt x="486" y="365"/>
                </a:lnTo>
                <a:lnTo>
                  <a:pt x="536" y="365"/>
                </a:lnTo>
                <a:lnTo>
                  <a:pt x="587" y="365"/>
                </a:lnTo>
                <a:lnTo>
                  <a:pt x="654" y="365"/>
                </a:lnTo>
                <a:lnTo>
                  <a:pt x="680" y="365"/>
                </a:lnTo>
                <a:lnTo>
                  <a:pt x="704" y="357"/>
                </a:lnTo>
                <a:lnTo>
                  <a:pt x="730" y="357"/>
                </a:lnTo>
                <a:lnTo>
                  <a:pt x="755" y="350"/>
                </a:lnTo>
                <a:lnTo>
                  <a:pt x="780" y="342"/>
                </a:lnTo>
                <a:lnTo>
                  <a:pt x="805" y="335"/>
                </a:lnTo>
                <a:lnTo>
                  <a:pt x="831" y="328"/>
                </a:lnTo>
                <a:lnTo>
                  <a:pt x="855" y="328"/>
                </a:lnTo>
                <a:lnTo>
                  <a:pt x="881" y="335"/>
                </a:lnTo>
                <a:lnTo>
                  <a:pt x="906" y="335"/>
                </a:lnTo>
                <a:lnTo>
                  <a:pt x="931" y="342"/>
                </a:lnTo>
                <a:lnTo>
                  <a:pt x="956" y="350"/>
                </a:lnTo>
                <a:lnTo>
                  <a:pt x="990" y="365"/>
                </a:lnTo>
                <a:lnTo>
                  <a:pt x="1040" y="365"/>
                </a:lnTo>
                <a:lnTo>
                  <a:pt x="1107" y="373"/>
                </a:lnTo>
                <a:lnTo>
                  <a:pt x="1133" y="365"/>
                </a:lnTo>
                <a:lnTo>
                  <a:pt x="1183" y="365"/>
                </a:lnTo>
                <a:lnTo>
                  <a:pt x="1217" y="357"/>
                </a:lnTo>
                <a:lnTo>
                  <a:pt x="1241" y="335"/>
                </a:lnTo>
                <a:lnTo>
                  <a:pt x="1267" y="328"/>
                </a:lnTo>
                <a:lnTo>
                  <a:pt x="1301" y="313"/>
                </a:lnTo>
                <a:lnTo>
                  <a:pt x="1325" y="298"/>
                </a:lnTo>
                <a:lnTo>
                  <a:pt x="1351" y="290"/>
                </a:lnTo>
                <a:lnTo>
                  <a:pt x="1376" y="283"/>
                </a:lnTo>
                <a:lnTo>
                  <a:pt x="1400" y="275"/>
                </a:lnTo>
                <a:lnTo>
                  <a:pt x="1426" y="275"/>
                </a:lnTo>
                <a:lnTo>
                  <a:pt x="1452" y="275"/>
                </a:lnTo>
                <a:lnTo>
                  <a:pt x="1443" y="254"/>
                </a:lnTo>
                <a:lnTo>
                  <a:pt x="1426" y="231"/>
                </a:lnTo>
                <a:lnTo>
                  <a:pt x="1417" y="208"/>
                </a:lnTo>
                <a:lnTo>
                  <a:pt x="1426" y="186"/>
                </a:lnTo>
                <a:lnTo>
                  <a:pt x="1443" y="164"/>
                </a:lnTo>
                <a:lnTo>
                  <a:pt x="1452" y="141"/>
                </a:lnTo>
                <a:lnTo>
                  <a:pt x="1443" y="119"/>
                </a:lnTo>
                <a:lnTo>
                  <a:pt x="1426" y="97"/>
                </a:lnTo>
                <a:lnTo>
                  <a:pt x="1400" y="82"/>
                </a:lnTo>
                <a:lnTo>
                  <a:pt x="1376" y="82"/>
                </a:lnTo>
                <a:lnTo>
                  <a:pt x="1351" y="82"/>
                </a:lnTo>
                <a:lnTo>
                  <a:pt x="1325" y="82"/>
                </a:lnTo>
                <a:lnTo>
                  <a:pt x="1301" y="82"/>
                </a:lnTo>
                <a:lnTo>
                  <a:pt x="1275" y="82"/>
                </a:lnTo>
                <a:lnTo>
                  <a:pt x="1250" y="74"/>
                </a:lnTo>
                <a:lnTo>
                  <a:pt x="1225" y="67"/>
                </a:lnTo>
                <a:lnTo>
                  <a:pt x="1200" y="67"/>
                </a:lnTo>
                <a:lnTo>
                  <a:pt x="1174" y="67"/>
                </a:lnTo>
                <a:lnTo>
                  <a:pt x="1150" y="74"/>
                </a:lnTo>
                <a:lnTo>
                  <a:pt x="1124" y="82"/>
                </a:lnTo>
                <a:lnTo>
                  <a:pt x="1107" y="59"/>
                </a:lnTo>
                <a:lnTo>
                  <a:pt x="1082" y="45"/>
                </a:lnTo>
                <a:lnTo>
                  <a:pt x="1057" y="30"/>
                </a:lnTo>
                <a:lnTo>
                  <a:pt x="1032" y="30"/>
                </a:lnTo>
                <a:lnTo>
                  <a:pt x="1006" y="22"/>
                </a:lnTo>
                <a:lnTo>
                  <a:pt x="973" y="15"/>
                </a:lnTo>
                <a:lnTo>
                  <a:pt x="948" y="7"/>
                </a:lnTo>
                <a:lnTo>
                  <a:pt x="922" y="7"/>
                </a:lnTo>
                <a:lnTo>
                  <a:pt x="898" y="22"/>
                </a:lnTo>
                <a:lnTo>
                  <a:pt x="872" y="30"/>
                </a:lnTo>
                <a:lnTo>
                  <a:pt x="847" y="30"/>
                </a:lnTo>
                <a:lnTo>
                  <a:pt x="822" y="30"/>
                </a:lnTo>
                <a:lnTo>
                  <a:pt x="797" y="30"/>
                </a:lnTo>
                <a:lnTo>
                  <a:pt x="771" y="30"/>
                </a:lnTo>
                <a:lnTo>
                  <a:pt x="747" y="22"/>
                </a:lnTo>
                <a:lnTo>
                  <a:pt x="721" y="15"/>
                </a:lnTo>
                <a:lnTo>
                  <a:pt x="696" y="7"/>
                </a:lnTo>
                <a:lnTo>
                  <a:pt x="671" y="7"/>
                </a:lnTo>
                <a:lnTo>
                  <a:pt x="646" y="7"/>
                </a:lnTo>
                <a:lnTo>
                  <a:pt x="620" y="7"/>
                </a:lnTo>
                <a:lnTo>
                  <a:pt x="596" y="22"/>
                </a:lnTo>
                <a:lnTo>
                  <a:pt x="570" y="30"/>
                </a:lnTo>
                <a:lnTo>
                  <a:pt x="545" y="30"/>
                </a:lnTo>
                <a:lnTo>
                  <a:pt x="520" y="22"/>
                </a:lnTo>
                <a:lnTo>
                  <a:pt x="486" y="7"/>
                </a:lnTo>
                <a:lnTo>
                  <a:pt x="461" y="7"/>
                </a:lnTo>
                <a:lnTo>
                  <a:pt x="436" y="0"/>
                </a:lnTo>
                <a:lnTo>
                  <a:pt x="411" y="0"/>
                </a:lnTo>
                <a:lnTo>
                  <a:pt x="385" y="0"/>
                </a:lnTo>
                <a:lnTo>
                  <a:pt x="361" y="7"/>
                </a:lnTo>
                <a:lnTo>
                  <a:pt x="319" y="12"/>
                </a:lnTo>
                <a:lnTo>
                  <a:pt x="293" y="45"/>
                </a:lnTo>
                <a:lnTo>
                  <a:pt x="268" y="59"/>
                </a:lnTo>
                <a:lnTo>
                  <a:pt x="260" y="82"/>
                </a:lnTo>
                <a:lnTo>
                  <a:pt x="234" y="74"/>
                </a:lnTo>
                <a:lnTo>
                  <a:pt x="209" y="67"/>
                </a:lnTo>
                <a:lnTo>
                  <a:pt x="217" y="57"/>
                </a:lnTo>
              </a:path>
            </a:pathLst>
          </a:custGeom>
          <a:gradFill rotWithShape="0">
            <a:gsLst>
              <a:gs pos="0">
                <a:srgbClr val="F5EACB"/>
              </a:gs>
              <a:gs pos="100000">
                <a:srgbClr val="CC9900"/>
              </a:gs>
            </a:gsLst>
            <a:lin ang="5400000" scaled="1"/>
          </a:gradFill>
          <a:ln w="12700" cap="rnd" cmpd="sng">
            <a:solidFill>
              <a:srgbClr val="99663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034" name="Group 10">
            <a:extLst>
              <a:ext uri="{FF2B5EF4-FFF2-40B4-BE49-F238E27FC236}">
                <a16:creationId xmlns:a16="http://schemas.microsoft.com/office/drawing/2014/main" id="{414D839F-E3E8-4D59-BC89-4CD9E2717A87}"/>
              </a:ext>
            </a:extLst>
          </p:cNvPr>
          <p:cNvGrpSpPr>
            <a:grpSpLocks/>
          </p:cNvGrpSpPr>
          <p:nvPr/>
        </p:nvGrpSpPr>
        <p:grpSpPr bwMode="auto">
          <a:xfrm>
            <a:off x="7620000" y="5076825"/>
            <a:ext cx="1371600" cy="1600200"/>
            <a:chOff x="0" y="3182"/>
            <a:chExt cx="808" cy="998"/>
          </a:xfrm>
        </p:grpSpPr>
        <p:grpSp>
          <p:nvGrpSpPr>
            <p:cNvPr id="1046" name="Group 11">
              <a:extLst>
                <a:ext uri="{FF2B5EF4-FFF2-40B4-BE49-F238E27FC236}">
                  <a16:creationId xmlns:a16="http://schemas.microsoft.com/office/drawing/2014/main" id="{4C32EAD7-8719-4B8F-8020-D207523AC4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3182"/>
              <a:ext cx="506" cy="927"/>
              <a:chOff x="1685" y="1023"/>
              <a:chExt cx="506" cy="927"/>
            </a:xfrm>
          </p:grpSpPr>
          <p:sp>
            <p:nvSpPr>
              <p:cNvPr id="1059" name="Freeform 12">
                <a:extLst>
                  <a:ext uri="{FF2B5EF4-FFF2-40B4-BE49-F238E27FC236}">
                    <a16:creationId xmlns:a16="http://schemas.microsoft.com/office/drawing/2014/main" id="{13AB5CD7-0E6A-49C4-AF89-D1C1C483349A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733" y="1329"/>
                <a:ext cx="79" cy="621"/>
              </a:xfrm>
              <a:custGeom>
                <a:avLst/>
                <a:gdLst>
                  <a:gd name="T0" fmla="*/ 0 w 76"/>
                  <a:gd name="T1" fmla="*/ 54 h 621"/>
                  <a:gd name="T2" fmla="*/ 11 w 76"/>
                  <a:gd name="T3" fmla="*/ 269 h 621"/>
                  <a:gd name="T4" fmla="*/ 54 w 76"/>
                  <a:gd name="T5" fmla="*/ 442 h 621"/>
                  <a:gd name="T6" fmla="*/ 73 w 76"/>
                  <a:gd name="T7" fmla="*/ 570 h 621"/>
                  <a:gd name="T8" fmla="*/ 67 w 76"/>
                  <a:gd name="T9" fmla="*/ 620 h 621"/>
                  <a:gd name="T10" fmla="*/ 111 w 76"/>
                  <a:gd name="T11" fmla="*/ 620 h 621"/>
                  <a:gd name="T12" fmla="*/ 122 w 76"/>
                  <a:gd name="T13" fmla="*/ 546 h 621"/>
                  <a:gd name="T14" fmla="*/ 130 w 76"/>
                  <a:gd name="T15" fmla="*/ 434 h 621"/>
                  <a:gd name="T16" fmla="*/ 146 w 76"/>
                  <a:gd name="T17" fmla="*/ 329 h 621"/>
                  <a:gd name="T18" fmla="*/ 154 w 76"/>
                  <a:gd name="T19" fmla="*/ 250 h 621"/>
                  <a:gd name="T20" fmla="*/ 170 w 76"/>
                  <a:gd name="T21" fmla="*/ 135 h 621"/>
                  <a:gd name="T22" fmla="*/ 189 w 76"/>
                  <a:gd name="T23" fmla="*/ 36 h 621"/>
                  <a:gd name="T24" fmla="*/ 177 w 76"/>
                  <a:gd name="T25" fmla="*/ 11 h 621"/>
                  <a:gd name="T26" fmla="*/ 158 w 76"/>
                  <a:gd name="T27" fmla="*/ 0 h 621"/>
                  <a:gd name="T28" fmla="*/ 132 w 76"/>
                  <a:gd name="T29" fmla="*/ 121 h 621"/>
                  <a:gd name="T30" fmla="*/ 113 w 76"/>
                  <a:gd name="T31" fmla="*/ 224 h 621"/>
                  <a:gd name="T32" fmla="*/ 109 w 76"/>
                  <a:gd name="T33" fmla="*/ 305 h 621"/>
                  <a:gd name="T34" fmla="*/ 103 w 76"/>
                  <a:gd name="T35" fmla="*/ 390 h 621"/>
                  <a:gd name="T36" fmla="*/ 85 w 76"/>
                  <a:gd name="T37" fmla="*/ 475 h 621"/>
                  <a:gd name="T38" fmla="*/ 60 w 76"/>
                  <a:gd name="T39" fmla="*/ 327 h 621"/>
                  <a:gd name="T40" fmla="*/ 40 w 76"/>
                  <a:gd name="T41" fmla="*/ 187 h 621"/>
                  <a:gd name="T42" fmla="*/ 0 w 76"/>
                  <a:gd name="T43" fmla="*/ 54 h 621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76" h="621">
                    <a:moveTo>
                      <a:pt x="0" y="54"/>
                    </a:moveTo>
                    <a:lnTo>
                      <a:pt x="11" y="269"/>
                    </a:lnTo>
                    <a:lnTo>
                      <a:pt x="22" y="442"/>
                    </a:lnTo>
                    <a:lnTo>
                      <a:pt x="30" y="570"/>
                    </a:lnTo>
                    <a:lnTo>
                      <a:pt x="28" y="620"/>
                    </a:lnTo>
                    <a:lnTo>
                      <a:pt x="44" y="620"/>
                    </a:lnTo>
                    <a:lnTo>
                      <a:pt x="49" y="546"/>
                    </a:lnTo>
                    <a:lnTo>
                      <a:pt x="52" y="434"/>
                    </a:lnTo>
                    <a:lnTo>
                      <a:pt x="58" y="329"/>
                    </a:lnTo>
                    <a:lnTo>
                      <a:pt x="61" y="250"/>
                    </a:lnTo>
                    <a:lnTo>
                      <a:pt x="67" y="135"/>
                    </a:lnTo>
                    <a:lnTo>
                      <a:pt x="75" y="36"/>
                    </a:lnTo>
                    <a:lnTo>
                      <a:pt x="70" y="11"/>
                    </a:lnTo>
                    <a:lnTo>
                      <a:pt x="62" y="0"/>
                    </a:lnTo>
                    <a:lnTo>
                      <a:pt x="53" y="121"/>
                    </a:lnTo>
                    <a:lnTo>
                      <a:pt x="45" y="224"/>
                    </a:lnTo>
                    <a:lnTo>
                      <a:pt x="43" y="305"/>
                    </a:lnTo>
                    <a:lnTo>
                      <a:pt x="40" y="390"/>
                    </a:lnTo>
                    <a:lnTo>
                      <a:pt x="34" y="475"/>
                    </a:lnTo>
                    <a:lnTo>
                      <a:pt x="25" y="327"/>
                    </a:lnTo>
                    <a:lnTo>
                      <a:pt x="15" y="187"/>
                    </a:lnTo>
                    <a:lnTo>
                      <a:pt x="0" y="54"/>
                    </a:lnTo>
                  </a:path>
                </a:pathLst>
              </a:custGeom>
              <a:solidFill>
                <a:srgbClr val="3C0023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" name="Freeform 13">
                <a:extLst>
                  <a:ext uri="{FF2B5EF4-FFF2-40B4-BE49-F238E27FC236}">
                    <a16:creationId xmlns:a16="http://schemas.microsoft.com/office/drawing/2014/main" id="{4F4FB8FD-BB2E-4B11-A4CE-7D29398B8C4B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790" y="1580"/>
                <a:ext cx="123" cy="349"/>
              </a:xfrm>
              <a:custGeom>
                <a:avLst/>
                <a:gdLst>
                  <a:gd name="T0" fmla="*/ 0 w 120"/>
                  <a:gd name="T1" fmla="*/ 161 h 349"/>
                  <a:gd name="T2" fmla="*/ 10 w 120"/>
                  <a:gd name="T3" fmla="*/ 232 h 349"/>
                  <a:gd name="T4" fmla="*/ 44 w 120"/>
                  <a:gd name="T5" fmla="*/ 289 h 349"/>
                  <a:gd name="T6" fmla="*/ 50 w 120"/>
                  <a:gd name="T7" fmla="*/ 331 h 349"/>
                  <a:gd name="T8" fmla="*/ 49 w 120"/>
                  <a:gd name="T9" fmla="*/ 348 h 349"/>
                  <a:gd name="T10" fmla="*/ 65 w 120"/>
                  <a:gd name="T11" fmla="*/ 348 h 349"/>
                  <a:gd name="T12" fmla="*/ 73 w 120"/>
                  <a:gd name="T13" fmla="*/ 323 h 349"/>
                  <a:gd name="T14" fmla="*/ 77 w 120"/>
                  <a:gd name="T15" fmla="*/ 286 h 349"/>
                  <a:gd name="T16" fmla="*/ 89 w 120"/>
                  <a:gd name="T17" fmla="*/ 252 h 349"/>
                  <a:gd name="T18" fmla="*/ 95 w 120"/>
                  <a:gd name="T19" fmla="*/ 226 h 349"/>
                  <a:gd name="T20" fmla="*/ 107 w 120"/>
                  <a:gd name="T21" fmla="*/ 188 h 349"/>
                  <a:gd name="T22" fmla="*/ 120 w 120"/>
                  <a:gd name="T23" fmla="*/ 156 h 349"/>
                  <a:gd name="T24" fmla="*/ 128 w 120"/>
                  <a:gd name="T25" fmla="*/ 127 h 349"/>
                  <a:gd name="T26" fmla="*/ 137 w 120"/>
                  <a:gd name="T27" fmla="*/ 96 h 349"/>
                  <a:gd name="T28" fmla="*/ 153 w 120"/>
                  <a:gd name="T29" fmla="*/ 66 h 349"/>
                  <a:gd name="T30" fmla="*/ 173 w 120"/>
                  <a:gd name="T31" fmla="*/ 40 h 349"/>
                  <a:gd name="T32" fmla="*/ 204 w 120"/>
                  <a:gd name="T33" fmla="*/ 15 h 349"/>
                  <a:gd name="T34" fmla="*/ 214 w 120"/>
                  <a:gd name="T35" fmla="*/ 5 h 349"/>
                  <a:gd name="T36" fmla="*/ 202 w 120"/>
                  <a:gd name="T37" fmla="*/ 0 h 349"/>
                  <a:gd name="T38" fmla="*/ 184 w 120"/>
                  <a:gd name="T39" fmla="*/ 10 h 349"/>
                  <a:gd name="T40" fmla="*/ 153 w 120"/>
                  <a:gd name="T41" fmla="*/ 33 h 349"/>
                  <a:gd name="T42" fmla="*/ 134 w 120"/>
                  <a:gd name="T43" fmla="*/ 57 h 349"/>
                  <a:gd name="T44" fmla="*/ 120 w 120"/>
                  <a:gd name="T45" fmla="*/ 81 h 349"/>
                  <a:gd name="T46" fmla="*/ 110 w 120"/>
                  <a:gd name="T47" fmla="*/ 113 h 349"/>
                  <a:gd name="T48" fmla="*/ 97 w 120"/>
                  <a:gd name="T49" fmla="*/ 144 h 349"/>
                  <a:gd name="T50" fmla="*/ 81 w 120"/>
                  <a:gd name="T51" fmla="*/ 184 h 349"/>
                  <a:gd name="T52" fmla="*/ 67 w 120"/>
                  <a:gd name="T53" fmla="*/ 217 h 349"/>
                  <a:gd name="T54" fmla="*/ 61 w 120"/>
                  <a:gd name="T55" fmla="*/ 244 h 349"/>
                  <a:gd name="T56" fmla="*/ 60 w 120"/>
                  <a:gd name="T57" fmla="*/ 272 h 349"/>
                  <a:gd name="T58" fmla="*/ 54 w 120"/>
                  <a:gd name="T59" fmla="*/ 300 h 349"/>
                  <a:gd name="T60" fmla="*/ 46 w 120"/>
                  <a:gd name="T61" fmla="*/ 251 h 349"/>
                  <a:gd name="T62" fmla="*/ 13 w 120"/>
                  <a:gd name="T63" fmla="*/ 205 h 349"/>
                  <a:gd name="T64" fmla="*/ 0 w 120"/>
                  <a:gd name="T65" fmla="*/ 161 h 34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20" h="349">
                    <a:moveTo>
                      <a:pt x="0" y="161"/>
                    </a:moveTo>
                    <a:lnTo>
                      <a:pt x="10" y="232"/>
                    </a:lnTo>
                    <a:lnTo>
                      <a:pt x="20" y="289"/>
                    </a:lnTo>
                    <a:lnTo>
                      <a:pt x="26" y="331"/>
                    </a:lnTo>
                    <a:lnTo>
                      <a:pt x="25" y="348"/>
                    </a:lnTo>
                    <a:lnTo>
                      <a:pt x="39" y="348"/>
                    </a:lnTo>
                    <a:lnTo>
                      <a:pt x="43" y="323"/>
                    </a:lnTo>
                    <a:lnTo>
                      <a:pt x="45" y="286"/>
                    </a:lnTo>
                    <a:lnTo>
                      <a:pt x="51" y="252"/>
                    </a:lnTo>
                    <a:lnTo>
                      <a:pt x="54" y="226"/>
                    </a:lnTo>
                    <a:lnTo>
                      <a:pt x="59" y="188"/>
                    </a:lnTo>
                    <a:lnTo>
                      <a:pt x="66" y="156"/>
                    </a:lnTo>
                    <a:lnTo>
                      <a:pt x="71" y="127"/>
                    </a:lnTo>
                    <a:lnTo>
                      <a:pt x="77" y="96"/>
                    </a:lnTo>
                    <a:lnTo>
                      <a:pt x="86" y="66"/>
                    </a:lnTo>
                    <a:lnTo>
                      <a:pt x="96" y="40"/>
                    </a:lnTo>
                    <a:lnTo>
                      <a:pt x="113" y="15"/>
                    </a:lnTo>
                    <a:lnTo>
                      <a:pt x="119" y="5"/>
                    </a:lnTo>
                    <a:lnTo>
                      <a:pt x="112" y="0"/>
                    </a:lnTo>
                    <a:lnTo>
                      <a:pt x="101" y="10"/>
                    </a:lnTo>
                    <a:lnTo>
                      <a:pt x="86" y="33"/>
                    </a:lnTo>
                    <a:lnTo>
                      <a:pt x="75" y="57"/>
                    </a:lnTo>
                    <a:lnTo>
                      <a:pt x="66" y="81"/>
                    </a:lnTo>
                    <a:lnTo>
                      <a:pt x="60" y="113"/>
                    </a:lnTo>
                    <a:lnTo>
                      <a:pt x="55" y="144"/>
                    </a:lnTo>
                    <a:lnTo>
                      <a:pt x="47" y="184"/>
                    </a:lnTo>
                    <a:lnTo>
                      <a:pt x="40" y="217"/>
                    </a:lnTo>
                    <a:lnTo>
                      <a:pt x="37" y="244"/>
                    </a:lnTo>
                    <a:lnTo>
                      <a:pt x="36" y="272"/>
                    </a:lnTo>
                    <a:lnTo>
                      <a:pt x="30" y="300"/>
                    </a:lnTo>
                    <a:lnTo>
                      <a:pt x="22" y="251"/>
                    </a:lnTo>
                    <a:lnTo>
                      <a:pt x="13" y="205"/>
                    </a:lnTo>
                    <a:lnTo>
                      <a:pt x="0" y="161"/>
                    </a:lnTo>
                  </a:path>
                </a:pathLst>
              </a:custGeom>
              <a:solidFill>
                <a:srgbClr val="3C0023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" name="Freeform 14">
                <a:extLst>
                  <a:ext uri="{FF2B5EF4-FFF2-40B4-BE49-F238E27FC236}">
                    <a16:creationId xmlns:a16="http://schemas.microsoft.com/office/drawing/2014/main" id="{A8DA9C07-84E5-4E19-A9FD-C7984705B4B2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685" y="1239"/>
                <a:ext cx="266" cy="391"/>
              </a:xfrm>
              <a:custGeom>
                <a:avLst/>
                <a:gdLst>
                  <a:gd name="T0" fmla="*/ 107 w 266"/>
                  <a:gd name="T1" fmla="*/ 123 h 391"/>
                  <a:gd name="T2" fmla="*/ 116 w 266"/>
                  <a:gd name="T3" fmla="*/ 135 h 391"/>
                  <a:gd name="T4" fmla="*/ 163 w 266"/>
                  <a:gd name="T5" fmla="*/ 114 h 391"/>
                  <a:gd name="T6" fmla="*/ 211 w 266"/>
                  <a:gd name="T7" fmla="*/ 81 h 391"/>
                  <a:gd name="T8" fmla="*/ 233 w 266"/>
                  <a:gd name="T9" fmla="*/ 46 h 391"/>
                  <a:gd name="T10" fmla="*/ 220 w 266"/>
                  <a:gd name="T11" fmla="*/ 76 h 391"/>
                  <a:gd name="T12" fmla="*/ 183 w 266"/>
                  <a:gd name="T13" fmla="*/ 109 h 391"/>
                  <a:gd name="T14" fmla="*/ 142 w 266"/>
                  <a:gd name="T15" fmla="*/ 138 h 391"/>
                  <a:gd name="T16" fmla="*/ 102 w 266"/>
                  <a:gd name="T17" fmla="*/ 159 h 391"/>
                  <a:gd name="T18" fmla="*/ 119 w 266"/>
                  <a:gd name="T19" fmla="*/ 178 h 391"/>
                  <a:gd name="T20" fmla="*/ 155 w 266"/>
                  <a:gd name="T21" fmla="*/ 180 h 391"/>
                  <a:gd name="T22" fmla="*/ 202 w 266"/>
                  <a:gd name="T23" fmla="*/ 187 h 391"/>
                  <a:gd name="T24" fmla="*/ 239 w 266"/>
                  <a:gd name="T25" fmla="*/ 204 h 391"/>
                  <a:gd name="T26" fmla="*/ 251 w 266"/>
                  <a:gd name="T27" fmla="*/ 215 h 391"/>
                  <a:gd name="T28" fmla="*/ 213 w 266"/>
                  <a:gd name="T29" fmla="*/ 204 h 391"/>
                  <a:gd name="T30" fmla="*/ 162 w 266"/>
                  <a:gd name="T31" fmla="*/ 198 h 391"/>
                  <a:gd name="T32" fmla="*/ 114 w 266"/>
                  <a:gd name="T33" fmla="*/ 195 h 391"/>
                  <a:gd name="T34" fmla="*/ 88 w 266"/>
                  <a:gd name="T35" fmla="*/ 203 h 391"/>
                  <a:gd name="T36" fmla="*/ 93 w 266"/>
                  <a:gd name="T37" fmla="*/ 248 h 391"/>
                  <a:gd name="T38" fmla="*/ 93 w 266"/>
                  <a:gd name="T39" fmla="*/ 307 h 391"/>
                  <a:gd name="T40" fmla="*/ 77 w 266"/>
                  <a:gd name="T41" fmla="*/ 354 h 391"/>
                  <a:gd name="T42" fmla="*/ 46 w 266"/>
                  <a:gd name="T43" fmla="*/ 390 h 391"/>
                  <a:gd name="T44" fmla="*/ 50 w 266"/>
                  <a:gd name="T45" fmla="*/ 346 h 391"/>
                  <a:gd name="T46" fmla="*/ 61 w 266"/>
                  <a:gd name="T47" fmla="*/ 299 h 391"/>
                  <a:gd name="T48" fmla="*/ 67 w 266"/>
                  <a:gd name="T49" fmla="*/ 238 h 391"/>
                  <a:gd name="T50" fmla="*/ 64 w 266"/>
                  <a:gd name="T51" fmla="*/ 198 h 391"/>
                  <a:gd name="T52" fmla="*/ 48 w 266"/>
                  <a:gd name="T53" fmla="*/ 221 h 391"/>
                  <a:gd name="T54" fmla="*/ 39 w 266"/>
                  <a:gd name="T55" fmla="*/ 273 h 391"/>
                  <a:gd name="T56" fmla="*/ 32 w 266"/>
                  <a:gd name="T57" fmla="*/ 325 h 391"/>
                  <a:gd name="T58" fmla="*/ 10 w 266"/>
                  <a:gd name="T59" fmla="*/ 364 h 391"/>
                  <a:gd name="T60" fmla="*/ 2 w 266"/>
                  <a:gd name="T61" fmla="*/ 364 h 391"/>
                  <a:gd name="T62" fmla="*/ 2 w 266"/>
                  <a:gd name="T63" fmla="*/ 324 h 391"/>
                  <a:gd name="T64" fmla="*/ 17 w 266"/>
                  <a:gd name="T65" fmla="*/ 287 h 391"/>
                  <a:gd name="T66" fmla="*/ 34 w 266"/>
                  <a:gd name="T67" fmla="*/ 239 h 391"/>
                  <a:gd name="T68" fmla="*/ 42 w 266"/>
                  <a:gd name="T69" fmla="*/ 204 h 391"/>
                  <a:gd name="T70" fmla="*/ 26 w 266"/>
                  <a:gd name="T71" fmla="*/ 182 h 391"/>
                  <a:gd name="T72" fmla="*/ 2 w 266"/>
                  <a:gd name="T73" fmla="*/ 184 h 391"/>
                  <a:gd name="T74" fmla="*/ 2 w 266"/>
                  <a:gd name="T75" fmla="*/ 184 h 391"/>
                  <a:gd name="T76" fmla="*/ 2 w 266"/>
                  <a:gd name="T77" fmla="*/ 184 h 391"/>
                  <a:gd name="T78" fmla="*/ 2 w 266"/>
                  <a:gd name="T79" fmla="*/ 184 h 391"/>
                  <a:gd name="T80" fmla="*/ 2 w 266"/>
                  <a:gd name="T81" fmla="*/ 184 h 391"/>
                  <a:gd name="T82" fmla="*/ 2 w 266"/>
                  <a:gd name="T83" fmla="*/ 184 h 391"/>
                  <a:gd name="T84" fmla="*/ 13 w 266"/>
                  <a:gd name="T85" fmla="*/ 161 h 391"/>
                  <a:gd name="T86" fmla="*/ 13 w 266"/>
                  <a:gd name="T87" fmla="*/ 138 h 391"/>
                  <a:gd name="T88" fmla="*/ 2 w 266"/>
                  <a:gd name="T89" fmla="*/ 105 h 391"/>
                  <a:gd name="T90" fmla="*/ 2 w 266"/>
                  <a:gd name="T91" fmla="*/ 105 h 391"/>
                  <a:gd name="T92" fmla="*/ 2 w 266"/>
                  <a:gd name="T93" fmla="*/ 105 h 391"/>
                  <a:gd name="T94" fmla="*/ 2 w 266"/>
                  <a:gd name="T95" fmla="*/ 105 h 391"/>
                  <a:gd name="T96" fmla="*/ 24 w 266"/>
                  <a:gd name="T97" fmla="*/ 122 h 391"/>
                  <a:gd name="T98" fmla="*/ 53 w 266"/>
                  <a:gd name="T99" fmla="*/ 157 h 391"/>
                  <a:gd name="T100" fmla="*/ 55 w 266"/>
                  <a:gd name="T101" fmla="*/ 130 h 391"/>
                  <a:gd name="T102" fmla="*/ 24 w 266"/>
                  <a:gd name="T103" fmla="*/ 91 h 391"/>
                  <a:gd name="T104" fmla="*/ 2 w 266"/>
                  <a:gd name="T105" fmla="*/ 65 h 391"/>
                  <a:gd name="T106" fmla="*/ 2 w 266"/>
                  <a:gd name="T107" fmla="*/ 65 h 391"/>
                  <a:gd name="T108" fmla="*/ 2 w 266"/>
                  <a:gd name="T109" fmla="*/ 48 h 391"/>
                  <a:gd name="T110" fmla="*/ 30 w 266"/>
                  <a:gd name="T111" fmla="*/ 87 h 391"/>
                  <a:gd name="T112" fmla="*/ 61 w 266"/>
                  <a:gd name="T113" fmla="*/ 138 h 391"/>
                  <a:gd name="T114" fmla="*/ 80 w 266"/>
                  <a:gd name="T115" fmla="*/ 127 h 391"/>
                  <a:gd name="T116" fmla="*/ 106 w 266"/>
                  <a:gd name="T117" fmla="*/ 87 h 391"/>
                  <a:gd name="T118" fmla="*/ 139 w 266"/>
                  <a:gd name="T119" fmla="*/ 39 h 391"/>
                  <a:gd name="T120" fmla="*/ 165 w 266"/>
                  <a:gd name="T121" fmla="*/ 6 h 391"/>
                  <a:gd name="T122" fmla="*/ 163 w 266"/>
                  <a:gd name="T123" fmla="*/ 29 h 391"/>
                  <a:gd name="T124" fmla="*/ 137 w 266"/>
                  <a:gd name="T125" fmla="*/ 76 h 391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266" h="391">
                    <a:moveTo>
                      <a:pt x="124" y="95"/>
                    </a:moveTo>
                    <a:lnTo>
                      <a:pt x="119" y="101"/>
                    </a:lnTo>
                    <a:lnTo>
                      <a:pt x="115" y="108"/>
                    </a:lnTo>
                    <a:lnTo>
                      <a:pt x="111" y="115"/>
                    </a:lnTo>
                    <a:lnTo>
                      <a:pt x="107" y="123"/>
                    </a:lnTo>
                    <a:lnTo>
                      <a:pt x="104" y="129"/>
                    </a:lnTo>
                    <a:lnTo>
                      <a:pt x="102" y="136"/>
                    </a:lnTo>
                    <a:lnTo>
                      <a:pt x="100" y="142"/>
                    </a:lnTo>
                    <a:lnTo>
                      <a:pt x="107" y="138"/>
                    </a:lnTo>
                    <a:lnTo>
                      <a:pt x="116" y="135"/>
                    </a:lnTo>
                    <a:lnTo>
                      <a:pt x="125" y="131"/>
                    </a:lnTo>
                    <a:lnTo>
                      <a:pt x="134" y="127"/>
                    </a:lnTo>
                    <a:lnTo>
                      <a:pt x="144" y="124"/>
                    </a:lnTo>
                    <a:lnTo>
                      <a:pt x="154" y="119"/>
                    </a:lnTo>
                    <a:lnTo>
                      <a:pt x="163" y="114"/>
                    </a:lnTo>
                    <a:lnTo>
                      <a:pt x="175" y="107"/>
                    </a:lnTo>
                    <a:lnTo>
                      <a:pt x="184" y="101"/>
                    </a:lnTo>
                    <a:lnTo>
                      <a:pt x="195" y="93"/>
                    </a:lnTo>
                    <a:lnTo>
                      <a:pt x="203" y="89"/>
                    </a:lnTo>
                    <a:lnTo>
                      <a:pt x="211" y="81"/>
                    </a:lnTo>
                    <a:lnTo>
                      <a:pt x="218" y="75"/>
                    </a:lnTo>
                    <a:lnTo>
                      <a:pt x="224" y="66"/>
                    </a:lnTo>
                    <a:lnTo>
                      <a:pt x="227" y="59"/>
                    </a:lnTo>
                    <a:lnTo>
                      <a:pt x="230" y="51"/>
                    </a:lnTo>
                    <a:lnTo>
                      <a:pt x="233" y="46"/>
                    </a:lnTo>
                    <a:lnTo>
                      <a:pt x="233" y="52"/>
                    </a:lnTo>
                    <a:lnTo>
                      <a:pt x="233" y="56"/>
                    </a:lnTo>
                    <a:lnTo>
                      <a:pt x="231" y="61"/>
                    </a:lnTo>
                    <a:lnTo>
                      <a:pt x="227" y="67"/>
                    </a:lnTo>
                    <a:lnTo>
                      <a:pt x="220" y="76"/>
                    </a:lnTo>
                    <a:lnTo>
                      <a:pt x="217" y="83"/>
                    </a:lnTo>
                    <a:lnTo>
                      <a:pt x="210" y="88"/>
                    </a:lnTo>
                    <a:lnTo>
                      <a:pt x="202" y="94"/>
                    </a:lnTo>
                    <a:lnTo>
                      <a:pt x="192" y="101"/>
                    </a:lnTo>
                    <a:lnTo>
                      <a:pt x="183" y="109"/>
                    </a:lnTo>
                    <a:lnTo>
                      <a:pt x="173" y="116"/>
                    </a:lnTo>
                    <a:lnTo>
                      <a:pt x="167" y="122"/>
                    </a:lnTo>
                    <a:lnTo>
                      <a:pt x="159" y="129"/>
                    </a:lnTo>
                    <a:lnTo>
                      <a:pt x="151" y="133"/>
                    </a:lnTo>
                    <a:lnTo>
                      <a:pt x="142" y="138"/>
                    </a:lnTo>
                    <a:lnTo>
                      <a:pt x="133" y="143"/>
                    </a:lnTo>
                    <a:lnTo>
                      <a:pt x="125" y="148"/>
                    </a:lnTo>
                    <a:lnTo>
                      <a:pt x="118" y="152"/>
                    </a:lnTo>
                    <a:lnTo>
                      <a:pt x="109" y="156"/>
                    </a:lnTo>
                    <a:lnTo>
                      <a:pt x="102" y="159"/>
                    </a:lnTo>
                    <a:lnTo>
                      <a:pt x="100" y="161"/>
                    </a:lnTo>
                    <a:lnTo>
                      <a:pt x="102" y="165"/>
                    </a:lnTo>
                    <a:lnTo>
                      <a:pt x="106" y="170"/>
                    </a:lnTo>
                    <a:lnTo>
                      <a:pt x="110" y="176"/>
                    </a:lnTo>
                    <a:lnTo>
                      <a:pt x="119" y="178"/>
                    </a:lnTo>
                    <a:lnTo>
                      <a:pt x="125" y="178"/>
                    </a:lnTo>
                    <a:lnTo>
                      <a:pt x="135" y="180"/>
                    </a:lnTo>
                    <a:lnTo>
                      <a:pt x="144" y="180"/>
                    </a:lnTo>
                    <a:lnTo>
                      <a:pt x="155" y="180"/>
                    </a:lnTo>
                    <a:lnTo>
                      <a:pt x="165" y="182"/>
                    </a:lnTo>
                    <a:lnTo>
                      <a:pt x="175" y="182"/>
                    </a:lnTo>
                    <a:lnTo>
                      <a:pt x="185" y="184"/>
                    </a:lnTo>
                    <a:lnTo>
                      <a:pt x="193" y="185"/>
                    </a:lnTo>
                    <a:lnTo>
                      <a:pt x="202" y="187"/>
                    </a:lnTo>
                    <a:lnTo>
                      <a:pt x="208" y="189"/>
                    </a:lnTo>
                    <a:lnTo>
                      <a:pt x="215" y="193"/>
                    </a:lnTo>
                    <a:lnTo>
                      <a:pt x="221" y="196"/>
                    </a:lnTo>
                    <a:lnTo>
                      <a:pt x="229" y="200"/>
                    </a:lnTo>
                    <a:lnTo>
                      <a:pt x="239" y="204"/>
                    </a:lnTo>
                    <a:lnTo>
                      <a:pt x="249" y="208"/>
                    </a:lnTo>
                    <a:lnTo>
                      <a:pt x="256" y="211"/>
                    </a:lnTo>
                    <a:lnTo>
                      <a:pt x="265" y="214"/>
                    </a:lnTo>
                    <a:lnTo>
                      <a:pt x="258" y="215"/>
                    </a:lnTo>
                    <a:lnTo>
                      <a:pt x="251" y="215"/>
                    </a:lnTo>
                    <a:lnTo>
                      <a:pt x="244" y="213"/>
                    </a:lnTo>
                    <a:lnTo>
                      <a:pt x="236" y="211"/>
                    </a:lnTo>
                    <a:lnTo>
                      <a:pt x="226" y="207"/>
                    </a:lnTo>
                    <a:lnTo>
                      <a:pt x="219" y="206"/>
                    </a:lnTo>
                    <a:lnTo>
                      <a:pt x="213" y="204"/>
                    </a:lnTo>
                    <a:lnTo>
                      <a:pt x="204" y="202"/>
                    </a:lnTo>
                    <a:lnTo>
                      <a:pt x="195" y="201"/>
                    </a:lnTo>
                    <a:lnTo>
                      <a:pt x="184" y="200"/>
                    </a:lnTo>
                    <a:lnTo>
                      <a:pt x="173" y="199"/>
                    </a:lnTo>
                    <a:lnTo>
                      <a:pt x="162" y="198"/>
                    </a:lnTo>
                    <a:lnTo>
                      <a:pt x="152" y="198"/>
                    </a:lnTo>
                    <a:lnTo>
                      <a:pt x="142" y="198"/>
                    </a:lnTo>
                    <a:lnTo>
                      <a:pt x="134" y="197"/>
                    </a:lnTo>
                    <a:lnTo>
                      <a:pt x="124" y="197"/>
                    </a:lnTo>
                    <a:lnTo>
                      <a:pt x="114" y="195"/>
                    </a:lnTo>
                    <a:lnTo>
                      <a:pt x="102" y="192"/>
                    </a:lnTo>
                    <a:lnTo>
                      <a:pt x="92" y="189"/>
                    </a:lnTo>
                    <a:lnTo>
                      <a:pt x="80" y="188"/>
                    </a:lnTo>
                    <a:lnTo>
                      <a:pt x="84" y="195"/>
                    </a:lnTo>
                    <a:lnTo>
                      <a:pt x="88" y="203"/>
                    </a:lnTo>
                    <a:lnTo>
                      <a:pt x="93" y="215"/>
                    </a:lnTo>
                    <a:lnTo>
                      <a:pt x="94" y="223"/>
                    </a:lnTo>
                    <a:lnTo>
                      <a:pt x="95" y="233"/>
                    </a:lnTo>
                    <a:lnTo>
                      <a:pt x="94" y="241"/>
                    </a:lnTo>
                    <a:lnTo>
                      <a:pt x="93" y="248"/>
                    </a:lnTo>
                    <a:lnTo>
                      <a:pt x="93" y="259"/>
                    </a:lnTo>
                    <a:lnTo>
                      <a:pt x="92" y="273"/>
                    </a:lnTo>
                    <a:lnTo>
                      <a:pt x="92" y="285"/>
                    </a:lnTo>
                    <a:lnTo>
                      <a:pt x="93" y="297"/>
                    </a:lnTo>
                    <a:lnTo>
                      <a:pt x="93" y="307"/>
                    </a:lnTo>
                    <a:lnTo>
                      <a:pt x="92" y="316"/>
                    </a:lnTo>
                    <a:lnTo>
                      <a:pt x="89" y="326"/>
                    </a:lnTo>
                    <a:lnTo>
                      <a:pt x="85" y="338"/>
                    </a:lnTo>
                    <a:lnTo>
                      <a:pt x="82" y="346"/>
                    </a:lnTo>
                    <a:lnTo>
                      <a:pt x="77" y="354"/>
                    </a:lnTo>
                    <a:lnTo>
                      <a:pt x="73" y="363"/>
                    </a:lnTo>
                    <a:lnTo>
                      <a:pt x="69" y="369"/>
                    </a:lnTo>
                    <a:lnTo>
                      <a:pt x="62" y="376"/>
                    </a:lnTo>
                    <a:lnTo>
                      <a:pt x="53" y="382"/>
                    </a:lnTo>
                    <a:lnTo>
                      <a:pt x="46" y="390"/>
                    </a:lnTo>
                    <a:lnTo>
                      <a:pt x="45" y="382"/>
                    </a:lnTo>
                    <a:lnTo>
                      <a:pt x="46" y="372"/>
                    </a:lnTo>
                    <a:lnTo>
                      <a:pt x="47" y="362"/>
                    </a:lnTo>
                    <a:lnTo>
                      <a:pt x="48" y="353"/>
                    </a:lnTo>
                    <a:lnTo>
                      <a:pt x="50" y="346"/>
                    </a:lnTo>
                    <a:lnTo>
                      <a:pt x="53" y="337"/>
                    </a:lnTo>
                    <a:lnTo>
                      <a:pt x="56" y="328"/>
                    </a:lnTo>
                    <a:lnTo>
                      <a:pt x="58" y="320"/>
                    </a:lnTo>
                    <a:lnTo>
                      <a:pt x="59" y="313"/>
                    </a:lnTo>
                    <a:lnTo>
                      <a:pt x="61" y="299"/>
                    </a:lnTo>
                    <a:lnTo>
                      <a:pt x="62" y="285"/>
                    </a:lnTo>
                    <a:lnTo>
                      <a:pt x="63" y="273"/>
                    </a:lnTo>
                    <a:lnTo>
                      <a:pt x="65" y="260"/>
                    </a:lnTo>
                    <a:lnTo>
                      <a:pt x="67" y="247"/>
                    </a:lnTo>
                    <a:lnTo>
                      <a:pt x="67" y="238"/>
                    </a:lnTo>
                    <a:lnTo>
                      <a:pt x="67" y="231"/>
                    </a:lnTo>
                    <a:lnTo>
                      <a:pt x="68" y="222"/>
                    </a:lnTo>
                    <a:lnTo>
                      <a:pt x="67" y="212"/>
                    </a:lnTo>
                    <a:lnTo>
                      <a:pt x="66" y="206"/>
                    </a:lnTo>
                    <a:lnTo>
                      <a:pt x="64" y="198"/>
                    </a:lnTo>
                    <a:lnTo>
                      <a:pt x="62" y="187"/>
                    </a:lnTo>
                    <a:lnTo>
                      <a:pt x="58" y="195"/>
                    </a:lnTo>
                    <a:lnTo>
                      <a:pt x="54" y="203"/>
                    </a:lnTo>
                    <a:lnTo>
                      <a:pt x="50" y="212"/>
                    </a:lnTo>
                    <a:lnTo>
                      <a:pt x="48" y="221"/>
                    </a:lnTo>
                    <a:lnTo>
                      <a:pt x="46" y="232"/>
                    </a:lnTo>
                    <a:lnTo>
                      <a:pt x="44" y="239"/>
                    </a:lnTo>
                    <a:lnTo>
                      <a:pt x="43" y="249"/>
                    </a:lnTo>
                    <a:lnTo>
                      <a:pt x="41" y="260"/>
                    </a:lnTo>
                    <a:lnTo>
                      <a:pt x="39" y="273"/>
                    </a:lnTo>
                    <a:lnTo>
                      <a:pt x="38" y="283"/>
                    </a:lnTo>
                    <a:lnTo>
                      <a:pt x="37" y="295"/>
                    </a:lnTo>
                    <a:lnTo>
                      <a:pt x="36" y="305"/>
                    </a:lnTo>
                    <a:lnTo>
                      <a:pt x="33" y="315"/>
                    </a:lnTo>
                    <a:lnTo>
                      <a:pt x="32" y="325"/>
                    </a:lnTo>
                    <a:lnTo>
                      <a:pt x="30" y="333"/>
                    </a:lnTo>
                    <a:lnTo>
                      <a:pt x="26" y="340"/>
                    </a:lnTo>
                    <a:lnTo>
                      <a:pt x="21" y="348"/>
                    </a:lnTo>
                    <a:lnTo>
                      <a:pt x="15" y="356"/>
                    </a:lnTo>
                    <a:lnTo>
                      <a:pt x="10" y="364"/>
                    </a:lnTo>
                    <a:lnTo>
                      <a:pt x="5" y="368"/>
                    </a:lnTo>
                    <a:lnTo>
                      <a:pt x="2" y="364"/>
                    </a:lnTo>
                    <a:lnTo>
                      <a:pt x="2" y="344"/>
                    </a:lnTo>
                    <a:lnTo>
                      <a:pt x="2" y="364"/>
                    </a:lnTo>
                    <a:lnTo>
                      <a:pt x="2" y="344"/>
                    </a:lnTo>
                    <a:lnTo>
                      <a:pt x="2" y="324"/>
                    </a:lnTo>
                    <a:lnTo>
                      <a:pt x="5" y="316"/>
                    </a:lnTo>
                    <a:lnTo>
                      <a:pt x="9" y="306"/>
                    </a:lnTo>
                    <a:lnTo>
                      <a:pt x="13" y="297"/>
                    </a:lnTo>
                    <a:lnTo>
                      <a:pt x="17" y="287"/>
                    </a:lnTo>
                    <a:lnTo>
                      <a:pt x="21" y="278"/>
                    </a:lnTo>
                    <a:lnTo>
                      <a:pt x="25" y="268"/>
                    </a:lnTo>
                    <a:lnTo>
                      <a:pt x="28" y="259"/>
                    </a:lnTo>
                    <a:lnTo>
                      <a:pt x="31" y="249"/>
                    </a:lnTo>
                    <a:lnTo>
                      <a:pt x="34" y="239"/>
                    </a:lnTo>
                    <a:lnTo>
                      <a:pt x="36" y="233"/>
                    </a:lnTo>
                    <a:lnTo>
                      <a:pt x="38" y="225"/>
                    </a:lnTo>
                    <a:lnTo>
                      <a:pt x="41" y="216"/>
                    </a:lnTo>
                    <a:lnTo>
                      <a:pt x="44" y="210"/>
                    </a:lnTo>
                    <a:lnTo>
                      <a:pt x="42" y="204"/>
                    </a:lnTo>
                    <a:lnTo>
                      <a:pt x="41" y="197"/>
                    </a:lnTo>
                    <a:lnTo>
                      <a:pt x="42" y="192"/>
                    </a:lnTo>
                    <a:lnTo>
                      <a:pt x="43" y="185"/>
                    </a:lnTo>
                    <a:lnTo>
                      <a:pt x="36" y="184"/>
                    </a:lnTo>
                    <a:lnTo>
                      <a:pt x="26" y="182"/>
                    </a:lnTo>
                    <a:lnTo>
                      <a:pt x="18" y="187"/>
                    </a:lnTo>
                    <a:lnTo>
                      <a:pt x="11" y="191"/>
                    </a:lnTo>
                    <a:lnTo>
                      <a:pt x="3" y="195"/>
                    </a:lnTo>
                    <a:lnTo>
                      <a:pt x="2" y="184"/>
                    </a:lnTo>
                    <a:lnTo>
                      <a:pt x="2" y="164"/>
                    </a:lnTo>
                    <a:lnTo>
                      <a:pt x="2" y="184"/>
                    </a:lnTo>
                    <a:lnTo>
                      <a:pt x="2" y="164"/>
                    </a:lnTo>
                    <a:lnTo>
                      <a:pt x="5" y="164"/>
                    </a:lnTo>
                    <a:lnTo>
                      <a:pt x="13" y="161"/>
                    </a:lnTo>
                    <a:lnTo>
                      <a:pt x="15" y="156"/>
                    </a:lnTo>
                    <a:lnTo>
                      <a:pt x="17" y="151"/>
                    </a:lnTo>
                    <a:lnTo>
                      <a:pt x="19" y="146"/>
                    </a:lnTo>
                    <a:lnTo>
                      <a:pt x="18" y="144"/>
                    </a:lnTo>
                    <a:lnTo>
                      <a:pt x="13" y="138"/>
                    </a:lnTo>
                    <a:lnTo>
                      <a:pt x="6" y="132"/>
                    </a:lnTo>
                    <a:lnTo>
                      <a:pt x="0" y="125"/>
                    </a:lnTo>
                    <a:lnTo>
                      <a:pt x="2" y="124"/>
                    </a:lnTo>
                    <a:lnTo>
                      <a:pt x="2" y="105"/>
                    </a:lnTo>
                    <a:lnTo>
                      <a:pt x="1" y="103"/>
                    </a:lnTo>
                    <a:lnTo>
                      <a:pt x="11" y="110"/>
                    </a:lnTo>
                    <a:lnTo>
                      <a:pt x="19" y="117"/>
                    </a:lnTo>
                    <a:lnTo>
                      <a:pt x="24" y="122"/>
                    </a:lnTo>
                    <a:lnTo>
                      <a:pt x="28" y="128"/>
                    </a:lnTo>
                    <a:lnTo>
                      <a:pt x="35" y="137"/>
                    </a:lnTo>
                    <a:lnTo>
                      <a:pt x="40" y="143"/>
                    </a:lnTo>
                    <a:lnTo>
                      <a:pt x="46" y="150"/>
                    </a:lnTo>
                    <a:lnTo>
                      <a:pt x="53" y="157"/>
                    </a:lnTo>
                    <a:lnTo>
                      <a:pt x="55" y="155"/>
                    </a:lnTo>
                    <a:lnTo>
                      <a:pt x="59" y="148"/>
                    </a:lnTo>
                    <a:lnTo>
                      <a:pt x="62" y="143"/>
                    </a:lnTo>
                    <a:lnTo>
                      <a:pt x="60" y="138"/>
                    </a:lnTo>
                    <a:lnTo>
                      <a:pt x="55" y="130"/>
                    </a:lnTo>
                    <a:lnTo>
                      <a:pt x="51" y="123"/>
                    </a:lnTo>
                    <a:lnTo>
                      <a:pt x="46" y="115"/>
                    </a:lnTo>
                    <a:lnTo>
                      <a:pt x="40" y="109"/>
                    </a:lnTo>
                    <a:lnTo>
                      <a:pt x="31" y="100"/>
                    </a:lnTo>
                    <a:lnTo>
                      <a:pt x="24" y="91"/>
                    </a:lnTo>
                    <a:lnTo>
                      <a:pt x="17" y="84"/>
                    </a:lnTo>
                    <a:lnTo>
                      <a:pt x="12" y="78"/>
                    </a:lnTo>
                    <a:lnTo>
                      <a:pt x="6" y="70"/>
                    </a:lnTo>
                    <a:lnTo>
                      <a:pt x="2" y="65"/>
                    </a:lnTo>
                    <a:lnTo>
                      <a:pt x="2" y="44"/>
                    </a:lnTo>
                    <a:lnTo>
                      <a:pt x="2" y="65"/>
                    </a:lnTo>
                    <a:lnTo>
                      <a:pt x="2" y="44"/>
                    </a:lnTo>
                    <a:lnTo>
                      <a:pt x="2" y="53"/>
                    </a:lnTo>
                    <a:lnTo>
                      <a:pt x="2" y="48"/>
                    </a:lnTo>
                    <a:lnTo>
                      <a:pt x="4" y="55"/>
                    </a:lnTo>
                    <a:lnTo>
                      <a:pt x="11" y="63"/>
                    </a:lnTo>
                    <a:lnTo>
                      <a:pt x="17" y="70"/>
                    </a:lnTo>
                    <a:lnTo>
                      <a:pt x="25" y="80"/>
                    </a:lnTo>
                    <a:lnTo>
                      <a:pt x="30" y="87"/>
                    </a:lnTo>
                    <a:lnTo>
                      <a:pt x="37" y="95"/>
                    </a:lnTo>
                    <a:lnTo>
                      <a:pt x="43" y="106"/>
                    </a:lnTo>
                    <a:lnTo>
                      <a:pt x="48" y="115"/>
                    </a:lnTo>
                    <a:lnTo>
                      <a:pt x="54" y="124"/>
                    </a:lnTo>
                    <a:lnTo>
                      <a:pt x="61" y="138"/>
                    </a:lnTo>
                    <a:lnTo>
                      <a:pt x="64" y="146"/>
                    </a:lnTo>
                    <a:lnTo>
                      <a:pt x="66" y="151"/>
                    </a:lnTo>
                    <a:lnTo>
                      <a:pt x="70" y="143"/>
                    </a:lnTo>
                    <a:lnTo>
                      <a:pt x="75" y="135"/>
                    </a:lnTo>
                    <a:lnTo>
                      <a:pt x="80" y="127"/>
                    </a:lnTo>
                    <a:lnTo>
                      <a:pt x="85" y="118"/>
                    </a:lnTo>
                    <a:lnTo>
                      <a:pt x="90" y="110"/>
                    </a:lnTo>
                    <a:lnTo>
                      <a:pt x="94" y="103"/>
                    </a:lnTo>
                    <a:lnTo>
                      <a:pt x="100" y="96"/>
                    </a:lnTo>
                    <a:lnTo>
                      <a:pt x="106" y="87"/>
                    </a:lnTo>
                    <a:lnTo>
                      <a:pt x="113" y="78"/>
                    </a:lnTo>
                    <a:lnTo>
                      <a:pt x="120" y="68"/>
                    </a:lnTo>
                    <a:lnTo>
                      <a:pt x="127" y="58"/>
                    </a:lnTo>
                    <a:lnTo>
                      <a:pt x="132" y="50"/>
                    </a:lnTo>
                    <a:lnTo>
                      <a:pt x="139" y="39"/>
                    </a:lnTo>
                    <a:lnTo>
                      <a:pt x="144" y="33"/>
                    </a:lnTo>
                    <a:lnTo>
                      <a:pt x="150" y="26"/>
                    </a:lnTo>
                    <a:lnTo>
                      <a:pt x="156" y="21"/>
                    </a:lnTo>
                    <a:lnTo>
                      <a:pt x="161" y="15"/>
                    </a:lnTo>
                    <a:lnTo>
                      <a:pt x="165" y="6"/>
                    </a:lnTo>
                    <a:lnTo>
                      <a:pt x="170" y="0"/>
                    </a:lnTo>
                    <a:lnTo>
                      <a:pt x="169" y="5"/>
                    </a:lnTo>
                    <a:lnTo>
                      <a:pt x="168" y="13"/>
                    </a:lnTo>
                    <a:lnTo>
                      <a:pt x="166" y="21"/>
                    </a:lnTo>
                    <a:lnTo>
                      <a:pt x="163" y="29"/>
                    </a:lnTo>
                    <a:lnTo>
                      <a:pt x="159" y="37"/>
                    </a:lnTo>
                    <a:lnTo>
                      <a:pt x="153" y="47"/>
                    </a:lnTo>
                    <a:lnTo>
                      <a:pt x="148" y="56"/>
                    </a:lnTo>
                    <a:lnTo>
                      <a:pt x="143" y="67"/>
                    </a:lnTo>
                    <a:lnTo>
                      <a:pt x="137" y="76"/>
                    </a:lnTo>
                    <a:lnTo>
                      <a:pt x="130" y="87"/>
                    </a:lnTo>
                    <a:lnTo>
                      <a:pt x="124" y="95"/>
                    </a:lnTo>
                  </a:path>
                </a:pathLst>
              </a:custGeom>
              <a:solidFill>
                <a:srgbClr val="037C03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62" name="Group 15">
                <a:extLst>
                  <a:ext uri="{FF2B5EF4-FFF2-40B4-BE49-F238E27FC236}">
                    <a16:creationId xmlns:a16="http://schemas.microsoft.com/office/drawing/2014/main" id="{83FE301B-7474-4106-B057-F21A8B590D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7" y="1466"/>
                <a:ext cx="484" cy="368"/>
                <a:chOff x="1707" y="1466"/>
                <a:chExt cx="484" cy="368"/>
              </a:xfrm>
            </p:grpSpPr>
            <p:sp>
              <p:nvSpPr>
                <p:cNvPr id="1064" name="Freeform 16">
                  <a:extLst>
                    <a:ext uri="{FF2B5EF4-FFF2-40B4-BE49-F238E27FC236}">
                      <a16:creationId xmlns:a16="http://schemas.microsoft.com/office/drawing/2014/main" id="{167645EA-5855-4C37-9060-C51CDDAE7E21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751" y="1466"/>
                  <a:ext cx="440" cy="345"/>
                </a:xfrm>
                <a:custGeom>
                  <a:avLst/>
                  <a:gdLst>
                    <a:gd name="T0" fmla="*/ 167 w 440"/>
                    <a:gd name="T1" fmla="*/ 42 h 342"/>
                    <a:gd name="T2" fmla="*/ 202 w 440"/>
                    <a:gd name="T3" fmla="*/ 14 h 342"/>
                    <a:gd name="T4" fmla="*/ 245 w 440"/>
                    <a:gd name="T5" fmla="*/ 3 h 342"/>
                    <a:gd name="T6" fmla="*/ 292 w 440"/>
                    <a:gd name="T7" fmla="*/ 2 h 342"/>
                    <a:gd name="T8" fmla="*/ 304 w 440"/>
                    <a:gd name="T9" fmla="*/ 7 h 342"/>
                    <a:gd name="T10" fmla="*/ 272 w 440"/>
                    <a:gd name="T11" fmla="*/ 15 h 342"/>
                    <a:gd name="T12" fmla="*/ 236 w 440"/>
                    <a:gd name="T13" fmla="*/ 26 h 342"/>
                    <a:gd name="T14" fmla="*/ 195 w 440"/>
                    <a:gd name="T15" fmla="*/ 55 h 342"/>
                    <a:gd name="T16" fmla="*/ 191 w 440"/>
                    <a:gd name="T17" fmla="*/ 118 h 342"/>
                    <a:gd name="T18" fmla="*/ 252 w 440"/>
                    <a:gd name="T19" fmla="*/ 94 h 342"/>
                    <a:gd name="T20" fmla="*/ 301 w 440"/>
                    <a:gd name="T21" fmla="*/ 91 h 342"/>
                    <a:gd name="T22" fmla="*/ 354 w 440"/>
                    <a:gd name="T23" fmla="*/ 96 h 342"/>
                    <a:gd name="T24" fmla="*/ 416 w 440"/>
                    <a:gd name="T25" fmla="*/ 103 h 342"/>
                    <a:gd name="T26" fmla="*/ 417 w 440"/>
                    <a:gd name="T27" fmla="*/ 104 h 342"/>
                    <a:gd name="T28" fmla="*/ 357 w 440"/>
                    <a:gd name="T29" fmla="*/ 107 h 342"/>
                    <a:gd name="T30" fmla="*/ 302 w 440"/>
                    <a:gd name="T31" fmla="*/ 108 h 342"/>
                    <a:gd name="T32" fmla="*/ 254 w 440"/>
                    <a:gd name="T33" fmla="*/ 114 h 342"/>
                    <a:gd name="T34" fmla="*/ 200 w 440"/>
                    <a:gd name="T35" fmla="*/ 127 h 342"/>
                    <a:gd name="T36" fmla="*/ 222 w 440"/>
                    <a:gd name="T37" fmla="*/ 147 h 342"/>
                    <a:gd name="T38" fmla="*/ 238 w 440"/>
                    <a:gd name="T39" fmla="*/ 166 h 342"/>
                    <a:gd name="T40" fmla="*/ 184 w 440"/>
                    <a:gd name="T41" fmla="*/ 149 h 342"/>
                    <a:gd name="T42" fmla="*/ 173 w 440"/>
                    <a:gd name="T43" fmla="*/ 160 h 342"/>
                    <a:gd name="T44" fmla="*/ 232 w 440"/>
                    <a:gd name="T45" fmla="*/ 169 h 342"/>
                    <a:gd name="T46" fmla="*/ 282 w 440"/>
                    <a:gd name="T47" fmla="*/ 191 h 342"/>
                    <a:gd name="T48" fmla="*/ 321 w 440"/>
                    <a:gd name="T49" fmla="*/ 238 h 342"/>
                    <a:gd name="T50" fmla="*/ 351 w 440"/>
                    <a:gd name="T51" fmla="*/ 282 h 342"/>
                    <a:gd name="T52" fmla="*/ 344 w 440"/>
                    <a:gd name="T53" fmla="*/ 292 h 342"/>
                    <a:gd name="T54" fmla="*/ 304 w 440"/>
                    <a:gd name="T55" fmla="*/ 262 h 342"/>
                    <a:gd name="T56" fmla="*/ 259 w 440"/>
                    <a:gd name="T57" fmla="*/ 231 h 342"/>
                    <a:gd name="T58" fmla="*/ 211 w 440"/>
                    <a:gd name="T59" fmla="*/ 201 h 342"/>
                    <a:gd name="T60" fmla="*/ 180 w 440"/>
                    <a:gd name="T61" fmla="*/ 187 h 342"/>
                    <a:gd name="T62" fmla="*/ 206 w 440"/>
                    <a:gd name="T63" fmla="*/ 237 h 342"/>
                    <a:gd name="T64" fmla="*/ 238 w 440"/>
                    <a:gd name="T65" fmla="*/ 282 h 342"/>
                    <a:gd name="T66" fmla="*/ 256 w 440"/>
                    <a:gd name="T67" fmla="*/ 342 h 342"/>
                    <a:gd name="T68" fmla="*/ 255 w 440"/>
                    <a:gd name="T69" fmla="*/ 385 h 342"/>
                    <a:gd name="T70" fmla="*/ 232 w 440"/>
                    <a:gd name="T71" fmla="*/ 336 h 342"/>
                    <a:gd name="T72" fmla="*/ 208 w 440"/>
                    <a:gd name="T73" fmla="*/ 274 h 342"/>
                    <a:gd name="T74" fmla="*/ 181 w 440"/>
                    <a:gd name="T75" fmla="*/ 233 h 342"/>
                    <a:gd name="T76" fmla="*/ 157 w 440"/>
                    <a:gd name="T77" fmla="*/ 175 h 342"/>
                    <a:gd name="T78" fmla="*/ 115 w 440"/>
                    <a:gd name="T79" fmla="*/ 217 h 342"/>
                    <a:gd name="T80" fmla="*/ 80 w 440"/>
                    <a:gd name="T81" fmla="*/ 269 h 342"/>
                    <a:gd name="T82" fmla="*/ 51 w 440"/>
                    <a:gd name="T83" fmla="*/ 339 h 342"/>
                    <a:gd name="T84" fmla="*/ 18 w 440"/>
                    <a:gd name="T85" fmla="*/ 393 h 342"/>
                    <a:gd name="T86" fmla="*/ 8 w 440"/>
                    <a:gd name="T87" fmla="*/ 387 h 342"/>
                    <a:gd name="T88" fmla="*/ 47 w 440"/>
                    <a:gd name="T89" fmla="*/ 312 h 342"/>
                    <a:gd name="T90" fmla="*/ 82 w 440"/>
                    <a:gd name="T91" fmla="*/ 256 h 342"/>
                    <a:gd name="T92" fmla="*/ 112 w 440"/>
                    <a:gd name="T93" fmla="*/ 201 h 342"/>
                    <a:gd name="T94" fmla="*/ 139 w 440"/>
                    <a:gd name="T95" fmla="*/ 150 h 342"/>
                    <a:gd name="T96" fmla="*/ 99 w 440"/>
                    <a:gd name="T97" fmla="*/ 107 h 342"/>
                    <a:gd name="T98" fmla="*/ 43 w 440"/>
                    <a:gd name="T99" fmla="*/ 84 h 342"/>
                    <a:gd name="T100" fmla="*/ 20 w 440"/>
                    <a:gd name="T101" fmla="*/ 47 h 342"/>
                    <a:gd name="T102" fmla="*/ 63 w 440"/>
                    <a:gd name="T103" fmla="*/ 85 h 342"/>
                    <a:gd name="T104" fmla="*/ 122 w 440"/>
                    <a:gd name="T105" fmla="*/ 114 h 342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</a:gdLst>
                  <a:ahLst/>
                  <a:cxnLst>
                    <a:cxn ang="T106">
                      <a:pos x="T0" y="T1"/>
                    </a:cxn>
                    <a:cxn ang="T107">
                      <a:pos x="T2" y="T3"/>
                    </a:cxn>
                    <a:cxn ang="T108">
                      <a:pos x="T4" y="T5"/>
                    </a:cxn>
                    <a:cxn ang="T109">
                      <a:pos x="T6" y="T7"/>
                    </a:cxn>
                    <a:cxn ang="T110">
                      <a:pos x="T8" y="T9"/>
                    </a:cxn>
                    <a:cxn ang="T111">
                      <a:pos x="T10" y="T11"/>
                    </a:cxn>
                    <a:cxn ang="T112">
                      <a:pos x="T12" y="T13"/>
                    </a:cxn>
                    <a:cxn ang="T113">
                      <a:pos x="T14" y="T15"/>
                    </a:cxn>
                    <a:cxn ang="T114">
                      <a:pos x="T16" y="T17"/>
                    </a:cxn>
                    <a:cxn ang="T115">
                      <a:pos x="T18" y="T19"/>
                    </a:cxn>
                    <a:cxn ang="T116">
                      <a:pos x="T20" y="T21"/>
                    </a:cxn>
                    <a:cxn ang="T117">
                      <a:pos x="T22" y="T23"/>
                    </a:cxn>
                    <a:cxn ang="T118">
                      <a:pos x="T24" y="T25"/>
                    </a:cxn>
                    <a:cxn ang="T119">
                      <a:pos x="T26" y="T27"/>
                    </a:cxn>
                    <a:cxn ang="T120">
                      <a:pos x="T28" y="T29"/>
                    </a:cxn>
                    <a:cxn ang="T121">
                      <a:pos x="T30" y="T31"/>
                    </a:cxn>
                    <a:cxn ang="T122">
                      <a:pos x="T32" y="T33"/>
                    </a:cxn>
                    <a:cxn ang="T123">
                      <a:pos x="T34" y="T35"/>
                    </a:cxn>
                    <a:cxn ang="T124">
                      <a:pos x="T36" y="T37"/>
                    </a:cxn>
                    <a:cxn ang="T125">
                      <a:pos x="T38" y="T39"/>
                    </a:cxn>
                    <a:cxn ang="T126">
                      <a:pos x="T40" y="T41"/>
                    </a:cxn>
                    <a:cxn ang="T127">
                      <a:pos x="T42" y="T43"/>
                    </a:cxn>
                    <a:cxn ang="T128">
                      <a:pos x="T44" y="T45"/>
                    </a:cxn>
                    <a:cxn ang="T129">
                      <a:pos x="T46" y="T47"/>
                    </a:cxn>
                    <a:cxn ang="T130">
                      <a:pos x="T48" y="T49"/>
                    </a:cxn>
                    <a:cxn ang="T131">
                      <a:pos x="T50" y="T51"/>
                    </a:cxn>
                    <a:cxn ang="T132">
                      <a:pos x="T52" y="T53"/>
                    </a:cxn>
                    <a:cxn ang="T133">
                      <a:pos x="T54" y="T55"/>
                    </a:cxn>
                    <a:cxn ang="T134">
                      <a:pos x="T56" y="T57"/>
                    </a:cxn>
                    <a:cxn ang="T135">
                      <a:pos x="T58" y="T59"/>
                    </a:cxn>
                    <a:cxn ang="T136">
                      <a:pos x="T60" y="T61"/>
                    </a:cxn>
                    <a:cxn ang="T137">
                      <a:pos x="T62" y="T63"/>
                    </a:cxn>
                    <a:cxn ang="T138">
                      <a:pos x="T64" y="T65"/>
                    </a:cxn>
                    <a:cxn ang="T139">
                      <a:pos x="T66" y="T67"/>
                    </a:cxn>
                    <a:cxn ang="T140">
                      <a:pos x="T68" y="T69"/>
                    </a:cxn>
                    <a:cxn ang="T141">
                      <a:pos x="T70" y="T71"/>
                    </a:cxn>
                    <a:cxn ang="T142">
                      <a:pos x="T72" y="T73"/>
                    </a:cxn>
                    <a:cxn ang="T143">
                      <a:pos x="T74" y="T75"/>
                    </a:cxn>
                    <a:cxn ang="T144">
                      <a:pos x="T76" y="T77"/>
                    </a:cxn>
                    <a:cxn ang="T145">
                      <a:pos x="T78" y="T79"/>
                    </a:cxn>
                    <a:cxn ang="T146">
                      <a:pos x="T80" y="T81"/>
                    </a:cxn>
                    <a:cxn ang="T147">
                      <a:pos x="T82" y="T83"/>
                    </a:cxn>
                    <a:cxn ang="T148">
                      <a:pos x="T84" y="T85"/>
                    </a:cxn>
                    <a:cxn ang="T149">
                      <a:pos x="T86" y="T87"/>
                    </a:cxn>
                    <a:cxn ang="T150">
                      <a:pos x="T88" y="T89"/>
                    </a:cxn>
                    <a:cxn ang="T151">
                      <a:pos x="T90" y="T91"/>
                    </a:cxn>
                    <a:cxn ang="T152">
                      <a:pos x="T92" y="T93"/>
                    </a:cxn>
                    <a:cxn ang="T153">
                      <a:pos x="T94" y="T95"/>
                    </a:cxn>
                    <a:cxn ang="T154">
                      <a:pos x="T96" y="T97"/>
                    </a:cxn>
                    <a:cxn ang="T155">
                      <a:pos x="T98" y="T99"/>
                    </a:cxn>
                    <a:cxn ang="T156">
                      <a:pos x="T100" y="T101"/>
                    </a:cxn>
                    <a:cxn ang="T157">
                      <a:pos x="T102" y="T103"/>
                    </a:cxn>
                    <a:cxn ang="T158">
                      <a:pos x="T104" y="T105"/>
                    </a:cxn>
                  </a:cxnLst>
                  <a:rect l="0" t="0" r="r" b="b"/>
                  <a:pathLst>
                    <a:path w="440" h="342">
                      <a:moveTo>
                        <a:pt x="138" y="87"/>
                      </a:moveTo>
                      <a:lnTo>
                        <a:pt x="141" y="78"/>
                      </a:lnTo>
                      <a:lnTo>
                        <a:pt x="146" y="69"/>
                      </a:lnTo>
                      <a:lnTo>
                        <a:pt x="153" y="59"/>
                      </a:lnTo>
                      <a:lnTo>
                        <a:pt x="160" y="51"/>
                      </a:lnTo>
                      <a:lnTo>
                        <a:pt x="167" y="42"/>
                      </a:lnTo>
                      <a:lnTo>
                        <a:pt x="172" y="36"/>
                      </a:lnTo>
                      <a:lnTo>
                        <a:pt x="178" y="31"/>
                      </a:lnTo>
                      <a:lnTo>
                        <a:pt x="184" y="26"/>
                      </a:lnTo>
                      <a:lnTo>
                        <a:pt x="190" y="21"/>
                      </a:lnTo>
                      <a:lnTo>
                        <a:pt x="196" y="17"/>
                      </a:lnTo>
                      <a:lnTo>
                        <a:pt x="202" y="14"/>
                      </a:lnTo>
                      <a:lnTo>
                        <a:pt x="208" y="11"/>
                      </a:lnTo>
                      <a:lnTo>
                        <a:pt x="215" y="8"/>
                      </a:lnTo>
                      <a:lnTo>
                        <a:pt x="222" y="7"/>
                      </a:lnTo>
                      <a:lnTo>
                        <a:pt x="230" y="5"/>
                      </a:lnTo>
                      <a:lnTo>
                        <a:pt x="237" y="3"/>
                      </a:lnTo>
                      <a:lnTo>
                        <a:pt x="245" y="3"/>
                      </a:lnTo>
                      <a:lnTo>
                        <a:pt x="252" y="2"/>
                      </a:lnTo>
                      <a:lnTo>
                        <a:pt x="260" y="2"/>
                      </a:lnTo>
                      <a:lnTo>
                        <a:pt x="270" y="1"/>
                      </a:lnTo>
                      <a:lnTo>
                        <a:pt x="278" y="2"/>
                      </a:lnTo>
                      <a:lnTo>
                        <a:pt x="285" y="2"/>
                      </a:lnTo>
                      <a:lnTo>
                        <a:pt x="292" y="2"/>
                      </a:lnTo>
                      <a:lnTo>
                        <a:pt x="299" y="2"/>
                      </a:lnTo>
                      <a:lnTo>
                        <a:pt x="307" y="1"/>
                      </a:lnTo>
                      <a:lnTo>
                        <a:pt x="314" y="0"/>
                      </a:lnTo>
                      <a:lnTo>
                        <a:pt x="310" y="2"/>
                      </a:lnTo>
                      <a:lnTo>
                        <a:pt x="307" y="4"/>
                      </a:lnTo>
                      <a:lnTo>
                        <a:pt x="304" y="7"/>
                      </a:lnTo>
                      <a:lnTo>
                        <a:pt x="301" y="10"/>
                      </a:lnTo>
                      <a:lnTo>
                        <a:pt x="295" y="10"/>
                      </a:lnTo>
                      <a:lnTo>
                        <a:pt x="288" y="11"/>
                      </a:lnTo>
                      <a:lnTo>
                        <a:pt x="284" y="12"/>
                      </a:lnTo>
                      <a:lnTo>
                        <a:pt x="278" y="13"/>
                      </a:lnTo>
                      <a:lnTo>
                        <a:pt x="272" y="15"/>
                      </a:lnTo>
                      <a:lnTo>
                        <a:pt x="266" y="16"/>
                      </a:lnTo>
                      <a:lnTo>
                        <a:pt x="260" y="17"/>
                      </a:lnTo>
                      <a:lnTo>
                        <a:pt x="254" y="19"/>
                      </a:lnTo>
                      <a:lnTo>
                        <a:pt x="248" y="21"/>
                      </a:lnTo>
                      <a:lnTo>
                        <a:pt x="241" y="23"/>
                      </a:lnTo>
                      <a:lnTo>
                        <a:pt x="236" y="26"/>
                      </a:lnTo>
                      <a:lnTo>
                        <a:pt x="229" y="29"/>
                      </a:lnTo>
                      <a:lnTo>
                        <a:pt x="222" y="32"/>
                      </a:lnTo>
                      <a:lnTo>
                        <a:pt x="215" y="36"/>
                      </a:lnTo>
                      <a:lnTo>
                        <a:pt x="208" y="41"/>
                      </a:lnTo>
                      <a:lnTo>
                        <a:pt x="201" y="47"/>
                      </a:lnTo>
                      <a:lnTo>
                        <a:pt x="195" y="55"/>
                      </a:lnTo>
                      <a:lnTo>
                        <a:pt x="189" y="64"/>
                      </a:lnTo>
                      <a:lnTo>
                        <a:pt x="181" y="77"/>
                      </a:lnTo>
                      <a:lnTo>
                        <a:pt x="175" y="90"/>
                      </a:lnTo>
                      <a:lnTo>
                        <a:pt x="167" y="106"/>
                      </a:lnTo>
                      <a:lnTo>
                        <a:pt x="180" y="99"/>
                      </a:lnTo>
                      <a:lnTo>
                        <a:pt x="191" y="94"/>
                      </a:lnTo>
                      <a:lnTo>
                        <a:pt x="206" y="86"/>
                      </a:lnTo>
                      <a:lnTo>
                        <a:pt x="222" y="78"/>
                      </a:lnTo>
                      <a:lnTo>
                        <a:pt x="229" y="77"/>
                      </a:lnTo>
                      <a:lnTo>
                        <a:pt x="236" y="74"/>
                      </a:lnTo>
                      <a:lnTo>
                        <a:pt x="243" y="72"/>
                      </a:lnTo>
                      <a:lnTo>
                        <a:pt x="252" y="70"/>
                      </a:lnTo>
                      <a:lnTo>
                        <a:pt x="261" y="68"/>
                      </a:lnTo>
                      <a:lnTo>
                        <a:pt x="269" y="68"/>
                      </a:lnTo>
                      <a:lnTo>
                        <a:pt x="275" y="67"/>
                      </a:lnTo>
                      <a:lnTo>
                        <a:pt x="285" y="66"/>
                      </a:lnTo>
                      <a:lnTo>
                        <a:pt x="294" y="66"/>
                      </a:lnTo>
                      <a:lnTo>
                        <a:pt x="301" y="67"/>
                      </a:lnTo>
                      <a:lnTo>
                        <a:pt x="311" y="68"/>
                      </a:lnTo>
                      <a:lnTo>
                        <a:pt x="319" y="69"/>
                      </a:lnTo>
                      <a:lnTo>
                        <a:pt x="328" y="69"/>
                      </a:lnTo>
                      <a:lnTo>
                        <a:pt x="336" y="70"/>
                      </a:lnTo>
                      <a:lnTo>
                        <a:pt x="345" y="71"/>
                      </a:lnTo>
                      <a:lnTo>
                        <a:pt x="354" y="72"/>
                      </a:lnTo>
                      <a:lnTo>
                        <a:pt x="363" y="73"/>
                      </a:lnTo>
                      <a:lnTo>
                        <a:pt x="371" y="74"/>
                      </a:lnTo>
                      <a:lnTo>
                        <a:pt x="381" y="75"/>
                      </a:lnTo>
                      <a:lnTo>
                        <a:pt x="392" y="76"/>
                      </a:lnTo>
                      <a:lnTo>
                        <a:pt x="401" y="77"/>
                      </a:lnTo>
                      <a:lnTo>
                        <a:pt x="416" y="79"/>
                      </a:lnTo>
                      <a:lnTo>
                        <a:pt x="421" y="79"/>
                      </a:lnTo>
                      <a:lnTo>
                        <a:pt x="425" y="79"/>
                      </a:lnTo>
                      <a:lnTo>
                        <a:pt x="430" y="81"/>
                      </a:lnTo>
                      <a:lnTo>
                        <a:pt x="439" y="84"/>
                      </a:lnTo>
                      <a:lnTo>
                        <a:pt x="424" y="81"/>
                      </a:lnTo>
                      <a:lnTo>
                        <a:pt x="417" y="80"/>
                      </a:lnTo>
                      <a:lnTo>
                        <a:pt x="411" y="80"/>
                      </a:lnTo>
                      <a:lnTo>
                        <a:pt x="397" y="81"/>
                      </a:lnTo>
                      <a:lnTo>
                        <a:pt x="388" y="82"/>
                      </a:lnTo>
                      <a:lnTo>
                        <a:pt x="377" y="82"/>
                      </a:lnTo>
                      <a:lnTo>
                        <a:pt x="367" y="82"/>
                      </a:lnTo>
                      <a:lnTo>
                        <a:pt x="357" y="83"/>
                      </a:lnTo>
                      <a:lnTo>
                        <a:pt x="348" y="83"/>
                      </a:lnTo>
                      <a:lnTo>
                        <a:pt x="340" y="82"/>
                      </a:lnTo>
                      <a:lnTo>
                        <a:pt x="330" y="82"/>
                      </a:lnTo>
                      <a:lnTo>
                        <a:pt x="319" y="82"/>
                      </a:lnTo>
                      <a:lnTo>
                        <a:pt x="310" y="83"/>
                      </a:lnTo>
                      <a:lnTo>
                        <a:pt x="302" y="84"/>
                      </a:lnTo>
                      <a:lnTo>
                        <a:pt x="292" y="84"/>
                      </a:lnTo>
                      <a:lnTo>
                        <a:pt x="285" y="84"/>
                      </a:lnTo>
                      <a:lnTo>
                        <a:pt x="276" y="85"/>
                      </a:lnTo>
                      <a:lnTo>
                        <a:pt x="269" y="87"/>
                      </a:lnTo>
                      <a:lnTo>
                        <a:pt x="261" y="88"/>
                      </a:lnTo>
                      <a:lnTo>
                        <a:pt x="254" y="90"/>
                      </a:lnTo>
                      <a:lnTo>
                        <a:pt x="246" y="92"/>
                      </a:lnTo>
                      <a:lnTo>
                        <a:pt x="238" y="94"/>
                      </a:lnTo>
                      <a:lnTo>
                        <a:pt x="229" y="96"/>
                      </a:lnTo>
                      <a:lnTo>
                        <a:pt x="222" y="98"/>
                      </a:lnTo>
                      <a:lnTo>
                        <a:pt x="208" y="102"/>
                      </a:lnTo>
                      <a:lnTo>
                        <a:pt x="200" y="103"/>
                      </a:lnTo>
                      <a:lnTo>
                        <a:pt x="189" y="108"/>
                      </a:lnTo>
                      <a:lnTo>
                        <a:pt x="172" y="115"/>
                      </a:lnTo>
                      <a:lnTo>
                        <a:pt x="189" y="117"/>
                      </a:lnTo>
                      <a:lnTo>
                        <a:pt x="209" y="118"/>
                      </a:lnTo>
                      <a:lnTo>
                        <a:pt x="213" y="118"/>
                      </a:lnTo>
                      <a:lnTo>
                        <a:pt x="222" y="123"/>
                      </a:lnTo>
                      <a:lnTo>
                        <a:pt x="228" y="126"/>
                      </a:lnTo>
                      <a:lnTo>
                        <a:pt x="234" y="129"/>
                      </a:lnTo>
                      <a:lnTo>
                        <a:pt x="235" y="131"/>
                      </a:lnTo>
                      <a:lnTo>
                        <a:pt x="238" y="137"/>
                      </a:lnTo>
                      <a:lnTo>
                        <a:pt x="245" y="146"/>
                      </a:lnTo>
                      <a:lnTo>
                        <a:pt x="238" y="142"/>
                      </a:lnTo>
                      <a:lnTo>
                        <a:pt x="229" y="137"/>
                      </a:lnTo>
                      <a:lnTo>
                        <a:pt x="222" y="135"/>
                      </a:lnTo>
                      <a:lnTo>
                        <a:pt x="209" y="132"/>
                      </a:lnTo>
                      <a:lnTo>
                        <a:pt x="199" y="129"/>
                      </a:lnTo>
                      <a:lnTo>
                        <a:pt x="189" y="126"/>
                      </a:lnTo>
                      <a:lnTo>
                        <a:pt x="184" y="125"/>
                      </a:lnTo>
                      <a:lnTo>
                        <a:pt x="172" y="126"/>
                      </a:lnTo>
                      <a:lnTo>
                        <a:pt x="165" y="127"/>
                      </a:lnTo>
                      <a:lnTo>
                        <a:pt x="155" y="129"/>
                      </a:lnTo>
                      <a:lnTo>
                        <a:pt x="160" y="131"/>
                      </a:lnTo>
                      <a:lnTo>
                        <a:pt x="166" y="132"/>
                      </a:lnTo>
                      <a:lnTo>
                        <a:pt x="173" y="136"/>
                      </a:lnTo>
                      <a:lnTo>
                        <a:pt x="181" y="135"/>
                      </a:lnTo>
                      <a:lnTo>
                        <a:pt x="195" y="136"/>
                      </a:lnTo>
                      <a:lnTo>
                        <a:pt x="203" y="137"/>
                      </a:lnTo>
                      <a:lnTo>
                        <a:pt x="215" y="140"/>
                      </a:lnTo>
                      <a:lnTo>
                        <a:pt x="222" y="143"/>
                      </a:lnTo>
                      <a:lnTo>
                        <a:pt x="232" y="145"/>
                      </a:lnTo>
                      <a:lnTo>
                        <a:pt x="242" y="148"/>
                      </a:lnTo>
                      <a:lnTo>
                        <a:pt x="251" y="151"/>
                      </a:lnTo>
                      <a:lnTo>
                        <a:pt x="259" y="152"/>
                      </a:lnTo>
                      <a:lnTo>
                        <a:pt x="266" y="153"/>
                      </a:lnTo>
                      <a:lnTo>
                        <a:pt x="273" y="155"/>
                      </a:lnTo>
                      <a:lnTo>
                        <a:pt x="282" y="157"/>
                      </a:lnTo>
                      <a:lnTo>
                        <a:pt x="291" y="161"/>
                      </a:lnTo>
                      <a:lnTo>
                        <a:pt x="299" y="165"/>
                      </a:lnTo>
                      <a:lnTo>
                        <a:pt x="303" y="169"/>
                      </a:lnTo>
                      <a:lnTo>
                        <a:pt x="309" y="175"/>
                      </a:lnTo>
                      <a:lnTo>
                        <a:pt x="316" y="183"/>
                      </a:lnTo>
                      <a:lnTo>
                        <a:pt x="321" y="190"/>
                      </a:lnTo>
                      <a:lnTo>
                        <a:pt x="326" y="197"/>
                      </a:lnTo>
                      <a:lnTo>
                        <a:pt x="331" y="204"/>
                      </a:lnTo>
                      <a:lnTo>
                        <a:pt x="335" y="212"/>
                      </a:lnTo>
                      <a:lnTo>
                        <a:pt x="340" y="218"/>
                      </a:lnTo>
                      <a:lnTo>
                        <a:pt x="345" y="226"/>
                      </a:lnTo>
                      <a:lnTo>
                        <a:pt x="351" y="234"/>
                      </a:lnTo>
                      <a:lnTo>
                        <a:pt x="356" y="243"/>
                      </a:lnTo>
                      <a:lnTo>
                        <a:pt x="361" y="250"/>
                      </a:lnTo>
                      <a:lnTo>
                        <a:pt x="368" y="258"/>
                      </a:lnTo>
                      <a:lnTo>
                        <a:pt x="359" y="251"/>
                      </a:lnTo>
                      <a:lnTo>
                        <a:pt x="353" y="247"/>
                      </a:lnTo>
                      <a:lnTo>
                        <a:pt x="344" y="242"/>
                      </a:lnTo>
                      <a:lnTo>
                        <a:pt x="336" y="236"/>
                      </a:lnTo>
                      <a:lnTo>
                        <a:pt x="330" y="231"/>
                      </a:lnTo>
                      <a:lnTo>
                        <a:pt x="323" y="226"/>
                      </a:lnTo>
                      <a:lnTo>
                        <a:pt x="317" y="222"/>
                      </a:lnTo>
                      <a:lnTo>
                        <a:pt x="311" y="218"/>
                      </a:lnTo>
                      <a:lnTo>
                        <a:pt x="304" y="214"/>
                      </a:lnTo>
                      <a:lnTo>
                        <a:pt x="297" y="210"/>
                      </a:lnTo>
                      <a:lnTo>
                        <a:pt x="291" y="205"/>
                      </a:lnTo>
                      <a:lnTo>
                        <a:pt x="284" y="200"/>
                      </a:lnTo>
                      <a:lnTo>
                        <a:pt x="275" y="195"/>
                      </a:lnTo>
                      <a:lnTo>
                        <a:pt x="267" y="189"/>
                      </a:lnTo>
                      <a:lnTo>
                        <a:pt x="259" y="183"/>
                      </a:lnTo>
                      <a:lnTo>
                        <a:pt x="252" y="179"/>
                      </a:lnTo>
                      <a:lnTo>
                        <a:pt x="245" y="174"/>
                      </a:lnTo>
                      <a:lnTo>
                        <a:pt x="237" y="170"/>
                      </a:lnTo>
                      <a:lnTo>
                        <a:pt x="229" y="167"/>
                      </a:lnTo>
                      <a:lnTo>
                        <a:pt x="222" y="165"/>
                      </a:lnTo>
                      <a:lnTo>
                        <a:pt x="211" y="162"/>
                      </a:lnTo>
                      <a:lnTo>
                        <a:pt x="201" y="159"/>
                      </a:lnTo>
                      <a:lnTo>
                        <a:pt x="194" y="157"/>
                      </a:lnTo>
                      <a:lnTo>
                        <a:pt x="186" y="155"/>
                      </a:lnTo>
                      <a:lnTo>
                        <a:pt x="175" y="149"/>
                      </a:lnTo>
                      <a:lnTo>
                        <a:pt x="163" y="144"/>
                      </a:lnTo>
                      <a:lnTo>
                        <a:pt x="180" y="155"/>
                      </a:lnTo>
                      <a:lnTo>
                        <a:pt x="182" y="157"/>
                      </a:lnTo>
                      <a:lnTo>
                        <a:pt x="186" y="162"/>
                      </a:lnTo>
                      <a:lnTo>
                        <a:pt x="190" y="168"/>
                      </a:lnTo>
                      <a:lnTo>
                        <a:pt x="195" y="175"/>
                      </a:lnTo>
                      <a:lnTo>
                        <a:pt x="201" y="182"/>
                      </a:lnTo>
                      <a:lnTo>
                        <a:pt x="206" y="189"/>
                      </a:lnTo>
                      <a:lnTo>
                        <a:pt x="212" y="197"/>
                      </a:lnTo>
                      <a:lnTo>
                        <a:pt x="217" y="204"/>
                      </a:lnTo>
                      <a:lnTo>
                        <a:pt x="222" y="210"/>
                      </a:lnTo>
                      <a:lnTo>
                        <a:pt x="227" y="217"/>
                      </a:lnTo>
                      <a:lnTo>
                        <a:pt x="233" y="227"/>
                      </a:lnTo>
                      <a:lnTo>
                        <a:pt x="238" y="234"/>
                      </a:lnTo>
                      <a:lnTo>
                        <a:pt x="242" y="241"/>
                      </a:lnTo>
                      <a:lnTo>
                        <a:pt x="246" y="248"/>
                      </a:lnTo>
                      <a:lnTo>
                        <a:pt x="250" y="255"/>
                      </a:lnTo>
                      <a:lnTo>
                        <a:pt x="252" y="262"/>
                      </a:lnTo>
                      <a:lnTo>
                        <a:pt x="254" y="267"/>
                      </a:lnTo>
                      <a:lnTo>
                        <a:pt x="256" y="275"/>
                      </a:lnTo>
                      <a:lnTo>
                        <a:pt x="257" y="285"/>
                      </a:lnTo>
                      <a:lnTo>
                        <a:pt x="258" y="294"/>
                      </a:lnTo>
                      <a:lnTo>
                        <a:pt x="259" y="304"/>
                      </a:lnTo>
                      <a:lnTo>
                        <a:pt x="261" y="313"/>
                      </a:lnTo>
                      <a:lnTo>
                        <a:pt x="262" y="323"/>
                      </a:lnTo>
                      <a:lnTo>
                        <a:pt x="255" y="313"/>
                      </a:lnTo>
                      <a:lnTo>
                        <a:pt x="249" y="307"/>
                      </a:lnTo>
                      <a:lnTo>
                        <a:pt x="245" y="300"/>
                      </a:lnTo>
                      <a:lnTo>
                        <a:pt x="241" y="295"/>
                      </a:lnTo>
                      <a:lnTo>
                        <a:pt x="238" y="288"/>
                      </a:lnTo>
                      <a:lnTo>
                        <a:pt x="236" y="280"/>
                      </a:lnTo>
                      <a:lnTo>
                        <a:pt x="232" y="271"/>
                      </a:lnTo>
                      <a:lnTo>
                        <a:pt x="228" y="263"/>
                      </a:lnTo>
                      <a:lnTo>
                        <a:pt x="224" y="254"/>
                      </a:lnTo>
                      <a:lnTo>
                        <a:pt x="221" y="246"/>
                      </a:lnTo>
                      <a:lnTo>
                        <a:pt x="217" y="238"/>
                      </a:lnTo>
                      <a:lnTo>
                        <a:pt x="212" y="232"/>
                      </a:lnTo>
                      <a:lnTo>
                        <a:pt x="208" y="226"/>
                      </a:lnTo>
                      <a:lnTo>
                        <a:pt x="202" y="218"/>
                      </a:lnTo>
                      <a:lnTo>
                        <a:pt x="196" y="211"/>
                      </a:lnTo>
                      <a:lnTo>
                        <a:pt x="191" y="205"/>
                      </a:lnTo>
                      <a:lnTo>
                        <a:pt x="186" y="199"/>
                      </a:lnTo>
                      <a:lnTo>
                        <a:pt x="185" y="194"/>
                      </a:lnTo>
                      <a:lnTo>
                        <a:pt x="181" y="185"/>
                      </a:lnTo>
                      <a:lnTo>
                        <a:pt x="177" y="179"/>
                      </a:lnTo>
                      <a:lnTo>
                        <a:pt x="174" y="171"/>
                      </a:lnTo>
                      <a:lnTo>
                        <a:pt x="172" y="169"/>
                      </a:lnTo>
                      <a:lnTo>
                        <a:pt x="165" y="162"/>
                      </a:lnTo>
                      <a:lnTo>
                        <a:pt x="161" y="155"/>
                      </a:lnTo>
                      <a:lnTo>
                        <a:pt x="157" y="149"/>
                      </a:lnTo>
                      <a:lnTo>
                        <a:pt x="153" y="143"/>
                      </a:lnTo>
                      <a:lnTo>
                        <a:pt x="145" y="146"/>
                      </a:lnTo>
                      <a:lnTo>
                        <a:pt x="137" y="151"/>
                      </a:lnTo>
                      <a:lnTo>
                        <a:pt x="129" y="158"/>
                      </a:lnTo>
                      <a:lnTo>
                        <a:pt x="121" y="164"/>
                      </a:lnTo>
                      <a:lnTo>
                        <a:pt x="115" y="170"/>
                      </a:lnTo>
                      <a:lnTo>
                        <a:pt x="110" y="176"/>
                      </a:lnTo>
                      <a:lnTo>
                        <a:pt x="104" y="185"/>
                      </a:lnTo>
                      <a:lnTo>
                        <a:pt x="97" y="195"/>
                      </a:lnTo>
                      <a:lnTo>
                        <a:pt x="92" y="203"/>
                      </a:lnTo>
                      <a:lnTo>
                        <a:pt x="85" y="212"/>
                      </a:lnTo>
                      <a:lnTo>
                        <a:pt x="80" y="221"/>
                      </a:lnTo>
                      <a:lnTo>
                        <a:pt x="76" y="229"/>
                      </a:lnTo>
                      <a:lnTo>
                        <a:pt x="71" y="237"/>
                      </a:lnTo>
                      <a:lnTo>
                        <a:pt x="67" y="245"/>
                      </a:lnTo>
                      <a:lnTo>
                        <a:pt x="62" y="254"/>
                      </a:lnTo>
                      <a:lnTo>
                        <a:pt x="58" y="263"/>
                      </a:lnTo>
                      <a:lnTo>
                        <a:pt x="51" y="273"/>
                      </a:lnTo>
                      <a:lnTo>
                        <a:pt x="45" y="283"/>
                      </a:lnTo>
                      <a:lnTo>
                        <a:pt x="38" y="294"/>
                      </a:lnTo>
                      <a:lnTo>
                        <a:pt x="33" y="303"/>
                      </a:lnTo>
                      <a:lnTo>
                        <a:pt x="28" y="309"/>
                      </a:lnTo>
                      <a:lnTo>
                        <a:pt x="24" y="315"/>
                      </a:lnTo>
                      <a:lnTo>
                        <a:pt x="18" y="321"/>
                      </a:lnTo>
                      <a:lnTo>
                        <a:pt x="13" y="327"/>
                      </a:lnTo>
                      <a:lnTo>
                        <a:pt x="7" y="333"/>
                      </a:lnTo>
                      <a:lnTo>
                        <a:pt x="0" y="341"/>
                      </a:lnTo>
                      <a:lnTo>
                        <a:pt x="2" y="331"/>
                      </a:lnTo>
                      <a:lnTo>
                        <a:pt x="5" y="324"/>
                      </a:lnTo>
                      <a:lnTo>
                        <a:pt x="8" y="315"/>
                      </a:lnTo>
                      <a:lnTo>
                        <a:pt x="13" y="309"/>
                      </a:lnTo>
                      <a:lnTo>
                        <a:pt x="20" y="298"/>
                      </a:lnTo>
                      <a:lnTo>
                        <a:pt x="27" y="287"/>
                      </a:lnTo>
                      <a:lnTo>
                        <a:pt x="35" y="275"/>
                      </a:lnTo>
                      <a:lnTo>
                        <a:pt x="41" y="265"/>
                      </a:lnTo>
                      <a:lnTo>
                        <a:pt x="47" y="255"/>
                      </a:lnTo>
                      <a:lnTo>
                        <a:pt x="54" y="246"/>
                      </a:lnTo>
                      <a:lnTo>
                        <a:pt x="59" y="238"/>
                      </a:lnTo>
                      <a:lnTo>
                        <a:pt x="64" y="231"/>
                      </a:lnTo>
                      <a:lnTo>
                        <a:pt x="69" y="224"/>
                      </a:lnTo>
                      <a:lnTo>
                        <a:pt x="76" y="216"/>
                      </a:lnTo>
                      <a:lnTo>
                        <a:pt x="82" y="208"/>
                      </a:lnTo>
                      <a:lnTo>
                        <a:pt x="88" y="199"/>
                      </a:lnTo>
                      <a:lnTo>
                        <a:pt x="95" y="190"/>
                      </a:lnTo>
                      <a:lnTo>
                        <a:pt x="100" y="183"/>
                      </a:lnTo>
                      <a:lnTo>
                        <a:pt x="105" y="175"/>
                      </a:lnTo>
                      <a:lnTo>
                        <a:pt x="110" y="167"/>
                      </a:lnTo>
                      <a:lnTo>
                        <a:pt x="112" y="162"/>
                      </a:lnTo>
                      <a:lnTo>
                        <a:pt x="114" y="156"/>
                      </a:lnTo>
                      <a:lnTo>
                        <a:pt x="118" y="151"/>
                      </a:lnTo>
                      <a:lnTo>
                        <a:pt x="122" y="145"/>
                      </a:lnTo>
                      <a:lnTo>
                        <a:pt x="129" y="138"/>
                      </a:lnTo>
                      <a:lnTo>
                        <a:pt x="134" y="131"/>
                      </a:lnTo>
                      <a:lnTo>
                        <a:pt x="139" y="126"/>
                      </a:lnTo>
                      <a:lnTo>
                        <a:pt x="143" y="119"/>
                      </a:lnTo>
                      <a:lnTo>
                        <a:pt x="141" y="114"/>
                      </a:lnTo>
                      <a:lnTo>
                        <a:pt x="139" y="106"/>
                      </a:lnTo>
                      <a:lnTo>
                        <a:pt x="127" y="102"/>
                      </a:lnTo>
                      <a:lnTo>
                        <a:pt x="113" y="92"/>
                      </a:lnTo>
                      <a:lnTo>
                        <a:pt x="99" y="83"/>
                      </a:lnTo>
                      <a:lnTo>
                        <a:pt x="92" y="78"/>
                      </a:lnTo>
                      <a:lnTo>
                        <a:pt x="86" y="74"/>
                      </a:lnTo>
                      <a:lnTo>
                        <a:pt x="75" y="70"/>
                      </a:lnTo>
                      <a:lnTo>
                        <a:pt x="64" y="66"/>
                      </a:lnTo>
                      <a:lnTo>
                        <a:pt x="52" y="63"/>
                      </a:lnTo>
                      <a:lnTo>
                        <a:pt x="43" y="60"/>
                      </a:lnTo>
                      <a:lnTo>
                        <a:pt x="33" y="56"/>
                      </a:lnTo>
                      <a:lnTo>
                        <a:pt x="24" y="53"/>
                      </a:lnTo>
                      <a:lnTo>
                        <a:pt x="15" y="51"/>
                      </a:lnTo>
                      <a:lnTo>
                        <a:pt x="8" y="49"/>
                      </a:lnTo>
                      <a:lnTo>
                        <a:pt x="15" y="49"/>
                      </a:lnTo>
                      <a:lnTo>
                        <a:pt x="20" y="47"/>
                      </a:lnTo>
                      <a:lnTo>
                        <a:pt x="25" y="47"/>
                      </a:lnTo>
                      <a:lnTo>
                        <a:pt x="29" y="46"/>
                      </a:lnTo>
                      <a:lnTo>
                        <a:pt x="34" y="47"/>
                      </a:lnTo>
                      <a:lnTo>
                        <a:pt x="45" y="51"/>
                      </a:lnTo>
                      <a:lnTo>
                        <a:pt x="53" y="56"/>
                      </a:lnTo>
                      <a:lnTo>
                        <a:pt x="63" y="61"/>
                      </a:lnTo>
                      <a:lnTo>
                        <a:pt x="72" y="66"/>
                      </a:lnTo>
                      <a:lnTo>
                        <a:pt x="84" y="71"/>
                      </a:lnTo>
                      <a:lnTo>
                        <a:pt x="93" y="77"/>
                      </a:lnTo>
                      <a:lnTo>
                        <a:pt x="101" y="81"/>
                      </a:lnTo>
                      <a:lnTo>
                        <a:pt x="115" y="88"/>
                      </a:lnTo>
                      <a:lnTo>
                        <a:pt x="122" y="90"/>
                      </a:lnTo>
                      <a:lnTo>
                        <a:pt x="128" y="89"/>
                      </a:lnTo>
                      <a:lnTo>
                        <a:pt x="133" y="88"/>
                      </a:lnTo>
                      <a:lnTo>
                        <a:pt x="138" y="87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5" name="Freeform 17">
                  <a:extLst>
                    <a:ext uri="{FF2B5EF4-FFF2-40B4-BE49-F238E27FC236}">
                      <a16:creationId xmlns:a16="http://schemas.microsoft.com/office/drawing/2014/main" id="{6BD0F17E-592A-42A3-8208-292E8C05BBB2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900" y="1641"/>
                  <a:ext cx="39" cy="193"/>
                </a:xfrm>
                <a:custGeom>
                  <a:avLst/>
                  <a:gdLst>
                    <a:gd name="T0" fmla="*/ 20 w 39"/>
                    <a:gd name="T1" fmla="*/ 0 h 193"/>
                    <a:gd name="T2" fmla="*/ 25 w 39"/>
                    <a:gd name="T3" fmla="*/ 9 h 193"/>
                    <a:gd name="T4" fmla="*/ 28 w 39"/>
                    <a:gd name="T5" fmla="*/ 15 h 193"/>
                    <a:gd name="T6" fmla="*/ 34 w 39"/>
                    <a:gd name="T7" fmla="*/ 24 h 193"/>
                    <a:gd name="T8" fmla="*/ 36 w 39"/>
                    <a:gd name="T9" fmla="*/ 33 h 193"/>
                    <a:gd name="T10" fmla="*/ 37 w 39"/>
                    <a:gd name="T11" fmla="*/ 43 h 193"/>
                    <a:gd name="T12" fmla="*/ 37 w 39"/>
                    <a:gd name="T13" fmla="*/ 56 h 193"/>
                    <a:gd name="T14" fmla="*/ 38 w 39"/>
                    <a:gd name="T15" fmla="*/ 64 h 193"/>
                    <a:gd name="T16" fmla="*/ 37 w 39"/>
                    <a:gd name="T17" fmla="*/ 75 h 193"/>
                    <a:gd name="T18" fmla="*/ 36 w 39"/>
                    <a:gd name="T19" fmla="*/ 86 h 193"/>
                    <a:gd name="T20" fmla="*/ 34 w 39"/>
                    <a:gd name="T21" fmla="*/ 97 h 193"/>
                    <a:gd name="T22" fmla="*/ 31 w 39"/>
                    <a:gd name="T23" fmla="*/ 113 h 193"/>
                    <a:gd name="T24" fmla="*/ 29 w 39"/>
                    <a:gd name="T25" fmla="*/ 122 h 193"/>
                    <a:gd name="T26" fmla="*/ 24 w 39"/>
                    <a:gd name="T27" fmla="*/ 132 h 193"/>
                    <a:gd name="T28" fmla="*/ 18 w 39"/>
                    <a:gd name="T29" fmla="*/ 144 h 193"/>
                    <a:gd name="T30" fmla="*/ 12 w 39"/>
                    <a:gd name="T31" fmla="*/ 155 h 193"/>
                    <a:gd name="T32" fmla="*/ 7 w 39"/>
                    <a:gd name="T33" fmla="*/ 165 h 193"/>
                    <a:gd name="T34" fmla="*/ 3 w 39"/>
                    <a:gd name="T35" fmla="*/ 174 h 193"/>
                    <a:gd name="T36" fmla="*/ 0 w 39"/>
                    <a:gd name="T37" fmla="*/ 192 h 193"/>
                    <a:gd name="T38" fmla="*/ 1 w 39"/>
                    <a:gd name="T39" fmla="*/ 174 h 193"/>
                    <a:gd name="T40" fmla="*/ 3 w 39"/>
                    <a:gd name="T41" fmla="*/ 162 h 193"/>
                    <a:gd name="T42" fmla="*/ 4 w 39"/>
                    <a:gd name="T43" fmla="*/ 151 h 193"/>
                    <a:gd name="T44" fmla="*/ 5 w 39"/>
                    <a:gd name="T45" fmla="*/ 139 h 193"/>
                    <a:gd name="T46" fmla="*/ 7 w 39"/>
                    <a:gd name="T47" fmla="*/ 124 h 193"/>
                    <a:gd name="T48" fmla="*/ 10 w 39"/>
                    <a:gd name="T49" fmla="*/ 113 h 193"/>
                    <a:gd name="T50" fmla="*/ 12 w 39"/>
                    <a:gd name="T51" fmla="*/ 102 h 193"/>
                    <a:gd name="T52" fmla="*/ 15 w 39"/>
                    <a:gd name="T53" fmla="*/ 93 h 193"/>
                    <a:gd name="T54" fmla="*/ 18 w 39"/>
                    <a:gd name="T55" fmla="*/ 82 h 193"/>
                    <a:gd name="T56" fmla="*/ 20 w 39"/>
                    <a:gd name="T57" fmla="*/ 72 h 193"/>
                    <a:gd name="T58" fmla="*/ 22 w 39"/>
                    <a:gd name="T59" fmla="*/ 61 h 193"/>
                    <a:gd name="T60" fmla="*/ 23 w 39"/>
                    <a:gd name="T61" fmla="*/ 52 h 193"/>
                    <a:gd name="T62" fmla="*/ 24 w 39"/>
                    <a:gd name="T63" fmla="*/ 41 h 193"/>
                    <a:gd name="T64" fmla="*/ 24 w 39"/>
                    <a:gd name="T65" fmla="*/ 30 h 193"/>
                    <a:gd name="T66" fmla="*/ 24 w 39"/>
                    <a:gd name="T67" fmla="*/ 15 h 193"/>
                    <a:gd name="T68" fmla="*/ 22 w 39"/>
                    <a:gd name="T69" fmla="*/ 8 h 193"/>
                    <a:gd name="T70" fmla="*/ 20 w 39"/>
                    <a:gd name="T71" fmla="*/ 0 h 19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39" h="193">
                      <a:moveTo>
                        <a:pt x="20" y="0"/>
                      </a:moveTo>
                      <a:lnTo>
                        <a:pt x="25" y="9"/>
                      </a:lnTo>
                      <a:lnTo>
                        <a:pt x="28" y="15"/>
                      </a:lnTo>
                      <a:lnTo>
                        <a:pt x="34" y="24"/>
                      </a:lnTo>
                      <a:lnTo>
                        <a:pt x="36" y="33"/>
                      </a:lnTo>
                      <a:lnTo>
                        <a:pt x="37" y="43"/>
                      </a:lnTo>
                      <a:lnTo>
                        <a:pt x="37" y="56"/>
                      </a:lnTo>
                      <a:lnTo>
                        <a:pt x="38" y="64"/>
                      </a:lnTo>
                      <a:lnTo>
                        <a:pt x="37" y="75"/>
                      </a:lnTo>
                      <a:lnTo>
                        <a:pt x="36" y="86"/>
                      </a:lnTo>
                      <a:lnTo>
                        <a:pt x="34" y="97"/>
                      </a:lnTo>
                      <a:lnTo>
                        <a:pt x="31" y="113"/>
                      </a:lnTo>
                      <a:lnTo>
                        <a:pt x="29" y="122"/>
                      </a:lnTo>
                      <a:lnTo>
                        <a:pt x="24" y="132"/>
                      </a:lnTo>
                      <a:lnTo>
                        <a:pt x="18" y="144"/>
                      </a:lnTo>
                      <a:lnTo>
                        <a:pt x="12" y="155"/>
                      </a:lnTo>
                      <a:lnTo>
                        <a:pt x="7" y="165"/>
                      </a:lnTo>
                      <a:lnTo>
                        <a:pt x="3" y="174"/>
                      </a:lnTo>
                      <a:lnTo>
                        <a:pt x="0" y="192"/>
                      </a:lnTo>
                      <a:lnTo>
                        <a:pt x="1" y="174"/>
                      </a:lnTo>
                      <a:lnTo>
                        <a:pt x="3" y="162"/>
                      </a:lnTo>
                      <a:lnTo>
                        <a:pt x="4" y="151"/>
                      </a:lnTo>
                      <a:lnTo>
                        <a:pt x="5" y="139"/>
                      </a:lnTo>
                      <a:lnTo>
                        <a:pt x="7" y="124"/>
                      </a:lnTo>
                      <a:lnTo>
                        <a:pt x="10" y="113"/>
                      </a:lnTo>
                      <a:lnTo>
                        <a:pt x="12" y="102"/>
                      </a:lnTo>
                      <a:lnTo>
                        <a:pt x="15" y="93"/>
                      </a:lnTo>
                      <a:lnTo>
                        <a:pt x="18" y="82"/>
                      </a:lnTo>
                      <a:lnTo>
                        <a:pt x="20" y="72"/>
                      </a:lnTo>
                      <a:lnTo>
                        <a:pt x="22" y="61"/>
                      </a:lnTo>
                      <a:lnTo>
                        <a:pt x="23" y="52"/>
                      </a:lnTo>
                      <a:lnTo>
                        <a:pt x="24" y="41"/>
                      </a:lnTo>
                      <a:lnTo>
                        <a:pt x="24" y="30"/>
                      </a:lnTo>
                      <a:lnTo>
                        <a:pt x="24" y="15"/>
                      </a:lnTo>
                      <a:lnTo>
                        <a:pt x="22" y="8"/>
                      </a:lnTo>
                      <a:lnTo>
                        <a:pt x="20" y="0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6" name="Freeform 18">
                  <a:extLst>
                    <a:ext uri="{FF2B5EF4-FFF2-40B4-BE49-F238E27FC236}">
                      <a16:creationId xmlns:a16="http://schemas.microsoft.com/office/drawing/2014/main" id="{B62B7CA2-D57E-4D74-9085-EE7645E781F8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719" y="1535"/>
                  <a:ext cx="168" cy="50"/>
                </a:xfrm>
                <a:custGeom>
                  <a:avLst/>
                  <a:gdLst>
                    <a:gd name="T0" fmla="*/ 112 w 171"/>
                    <a:gd name="T1" fmla="*/ 49 h 50"/>
                    <a:gd name="T2" fmla="*/ 110 w 171"/>
                    <a:gd name="T3" fmla="*/ 40 h 50"/>
                    <a:gd name="T4" fmla="*/ 108 w 171"/>
                    <a:gd name="T5" fmla="*/ 33 h 50"/>
                    <a:gd name="T6" fmla="*/ 106 w 171"/>
                    <a:gd name="T7" fmla="*/ 31 h 50"/>
                    <a:gd name="T8" fmla="*/ 101 w 171"/>
                    <a:gd name="T9" fmla="*/ 29 h 50"/>
                    <a:gd name="T10" fmla="*/ 97 w 171"/>
                    <a:gd name="T11" fmla="*/ 27 h 50"/>
                    <a:gd name="T12" fmla="*/ 92 w 171"/>
                    <a:gd name="T13" fmla="*/ 29 h 50"/>
                    <a:gd name="T14" fmla="*/ 84 w 171"/>
                    <a:gd name="T15" fmla="*/ 30 h 50"/>
                    <a:gd name="T16" fmla="*/ 80 w 171"/>
                    <a:gd name="T17" fmla="*/ 27 h 50"/>
                    <a:gd name="T18" fmla="*/ 74 w 171"/>
                    <a:gd name="T19" fmla="*/ 22 h 50"/>
                    <a:gd name="T20" fmla="*/ 68 w 171"/>
                    <a:gd name="T21" fmla="*/ 18 h 50"/>
                    <a:gd name="T22" fmla="*/ 64 w 171"/>
                    <a:gd name="T23" fmla="*/ 16 h 50"/>
                    <a:gd name="T24" fmla="*/ 56 w 171"/>
                    <a:gd name="T25" fmla="*/ 12 h 50"/>
                    <a:gd name="T26" fmla="*/ 43 w 171"/>
                    <a:gd name="T27" fmla="*/ 8 h 50"/>
                    <a:gd name="T28" fmla="*/ 31 w 171"/>
                    <a:gd name="T29" fmla="*/ 5 h 50"/>
                    <a:gd name="T30" fmla="*/ 28 w 171"/>
                    <a:gd name="T31" fmla="*/ 1 h 50"/>
                    <a:gd name="T32" fmla="*/ 28 w 171"/>
                    <a:gd name="T33" fmla="*/ 1 h 50"/>
                    <a:gd name="T34" fmla="*/ 15 w 171"/>
                    <a:gd name="T35" fmla="*/ 0 h 50"/>
                    <a:gd name="T36" fmla="*/ 12 w 171"/>
                    <a:gd name="T37" fmla="*/ 1 h 50"/>
                    <a:gd name="T38" fmla="*/ 7 w 171"/>
                    <a:gd name="T39" fmla="*/ 4 h 50"/>
                    <a:gd name="T40" fmla="*/ 3 w 171"/>
                    <a:gd name="T41" fmla="*/ 7 h 50"/>
                    <a:gd name="T42" fmla="*/ 0 w 171"/>
                    <a:gd name="T43" fmla="*/ 11 h 50"/>
                    <a:gd name="T44" fmla="*/ 5 w 171"/>
                    <a:gd name="T45" fmla="*/ 11 h 50"/>
                    <a:gd name="T46" fmla="*/ 12 w 171"/>
                    <a:gd name="T47" fmla="*/ 12 h 50"/>
                    <a:gd name="T48" fmla="*/ 19 w 171"/>
                    <a:gd name="T49" fmla="*/ 12 h 50"/>
                    <a:gd name="T50" fmla="*/ 23 w 171"/>
                    <a:gd name="T51" fmla="*/ 11 h 50"/>
                    <a:gd name="T52" fmla="*/ 28 w 171"/>
                    <a:gd name="T53" fmla="*/ 11 h 50"/>
                    <a:gd name="T54" fmla="*/ 28 w 171"/>
                    <a:gd name="T55" fmla="*/ 11 h 50"/>
                    <a:gd name="T56" fmla="*/ 28 w 171"/>
                    <a:gd name="T57" fmla="*/ 11 h 50"/>
                    <a:gd name="T58" fmla="*/ 37 w 171"/>
                    <a:gd name="T59" fmla="*/ 12 h 50"/>
                    <a:gd name="T60" fmla="*/ 47 w 171"/>
                    <a:gd name="T61" fmla="*/ 14 h 50"/>
                    <a:gd name="T62" fmla="*/ 57 w 171"/>
                    <a:gd name="T63" fmla="*/ 15 h 50"/>
                    <a:gd name="T64" fmla="*/ 64 w 171"/>
                    <a:gd name="T65" fmla="*/ 16 h 50"/>
                    <a:gd name="T66" fmla="*/ 68 w 171"/>
                    <a:gd name="T67" fmla="*/ 19 h 50"/>
                    <a:gd name="T68" fmla="*/ 72 w 171"/>
                    <a:gd name="T69" fmla="*/ 23 h 50"/>
                    <a:gd name="T70" fmla="*/ 76 w 171"/>
                    <a:gd name="T71" fmla="*/ 27 h 50"/>
                    <a:gd name="T72" fmla="*/ 81 w 171"/>
                    <a:gd name="T73" fmla="*/ 31 h 50"/>
                    <a:gd name="T74" fmla="*/ 83 w 171"/>
                    <a:gd name="T75" fmla="*/ 32 h 50"/>
                    <a:gd name="T76" fmla="*/ 86 w 171"/>
                    <a:gd name="T77" fmla="*/ 31 h 50"/>
                    <a:gd name="T78" fmla="*/ 92 w 171"/>
                    <a:gd name="T79" fmla="*/ 34 h 50"/>
                    <a:gd name="T80" fmla="*/ 96 w 171"/>
                    <a:gd name="T81" fmla="*/ 37 h 50"/>
                    <a:gd name="T82" fmla="*/ 100 w 171"/>
                    <a:gd name="T83" fmla="*/ 40 h 50"/>
                    <a:gd name="T84" fmla="*/ 106 w 171"/>
                    <a:gd name="T85" fmla="*/ 44 h 50"/>
                    <a:gd name="T86" fmla="*/ 110 w 171"/>
                    <a:gd name="T87" fmla="*/ 46 h 50"/>
                    <a:gd name="T88" fmla="*/ 112 w 171"/>
                    <a:gd name="T89" fmla="*/ 49 h 50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0" t="0" r="r" b="b"/>
                  <a:pathLst>
                    <a:path w="171" h="50">
                      <a:moveTo>
                        <a:pt x="170" y="49"/>
                      </a:moveTo>
                      <a:lnTo>
                        <a:pt x="167" y="40"/>
                      </a:lnTo>
                      <a:lnTo>
                        <a:pt x="163" y="33"/>
                      </a:lnTo>
                      <a:lnTo>
                        <a:pt x="160" y="31"/>
                      </a:lnTo>
                      <a:lnTo>
                        <a:pt x="153" y="29"/>
                      </a:lnTo>
                      <a:lnTo>
                        <a:pt x="147" y="27"/>
                      </a:lnTo>
                      <a:lnTo>
                        <a:pt x="140" y="29"/>
                      </a:lnTo>
                      <a:lnTo>
                        <a:pt x="132" y="30"/>
                      </a:lnTo>
                      <a:lnTo>
                        <a:pt x="123" y="27"/>
                      </a:lnTo>
                      <a:lnTo>
                        <a:pt x="111" y="22"/>
                      </a:lnTo>
                      <a:lnTo>
                        <a:pt x="100" y="18"/>
                      </a:lnTo>
                      <a:lnTo>
                        <a:pt x="92" y="16"/>
                      </a:lnTo>
                      <a:lnTo>
                        <a:pt x="80" y="12"/>
                      </a:lnTo>
                      <a:lnTo>
                        <a:pt x="67" y="8"/>
                      </a:lnTo>
                      <a:lnTo>
                        <a:pt x="55" y="5"/>
                      </a:lnTo>
                      <a:lnTo>
                        <a:pt x="42" y="1"/>
                      </a:lnTo>
                      <a:lnTo>
                        <a:pt x="28" y="1"/>
                      </a:lnTo>
                      <a:lnTo>
                        <a:pt x="15" y="0"/>
                      </a:lnTo>
                      <a:lnTo>
                        <a:pt x="12" y="1"/>
                      </a:lnTo>
                      <a:lnTo>
                        <a:pt x="7" y="4"/>
                      </a:lnTo>
                      <a:lnTo>
                        <a:pt x="3" y="7"/>
                      </a:lnTo>
                      <a:lnTo>
                        <a:pt x="0" y="11"/>
                      </a:lnTo>
                      <a:lnTo>
                        <a:pt x="5" y="11"/>
                      </a:lnTo>
                      <a:lnTo>
                        <a:pt x="12" y="12"/>
                      </a:lnTo>
                      <a:lnTo>
                        <a:pt x="19" y="12"/>
                      </a:lnTo>
                      <a:lnTo>
                        <a:pt x="23" y="11"/>
                      </a:lnTo>
                      <a:lnTo>
                        <a:pt x="30" y="11"/>
                      </a:lnTo>
                      <a:lnTo>
                        <a:pt x="39" y="11"/>
                      </a:lnTo>
                      <a:lnTo>
                        <a:pt x="51" y="11"/>
                      </a:lnTo>
                      <a:lnTo>
                        <a:pt x="61" y="12"/>
                      </a:lnTo>
                      <a:lnTo>
                        <a:pt x="71" y="14"/>
                      </a:lnTo>
                      <a:lnTo>
                        <a:pt x="81" y="15"/>
                      </a:lnTo>
                      <a:lnTo>
                        <a:pt x="91" y="16"/>
                      </a:lnTo>
                      <a:lnTo>
                        <a:pt x="99" y="19"/>
                      </a:lnTo>
                      <a:lnTo>
                        <a:pt x="108" y="23"/>
                      </a:lnTo>
                      <a:lnTo>
                        <a:pt x="116" y="27"/>
                      </a:lnTo>
                      <a:lnTo>
                        <a:pt x="125" y="31"/>
                      </a:lnTo>
                      <a:lnTo>
                        <a:pt x="129" y="32"/>
                      </a:lnTo>
                      <a:lnTo>
                        <a:pt x="134" y="31"/>
                      </a:lnTo>
                      <a:lnTo>
                        <a:pt x="140" y="34"/>
                      </a:lnTo>
                      <a:lnTo>
                        <a:pt x="146" y="37"/>
                      </a:lnTo>
                      <a:lnTo>
                        <a:pt x="152" y="40"/>
                      </a:lnTo>
                      <a:lnTo>
                        <a:pt x="161" y="44"/>
                      </a:lnTo>
                      <a:lnTo>
                        <a:pt x="167" y="46"/>
                      </a:lnTo>
                      <a:lnTo>
                        <a:pt x="170" y="49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7" name="Freeform 19">
                  <a:extLst>
                    <a:ext uri="{FF2B5EF4-FFF2-40B4-BE49-F238E27FC236}">
                      <a16:creationId xmlns:a16="http://schemas.microsoft.com/office/drawing/2014/main" id="{D45B5FEA-CD2C-46F5-9CB9-99EA59DEF241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707" y="1563"/>
                  <a:ext cx="177" cy="21"/>
                </a:xfrm>
                <a:custGeom>
                  <a:avLst/>
                  <a:gdLst>
                    <a:gd name="T0" fmla="*/ 176 w 177"/>
                    <a:gd name="T1" fmla="*/ 20 h 21"/>
                    <a:gd name="T2" fmla="*/ 171 w 177"/>
                    <a:gd name="T3" fmla="*/ 18 h 21"/>
                    <a:gd name="T4" fmla="*/ 166 w 177"/>
                    <a:gd name="T5" fmla="*/ 16 h 21"/>
                    <a:gd name="T6" fmla="*/ 161 w 177"/>
                    <a:gd name="T7" fmla="*/ 13 h 21"/>
                    <a:gd name="T8" fmla="*/ 155 w 177"/>
                    <a:gd name="T9" fmla="*/ 12 h 21"/>
                    <a:gd name="T10" fmla="*/ 149 w 177"/>
                    <a:gd name="T11" fmla="*/ 10 h 21"/>
                    <a:gd name="T12" fmla="*/ 141 w 177"/>
                    <a:gd name="T13" fmla="*/ 6 h 21"/>
                    <a:gd name="T14" fmla="*/ 134 w 177"/>
                    <a:gd name="T15" fmla="*/ 3 h 21"/>
                    <a:gd name="T16" fmla="*/ 128 w 177"/>
                    <a:gd name="T17" fmla="*/ 2 h 21"/>
                    <a:gd name="T18" fmla="*/ 120 w 177"/>
                    <a:gd name="T19" fmla="*/ 3 h 21"/>
                    <a:gd name="T20" fmla="*/ 110 w 177"/>
                    <a:gd name="T21" fmla="*/ 5 h 21"/>
                    <a:gd name="T22" fmla="*/ 106 w 177"/>
                    <a:gd name="T23" fmla="*/ 5 h 21"/>
                    <a:gd name="T24" fmla="*/ 93 w 177"/>
                    <a:gd name="T25" fmla="*/ 3 h 21"/>
                    <a:gd name="T26" fmla="*/ 78 w 177"/>
                    <a:gd name="T27" fmla="*/ 1 h 21"/>
                    <a:gd name="T28" fmla="*/ 69 w 177"/>
                    <a:gd name="T29" fmla="*/ 0 h 21"/>
                    <a:gd name="T30" fmla="*/ 57 w 177"/>
                    <a:gd name="T31" fmla="*/ 0 h 21"/>
                    <a:gd name="T32" fmla="*/ 44 w 177"/>
                    <a:gd name="T33" fmla="*/ 0 h 21"/>
                    <a:gd name="T34" fmla="*/ 36 w 177"/>
                    <a:gd name="T35" fmla="*/ 1 h 21"/>
                    <a:gd name="T36" fmla="*/ 27 w 177"/>
                    <a:gd name="T37" fmla="*/ 2 h 21"/>
                    <a:gd name="T38" fmla="*/ 18 w 177"/>
                    <a:gd name="T39" fmla="*/ 3 h 21"/>
                    <a:gd name="T40" fmla="*/ 9 w 177"/>
                    <a:gd name="T41" fmla="*/ 4 h 21"/>
                    <a:gd name="T42" fmla="*/ 8 w 177"/>
                    <a:gd name="T43" fmla="*/ 8 h 21"/>
                    <a:gd name="T44" fmla="*/ 7 w 177"/>
                    <a:gd name="T45" fmla="*/ 11 h 21"/>
                    <a:gd name="T46" fmla="*/ 4 w 177"/>
                    <a:gd name="T47" fmla="*/ 15 h 21"/>
                    <a:gd name="T48" fmla="*/ 0 w 177"/>
                    <a:gd name="T49" fmla="*/ 17 h 21"/>
                    <a:gd name="T50" fmla="*/ 7 w 177"/>
                    <a:gd name="T51" fmla="*/ 16 h 21"/>
                    <a:gd name="T52" fmla="*/ 15 w 177"/>
                    <a:gd name="T53" fmla="*/ 14 h 21"/>
                    <a:gd name="T54" fmla="*/ 22 w 177"/>
                    <a:gd name="T55" fmla="*/ 12 h 21"/>
                    <a:gd name="T56" fmla="*/ 29 w 177"/>
                    <a:gd name="T57" fmla="*/ 11 h 21"/>
                    <a:gd name="T58" fmla="*/ 37 w 177"/>
                    <a:gd name="T59" fmla="*/ 10 h 21"/>
                    <a:gd name="T60" fmla="*/ 50 w 177"/>
                    <a:gd name="T61" fmla="*/ 10 h 21"/>
                    <a:gd name="T62" fmla="*/ 63 w 177"/>
                    <a:gd name="T63" fmla="*/ 8 h 21"/>
                    <a:gd name="T64" fmla="*/ 79 w 177"/>
                    <a:gd name="T65" fmla="*/ 8 h 21"/>
                    <a:gd name="T66" fmla="*/ 94 w 177"/>
                    <a:gd name="T67" fmla="*/ 7 h 21"/>
                    <a:gd name="T68" fmla="*/ 108 w 177"/>
                    <a:gd name="T69" fmla="*/ 6 h 21"/>
                    <a:gd name="T70" fmla="*/ 120 w 177"/>
                    <a:gd name="T71" fmla="*/ 7 h 21"/>
                    <a:gd name="T72" fmla="*/ 129 w 177"/>
                    <a:gd name="T73" fmla="*/ 10 h 21"/>
                    <a:gd name="T74" fmla="*/ 138 w 177"/>
                    <a:gd name="T75" fmla="*/ 12 h 21"/>
                    <a:gd name="T76" fmla="*/ 148 w 177"/>
                    <a:gd name="T77" fmla="*/ 14 h 21"/>
                    <a:gd name="T78" fmla="*/ 159 w 177"/>
                    <a:gd name="T79" fmla="*/ 17 h 21"/>
                    <a:gd name="T80" fmla="*/ 167 w 177"/>
                    <a:gd name="T81" fmla="*/ 18 h 21"/>
                    <a:gd name="T82" fmla="*/ 176 w 177"/>
                    <a:gd name="T83" fmla="*/ 20 h 21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177" h="21">
                      <a:moveTo>
                        <a:pt x="176" y="20"/>
                      </a:moveTo>
                      <a:lnTo>
                        <a:pt x="171" y="18"/>
                      </a:lnTo>
                      <a:lnTo>
                        <a:pt x="166" y="16"/>
                      </a:lnTo>
                      <a:lnTo>
                        <a:pt x="161" y="13"/>
                      </a:lnTo>
                      <a:lnTo>
                        <a:pt x="155" y="12"/>
                      </a:lnTo>
                      <a:lnTo>
                        <a:pt x="149" y="10"/>
                      </a:lnTo>
                      <a:lnTo>
                        <a:pt x="141" y="6"/>
                      </a:lnTo>
                      <a:lnTo>
                        <a:pt x="134" y="3"/>
                      </a:lnTo>
                      <a:lnTo>
                        <a:pt x="128" y="2"/>
                      </a:lnTo>
                      <a:lnTo>
                        <a:pt x="120" y="3"/>
                      </a:lnTo>
                      <a:lnTo>
                        <a:pt x="110" y="5"/>
                      </a:lnTo>
                      <a:lnTo>
                        <a:pt x="106" y="5"/>
                      </a:lnTo>
                      <a:lnTo>
                        <a:pt x="93" y="3"/>
                      </a:lnTo>
                      <a:lnTo>
                        <a:pt x="78" y="1"/>
                      </a:lnTo>
                      <a:lnTo>
                        <a:pt x="69" y="0"/>
                      </a:lnTo>
                      <a:lnTo>
                        <a:pt x="57" y="0"/>
                      </a:lnTo>
                      <a:lnTo>
                        <a:pt x="44" y="0"/>
                      </a:lnTo>
                      <a:lnTo>
                        <a:pt x="36" y="1"/>
                      </a:lnTo>
                      <a:lnTo>
                        <a:pt x="27" y="2"/>
                      </a:lnTo>
                      <a:lnTo>
                        <a:pt x="18" y="3"/>
                      </a:lnTo>
                      <a:lnTo>
                        <a:pt x="9" y="4"/>
                      </a:lnTo>
                      <a:lnTo>
                        <a:pt x="8" y="8"/>
                      </a:lnTo>
                      <a:lnTo>
                        <a:pt x="7" y="11"/>
                      </a:lnTo>
                      <a:lnTo>
                        <a:pt x="4" y="15"/>
                      </a:lnTo>
                      <a:lnTo>
                        <a:pt x="0" y="17"/>
                      </a:lnTo>
                      <a:lnTo>
                        <a:pt x="7" y="16"/>
                      </a:lnTo>
                      <a:lnTo>
                        <a:pt x="15" y="14"/>
                      </a:lnTo>
                      <a:lnTo>
                        <a:pt x="22" y="12"/>
                      </a:lnTo>
                      <a:lnTo>
                        <a:pt x="29" y="11"/>
                      </a:lnTo>
                      <a:lnTo>
                        <a:pt x="37" y="10"/>
                      </a:lnTo>
                      <a:lnTo>
                        <a:pt x="50" y="10"/>
                      </a:lnTo>
                      <a:lnTo>
                        <a:pt x="63" y="8"/>
                      </a:lnTo>
                      <a:lnTo>
                        <a:pt x="79" y="8"/>
                      </a:lnTo>
                      <a:lnTo>
                        <a:pt x="94" y="7"/>
                      </a:lnTo>
                      <a:lnTo>
                        <a:pt x="108" y="6"/>
                      </a:lnTo>
                      <a:lnTo>
                        <a:pt x="120" y="7"/>
                      </a:lnTo>
                      <a:lnTo>
                        <a:pt x="129" y="10"/>
                      </a:lnTo>
                      <a:lnTo>
                        <a:pt x="138" y="12"/>
                      </a:lnTo>
                      <a:lnTo>
                        <a:pt x="148" y="14"/>
                      </a:lnTo>
                      <a:lnTo>
                        <a:pt x="159" y="17"/>
                      </a:lnTo>
                      <a:lnTo>
                        <a:pt x="167" y="18"/>
                      </a:lnTo>
                      <a:lnTo>
                        <a:pt x="176" y="20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63" name="Freeform 20">
                <a:extLst>
                  <a:ext uri="{FF2B5EF4-FFF2-40B4-BE49-F238E27FC236}">
                    <a16:creationId xmlns:a16="http://schemas.microsoft.com/office/drawing/2014/main" id="{7EEA2D08-01A2-4A84-A5AE-008D6352C4A0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691" y="1023"/>
                <a:ext cx="261" cy="374"/>
              </a:xfrm>
              <a:custGeom>
                <a:avLst/>
                <a:gdLst>
                  <a:gd name="T0" fmla="*/ 82 w 261"/>
                  <a:gd name="T1" fmla="*/ 162 h 374"/>
                  <a:gd name="T2" fmla="*/ 90 w 261"/>
                  <a:gd name="T3" fmla="*/ 154 h 374"/>
                  <a:gd name="T4" fmla="*/ 76 w 261"/>
                  <a:gd name="T5" fmla="*/ 104 h 374"/>
                  <a:gd name="T6" fmla="*/ 54 w 261"/>
                  <a:gd name="T7" fmla="*/ 56 h 374"/>
                  <a:gd name="T8" fmla="*/ 31 w 261"/>
                  <a:gd name="T9" fmla="*/ 33 h 374"/>
                  <a:gd name="T10" fmla="*/ 51 w 261"/>
                  <a:gd name="T11" fmla="*/ 45 h 374"/>
                  <a:gd name="T12" fmla="*/ 72 w 261"/>
                  <a:gd name="T13" fmla="*/ 84 h 374"/>
                  <a:gd name="T14" fmla="*/ 92 w 261"/>
                  <a:gd name="T15" fmla="*/ 126 h 374"/>
                  <a:gd name="T16" fmla="*/ 106 w 261"/>
                  <a:gd name="T17" fmla="*/ 168 h 374"/>
                  <a:gd name="T18" fmla="*/ 118 w 261"/>
                  <a:gd name="T19" fmla="*/ 150 h 374"/>
                  <a:gd name="T20" fmla="*/ 121 w 261"/>
                  <a:gd name="T21" fmla="*/ 114 h 374"/>
                  <a:gd name="T22" fmla="*/ 125 w 261"/>
                  <a:gd name="T23" fmla="*/ 65 h 374"/>
                  <a:gd name="T24" fmla="*/ 136 w 261"/>
                  <a:gd name="T25" fmla="*/ 26 h 374"/>
                  <a:gd name="T26" fmla="*/ 143 w 261"/>
                  <a:gd name="T27" fmla="*/ 12 h 374"/>
                  <a:gd name="T28" fmla="*/ 136 w 261"/>
                  <a:gd name="T29" fmla="*/ 53 h 374"/>
                  <a:gd name="T30" fmla="*/ 132 w 261"/>
                  <a:gd name="T31" fmla="*/ 106 h 374"/>
                  <a:gd name="T32" fmla="*/ 130 w 261"/>
                  <a:gd name="T33" fmla="*/ 155 h 374"/>
                  <a:gd name="T34" fmla="*/ 136 w 261"/>
                  <a:gd name="T35" fmla="*/ 183 h 374"/>
                  <a:gd name="T36" fmla="*/ 166 w 261"/>
                  <a:gd name="T37" fmla="*/ 177 h 374"/>
                  <a:gd name="T38" fmla="*/ 205 w 261"/>
                  <a:gd name="T39" fmla="*/ 178 h 374"/>
                  <a:gd name="T40" fmla="*/ 236 w 261"/>
                  <a:gd name="T41" fmla="*/ 193 h 374"/>
                  <a:gd name="T42" fmla="*/ 260 w 261"/>
                  <a:gd name="T43" fmla="*/ 227 h 374"/>
                  <a:gd name="T44" fmla="*/ 231 w 261"/>
                  <a:gd name="T45" fmla="*/ 222 h 374"/>
                  <a:gd name="T46" fmla="*/ 200 w 261"/>
                  <a:gd name="T47" fmla="*/ 211 h 374"/>
                  <a:gd name="T48" fmla="*/ 159 w 261"/>
                  <a:gd name="T49" fmla="*/ 204 h 374"/>
                  <a:gd name="T50" fmla="*/ 132 w 261"/>
                  <a:gd name="T51" fmla="*/ 208 h 374"/>
                  <a:gd name="T52" fmla="*/ 147 w 261"/>
                  <a:gd name="T53" fmla="*/ 224 h 374"/>
                  <a:gd name="T54" fmla="*/ 182 w 261"/>
                  <a:gd name="T55" fmla="*/ 233 h 374"/>
                  <a:gd name="T56" fmla="*/ 217 w 261"/>
                  <a:gd name="T57" fmla="*/ 240 h 374"/>
                  <a:gd name="T58" fmla="*/ 243 w 261"/>
                  <a:gd name="T59" fmla="*/ 264 h 374"/>
                  <a:gd name="T60" fmla="*/ 256 w 261"/>
                  <a:gd name="T61" fmla="*/ 297 h 374"/>
                  <a:gd name="T62" fmla="*/ 224 w 261"/>
                  <a:gd name="T63" fmla="*/ 277 h 374"/>
                  <a:gd name="T64" fmla="*/ 191 w 261"/>
                  <a:gd name="T65" fmla="*/ 256 h 374"/>
                  <a:gd name="T66" fmla="*/ 160 w 261"/>
                  <a:gd name="T67" fmla="*/ 238 h 374"/>
                  <a:gd name="T68" fmla="*/ 136 w 261"/>
                  <a:gd name="T69" fmla="*/ 230 h 374"/>
                  <a:gd name="T70" fmla="*/ 121 w 261"/>
                  <a:gd name="T71" fmla="*/ 246 h 374"/>
                  <a:gd name="T72" fmla="*/ 135 w 261"/>
                  <a:gd name="T73" fmla="*/ 290 h 374"/>
                  <a:gd name="T74" fmla="*/ 145 w 261"/>
                  <a:gd name="T75" fmla="*/ 342 h 374"/>
                  <a:gd name="T76" fmla="*/ 127 w 261"/>
                  <a:gd name="T77" fmla="*/ 346 h 374"/>
                  <a:gd name="T78" fmla="*/ 116 w 261"/>
                  <a:gd name="T79" fmla="*/ 290 h 374"/>
                  <a:gd name="T80" fmla="*/ 101 w 261"/>
                  <a:gd name="T81" fmla="*/ 256 h 374"/>
                  <a:gd name="T82" fmla="*/ 83 w 261"/>
                  <a:gd name="T83" fmla="*/ 274 h 374"/>
                  <a:gd name="T84" fmla="*/ 64 w 261"/>
                  <a:gd name="T85" fmla="*/ 309 h 374"/>
                  <a:gd name="T86" fmla="*/ 44 w 261"/>
                  <a:gd name="T87" fmla="*/ 360 h 374"/>
                  <a:gd name="T88" fmla="*/ 51 w 261"/>
                  <a:gd name="T89" fmla="*/ 314 h 374"/>
                  <a:gd name="T90" fmla="*/ 69 w 261"/>
                  <a:gd name="T91" fmla="*/ 272 h 374"/>
                  <a:gd name="T92" fmla="*/ 91 w 261"/>
                  <a:gd name="T93" fmla="*/ 238 h 374"/>
                  <a:gd name="T94" fmla="*/ 99 w 261"/>
                  <a:gd name="T95" fmla="*/ 212 h 374"/>
                  <a:gd name="T96" fmla="*/ 77 w 261"/>
                  <a:gd name="T97" fmla="*/ 226 h 374"/>
                  <a:gd name="T98" fmla="*/ 52 w 261"/>
                  <a:gd name="T99" fmla="*/ 261 h 374"/>
                  <a:gd name="T100" fmla="*/ 28 w 261"/>
                  <a:gd name="T101" fmla="*/ 301 h 374"/>
                  <a:gd name="T102" fmla="*/ 24 w 261"/>
                  <a:gd name="T103" fmla="*/ 288 h 374"/>
                  <a:gd name="T104" fmla="*/ 42 w 261"/>
                  <a:gd name="T105" fmla="*/ 262 h 374"/>
                  <a:gd name="T106" fmla="*/ 71 w 261"/>
                  <a:gd name="T107" fmla="*/ 229 h 374"/>
                  <a:gd name="T108" fmla="*/ 101 w 261"/>
                  <a:gd name="T109" fmla="*/ 206 h 374"/>
                  <a:gd name="T110" fmla="*/ 73 w 261"/>
                  <a:gd name="T111" fmla="*/ 180 h 374"/>
                  <a:gd name="T112" fmla="*/ 46 w 261"/>
                  <a:gd name="T113" fmla="*/ 148 h 374"/>
                  <a:gd name="T114" fmla="*/ 17 w 261"/>
                  <a:gd name="T115" fmla="*/ 118 h 374"/>
                  <a:gd name="T116" fmla="*/ 3 w 261"/>
                  <a:gd name="T117" fmla="*/ 98 h 374"/>
                  <a:gd name="T118" fmla="*/ 32 w 261"/>
                  <a:gd name="T119" fmla="*/ 115 h 374"/>
                  <a:gd name="T120" fmla="*/ 64 w 261"/>
                  <a:gd name="T121" fmla="*/ 145 h 374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261" h="374">
                    <a:moveTo>
                      <a:pt x="64" y="145"/>
                    </a:moveTo>
                    <a:lnTo>
                      <a:pt x="68" y="150"/>
                    </a:lnTo>
                    <a:lnTo>
                      <a:pt x="72" y="154"/>
                    </a:lnTo>
                    <a:lnTo>
                      <a:pt x="77" y="157"/>
                    </a:lnTo>
                    <a:lnTo>
                      <a:pt x="82" y="162"/>
                    </a:lnTo>
                    <a:lnTo>
                      <a:pt x="86" y="165"/>
                    </a:lnTo>
                    <a:lnTo>
                      <a:pt x="91" y="168"/>
                    </a:lnTo>
                    <a:lnTo>
                      <a:pt x="94" y="170"/>
                    </a:lnTo>
                    <a:lnTo>
                      <a:pt x="92" y="162"/>
                    </a:lnTo>
                    <a:lnTo>
                      <a:pt x="90" y="154"/>
                    </a:lnTo>
                    <a:lnTo>
                      <a:pt x="87" y="143"/>
                    </a:lnTo>
                    <a:lnTo>
                      <a:pt x="85" y="134"/>
                    </a:lnTo>
                    <a:lnTo>
                      <a:pt x="82" y="124"/>
                    </a:lnTo>
                    <a:lnTo>
                      <a:pt x="80" y="114"/>
                    </a:lnTo>
                    <a:lnTo>
                      <a:pt x="76" y="104"/>
                    </a:lnTo>
                    <a:lnTo>
                      <a:pt x="72" y="93"/>
                    </a:lnTo>
                    <a:lnTo>
                      <a:pt x="68" y="84"/>
                    </a:lnTo>
                    <a:lnTo>
                      <a:pt x="63" y="71"/>
                    </a:lnTo>
                    <a:lnTo>
                      <a:pt x="59" y="63"/>
                    </a:lnTo>
                    <a:lnTo>
                      <a:pt x="54" y="56"/>
                    </a:lnTo>
                    <a:lnTo>
                      <a:pt x="50" y="48"/>
                    </a:lnTo>
                    <a:lnTo>
                      <a:pt x="44" y="42"/>
                    </a:lnTo>
                    <a:lnTo>
                      <a:pt x="39" y="38"/>
                    </a:lnTo>
                    <a:lnTo>
                      <a:pt x="34" y="35"/>
                    </a:lnTo>
                    <a:lnTo>
                      <a:pt x="31" y="33"/>
                    </a:lnTo>
                    <a:lnTo>
                      <a:pt x="35" y="32"/>
                    </a:lnTo>
                    <a:lnTo>
                      <a:pt x="37" y="33"/>
                    </a:lnTo>
                    <a:lnTo>
                      <a:pt x="41" y="34"/>
                    </a:lnTo>
                    <a:lnTo>
                      <a:pt x="45" y="39"/>
                    </a:lnTo>
                    <a:lnTo>
                      <a:pt x="51" y="45"/>
                    </a:lnTo>
                    <a:lnTo>
                      <a:pt x="55" y="50"/>
                    </a:lnTo>
                    <a:lnTo>
                      <a:pt x="58" y="56"/>
                    </a:lnTo>
                    <a:lnTo>
                      <a:pt x="63" y="64"/>
                    </a:lnTo>
                    <a:lnTo>
                      <a:pt x="68" y="75"/>
                    </a:lnTo>
                    <a:lnTo>
                      <a:pt x="72" y="84"/>
                    </a:lnTo>
                    <a:lnTo>
                      <a:pt x="77" y="94"/>
                    </a:lnTo>
                    <a:lnTo>
                      <a:pt x="81" y="101"/>
                    </a:lnTo>
                    <a:lnTo>
                      <a:pt x="86" y="109"/>
                    </a:lnTo>
                    <a:lnTo>
                      <a:pt x="89" y="117"/>
                    </a:lnTo>
                    <a:lnTo>
                      <a:pt x="92" y="126"/>
                    </a:lnTo>
                    <a:lnTo>
                      <a:pt x="95" y="135"/>
                    </a:lnTo>
                    <a:lnTo>
                      <a:pt x="99" y="143"/>
                    </a:lnTo>
                    <a:lnTo>
                      <a:pt x="101" y="151"/>
                    </a:lnTo>
                    <a:lnTo>
                      <a:pt x="104" y="161"/>
                    </a:lnTo>
                    <a:lnTo>
                      <a:pt x="106" y="168"/>
                    </a:lnTo>
                    <a:lnTo>
                      <a:pt x="107" y="171"/>
                    </a:lnTo>
                    <a:lnTo>
                      <a:pt x="110" y="168"/>
                    </a:lnTo>
                    <a:lnTo>
                      <a:pt x="113" y="164"/>
                    </a:lnTo>
                    <a:lnTo>
                      <a:pt x="117" y="159"/>
                    </a:lnTo>
                    <a:lnTo>
                      <a:pt x="118" y="150"/>
                    </a:lnTo>
                    <a:lnTo>
                      <a:pt x="119" y="143"/>
                    </a:lnTo>
                    <a:lnTo>
                      <a:pt x="120" y="133"/>
                    </a:lnTo>
                    <a:lnTo>
                      <a:pt x="121" y="124"/>
                    </a:lnTo>
                    <a:lnTo>
                      <a:pt x="120" y="124"/>
                    </a:lnTo>
                    <a:lnTo>
                      <a:pt x="121" y="114"/>
                    </a:lnTo>
                    <a:lnTo>
                      <a:pt x="121" y="103"/>
                    </a:lnTo>
                    <a:lnTo>
                      <a:pt x="122" y="92"/>
                    </a:lnTo>
                    <a:lnTo>
                      <a:pt x="122" y="82"/>
                    </a:lnTo>
                    <a:lnTo>
                      <a:pt x="123" y="75"/>
                    </a:lnTo>
                    <a:lnTo>
                      <a:pt x="125" y="65"/>
                    </a:lnTo>
                    <a:lnTo>
                      <a:pt x="127" y="58"/>
                    </a:lnTo>
                    <a:lnTo>
                      <a:pt x="128" y="50"/>
                    </a:lnTo>
                    <a:lnTo>
                      <a:pt x="131" y="44"/>
                    </a:lnTo>
                    <a:lnTo>
                      <a:pt x="133" y="36"/>
                    </a:lnTo>
                    <a:lnTo>
                      <a:pt x="136" y="26"/>
                    </a:lnTo>
                    <a:lnTo>
                      <a:pt x="139" y="16"/>
                    </a:lnTo>
                    <a:lnTo>
                      <a:pt x="140" y="7"/>
                    </a:lnTo>
                    <a:lnTo>
                      <a:pt x="143" y="0"/>
                    </a:lnTo>
                    <a:lnTo>
                      <a:pt x="144" y="6"/>
                    </a:lnTo>
                    <a:lnTo>
                      <a:pt x="143" y="12"/>
                    </a:lnTo>
                    <a:lnTo>
                      <a:pt x="142" y="21"/>
                    </a:lnTo>
                    <a:lnTo>
                      <a:pt x="140" y="28"/>
                    </a:lnTo>
                    <a:lnTo>
                      <a:pt x="138" y="40"/>
                    </a:lnTo>
                    <a:lnTo>
                      <a:pt x="137" y="47"/>
                    </a:lnTo>
                    <a:lnTo>
                      <a:pt x="136" y="53"/>
                    </a:lnTo>
                    <a:lnTo>
                      <a:pt x="135" y="62"/>
                    </a:lnTo>
                    <a:lnTo>
                      <a:pt x="134" y="72"/>
                    </a:lnTo>
                    <a:lnTo>
                      <a:pt x="134" y="83"/>
                    </a:lnTo>
                    <a:lnTo>
                      <a:pt x="133" y="94"/>
                    </a:lnTo>
                    <a:lnTo>
                      <a:pt x="132" y="106"/>
                    </a:lnTo>
                    <a:lnTo>
                      <a:pt x="132" y="116"/>
                    </a:lnTo>
                    <a:lnTo>
                      <a:pt x="132" y="126"/>
                    </a:lnTo>
                    <a:lnTo>
                      <a:pt x="131" y="134"/>
                    </a:lnTo>
                    <a:lnTo>
                      <a:pt x="131" y="145"/>
                    </a:lnTo>
                    <a:lnTo>
                      <a:pt x="130" y="155"/>
                    </a:lnTo>
                    <a:lnTo>
                      <a:pt x="128" y="168"/>
                    </a:lnTo>
                    <a:lnTo>
                      <a:pt x="127" y="178"/>
                    </a:lnTo>
                    <a:lnTo>
                      <a:pt x="125" y="190"/>
                    </a:lnTo>
                    <a:lnTo>
                      <a:pt x="130" y="187"/>
                    </a:lnTo>
                    <a:lnTo>
                      <a:pt x="136" y="183"/>
                    </a:lnTo>
                    <a:lnTo>
                      <a:pt x="143" y="178"/>
                    </a:lnTo>
                    <a:lnTo>
                      <a:pt x="149" y="176"/>
                    </a:lnTo>
                    <a:lnTo>
                      <a:pt x="156" y="176"/>
                    </a:lnTo>
                    <a:lnTo>
                      <a:pt x="160" y="176"/>
                    </a:lnTo>
                    <a:lnTo>
                      <a:pt x="166" y="177"/>
                    </a:lnTo>
                    <a:lnTo>
                      <a:pt x="173" y="178"/>
                    </a:lnTo>
                    <a:lnTo>
                      <a:pt x="182" y="179"/>
                    </a:lnTo>
                    <a:lnTo>
                      <a:pt x="190" y="178"/>
                    </a:lnTo>
                    <a:lnTo>
                      <a:pt x="198" y="178"/>
                    </a:lnTo>
                    <a:lnTo>
                      <a:pt x="205" y="178"/>
                    </a:lnTo>
                    <a:lnTo>
                      <a:pt x="211" y="179"/>
                    </a:lnTo>
                    <a:lnTo>
                      <a:pt x="217" y="182"/>
                    </a:lnTo>
                    <a:lnTo>
                      <a:pt x="225" y="185"/>
                    </a:lnTo>
                    <a:lnTo>
                      <a:pt x="231" y="189"/>
                    </a:lnTo>
                    <a:lnTo>
                      <a:pt x="236" y="193"/>
                    </a:lnTo>
                    <a:lnTo>
                      <a:pt x="242" y="199"/>
                    </a:lnTo>
                    <a:lnTo>
                      <a:pt x="245" y="202"/>
                    </a:lnTo>
                    <a:lnTo>
                      <a:pt x="251" y="210"/>
                    </a:lnTo>
                    <a:lnTo>
                      <a:pt x="255" y="218"/>
                    </a:lnTo>
                    <a:lnTo>
                      <a:pt x="260" y="227"/>
                    </a:lnTo>
                    <a:lnTo>
                      <a:pt x="254" y="227"/>
                    </a:lnTo>
                    <a:lnTo>
                      <a:pt x="248" y="226"/>
                    </a:lnTo>
                    <a:lnTo>
                      <a:pt x="241" y="224"/>
                    </a:lnTo>
                    <a:lnTo>
                      <a:pt x="235" y="224"/>
                    </a:lnTo>
                    <a:lnTo>
                      <a:pt x="231" y="222"/>
                    </a:lnTo>
                    <a:lnTo>
                      <a:pt x="224" y="218"/>
                    </a:lnTo>
                    <a:lnTo>
                      <a:pt x="218" y="216"/>
                    </a:lnTo>
                    <a:lnTo>
                      <a:pt x="213" y="213"/>
                    </a:lnTo>
                    <a:lnTo>
                      <a:pt x="209" y="212"/>
                    </a:lnTo>
                    <a:lnTo>
                      <a:pt x="200" y="211"/>
                    </a:lnTo>
                    <a:lnTo>
                      <a:pt x="190" y="210"/>
                    </a:lnTo>
                    <a:lnTo>
                      <a:pt x="182" y="208"/>
                    </a:lnTo>
                    <a:lnTo>
                      <a:pt x="173" y="206"/>
                    </a:lnTo>
                    <a:lnTo>
                      <a:pt x="165" y="205"/>
                    </a:lnTo>
                    <a:lnTo>
                      <a:pt x="159" y="204"/>
                    </a:lnTo>
                    <a:lnTo>
                      <a:pt x="154" y="204"/>
                    </a:lnTo>
                    <a:lnTo>
                      <a:pt x="148" y="203"/>
                    </a:lnTo>
                    <a:lnTo>
                      <a:pt x="142" y="204"/>
                    </a:lnTo>
                    <a:lnTo>
                      <a:pt x="137" y="205"/>
                    </a:lnTo>
                    <a:lnTo>
                      <a:pt x="132" y="208"/>
                    </a:lnTo>
                    <a:lnTo>
                      <a:pt x="125" y="210"/>
                    </a:lnTo>
                    <a:lnTo>
                      <a:pt x="130" y="213"/>
                    </a:lnTo>
                    <a:lnTo>
                      <a:pt x="136" y="217"/>
                    </a:lnTo>
                    <a:lnTo>
                      <a:pt x="141" y="222"/>
                    </a:lnTo>
                    <a:lnTo>
                      <a:pt x="147" y="224"/>
                    </a:lnTo>
                    <a:lnTo>
                      <a:pt x="154" y="227"/>
                    </a:lnTo>
                    <a:lnTo>
                      <a:pt x="160" y="229"/>
                    </a:lnTo>
                    <a:lnTo>
                      <a:pt x="166" y="229"/>
                    </a:lnTo>
                    <a:lnTo>
                      <a:pt x="173" y="231"/>
                    </a:lnTo>
                    <a:lnTo>
                      <a:pt x="182" y="233"/>
                    </a:lnTo>
                    <a:lnTo>
                      <a:pt x="189" y="235"/>
                    </a:lnTo>
                    <a:lnTo>
                      <a:pt x="197" y="235"/>
                    </a:lnTo>
                    <a:lnTo>
                      <a:pt x="203" y="237"/>
                    </a:lnTo>
                    <a:lnTo>
                      <a:pt x="210" y="239"/>
                    </a:lnTo>
                    <a:lnTo>
                      <a:pt x="217" y="240"/>
                    </a:lnTo>
                    <a:lnTo>
                      <a:pt x="222" y="243"/>
                    </a:lnTo>
                    <a:lnTo>
                      <a:pt x="227" y="247"/>
                    </a:lnTo>
                    <a:lnTo>
                      <a:pt x="232" y="252"/>
                    </a:lnTo>
                    <a:lnTo>
                      <a:pt x="238" y="257"/>
                    </a:lnTo>
                    <a:lnTo>
                      <a:pt x="243" y="264"/>
                    </a:lnTo>
                    <a:lnTo>
                      <a:pt x="245" y="268"/>
                    </a:lnTo>
                    <a:lnTo>
                      <a:pt x="248" y="275"/>
                    </a:lnTo>
                    <a:lnTo>
                      <a:pt x="250" y="283"/>
                    </a:lnTo>
                    <a:lnTo>
                      <a:pt x="253" y="291"/>
                    </a:lnTo>
                    <a:lnTo>
                      <a:pt x="256" y="297"/>
                    </a:lnTo>
                    <a:lnTo>
                      <a:pt x="250" y="293"/>
                    </a:lnTo>
                    <a:lnTo>
                      <a:pt x="243" y="289"/>
                    </a:lnTo>
                    <a:lnTo>
                      <a:pt x="238" y="286"/>
                    </a:lnTo>
                    <a:lnTo>
                      <a:pt x="231" y="281"/>
                    </a:lnTo>
                    <a:lnTo>
                      <a:pt x="224" y="277"/>
                    </a:lnTo>
                    <a:lnTo>
                      <a:pt x="218" y="273"/>
                    </a:lnTo>
                    <a:lnTo>
                      <a:pt x="211" y="269"/>
                    </a:lnTo>
                    <a:lnTo>
                      <a:pt x="204" y="264"/>
                    </a:lnTo>
                    <a:lnTo>
                      <a:pt x="198" y="260"/>
                    </a:lnTo>
                    <a:lnTo>
                      <a:pt x="191" y="256"/>
                    </a:lnTo>
                    <a:lnTo>
                      <a:pt x="186" y="252"/>
                    </a:lnTo>
                    <a:lnTo>
                      <a:pt x="179" y="248"/>
                    </a:lnTo>
                    <a:lnTo>
                      <a:pt x="173" y="245"/>
                    </a:lnTo>
                    <a:lnTo>
                      <a:pt x="166" y="241"/>
                    </a:lnTo>
                    <a:lnTo>
                      <a:pt x="160" y="238"/>
                    </a:lnTo>
                    <a:lnTo>
                      <a:pt x="155" y="237"/>
                    </a:lnTo>
                    <a:lnTo>
                      <a:pt x="150" y="234"/>
                    </a:lnTo>
                    <a:lnTo>
                      <a:pt x="144" y="231"/>
                    </a:lnTo>
                    <a:lnTo>
                      <a:pt x="140" y="229"/>
                    </a:lnTo>
                    <a:lnTo>
                      <a:pt x="136" y="230"/>
                    </a:lnTo>
                    <a:lnTo>
                      <a:pt x="131" y="231"/>
                    </a:lnTo>
                    <a:lnTo>
                      <a:pt x="128" y="231"/>
                    </a:lnTo>
                    <a:lnTo>
                      <a:pt x="123" y="229"/>
                    </a:lnTo>
                    <a:lnTo>
                      <a:pt x="123" y="237"/>
                    </a:lnTo>
                    <a:lnTo>
                      <a:pt x="121" y="246"/>
                    </a:lnTo>
                    <a:lnTo>
                      <a:pt x="124" y="254"/>
                    </a:lnTo>
                    <a:lnTo>
                      <a:pt x="127" y="263"/>
                    </a:lnTo>
                    <a:lnTo>
                      <a:pt x="130" y="271"/>
                    </a:lnTo>
                    <a:lnTo>
                      <a:pt x="132" y="280"/>
                    </a:lnTo>
                    <a:lnTo>
                      <a:pt x="135" y="290"/>
                    </a:lnTo>
                    <a:lnTo>
                      <a:pt x="138" y="302"/>
                    </a:lnTo>
                    <a:lnTo>
                      <a:pt x="139" y="311"/>
                    </a:lnTo>
                    <a:lnTo>
                      <a:pt x="142" y="321"/>
                    </a:lnTo>
                    <a:lnTo>
                      <a:pt x="143" y="330"/>
                    </a:lnTo>
                    <a:lnTo>
                      <a:pt x="145" y="342"/>
                    </a:lnTo>
                    <a:lnTo>
                      <a:pt x="148" y="355"/>
                    </a:lnTo>
                    <a:lnTo>
                      <a:pt x="150" y="373"/>
                    </a:lnTo>
                    <a:lnTo>
                      <a:pt x="130" y="373"/>
                    </a:lnTo>
                    <a:lnTo>
                      <a:pt x="128" y="357"/>
                    </a:lnTo>
                    <a:lnTo>
                      <a:pt x="127" y="346"/>
                    </a:lnTo>
                    <a:lnTo>
                      <a:pt x="124" y="332"/>
                    </a:lnTo>
                    <a:lnTo>
                      <a:pt x="122" y="319"/>
                    </a:lnTo>
                    <a:lnTo>
                      <a:pt x="120" y="308"/>
                    </a:lnTo>
                    <a:lnTo>
                      <a:pt x="118" y="298"/>
                    </a:lnTo>
                    <a:lnTo>
                      <a:pt x="116" y="290"/>
                    </a:lnTo>
                    <a:lnTo>
                      <a:pt x="113" y="279"/>
                    </a:lnTo>
                    <a:lnTo>
                      <a:pt x="109" y="269"/>
                    </a:lnTo>
                    <a:lnTo>
                      <a:pt x="107" y="260"/>
                    </a:lnTo>
                    <a:lnTo>
                      <a:pt x="104" y="258"/>
                    </a:lnTo>
                    <a:lnTo>
                      <a:pt x="101" y="256"/>
                    </a:lnTo>
                    <a:lnTo>
                      <a:pt x="98" y="254"/>
                    </a:lnTo>
                    <a:lnTo>
                      <a:pt x="96" y="255"/>
                    </a:lnTo>
                    <a:lnTo>
                      <a:pt x="93" y="260"/>
                    </a:lnTo>
                    <a:lnTo>
                      <a:pt x="87" y="268"/>
                    </a:lnTo>
                    <a:lnTo>
                      <a:pt x="83" y="274"/>
                    </a:lnTo>
                    <a:lnTo>
                      <a:pt x="79" y="280"/>
                    </a:lnTo>
                    <a:lnTo>
                      <a:pt x="76" y="288"/>
                    </a:lnTo>
                    <a:lnTo>
                      <a:pt x="72" y="293"/>
                    </a:lnTo>
                    <a:lnTo>
                      <a:pt x="68" y="301"/>
                    </a:lnTo>
                    <a:lnTo>
                      <a:pt x="64" y="309"/>
                    </a:lnTo>
                    <a:lnTo>
                      <a:pt x="61" y="318"/>
                    </a:lnTo>
                    <a:lnTo>
                      <a:pt x="57" y="327"/>
                    </a:lnTo>
                    <a:lnTo>
                      <a:pt x="53" y="337"/>
                    </a:lnTo>
                    <a:lnTo>
                      <a:pt x="49" y="348"/>
                    </a:lnTo>
                    <a:lnTo>
                      <a:pt x="44" y="360"/>
                    </a:lnTo>
                    <a:lnTo>
                      <a:pt x="46" y="346"/>
                    </a:lnTo>
                    <a:lnTo>
                      <a:pt x="47" y="336"/>
                    </a:lnTo>
                    <a:lnTo>
                      <a:pt x="48" y="325"/>
                    </a:lnTo>
                    <a:lnTo>
                      <a:pt x="50" y="319"/>
                    </a:lnTo>
                    <a:lnTo>
                      <a:pt x="51" y="314"/>
                    </a:lnTo>
                    <a:lnTo>
                      <a:pt x="54" y="305"/>
                    </a:lnTo>
                    <a:lnTo>
                      <a:pt x="57" y="295"/>
                    </a:lnTo>
                    <a:lnTo>
                      <a:pt x="59" y="288"/>
                    </a:lnTo>
                    <a:lnTo>
                      <a:pt x="64" y="280"/>
                    </a:lnTo>
                    <a:lnTo>
                      <a:pt x="69" y="272"/>
                    </a:lnTo>
                    <a:lnTo>
                      <a:pt x="73" y="263"/>
                    </a:lnTo>
                    <a:lnTo>
                      <a:pt x="78" y="254"/>
                    </a:lnTo>
                    <a:lnTo>
                      <a:pt x="81" y="249"/>
                    </a:lnTo>
                    <a:lnTo>
                      <a:pt x="86" y="244"/>
                    </a:lnTo>
                    <a:lnTo>
                      <a:pt x="91" y="238"/>
                    </a:lnTo>
                    <a:lnTo>
                      <a:pt x="95" y="232"/>
                    </a:lnTo>
                    <a:lnTo>
                      <a:pt x="100" y="226"/>
                    </a:lnTo>
                    <a:lnTo>
                      <a:pt x="105" y="218"/>
                    </a:lnTo>
                    <a:lnTo>
                      <a:pt x="103" y="216"/>
                    </a:lnTo>
                    <a:lnTo>
                      <a:pt x="99" y="212"/>
                    </a:lnTo>
                    <a:lnTo>
                      <a:pt x="96" y="210"/>
                    </a:lnTo>
                    <a:lnTo>
                      <a:pt x="93" y="211"/>
                    </a:lnTo>
                    <a:lnTo>
                      <a:pt x="87" y="216"/>
                    </a:lnTo>
                    <a:lnTo>
                      <a:pt x="82" y="221"/>
                    </a:lnTo>
                    <a:lnTo>
                      <a:pt x="77" y="226"/>
                    </a:lnTo>
                    <a:lnTo>
                      <a:pt x="72" y="232"/>
                    </a:lnTo>
                    <a:lnTo>
                      <a:pt x="67" y="241"/>
                    </a:lnTo>
                    <a:lnTo>
                      <a:pt x="61" y="249"/>
                    </a:lnTo>
                    <a:lnTo>
                      <a:pt x="56" y="255"/>
                    </a:lnTo>
                    <a:lnTo>
                      <a:pt x="52" y="261"/>
                    </a:lnTo>
                    <a:lnTo>
                      <a:pt x="47" y="268"/>
                    </a:lnTo>
                    <a:lnTo>
                      <a:pt x="42" y="276"/>
                    </a:lnTo>
                    <a:lnTo>
                      <a:pt x="38" y="284"/>
                    </a:lnTo>
                    <a:lnTo>
                      <a:pt x="33" y="293"/>
                    </a:lnTo>
                    <a:lnTo>
                      <a:pt x="28" y="301"/>
                    </a:lnTo>
                    <a:lnTo>
                      <a:pt x="24" y="310"/>
                    </a:lnTo>
                    <a:lnTo>
                      <a:pt x="18" y="321"/>
                    </a:lnTo>
                    <a:lnTo>
                      <a:pt x="21" y="307"/>
                    </a:lnTo>
                    <a:lnTo>
                      <a:pt x="22" y="297"/>
                    </a:lnTo>
                    <a:lnTo>
                      <a:pt x="24" y="288"/>
                    </a:lnTo>
                    <a:lnTo>
                      <a:pt x="25" y="286"/>
                    </a:lnTo>
                    <a:lnTo>
                      <a:pt x="28" y="281"/>
                    </a:lnTo>
                    <a:lnTo>
                      <a:pt x="32" y="275"/>
                    </a:lnTo>
                    <a:lnTo>
                      <a:pt x="37" y="269"/>
                    </a:lnTo>
                    <a:lnTo>
                      <a:pt x="42" y="262"/>
                    </a:lnTo>
                    <a:lnTo>
                      <a:pt x="47" y="256"/>
                    </a:lnTo>
                    <a:lnTo>
                      <a:pt x="54" y="248"/>
                    </a:lnTo>
                    <a:lnTo>
                      <a:pt x="58" y="243"/>
                    </a:lnTo>
                    <a:lnTo>
                      <a:pt x="64" y="236"/>
                    </a:lnTo>
                    <a:lnTo>
                      <a:pt x="71" y="229"/>
                    </a:lnTo>
                    <a:lnTo>
                      <a:pt x="77" y="224"/>
                    </a:lnTo>
                    <a:lnTo>
                      <a:pt x="83" y="218"/>
                    </a:lnTo>
                    <a:lnTo>
                      <a:pt x="93" y="210"/>
                    </a:lnTo>
                    <a:lnTo>
                      <a:pt x="98" y="208"/>
                    </a:lnTo>
                    <a:lnTo>
                      <a:pt x="101" y="206"/>
                    </a:lnTo>
                    <a:lnTo>
                      <a:pt x="95" y="202"/>
                    </a:lnTo>
                    <a:lnTo>
                      <a:pt x="90" y="196"/>
                    </a:lnTo>
                    <a:lnTo>
                      <a:pt x="84" y="190"/>
                    </a:lnTo>
                    <a:lnTo>
                      <a:pt x="79" y="185"/>
                    </a:lnTo>
                    <a:lnTo>
                      <a:pt x="73" y="180"/>
                    </a:lnTo>
                    <a:lnTo>
                      <a:pt x="69" y="176"/>
                    </a:lnTo>
                    <a:lnTo>
                      <a:pt x="65" y="170"/>
                    </a:lnTo>
                    <a:lnTo>
                      <a:pt x="58" y="163"/>
                    </a:lnTo>
                    <a:lnTo>
                      <a:pt x="52" y="156"/>
                    </a:lnTo>
                    <a:lnTo>
                      <a:pt x="46" y="148"/>
                    </a:lnTo>
                    <a:lnTo>
                      <a:pt x="39" y="141"/>
                    </a:lnTo>
                    <a:lnTo>
                      <a:pt x="33" y="136"/>
                    </a:lnTo>
                    <a:lnTo>
                      <a:pt x="26" y="129"/>
                    </a:lnTo>
                    <a:lnTo>
                      <a:pt x="22" y="125"/>
                    </a:lnTo>
                    <a:lnTo>
                      <a:pt x="17" y="118"/>
                    </a:lnTo>
                    <a:lnTo>
                      <a:pt x="14" y="112"/>
                    </a:lnTo>
                    <a:lnTo>
                      <a:pt x="10" y="108"/>
                    </a:lnTo>
                    <a:lnTo>
                      <a:pt x="4" y="102"/>
                    </a:lnTo>
                    <a:lnTo>
                      <a:pt x="0" y="98"/>
                    </a:lnTo>
                    <a:lnTo>
                      <a:pt x="3" y="98"/>
                    </a:lnTo>
                    <a:lnTo>
                      <a:pt x="9" y="100"/>
                    </a:lnTo>
                    <a:lnTo>
                      <a:pt x="14" y="101"/>
                    </a:lnTo>
                    <a:lnTo>
                      <a:pt x="20" y="104"/>
                    </a:lnTo>
                    <a:lnTo>
                      <a:pt x="25" y="109"/>
                    </a:lnTo>
                    <a:lnTo>
                      <a:pt x="32" y="115"/>
                    </a:lnTo>
                    <a:lnTo>
                      <a:pt x="38" y="120"/>
                    </a:lnTo>
                    <a:lnTo>
                      <a:pt x="45" y="125"/>
                    </a:lnTo>
                    <a:lnTo>
                      <a:pt x="51" y="132"/>
                    </a:lnTo>
                    <a:lnTo>
                      <a:pt x="58" y="139"/>
                    </a:lnTo>
                    <a:lnTo>
                      <a:pt x="64" y="145"/>
                    </a:lnTo>
                  </a:path>
                </a:pathLst>
              </a:custGeom>
              <a:solidFill>
                <a:srgbClr val="037C03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47" name="Group 21">
              <a:extLst>
                <a:ext uri="{FF2B5EF4-FFF2-40B4-BE49-F238E27FC236}">
                  <a16:creationId xmlns:a16="http://schemas.microsoft.com/office/drawing/2014/main" id="{AF9DC55E-7349-49E9-A092-B258E10407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" y="3360"/>
              <a:ext cx="508" cy="820"/>
              <a:chOff x="1985" y="1201"/>
              <a:chExt cx="508" cy="820"/>
            </a:xfrm>
          </p:grpSpPr>
          <p:grpSp>
            <p:nvGrpSpPr>
              <p:cNvPr id="1048" name="Group 22">
                <a:extLst>
                  <a:ext uri="{FF2B5EF4-FFF2-40B4-BE49-F238E27FC236}">
                    <a16:creationId xmlns:a16="http://schemas.microsoft.com/office/drawing/2014/main" id="{00142007-8728-4BC4-A626-0E889CF39C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47" y="1201"/>
                <a:ext cx="246" cy="810"/>
                <a:chOff x="2247" y="1201"/>
                <a:chExt cx="246" cy="810"/>
              </a:xfrm>
            </p:grpSpPr>
            <p:sp>
              <p:nvSpPr>
                <p:cNvPr id="1057" name="Freeform 23">
                  <a:extLst>
                    <a:ext uri="{FF2B5EF4-FFF2-40B4-BE49-F238E27FC236}">
                      <a16:creationId xmlns:a16="http://schemas.microsoft.com/office/drawing/2014/main" id="{27425DCA-A097-45C5-A47B-FDD89F2940EB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392" y="1373"/>
                  <a:ext cx="92" cy="638"/>
                </a:xfrm>
                <a:custGeom>
                  <a:avLst/>
                  <a:gdLst>
                    <a:gd name="T0" fmla="*/ 91 w 92"/>
                    <a:gd name="T1" fmla="*/ 296 h 638"/>
                    <a:gd name="T2" fmla="*/ 83 w 92"/>
                    <a:gd name="T3" fmla="*/ 425 h 638"/>
                    <a:gd name="T4" fmla="*/ 75 w 92"/>
                    <a:gd name="T5" fmla="*/ 529 h 638"/>
                    <a:gd name="T6" fmla="*/ 70 w 92"/>
                    <a:gd name="T7" fmla="*/ 606 h 638"/>
                    <a:gd name="T8" fmla="*/ 71 w 92"/>
                    <a:gd name="T9" fmla="*/ 637 h 638"/>
                    <a:gd name="T10" fmla="*/ 60 w 92"/>
                    <a:gd name="T11" fmla="*/ 637 h 638"/>
                    <a:gd name="T12" fmla="*/ 57 w 92"/>
                    <a:gd name="T13" fmla="*/ 592 h 638"/>
                    <a:gd name="T14" fmla="*/ 55 w 92"/>
                    <a:gd name="T15" fmla="*/ 524 h 638"/>
                    <a:gd name="T16" fmla="*/ 51 w 92"/>
                    <a:gd name="T17" fmla="*/ 461 h 638"/>
                    <a:gd name="T18" fmla="*/ 49 w 92"/>
                    <a:gd name="T19" fmla="*/ 414 h 638"/>
                    <a:gd name="T20" fmla="*/ 45 w 92"/>
                    <a:gd name="T21" fmla="*/ 345 h 638"/>
                    <a:gd name="T22" fmla="*/ 40 w 92"/>
                    <a:gd name="T23" fmla="*/ 285 h 638"/>
                    <a:gd name="T24" fmla="*/ 35 w 92"/>
                    <a:gd name="T25" fmla="*/ 233 h 638"/>
                    <a:gd name="T26" fmla="*/ 31 w 92"/>
                    <a:gd name="T27" fmla="*/ 177 h 638"/>
                    <a:gd name="T28" fmla="*/ 24 w 92"/>
                    <a:gd name="T29" fmla="*/ 121 h 638"/>
                    <a:gd name="T30" fmla="*/ 17 w 92"/>
                    <a:gd name="T31" fmla="*/ 74 h 638"/>
                    <a:gd name="T32" fmla="*/ 4 w 92"/>
                    <a:gd name="T33" fmla="*/ 28 h 638"/>
                    <a:gd name="T34" fmla="*/ 0 w 92"/>
                    <a:gd name="T35" fmla="*/ 10 h 638"/>
                    <a:gd name="T36" fmla="*/ 5 w 92"/>
                    <a:gd name="T37" fmla="*/ 0 h 638"/>
                    <a:gd name="T38" fmla="*/ 13 w 92"/>
                    <a:gd name="T39" fmla="*/ 18 h 638"/>
                    <a:gd name="T40" fmla="*/ 24 w 92"/>
                    <a:gd name="T41" fmla="*/ 61 h 638"/>
                    <a:gd name="T42" fmla="*/ 33 w 92"/>
                    <a:gd name="T43" fmla="*/ 104 h 638"/>
                    <a:gd name="T44" fmla="*/ 40 w 92"/>
                    <a:gd name="T45" fmla="*/ 150 h 638"/>
                    <a:gd name="T46" fmla="*/ 44 w 92"/>
                    <a:gd name="T47" fmla="*/ 208 h 638"/>
                    <a:gd name="T48" fmla="*/ 48 w 92"/>
                    <a:gd name="T49" fmla="*/ 263 h 638"/>
                    <a:gd name="T50" fmla="*/ 55 w 92"/>
                    <a:gd name="T51" fmla="*/ 337 h 638"/>
                    <a:gd name="T52" fmla="*/ 59 w 92"/>
                    <a:gd name="T53" fmla="*/ 398 h 638"/>
                    <a:gd name="T54" fmla="*/ 61 w 92"/>
                    <a:gd name="T55" fmla="*/ 447 h 638"/>
                    <a:gd name="T56" fmla="*/ 63 w 92"/>
                    <a:gd name="T57" fmla="*/ 498 h 638"/>
                    <a:gd name="T58" fmla="*/ 68 w 92"/>
                    <a:gd name="T59" fmla="*/ 550 h 638"/>
                    <a:gd name="T60" fmla="*/ 73 w 92"/>
                    <a:gd name="T61" fmla="*/ 460 h 638"/>
                    <a:gd name="T62" fmla="*/ 80 w 92"/>
                    <a:gd name="T63" fmla="*/ 376 h 638"/>
                    <a:gd name="T64" fmla="*/ 91 w 92"/>
                    <a:gd name="T65" fmla="*/ 296 h 638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92" h="638">
                      <a:moveTo>
                        <a:pt x="91" y="296"/>
                      </a:moveTo>
                      <a:lnTo>
                        <a:pt x="83" y="425"/>
                      </a:lnTo>
                      <a:lnTo>
                        <a:pt x="75" y="529"/>
                      </a:lnTo>
                      <a:lnTo>
                        <a:pt x="70" y="606"/>
                      </a:lnTo>
                      <a:lnTo>
                        <a:pt x="71" y="637"/>
                      </a:lnTo>
                      <a:lnTo>
                        <a:pt x="60" y="637"/>
                      </a:lnTo>
                      <a:lnTo>
                        <a:pt x="57" y="592"/>
                      </a:lnTo>
                      <a:lnTo>
                        <a:pt x="55" y="524"/>
                      </a:lnTo>
                      <a:lnTo>
                        <a:pt x="51" y="461"/>
                      </a:lnTo>
                      <a:lnTo>
                        <a:pt x="49" y="414"/>
                      </a:lnTo>
                      <a:lnTo>
                        <a:pt x="45" y="345"/>
                      </a:lnTo>
                      <a:lnTo>
                        <a:pt x="40" y="285"/>
                      </a:lnTo>
                      <a:lnTo>
                        <a:pt x="35" y="233"/>
                      </a:lnTo>
                      <a:lnTo>
                        <a:pt x="31" y="177"/>
                      </a:lnTo>
                      <a:lnTo>
                        <a:pt x="24" y="121"/>
                      </a:lnTo>
                      <a:lnTo>
                        <a:pt x="17" y="74"/>
                      </a:lnTo>
                      <a:lnTo>
                        <a:pt x="4" y="28"/>
                      </a:lnTo>
                      <a:lnTo>
                        <a:pt x="0" y="10"/>
                      </a:lnTo>
                      <a:lnTo>
                        <a:pt x="5" y="0"/>
                      </a:lnTo>
                      <a:lnTo>
                        <a:pt x="13" y="18"/>
                      </a:lnTo>
                      <a:lnTo>
                        <a:pt x="24" y="61"/>
                      </a:lnTo>
                      <a:lnTo>
                        <a:pt x="33" y="104"/>
                      </a:lnTo>
                      <a:lnTo>
                        <a:pt x="40" y="150"/>
                      </a:lnTo>
                      <a:lnTo>
                        <a:pt x="44" y="208"/>
                      </a:lnTo>
                      <a:lnTo>
                        <a:pt x="48" y="263"/>
                      </a:lnTo>
                      <a:lnTo>
                        <a:pt x="55" y="337"/>
                      </a:lnTo>
                      <a:lnTo>
                        <a:pt x="59" y="398"/>
                      </a:lnTo>
                      <a:lnTo>
                        <a:pt x="61" y="447"/>
                      </a:lnTo>
                      <a:lnTo>
                        <a:pt x="63" y="498"/>
                      </a:lnTo>
                      <a:lnTo>
                        <a:pt x="68" y="550"/>
                      </a:lnTo>
                      <a:lnTo>
                        <a:pt x="73" y="460"/>
                      </a:lnTo>
                      <a:lnTo>
                        <a:pt x="80" y="376"/>
                      </a:lnTo>
                      <a:lnTo>
                        <a:pt x="91" y="296"/>
                      </a:lnTo>
                    </a:path>
                  </a:pathLst>
                </a:custGeom>
                <a:solidFill>
                  <a:srgbClr val="3C002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8" name="Freeform 24">
                  <a:extLst>
                    <a:ext uri="{FF2B5EF4-FFF2-40B4-BE49-F238E27FC236}">
                      <a16:creationId xmlns:a16="http://schemas.microsoft.com/office/drawing/2014/main" id="{D53FBF00-9C17-46DB-86C0-DC31A5450126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247" y="1201"/>
                  <a:ext cx="246" cy="466"/>
                </a:xfrm>
                <a:custGeom>
                  <a:avLst/>
                  <a:gdLst>
                    <a:gd name="T0" fmla="*/ 136 w 246"/>
                    <a:gd name="T1" fmla="*/ 67 h 466"/>
                    <a:gd name="T2" fmla="*/ 105 w 246"/>
                    <a:gd name="T3" fmla="*/ 12 h 466"/>
                    <a:gd name="T4" fmla="*/ 55 w 246"/>
                    <a:gd name="T5" fmla="*/ 1 h 466"/>
                    <a:gd name="T6" fmla="*/ 58 w 246"/>
                    <a:gd name="T7" fmla="*/ 12 h 466"/>
                    <a:gd name="T8" fmla="*/ 96 w 246"/>
                    <a:gd name="T9" fmla="*/ 39 h 466"/>
                    <a:gd name="T10" fmla="*/ 130 w 246"/>
                    <a:gd name="T11" fmla="*/ 134 h 466"/>
                    <a:gd name="T12" fmla="*/ 73 w 246"/>
                    <a:gd name="T13" fmla="*/ 85 h 466"/>
                    <a:gd name="T14" fmla="*/ 32 w 246"/>
                    <a:gd name="T15" fmla="*/ 75 h 466"/>
                    <a:gd name="T16" fmla="*/ 7 w 246"/>
                    <a:gd name="T17" fmla="*/ 103 h 466"/>
                    <a:gd name="T18" fmla="*/ 38 w 246"/>
                    <a:gd name="T19" fmla="*/ 103 h 466"/>
                    <a:gd name="T20" fmla="*/ 108 w 246"/>
                    <a:gd name="T21" fmla="*/ 129 h 466"/>
                    <a:gd name="T22" fmla="*/ 104 w 246"/>
                    <a:gd name="T23" fmla="*/ 146 h 466"/>
                    <a:gd name="T24" fmla="*/ 92 w 246"/>
                    <a:gd name="T25" fmla="*/ 171 h 466"/>
                    <a:gd name="T26" fmla="*/ 126 w 246"/>
                    <a:gd name="T27" fmla="*/ 170 h 466"/>
                    <a:gd name="T28" fmla="*/ 69 w 246"/>
                    <a:gd name="T29" fmla="*/ 193 h 466"/>
                    <a:gd name="T30" fmla="*/ 37 w 246"/>
                    <a:gd name="T31" fmla="*/ 233 h 466"/>
                    <a:gd name="T32" fmla="*/ 6 w 246"/>
                    <a:gd name="T33" fmla="*/ 325 h 466"/>
                    <a:gd name="T34" fmla="*/ 72 w 246"/>
                    <a:gd name="T35" fmla="*/ 231 h 466"/>
                    <a:gd name="T36" fmla="*/ 118 w 246"/>
                    <a:gd name="T37" fmla="*/ 194 h 466"/>
                    <a:gd name="T38" fmla="*/ 94 w 246"/>
                    <a:gd name="T39" fmla="*/ 269 h 466"/>
                    <a:gd name="T40" fmla="*/ 76 w 246"/>
                    <a:gd name="T41" fmla="*/ 338 h 466"/>
                    <a:gd name="T42" fmla="*/ 71 w 246"/>
                    <a:gd name="T43" fmla="*/ 408 h 466"/>
                    <a:gd name="T44" fmla="*/ 98 w 246"/>
                    <a:gd name="T45" fmla="*/ 303 h 466"/>
                    <a:gd name="T46" fmla="*/ 124 w 246"/>
                    <a:gd name="T47" fmla="*/ 236 h 466"/>
                    <a:gd name="T48" fmla="*/ 125 w 246"/>
                    <a:gd name="T49" fmla="*/ 214 h 466"/>
                    <a:gd name="T50" fmla="*/ 118 w 246"/>
                    <a:gd name="T51" fmla="*/ 323 h 466"/>
                    <a:gd name="T52" fmla="*/ 138 w 246"/>
                    <a:gd name="T53" fmla="*/ 439 h 466"/>
                    <a:gd name="T54" fmla="*/ 128 w 246"/>
                    <a:gd name="T55" fmla="*/ 313 h 466"/>
                    <a:gd name="T56" fmla="*/ 127 w 246"/>
                    <a:gd name="T57" fmla="*/ 223 h 466"/>
                    <a:gd name="T58" fmla="*/ 147 w 246"/>
                    <a:gd name="T59" fmla="*/ 189 h 466"/>
                    <a:gd name="T60" fmla="*/ 188 w 246"/>
                    <a:gd name="T61" fmla="*/ 298 h 466"/>
                    <a:gd name="T62" fmla="*/ 223 w 246"/>
                    <a:gd name="T63" fmla="*/ 411 h 466"/>
                    <a:gd name="T64" fmla="*/ 193 w 246"/>
                    <a:gd name="T65" fmla="*/ 292 h 466"/>
                    <a:gd name="T66" fmla="*/ 160 w 246"/>
                    <a:gd name="T67" fmla="*/ 190 h 466"/>
                    <a:gd name="T68" fmla="*/ 164 w 246"/>
                    <a:gd name="T69" fmla="*/ 121 h 466"/>
                    <a:gd name="T70" fmla="*/ 194 w 246"/>
                    <a:gd name="T71" fmla="*/ 130 h 466"/>
                    <a:gd name="T72" fmla="*/ 240 w 246"/>
                    <a:gd name="T73" fmla="*/ 125 h 466"/>
                    <a:gd name="T74" fmla="*/ 216 w 246"/>
                    <a:gd name="T75" fmla="*/ 122 h 466"/>
                    <a:gd name="T76" fmla="*/ 163 w 246"/>
                    <a:gd name="T77" fmla="*/ 144 h 466"/>
                    <a:gd name="T78" fmla="*/ 194 w 246"/>
                    <a:gd name="T79" fmla="*/ 109 h 466"/>
                    <a:gd name="T80" fmla="*/ 244 w 246"/>
                    <a:gd name="T81" fmla="*/ 101 h 466"/>
                    <a:gd name="T82" fmla="*/ 229 w 246"/>
                    <a:gd name="T83" fmla="*/ 88 h 466"/>
                    <a:gd name="T84" fmla="*/ 163 w 246"/>
                    <a:gd name="T85" fmla="*/ 138 h 466"/>
                    <a:gd name="T86" fmla="*/ 172 w 246"/>
                    <a:gd name="T87" fmla="*/ 99 h 466"/>
                    <a:gd name="T88" fmla="*/ 226 w 246"/>
                    <a:gd name="T89" fmla="*/ 61 h 466"/>
                    <a:gd name="T90" fmla="*/ 188 w 246"/>
                    <a:gd name="T91" fmla="*/ 82 h 466"/>
                    <a:gd name="T92" fmla="*/ 147 w 246"/>
                    <a:gd name="T93" fmla="*/ 109 h 46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0" t="0" r="r" b="b"/>
                  <a:pathLst>
                    <a:path w="246" h="466">
                      <a:moveTo>
                        <a:pt x="147" y="109"/>
                      </a:moveTo>
                      <a:lnTo>
                        <a:pt x="143" y="88"/>
                      </a:lnTo>
                      <a:lnTo>
                        <a:pt x="136" y="67"/>
                      </a:lnTo>
                      <a:lnTo>
                        <a:pt x="127" y="44"/>
                      </a:lnTo>
                      <a:lnTo>
                        <a:pt x="117" y="27"/>
                      </a:lnTo>
                      <a:lnTo>
                        <a:pt x="105" y="12"/>
                      </a:lnTo>
                      <a:lnTo>
                        <a:pt x="89" y="5"/>
                      </a:lnTo>
                      <a:lnTo>
                        <a:pt x="69" y="0"/>
                      </a:lnTo>
                      <a:lnTo>
                        <a:pt x="55" y="1"/>
                      </a:lnTo>
                      <a:lnTo>
                        <a:pt x="39" y="0"/>
                      </a:lnTo>
                      <a:lnTo>
                        <a:pt x="49" y="11"/>
                      </a:lnTo>
                      <a:lnTo>
                        <a:pt x="58" y="12"/>
                      </a:lnTo>
                      <a:lnTo>
                        <a:pt x="69" y="19"/>
                      </a:lnTo>
                      <a:lnTo>
                        <a:pt x="80" y="25"/>
                      </a:lnTo>
                      <a:lnTo>
                        <a:pt x="96" y="39"/>
                      </a:lnTo>
                      <a:lnTo>
                        <a:pt x="109" y="58"/>
                      </a:lnTo>
                      <a:lnTo>
                        <a:pt x="118" y="82"/>
                      </a:lnTo>
                      <a:lnTo>
                        <a:pt x="130" y="134"/>
                      </a:lnTo>
                      <a:lnTo>
                        <a:pt x="96" y="99"/>
                      </a:lnTo>
                      <a:lnTo>
                        <a:pt x="85" y="91"/>
                      </a:lnTo>
                      <a:lnTo>
                        <a:pt x="73" y="85"/>
                      </a:lnTo>
                      <a:lnTo>
                        <a:pt x="61" y="83"/>
                      </a:lnTo>
                      <a:lnTo>
                        <a:pt x="54" y="80"/>
                      </a:lnTo>
                      <a:lnTo>
                        <a:pt x="32" y="75"/>
                      </a:lnTo>
                      <a:lnTo>
                        <a:pt x="0" y="72"/>
                      </a:lnTo>
                      <a:lnTo>
                        <a:pt x="0" y="103"/>
                      </a:lnTo>
                      <a:lnTo>
                        <a:pt x="7" y="103"/>
                      </a:lnTo>
                      <a:lnTo>
                        <a:pt x="17" y="104"/>
                      </a:lnTo>
                      <a:lnTo>
                        <a:pt x="29" y="103"/>
                      </a:lnTo>
                      <a:lnTo>
                        <a:pt x="38" y="103"/>
                      </a:lnTo>
                      <a:lnTo>
                        <a:pt x="62" y="107"/>
                      </a:lnTo>
                      <a:lnTo>
                        <a:pt x="72" y="111"/>
                      </a:lnTo>
                      <a:lnTo>
                        <a:pt x="108" y="129"/>
                      </a:lnTo>
                      <a:lnTo>
                        <a:pt x="127" y="144"/>
                      </a:lnTo>
                      <a:lnTo>
                        <a:pt x="113" y="146"/>
                      </a:lnTo>
                      <a:lnTo>
                        <a:pt x="104" y="146"/>
                      </a:lnTo>
                      <a:lnTo>
                        <a:pt x="89" y="161"/>
                      </a:lnTo>
                      <a:lnTo>
                        <a:pt x="82" y="183"/>
                      </a:lnTo>
                      <a:lnTo>
                        <a:pt x="92" y="171"/>
                      </a:lnTo>
                      <a:lnTo>
                        <a:pt x="120" y="155"/>
                      </a:lnTo>
                      <a:lnTo>
                        <a:pt x="137" y="162"/>
                      </a:lnTo>
                      <a:lnTo>
                        <a:pt x="126" y="170"/>
                      </a:lnTo>
                      <a:lnTo>
                        <a:pt x="113" y="171"/>
                      </a:lnTo>
                      <a:lnTo>
                        <a:pt x="79" y="189"/>
                      </a:lnTo>
                      <a:lnTo>
                        <a:pt x="69" y="193"/>
                      </a:lnTo>
                      <a:lnTo>
                        <a:pt x="57" y="199"/>
                      </a:lnTo>
                      <a:lnTo>
                        <a:pt x="48" y="209"/>
                      </a:lnTo>
                      <a:lnTo>
                        <a:pt x="37" y="233"/>
                      </a:lnTo>
                      <a:lnTo>
                        <a:pt x="31" y="251"/>
                      </a:lnTo>
                      <a:lnTo>
                        <a:pt x="13" y="310"/>
                      </a:lnTo>
                      <a:lnTo>
                        <a:pt x="6" y="325"/>
                      </a:lnTo>
                      <a:lnTo>
                        <a:pt x="36" y="281"/>
                      </a:lnTo>
                      <a:lnTo>
                        <a:pt x="50" y="265"/>
                      </a:lnTo>
                      <a:lnTo>
                        <a:pt x="72" y="231"/>
                      </a:lnTo>
                      <a:lnTo>
                        <a:pt x="83" y="218"/>
                      </a:lnTo>
                      <a:lnTo>
                        <a:pt x="92" y="209"/>
                      </a:lnTo>
                      <a:lnTo>
                        <a:pt x="118" y="194"/>
                      </a:lnTo>
                      <a:lnTo>
                        <a:pt x="132" y="181"/>
                      </a:lnTo>
                      <a:lnTo>
                        <a:pt x="121" y="195"/>
                      </a:lnTo>
                      <a:lnTo>
                        <a:pt x="94" y="269"/>
                      </a:lnTo>
                      <a:lnTo>
                        <a:pt x="84" y="302"/>
                      </a:lnTo>
                      <a:lnTo>
                        <a:pt x="79" y="320"/>
                      </a:lnTo>
                      <a:lnTo>
                        <a:pt x="76" y="338"/>
                      </a:lnTo>
                      <a:lnTo>
                        <a:pt x="75" y="359"/>
                      </a:lnTo>
                      <a:lnTo>
                        <a:pt x="74" y="375"/>
                      </a:lnTo>
                      <a:lnTo>
                        <a:pt x="71" y="408"/>
                      </a:lnTo>
                      <a:lnTo>
                        <a:pt x="84" y="375"/>
                      </a:lnTo>
                      <a:lnTo>
                        <a:pt x="92" y="330"/>
                      </a:lnTo>
                      <a:lnTo>
                        <a:pt x="98" y="303"/>
                      </a:lnTo>
                      <a:lnTo>
                        <a:pt x="104" y="286"/>
                      </a:lnTo>
                      <a:lnTo>
                        <a:pt x="118" y="252"/>
                      </a:lnTo>
                      <a:lnTo>
                        <a:pt x="124" y="236"/>
                      </a:lnTo>
                      <a:lnTo>
                        <a:pt x="128" y="216"/>
                      </a:lnTo>
                      <a:lnTo>
                        <a:pt x="137" y="188"/>
                      </a:lnTo>
                      <a:lnTo>
                        <a:pt x="125" y="214"/>
                      </a:lnTo>
                      <a:lnTo>
                        <a:pt x="119" y="243"/>
                      </a:lnTo>
                      <a:lnTo>
                        <a:pt x="117" y="302"/>
                      </a:lnTo>
                      <a:lnTo>
                        <a:pt x="118" y="323"/>
                      </a:lnTo>
                      <a:lnTo>
                        <a:pt x="120" y="362"/>
                      </a:lnTo>
                      <a:lnTo>
                        <a:pt x="123" y="377"/>
                      </a:lnTo>
                      <a:lnTo>
                        <a:pt x="138" y="439"/>
                      </a:lnTo>
                      <a:lnTo>
                        <a:pt x="141" y="465"/>
                      </a:lnTo>
                      <a:lnTo>
                        <a:pt x="137" y="379"/>
                      </a:lnTo>
                      <a:lnTo>
                        <a:pt x="128" y="313"/>
                      </a:lnTo>
                      <a:lnTo>
                        <a:pt x="126" y="291"/>
                      </a:lnTo>
                      <a:lnTo>
                        <a:pt x="125" y="238"/>
                      </a:lnTo>
                      <a:lnTo>
                        <a:pt x="127" y="223"/>
                      </a:lnTo>
                      <a:lnTo>
                        <a:pt x="133" y="196"/>
                      </a:lnTo>
                      <a:lnTo>
                        <a:pt x="138" y="179"/>
                      </a:lnTo>
                      <a:lnTo>
                        <a:pt x="147" y="189"/>
                      </a:lnTo>
                      <a:lnTo>
                        <a:pt x="161" y="212"/>
                      </a:lnTo>
                      <a:lnTo>
                        <a:pt x="177" y="259"/>
                      </a:lnTo>
                      <a:lnTo>
                        <a:pt x="188" y="298"/>
                      </a:lnTo>
                      <a:lnTo>
                        <a:pt x="197" y="333"/>
                      </a:lnTo>
                      <a:lnTo>
                        <a:pt x="213" y="384"/>
                      </a:lnTo>
                      <a:lnTo>
                        <a:pt x="223" y="411"/>
                      </a:lnTo>
                      <a:lnTo>
                        <a:pt x="232" y="429"/>
                      </a:lnTo>
                      <a:lnTo>
                        <a:pt x="228" y="403"/>
                      </a:lnTo>
                      <a:lnTo>
                        <a:pt x="193" y="292"/>
                      </a:lnTo>
                      <a:lnTo>
                        <a:pt x="171" y="232"/>
                      </a:lnTo>
                      <a:lnTo>
                        <a:pt x="165" y="210"/>
                      </a:lnTo>
                      <a:lnTo>
                        <a:pt x="160" y="190"/>
                      </a:lnTo>
                      <a:lnTo>
                        <a:pt x="144" y="150"/>
                      </a:lnTo>
                      <a:lnTo>
                        <a:pt x="147" y="132"/>
                      </a:lnTo>
                      <a:lnTo>
                        <a:pt x="164" y="121"/>
                      </a:lnTo>
                      <a:lnTo>
                        <a:pt x="172" y="125"/>
                      </a:lnTo>
                      <a:lnTo>
                        <a:pt x="183" y="126"/>
                      </a:lnTo>
                      <a:lnTo>
                        <a:pt x="194" y="130"/>
                      </a:lnTo>
                      <a:lnTo>
                        <a:pt x="239" y="136"/>
                      </a:lnTo>
                      <a:lnTo>
                        <a:pt x="236" y="136"/>
                      </a:lnTo>
                      <a:lnTo>
                        <a:pt x="240" y="125"/>
                      </a:lnTo>
                      <a:lnTo>
                        <a:pt x="242" y="125"/>
                      </a:lnTo>
                      <a:lnTo>
                        <a:pt x="230" y="122"/>
                      </a:lnTo>
                      <a:lnTo>
                        <a:pt x="216" y="122"/>
                      </a:lnTo>
                      <a:lnTo>
                        <a:pt x="199" y="127"/>
                      </a:lnTo>
                      <a:lnTo>
                        <a:pt x="180" y="135"/>
                      </a:lnTo>
                      <a:lnTo>
                        <a:pt x="163" y="144"/>
                      </a:lnTo>
                      <a:lnTo>
                        <a:pt x="150" y="149"/>
                      </a:lnTo>
                      <a:lnTo>
                        <a:pt x="168" y="129"/>
                      </a:lnTo>
                      <a:lnTo>
                        <a:pt x="194" y="109"/>
                      </a:lnTo>
                      <a:lnTo>
                        <a:pt x="220" y="100"/>
                      </a:lnTo>
                      <a:lnTo>
                        <a:pt x="232" y="100"/>
                      </a:lnTo>
                      <a:lnTo>
                        <a:pt x="244" y="101"/>
                      </a:lnTo>
                      <a:lnTo>
                        <a:pt x="239" y="101"/>
                      </a:lnTo>
                      <a:lnTo>
                        <a:pt x="245" y="85"/>
                      </a:lnTo>
                      <a:lnTo>
                        <a:pt x="229" y="88"/>
                      </a:lnTo>
                      <a:lnTo>
                        <a:pt x="212" y="97"/>
                      </a:lnTo>
                      <a:lnTo>
                        <a:pt x="193" y="111"/>
                      </a:lnTo>
                      <a:lnTo>
                        <a:pt x="163" y="138"/>
                      </a:lnTo>
                      <a:lnTo>
                        <a:pt x="150" y="149"/>
                      </a:lnTo>
                      <a:lnTo>
                        <a:pt x="157" y="114"/>
                      </a:lnTo>
                      <a:lnTo>
                        <a:pt x="172" y="99"/>
                      </a:lnTo>
                      <a:lnTo>
                        <a:pt x="190" y="85"/>
                      </a:lnTo>
                      <a:lnTo>
                        <a:pt x="214" y="67"/>
                      </a:lnTo>
                      <a:lnTo>
                        <a:pt x="226" y="61"/>
                      </a:lnTo>
                      <a:lnTo>
                        <a:pt x="212" y="57"/>
                      </a:lnTo>
                      <a:lnTo>
                        <a:pt x="200" y="67"/>
                      </a:lnTo>
                      <a:lnTo>
                        <a:pt x="188" y="82"/>
                      </a:lnTo>
                      <a:lnTo>
                        <a:pt x="178" y="93"/>
                      </a:lnTo>
                      <a:lnTo>
                        <a:pt x="163" y="115"/>
                      </a:lnTo>
                      <a:lnTo>
                        <a:pt x="147" y="109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049" name="Group 25">
                <a:extLst>
                  <a:ext uri="{FF2B5EF4-FFF2-40B4-BE49-F238E27FC236}">
                    <a16:creationId xmlns:a16="http://schemas.microsoft.com/office/drawing/2014/main" id="{59D9CA3D-7A70-4A79-8904-505A0D3568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85" y="1419"/>
                <a:ext cx="465" cy="602"/>
                <a:chOff x="1985" y="1419"/>
                <a:chExt cx="465" cy="602"/>
              </a:xfrm>
            </p:grpSpPr>
            <p:sp>
              <p:nvSpPr>
                <p:cNvPr id="1050" name="Freeform 26">
                  <a:extLst>
                    <a:ext uri="{FF2B5EF4-FFF2-40B4-BE49-F238E27FC236}">
                      <a16:creationId xmlns:a16="http://schemas.microsoft.com/office/drawing/2014/main" id="{12A011A8-9EBA-46F6-9F69-631D432A7E8B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164" y="1525"/>
                  <a:ext cx="130" cy="496"/>
                </a:xfrm>
                <a:custGeom>
                  <a:avLst/>
                  <a:gdLst>
                    <a:gd name="T0" fmla="*/ 129 w 130"/>
                    <a:gd name="T1" fmla="*/ 230 h 496"/>
                    <a:gd name="T2" fmla="*/ 118 w 130"/>
                    <a:gd name="T3" fmla="*/ 330 h 496"/>
                    <a:gd name="T4" fmla="*/ 107 w 130"/>
                    <a:gd name="T5" fmla="*/ 411 h 496"/>
                    <a:gd name="T6" fmla="*/ 100 w 130"/>
                    <a:gd name="T7" fmla="*/ 471 h 496"/>
                    <a:gd name="T8" fmla="*/ 101 w 130"/>
                    <a:gd name="T9" fmla="*/ 495 h 496"/>
                    <a:gd name="T10" fmla="*/ 86 w 130"/>
                    <a:gd name="T11" fmla="*/ 495 h 496"/>
                    <a:gd name="T12" fmla="*/ 81 w 130"/>
                    <a:gd name="T13" fmla="*/ 460 h 496"/>
                    <a:gd name="T14" fmla="*/ 79 w 130"/>
                    <a:gd name="T15" fmla="*/ 408 h 496"/>
                    <a:gd name="T16" fmla="*/ 73 w 130"/>
                    <a:gd name="T17" fmla="*/ 358 h 496"/>
                    <a:gd name="T18" fmla="*/ 70 w 130"/>
                    <a:gd name="T19" fmla="*/ 321 h 496"/>
                    <a:gd name="T20" fmla="*/ 64 w 130"/>
                    <a:gd name="T21" fmla="*/ 268 h 496"/>
                    <a:gd name="T22" fmla="*/ 56 w 130"/>
                    <a:gd name="T23" fmla="*/ 222 h 496"/>
                    <a:gd name="T24" fmla="*/ 51 w 130"/>
                    <a:gd name="T25" fmla="*/ 181 h 496"/>
                    <a:gd name="T26" fmla="*/ 45 w 130"/>
                    <a:gd name="T27" fmla="*/ 137 h 496"/>
                    <a:gd name="T28" fmla="*/ 35 w 130"/>
                    <a:gd name="T29" fmla="*/ 94 h 496"/>
                    <a:gd name="T30" fmla="*/ 24 w 130"/>
                    <a:gd name="T31" fmla="*/ 57 h 496"/>
                    <a:gd name="T32" fmla="*/ 6 w 130"/>
                    <a:gd name="T33" fmla="*/ 21 h 496"/>
                    <a:gd name="T34" fmla="*/ 0 w 130"/>
                    <a:gd name="T35" fmla="*/ 8 h 496"/>
                    <a:gd name="T36" fmla="*/ 7 w 130"/>
                    <a:gd name="T37" fmla="*/ 0 h 496"/>
                    <a:gd name="T38" fmla="*/ 19 w 130"/>
                    <a:gd name="T39" fmla="*/ 14 h 496"/>
                    <a:gd name="T40" fmla="*/ 35 w 130"/>
                    <a:gd name="T41" fmla="*/ 47 h 496"/>
                    <a:gd name="T42" fmla="*/ 47 w 130"/>
                    <a:gd name="T43" fmla="*/ 81 h 496"/>
                    <a:gd name="T44" fmla="*/ 56 w 130"/>
                    <a:gd name="T45" fmla="*/ 116 h 496"/>
                    <a:gd name="T46" fmla="*/ 63 w 130"/>
                    <a:gd name="T47" fmla="*/ 161 h 496"/>
                    <a:gd name="T48" fmla="*/ 69 w 130"/>
                    <a:gd name="T49" fmla="*/ 204 h 496"/>
                    <a:gd name="T50" fmla="*/ 77 w 130"/>
                    <a:gd name="T51" fmla="*/ 262 h 496"/>
                    <a:gd name="T52" fmla="*/ 84 w 130"/>
                    <a:gd name="T53" fmla="*/ 309 h 496"/>
                    <a:gd name="T54" fmla="*/ 87 w 130"/>
                    <a:gd name="T55" fmla="*/ 347 h 496"/>
                    <a:gd name="T56" fmla="*/ 90 w 130"/>
                    <a:gd name="T57" fmla="*/ 386 h 496"/>
                    <a:gd name="T58" fmla="*/ 96 w 130"/>
                    <a:gd name="T59" fmla="*/ 427 h 496"/>
                    <a:gd name="T60" fmla="*/ 104 w 130"/>
                    <a:gd name="T61" fmla="*/ 357 h 496"/>
                    <a:gd name="T62" fmla="*/ 114 w 130"/>
                    <a:gd name="T63" fmla="*/ 292 h 496"/>
                    <a:gd name="T64" fmla="*/ 129 w 130"/>
                    <a:gd name="T65" fmla="*/ 230 h 49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130" h="496">
                      <a:moveTo>
                        <a:pt x="129" y="230"/>
                      </a:moveTo>
                      <a:lnTo>
                        <a:pt x="118" y="330"/>
                      </a:lnTo>
                      <a:lnTo>
                        <a:pt x="107" y="411"/>
                      </a:lnTo>
                      <a:lnTo>
                        <a:pt x="100" y="471"/>
                      </a:lnTo>
                      <a:lnTo>
                        <a:pt x="101" y="495"/>
                      </a:lnTo>
                      <a:lnTo>
                        <a:pt x="86" y="495"/>
                      </a:lnTo>
                      <a:lnTo>
                        <a:pt x="81" y="460"/>
                      </a:lnTo>
                      <a:lnTo>
                        <a:pt x="79" y="408"/>
                      </a:lnTo>
                      <a:lnTo>
                        <a:pt x="73" y="358"/>
                      </a:lnTo>
                      <a:lnTo>
                        <a:pt x="70" y="321"/>
                      </a:lnTo>
                      <a:lnTo>
                        <a:pt x="64" y="268"/>
                      </a:lnTo>
                      <a:lnTo>
                        <a:pt x="56" y="222"/>
                      </a:lnTo>
                      <a:lnTo>
                        <a:pt x="51" y="181"/>
                      </a:lnTo>
                      <a:lnTo>
                        <a:pt x="45" y="137"/>
                      </a:lnTo>
                      <a:lnTo>
                        <a:pt x="35" y="94"/>
                      </a:lnTo>
                      <a:lnTo>
                        <a:pt x="24" y="57"/>
                      </a:lnTo>
                      <a:lnTo>
                        <a:pt x="6" y="21"/>
                      </a:lnTo>
                      <a:lnTo>
                        <a:pt x="0" y="8"/>
                      </a:lnTo>
                      <a:lnTo>
                        <a:pt x="7" y="0"/>
                      </a:lnTo>
                      <a:lnTo>
                        <a:pt x="19" y="14"/>
                      </a:lnTo>
                      <a:lnTo>
                        <a:pt x="35" y="47"/>
                      </a:lnTo>
                      <a:lnTo>
                        <a:pt x="47" y="81"/>
                      </a:lnTo>
                      <a:lnTo>
                        <a:pt x="56" y="116"/>
                      </a:lnTo>
                      <a:lnTo>
                        <a:pt x="63" y="161"/>
                      </a:lnTo>
                      <a:lnTo>
                        <a:pt x="69" y="204"/>
                      </a:lnTo>
                      <a:lnTo>
                        <a:pt x="77" y="262"/>
                      </a:lnTo>
                      <a:lnTo>
                        <a:pt x="84" y="309"/>
                      </a:lnTo>
                      <a:lnTo>
                        <a:pt x="87" y="347"/>
                      </a:lnTo>
                      <a:lnTo>
                        <a:pt x="90" y="386"/>
                      </a:lnTo>
                      <a:lnTo>
                        <a:pt x="96" y="427"/>
                      </a:lnTo>
                      <a:lnTo>
                        <a:pt x="104" y="357"/>
                      </a:lnTo>
                      <a:lnTo>
                        <a:pt x="114" y="292"/>
                      </a:lnTo>
                      <a:lnTo>
                        <a:pt x="129" y="230"/>
                      </a:lnTo>
                    </a:path>
                  </a:pathLst>
                </a:custGeom>
                <a:solidFill>
                  <a:srgbClr val="3C002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1" name="Freeform 27">
                  <a:extLst>
                    <a:ext uri="{FF2B5EF4-FFF2-40B4-BE49-F238E27FC236}">
                      <a16:creationId xmlns:a16="http://schemas.microsoft.com/office/drawing/2014/main" id="{5B57BF48-4E7D-4795-AC80-CA6C5A010EDE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204" y="1606"/>
                  <a:ext cx="229" cy="355"/>
                </a:xfrm>
                <a:custGeom>
                  <a:avLst/>
                  <a:gdLst>
                    <a:gd name="T0" fmla="*/ 60 w 229"/>
                    <a:gd name="T1" fmla="*/ 58 h 358"/>
                    <a:gd name="T2" fmla="*/ 67 w 229"/>
                    <a:gd name="T3" fmla="*/ 44 h 358"/>
                    <a:gd name="T4" fmla="*/ 64 w 229"/>
                    <a:gd name="T5" fmla="*/ 5 h 358"/>
                    <a:gd name="T6" fmla="*/ 64 w 229"/>
                    <a:gd name="T7" fmla="*/ 5 h 358"/>
                    <a:gd name="T8" fmla="*/ 64 w 229"/>
                    <a:gd name="T9" fmla="*/ 5 h 358"/>
                    <a:gd name="T10" fmla="*/ 64 w 229"/>
                    <a:gd name="T11" fmla="*/ 5 h 358"/>
                    <a:gd name="T12" fmla="*/ 64 w 229"/>
                    <a:gd name="T13" fmla="*/ 5 h 358"/>
                    <a:gd name="T14" fmla="*/ 70 w 229"/>
                    <a:gd name="T15" fmla="*/ 2 h 358"/>
                    <a:gd name="T16" fmla="*/ 82 w 229"/>
                    <a:gd name="T17" fmla="*/ 59 h 358"/>
                    <a:gd name="T18" fmla="*/ 94 w 229"/>
                    <a:gd name="T19" fmla="*/ 39 h 358"/>
                    <a:gd name="T20" fmla="*/ 101 w 229"/>
                    <a:gd name="T21" fmla="*/ 5 h 358"/>
                    <a:gd name="T22" fmla="*/ 104 w 229"/>
                    <a:gd name="T23" fmla="*/ 5 h 358"/>
                    <a:gd name="T24" fmla="*/ 103 w 229"/>
                    <a:gd name="T25" fmla="*/ 5 h 358"/>
                    <a:gd name="T26" fmla="*/ 104 w 229"/>
                    <a:gd name="T27" fmla="*/ 5 h 358"/>
                    <a:gd name="T28" fmla="*/ 102 w 229"/>
                    <a:gd name="T29" fmla="*/ 5 h 358"/>
                    <a:gd name="T30" fmla="*/ 103 w 229"/>
                    <a:gd name="T31" fmla="*/ 5 h 358"/>
                    <a:gd name="T32" fmla="*/ 105 w 229"/>
                    <a:gd name="T33" fmla="*/ 47 h 358"/>
                    <a:gd name="T34" fmla="*/ 111 w 229"/>
                    <a:gd name="T35" fmla="*/ 64 h 358"/>
                    <a:gd name="T36" fmla="*/ 139 w 229"/>
                    <a:gd name="T37" fmla="*/ 59 h 358"/>
                    <a:gd name="T38" fmla="*/ 176 w 229"/>
                    <a:gd name="T39" fmla="*/ 59 h 358"/>
                    <a:gd name="T40" fmla="*/ 205 w 229"/>
                    <a:gd name="T41" fmla="*/ 80 h 358"/>
                    <a:gd name="T42" fmla="*/ 228 w 229"/>
                    <a:gd name="T43" fmla="*/ 131 h 358"/>
                    <a:gd name="T44" fmla="*/ 200 w 229"/>
                    <a:gd name="T45" fmla="*/ 123 h 358"/>
                    <a:gd name="T46" fmla="*/ 171 w 229"/>
                    <a:gd name="T47" fmla="*/ 107 h 358"/>
                    <a:gd name="T48" fmla="*/ 132 w 229"/>
                    <a:gd name="T49" fmla="*/ 97 h 358"/>
                    <a:gd name="T50" fmla="*/ 107 w 229"/>
                    <a:gd name="T51" fmla="*/ 101 h 358"/>
                    <a:gd name="T52" fmla="*/ 122 w 229"/>
                    <a:gd name="T53" fmla="*/ 126 h 358"/>
                    <a:gd name="T54" fmla="*/ 154 w 229"/>
                    <a:gd name="T55" fmla="*/ 141 h 358"/>
                    <a:gd name="T56" fmla="*/ 187 w 229"/>
                    <a:gd name="T57" fmla="*/ 151 h 358"/>
                    <a:gd name="T58" fmla="*/ 212 w 229"/>
                    <a:gd name="T59" fmla="*/ 171 h 358"/>
                    <a:gd name="T60" fmla="*/ 224 w 229"/>
                    <a:gd name="T61" fmla="*/ 214 h 358"/>
                    <a:gd name="T62" fmla="*/ 194 w 229"/>
                    <a:gd name="T63" fmla="*/ 183 h 358"/>
                    <a:gd name="T64" fmla="*/ 163 w 229"/>
                    <a:gd name="T65" fmla="*/ 165 h 358"/>
                    <a:gd name="T66" fmla="*/ 133 w 229"/>
                    <a:gd name="T67" fmla="*/ 148 h 358"/>
                    <a:gd name="T68" fmla="*/ 111 w 229"/>
                    <a:gd name="T69" fmla="*/ 135 h 358"/>
                    <a:gd name="T70" fmla="*/ 97 w 229"/>
                    <a:gd name="T71" fmla="*/ 158 h 358"/>
                    <a:gd name="T72" fmla="*/ 115 w 229"/>
                    <a:gd name="T73" fmla="*/ 197 h 358"/>
                    <a:gd name="T74" fmla="*/ 132 w 229"/>
                    <a:gd name="T75" fmla="*/ 259 h 358"/>
                    <a:gd name="T76" fmla="*/ 114 w 229"/>
                    <a:gd name="T77" fmla="*/ 270 h 358"/>
                    <a:gd name="T78" fmla="*/ 95 w 229"/>
                    <a:gd name="T79" fmla="*/ 188 h 358"/>
                    <a:gd name="T80" fmla="*/ 78 w 229"/>
                    <a:gd name="T81" fmla="*/ 155 h 358"/>
                    <a:gd name="T82" fmla="*/ 73 w 229"/>
                    <a:gd name="T83" fmla="*/ 164 h 358"/>
                    <a:gd name="T84" fmla="*/ 74 w 229"/>
                    <a:gd name="T85" fmla="*/ 158 h 358"/>
                    <a:gd name="T86" fmla="*/ 70 w 229"/>
                    <a:gd name="T87" fmla="*/ 168 h 358"/>
                    <a:gd name="T88" fmla="*/ 51 w 229"/>
                    <a:gd name="T89" fmla="*/ 209 h 358"/>
                    <a:gd name="T90" fmla="*/ 32 w 229"/>
                    <a:gd name="T91" fmla="*/ 266 h 358"/>
                    <a:gd name="T92" fmla="*/ 28 w 229"/>
                    <a:gd name="T93" fmla="*/ 254 h 358"/>
                    <a:gd name="T94" fmla="*/ 38 w 229"/>
                    <a:gd name="T95" fmla="*/ 201 h 358"/>
                    <a:gd name="T96" fmla="*/ 59 w 229"/>
                    <a:gd name="T97" fmla="*/ 160 h 358"/>
                    <a:gd name="T98" fmla="*/ 82 w 229"/>
                    <a:gd name="T99" fmla="*/ 119 h 358"/>
                    <a:gd name="T100" fmla="*/ 65 w 229"/>
                    <a:gd name="T101" fmla="*/ 115 h 358"/>
                    <a:gd name="T102" fmla="*/ 40 w 229"/>
                    <a:gd name="T103" fmla="*/ 160 h 358"/>
                    <a:gd name="T104" fmla="*/ 18 w 229"/>
                    <a:gd name="T105" fmla="*/ 195 h 358"/>
                    <a:gd name="T106" fmla="*/ 2 w 229"/>
                    <a:gd name="T107" fmla="*/ 230 h 358"/>
                    <a:gd name="T108" fmla="*/ 13 w 229"/>
                    <a:gd name="T109" fmla="*/ 181 h 358"/>
                    <a:gd name="T110" fmla="*/ 37 w 229"/>
                    <a:gd name="T111" fmla="*/ 155 h 358"/>
                    <a:gd name="T112" fmla="*/ 70 w 229"/>
                    <a:gd name="T113" fmla="*/ 106 h 358"/>
                    <a:gd name="T114" fmla="*/ 62 w 229"/>
                    <a:gd name="T115" fmla="*/ 75 h 358"/>
                    <a:gd name="T116" fmla="*/ 37 w 229"/>
                    <a:gd name="T117" fmla="*/ 59 h 358"/>
                    <a:gd name="T118" fmla="*/ 11 w 229"/>
                    <a:gd name="T119" fmla="*/ 12 h 358"/>
                    <a:gd name="T120" fmla="*/ 14 w 229"/>
                    <a:gd name="T121" fmla="*/ 5 h 358"/>
                    <a:gd name="T122" fmla="*/ 27 w 229"/>
                    <a:gd name="T123" fmla="*/ 5 h 358"/>
                    <a:gd name="T124" fmla="*/ 31 w 229"/>
                    <a:gd name="T125" fmla="*/ 10 h 358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60000 65536"/>
                    <a:gd name="T187" fmla="*/ 0 60000 65536"/>
                    <a:gd name="T188" fmla="*/ 0 60000 65536"/>
                  </a:gdLst>
                  <a:ahLst/>
                  <a:cxnLst>
                    <a:cxn ang="T126">
                      <a:pos x="T0" y="T1"/>
                    </a:cxn>
                    <a:cxn ang="T127">
                      <a:pos x="T2" y="T3"/>
                    </a:cxn>
                    <a:cxn ang="T128">
                      <a:pos x="T4" y="T5"/>
                    </a:cxn>
                    <a:cxn ang="T129">
                      <a:pos x="T6" y="T7"/>
                    </a:cxn>
                    <a:cxn ang="T130">
                      <a:pos x="T8" y="T9"/>
                    </a:cxn>
                    <a:cxn ang="T131">
                      <a:pos x="T10" y="T11"/>
                    </a:cxn>
                    <a:cxn ang="T132">
                      <a:pos x="T12" y="T13"/>
                    </a:cxn>
                    <a:cxn ang="T133">
                      <a:pos x="T14" y="T15"/>
                    </a:cxn>
                    <a:cxn ang="T134">
                      <a:pos x="T16" y="T17"/>
                    </a:cxn>
                    <a:cxn ang="T135">
                      <a:pos x="T18" y="T19"/>
                    </a:cxn>
                    <a:cxn ang="T136">
                      <a:pos x="T20" y="T21"/>
                    </a:cxn>
                    <a:cxn ang="T137">
                      <a:pos x="T22" y="T23"/>
                    </a:cxn>
                    <a:cxn ang="T138">
                      <a:pos x="T24" y="T25"/>
                    </a:cxn>
                    <a:cxn ang="T139">
                      <a:pos x="T26" y="T27"/>
                    </a:cxn>
                    <a:cxn ang="T140">
                      <a:pos x="T28" y="T29"/>
                    </a:cxn>
                    <a:cxn ang="T141">
                      <a:pos x="T30" y="T31"/>
                    </a:cxn>
                    <a:cxn ang="T142">
                      <a:pos x="T32" y="T33"/>
                    </a:cxn>
                    <a:cxn ang="T143">
                      <a:pos x="T34" y="T35"/>
                    </a:cxn>
                    <a:cxn ang="T144">
                      <a:pos x="T36" y="T37"/>
                    </a:cxn>
                    <a:cxn ang="T145">
                      <a:pos x="T38" y="T39"/>
                    </a:cxn>
                    <a:cxn ang="T146">
                      <a:pos x="T40" y="T41"/>
                    </a:cxn>
                    <a:cxn ang="T147">
                      <a:pos x="T42" y="T43"/>
                    </a:cxn>
                    <a:cxn ang="T148">
                      <a:pos x="T44" y="T45"/>
                    </a:cxn>
                    <a:cxn ang="T149">
                      <a:pos x="T46" y="T47"/>
                    </a:cxn>
                    <a:cxn ang="T150">
                      <a:pos x="T48" y="T49"/>
                    </a:cxn>
                    <a:cxn ang="T151">
                      <a:pos x="T50" y="T51"/>
                    </a:cxn>
                    <a:cxn ang="T152">
                      <a:pos x="T52" y="T53"/>
                    </a:cxn>
                    <a:cxn ang="T153">
                      <a:pos x="T54" y="T55"/>
                    </a:cxn>
                    <a:cxn ang="T154">
                      <a:pos x="T56" y="T57"/>
                    </a:cxn>
                    <a:cxn ang="T155">
                      <a:pos x="T58" y="T59"/>
                    </a:cxn>
                    <a:cxn ang="T156">
                      <a:pos x="T60" y="T61"/>
                    </a:cxn>
                    <a:cxn ang="T157">
                      <a:pos x="T62" y="T63"/>
                    </a:cxn>
                    <a:cxn ang="T158">
                      <a:pos x="T64" y="T65"/>
                    </a:cxn>
                    <a:cxn ang="T159">
                      <a:pos x="T66" y="T67"/>
                    </a:cxn>
                    <a:cxn ang="T160">
                      <a:pos x="T68" y="T69"/>
                    </a:cxn>
                    <a:cxn ang="T161">
                      <a:pos x="T70" y="T71"/>
                    </a:cxn>
                    <a:cxn ang="T162">
                      <a:pos x="T72" y="T73"/>
                    </a:cxn>
                    <a:cxn ang="T163">
                      <a:pos x="T74" y="T75"/>
                    </a:cxn>
                    <a:cxn ang="T164">
                      <a:pos x="T76" y="T77"/>
                    </a:cxn>
                    <a:cxn ang="T165">
                      <a:pos x="T78" y="T79"/>
                    </a:cxn>
                    <a:cxn ang="T166">
                      <a:pos x="T80" y="T81"/>
                    </a:cxn>
                    <a:cxn ang="T167">
                      <a:pos x="T82" y="T83"/>
                    </a:cxn>
                    <a:cxn ang="T168">
                      <a:pos x="T84" y="T85"/>
                    </a:cxn>
                    <a:cxn ang="T169">
                      <a:pos x="T86" y="T87"/>
                    </a:cxn>
                    <a:cxn ang="T170">
                      <a:pos x="T88" y="T89"/>
                    </a:cxn>
                    <a:cxn ang="T171">
                      <a:pos x="T90" y="T91"/>
                    </a:cxn>
                    <a:cxn ang="T172">
                      <a:pos x="T92" y="T93"/>
                    </a:cxn>
                    <a:cxn ang="T173">
                      <a:pos x="T94" y="T95"/>
                    </a:cxn>
                    <a:cxn ang="T174">
                      <a:pos x="T96" y="T97"/>
                    </a:cxn>
                    <a:cxn ang="T175">
                      <a:pos x="T98" y="T99"/>
                    </a:cxn>
                    <a:cxn ang="T176">
                      <a:pos x="T100" y="T101"/>
                    </a:cxn>
                    <a:cxn ang="T177">
                      <a:pos x="T102" y="T103"/>
                    </a:cxn>
                    <a:cxn ang="T178">
                      <a:pos x="T104" y="T105"/>
                    </a:cxn>
                    <a:cxn ang="T179">
                      <a:pos x="T106" y="T107"/>
                    </a:cxn>
                    <a:cxn ang="T180">
                      <a:pos x="T108" y="T109"/>
                    </a:cxn>
                    <a:cxn ang="T181">
                      <a:pos x="T110" y="T111"/>
                    </a:cxn>
                    <a:cxn ang="T182">
                      <a:pos x="T112" y="T113"/>
                    </a:cxn>
                    <a:cxn ang="T183">
                      <a:pos x="T114" y="T115"/>
                    </a:cxn>
                    <a:cxn ang="T184">
                      <a:pos x="T116" y="T117"/>
                    </a:cxn>
                    <a:cxn ang="T185">
                      <a:pos x="T118" y="T119"/>
                    </a:cxn>
                    <a:cxn ang="T186">
                      <a:pos x="T120" y="T121"/>
                    </a:cxn>
                    <a:cxn ang="T187">
                      <a:pos x="T122" y="T123"/>
                    </a:cxn>
                    <a:cxn ang="T188">
                      <a:pos x="T124" y="T125"/>
                    </a:cxn>
                  </a:cxnLst>
                  <a:rect l="0" t="0" r="r" b="b"/>
                  <a:pathLst>
                    <a:path w="229" h="358">
                      <a:moveTo>
                        <a:pt x="43" y="31"/>
                      </a:moveTo>
                      <a:lnTo>
                        <a:pt x="47" y="39"/>
                      </a:lnTo>
                      <a:lnTo>
                        <a:pt x="51" y="44"/>
                      </a:lnTo>
                      <a:lnTo>
                        <a:pt x="55" y="51"/>
                      </a:lnTo>
                      <a:lnTo>
                        <a:pt x="60" y="58"/>
                      </a:lnTo>
                      <a:lnTo>
                        <a:pt x="64" y="63"/>
                      </a:lnTo>
                      <a:lnTo>
                        <a:pt x="68" y="66"/>
                      </a:lnTo>
                      <a:lnTo>
                        <a:pt x="72" y="69"/>
                      </a:lnTo>
                      <a:lnTo>
                        <a:pt x="70" y="58"/>
                      </a:lnTo>
                      <a:lnTo>
                        <a:pt x="67" y="44"/>
                      </a:lnTo>
                      <a:lnTo>
                        <a:pt x="65" y="30"/>
                      </a:lnTo>
                      <a:lnTo>
                        <a:pt x="63" y="15"/>
                      </a:lnTo>
                      <a:lnTo>
                        <a:pt x="64" y="5"/>
                      </a:lnTo>
                      <a:lnTo>
                        <a:pt x="69" y="5"/>
                      </a:lnTo>
                      <a:lnTo>
                        <a:pt x="70" y="5"/>
                      </a:lnTo>
                      <a:lnTo>
                        <a:pt x="70" y="2"/>
                      </a:lnTo>
                      <a:lnTo>
                        <a:pt x="73" y="16"/>
                      </a:lnTo>
                      <a:lnTo>
                        <a:pt x="76" y="30"/>
                      </a:lnTo>
                      <a:lnTo>
                        <a:pt x="78" y="41"/>
                      </a:lnTo>
                      <a:lnTo>
                        <a:pt x="81" y="56"/>
                      </a:lnTo>
                      <a:lnTo>
                        <a:pt x="82" y="66"/>
                      </a:lnTo>
                      <a:lnTo>
                        <a:pt x="84" y="71"/>
                      </a:lnTo>
                      <a:lnTo>
                        <a:pt x="87" y="66"/>
                      </a:lnTo>
                      <a:lnTo>
                        <a:pt x="89" y="59"/>
                      </a:lnTo>
                      <a:lnTo>
                        <a:pt x="93" y="52"/>
                      </a:lnTo>
                      <a:lnTo>
                        <a:pt x="94" y="39"/>
                      </a:lnTo>
                      <a:lnTo>
                        <a:pt x="95" y="30"/>
                      </a:lnTo>
                      <a:lnTo>
                        <a:pt x="96" y="14"/>
                      </a:lnTo>
                      <a:lnTo>
                        <a:pt x="96" y="0"/>
                      </a:lnTo>
                      <a:lnTo>
                        <a:pt x="101" y="5"/>
                      </a:lnTo>
                      <a:lnTo>
                        <a:pt x="102" y="5"/>
                      </a:lnTo>
                      <a:lnTo>
                        <a:pt x="103" y="5"/>
                      </a:lnTo>
                      <a:lnTo>
                        <a:pt x="104" y="5"/>
                      </a:lnTo>
                      <a:lnTo>
                        <a:pt x="105" y="5"/>
                      </a:lnTo>
                      <a:lnTo>
                        <a:pt x="104" y="5"/>
                      </a:lnTo>
                      <a:lnTo>
                        <a:pt x="102" y="5"/>
                      </a:lnTo>
                      <a:lnTo>
                        <a:pt x="103" y="5"/>
                      </a:lnTo>
                      <a:lnTo>
                        <a:pt x="105" y="5"/>
                      </a:lnTo>
                      <a:lnTo>
                        <a:pt x="103" y="5"/>
                      </a:lnTo>
                      <a:lnTo>
                        <a:pt x="101" y="5"/>
                      </a:lnTo>
                      <a:lnTo>
                        <a:pt x="102" y="5"/>
                      </a:lnTo>
                      <a:lnTo>
                        <a:pt x="101" y="5"/>
                      </a:lnTo>
                      <a:lnTo>
                        <a:pt x="104" y="5"/>
                      </a:lnTo>
                      <a:lnTo>
                        <a:pt x="103" y="5"/>
                      </a:lnTo>
                      <a:lnTo>
                        <a:pt x="100" y="5"/>
                      </a:lnTo>
                      <a:lnTo>
                        <a:pt x="101" y="5"/>
                      </a:lnTo>
                      <a:lnTo>
                        <a:pt x="103" y="5"/>
                      </a:lnTo>
                      <a:lnTo>
                        <a:pt x="102" y="5"/>
                      </a:lnTo>
                      <a:lnTo>
                        <a:pt x="104" y="5"/>
                      </a:lnTo>
                      <a:lnTo>
                        <a:pt x="102" y="5"/>
                      </a:lnTo>
                      <a:lnTo>
                        <a:pt x="107" y="5"/>
                      </a:lnTo>
                      <a:lnTo>
                        <a:pt x="103" y="5"/>
                      </a:lnTo>
                      <a:lnTo>
                        <a:pt x="104" y="5"/>
                      </a:lnTo>
                      <a:lnTo>
                        <a:pt x="107" y="2"/>
                      </a:lnTo>
                      <a:lnTo>
                        <a:pt x="107" y="15"/>
                      </a:lnTo>
                      <a:lnTo>
                        <a:pt x="106" y="31"/>
                      </a:lnTo>
                      <a:lnTo>
                        <a:pt x="105" y="47"/>
                      </a:lnTo>
                      <a:lnTo>
                        <a:pt x="103" y="66"/>
                      </a:lnTo>
                      <a:lnTo>
                        <a:pt x="102" y="83"/>
                      </a:lnTo>
                      <a:lnTo>
                        <a:pt x="101" y="100"/>
                      </a:lnTo>
                      <a:lnTo>
                        <a:pt x="105" y="95"/>
                      </a:lnTo>
                      <a:lnTo>
                        <a:pt x="111" y="88"/>
                      </a:lnTo>
                      <a:lnTo>
                        <a:pt x="118" y="80"/>
                      </a:lnTo>
                      <a:lnTo>
                        <a:pt x="123" y="78"/>
                      </a:lnTo>
                      <a:lnTo>
                        <a:pt x="129" y="76"/>
                      </a:lnTo>
                      <a:lnTo>
                        <a:pt x="134" y="79"/>
                      </a:lnTo>
                      <a:lnTo>
                        <a:pt x="139" y="79"/>
                      </a:lnTo>
                      <a:lnTo>
                        <a:pt x="146" y="81"/>
                      </a:lnTo>
                      <a:lnTo>
                        <a:pt x="154" y="83"/>
                      </a:lnTo>
                      <a:lnTo>
                        <a:pt x="162" y="83"/>
                      </a:lnTo>
                      <a:lnTo>
                        <a:pt x="169" y="81"/>
                      </a:lnTo>
                      <a:lnTo>
                        <a:pt x="176" y="81"/>
                      </a:lnTo>
                      <a:lnTo>
                        <a:pt x="182" y="83"/>
                      </a:lnTo>
                      <a:lnTo>
                        <a:pt x="188" y="88"/>
                      </a:lnTo>
                      <a:lnTo>
                        <a:pt x="195" y="93"/>
                      </a:lnTo>
                      <a:lnTo>
                        <a:pt x="200" y="98"/>
                      </a:lnTo>
                      <a:lnTo>
                        <a:pt x="205" y="104"/>
                      </a:lnTo>
                      <a:lnTo>
                        <a:pt x="211" y="112"/>
                      </a:lnTo>
                      <a:lnTo>
                        <a:pt x="214" y="117"/>
                      </a:lnTo>
                      <a:lnTo>
                        <a:pt x="220" y="129"/>
                      </a:lnTo>
                      <a:lnTo>
                        <a:pt x="223" y="142"/>
                      </a:lnTo>
                      <a:lnTo>
                        <a:pt x="228" y="155"/>
                      </a:lnTo>
                      <a:lnTo>
                        <a:pt x="223" y="156"/>
                      </a:lnTo>
                      <a:lnTo>
                        <a:pt x="217" y="154"/>
                      </a:lnTo>
                      <a:lnTo>
                        <a:pt x="210" y="152"/>
                      </a:lnTo>
                      <a:lnTo>
                        <a:pt x="205" y="150"/>
                      </a:lnTo>
                      <a:lnTo>
                        <a:pt x="200" y="147"/>
                      </a:lnTo>
                      <a:lnTo>
                        <a:pt x="195" y="143"/>
                      </a:lnTo>
                      <a:lnTo>
                        <a:pt x="189" y="138"/>
                      </a:lnTo>
                      <a:lnTo>
                        <a:pt x="184" y="135"/>
                      </a:lnTo>
                      <a:lnTo>
                        <a:pt x="179" y="133"/>
                      </a:lnTo>
                      <a:lnTo>
                        <a:pt x="171" y="131"/>
                      </a:lnTo>
                      <a:lnTo>
                        <a:pt x="162" y="129"/>
                      </a:lnTo>
                      <a:lnTo>
                        <a:pt x="154" y="126"/>
                      </a:lnTo>
                      <a:lnTo>
                        <a:pt x="146" y="124"/>
                      </a:lnTo>
                      <a:lnTo>
                        <a:pt x="138" y="122"/>
                      </a:lnTo>
                      <a:lnTo>
                        <a:pt x="132" y="121"/>
                      </a:lnTo>
                      <a:lnTo>
                        <a:pt x="128" y="120"/>
                      </a:lnTo>
                      <a:lnTo>
                        <a:pt x="122" y="120"/>
                      </a:lnTo>
                      <a:lnTo>
                        <a:pt x="116" y="121"/>
                      </a:lnTo>
                      <a:lnTo>
                        <a:pt x="112" y="122"/>
                      </a:lnTo>
                      <a:lnTo>
                        <a:pt x="107" y="125"/>
                      </a:lnTo>
                      <a:lnTo>
                        <a:pt x="100" y="129"/>
                      </a:lnTo>
                      <a:lnTo>
                        <a:pt x="105" y="135"/>
                      </a:lnTo>
                      <a:lnTo>
                        <a:pt x="111" y="140"/>
                      </a:lnTo>
                      <a:lnTo>
                        <a:pt x="116" y="147"/>
                      </a:lnTo>
                      <a:lnTo>
                        <a:pt x="122" y="150"/>
                      </a:lnTo>
                      <a:lnTo>
                        <a:pt x="129" y="155"/>
                      </a:lnTo>
                      <a:lnTo>
                        <a:pt x="133" y="158"/>
                      </a:lnTo>
                      <a:lnTo>
                        <a:pt x="139" y="159"/>
                      </a:lnTo>
                      <a:lnTo>
                        <a:pt x="147" y="162"/>
                      </a:lnTo>
                      <a:lnTo>
                        <a:pt x="154" y="165"/>
                      </a:lnTo>
                      <a:lnTo>
                        <a:pt x="161" y="167"/>
                      </a:lnTo>
                      <a:lnTo>
                        <a:pt x="168" y="169"/>
                      </a:lnTo>
                      <a:lnTo>
                        <a:pt x="174" y="170"/>
                      </a:lnTo>
                      <a:lnTo>
                        <a:pt x="181" y="174"/>
                      </a:lnTo>
                      <a:lnTo>
                        <a:pt x="187" y="175"/>
                      </a:lnTo>
                      <a:lnTo>
                        <a:pt x="191" y="179"/>
                      </a:lnTo>
                      <a:lnTo>
                        <a:pt x="197" y="186"/>
                      </a:lnTo>
                      <a:lnTo>
                        <a:pt x="202" y="193"/>
                      </a:lnTo>
                      <a:lnTo>
                        <a:pt x="206" y="202"/>
                      </a:lnTo>
                      <a:lnTo>
                        <a:pt x="212" y="212"/>
                      </a:lnTo>
                      <a:lnTo>
                        <a:pt x="214" y="218"/>
                      </a:lnTo>
                      <a:lnTo>
                        <a:pt x="217" y="229"/>
                      </a:lnTo>
                      <a:lnTo>
                        <a:pt x="219" y="240"/>
                      </a:lnTo>
                      <a:lnTo>
                        <a:pt x="221" y="253"/>
                      </a:lnTo>
                      <a:lnTo>
                        <a:pt x="224" y="262"/>
                      </a:lnTo>
                      <a:lnTo>
                        <a:pt x="219" y="257"/>
                      </a:lnTo>
                      <a:lnTo>
                        <a:pt x="212" y="250"/>
                      </a:lnTo>
                      <a:lnTo>
                        <a:pt x="206" y="245"/>
                      </a:lnTo>
                      <a:lnTo>
                        <a:pt x="200" y="238"/>
                      </a:lnTo>
                      <a:lnTo>
                        <a:pt x="194" y="231"/>
                      </a:lnTo>
                      <a:lnTo>
                        <a:pt x="188" y="226"/>
                      </a:lnTo>
                      <a:lnTo>
                        <a:pt x="182" y="219"/>
                      </a:lnTo>
                      <a:lnTo>
                        <a:pt x="176" y="213"/>
                      </a:lnTo>
                      <a:lnTo>
                        <a:pt x="169" y="206"/>
                      </a:lnTo>
                      <a:lnTo>
                        <a:pt x="163" y="199"/>
                      </a:lnTo>
                      <a:lnTo>
                        <a:pt x="158" y="194"/>
                      </a:lnTo>
                      <a:lnTo>
                        <a:pt x="151" y="187"/>
                      </a:lnTo>
                      <a:lnTo>
                        <a:pt x="145" y="182"/>
                      </a:lnTo>
                      <a:lnTo>
                        <a:pt x="139" y="177"/>
                      </a:lnTo>
                      <a:lnTo>
                        <a:pt x="133" y="172"/>
                      </a:lnTo>
                      <a:lnTo>
                        <a:pt x="129" y="170"/>
                      </a:lnTo>
                      <a:lnTo>
                        <a:pt x="125" y="166"/>
                      </a:lnTo>
                      <a:lnTo>
                        <a:pt x="119" y="162"/>
                      </a:lnTo>
                      <a:lnTo>
                        <a:pt x="115" y="158"/>
                      </a:lnTo>
                      <a:lnTo>
                        <a:pt x="111" y="159"/>
                      </a:lnTo>
                      <a:lnTo>
                        <a:pt x="107" y="162"/>
                      </a:lnTo>
                      <a:lnTo>
                        <a:pt x="103" y="161"/>
                      </a:lnTo>
                      <a:lnTo>
                        <a:pt x="99" y="158"/>
                      </a:lnTo>
                      <a:lnTo>
                        <a:pt x="98" y="170"/>
                      </a:lnTo>
                      <a:lnTo>
                        <a:pt x="97" y="185"/>
                      </a:lnTo>
                      <a:lnTo>
                        <a:pt x="100" y="197"/>
                      </a:lnTo>
                      <a:lnTo>
                        <a:pt x="102" y="211"/>
                      </a:lnTo>
                      <a:lnTo>
                        <a:pt x="107" y="220"/>
                      </a:lnTo>
                      <a:lnTo>
                        <a:pt x="111" y="231"/>
                      </a:lnTo>
                      <a:lnTo>
                        <a:pt x="115" y="245"/>
                      </a:lnTo>
                      <a:lnTo>
                        <a:pt x="119" y="259"/>
                      </a:lnTo>
                      <a:lnTo>
                        <a:pt x="123" y="268"/>
                      </a:lnTo>
                      <a:lnTo>
                        <a:pt x="127" y="278"/>
                      </a:lnTo>
                      <a:lnTo>
                        <a:pt x="131" y="297"/>
                      </a:lnTo>
                      <a:lnTo>
                        <a:pt x="132" y="312"/>
                      </a:lnTo>
                      <a:lnTo>
                        <a:pt x="135" y="331"/>
                      </a:lnTo>
                      <a:lnTo>
                        <a:pt x="138" y="349"/>
                      </a:lnTo>
                      <a:lnTo>
                        <a:pt x="125" y="349"/>
                      </a:lnTo>
                      <a:lnTo>
                        <a:pt x="122" y="349"/>
                      </a:lnTo>
                      <a:lnTo>
                        <a:pt x="114" y="328"/>
                      </a:lnTo>
                      <a:lnTo>
                        <a:pt x="108" y="307"/>
                      </a:lnTo>
                      <a:lnTo>
                        <a:pt x="103" y="290"/>
                      </a:lnTo>
                      <a:lnTo>
                        <a:pt x="100" y="273"/>
                      </a:lnTo>
                      <a:lnTo>
                        <a:pt x="98" y="255"/>
                      </a:lnTo>
                      <a:lnTo>
                        <a:pt x="95" y="236"/>
                      </a:lnTo>
                      <a:lnTo>
                        <a:pt x="90" y="209"/>
                      </a:lnTo>
                      <a:lnTo>
                        <a:pt x="87" y="200"/>
                      </a:lnTo>
                      <a:lnTo>
                        <a:pt x="84" y="184"/>
                      </a:lnTo>
                      <a:lnTo>
                        <a:pt x="81" y="177"/>
                      </a:lnTo>
                      <a:lnTo>
                        <a:pt x="78" y="179"/>
                      </a:lnTo>
                      <a:lnTo>
                        <a:pt x="75" y="181"/>
                      </a:lnTo>
                      <a:lnTo>
                        <a:pt x="74" y="191"/>
                      </a:lnTo>
                      <a:lnTo>
                        <a:pt x="74" y="186"/>
                      </a:lnTo>
                      <a:lnTo>
                        <a:pt x="74" y="192"/>
                      </a:lnTo>
                      <a:lnTo>
                        <a:pt x="73" y="197"/>
                      </a:lnTo>
                      <a:lnTo>
                        <a:pt x="72" y="198"/>
                      </a:lnTo>
                      <a:lnTo>
                        <a:pt x="74" y="197"/>
                      </a:lnTo>
                      <a:lnTo>
                        <a:pt x="73" y="194"/>
                      </a:lnTo>
                      <a:lnTo>
                        <a:pt x="74" y="189"/>
                      </a:lnTo>
                      <a:lnTo>
                        <a:pt x="74" y="186"/>
                      </a:lnTo>
                      <a:lnTo>
                        <a:pt x="74" y="187"/>
                      </a:lnTo>
                      <a:lnTo>
                        <a:pt x="74" y="192"/>
                      </a:lnTo>
                      <a:lnTo>
                        <a:pt x="75" y="197"/>
                      </a:lnTo>
                      <a:lnTo>
                        <a:pt x="73" y="198"/>
                      </a:lnTo>
                      <a:lnTo>
                        <a:pt x="70" y="206"/>
                      </a:lnTo>
                      <a:lnTo>
                        <a:pt x="65" y="218"/>
                      </a:lnTo>
                      <a:lnTo>
                        <a:pt x="61" y="227"/>
                      </a:lnTo>
                      <a:lnTo>
                        <a:pt x="58" y="236"/>
                      </a:lnTo>
                      <a:lnTo>
                        <a:pt x="54" y="248"/>
                      </a:lnTo>
                      <a:lnTo>
                        <a:pt x="51" y="257"/>
                      </a:lnTo>
                      <a:lnTo>
                        <a:pt x="47" y="268"/>
                      </a:lnTo>
                      <a:lnTo>
                        <a:pt x="43" y="280"/>
                      </a:lnTo>
                      <a:lnTo>
                        <a:pt x="40" y="293"/>
                      </a:lnTo>
                      <a:lnTo>
                        <a:pt x="36" y="307"/>
                      </a:lnTo>
                      <a:lnTo>
                        <a:pt x="32" y="322"/>
                      </a:lnTo>
                      <a:lnTo>
                        <a:pt x="29" y="339"/>
                      </a:lnTo>
                      <a:lnTo>
                        <a:pt x="24" y="357"/>
                      </a:lnTo>
                      <a:lnTo>
                        <a:pt x="26" y="335"/>
                      </a:lnTo>
                      <a:lnTo>
                        <a:pt x="27" y="321"/>
                      </a:lnTo>
                      <a:lnTo>
                        <a:pt x="28" y="304"/>
                      </a:lnTo>
                      <a:lnTo>
                        <a:pt x="29" y="295"/>
                      </a:lnTo>
                      <a:lnTo>
                        <a:pt x="31" y="287"/>
                      </a:lnTo>
                      <a:lnTo>
                        <a:pt x="33" y="273"/>
                      </a:lnTo>
                      <a:lnTo>
                        <a:pt x="36" y="260"/>
                      </a:lnTo>
                      <a:lnTo>
                        <a:pt x="38" y="249"/>
                      </a:lnTo>
                      <a:lnTo>
                        <a:pt x="43" y="236"/>
                      </a:lnTo>
                      <a:lnTo>
                        <a:pt x="47" y="224"/>
                      </a:lnTo>
                      <a:lnTo>
                        <a:pt x="52" y="211"/>
                      </a:lnTo>
                      <a:lnTo>
                        <a:pt x="56" y="197"/>
                      </a:lnTo>
                      <a:lnTo>
                        <a:pt x="59" y="189"/>
                      </a:lnTo>
                      <a:lnTo>
                        <a:pt x="63" y="181"/>
                      </a:lnTo>
                      <a:lnTo>
                        <a:pt x="68" y="172"/>
                      </a:lnTo>
                      <a:lnTo>
                        <a:pt x="73" y="164"/>
                      </a:lnTo>
                      <a:lnTo>
                        <a:pt x="77" y="154"/>
                      </a:lnTo>
                      <a:lnTo>
                        <a:pt x="82" y="143"/>
                      </a:lnTo>
                      <a:lnTo>
                        <a:pt x="80" y="139"/>
                      </a:lnTo>
                      <a:lnTo>
                        <a:pt x="76" y="133"/>
                      </a:lnTo>
                      <a:lnTo>
                        <a:pt x="73" y="129"/>
                      </a:lnTo>
                      <a:lnTo>
                        <a:pt x="70" y="132"/>
                      </a:lnTo>
                      <a:lnTo>
                        <a:pt x="65" y="139"/>
                      </a:lnTo>
                      <a:lnTo>
                        <a:pt x="60" y="147"/>
                      </a:lnTo>
                      <a:lnTo>
                        <a:pt x="55" y="154"/>
                      </a:lnTo>
                      <a:lnTo>
                        <a:pt x="51" y="164"/>
                      </a:lnTo>
                      <a:lnTo>
                        <a:pt x="45" y="177"/>
                      </a:lnTo>
                      <a:lnTo>
                        <a:pt x="40" y="189"/>
                      </a:lnTo>
                      <a:lnTo>
                        <a:pt x="36" y="199"/>
                      </a:lnTo>
                      <a:lnTo>
                        <a:pt x="31" y="207"/>
                      </a:lnTo>
                      <a:lnTo>
                        <a:pt x="27" y="218"/>
                      </a:lnTo>
                      <a:lnTo>
                        <a:pt x="22" y="230"/>
                      </a:lnTo>
                      <a:lnTo>
                        <a:pt x="18" y="243"/>
                      </a:lnTo>
                      <a:lnTo>
                        <a:pt x="14" y="255"/>
                      </a:lnTo>
                      <a:lnTo>
                        <a:pt x="9" y="268"/>
                      </a:lnTo>
                      <a:lnTo>
                        <a:pt x="5" y="282"/>
                      </a:lnTo>
                      <a:lnTo>
                        <a:pt x="0" y="298"/>
                      </a:lnTo>
                      <a:lnTo>
                        <a:pt x="2" y="278"/>
                      </a:lnTo>
                      <a:lnTo>
                        <a:pt x="4" y="262"/>
                      </a:lnTo>
                      <a:lnTo>
                        <a:pt x="5" y="248"/>
                      </a:lnTo>
                      <a:lnTo>
                        <a:pt x="6" y="244"/>
                      </a:lnTo>
                      <a:lnTo>
                        <a:pt x="9" y="238"/>
                      </a:lnTo>
                      <a:lnTo>
                        <a:pt x="13" y="229"/>
                      </a:lnTo>
                      <a:lnTo>
                        <a:pt x="17" y="219"/>
                      </a:lnTo>
                      <a:lnTo>
                        <a:pt x="22" y="209"/>
                      </a:lnTo>
                      <a:lnTo>
                        <a:pt x="27" y="199"/>
                      </a:lnTo>
                      <a:lnTo>
                        <a:pt x="33" y="187"/>
                      </a:lnTo>
                      <a:lnTo>
                        <a:pt x="37" y="179"/>
                      </a:lnTo>
                      <a:lnTo>
                        <a:pt x="43" y="170"/>
                      </a:lnTo>
                      <a:lnTo>
                        <a:pt x="49" y="159"/>
                      </a:lnTo>
                      <a:lnTo>
                        <a:pt x="55" y="149"/>
                      </a:lnTo>
                      <a:lnTo>
                        <a:pt x="60" y="142"/>
                      </a:lnTo>
                      <a:lnTo>
                        <a:pt x="70" y="130"/>
                      </a:lnTo>
                      <a:lnTo>
                        <a:pt x="75" y="125"/>
                      </a:lnTo>
                      <a:lnTo>
                        <a:pt x="78" y="123"/>
                      </a:lnTo>
                      <a:lnTo>
                        <a:pt x="73" y="117"/>
                      </a:lnTo>
                      <a:lnTo>
                        <a:pt x="67" y="108"/>
                      </a:lnTo>
                      <a:lnTo>
                        <a:pt x="62" y="99"/>
                      </a:lnTo>
                      <a:lnTo>
                        <a:pt x="57" y="92"/>
                      </a:lnTo>
                      <a:lnTo>
                        <a:pt x="52" y="85"/>
                      </a:lnTo>
                      <a:lnTo>
                        <a:pt x="47" y="78"/>
                      </a:lnTo>
                      <a:lnTo>
                        <a:pt x="43" y="71"/>
                      </a:lnTo>
                      <a:lnTo>
                        <a:pt x="37" y="59"/>
                      </a:lnTo>
                      <a:lnTo>
                        <a:pt x="32" y="48"/>
                      </a:lnTo>
                      <a:lnTo>
                        <a:pt x="26" y="38"/>
                      </a:lnTo>
                      <a:lnTo>
                        <a:pt x="19" y="26"/>
                      </a:lnTo>
                      <a:lnTo>
                        <a:pt x="14" y="19"/>
                      </a:lnTo>
                      <a:lnTo>
                        <a:pt x="11" y="12"/>
                      </a:lnTo>
                      <a:lnTo>
                        <a:pt x="7" y="4"/>
                      </a:lnTo>
                      <a:lnTo>
                        <a:pt x="14" y="5"/>
                      </a:lnTo>
                      <a:lnTo>
                        <a:pt x="27" y="5"/>
                      </a:lnTo>
                      <a:lnTo>
                        <a:pt x="31" y="10"/>
                      </a:lnTo>
                      <a:lnTo>
                        <a:pt x="37" y="22"/>
                      </a:lnTo>
                      <a:lnTo>
                        <a:pt x="43" y="31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052" name="Group 28">
                  <a:extLst>
                    <a:ext uri="{FF2B5EF4-FFF2-40B4-BE49-F238E27FC236}">
                      <a16:creationId xmlns:a16="http://schemas.microsoft.com/office/drawing/2014/main" id="{961922DB-381C-4864-AA01-299525D563C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85" y="1419"/>
                  <a:ext cx="465" cy="349"/>
                  <a:chOff x="1985" y="1419"/>
                  <a:chExt cx="465" cy="349"/>
                </a:xfrm>
              </p:grpSpPr>
              <p:sp>
                <p:nvSpPr>
                  <p:cNvPr id="1053" name="Freeform 29">
                    <a:extLst>
                      <a:ext uri="{FF2B5EF4-FFF2-40B4-BE49-F238E27FC236}">
                        <a16:creationId xmlns:a16="http://schemas.microsoft.com/office/drawing/2014/main" id="{962ECCC4-7C7C-4C72-B36F-3B53DAF3C2D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2030" y="1419"/>
                    <a:ext cx="420" cy="326"/>
                  </a:xfrm>
                  <a:custGeom>
                    <a:avLst/>
                    <a:gdLst>
                      <a:gd name="T0" fmla="*/ 159 w 420"/>
                      <a:gd name="T1" fmla="*/ 41 h 326"/>
                      <a:gd name="T2" fmla="*/ 193 w 420"/>
                      <a:gd name="T3" fmla="*/ 13 h 326"/>
                      <a:gd name="T4" fmla="*/ 233 w 420"/>
                      <a:gd name="T5" fmla="*/ 2 h 326"/>
                      <a:gd name="T6" fmla="*/ 279 w 420"/>
                      <a:gd name="T7" fmla="*/ 2 h 326"/>
                      <a:gd name="T8" fmla="*/ 290 w 420"/>
                      <a:gd name="T9" fmla="*/ 6 h 326"/>
                      <a:gd name="T10" fmla="*/ 260 w 420"/>
                      <a:gd name="T11" fmla="*/ 14 h 326"/>
                      <a:gd name="T12" fmla="*/ 225 w 420"/>
                      <a:gd name="T13" fmla="*/ 25 h 326"/>
                      <a:gd name="T14" fmla="*/ 186 w 420"/>
                      <a:gd name="T15" fmla="*/ 52 h 326"/>
                      <a:gd name="T16" fmla="*/ 183 w 420"/>
                      <a:gd name="T17" fmla="*/ 89 h 326"/>
                      <a:gd name="T18" fmla="*/ 240 w 420"/>
                      <a:gd name="T19" fmla="*/ 66 h 326"/>
                      <a:gd name="T20" fmla="*/ 288 w 420"/>
                      <a:gd name="T21" fmla="*/ 64 h 326"/>
                      <a:gd name="T22" fmla="*/ 338 w 420"/>
                      <a:gd name="T23" fmla="*/ 69 h 326"/>
                      <a:gd name="T24" fmla="*/ 397 w 420"/>
                      <a:gd name="T25" fmla="*/ 75 h 326"/>
                      <a:gd name="T26" fmla="*/ 398 w 420"/>
                      <a:gd name="T27" fmla="*/ 76 h 326"/>
                      <a:gd name="T28" fmla="*/ 341 w 420"/>
                      <a:gd name="T29" fmla="*/ 79 h 326"/>
                      <a:gd name="T30" fmla="*/ 288 w 420"/>
                      <a:gd name="T31" fmla="*/ 80 h 326"/>
                      <a:gd name="T32" fmla="*/ 242 w 420"/>
                      <a:gd name="T33" fmla="*/ 86 h 326"/>
                      <a:gd name="T34" fmla="*/ 191 w 420"/>
                      <a:gd name="T35" fmla="*/ 98 h 326"/>
                      <a:gd name="T36" fmla="*/ 212 w 420"/>
                      <a:gd name="T37" fmla="*/ 118 h 326"/>
                      <a:gd name="T38" fmla="*/ 227 w 420"/>
                      <a:gd name="T39" fmla="*/ 136 h 326"/>
                      <a:gd name="T40" fmla="*/ 175 w 420"/>
                      <a:gd name="T41" fmla="*/ 119 h 326"/>
                      <a:gd name="T42" fmla="*/ 165 w 420"/>
                      <a:gd name="T43" fmla="*/ 129 h 326"/>
                      <a:gd name="T44" fmla="*/ 221 w 420"/>
                      <a:gd name="T45" fmla="*/ 138 h 326"/>
                      <a:gd name="T46" fmla="*/ 269 w 420"/>
                      <a:gd name="T47" fmla="*/ 150 h 326"/>
                      <a:gd name="T48" fmla="*/ 306 w 420"/>
                      <a:gd name="T49" fmla="*/ 181 h 326"/>
                      <a:gd name="T50" fmla="*/ 335 w 420"/>
                      <a:gd name="T51" fmla="*/ 223 h 326"/>
                      <a:gd name="T52" fmla="*/ 329 w 420"/>
                      <a:gd name="T53" fmla="*/ 231 h 326"/>
                      <a:gd name="T54" fmla="*/ 290 w 420"/>
                      <a:gd name="T55" fmla="*/ 204 h 326"/>
                      <a:gd name="T56" fmla="*/ 248 w 420"/>
                      <a:gd name="T57" fmla="*/ 174 h 326"/>
                      <a:gd name="T58" fmla="*/ 202 w 420"/>
                      <a:gd name="T59" fmla="*/ 154 h 326"/>
                      <a:gd name="T60" fmla="*/ 173 w 420"/>
                      <a:gd name="T61" fmla="*/ 148 h 326"/>
                      <a:gd name="T62" fmla="*/ 196 w 420"/>
                      <a:gd name="T63" fmla="*/ 181 h 326"/>
                      <a:gd name="T64" fmla="*/ 227 w 420"/>
                      <a:gd name="T65" fmla="*/ 223 h 326"/>
                      <a:gd name="T66" fmla="*/ 244 w 420"/>
                      <a:gd name="T67" fmla="*/ 262 h 326"/>
                      <a:gd name="T68" fmla="*/ 243 w 420"/>
                      <a:gd name="T69" fmla="*/ 299 h 326"/>
                      <a:gd name="T70" fmla="*/ 222 w 420"/>
                      <a:gd name="T71" fmla="*/ 259 h 326"/>
                      <a:gd name="T72" fmla="*/ 199 w 420"/>
                      <a:gd name="T73" fmla="*/ 215 h 326"/>
                      <a:gd name="T74" fmla="*/ 173 w 420"/>
                      <a:gd name="T75" fmla="*/ 177 h 326"/>
                      <a:gd name="T76" fmla="*/ 150 w 420"/>
                      <a:gd name="T77" fmla="*/ 142 h 326"/>
                      <a:gd name="T78" fmla="*/ 109 w 420"/>
                      <a:gd name="T79" fmla="*/ 162 h 326"/>
                      <a:gd name="T80" fmla="*/ 77 w 420"/>
                      <a:gd name="T81" fmla="*/ 210 h 326"/>
                      <a:gd name="T82" fmla="*/ 49 w 420"/>
                      <a:gd name="T83" fmla="*/ 260 h 326"/>
                      <a:gd name="T84" fmla="*/ 18 w 420"/>
                      <a:gd name="T85" fmla="*/ 306 h 326"/>
                      <a:gd name="T86" fmla="*/ 8 w 420"/>
                      <a:gd name="T87" fmla="*/ 301 h 326"/>
                      <a:gd name="T88" fmla="*/ 45 w 420"/>
                      <a:gd name="T89" fmla="*/ 243 h 326"/>
                      <a:gd name="T90" fmla="*/ 78 w 420"/>
                      <a:gd name="T91" fmla="*/ 198 h 326"/>
                      <a:gd name="T92" fmla="*/ 107 w 420"/>
                      <a:gd name="T93" fmla="*/ 154 h 326"/>
                      <a:gd name="T94" fmla="*/ 132 w 420"/>
                      <a:gd name="T95" fmla="*/ 120 h 326"/>
                      <a:gd name="T96" fmla="*/ 95 w 420"/>
                      <a:gd name="T97" fmla="*/ 79 h 326"/>
                      <a:gd name="T98" fmla="*/ 42 w 420"/>
                      <a:gd name="T99" fmla="*/ 57 h 326"/>
                      <a:gd name="T100" fmla="*/ 19 w 420"/>
                      <a:gd name="T101" fmla="*/ 45 h 326"/>
                      <a:gd name="T102" fmla="*/ 60 w 420"/>
                      <a:gd name="T103" fmla="*/ 58 h 326"/>
                      <a:gd name="T104" fmla="*/ 116 w 420"/>
                      <a:gd name="T105" fmla="*/ 86 h 32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</a:gdLst>
                    <a:ahLst/>
                    <a:cxnLst>
                      <a:cxn ang="T106">
                        <a:pos x="T0" y="T1"/>
                      </a:cxn>
                      <a:cxn ang="T107">
                        <a:pos x="T2" y="T3"/>
                      </a:cxn>
                      <a:cxn ang="T108">
                        <a:pos x="T4" y="T5"/>
                      </a:cxn>
                      <a:cxn ang="T109">
                        <a:pos x="T6" y="T7"/>
                      </a:cxn>
                      <a:cxn ang="T110">
                        <a:pos x="T8" y="T9"/>
                      </a:cxn>
                      <a:cxn ang="T111">
                        <a:pos x="T10" y="T11"/>
                      </a:cxn>
                      <a:cxn ang="T112">
                        <a:pos x="T12" y="T13"/>
                      </a:cxn>
                      <a:cxn ang="T113">
                        <a:pos x="T14" y="T15"/>
                      </a:cxn>
                      <a:cxn ang="T114">
                        <a:pos x="T16" y="T17"/>
                      </a:cxn>
                      <a:cxn ang="T115">
                        <a:pos x="T18" y="T19"/>
                      </a:cxn>
                      <a:cxn ang="T116">
                        <a:pos x="T20" y="T21"/>
                      </a:cxn>
                      <a:cxn ang="T117">
                        <a:pos x="T22" y="T23"/>
                      </a:cxn>
                      <a:cxn ang="T118">
                        <a:pos x="T24" y="T25"/>
                      </a:cxn>
                      <a:cxn ang="T119">
                        <a:pos x="T26" y="T27"/>
                      </a:cxn>
                      <a:cxn ang="T120">
                        <a:pos x="T28" y="T29"/>
                      </a:cxn>
                      <a:cxn ang="T121">
                        <a:pos x="T30" y="T31"/>
                      </a:cxn>
                      <a:cxn ang="T122">
                        <a:pos x="T32" y="T33"/>
                      </a:cxn>
                      <a:cxn ang="T123">
                        <a:pos x="T34" y="T35"/>
                      </a:cxn>
                      <a:cxn ang="T124">
                        <a:pos x="T36" y="T37"/>
                      </a:cxn>
                      <a:cxn ang="T125">
                        <a:pos x="T38" y="T39"/>
                      </a:cxn>
                      <a:cxn ang="T126">
                        <a:pos x="T40" y="T41"/>
                      </a:cxn>
                      <a:cxn ang="T127">
                        <a:pos x="T42" y="T43"/>
                      </a:cxn>
                      <a:cxn ang="T128">
                        <a:pos x="T44" y="T45"/>
                      </a:cxn>
                      <a:cxn ang="T129">
                        <a:pos x="T46" y="T47"/>
                      </a:cxn>
                      <a:cxn ang="T130">
                        <a:pos x="T48" y="T49"/>
                      </a:cxn>
                      <a:cxn ang="T131">
                        <a:pos x="T50" y="T51"/>
                      </a:cxn>
                      <a:cxn ang="T132">
                        <a:pos x="T52" y="T53"/>
                      </a:cxn>
                      <a:cxn ang="T133">
                        <a:pos x="T54" y="T55"/>
                      </a:cxn>
                      <a:cxn ang="T134">
                        <a:pos x="T56" y="T57"/>
                      </a:cxn>
                      <a:cxn ang="T135">
                        <a:pos x="T58" y="T59"/>
                      </a:cxn>
                      <a:cxn ang="T136">
                        <a:pos x="T60" y="T61"/>
                      </a:cxn>
                      <a:cxn ang="T137">
                        <a:pos x="T62" y="T63"/>
                      </a:cxn>
                      <a:cxn ang="T138">
                        <a:pos x="T64" y="T65"/>
                      </a:cxn>
                      <a:cxn ang="T139">
                        <a:pos x="T66" y="T67"/>
                      </a:cxn>
                      <a:cxn ang="T140">
                        <a:pos x="T68" y="T69"/>
                      </a:cxn>
                      <a:cxn ang="T141">
                        <a:pos x="T70" y="T71"/>
                      </a:cxn>
                      <a:cxn ang="T142">
                        <a:pos x="T72" y="T73"/>
                      </a:cxn>
                      <a:cxn ang="T143">
                        <a:pos x="T74" y="T75"/>
                      </a:cxn>
                      <a:cxn ang="T144">
                        <a:pos x="T76" y="T77"/>
                      </a:cxn>
                      <a:cxn ang="T145">
                        <a:pos x="T78" y="T79"/>
                      </a:cxn>
                      <a:cxn ang="T146">
                        <a:pos x="T80" y="T81"/>
                      </a:cxn>
                      <a:cxn ang="T147">
                        <a:pos x="T82" y="T83"/>
                      </a:cxn>
                      <a:cxn ang="T148">
                        <a:pos x="T84" y="T85"/>
                      </a:cxn>
                      <a:cxn ang="T149">
                        <a:pos x="T86" y="T87"/>
                      </a:cxn>
                      <a:cxn ang="T150">
                        <a:pos x="T88" y="T89"/>
                      </a:cxn>
                      <a:cxn ang="T151">
                        <a:pos x="T90" y="T91"/>
                      </a:cxn>
                      <a:cxn ang="T152">
                        <a:pos x="T92" y="T93"/>
                      </a:cxn>
                      <a:cxn ang="T153">
                        <a:pos x="T94" y="T95"/>
                      </a:cxn>
                      <a:cxn ang="T154">
                        <a:pos x="T96" y="T97"/>
                      </a:cxn>
                      <a:cxn ang="T155">
                        <a:pos x="T98" y="T99"/>
                      </a:cxn>
                      <a:cxn ang="T156">
                        <a:pos x="T100" y="T101"/>
                      </a:cxn>
                      <a:cxn ang="T157">
                        <a:pos x="T102" y="T103"/>
                      </a:cxn>
                      <a:cxn ang="T158">
                        <a:pos x="T104" y="T105"/>
                      </a:cxn>
                    </a:cxnLst>
                    <a:rect l="0" t="0" r="r" b="b"/>
                    <a:pathLst>
                      <a:path w="420" h="326">
                        <a:moveTo>
                          <a:pt x="132" y="83"/>
                        </a:moveTo>
                        <a:lnTo>
                          <a:pt x="135" y="74"/>
                        </a:lnTo>
                        <a:lnTo>
                          <a:pt x="140" y="65"/>
                        </a:lnTo>
                        <a:lnTo>
                          <a:pt x="146" y="57"/>
                        </a:lnTo>
                        <a:lnTo>
                          <a:pt x="152" y="48"/>
                        </a:lnTo>
                        <a:lnTo>
                          <a:pt x="159" y="41"/>
                        </a:lnTo>
                        <a:lnTo>
                          <a:pt x="164" y="34"/>
                        </a:lnTo>
                        <a:lnTo>
                          <a:pt x="170" y="29"/>
                        </a:lnTo>
                        <a:lnTo>
                          <a:pt x="176" y="25"/>
                        </a:lnTo>
                        <a:lnTo>
                          <a:pt x="181" y="20"/>
                        </a:lnTo>
                        <a:lnTo>
                          <a:pt x="187" y="17"/>
                        </a:lnTo>
                        <a:lnTo>
                          <a:pt x="193" y="13"/>
                        </a:lnTo>
                        <a:lnTo>
                          <a:pt x="199" y="10"/>
                        </a:lnTo>
                        <a:lnTo>
                          <a:pt x="204" y="8"/>
                        </a:lnTo>
                        <a:lnTo>
                          <a:pt x="212" y="6"/>
                        </a:lnTo>
                        <a:lnTo>
                          <a:pt x="220" y="5"/>
                        </a:lnTo>
                        <a:lnTo>
                          <a:pt x="226" y="3"/>
                        </a:lnTo>
                        <a:lnTo>
                          <a:pt x="233" y="2"/>
                        </a:lnTo>
                        <a:lnTo>
                          <a:pt x="241" y="2"/>
                        </a:lnTo>
                        <a:lnTo>
                          <a:pt x="248" y="1"/>
                        </a:lnTo>
                        <a:lnTo>
                          <a:pt x="258" y="1"/>
                        </a:lnTo>
                        <a:lnTo>
                          <a:pt x="265" y="1"/>
                        </a:lnTo>
                        <a:lnTo>
                          <a:pt x="272" y="2"/>
                        </a:lnTo>
                        <a:lnTo>
                          <a:pt x="279" y="2"/>
                        </a:lnTo>
                        <a:lnTo>
                          <a:pt x="285" y="1"/>
                        </a:lnTo>
                        <a:lnTo>
                          <a:pt x="293" y="1"/>
                        </a:lnTo>
                        <a:lnTo>
                          <a:pt x="300" y="0"/>
                        </a:lnTo>
                        <a:lnTo>
                          <a:pt x="296" y="2"/>
                        </a:lnTo>
                        <a:lnTo>
                          <a:pt x="293" y="3"/>
                        </a:lnTo>
                        <a:lnTo>
                          <a:pt x="290" y="6"/>
                        </a:lnTo>
                        <a:lnTo>
                          <a:pt x="287" y="10"/>
                        </a:lnTo>
                        <a:lnTo>
                          <a:pt x="281" y="10"/>
                        </a:lnTo>
                        <a:lnTo>
                          <a:pt x="275" y="10"/>
                        </a:lnTo>
                        <a:lnTo>
                          <a:pt x="270" y="11"/>
                        </a:lnTo>
                        <a:lnTo>
                          <a:pt x="265" y="12"/>
                        </a:lnTo>
                        <a:lnTo>
                          <a:pt x="260" y="14"/>
                        </a:lnTo>
                        <a:lnTo>
                          <a:pt x="254" y="15"/>
                        </a:lnTo>
                        <a:lnTo>
                          <a:pt x="248" y="17"/>
                        </a:lnTo>
                        <a:lnTo>
                          <a:pt x="242" y="19"/>
                        </a:lnTo>
                        <a:lnTo>
                          <a:pt x="236" y="20"/>
                        </a:lnTo>
                        <a:lnTo>
                          <a:pt x="231" y="22"/>
                        </a:lnTo>
                        <a:lnTo>
                          <a:pt x="225" y="25"/>
                        </a:lnTo>
                        <a:lnTo>
                          <a:pt x="218" y="28"/>
                        </a:lnTo>
                        <a:lnTo>
                          <a:pt x="212" y="31"/>
                        </a:lnTo>
                        <a:lnTo>
                          <a:pt x="205" y="35"/>
                        </a:lnTo>
                        <a:lnTo>
                          <a:pt x="199" y="39"/>
                        </a:lnTo>
                        <a:lnTo>
                          <a:pt x="192" y="45"/>
                        </a:lnTo>
                        <a:lnTo>
                          <a:pt x="186" y="52"/>
                        </a:lnTo>
                        <a:lnTo>
                          <a:pt x="180" y="61"/>
                        </a:lnTo>
                        <a:lnTo>
                          <a:pt x="173" y="73"/>
                        </a:lnTo>
                        <a:lnTo>
                          <a:pt x="167" y="86"/>
                        </a:lnTo>
                        <a:lnTo>
                          <a:pt x="159" y="101"/>
                        </a:lnTo>
                        <a:lnTo>
                          <a:pt x="172" y="95"/>
                        </a:lnTo>
                        <a:lnTo>
                          <a:pt x="183" y="89"/>
                        </a:lnTo>
                        <a:lnTo>
                          <a:pt x="197" y="82"/>
                        </a:lnTo>
                        <a:lnTo>
                          <a:pt x="212" y="75"/>
                        </a:lnTo>
                        <a:lnTo>
                          <a:pt x="218" y="73"/>
                        </a:lnTo>
                        <a:lnTo>
                          <a:pt x="225" y="70"/>
                        </a:lnTo>
                        <a:lnTo>
                          <a:pt x="232" y="69"/>
                        </a:lnTo>
                        <a:lnTo>
                          <a:pt x="240" y="66"/>
                        </a:lnTo>
                        <a:lnTo>
                          <a:pt x="249" y="65"/>
                        </a:lnTo>
                        <a:lnTo>
                          <a:pt x="256" y="64"/>
                        </a:lnTo>
                        <a:lnTo>
                          <a:pt x="263" y="64"/>
                        </a:lnTo>
                        <a:lnTo>
                          <a:pt x="272" y="63"/>
                        </a:lnTo>
                        <a:lnTo>
                          <a:pt x="281" y="64"/>
                        </a:lnTo>
                        <a:lnTo>
                          <a:pt x="288" y="64"/>
                        </a:lnTo>
                        <a:lnTo>
                          <a:pt x="297" y="65"/>
                        </a:lnTo>
                        <a:lnTo>
                          <a:pt x="305" y="65"/>
                        </a:lnTo>
                        <a:lnTo>
                          <a:pt x="313" y="66"/>
                        </a:lnTo>
                        <a:lnTo>
                          <a:pt x="321" y="67"/>
                        </a:lnTo>
                        <a:lnTo>
                          <a:pt x="329" y="68"/>
                        </a:lnTo>
                        <a:lnTo>
                          <a:pt x="338" y="69"/>
                        </a:lnTo>
                        <a:lnTo>
                          <a:pt x="346" y="69"/>
                        </a:lnTo>
                        <a:lnTo>
                          <a:pt x="354" y="70"/>
                        </a:lnTo>
                        <a:lnTo>
                          <a:pt x="364" y="71"/>
                        </a:lnTo>
                        <a:lnTo>
                          <a:pt x="374" y="72"/>
                        </a:lnTo>
                        <a:lnTo>
                          <a:pt x="383" y="74"/>
                        </a:lnTo>
                        <a:lnTo>
                          <a:pt x="397" y="75"/>
                        </a:lnTo>
                        <a:lnTo>
                          <a:pt x="402" y="75"/>
                        </a:lnTo>
                        <a:lnTo>
                          <a:pt x="406" y="75"/>
                        </a:lnTo>
                        <a:lnTo>
                          <a:pt x="411" y="77"/>
                        </a:lnTo>
                        <a:lnTo>
                          <a:pt x="419" y="80"/>
                        </a:lnTo>
                        <a:lnTo>
                          <a:pt x="404" y="77"/>
                        </a:lnTo>
                        <a:lnTo>
                          <a:pt x="398" y="76"/>
                        </a:lnTo>
                        <a:lnTo>
                          <a:pt x="392" y="76"/>
                        </a:lnTo>
                        <a:lnTo>
                          <a:pt x="379" y="77"/>
                        </a:lnTo>
                        <a:lnTo>
                          <a:pt x="370" y="78"/>
                        </a:lnTo>
                        <a:lnTo>
                          <a:pt x="360" y="78"/>
                        </a:lnTo>
                        <a:lnTo>
                          <a:pt x="350" y="78"/>
                        </a:lnTo>
                        <a:lnTo>
                          <a:pt x="341" y="79"/>
                        </a:lnTo>
                        <a:lnTo>
                          <a:pt x="332" y="79"/>
                        </a:lnTo>
                        <a:lnTo>
                          <a:pt x="325" y="78"/>
                        </a:lnTo>
                        <a:lnTo>
                          <a:pt x="315" y="78"/>
                        </a:lnTo>
                        <a:lnTo>
                          <a:pt x="305" y="78"/>
                        </a:lnTo>
                        <a:lnTo>
                          <a:pt x="296" y="79"/>
                        </a:lnTo>
                        <a:lnTo>
                          <a:pt x="288" y="80"/>
                        </a:lnTo>
                        <a:lnTo>
                          <a:pt x="279" y="80"/>
                        </a:lnTo>
                        <a:lnTo>
                          <a:pt x="272" y="80"/>
                        </a:lnTo>
                        <a:lnTo>
                          <a:pt x="264" y="81"/>
                        </a:lnTo>
                        <a:lnTo>
                          <a:pt x="256" y="83"/>
                        </a:lnTo>
                        <a:lnTo>
                          <a:pt x="249" y="84"/>
                        </a:lnTo>
                        <a:lnTo>
                          <a:pt x="242" y="86"/>
                        </a:lnTo>
                        <a:lnTo>
                          <a:pt x="235" y="87"/>
                        </a:lnTo>
                        <a:lnTo>
                          <a:pt x="227" y="89"/>
                        </a:lnTo>
                        <a:lnTo>
                          <a:pt x="219" y="92"/>
                        </a:lnTo>
                        <a:lnTo>
                          <a:pt x="212" y="93"/>
                        </a:lnTo>
                        <a:lnTo>
                          <a:pt x="199" y="97"/>
                        </a:lnTo>
                        <a:lnTo>
                          <a:pt x="191" y="98"/>
                        </a:lnTo>
                        <a:lnTo>
                          <a:pt x="180" y="104"/>
                        </a:lnTo>
                        <a:lnTo>
                          <a:pt x="164" y="109"/>
                        </a:lnTo>
                        <a:lnTo>
                          <a:pt x="180" y="111"/>
                        </a:lnTo>
                        <a:lnTo>
                          <a:pt x="199" y="112"/>
                        </a:lnTo>
                        <a:lnTo>
                          <a:pt x="203" y="113"/>
                        </a:lnTo>
                        <a:lnTo>
                          <a:pt x="212" y="118"/>
                        </a:lnTo>
                        <a:lnTo>
                          <a:pt x="217" y="120"/>
                        </a:lnTo>
                        <a:lnTo>
                          <a:pt x="223" y="123"/>
                        </a:lnTo>
                        <a:lnTo>
                          <a:pt x="224" y="125"/>
                        </a:lnTo>
                        <a:lnTo>
                          <a:pt x="227" y="130"/>
                        </a:lnTo>
                        <a:lnTo>
                          <a:pt x="233" y="140"/>
                        </a:lnTo>
                        <a:lnTo>
                          <a:pt x="227" y="136"/>
                        </a:lnTo>
                        <a:lnTo>
                          <a:pt x="219" y="131"/>
                        </a:lnTo>
                        <a:lnTo>
                          <a:pt x="212" y="129"/>
                        </a:lnTo>
                        <a:lnTo>
                          <a:pt x="199" y="125"/>
                        </a:lnTo>
                        <a:lnTo>
                          <a:pt x="190" y="123"/>
                        </a:lnTo>
                        <a:lnTo>
                          <a:pt x="180" y="120"/>
                        </a:lnTo>
                        <a:lnTo>
                          <a:pt x="175" y="119"/>
                        </a:lnTo>
                        <a:lnTo>
                          <a:pt x="165" y="120"/>
                        </a:lnTo>
                        <a:lnTo>
                          <a:pt x="158" y="122"/>
                        </a:lnTo>
                        <a:lnTo>
                          <a:pt x="148" y="123"/>
                        </a:lnTo>
                        <a:lnTo>
                          <a:pt x="153" y="125"/>
                        </a:lnTo>
                        <a:lnTo>
                          <a:pt x="158" y="127"/>
                        </a:lnTo>
                        <a:lnTo>
                          <a:pt x="165" y="129"/>
                        </a:lnTo>
                        <a:lnTo>
                          <a:pt x="173" y="129"/>
                        </a:lnTo>
                        <a:lnTo>
                          <a:pt x="186" y="129"/>
                        </a:lnTo>
                        <a:lnTo>
                          <a:pt x="194" y="131"/>
                        </a:lnTo>
                        <a:lnTo>
                          <a:pt x="204" y="133"/>
                        </a:lnTo>
                        <a:lnTo>
                          <a:pt x="212" y="136"/>
                        </a:lnTo>
                        <a:lnTo>
                          <a:pt x="221" y="138"/>
                        </a:lnTo>
                        <a:lnTo>
                          <a:pt x="231" y="141"/>
                        </a:lnTo>
                        <a:lnTo>
                          <a:pt x="240" y="143"/>
                        </a:lnTo>
                        <a:lnTo>
                          <a:pt x="248" y="145"/>
                        </a:lnTo>
                        <a:lnTo>
                          <a:pt x="254" y="146"/>
                        </a:lnTo>
                        <a:lnTo>
                          <a:pt x="261" y="148"/>
                        </a:lnTo>
                        <a:lnTo>
                          <a:pt x="269" y="150"/>
                        </a:lnTo>
                        <a:lnTo>
                          <a:pt x="277" y="154"/>
                        </a:lnTo>
                        <a:lnTo>
                          <a:pt x="285" y="158"/>
                        </a:lnTo>
                        <a:lnTo>
                          <a:pt x="289" y="160"/>
                        </a:lnTo>
                        <a:lnTo>
                          <a:pt x="295" y="167"/>
                        </a:lnTo>
                        <a:lnTo>
                          <a:pt x="302" y="174"/>
                        </a:lnTo>
                        <a:lnTo>
                          <a:pt x="306" y="181"/>
                        </a:lnTo>
                        <a:lnTo>
                          <a:pt x="311" y="188"/>
                        </a:lnTo>
                        <a:lnTo>
                          <a:pt x="316" y="195"/>
                        </a:lnTo>
                        <a:lnTo>
                          <a:pt x="320" y="202"/>
                        </a:lnTo>
                        <a:lnTo>
                          <a:pt x="325" y="208"/>
                        </a:lnTo>
                        <a:lnTo>
                          <a:pt x="329" y="215"/>
                        </a:lnTo>
                        <a:lnTo>
                          <a:pt x="335" y="223"/>
                        </a:lnTo>
                        <a:lnTo>
                          <a:pt x="339" y="232"/>
                        </a:lnTo>
                        <a:lnTo>
                          <a:pt x="345" y="238"/>
                        </a:lnTo>
                        <a:lnTo>
                          <a:pt x="351" y="246"/>
                        </a:lnTo>
                        <a:lnTo>
                          <a:pt x="343" y="240"/>
                        </a:lnTo>
                        <a:lnTo>
                          <a:pt x="337" y="236"/>
                        </a:lnTo>
                        <a:lnTo>
                          <a:pt x="329" y="231"/>
                        </a:lnTo>
                        <a:lnTo>
                          <a:pt x="321" y="225"/>
                        </a:lnTo>
                        <a:lnTo>
                          <a:pt x="315" y="220"/>
                        </a:lnTo>
                        <a:lnTo>
                          <a:pt x="309" y="215"/>
                        </a:lnTo>
                        <a:lnTo>
                          <a:pt x="303" y="212"/>
                        </a:lnTo>
                        <a:lnTo>
                          <a:pt x="297" y="208"/>
                        </a:lnTo>
                        <a:lnTo>
                          <a:pt x="290" y="204"/>
                        </a:lnTo>
                        <a:lnTo>
                          <a:pt x="284" y="200"/>
                        </a:lnTo>
                        <a:lnTo>
                          <a:pt x="278" y="196"/>
                        </a:lnTo>
                        <a:lnTo>
                          <a:pt x="271" y="191"/>
                        </a:lnTo>
                        <a:lnTo>
                          <a:pt x="263" y="186"/>
                        </a:lnTo>
                        <a:lnTo>
                          <a:pt x="255" y="179"/>
                        </a:lnTo>
                        <a:lnTo>
                          <a:pt x="248" y="174"/>
                        </a:lnTo>
                        <a:lnTo>
                          <a:pt x="241" y="170"/>
                        </a:lnTo>
                        <a:lnTo>
                          <a:pt x="234" y="166"/>
                        </a:lnTo>
                        <a:lnTo>
                          <a:pt x="226" y="162"/>
                        </a:lnTo>
                        <a:lnTo>
                          <a:pt x="219" y="159"/>
                        </a:lnTo>
                        <a:lnTo>
                          <a:pt x="212" y="157"/>
                        </a:lnTo>
                        <a:lnTo>
                          <a:pt x="202" y="154"/>
                        </a:lnTo>
                        <a:lnTo>
                          <a:pt x="192" y="151"/>
                        </a:lnTo>
                        <a:lnTo>
                          <a:pt x="185" y="150"/>
                        </a:lnTo>
                        <a:lnTo>
                          <a:pt x="178" y="147"/>
                        </a:lnTo>
                        <a:lnTo>
                          <a:pt x="167" y="142"/>
                        </a:lnTo>
                        <a:lnTo>
                          <a:pt x="156" y="137"/>
                        </a:lnTo>
                        <a:lnTo>
                          <a:pt x="173" y="148"/>
                        </a:lnTo>
                        <a:lnTo>
                          <a:pt x="174" y="150"/>
                        </a:lnTo>
                        <a:lnTo>
                          <a:pt x="178" y="155"/>
                        </a:lnTo>
                        <a:lnTo>
                          <a:pt x="182" y="160"/>
                        </a:lnTo>
                        <a:lnTo>
                          <a:pt x="187" y="167"/>
                        </a:lnTo>
                        <a:lnTo>
                          <a:pt x="192" y="173"/>
                        </a:lnTo>
                        <a:lnTo>
                          <a:pt x="196" y="181"/>
                        </a:lnTo>
                        <a:lnTo>
                          <a:pt x="202" y="188"/>
                        </a:lnTo>
                        <a:lnTo>
                          <a:pt x="207" y="194"/>
                        </a:lnTo>
                        <a:lnTo>
                          <a:pt x="212" y="200"/>
                        </a:lnTo>
                        <a:lnTo>
                          <a:pt x="216" y="207"/>
                        </a:lnTo>
                        <a:lnTo>
                          <a:pt x="223" y="216"/>
                        </a:lnTo>
                        <a:lnTo>
                          <a:pt x="227" y="223"/>
                        </a:lnTo>
                        <a:lnTo>
                          <a:pt x="231" y="229"/>
                        </a:lnTo>
                        <a:lnTo>
                          <a:pt x="235" y="236"/>
                        </a:lnTo>
                        <a:lnTo>
                          <a:pt x="238" y="243"/>
                        </a:lnTo>
                        <a:lnTo>
                          <a:pt x="241" y="250"/>
                        </a:lnTo>
                        <a:lnTo>
                          <a:pt x="243" y="255"/>
                        </a:lnTo>
                        <a:lnTo>
                          <a:pt x="244" y="262"/>
                        </a:lnTo>
                        <a:lnTo>
                          <a:pt x="245" y="272"/>
                        </a:lnTo>
                        <a:lnTo>
                          <a:pt x="246" y="281"/>
                        </a:lnTo>
                        <a:lnTo>
                          <a:pt x="247" y="290"/>
                        </a:lnTo>
                        <a:lnTo>
                          <a:pt x="249" y="299"/>
                        </a:lnTo>
                        <a:lnTo>
                          <a:pt x="250" y="308"/>
                        </a:lnTo>
                        <a:lnTo>
                          <a:pt x="243" y="299"/>
                        </a:lnTo>
                        <a:lnTo>
                          <a:pt x="238" y="292"/>
                        </a:lnTo>
                        <a:lnTo>
                          <a:pt x="233" y="286"/>
                        </a:lnTo>
                        <a:lnTo>
                          <a:pt x="231" y="281"/>
                        </a:lnTo>
                        <a:lnTo>
                          <a:pt x="227" y="274"/>
                        </a:lnTo>
                        <a:lnTo>
                          <a:pt x="225" y="267"/>
                        </a:lnTo>
                        <a:lnTo>
                          <a:pt x="222" y="259"/>
                        </a:lnTo>
                        <a:lnTo>
                          <a:pt x="218" y="251"/>
                        </a:lnTo>
                        <a:lnTo>
                          <a:pt x="214" y="242"/>
                        </a:lnTo>
                        <a:lnTo>
                          <a:pt x="211" y="235"/>
                        </a:lnTo>
                        <a:lnTo>
                          <a:pt x="207" y="227"/>
                        </a:lnTo>
                        <a:lnTo>
                          <a:pt x="202" y="220"/>
                        </a:lnTo>
                        <a:lnTo>
                          <a:pt x="199" y="215"/>
                        </a:lnTo>
                        <a:lnTo>
                          <a:pt x="193" y="208"/>
                        </a:lnTo>
                        <a:lnTo>
                          <a:pt x="187" y="201"/>
                        </a:lnTo>
                        <a:lnTo>
                          <a:pt x="182" y="196"/>
                        </a:lnTo>
                        <a:lnTo>
                          <a:pt x="177" y="190"/>
                        </a:lnTo>
                        <a:lnTo>
                          <a:pt x="176" y="184"/>
                        </a:lnTo>
                        <a:lnTo>
                          <a:pt x="173" y="177"/>
                        </a:lnTo>
                        <a:lnTo>
                          <a:pt x="169" y="170"/>
                        </a:lnTo>
                        <a:lnTo>
                          <a:pt x="166" y="163"/>
                        </a:lnTo>
                        <a:lnTo>
                          <a:pt x="164" y="161"/>
                        </a:lnTo>
                        <a:lnTo>
                          <a:pt x="158" y="154"/>
                        </a:lnTo>
                        <a:lnTo>
                          <a:pt x="154" y="148"/>
                        </a:lnTo>
                        <a:lnTo>
                          <a:pt x="150" y="142"/>
                        </a:lnTo>
                        <a:lnTo>
                          <a:pt x="145" y="136"/>
                        </a:lnTo>
                        <a:lnTo>
                          <a:pt x="138" y="140"/>
                        </a:lnTo>
                        <a:lnTo>
                          <a:pt x="131" y="144"/>
                        </a:lnTo>
                        <a:lnTo>
                          <a:pt x="123" y="151"/>
                        </a:lnTo>
                        <a:lnTo>
                          <a:pt x="115" y="156"/>
                        </a:lnTo>
                        <a:lnTo>
                          <a:pt x="109" y="162"/>
                        </a:lnTo>
                        <a:lnTo>
                          <a:pt x="105" y="168"/>
                        </a:lnTo>
                        <a:lnTo>
                          <a:pt x="99" y="176"/>
                        </a:lnTo>
                        <a:lnTo>
                          <a:pt x="93" y="186"/>
                        </a:lnTo>
                        <a:lnTo>
                          <a:pt x="87" y="193"/>
                        </a:lnTo>
                        <a:lnTo>
                          <a:pt x="81" y="202"/>
                        </a:lnTo>
                        <a:lnTo>
                          <a:pt x="77" y="210"/>
                        </a:lnTo>
                        <a:lnTo>
                          <a:pt x="72" y="218"/>
                        </a:lnTo>
                        <a:lnTo>
                          <a:pt x="67" y="226"/>
                        </a:lnTo>
                        <a:lnTo>
                          <a:pt x="64" y="233"/>
                        </a:lnTo>
                        <a:lnTo>
                          <a:pt x="59" y="242"/>
                        </a:lnTo>
                        <a:lnTo>
                          <a:pt x="55" y="250"/>
                        </a:lnTo>
                        <a:lnTo>
                          <a:pt x="49" y="260"/>
                        </a:lnTo>
                        <a:lnTo>
                          <a:pt x="43" y="269"/>
                        </a:lnTo>
                        <a:lnTo>
                          <a:pt x="37" y="280"/>
                        </a:lnTo>
                        <a:lnTo>
                          <a:pt x="31" y="289"/>
                        </a:lnTo>
                        <a:lnTo>
                          <a:pt x="27" y="294"/>
                        </a:lnTo>
                        <a:lnTo>
                          <a:pt x="22" y="300"/>
                        </a:lnTo>
                        <a:lnTo>
                          <a:pt x="18" y="306"/>
                        </a:lnTo>
                        <a:lnTo>
                          <a:pt x="12" y="312"/>
                        </a:lnTo>
                        <a:lnTo>
                          <a:pt x="7" y="317"/>
                        </a:lnTo>
                        <a:lnTo>
                          <a:pt x="0" y="325"/>
                        </a:lnTo>
                        <a:lnTo>
                          <a:pt x="2" y="316"/>
                        </a:lnTo>
                        <a:lnTo>
                          <a:pt x="4" y="309"/>
                        </a:lnTo>
                        <a:lnTo>
                          <a:pt x="8" y="301"/>
                        </a:lnTo>
                        <a:lnTo>
                          <a:pt x="12" y="294"/>
                        </a:lnTo>
                        <a:lnTo>
                          <a:pt x="19" y="284"/>
                        </a:lnTo>
                        <a:lnTo>
                          <a:pt x="26" y="274"/>
                        </a:lnTo>
                        <a:lnTo>
                          <a:pt x="33" y="262"/>
                        </a:lnTo>
                        <a:lnTo>
                          <a:pt x="39" y="253"/>
                        </a:lnTo>
                        <a:lnTo>
                          <a:pt x="45" y="243"/>
                        </a:lnTo>
                        <a:lnTo>
                          <a:pt x="51" y="235"/>
                        </a:lnTo>
                        <a:lnTo>
                          <a:pt x="56" y="227"/>
                        </a:lnTo>
                        <a:lnTo>
                          <a:pt x="61" y="220"/>
                        </a:lnTo>
                        <a:lnTo>
                          <a:pt x="66" y="214"/>
                        </a:lnTo>
                        <a:lnTo>
                          <a:pt x="72" y="206"/>
                        </a:lnTo>
                        <a:lnTo>
                          <a:pt x="78" y="198"/>
                        </a:lnTo>
                        <a:lnTo>
                          <a:pt x="84" y="190"/>
                        </a:lnTo>
                        <a:lnTo>
                          <a:pt x="90" y="181"/>
                        </a:lnTo>
                        <a:lnTo>
                          <a:pt x="95" y="174"/>
                        </a:lnTo>
                        <a:lnTo>
                          <a:pt x="101" y="166"/>
                        </a:lnTo>
                        <a:lnTo>
                          <a:pt x="104" y="160"/>
                        </a:lnTo>
                        <a:lnTo>
                          <a:pt x="107" y="154"/>
                        </a:lnTo>
                        <a:lnTo>
                          <a:pt x="109" y="149"/>
                        </a:lnTo>
                        <a:lnTo>
                          <a:pt x="112" y="143"/>
                        </a:lnTo>
                        <a:lnTo>
                          <a:pt x="116" y="138"/>
                        </a:lnTo>
                        <a:lnTo>
                          <a:pt x="122" y="131"/>
                        </a:lnTo>
                        <a:lnTo>
                          <a:pt x="128" y="125"/>
                        </a:lnTo>
                        <a:lnTo>
                          <a:pt x="132" y="120"/>
                        </a:lnTo>
                        <a:lnTo>
                          <a:pt x="137" y="114"/>
                        </a:lnTo>
                        <a:lnTo>
                          <a:pt x="135" y="109"/>
                        </a:lnTo>
                        <a:lnTo>
                          <a:pt x="133" y="101"/>
                        </a:lnTo>
                        <a:lnTo>
                          <a:pt x="121" y="97"/>
                        </a:lnTo>
                        <a:lnTo>
                          <a:pt x="108" y="88"/>
                        </a:lnTo>
                        <a:lnTo>
                          <a:pt x="95" y="79"/>
                        </a:lnTo>
                        <a:lnTo>
                          <a:pt x="87" y="74"/>
                        </a:lnTo>
                        <a:lnTo>
                          <a:pt x="81" y="71"/>
                        </a:lnTo>
                        <a:lnTo>
                          <a:pt x="71" y="66"/>
                        </a:lnTo>
                        <a:lnTo>
                          <a:pt x="61" y="63"/>
                        </a:lnTo>
                        <a:lnTo>
                          <a:pt x="50" y="60"/>
                        </a:lnTo>
                        <a:lnTo>
                          <a:pt x="42" y="57"/>
                        </a:lnTo>
                        <a:lnTo>
                          <a:pt x="32" y="53"/>
                        </a:lnTo>
                        <a:lnTo>
                          <a:pt x="23" y="51"/>
                        </a:lnTo>
                        <a:lnTo>
                          <a:pt x="14" y="49"/>
                        </a:lnTo>
                        <a:lnTo>
                          <a:pt x="7" y="47"/>
                        </a:lnTo>
                        <a:lnTo>
                          <a:pt x="14" y="46"/>
                        </a:lnTo>
                        <a:lnTo>
                          <a:pt x="19" y="45"/>
                        </a:lnTo>
                        <a:lnTo>
                          <a:pt x="23" y="44"/>
                        </a:lnTo>
                        <a:lnTo>
                          <a:pt x="28" y="44"/>
                        </a:lnTo>
                        <a:lnTo>
                          <a:pt x="33" y="44"/>
                        </a:lnTo>
                        <a:lnTo>
                          <a:pt x="43" y="49"/>
                        </a:lnTo>
                        <a:lnTo>
                          <a:pt x="51" y="53"/>
                        </a:lnTo>
                        <a:lnTo>
                          <a:pt x="60" y="58"/>
                        </a:lnTo>
                        <a:lnTo>
                          <a:pt x="69" y="63"/>
                        </a:lnTo>
                        <a:lnTo>
                          <a:pt x="79" y="68"/>
                        </a:lnTo>
                        <a:lnTo>
                          <a:pt x="89" y="74"/>
                        </a:lnTo>
                        <a:lnTo>
                          <a:pt x="96" y="77"/>
                        </a:lnTo>
                        <a:lnTo>
                          <a:pt x="109" y="84"/>
                        </a:lnTo>
                        <a:lnTo>
                          <a:pt x="116" y="86"/>
                        </a:lnTo>
                        <a:lnTo>
                          <a:pt x="122" y="85"/>
                        </a:lnTo>
                        <a:lnTo>
                          <a:pt x="127" y="84"/>
                        </a:lnTo>
                        <a:lnTo>
                          <a:pt x="132" y="83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054" name="Freeform 30">
                    <a:extLst>
                      <a:ext uri="{FF2B5EF4-FFF2-40B4-BE49-F238E27FC236}">
                        <a16:creationId xmlns:a16="http://schemas.microsoft.com/office/drawing/2014/main" id="{4B1D34E9-60D8-422C-8AB5-C88C0898A0D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2175" y="1584"/>
                    <a:ext cx="38" cy="181"/>
                  </a:xfrm>
                  <a:custGeom>
                    <a:avLst/>
                    <a:gdLst>
                      <a:gd name="T0" fmla="*/ 20 w 38"/>
                      <a:gd name="T1" fmla="*/ 0 h 181"/>
                      <a:gd name="T2" fmla="*/ 24 w 38"/>
                      <a:gd name="T3" fmla="*/ 8 h 181"/>
                      <a:gd name="T4" fmla="*/ 27 w 38"/>
                      <a:gd name="T5" fmla="*/ 14 h 181"/>
                      <a:gd name="T6" fmla="*/ 33 w 38"/>
                      <a:gd name="T7" fmla="*/ 22 h 181"/>
                      <a:gd name="T8" fmla="*/ 35 w 38"/>
                      <a:gd name="T9" fmla="*/ 30 h 181"/>
                      <a:gd name="T10" fmla="*/ 36 w 38"/>
                      <a:gd name="T11" fmla="*/ 41 h 181"/>
                      <a:gd name="T12" fmla="*/ 36 w 38"/>
                      <a:gd name="T13" fmla="*/ 53 h 181"/>
                      <a:gd name="T14" fmla="*/ 37 w 38"/>
                      <a:gd name="T15" fmla="*/ 61 h 181"/>
                      <a:gd name="T16" fmla="*/ 36 w 38"/>
                      <a:gd name="T17" fmla="*/ 70 h 181"/>
                      <a:gd name="T18" fmla="*/ 35 w 38"/>
                      <a:gd name="T19" fmla="*/ 81 h 181"/>
                      <a:gd name="T20" fmla="*/ 33 w 38"/>
                      <a:gd name="T21" fmla="*/ 91 h 181"/>
                      <a:gd name="T22" fmla="*/ 30 w 38"/>
                      <a:gd name="T23" fmla="*/ 106 h 181"/>
                      <a:gd name="T24" fmla="*/ 28 w 38"/>
                      <a:gd name="T25" fmla="*/ 114 h 181"/>
                      <a:gd name="T26" fmla="*/ 23 w 38"/>
                      <a:gd name="T27" fmla="*/ 124 h 181"/>
                      <a:gd name="T28" fmla="*/ 17 w 38"/>
                      <a:gd name="T29" fmla="*/ 135 h 181"/>
                      <a:gd name="T30" fmla="*/ 12 w 38"/>
                      <a:gd name="T31" fmla="*/ 145 h 181"/>
                      <a:gd name="T32" fmla="*/ 7 w 38"/>
                      <a:gd name="T33" fmla="*/ 155 h 181"/>
                      <a:gd name="T34" fmla="*/ 3 w 38"/>
                      <a:gd name="T35" fmla="*/ 163 h 181"/>
                      <a:gd name="T36" fmla="*/ 0 w 38"/>
                      <a:gd name="T37" fmla="*/ 180 h 181"/>
                      <a:gd name="T38" fmla="*/ 1 w 38"/>
                      <a:gd name="T39" fmla="*/ 163 h 181"/>
                      <a:gd name="T40" fmla="*/ 3 w 38"/>
                      <a:gd name="T41" fmla="*/ 152 h 181"/>
                      <a:gd name="T42" fmla="*/ 4 w 38"/>
                      <a:gd name="T43" fmla="*/ 141 h 181"/>
                      <a:gd name="T44" fmla="*/ 5 w 38"/>
                      <a:gd name="T45" fmla="*/ 130 h 181"/>
                      <a:gd name="T46" fmla="*/ 7 w 38"/>
                      <a:gd name="T47" fmla="*/ 116 h 181"/>
                      <a:gd name="T48" fmla="*/ 9 w 38"/>
                      <a:gd name="T49" fmla="*/ 106 h 181"/>
                      <a:gd name="T50" fmla="*/ 12 w 38"/>
                      <a:gd name="T51" fmla="*/ 96 h 181"/>
                      <a:gd name="T52" fmla="*/ 15 w 38"/>
                      <a:gd name="T53" fmla="*/ 87 h 181"/>
                      <a:gd name="T54" fmla="*/ 17 w 38"/>
                      <a:gd name="T55" fmla="*/ 77 h 181"/>
                      <a:gd name="T56" fmla="*/ 20 w 38"/>
                      <a:gd name="T57" fmla="*/ 67 h 181"/>
                      <a:gd name="T58" fmla="*/ 21 w 38"/>
                      <a:gd name="T59" fmla="*/ 57 h 181"/>
                      <a:gd name="T60" fmla="*/ 22 w 38"/>
                      <a:gd name="T61" fmla="*/ 49 h 181"/>
                      <a:gd name="T62" fmla="*/ 23 w 38"/>
                      <a:gd name="T63" fmla="*/ 39 h 181"/>
                      <a:gd name="T64" fmla="*/ 23 w 38"/>
                      <a:gd name="T65" fmla="*/ 28 h 181"/>
                      <a:gd name="T66" fmla="*/ 23 w 38"/>
                      <a:gd name="T67" fmla="*/ 14 h 181"/>
                      <a:gd name="T68" fmla="*/ 22 w 38"/>
                      <a:gd name="T69" fmla="*/ 8 h 181"/>
                      <a:gd name="T70" fmla="*/ 20 w 38"/>
                      <a:gd name="T71" fmla="*/ 0 h 181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38" h="181">
                        <a:moveTo>
                          <a:pt x="20" y="0"/>
                        </a:moveTo>
                        <a:lnTo>
                          <a:pt x="24" y="8"/>
                        </a:lnTo>
                        <a:lnTo>
                          <a:pt x="27" y="14"/>
                        </a:lnTo>
                        <a:lnTo>
                          <a:pt x="33" y="22"/>
                        </a:lnTo>
                        <a:lnTo>
                          <a:pt x="35" y="30"/>
                        </a:lnTo>
                        <a:lnTo>
                          <a:pt x="36" y="41"/>
                        </a:lnTo>
                        <a:lnTo>
                          <a:pt x="36" y="53"/>
                        </a:lnTo>
                        <a:lnTo>
                          <a:pt x="37" y="61"/>
                        </a:lnTo>
                        <a:lnTo>
                          <a:pt x="36" y="70"/>
                        </a:lnTo>
                        <a:lnTo>
                          <a:pt x="35" y="81"/>
                        </a:lnTo>
                        <a:lnTo>
                          <a:pt x="33" y="91"/>
                        </a:lnTo>
                        <a:lnTo>
                          <a:pt x="30" y="106"/>
                        </a:lnTo>
                        <a:lnTo>
                          <a:pt x="28" y="114"/>
                        </a:lnTo>
                        <a:lnTo>
                          <a:pt x="23" y="124"/>
                        </a:lnTo>
                        <a:lnTo>
                          <a:pt x="17" y="135"/>
                        </a:lnTo>
                        <a:lnTo>
                          <a:pt x="12" y="145"/>
                        </a:lnTo>
                        <a:lnTo>
                          <a:pt x="7" y="155"/>
                        </a:lnTo>
                        <a:lnTo>
                          <a:pt x="3" y="163"/>
                        </a:lnTo>
                        <a:lnTo>
                          <a:pt x="0" y="180"/>
                        </a:lnTo>
                        <a:lnTo>
                          <a:pt x="1" y="163"/>
                        </a:lnTo>
                        <a:lnTo>
                          <a:pt x="3" y="152"/>
                        </a:lnTo>
                        <a:lnTo>
                          <a:pt x="4" y="141"/>
                        </a:lnTo>
                        <a:lnTo>
                          <a:pt x="5" y="130"/>
                        </a:lnTo>
                        <a:lnTo>
                          <a:pt x="7" y="116"/>
                        </a:lnTo>
                        <a:lnTo>
                          <a:pt x="9" y="106"/>
                        </a:lnTo>
                        <a:lnTo>
                          <a:pt x="12" y="96"/>
                        </a:lnTo>
                        <a:lnTo>
                          <a:pt x="15" y="87"/>
                        </a:lnTo>
                        <a:lnTo>
                          <a:pt x="17" y="77"/>
                        </a:lnTo>
                        <a:lnTo>
                          <a:pt x="20" y="67"/>
                        </a:lnTo>
                        <a:lnTo>
                          <a:pt x="21" y="57"/>
                        </a:lnTo>
                        <a:lnTo>
                          <a:pt x="22" y="49"/>
                        </a:lnTo>
                        <a:lnTo>
                          <a:pt x="23" y="39"/>
                        </a:lnTo>
                        <a:lnTo>
                          <a:pt x="23" y="28"/>
                        </a:lnTo>
                        <a:lnTo>
                          <a:pt x="23" y="14"/>
                        </a:lnTo>
                        <a:lnTo>
                          <a:pt x="22" y="8"/>
                        </a:lnTo>
                        <a:lnTo>
                          <a:pt x="20" y="0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055" name="Freeform 31">
                    <a:extLst>
                      <a:ext uri="{FF2B5EF4-FFF2-40B4-BE49-F238E27FC236}">
                        <a16:creationId xmlns:a16="http://schemas.microsoft.com/office/drawing/2014/main" id="{A1AD080F-97A1-4499-B772-F7D9F774D05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1991" y="1486"/>
                    <a:ext cx="168" cy="48"/>
                  </a:xfrm>
                  <a:custGeom>
                    <a:avLst/>
                    <a:gdLst>
                      <a:gd name="T0" fmla="*/ 167 w 168"/>
                      <a:gd name="T1" fmla="*/ 47 h 48"/>
                      <a:gd name="T2" fmla="*/ 164 w 168"/>
                      <a:gd name="T3" fmla="*/ 38 h 48"/>
                      <a:gd name="T4" fmla="*/ 160 w 168"/>
                      <a:gd name="T5" fmla="*/ 31 h 48"/>
                      <a:gd name="T6" fmla="*/ 157 w 168"/>
                      <a:gd name="T7" fmla="*/ 30 h 48"/>
                      <a:gd name="T8" fmla="*/ 150 w 168"/>
                      <a:gd name="T9" fmla="*/ 28 h 48"/>
                      <a:gd name="T10" fmla="*/ 144 w 168"/>
                      <a:gd name="T11" fmla="*/ 26 h 48"/>
                      <a:gd name="T12" fmla="*/ 137 w 168"/>
                      <a:gd name="T13" fmla="*/ 28 h 48"/>
                      <a:gd name="T14" fmla="*/ 130 w 168"/>
                      <a:gd name="T15" fmla="*/ 29 h 48"/>
                      <a:gd name="T16" fmla="*/ 121 w 168"/>
                      <a:gd name="T17" fmla="*/ 25 h 48"/>
                      <a:gd name="T18" fmla="*/ 109 w 168"/>
                      <a:gd name="T19" fmla="*/ 21 h 48"/>
                      <a:gd name="T20" fmla="*/ 98 w 168"/>
                      <a:gd name="T21" fmla="*/ 17 h 48"/>
                      <a:gd name="T22" fmla="*/ 91 w 168"/>
                      <a:gd name="T23" fmla="*/ 15 h 48"/>
                      <a:gd name="T24" fmla="*/ 78 w 168"/>
                      <a:gd name="T25" fmla="*/ 12 h 48"/>
                      <a:gd name="T26" fmla="*/ 66 w 168"/>
                      <a:gd name="T27" fmla="*/ 8 h 48"/>
                      <a:gd name="T28" fmla="*/ 54 w 168"/>
                      <a:gd name="T29" fmla="*/ 4 h 48"/>
                      <a:gd name="T30" fmla="*/ 41 w 168"/>
                      <a:gd name="T31" fmla="*/ 1 h 48"/>
                      <a:gd name="T32" fmla="*/ 28 w 168"/>
                      <a:gd name="T33" fmla="*/ 0 h 48"/>
                      <a:gd name="T34" fmla="*/ 15 w 168"/>
                      <a:gd name="T35" fmla="*/ 0 h 48"/>
                      <a:gd name="T36" fmla="*/ 12 w 168"/>
                      <a:gd name="T37" fmla="*/ 1 h 48"/>
                      <a:gd name="T38" fmla="*/ 7 w 168"/>
                      <a:gd name="T39" fmla="*/ 4 h 48"/>
                      <a:gd name="T40" fmla="*/ 3 w 168"/>
                      <a:gd name="T41" fmla="*/ 7 h 48"/>
                      <a:gd name="T42" fmla="*/ 0 w 168"/>
                      <a:gd name="T43" fmla="*/ 10 h 48"/>
                      <a:gd name="T44" fmla="*/ 5 w 168"/>
                      <a:gd name="T45" fmla="*/ 10 h 48"/>
                      <a:gd name="T46" fmla="*/ 12 w 168"/>
                      <a:gd name="T47" fmla="*/ 11 h 48"/>
                      <a:gd name="T48" fmla="*/ 18 w 168"/>
                      <a:gd name="T49" fmla="*/ 12 h 48"/>
                      <a:gd name="T50" fmla="*/ 23 w 168"/>
                      <a:gd name="T51" fmla="*/ 11 h 48"/>
                      <a:gd name="T52" fmla="*/ 29 w 168"/>
                      <a:gd name="T53" fmla="*/ 10 h 48"/>
                      <a:gd name="T54" fmla="*/ 38 w 168"/>
                      <a:gd name="T55" fmla="*/ 10 h 48"/>
                      <a:gd name="T56" fmla="*/ 50 w 168"/>
                      <a:gd name="T57" fmla="*/ 10 h 48"/>
                      <a:gd name="T58" fmla="*/ 60 w 168"/>
                      <a:gd name="T59" fmla="*/ 12 h 48"/>
                      <a:gd name="T60" fmla="*/ 70 w 168"/>
                      <a:gd name="T61" fmla="*/ 13 h 48"/>
                      <a:gd name="T62" fmla="*/ 79 w 168"/>
                      <a:gd name="T63" fmla="*/ 15 h 48"/>
                      <a:gd name="T64" fmla="*/ 89 w 168"/>
                      <a:gd name="T65" fmla="*/ 16 h 48"/>
                      <a:gd name="T66" fmla="*/ 98 w 168"/>
                      <a:gd name="T67" fmla="*/ 18 h 48"/>
                      <a:gd name="T68" fmla="*/ 106 w 168"/>
                      <a:gd name="T69" fmla="*/ 22 h 48"/>
                      <a:gd name="T70" fmla="*/ 114 w 168"/>
                      <a:gd name="T71" fmla="*/ 26 h 48"/>
                      <a:gd name="T72" fmla="*/ 123 w 168"/>
                      <a:gd name="T73" fmla="*/ 30 h 48"/>
                      <a:gd name="T74" fmla="*/ 127 w 168"/>
                      <a:gd name="T75" fmla="*/ 30 h 48"/>
                      <a:gd name="T76" fmla="*/ 131 w 168"/>
                      <a:gd name="T77" fmla="*/ 30 h 48"/>
                      <a:gd name="T78" fmla="*/ 137 w 168"/>
                      <a:gd name="T79" fmla="*/ 33 h 48"/>
                      <a:gd name="T80" fmla="*/ 144 w 168"/>
                      <a:gd name="T81" fmla="*/ 36 h 48"/>
                      <a:gd name="T82" fmla="*/ 150 w 168"/>
                      <a:gd name="T83" fmla="*/ 38 h 48"/>
                      <a:gd name="T84" fmla="*/ 158 w 168"/>
                      <a:gd name="T85" fmla="*/ 42 h 48"/>
                      <a:gd name="T86" fmla="*/ 164 w 168"/>
                      <a:gd name="T87" fmla="*/ 45 h 48"/>
                      <a:gd name="T88" fmla="*/ 167 w 168"/>
                      <a:gd name="T89" fmla="*/ 47 h 48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</a:gdLst>
                    <a:ahLst/>
                    <a:cxnLst>
                      <a:cxn ang="T90">
                        <a:pos x="T0" y="T1"/>
                      </a:cxn>
                      <a:cxn ang="T91">
                        <a:pos x="T2" y="T3"/>
                      </a:cxn>
                      <a:cxn ang="T92">
                        <a:pos x="T4" y="T5"/>
                      </a:cxn>
                      <a:cxn ang="T93">
                        <a:pos x="T6" y="T7"/>
                      </a:cxn>
                      <a:cxn ang="T94">
                        <a:pos x="T8" y="T9"/>
                      </a:cxn>
                      <a:cxn ang="T95">
                        <a:pos x="T10" y="T11"/>
                      </a:cxn>
                      <a:cxn ang="T96">
                        <a:pos x="T12" y="T13"/>
                      </a:cxn>
                      <a:cxn ang="T97">
                        <a:pos x="T14" y="T15"/>
                      </a:cxn>
                      <a:cxn ang="T98">
                        <a:pos x="T16" y="T17"/>
                      </a:cxn>
                      <a:cxn ang="T99">
                        <a:pos x="T18" y="T19"/>
                      </a:cxn>
                      <a:cxn ang="T100">
                        <a:pos x="T20" y="T21"/>
                      </a:cxn>
                      <a:cxn ang="T101">
                        <a:pos x="T22" y="T23"/>
                      </a:cxn>
                      <a:cxn ang="T102">
                        <a:pos x="T24" y="T25"/>
                      </a:cxn>
                      <a:cxn ang="T103">
                        <a:pos x="T26" y="T27"/>
                      </a:cxn>
                      <a:cxn ang="T104">
                        <a:pos x="T28" y="T29"/>
                      </a:cxn>
                      <a:cxn ang="T105">
                        <a:pos x="T30" y="T31"/>
                      </a:cxn>
                      <a:cxn ang="T106">
                        <a:pos x="T32" y="T33"/>
                      </a:cxn>
                      <a:cxn ang="T107">
                        <a:pos x="T34" y="T35"/>
                      </a:cxn>
                      <a:cxn ang="T108">
                        <a:pos x="T36" y="T37"/>
                      </a:cxn>
                      <a:cxn ang="T109">
                        <a:pos x="T38" y="T39"/>
                      </a:cxn>
                      <a:cxn ang="T110">
                        <a:pos x="T40" y="T41"/>
                      </a:cxn>
                      <a:cxn ang="T111">
                        <a:pos x="T42" y="T43"/>
                      </a:cxn>
                      <a:cxn ang="T112">
                        <a:pos x="T44" y="T45"/>
                      </a:cxn>
                      <a:cxn ang="T113">
                        <a:pos x="T46" y="T47"/>
                      </a:cxn>
                      <a:cxn ang="T114">
                        <a:pos x="T48" y="T49"/>
                      </a:cxn>
                      <a:cxn ang="T115">
                        <a:pos x="T50" y="T51"/>
                      </a:cxn>
                      <a:cxn ang="T116">
                        <a:pos x="T52" y="T53"/>
                      </a:cxn>
                      <a:cxn ang="T117">
                        <a:pos x="T54" y="T55"/>
                      </a:cxn>
                      <a:cxn ang="T118">
                        <a:pos x="T56" y="T57"/>
                      </a:cxn>
                      <a:cxn ang="T119">
                        <a:pos x="T58" y="T59"/>
                      </a:cxn>
                      <a:cxn ang="T120">
                        <a:pos x="T60" y="T61"/>
                      </a:cxn>
                      <a:cxn ang="T121">
                        <a:pos x="T62" y="T63"/>
                      </a:cxn>
                      <a:cxn ang="T122">
                        <a:pos x="T64" y="T65"/>
                      </a:cxn>
                      <a:cxn ang="T123">
                        <a:pos x="T66" y="T67"/>
                      </a:cxn>
                      <a:cxn ang="T124">
                        <a:pos x="T68" y="T69"/>
                      </a:cxn>
                      <a:cxn ang="T125">
                        <a:pos x="T70" y="T71"/>
                      </a:cxn>
                      <a:cxn ang="T126">
                        <a:pos x="T72" y="T73"/>
                      </a:cxn>
                      <a:cxn ang="T127">
                        <a:pos x="T74" y="T75"/>
                      </a:cxn>
                      <a:cxn ang="T128">
                        <a:pos x="T76" y="T77"/>
                      </a:cxn>
                      <a:cxn ang="T129">
                        <a:pos x="T78" y="T79"/>
                      </a:cxn>
                      <a:cxn ang="T130">
                        <a:pos x="T80" y="T81"/>
                      </a:cxn>
                      <a:cxn ang="T131">
                        <a:pos x="T82" y="T83"/>
                      </a:cxn>
                      <a:cxn ang="T132">
                        <a:pos x="T84" y="T85"/>
                      </a:cxn>
                      <a:cxn ang="T133">
                        <a:pos x="T86" y="T87"/>
                      </a:cxn>
                      <a:cxn ang="T134">
                        <a:pos x="T88" y="T89"/>
                      </a:cxn>
                    </a:cxnLst>
                    <a:rect l="0" t="0" r="r" b="b"/>
                    <a:pathLst>
                      <a:path w="168" h="48">
                        <a:moveTo>
                          <a:pt x="167" y="47"/>
                        </a:moveTo>
                        <a:lnTo>
                          <a:pt x="164" y="38"/>
                        </a:lnTo>
                        <a:lnTo>
                          <a:pt x="160" y="31"/>
                        </a:lnTo>
                        <a:lnTo>
                          <a:pt x="157" y="30"/>
                        </a:lnTo>
                        <a:lnTo>
                          <a:pt x="150" y="28"/>
                        </a:lnTo>
                        <a:lnTo>
                          <a:pt x="144" y="26"/>
                        </a:lnTo>
                        <a:lnTo>
                          <a:pt x="137" y="28"/>
                        </a:lnTo>
                        <a:lnTo>
                          <a:pt x="130" y="29"/>
                        </a:lnTo>
                        <a:lnTo>
                          <a:pt x="121" y="25"/>
                        </a:lnTo>
                        <a:lnTo>
                          <a:pt x="109" y="21"/>
                        </a:lnTo>
                        <a:lnTo>
                          <a:pt x="98" y="17"/>
                        </a:lnTo>
                        <a:lnTo>
                          <a:pt x="91" y="15"/>
                        </a:lnTo>
                        <a:lnTo>
                          <a:pt x="78" y="12"/>
                        </a:lnTo>
                        <a:lnTo>
                          <a:pt x="66" y="8"/>
                        </a:lnTo>
                        <a:lnTo>
                          <a:pt x="54" y="4"/>
                        </a:lnTo>
                        <a:lnTo>
                          <a:pt x="41" y="1"/>
                        </a:lnTo>
                        <a:lnTo>
                          <a:pt x="28" y="0"/>
                        </a:lnTo>
                        <a:lnTo>
                          <a:pt x="15" y="0"/>
                        </a:lnTo>
                        <a:lnTo>
                          <a:pt x="12" y="1"/>
                        </a:lnTo>
                        <a:lnTo>
                          <a:pt x="7" y="4"/>
                        </a:lnTo>
                        <a:lnTo>
                          <a:pt x="3" y="7"/>
                        </a:lnTo>
                        <a:lnTo>
                          <a:pt x="0" y="10"/>
                        </a:lnTo>
                        <a:lnTo>
                          <a:pt x="5" y="10"/>
                        </a:lnTo>
                        <a:lnTo>
                          <a:pt x="12" y="11"/>
                        </a:lnTo>
                        <a:lnTo>
                          <a:pt x="18" y="12"/>
                        </a:lnTo>
                        <a:lnTo>
                          <a:pt x="23" y="11"/>
                        </a:lnTo>
                        <a:lnTo>
                          <a:pt x="29" y="10"/>
                        </a:lnTo>
                        <a:lnTo>
                          <a:pt x="38" y="10"/>
                        </a:lnTo>
                        <a:lnTo>
                          <a:pt x="50" y="10"/>
                        </a:lnTo>
                        <a:lnTo>
                          <a:pt x="60" y="12"/>
                        </a:lnTo>
                        <a:lnTo>
                          <a:pt x="70" y="13"/>
                        </a:lnTo>
                        <a:lnTo>
                          <a:pt x="79" y="15"/>
                        </a:lnTo>
                        <a:lnTo>
                          <a:pt x="89" y="16"/>
                        </a:lnTo>
                        <a:lnTo>
                          <a:pt x="98" y="18"/>
                        </a:lnTo>
                        <a:lnTo>
                          <a:pt x="106" y="22"/>
                        </a:lnTo>
                        <a:lnTo>
                          <a:pt x="114" y="26"/>
                        </a:lnTo>
                        <a:lnTo>
                          <a:pt x="123" y="30"/>
                        </a:lnTo>
                        <a:lnTo>
                          <a:pt x="127" y="30"/>
                        </a:lnTo>
                        <a:lnTo>
                          <a:pt x="131" y="30"/>
                        </a:lnTo>
                        <a:lnTo>
                          <a:pt x="137" y="33"/>
                        </a:lnTo>
                        <a:lnTo>
                          <a:pt x="144" y="36"/>
                        </a:lnTo>
                        <a:lnTo>
                          <a:pt x="150" y="38"/>
                        </a:lnTo>
                        <a:lnTo>
                          <a:pt x="158" y="42"/>
                        </a:lnTo>
                        <a:lnTo>
                          <a:pt x="164" y="45"/>
                        </a:lnTo>
                        <a:lnTo>
                          <a:pt x="167" y="47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056" name="Freeform 32">
                    <a:extLst>
                      <a:ext uri="{FF2B5EF4-FFF2-40B4-BE49-F238E27FC236}">
                        <a16:creationId xmlns:a16="http://schemas.microsoft.com/office/drawing/2014/main" id="{F3D4958C-1797-4F1B-8012-E782E43958D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1985" y="1514"/>
                    <a:ext cx="173" cy="20"/>
                  </a:xfrm>
                  <a:custGeom>
                    <a:avLst/>
                    <a:gdLst>
                      <a:gd name="T0" fmla="*/ 172 w 173"/>
                      <a:gd name="T1" fmla="*/ 19 h 20"/>
                      <a:gd name="T2" fmla="*/ 167 w 173"/>
                      <a:gd name="T3" fmla="*/ 17 h 20"/>
                      <a:gd name="T4" fmla="*/ 163 w 173"/>
                      <a:gd name="T5" fmla="*/ 15 h 20"/>
                      <a:gd name="T6" fmla="*/ 157 w 173"/>
                      <a:gd name="T7" fmla="*/ 13 h 20"/>
                      <a:gd name="T8" fmla="*/ 152 w 173"/>
                      <a:gd name="T9" fmla="*/ 11 h 20"/>
                      <a:gd name="T10" fmla="*/ 146 w 173"/>
                      <a:gd name="T11" fmla="*/ 9 h 20"/>
                      <a:gd name="T12" fmla="*/ 138 w 173"/>
                      <a:gd name="T13" fmla="*/ 6 h 20"/>
                      <a:gd name="T14" fmla="*/ 131 w 173"/>
                      <a:gd name="T15" fmla="*/ 2 h 20"/>
                      <a:gd name="T16" fmla="*/ 125 w 173"/>
                      <a:gd name="T17" fmla="*/ 2 h 20"/>
                      <a:gd name="T18" fmla="*/ 118 w 173"/>
                      <a:gd name="T19" fmla="*/ 3 h 20"/>
                      <a:gd name="T20" fmla="*/ 108 w 173"/>
                      <a:gd name="T21" fmla="*/ 5 h 20"/>
                      <a:gd name="T22" fmla="*/ 103 w 173"/>
                      <a:gd name="T23" fmla="*/ 5 h 20"/>
                      <a:gd name="T24" fmla="*/ 91 w 173"/>
                      <a:gd name="T25" fmla="*/ 3 h 20"/>
                      <a:gd name="T26" fmla="*/ 77 w 173"/>
                      <a:gd name="T27" fmla="*/ 1 h 20"/>
                      <a:gd name="T28" fmla="*/ 67 w 173"/>
                      <a:gd name="T29" fmla="*/ 0 h 20"/>
                      <a:gd name="T30" fmla="*/ 55 w 173"/>
                      <a:gd name="T31" fmla="*/ 0 h 20"/>
                      <a:gd name="T32" fmla="*/ 43 w 173"/>
                      <a:gd name="T33" fmla="*/ 0 h 20"/>
                      <a:gd name="T34" fmla="*/ 35 w 173"/>
                      <a:gd name="T35" fmla="*/ 1 h 20"/>
                      <a:gd name="T36" fmla="*/ 26 w 173"/>
                      <a:gd name="T37" fmla="*/ 2 h 20"/>
                      <a:gd name="T38" fmla="*/ 18 w 173"/>
                      <a:gd name="T39" fmla="*/ 3 h 20"/>
                      <a:gd name="T40" fmla="*/ 9 w 173"/>
                      <a:gd name="T41" fmla="*/ 4 h 20"/>
                      <a:gd name="T42" fmla="*/ 8 w 173"/>
                      <a:gd name="T43" fmla="*/ 8 h 20"/>
                      <a:gd name="T44" fmla="*/ 6 w 173"/>
                      <a:gd name="T45" fmla="*/ 11 h 20"/>
                      <a:gd name="T46" fmla="*/ 4 w 173"/>
                      <a:gd name="T47" fmla="*/ 14 h 20"/>
                      <a:gd name="T48" fmla="*/ 0 w 173"/>
                      <a:gd name="T49" fmla="*/ 16 h 20"/>
                      <a:gd name="T50" fmla="*/ 7 w 173"/>
                      <a:gd name="T51" fmla="*/ 15 h 20"/>
                      <a:gd name="T52" fmla="*/ 15 w 173"/>
                      <a:gd name="T53" fmla="*/ 13 h 20"/>
                      <a:gd name="T54" fmla="*/ 21 w 173"/>
                      <a:gd name="T55" fmla="*/ 12 h 20"/>
                      <a:gd name="T56" fmla="*/ 29 w 173"/>
                      <a:gd name="T57" fmla="*/ 11 h 20"/>
                      <a:gd name="T58" fmla="*/ 36 w 173"/>
                      <a:gd name="T59" fmla="*/ 10 h 20"/>
                      <a:gd name="T60" fmla="*/ 49 w 173"/>
                      <a:gd name="T61" fmla="*/ 9 h 20"/>
                      <a:gd name="T62" fmla="*/ 62 w 173"/>
                      <a:gd name="T63" fmla="*/ 8 h 20"/>
                      <a:gd name="T64" fmla="*/ 77 w 173"/>
                      <a:gd name="T65" fmla="*/ 7 h 20"/>
                      <a:gd name="T66" fmla="*/ 92 w 173"/>
                      <a:gd name="T67" fmla="*/ 6 h 20"/>
                      <a:gd name="T68" fmla="*/ 106 w 173"/>
                      <a:gd name="T69" fmla="*/ 6 h 20"/>
                      <a:gd name="T70" fmla="*/ 118 w 173"/>
                      <a:gd name="T71" fmla="*/ 7 h 20"/>
                      <a:gd name="T72" fmla="*/ 126 w 173"/>
                      <a:gd name="T73" fmla="*/ 9 h 20"/>
                      <a:gd name="T74" fmla="*/ 135 w 173"/>
                      <a:gd name="T75" fmla="*/ 11 h 20"/>
                      <a:gd name="T76" fmla="*/ 145 w 173"/>
                      <a:gd name="T77" fmla="*/ 13 h 20"/>
                      <a:gd name="T78" fmla="*/ 155 w 173"/>
                      <a:gd name="T79" fmla="*/ 16 h 20"/>
                      <a:gd name="T80" fmla="*/ 163 w 173"/>
                      <a:gd name="T81" fmla="*/ 17 h 20"/>
                      <a:gd name="T82" fmla="*/ 172 w 173"/>
                      <a:gd name="T83" fmla="*/ 19 h 20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173" h="20">
                        <a:moveTo>
                          <a:pt x="172" y="19"/>
                        </a:moveTo>
                        <a:lnTo>
                          <a:pt x="167" y="17"/>
                        </a:lnTo>
                        <a:lnTo>
                          <a:pt x="163" y="15"/>
                        </a:lnTo>
                        <a:lnTo>
                          <a:pt x="157" y="13"/>
                        </a:lnTo>
                        <a:lnTo>
                          <a:pt x="152" y="11"/>
                        </a:lnTo>
                        <a:lnTo>
                          <a:pt x="146" y="9"/>
                        </a:lnTo>
                        <a:lnTo>
                          <a:pt x="138" y="6"/>
                        </a:lnTo>
                        <a:lnTo>
                          <a:pt x="131" y="2"/>
                        </a:lnTo>
                        <a:lnTo>
                          <a:pt x="125" y="2"/>
                        </a:lnTo>
                        <a:lnTo>
                          <a:pt x="118" y="3"/>
                        </a:lnTo>
                        <a:lnTo>
                          <a:pt x="108" y="5"/>
                        </a:lnTo>
                        <a:lnTo>
                          <a:pt x="103" y="5"/>
                        </a:lnTo>
                        <a:lnTo>
                          <a:pt x="91" y="3"/>
                        </a:lnTo>
                        <a:lnTo>
                          <a:pt x="77" y="1"/>
                        </a:lnTo>
                        <a:lnTo>
                          <a:pt x="67" y="0"/>
                        </a:lnTo>
                        <a:lnTo>
                          <a:pt x="55" y="0"/>
                        </a:lnTo>
                        <a:lnTo>
                          <a:pt x="43" y="0"/>
                        </a:lnTo>
                        <a:lnTo>
                          <a:pt x="35" y="1"/>
                        </a:lnTo>
                        <a:lnTo>
                          <a:pt x="26" y="2"/>
                        </a:lnTo>
                        <a:lnTo>
                          <a:pt x="18" y="3"/>
                        </a:lnTo>
                        <a:lnTo>
                          <a:pt x="9" y="4"/>
                        </a:lnTo>
                        <a:lnTo>
                          <a:pt x="8" y="8"/>
                        </a:lnTo>
                        <a:lnTo>
                          <a:pt x="6" y="11"/>
                        </a:lnTo>
                        <a:lnTo>
                          <a:pt x="4" y="14"/>
                        </a:lnTo>
                        <a:lnTo>
                          <a:pt x="0" y="16"/>
                        </a:lnTo>
                        <a:lnTo>
                          <a:pt x="7" y="15"/>
                        </a:lnTo>
                        <a:lnTo>
                          <a:pt x="15" y="13"/>
                        </a:lnTo>
                        <a:lnTo>
                          <a:pt x="21" y="12"/>
                        </a:lnTo>
                        <a:lnTo>
                          <a:pt x="29" y="11"/>
                        </a:lnTo>
                        <a:lnTo>
                          <a:pt x="36" y="10"/>
                        </a:lnTo>
                        <a:lnTo>
                          <a:pt x="49" y="9"/>
                        </a:lnTo>
                        <a:lnTo>
                          <a:pt x="62" y="8"/>
                        </a:lnTo>
                        <a:lnTo>
                          <a:pt x="77" y="7"/>
                        </a:lnTo>
                        <a:lnTo>
                          <a:pt x="92" y="6"/>
                        </a:lnTo>
                        <a:lnTo>
                          <a:pt x="106" y="6"/>
                        </a:lnTo>
                        <a:lnTo>
                          <a:pt x="118" y="7"/>
                        </a:lnTo>
                        <a:lnTo>
                          <a:pt x="126" y="9"/>
                        </a:lnTo>
                        <a:lnTo>
                          <a:pt x="135" y="11"/>
                        </a:lnTo>
                        <a:lnTo>
                          <a:pt x="145" y="13"/>
                        </a:lnTo>
                        <a:lnTo>
                          <a:pt x="155" y="16"/>
                        </a:lnTo>
                        <a:lnTo>
                          <a:pt x="163" y="17"/>
                        </a:lnTo>
                        <a:lnTo>
                          <a:pt x="172" y="19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</p:grpSp>
      <p:grpSp>
        <p:nvGrpSpPr>
          <p:cNvPr id="1035" name="Group 33">
            <a:extLst>
              <a:ext uri="{FF2B5EF4-FFF2-40B4-BE49-F238E27FC236}">
                <a16:creationId xmlns:a16="http://schemas.microsoft.com/office/drawing/2014/main" id="{D821E5A4-D25A-4B5C-9D77-977A0768F8AC}"/>
              </a:ext>
            </a:extLst>
          </p:cNvPr>
          <p:cNvGrpSpPr>
            <a:grpSpLocks/>
          </p:cNvGrpSpPr>
          <p:nvPr/>
        </p:nvGrpSpPr>
        <p:grpSpPr bwMode="auto">
          <a:xfrm>
            <a:off x="7934325" y="6124575"/>
            <a:ext cx="322263" cy="420688"/>
            <a:chOff x="112" y="4288"/>
            <a:chExt cx="439" cy="478"/>
          </a:xfrm>
        </p:grpSpPr>
        <p:grpSp>
          <p:nvGrpSpPr>
            <p:cNvPr id="1040" name="Group 34">
              <a:extLst>
                <a:ext uri="{FF2B5EF4-FFF2-40B4-BE49-F238E27FC236}">
                  <a16:creationId xmlns:a16="http://schemas.microsoft.com/office/drawing/2014/main" id="{9FB00829-0AD1-4702-9D26-54031A999E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" y="4288"/>
              <a:ext cx="148" cy="478"/>
              <a:chOff x="259" y="4288"/>
              <a:chExt cx="148" cy="478"/>
            </a:xfrm>
          </p:grpSpPr>
          <p:sp>
            <p:nvSpPr>
              <p:cNvPr id="1044" name="Freeform 35">
                <a:extLst>
                  <a:ext uri="{FF2B5EF4-FFF2-40B4-BE49-F238E27FC236}">
                    <a16:creationId xmlns:a16="http://schemas.microsoft.com/office/drawing/2014/main" id="{EAFE3ECF-758D-49C6-AEE4-9440539D4E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" y="4288"/>
                <a:ext cx="147" cy="478"/>
              </a:xfrm>
              <a:custGeom>
                <a:avLst/>
                <a:gdLst>
                  <a:gd name="T0" fmla="*/ 49 w 147"/>
                  <a:gd name="T1" fmla="*/ 188 h 478"/>
                  <a:gd name="T2" fmla="*/ 131 w 147"/>
                  <a:gd name="T3" fmla="*/ 472 h 478"/>
                  <a:gd name="T4" fmla="*/ 135 w 147"/>
                  <a:gd name="T5" fmla="*/ 475 h 478"/>
                  <a:gd name="T6" fmla="*/ 139 w 147"/>
                  <a:gd name="T7" fmla="*/ 477 h 478"/>
                  <a:gd name="T8" fmla="*/ 142 w 147"/>
                  <a:gd name="T9" fmla="*/ 475 h 478"/>
                  <a:gd name="T10" fmla="*/ 144 w 147"/>
                  <a:gd name="T11" fmla="*/ 472 h 478"/>
                  <a:gd name="T12" fmla="*/ 146 w 147"/>
                  <a:gd name="T13" fmla="*/ 468 h 478"/>
                  <a:gd name="T14" fmla="*/ 146 w 147"/>
                  <a:gd name="T15" fmla="*/ 463 h 478"/>
                  <a:gd name="T16" fmla="*/ 143 w 147"/>
                  <a:gd name="T17" fmla="*/ 455 h 478"/>
                  <a:gd name="T18" fmla="*/ 61 w 147"/>
                  <a:gd name="T19" fmla="*/ 176 h 478"/>
                  <a:gd name="T20" fmla="*/ 9 w 147"/>
                  <a:gd name="T21" fmla="*/ 5 h 478"/>
                  <a:gd name="T22" fmla="*/ 6 w 147"/>
                  <a:gd name="T23" fmla="*/ 2 h 478"/>
                  <a:gd name="T24" fmla="*/ 4 w 147"/>
                  <a:gd name="T25" fmla="*/ 1 h 478"/>
                  <a:gd name="T26" fmla="*/ 1 w 147"/>
                  <a:gd name="T27" fmla="*/ 0 h 478"/>
                  <a:gd name="T28" fmla="*/ 0 w 147"/>
                  <a:gd name="T29" fmla="*/ 2 h 478"/>
                  <a:gd name="T30" fmla="*/ 0 w 147"/>
                  <a:gd name="T31" fmla="*/ 6 h 478"/>
                  <a:gd name="T32" fmla="*/ 0 w 147"/>
                  <a:gd name="T33" fmla="*/ 10 h 478"/>
                  <a:gd name="T34" fmla="*/ 49 w 147"/>
                  <a:gd name="T35" fmla="*/ 188 h 47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47" h="478">
                    <a:moveTo>
                      <a:pt x="49" y="188"/>
                    </a:moveTo>
                    <a:lnTo>
                      <a:pt x="131" y="472"/>
                    </a:lnTo>
                    <a:lnTo>
                      <a:pt x="135" y="475"/>
                    </a:lnTo>
                    <a:lnTo>
                      <a:pt x="139" y="477"/>
                    </a:lnTo>
                    <a:lnTo>
                      <a:pt x="142" y="475"/>
                    </a:lnTo>
                    <a:lnTo>
                      <a:pt x="144" y="472"/>
                    </a:lnTo>
                    <a:lnTo>
                      <a:pt x="146" y="468"/>
                    </a:lnTo>
                    <a:lnTo>
                      <a:pt x="146" y="463"/>
                    </a:lnTo>
                    <a:lnTo>
                      <a:pt x="143" y="455"/>
                    </a:lnTo>
                    <a:lnTo>
                      <a:pt x="61" y="176"/>
                    </a:lnTo>
                    <a:lnTo>
                      <a:pt x="9" y="5"/>
                    </a:lnTo>
                    <a:lnTo>
                      <a:pt x="6" y="2"/>
                    </a:lnTo>
                    <a:lnTo>
                      <a:pt x="4" y="1"/>
                    </a:lnTo>
                    <a:lnTo>
                      <a:pt x="1" y="0"/>
                    </a:lnTo>
                    <a:lnTo>
                      <a:pt x="0" y="2"/>
                    </a:lnTo>
                    <a:lnTo>
                      <a:pt x="0" y="6"/>
                    </a:lnTo>
                    <a:lnTo>
                      <a:pt x="0" y="10"/>
                    </a:lnTo>
                    <a:lnTo>
                      <a:pt x="49" y="188"/>
                    </a:lnTo>
                  </a:path>
                </a:pathLst>
              </a:cu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" name="Freeform 36">
                <a:extLst>
                  <a:ext uri="{FF2B5EF4-FFF2-40B4-BE49-F238E27FC236}">
                    <a16:creationId xmlns:a16="http://schemas.microsoft.com/office/drawing/2014/main" id="{16FADD3A-326F-4792-9A4E-C1E16D3536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" y="4290"/>
                <a:ext cx="145" cy="476"/>
              </a:xfrm>
              <a:custGeom>
                <a:avLst/>
                <a:gdLst>
                  <a:gd name="T0" fmla="*/ 50 w 146"/>
                  <a:gd name="T1" fmla="*/ 186 h 477"/>
                  <a:gd name="T2" fmla="*/ 107 w 146"/>
                  <a:gd name="T3" fmla="*/ 447 h 477"/>
                  <a:gd name="T4" fmla="*/ 109 w 146"/>
                  <a:gd name="T5" fmla="*/ 450 h 477"/>
                  <a:gd name="T6" fmla="*/ 114 w 146"/>
                  <a:gd name="T7" fmla="*/ 452 h 477"/>
                  <a:gd name="T8" fmla="*/ 117 w 146"/>
                  <a:gd name="T9" fmla="*/ 450 h 477"/>
                  <a:gd name="T10" fmla="*/ 120 w 146"/>
                  <a:gd name="T11" fmla="*/ 449 h 477"/>
                  <a:gd name="T12" fmla="*/ 121 w 146"/>
                  <a:gd name="T13" fmla="*/ 443 h 477"/>
                  <a:gd name="T14" fmla="*/ 121 w 146"/>
                  <a:gd name="T15" fmla="*/ 438 h 477"/>
                  <a:gd name="T16" fmla="*/ 119 w 146"/>
                  <a:gd name="T17" fmla="*/ 430 h 477"/>
                  <a:gd name="T18" fmla="*/ 61 w 146"/>
                  <a:gd name="T19" fmla="*/ 174 h 477"/>
                  <a:gd name="T20" fmla="*/ 9 w 146"/>
                  <a:gd name="T21" fmla="*/ 4 h 477"/>
                  <a:gd name="T22" fmla="*/ 6 w 146"/>
                  <a:gd name="T23" fmla="*/ 2 h 477"/>
                  <a:gd name="T24" fmla="*/ 4 w 146"/>
                  <a:gd name="T25" fmla="*/ 0 h 477"/>
                  <a:gd name="T26" fmla="*/ 2 w 146"/>
                  <a:gd name="T27" fmla="*/ 0 h 477"/>
                  <a:gd name="T28" fmla="*/ 1 w 146"/>
                  <a:gd name="T29" fmla="*/ 2 h 477"/>
                  <a:gd name="T30" fmla="*/ 0 w 146"/>
                  <a:gd name="T31" fmla="*/ 5 h 477"/>
                  <a:gd name="T32" fmla="*/ 0 w 146"/>
                  <a:gd name="T33" fmla="*/ 9 h 477"/>
                  <a:gd name="T34" fmla="*/ 50 w 146"/>
                  <a:gd name="T35" fmla="*/ 186 h 47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46" h="477">
                    <a:moveTo>
                      <a:pt x="50" y="186"/>
                    </a:moveTo>
                    <a:lnTo>
                      <a:pt x="131" y="471"/>
                    </a:lnTo>
                    <a:lnTo>
                      <a:pt x="133" y="474"/>
                    </a:lnTo>
                    <a:lnTo>
                      <a:pt x="138" y="476"/>
                    </a:lnTo>
                    <a:lnTo>
                      <a:pt x="141" y="474"/>
                    </a:lnTo>
                    <a:lnTo>
                      <a:pt x="144" y="473"/>
                    </a:lnTo>
                    <a:lnTo>
                      <a:pt x="145" y="467"/>
                    </a:lnTo>
                    <a:lnTo>
                      <a:pt x="145" y="462"/>
                    </a:lnTo>
                    <a:lnTo>
                      <a:pt x="143" y="454"/>
                    </a:lnTo>
                    <a:lnTo>
                      <a:pt x="61" y="174"/>
                    </a:lnTo>
                    <a:lnTo>
                      <a:pt x="9" y="4"/>
                    </a:lnTo>
                    <a:lnTo>
                      <a:pt x="6" y="2"/>
                    </a:lnTo>
                    <a:lnTo>
                      <a:pt x="4" y="0"/>
                    </a:lnTo>
                    <a:lnTo>
                      <a:pt x="2" y="0"/>
                    </a:lnTo>
                    <a:lnTo>
                      <a:pt x="1" y="2"/>
                    </a:lnTo>
                    <a:lnTo>
                      <a:pt x="0" y="5"/>
                    </a:lnTo>
                    <a:lnTo>
                      <a:pt x="0" y="9"/>
                    </a:lnTo>
                    <a:lnTo>
                      <a:pt x="50" y="186"/>
                    </a:lnTo>
                  </a:path>
                </a:pathLst>
              </a:custGeom>
              <a:solidFill>
                <a:srgbClr val="9F9F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41" name="Group 37">
              <a:extLst>
                <a:ext uri="{FF2B5EF4-FFF2-40B4-BE49-F238E27FC236}">
                  <a16:creationId xmlns:a16="http://schemas.microsoft.com/office/drawing/2014/main" id="{DC2A240A-DE75-4E61-AE5A-C492DF8EE9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2" y="4295"/>
              <a:ext cx="439" cy="321"/>
              <a:chOff x="112" y="4295"/>
              <a:chExt cx="439" cy="321"/>
            </a:xfrm>
          </p:grpSpPr>
          <p:sp>
            <p:nvSpPr>
              <p:cNvPr id="1042" name="Freeform 38">
                <a:extLst>
                  <a:ext uri="{FF2B5EF4-FFF2-40B4-BE49-F238E27FC236}">
                    <a16:creationId xmlns:a16="http://schemas.microsoft.com/office/drawing/2014/main" id="{24326527-1F9D-4076-8B91-B77433016F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" y="4304"/>
                <a:ext cx="272" cy="276"/>
              </a:xfrm>
              <a:custGeom>
                <a:avLst/>
                <a:gdLst>
                  <a:gd name="T0" fmla="*/ 43 w 273"/>
                  <a:gd name="T1" fmla="*/ 32 h 276"/>
                  <a:gd name="T2" fmla="*/ 69 w 273"/>
                  <a:gd name="T3" fmla="*/ 13 h 276"/>
                  <a:gd name="T4" fmla="*/ 92 w 273"/>
                  <a:gd name="T5" fmla="*/ 4 h 276"/>
                  <a:gd name="T6" fmla="*/ 123 w 273"/>
                  <a:gd name="T7" fmla="*/ 0 h 276"/>
                  <a:gd name="T8" fmla="*/ 136 w 273"/>
                  <a:gd name="T9" fmla="*/ 9 h 276"/>
                  <a:gd name="T10" fmla="*/ 170 w 273"/>
                  <a:gd name="T11" fmla="*/ 36 h 276"/>
                  <a:gd name="T12" fmla="*/ 208 w 273"/>
                  <a:gd name="T13" fmla="*/ 75 h 276"/>
                  <a:gd name="T14" fmla="*/ 241 w 273"/>
                  <a:gd name="T15" fmla="*/ 128 h 276"/>
                  <a:gd name="T16" fmla="*/ 244 w 273"/>
                  <a:gd name="T17" fmla="*/ 156 h 276"/>
                  <a:gd name="T18" fmla="*/ 237 w 273"/>
                  <a:gd name="T19" fmla="*/ 146 h 276"/>
                  <a:gd name="T20" fmla="*/ 229 w 273"/>
                  <a:gd name="T21" fmla="*/ 138 h 276"/>
                  <a:gd name="T22" fmla="*/ 218 w 273"/>
                  <a:gd name="T23" fmla="*/ 133 h 276"/>
                  <a:gd name="T24" fmla="*/ 208 w 273"/>
                  <a:gd name="T25" fmla="*/ 132 h 276"/>
                  <a:gd name="T26" fmla="*/ 196 w 273"/>
                  <a:gd name="T27" fmla="*/ 133 h 276"/>
                  <a:gd name="T28" fmla="*/ 185 w 273"/>
                  <a:gd name="T29" fmla="*/ 137 h 276"/>
                  <a:gd name="T30" fmla="*/ 177 w 273"/>
                  <a:gd name="T31" fmla="*/ 144 h 276"/>
                  <a:gd name="T32" fmla="*/ 169 w 273"/>
                  <a:gd name="T33" fmla="*/ 155 h 276"/>
                  <a:gd name="T34" fmla="*/ 163 w 273"/>
                  <a:gd name="T35" fmla="*/ 167 h 276"/>
                  <a:gd name="T36" fmla="*/ 160 w 273"/>
                  <a:gd name="T37" fmla="*/ 181 h 276"/>
                  <a:gd name="T38" fmla="*/ 162 w 273"/>
                  <a:gd name="T39" fmla="*/ 196 h 276"/>
                  <a:gd name="T40" fmla="*/ 142 w 273"/>
                  <a:gd name="T41" fmla="*/ 150 h 276"/>
                  <a:gd name="T42" fmla="*/ 99 w 273"/>
                  <a:gd name="T43" fmla="*/ 225 h 276"/>
                  <a:gd name="T44" fmla="*/ 99 w 273"/>
                  <a:gd name="T45" fmla="*/ 231 h 276"/>
                  <a:gd name="T46" fmla="*/ 92 w 273"/>
                  <a:gd name="T47" fmla="*/ 221 h 276"/>
                  <a:gd name="T48" fmla="*/ 83 w 273"/>
                  <a:gd name="T49" fmla="*/ 212 h 276"/>
                  <a:gd name="T50" fmla="*/ 73 w 273"/>
                  <a:gd name="T51" fmla="*/ 207 h 276"/>
                  <a:gd name="T52" fmla="*/ 63 w 273"/>
                  <a:gd name="T53" fmla="*/ 204 h 276"/>
                  <a:gd name="T54" fmla="*/ 53 w 273"/>
                  <a:gd name="T55" fmla="*/ 206 h 276"/>
                  <a:gd name="T56" fmla="*/ 43 w 273"/>
                  <a:gd name="T57" fmla="*/ 208 h 276"/>
                  <a:gd name="T58" fmla="*/ 33 w 273"/>
                  <a:gd name="T59" fmla="*/ 214 h 276"/>
                  <a:gd name="T60" fmla="*/ 25 w 273"/>
                  <a:gd name="T61" fmla="*/ 222 h 276"/>
                  <a:gd name="T62" fmla="*/ 19 w 273"/>
                  <a:gd name="T63" fmla="*/ 231 h 276"/>
                  <a:gd name="T64" fmla="*/ 15 w 273"/>
                  <a:gd name="T65" fmla="*/ 243 h 276"/>
                  <a:gd name="T66" fmla="*/ 14 w 273"/>
                  <a:gd name="T67" fmla="*/ 258 h 276"/>
                  <a:gd name="T68" fmla="*/ 17 w 273"/>
                  <a:gd name="T69" fmla="*/ 275 h 276"/>
                  <a:gd name="T70" fmla="*/ 3 w 273"/>
                  <a:gd name="T71" fmla="*/ 229 h 276"/>
                  <a:gd name="T72" fmla="*/ 0 w 273"/>
                  <a:gd name="T73" fmla="*/ 173 h 276"/>
                  <a:gd name="T74" fmla="*/ 4 w 273"/>
                  <a:gd name="T75" fmla="*/ 119 h 276"/>
                  <a:gd name="T76" fmla="*/ 30 w 273"/>
                  <a:gd name="T77" fmla="*/ 48 h 27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0" t="0" r="r" b="b"/>
                <a:pathLst>
                  <a:path w="273" h="276">
                    <a:moveTo>
                      <a:pt x="30" y="48"/>
                    </a:moveTo>
                    <a:lnTo>
                      <a:pt x="43" y="32"/>
                    </a:lnTo>
                    <a:lnTo>
                      <a:pt x="55" y="21"/>
                    </a:lnTo>
                    <a:lnTo>
                      <a:pt x="69" y="13"/>
                    </a:lnTo>
                    <a:lnTo>
                      <a:pt x="78" y="8"/>
                    </a:lnTo>
                    <a:lnTo>
                      <a:pt x="92" y="4"/>
                    </a:lnTo>
                    <a:lnTo>
                      <a:pt x="108" y="0"/>
                    </a:lnTo>
                    <a:lnTo>
                      <a:pt x="123" y="0"/>
                    </a:lnTo>
                    <a:lnTo>
                      <a:pt x="144" y="4"/>
                    </a:lnTo>
                    <a:lnTo>
                      <a:pt x="154" y="9"/>
                    </a:lnTo>
                    <a:lnTo>
                      <a:pt x="173" y="20"/>
                    </a:lnTo>
                    <a:lnTo>
                      <a:pt x="194" y="36"/>
                    </a:lnTo>
                    <a:lnTo>
                      <a:pt x="213" y="55"/>
                    </a:lnTo>
                    <a:lnTo>
                      <a:pt x="232" y="75"/>
                    </a:lnTo>
                    <a:lnTo>
                      <a:pt x="247" y="105"/>
                    </a:lnTo>
                    <a:lnTo>
                      <a:pt x="265" y="128"/>
                    </a:lnTo>
                    <a:lnTo>
                      <a:pt x="272" y="165"/>
                    </a:lnTo>
                    <a:lnTo>
                      <a:pt x="268" y="156"/>
                    </a:lnTo>
                    <a:lnTo>
                      <a:pt x="265" y="150"/>
                    </a:lnTo>
                    <a:lnTo>
                      <a:pt x="261" y="146"/>
                    </a:lnTo>
                    <a:lnTo>
                      <a:pt x="256" y="142"/>
                    </a:lnTo>
                    <a:lnTo>
                      <a:pt x="253" y="138"/>
                    </a:lnTo>
                    <a:lnTo>
                      <a:pt x="247" y="136"/>
                    </a:lnTo>
                    <a:lnTo>
                      <a:pt x="242" y="133"/>
                    </a:lnTo>
                    <a:lnTo>
                      <a:pt x="237" y="132"/>
                    </a:lnTo>
                    <a:lnTo>
                      <a:pt x="232" y="132"/>
                    </a:lnTo>
                    <a:lnTo>
                      <a:pt x="226" y="132"/>
                    </a:lnTo>
                    <a:lnTo>
                      <a:pt x="220" y="133"/>
                    </a:lnTo>
                    <a:lnTo>
                      <a:pt x="215" y="134"/>
                    </a:lnTo>
                    <a:lnTo>
                      <a:pt x="209" y="137"/>
                    </a:lnTo>
                    <a:lnTo>
                      <a:pt x="205" y="141"/>
                    </a:lnTo>
                    <a:lnTo>
                      <a:pt x="201" y="144"/>
                    </a:lnTo>
                    <a:lnTo>
                      <a:pt x="196" y="149"/>
                    </a:lnTo>
                    <a:lnTo>
                      <a:pt x="193" y="155"/>
                    </a:lnTo>
                    <a:lnTo>
                      <a:pt x="190" y="161"/>
                    </a:lnTo>
                    <a:lnTo>
                      <a:pt x="187" y="167"/>
                    </a:lnTo>
                    <a:lnTo>
                      <a:pt x="186" y="175"/>
                    </a:lnTo>
                    <a:lnTo>
                      <a:pt x="184" y="181"/>
                    </a:lnTo>
                    <a:lnTo>
                      <a:pt x="185" y="190"/>
                    </a:lnTo>
                    <a:lnTo>
                      <a:pt x="186" y="196"/>
                    </a:lnTo>
                    <a:lnTo>
                      <a:pt x="187" y="203"/>
                    </a:lnTo>
                    <a:lnTo>
                      <a:pt x="166" y="150"/>
                    </a:lnTo>
                    <a:lnTo>
                      <a:pt x="98" y="175"/>
                    </a:lnTo>
                    <a:lnTo>
                      <a:pt x="99" y="225"/>
                    </a:lnTo>
                    <a:lnTo>
                      <a:pt x="102" y="239"/>
                    </a:lnTo>
                    <a:lnTo>
                      <a:pt x="99" y="231"/>
                    </a:lnTo>
                    <a:lnTo>
                      <a:pt x="96" y="226"/>
                    </a:lnTo>
                    <a:lnTo>
                      <a:pt x="92" y="221"/>
                    </a:lnTo>
                    <a:lnTo>
                      <a:pt x="87" y="217"/>
                    </a:lnTo>
                    <a:lnTo>
                      <a:pt x="83" y="212"/>
                    </a:lnTo>
                    <a:lnTo>
                      <a:pt x="78" y="210"/>
                    </a:lnTo>
                    <a:lnTo>
                      <a:pt x="73" y="207"/>
                    </a:lnTo>
                    <a:lnTo>
                      <a:pt x="68" y="206"/>
                    </a:lnTo>
                    <a:lnTo>
                      <a:pt x="63" y="204"/>
                    </a:lnTo>
                    <a:lnTo>
                      <a:pt x="58" y="204"/>
                    </a:lnTo>
                    <a:lnTo>
                      <a:pt x="53" y="206"/>
                    </a:lnTo>
                    <a:lnTo>
                      <a:pt x="48" y="206"/>
                    </a:lnTo>
                    <a:lnTo>
                      <a:pt x="43" y="208"/>
                    </a:lnTo>
                    <a:lnTo>
                      <a:pt x="38" y="211"/>
                    </a:lnTo>
                    <a:lnTo>
                      <a:pt x="33" y="214"/>
                    </a:lnTo>
                    <a:lnTo>
                      <a:pt x="28" y="218"/>
                    </a:lnTo>
                    <a:lnTo>
                      <a:pt x="25" y="222"/>
                    </a:lnTo>
                    <a:lnTo>
                      <a:pt x="22" y="226"/>
                    </a:lnTo>
                    <a:lnTo>
                      <a:pt x="19" y="231"/>
                    </a:lnTo>
                    <a:lnTo>
                      <a:pt x="17" y="238"/>
                    </a:lnTo>
                    <a:lnTo>
                      <a:pt x="15" y="243"/>
                    </a:lnTo>
                    <a:lnTo>
                      <a:pt x="14" y="252"/>
                    </a:lnTo>
                    <a:lnTo>
                      <a:pt x="14" y="258"/>
                    </a:lnTo>
                    <a:lnTo>
                      <a:pt x="15" y="264"/>
                    </a:lnTo>
                    <a:lnTo>
                      <a:pt x="17" y="275"/>
                    </a:lnTo>
                    <a:lnTo>
                      <a:pt x="12" y="262"/>
                    </a:lnTo>
                    <a:lnTo>
                      <a:pt x="3" y="229"/>
                    </a:lnTo>
                    <a:lnTo>
                      <a:pt x="2" y="207"/>
                    </a:lnTo>
                    <a:lnTo>
                      <a:pt x="0" y="173"/>
                    </a:lnTo>
                    <a:lnTo>
                      <a:pt x="0" y="144"/>
                    </a:lnTo>
                    <a:lnTo>
                      <a:pt x="4" y="119"/>
                    </a:lnTo>
                    <a:lnTo>
                      <a:pt x="11" y="84"/>
                    </a:lnTo>
                    <a:lnTo>
                      <a:pt x="30" y="48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3" name="Freeform 39">
                <a:extLst>
                  <a:ext uri="{FF2B5EF4-FFF2-40B4-BE49-F238E27FC236}">
                    <a16:creationId xmlns:a16="http://schemas.microsoft.com/office/drawing/2014/main" id="{F7201DF7-5343-4382-A68D-392FFFEBBF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" y="4295"/>
                <a:ext cx="439" cy="321"/>
              </a:xfrm>
              <a:custGeom>
                <a:avLst/>
                <a:gdLst>
                  <a:gd name="T0" fmla="*/ 146 w 439"/>
                  <a:gd name="T1" fmla="*/ 22 h 321"/>
                  <a:gd name="T2" fmla="*/ 113 w 439"/>
                  <a:gd name="T3" fmla="*/ 43 h 321"/>
                  <a:gd name="T4" fmla="*/ 83 w 439"/>
                  <a:gd name="T5" fmla="*/ 67 h 321"/>
                  <a:gd name="T6" fmla="*/ 57 w 439"/>
                  <a:gd name="T7" fmla="*/ 96 h 321"/>
                  <a:gd name="T8" fmla="*/ 31 w 439"/>
                  <a:gd name="T9" fmla="*/ 134 h 321"/>
                  <a:gd name="T10" fmla="*/ 12 w 439"/>
                  <a:gd name="T11" fmla="*/ 177 h 321"/>
                  <a:gd name="T12" fmla="*/ 1 w 439"/>
                  <a:gd name="T13" fmla="*/ 227 h 321"/>
                  <a:gd name="T14" fmla="*/ 0 w 439"/>
                  <a:gd name="T15" fmla="*/ 278 h 321"/>
                  <a:gd name="T16" fmla="*/ 9 w 439"/>
                  <a:gd name="T17" fmla="*/ 320 h 321"/>
                  <a:gd name="T18" fmla="*/ 10 w 439"/>
                  <a:gd name="T19" fmla="*/ 282 h 321"/>
                  <a:gd name="T20" fmla="*/ 29 w 439"/>
                  <a:gd name="T21" fmla="*/ 258 h 321"/>
                  <a:gd name="T22" fmla="*/ 55 w 439"/>
                  <a:gd name="T23" fmla="*/ 250 h 321"/>
                  <a:gd name="T24" fmla="*/ 81 w 439"/>
                  <a:gd name="T25" fmla="*/ 260 h 321"/>
                  <a:gd name="T26" fmla="*/ 94 w 439"/>
                  <a:gd name="T27" fmla="*/ 276 h 321"/>
                  <a:gd name="T28" fmla="*/ 84 w 439"/>
                  <a:gd name="T29" fmla="*/ 229 h 321"/>
                  <a:gd name="T30" fmla="*/ 81 w 439"/>
                  <a:gd name="T31" fmla="*/ 178 h 321"/>
                  <a:gd name="T32" fmla="*/ 85 w 439"/>
                  <a:gd name="T33" fmla="*/ 129 h 321"/>
                  <a:gd name="T34" fmla="*/ 96 w 439"/>
                  <a:gd name="T35" fmla="*/ 91 h 321"/>
                  <a:gd name="T36" fmla="*/ 113 w 439"/>
                  <a:gd name="T37" fmla="*/ 57 h 321"/>
                  <a:gd name="T38" fmla="*/ 138 w 439"/>
                  <a:gd name="T39" fmla="*/ 30 h 321"/>
                  <a:gd name="T40" fmla="*/ 149 w 439"/>
                  <a:gd name="T41" fmla="*/ 30 h 321"/>
                  <a:gd name="T42" fmla="*/ 146 w 439"/>
                  <a:gd name="T43" fmla="*/ 71 h 321"/>
                  <a:gd name="T44" fmla="*/ 150 w 439"/>
                  <a:gd name="T45" fmla="*/ 116 h 321"/>
                  <a:gd name="T46" fmla="*/ 161 w 439"/>
                  <a:gd name="T47" fmla="*/ 172 h 321"/>
                  <a:gd name="T48" fmla="*/ 174 w 439"/>
                  <a:gd name="T49" fmla="*/ 220 h 321"/>
                  <a:gd name="T50" fmla="*/ 179 w 439"/>
                  <a:gd name="T51" fmla="*/ 231 h 321"/>
                  <a:gd name="T52" fmla="*/ 189 w 439"/>
                  <a:gd name="T53" fmla="*/ 196 h 321"/>
                  <a:gd name="T54" fmla="*/ 217 w 439"/>
                  <a:gd name="T55" fmla="*/ 178 h 321"/>
                  <a:gd name="T56" fmla="*/ 247 w 439"/>
                  <a:gd name="T57" fmla="*/ 184 h 321"/>
                  <a:gd name="T58" fmla="*/ 262 w 439"/>
                  <a:gd name="T59" fmla="*/ 198 h 321"/>
                  <a:gd name="T60" fmla="*/ 248 w 439"/>
                  <a:gd name="T61" fmla="*/ 158 h 321"/>
                  <a:gd name="T62" fmla="*/ 231 w 439"/>
                  <a:gd name="T63" fmla="*/ 115 h 321"/>
                  <a:gd name="T64" fmla="*/ 211 w 439"/>
                  <a:gd name="T65" fmla="*/ 75 h 321"/>
                  <a:gd name="T66" fmla="*/ 192 w 439"/>
                  <a:gd name="T67" fmla="*/ 44 h 321"/>
                  <a:gd name="T68" fmla="*/ 170 w 439"/>
                  <a:gd name="T69" fmla="*/ 20 h 321"/>
                  <a:gd name="T70" fmla="*/ 183 w 439"/>
                  <a:gd name="T71" fmla="*/ 12 h 321"/>
                  <a:gd name="T72" fmla="*/ 217 w 439"/>
                  <a:gd name="T73" fmla="*/ 14 h 321"/>
                  <a:gd name="T74" fmla="*/ 251 w 439"/>
                  <a:gd name="T75" fmla="*/ 30 h 321"/>
                  <a:gd name="T76" fmla="*/ 278 w 439"/>
                  <a:gd name="T77" fmla="*/ 52 h 321"/>
                  <a:gd name="T78" fmla="*/ 303 w 439"/>
                  <a:gd name="T79" fmla="*/ 80 h 321"/>
                  <a:gd name="T80" fmla="*/ 324 w 439"/>
                  <a:gd name="T81" fmla="*/ 112 h 321"/>
                  <a:gd name="T82" fmla="*/ 341 w 439"/>
                  <a:gd name="T83" fmla="*/ 149 h 321"/>
                  <a:gd name="T84" fmla="*/ 350 w 439"/>
                  <a:gd name="T85" fmla="*/ 157 h 321"/>
                  <a:gd name="T86" fmla="*/ 360 w 439"/>
                  <a:gd name="T87" fmla="*/ 125 h 321"/>
                  <a:gd name="T88" fmla="*/ 383 w 439"/>
                  <a:gd name="T89" fmla="*/ 106 h 321"/>
                  <a:gd name="T90" fmla="*/ 407 w 439"/>
                  <a:gd name="T91" fmla="*/ 106 h 321"/>
                  <a:gd name="T92" fmla="*/ 430 w 439"/>
                  <a:gd name="T93" fmla="*/ 125 h 321"/>
                  <a:gd name="T94" fmla="*/ 430 w 439"/>
                  <a:gd name="T95" fmla="*/ 116 h 321"/>
                  <a:gd name="T96" fmla="*/ 411 w 439"/>
                  <a:gd name="T97" fmla="*/ 83 h 321"/>
                  <a:gd name="T98" fmla="*/ 387 w 439"/>
                  <a:gd name="T99" fmla="*/ 53 h 321"/>
                  <a:gd name="T100" fmla="*/ 356 w 439"/>
                  <a:gd name="T101" fmla="*/ 29 h 321"/>
                  <a:gd name="T102" fmla="*/ 324 w 439"/>
                  <a:gd name="T103" fmla="*/ 13 h 321"/>
                  <a:gd name="T104" fmla="*/ 291 w 439"/>
                  <a:gd name="T105" fmla="*/ 4 h 321"/>
                  <a:gd name="T106" fmla="*/ 256 w 439"/>
                  <a:gd name="T107" fmla="*/ 0 h 321"/>
                  <a:gd name="T108" fmla="*/ 217 w 439"/>
                  <a:gd name="T109" fmla="*/ 1 h 321"/>
                  <a:gd name="T110" fmla="*/ 180 w 439"/>
                  <a:gd name="T111" fmla="*/ 9 h 321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439" h="321">
                    <a:moveTo>
                      <a:pt x="172" y="12"/>
                    </a:moveTo>
                    <a:lnTo>
                      <a:pt x="162" y="16"/>
                    </a:lnTo>
                    <a:lnTo>
                      <a:pt x="157" y="17"/>
                    </a:lnTo>
                    <a:lnTo>
                      <a:pt x="152" y="20"/>
                    </a:lnTo>
                    <a:lnTo>
                      <a:pt x="146" y="22"/>
                    </a:lnTo>
                    <a:lnTo>
                      <a:pt x="138" y="26"/>
                    </a:lnTo>
                    <a:lnTo>
                      <a:pt x="132" y="30"/>
                    </a:lnTo>
                    <a:lnTo>
                      <a:pt x="126" y="33"/>
                    </a:lnTo>
                    <a:lnTo>
                      <a:pt x="119" y="38"/>
                    </a:lnTo>
                    <a:lnTo>
                      <a:pt x="113" y="43"/>
                    </a:lnTo>
                    <a:lnTo>
                      <a:pt x="107" y="47"/>
                    </a:lnTo>
                    <a:lnTo>
                      <a:pt x="101" y="52"/>
                    </a:lnTo>
                    <a:lnTo>
                      <a:pt x="94" y="57"/>
                    </a:lnTo>
                    <a:lnTo>
                      <a:pt x="88" y="61"/>
                    </a:lnTo>
                    <a:lnTo>
                      <a:pt x="83" y="67"/>
                    </a:lnTo>
                    <a:lnTo>
                      <a:pt x="77" y="72"/>
                    </a:lnTo>
                    <a:lnTo>
                      <a:pt x="72" y="79"/>
                    </a:lnTo>
                    <a:lnTo>
                      <a:pt x="66" y="84"/>
                    </a:lnTo>
                    <a:lnTo>
                      <a:pt x="61" y="90"/>
                    </a:lnTo>
                    <a:lnTo>
                      <a:pt x="57" y="96"/>
                    </a:lnTo>
                    <a:lnTo>
                      <a:pt x="51" y="103"/>
                    </a:lnTo>
                    <a:lnTo>
                      <a:pt x="46" y="110"/>
                    </a:lnTo>
                    <a:lnTo>
                      <a:pt x="41" y="118"/>
                    </a:lnTo>
                    <a:lnTo>
                      <a:pt x="36" y="126"/>
                    </a:lnTo>
                    <a:lnTo>
                      <a:pt x="31" y="134"/>
                    </a:lnTo>
                    <a:lnTo>
                      <a:pt x="27" y="141"/>
                    </a:lnTo>
                    <a:lnTo>
                      <a:pt x="23" y="150"/>
                    </a:lnTo>
                    <a:lnTo>
                      <a:pt x="18" y="160"/>
                    </a:lnTo>
                    <a:lnTo>
                      <a:pt x="15" y="169"/>
                    </a:lnTo>
                    <a:lnTo>
                      <a:pt x="12" y="177"/>
                    </a:lnTo>
                    <a:lnTo>
                      <a:pt x="9" y="186"/>
                    </a:lnTo>
                    <a:lnTo>
                      <a:pt x="6" y="196"/>
                    </a:lnTo>
                    <a:lnTo>
                      <a:pt x="4" y="207"/>
                    </a:lnTo>
                    <a:lnTo>
                      <a:pt x="3" y="216"/>
                    </a:lnTo>
                    <a:lnTo>
                      <a:pt x="1" y="227"/>
                    </a:lnTo>
                    <a:lnTo>
                      <a:pt x="0" y="239"/>
                    </a:lnTo>
                    <a:lnTo>
                      <a:pt x="0" y="250"/>
                    </a:lnTo>
                    <a:lnTo>
                      <a:pt x="0" y="260"/>
                    </a:lnTo>
                    <a:lnTo>
                      <a:pt x="0" y="270"/>
                    </a:lnTo>
                    <a:lnTo>
                      <a:pt x="0" y="278"/>
                    </a:lnTo>
                    <a:lnTo>
                      <a:pt x="1" y="286"/>
                    </a:lnTo>
                    <a:lnTo>
                      <a:pt x="3" y="294"/>
                    </a:lnTo>
                    <a:lnTo>
                      <a:pt x="4" y="302"/>
                    </a:lnTo>
                    <a:lnTo>
                      <a:pt x="6" y="310"/>
                    </a:lnTo>
                    <a:lnTo>
                      <a:pt x="9" y="320"/>
                    </a:lnTo>
                    <a:lnTo>
                      <a:pt x="7" y="310"/>
                    </a:lnTo>
                    <a:lnTo>
                      <a:pt x="7" y="302"/>
                    </a:lnTo>
                    <a:lnTo>
                      <a:pt x="7" y="295"/>
                    </a:lnTo>
                    <a:lnTo>
                      <a:pt x="9" y="289"/>
                    </a:lnTo>
                    <a:lnTo>
                      <a:pt x="10" y="282"/>
                    </a:lnTo>
                    <a:lnTo>
                      <a:pt x="13" y="276"/>
                    </a:lnTo>
                    <a:lnTo>
                      <a:pt x="16" y="271"/>
                    </a:lnTo>
                    <a:lnTo>
                      <a:pt x="21" y="264"/>
                    </a:lnTo>
                    <a:lnTo>
                      <a:pt x="25" y="260"/>
                    </a:lnTo>
                    <a:lnTo>
                      <a:pt x="29" y="258"/>
                    </a:lnTo>
                    <a:lnTo>
                      <a:pt x="33" y="255"/>
                    </a:lnTo>
                    <a:lnTo>
                      <a:pt x="39" y="252"/>
                    </a:lnTo>
                    <a:lnTo>
                      <a:pt x="45" y="251"/>
                    </a:lnTo>
                    <a:lnTo>
                      <a:pt x="50" y="250"/>
                    </a:lnTo>
                    <a:lnTo>
                      <a:pt x="55" y="250"/>
                    </a:lnTo>
                    <a:lnTo>
                      <a:pt x="60" y="251"/>
                    </a:lnTo>
                    <a:lnTo>
                      <a:pt x="66" y="252"/>
                    </a:lnTo>
                    <a:lnTo>
                      <a:pt x="72" y="255"/>
                    </a:lnTo>
                    <a:lnTo>
                      <a:pt x="75" y="258"/>
                    </a:lnTo>
                    <a:lnTo>
                      <a:pt x="81" y="260"/>
                    </a:lnTo>
                    <a:lnTo>
                      <a:pt x="85" y="266"/>
                    </a:lnTo>
                    <a:lnTo>
                      <a:pt x="89" y="271"/>
                    </a:lnTo>
                    <a:lnTo>
                      <a:pt x="93" y="278"/>
                    </a:lnTo>
                    <a:lnTo>
                      <a:pt x="96" y="285"/>
                    </a:lnTo>
                    <a:lnTo>
                      <a:pt x="94" y="276"/>
                    </a:lnTo>
                    <a:lnTo>
                      <a:pt x="92" y="268"/>
                    </a:lnTo>
                    <a:lnTo>
                      <a:pt x="89" y="259"/>
                    </a:lnTo>
                    <a:lnTo>
                      <a:pt x="87" y="248"/>
                    </a:lnTo>
                    <a:lnTo>
                      <a:pt x="86" y="239"/>
                    </a:lnTo>
                    <a:lnTo>
                      <a:pt x="84" y="229"/>
                    </a:lnTo>
                    <a:lnTo>
                      <a:pt x="83" y="220"/>
                    </a:lnTo>
                    <a:lnTo>
                      <a:pt x="82" y="211"/>
                    </a:lnTo>
                    <a:lnTo>
                      <a:pt x="81" y="200"/>
                    </a:lnTo>
                    <a:lnTo>
                      <a:pt x="81" y="189"/>
                    </a:lnTo>
                    <a:lnTo>
                      <a:pt x="81" y="178"/>
                    </a:lnTo>
                    <a:lnTo>
                      <a:pt x="81" y="166"/>
                    </a:lnTo>
                    <a:lnTo>
                      <a:pt x="82" y="155"/>
                    </a:lnTo>
                    <a:lnTo>
                      <a:pt x="83" y="147"/>
                    </a:lnTo>
                    <a:lnTo>
                      <a:pt x="84" y="138"/>
                    </a:lnTo>
                    <a:lnTo>
                      <a:pt x="85" y="129"/>
                    </a:lnTo>
                    <a:lnTo>
                      <a:pt x="87" y="119"/>
                    </a:lnTo>
                    <a:lnTo>
                      <a:pt x="90" y="111"/>
                    </a:lnTo>
                    <a:lnTo>
                      <a:pt x="92" y="103"/>
                    </a:lnTo>
                    <a:lnTo>
                      <a:pt x="93" y="96"/>
                    </a:lnTo>
                    <a:lnTo>
                      <a:pt x="96" y="91"/>
                    </a:lnTo>
                    <a:lnTo>
                      <a:pt x="99" y="86"/>
                    </a:lnTo>
                    <a:lnTo>
                      <a:pt x="102" y="77"/>
                    </a:lnTo>
                    <a:lnTo>
                      <a:pt x="105" y="69"/>
                    </a:lnTo>
                    <a:lnTo>
                      <a:pt x="109" y="63"/>
                    </a:lnTo>
                    <a:lnTo>
                      <a:pt x="113" y="57"/>
                    </a:lnTo>
                    <a:lnTo>
                      <a:pt x="117" y="52"/>
                    </a:lnTo>
                    <a:lnTo>
                      <a:pt x="123" y="45"/>
                    </a:lnTo>
                    <a:lnTo>
                      <a:pt x="127" y="40"/>
                    </a:lnTo>
                    <a:lnTo>
                      <a:pt x="132" y="34"/>
                    </a:lnTo>
                    <a:lnTo>
                      <a:pt x="138" y="30"/>
                    </a:lnTo>
                    <a:lnTo>
                      <a:pt x="144" y="26"/>
                    </a:lnTo>
                    <a:lnTo>
                      <a:pt x="150" y="22"/>
                    </a:lnTo>
                    <a:lnTo>
                      <a:pt x="154" y="21"/>
                    </a:lnTo>
                    <a:lnTo>
                      <a:pt x="151" y="25"/>
                    </a:lnTo>
                    <a:lnTo>
                      <a:pt x="149" y="30"/>
                    </a:lnTo>
                    <a:lnTo>
                      <a:pt x="147" y="38"/>
                    </a:lnTo>
                    <a:lnTo>
                      <a:pt x="147" y="47"/>
                    </a:lnTo>
                    <a:lnTo>
                      <a:pt x="146" y="53"/>
                    </a:lnTo>
                    <a:lnTo>
                      <a:pt x="146" y="63"/>
                    </a:lnTo>
                    <a:lnTo>
                      <a:pt x="146" y="71"/>
                    </a:lnTo>
                    <a:lnTo>
                      <a:pt x="146" y="77"/>
                    </a:lnTo>
                    <a:lnTo>
                      <a:pt x="147" y="87"/>
                    </a:lnTo>
                    <a:lnTo>
                      <a:pt x="147" y="98"/>
                    </a:lnTo>
                    <a:lnTo>
                      <a:pt x="149" y="107"/>
                    </a:lnTo>
                    <a:lnTo>
                      <a:pt x="150" y="116"/>
                    </a:lnTo>
                    <a:lnTo>
                      <a:pt x="152" y="129"/>
                    </a:lnTo>
                    <a:lnTo>
                      <a:pt x="154" y="139"/>
                    </a:lnTo>
                    <a:lnTo>
                      <a:pt x="156" y="151"/>
                    </a:lnTo>
                    <a:lnTo>
                      <a:pt x="159" y="162"/>
                    </a:lnTo>
                    <a:lnTo>
                      <a:pt x="161" y="172"/>
                    </a:lnTo>
                    <a:lnTo>
                      <a:pt x="163" y="181"/>
                    </a:lnTo>
                    <a:lnTo>
                      <a:pt x="165" y="190"/>
                    </a:lnTo>
                    <a:lnTo>
                      <a:pt x="168" y="200"/>
                    </a:lnTo>
                    <a:lnTo>
                      <a:pt x="171" y="209"/>
                    </a:lnTo>
                    <a:lnTo>
                      <a:pt x="174" y="220"/>
                    </a:lnTo>
                    <a:lnTo>
                      <a:pt x="176" y="229"/>
                    </a:lnTo>
                    <a:lnTo>
                      <a:pt x="178" y="237"/>
                    </a:lnTo>
                    <a:lnTo>
                      <a:pt x="181" y="248"/>
                    </a:lnTo>
                    <a:lnTo>
                      <a:pt x="180" y="240"/>
                    </a:lnTo>
                    <a:lnTo>
                      <a:pt x="179" y="231"/>
                    </a:lnTo>
                    <a:lnTo>
                      <a:pt x="180" y="223"/>
                    </a:lnTo>
                    <a:lnTo>
                      <a:pt x="180" y="216"/>
                    </a:lnTo>
                    <a:lnTo>
                      <a:pt x="183" y="209"/>
                    </a:lnTo>
                    <a:lnTo>
                      <a:pt x="186" y="203"/>
                    </a:lnTo>
                    <a:lnTo>
                      <a:pt x="189" y="196"/>
                    </a:lnTo>
                    <a:lnTo>
                      <a:pt x="193" y="190"/>
                    </a:lnTo>
                    <a:lnTo>
                      <a:pt x="198" y="186"/>
                    </a:lnTo>
                    <a:lnTo>
                      <a:pt x="204" y="182"/>
                    </a:lnTo>
                    <a:lnTo>
                      <a:pt x="210" y="178"/>
                    </a:lnTo>
                    <a:lnTo>
                      <a:pt x="217" y="178"/>
                    </a:lnTo>
                    <a:lnTo>
                      <a:pt x="223" y="177"/>
                    </a:lnTo>
                    <a:lnTo>
                      <a:pt x="230" y="177"/>
                    </a:lnTo>
                    <a:lnTo>
                      <a:pt x="236" y="178"/>
                    </a:lnTo>
                    <a:lnTo>
                      <a:pt x="243" y="181"/>
                    </a:lnTo>
                    <a:lnTo>
                      <a:pt x="247" y="184"/>
                    </a:lnTo>
                    <a:lnTo>
                      <a:pt x="252" y="188"/>
                    </a:lnTo>
                    <a:lnTo>
                      <a:pt x="256" y="193"/>
                    </a:lnTo>
                    <a:lnTo>
                      <a:pt x="261" y="198"/>
                    </a:lnTo>
                    <a:lnTo>
                      <a:pt x="267" y="212"/>
                    </a:lnTo>
                    <a:lnTo>
                      <a:pt x="262" y="198"/>
                    </a:lnTo>
                    <a:lnTo>
                      <a:pt x="259" y="190"/>
                    </a:lnTo>
                    <a:lnTo>
                      <a:pt x="257" y="184"/>
                    </a:lnTo>
                    <a:lnTo>
                      <a:pt x="255" y="176"/>
                    </a:lnTo>
                    <a:lnTo>
                      <a:pt x="252" y="168"/>
                    </a:lnTo>
                    <a:lnTo>
                      <a:pt x="248" y="158"/>
                    </a:lnTo>
                    <a:lnTo>
                      <a:pt x="244" y="149"/>
                    </a:lnTo>
                    <a:lnTo>
                      <a:pt x="241" y="139"/>
                    </a:lnTo>
                    <a:lnTo>
                      <a:pt x="238" y="131"/>
                    </a:lnTo>
                    <a:lnTo>
                      <a:pt x="234" y="123"/>
                    </a:lnTo>
                    <a:lnTo>
                      <a:pt x="231" y="115"/>
                    </a:lnTo>
                    <a:lnTo>
                      <a:pt x="227" y="106"/>
                    </a:lnTo>
                    <a:lnTo>
                      <a:pt x="222" y="98"/>
                    </a:lnTo>
                    <a:lnTo>
                      <a:pt x="219" y="90"/>
                    </a:lnTo>
                    <a:lnTo>
                      <a:pt x="215" y="83"/>
                    </a:lnTo>
                    <a:lnTo>
                      <a:pt x="211" y="75"/>
                    </a:lnTo>
                    <a:lnTo>
                      <a:pt x="207" y="68"/>
                    </a:lnTo>
                    <a:lnTo>
                      <a:pt x="204" y="61"/>
                    </a:lnTo>
                    <a:lnTo>
                      <a:pt x="201" y="55"/>
                    </a:lnTo>
                    <a:lnTo>
                      <a:pt x="196" y="49"/>
                    </a:lnTo>
                    <a:lnTo>
                      <a:pt x="192" y="44"/>
                    </a:lnTo>
                    <a:lnTo>
                      <a:pt x="188" y="37"/>
                    </a:lnTo>
                    <a:lnTo>
                      <a:pt x="184" y="32"/>
                    </a:lnTo>
                    <a:lnTo>
                      <a:pt x="180" y="28"/>
                    </a:lnTo>
                    <a:lnTo>
                      <a:pt x="175" y="24"/>
                    </a:lnTo>
                    <a:lnTo>
                      <a:pt x="170" y="20"/>
                    </a:lnTo>
                    <a:lnTo>
                      <a:pt x="165" y="18"/>
                    </a:lnTo>
                    <a:lnTo>
                      <a:pt x="161" y="17"/>
                    </a:lnTo>
                    <a:lnTo>
                      <a:pt x="169" y="14"/>
                    </a:lnTo>
                    <a:lnTo>
                      <a:pt x="176" y="13"/>
                    </a:lnTo>
                    <a:lnTo>
                      <a:pt x="183" y="12"/>
                    </a:lnTo>
                    <a:lnTo>
                      <a:pt x="190" y="12"/>
                    </a:lnTo>
                    <a:lnTo>
                      <a:pt x="198" y="12"/>
                    </a:lnTo>
                    <a:lnTo>
                      <a:pt x="205" y="12"/>
                    </a:lnTo>
                    <a:lnTo>
                      <a:pt x="211" y="13"/>
                    </a:lnTo>
                    <a:lnTo>
                      <a:pt x="217" y="14"/>
                    </a:lnTo>
                    <a:lnTo>
                      <a:pt x="224" y="17"/>
                    </a:lnTo>
                    <a:lnTo>
                      <a:pt x="231" y="20"/>
                    </a:lnTo>
                    <a:lnTo>
                      <a:pt x="238" y="24"/>
                    </a:lnTo>
                    <a:lnTo>
                      <a:pt x="245" y="26"/>
                    </a:lnTo>
                    <a:lnTo>
                      <a:pt x="251" y="30"/>
                    </a:lnTo>
                    <a:lnTo>
                      <a:pt x="256" y="33"/>
                    </a:lnTo>
                    <a:lnTo>
                      <a:pt x="261" y="37"/>
                    </a:lnTo>
                    <a:lnTo>
                      <a:pt x="267" y="43"/>
                    </a:lnTo>
                    <a:lnTo>
                      <a:pt x="273" y="47"/>
                    </a:lnTo>
                    <a:lnTo>
                      <a:pt x="278" y="52"/>
                    </a:lnTo>
                    <a:lnTo>
                      <a:pt x="284" y="57"/>
                    </a:lnTo>
                    <a:lnTo>
                      <a:pt x="289" y="63"/>
                    </a:lnTo>
                    <a:lnTo>
                      <a:pt x="294" y="68"/>
                    </a:lnTo>
                    <a:lnTo>
                      <a:pt x="298" y="73"/>
                    </a:lnTo>
                    <a:lnTo>
                      <a:pt x="303" y="80"/>
                    </a:lnTo>
                    <a:lnTo>
                      <a:pt x="308" y="87"/>
                    </a:lnTo>
                    <a:lnTo>
                      <a:pt x="312" y="92"/>
                    </a:lnTo>
                    <a:lnTo>
                      <a:pt x="315" y="99"/>
                    </a:lnTo>
                    <a:lnTo>
                      <a:pt x="320" y="106"/>
                    </a:lnTo>
                    <a:lnTo>
                      <a:pt x="324" y="112"/>
                    </a:lnTo>
                    <a:lnTo>
                      <a:pt x="327" y="119"/>
                    </a:lnTo>
                    <a:lnTo>
                      <a:pt x="331" y="126"/>
                    </a:lnTo>
                    <a:lnTo>
                      <a:pt x="335" y="134"/>
                    </a:lnTo>
                    <a:lnTo>
                      <a:pt x="338" y="141"/>
                    </a:lnTo>
                    <a:lnTo>
                      <a:pt x="341" y="149"/>
                    </a:lnTo>
                    <a:lnTo>
                      <a:pt x="345" y="157"/>
                    </a:lnTo>
                    <a:lnTo>
                      <a:pt x="348" y="165"/>
                    </a:lnTo>
                    <a:lnTo>
                      <a:pt x="351" y="176"/>
                    </a:lnTo>
                    <a:lnTo>
                      <a:pt x="350" y="164"/>
                    </a:lnTo>
                    <a:lnTo>
                      <a:pt x="350" y="157"/>
                    </a:lnTo>
                    <a:lnTo>
                      <a:pt x="350" y="149"/>
                    </a:lnTo>
                    <a:lnTo>
                      <a:pt x="351" y="142"/>
                    </a:lnTo>
                    <a:lnTo>
                      <a:pt x="354" y="135"/>
                    </a:lnTo>
                    <a:lnTo>
                      <a:pt x="356" y="130"/>
                    </a:lnTo>
                    <a:lnTo>
                      <a:pt x="360" y="125"/>
                    </a:lnTo>
                    <a:lnTo>
                      <a:pt x="364" y="119"/>
                    </a:lnTo>
                    <a:lnTo>
                      <a:pt x="369" y="114"/>
                    </a:lnTo>
                    <a:lnTo>
                      <a:pt x="374" y="111"/>
                    </a:lnTo>
                    <a:lnTo>
                      <a:pt x="378" y="108"/>
                    </a:lnTo>
                    <a:lnTo>
                      <a:pt x="383" y="106"/>
                    </a:lnTo>
                    <a:lnTo>
                      <a:pt x="388" y="104"/>
                    </a:lnTo>
                    <a:lnTo>
                      <a:pt x="393" y="103"/>
                    </a:lnTo>
                    <a:lnTo>
                      <a:pt x="398" y="103"/>
                    </a:lnTo>
                    <a:lnTo>
                      <a:pt x="402" y="104"/>
                    </a:lnTo>
                    <a:lnTo>
                      <a:pt x="407" y="106"/>
                    </a:lnTo>
                    <a:lnTo>
                      <a:pt x="412" y="108"/>
                    </a:lnTo>
                    <a:lnTo>
                      <a:pt x="417" y="111"/>
                    </a:lnTo>
                    <a:lnTo>
                      <a:pt x="422" y="114"/>
                    </a:lnTo>
                    <a:lnTo>
                      <a:pt x="426" y="119"/>
                    </a:lnTo>
                    <a:lnTo>
                      <a:pt x="430" y="125"/>
                    </a:lnTo>
                    <a:lnTo>
                      <a:pt x="434" y="130"/>
                    </a:lnTo>
                    <a:lnTo>
                      <a:pt x="438" y="137"/>
                    </a:lnTo>
                    <a:lnTo>
                      <a:pt x="435" y="129"/>
                    </a:lnTo>
                    <a:lnTo>
                      <a:pt x="432" y="123"/>
                    </a:lnTo>
                    <a:lnTo>
                      <a:pt x="430" y="116"/>
                    </a:lnTo>
                    <a:lnTo>
                      <a:pt x="427" y="110"/>
                    </a:lnTo>
                    <a:lnTo>
                      <a:pt x="423" y="103"/>
                    </a:lnTo>
                    <a:lnTo>
                      <a:pt x="420" y="95"/>
                    </a:lnTo>
                    <a:lnTo>
                      <a:pt x="415" y="88"/>
                    </a:lnTo>
                    <a:lnTo>
                      <a:pt x="411" y="83"/>
                    </a:lnTo>
                    <a:lnTo>
                      <a:pt x="407" y="76"/>
                    </a:lnTo>
                    <a:lnTo>
                      <a:pt x="402" y="69"/>
                    </a:lnTo>
                    <a:lnTo>
                      <a:pt x="396" y="64"/>
                    </a:lnTo>
                    <a:lnTo>
                      <a:pt x="392" y="59"/>
                    </a:lnTo>
                    <a:lnTo>
                      <a:pt x="387" y="53"/>
                    </a:lnTo>
                    <a:lnTo>
                      <a:pt x="381" y="48"/>
                    </a:lnTo>
                    <a:lnTo>
                      <a:pt x="375" y="43"/>
                    </a:lnTo>
                    <a:lnTo>
                      <a:pt x="369" y="38"/>
                    </a:lnTo>
                    <a:lnTo>
                      <a:pt x="362" y="33"/>
                    </a:lnTo>
                    <a:lnTo>
                      <a:pt x="356" y="29"/>
                    </a:lnTo>
                    <a:lnTo>
                      <a:pt x="350" y="26"/>
                    </a:lnTo>
                    <a:lnTo>
                      <a:pt x="343" y="22"/>
                    </a:lnTo>
                    <a:lnTo>
                      <a:pt x="337" y="20"/>
                    </a:lnTo>
                    <a:lnTo>
                      <a:pt x="330" y="16"/>
                    </a:lnTo>
                    <a:lnTo>
                      <a:pt x="324" y="13"/>
                    </a:lnTo>
                    <a:lnTo>
                      <a:pt x="317" y="10"/>
                    </a:lnTo>
                    <a:lnTo>
                      <a:pt x="310" y="9"/>
                    </a:lnTo>
                    <a:lnTo>
                      <a:pt x="304" y="6"/>
                    </a:lnTo>
                    <a:lnTo>
                      <a:pt x="297" y="5"/>
                    </a:lnTo>
                    <a:lnTo>
                      <a:pt x="291" y="4"/>
                    </a:lnTo>
                    <a:lnTo>
                      <a:pt x="285" y="2"/>
                    </a:lnTo>
                    <a:lnTo>
                      <a:pt x="279" y="1"/>
                    </a:lnTo>
                    <a:lnTo>
                      <a:pt x="270" y="0"/>
                    </a:lnTo>
                    <a:lnTo>
                      <a:pt x="263" y="0"/>
                    </a:lnTo>
                    <a:lnTo>
                      <a:pt x="256" y="0"/>
                    </a:lnTo>
                    <a:lnTo>
                      <a:pt x="249" y="0"/>
                    </a:lnTo>
                    <a:lnTo>
                      <a:pt x="240" y="0"/>
                    </a:lnTo>
                    <a:lnTo>
                      <a:pt x="232" y="0"/>
                    </a:lnTo>
                    <a:lnTo>
                      <a:pt x="225" y="0"/>
                    </a:lnTo>
                    <a:lnTo>
                      <a:pt x="217" y="1"/>
                    </a:lnTo>
                    <a:lnTo>
                      <a:pt x="209" y="2"/>
                    </a:lnTo>
                    <a:lnTo>
                      <a:pt x="203" y="4"/>
                    </a:lnTo>
                    <a:lnTo>
                      <a:pt x="196" y="5"/>
                    </a:lnTo>
                    <a:lnTo>
                      <a:pt x="189" y="8"/>
                    </a:lnTo>
                    <a:lnTo>
                      <a:pt x="180" y="9"/>
                    </a:lnTo>
                    <a:lnTo>
                      <a:pt x="172" y="12"/>
                    </a:lnTo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036" name="Text Box 40">
            <a:extLst>
              <a:ext uri="{FF2B5EF4-FFF2-40B4-BE49-F238E27FC236}">
                <a16:creationId xmlns:a16="http://schemas.microsoft.com/office/drawing/2014/main" id="{3909B705-8746-409F-896E-AED7A186B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>
                <a:solidFill>
                  <a:schemeClr val="tx2"/>
                </a:solidFill>
              </a:rPr>
              <a:t>©Silberschatz, Korth and Sudarshan</a:t>
            </a:r>
          </a:p>
        </p:txBody>
      </p:sp>
      <p:sp>
        <p:nvSpPr>
          <p:cNvPr id="1037" name="Text Box 41">
            <a:extLst>
              <a:ext uri="{FF2B5EF4-FFF2-40B4-BE49-F238E27FC236}">
                <a16:creationId xmlns:a16="http://schemas.microsoft.com/office/drawing/2014/main" id="{3D4B7852-C03F-472D-9DEE-6AB80B98C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1513" y="6613525"/>
            <a:ext cx="44450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chemeClr val="tx2"/>
                </a:solidFill>
              </a:rPr>
              <a:t>7.</a:t>
            </a:r>
            <a:fld id="{D3316080-6F07-44D3-AE36-F8415997F222}" type="slidenum">
              <a:rPr lang="en-US" altLang="en-US" sz="1000" b="1" smtClean="0">
                <a:solidFill>
                  <a:schemeClr val="tx2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>
              <a:solidFill>
                <a:schemeClr val="tx2"/>
              </a:solidFill>
            </a:endParaRPr>
          </a:p>
        </p:txBody>
      </p:sp>
      <p:sp>
        <p:nvSpPr>
          <p:cNvPr id="115754" name="Rectangle 42">
            <a:extLst>
              <a:ext uri="{FF2B5EF4-FFF2-40B4-BE49-F238E27FC236}">
                <a16:creationId xmlns:a16="http://schemas.microsoft.com/office/drawing/2014/main" id="{2CEF9B56-AADF-4257-A85E-BC4368BD1E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0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9" name="Text Box 43">
            <a:extLst>
              <a:ext uri="{FF2B5EF4-FFF2-40B4-BE49-F238E27FC236}">
                <a16:creationId xmlns:a16="http://schemas.microsoft.com/office/drawing/2014/main" id="{71AD1FFD-2BEC-4B7F-97DC-D12A9874F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1843088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>
                <a:solidFill>
                  <a:schemeClr val="tx2"/>
                </a:solidFill>
              </a:rPr>
              <a:t>Database System Concepts</a:t>
            </a:r>
          </a:p>
        </p:txBody>
      </p:sp>
    </p:spTree>
    <p:extLst>
      <p:ext uri="{BB962C8B-B14F-4D97-AF65-F5344CB8AC3E}">
        <p14:creationId xmlns:p14="http://schemas.microsoft.com/office/powerpoint/2010/main" val="874268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05000"/>
        <a:buFont typeface="Monotype Sorts" pitchFamily="2" charset="2"/>
        <a:buChar char="H"/>
        <a:defRPr kumimoji="1" sz="2800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0099"/>
        </a:buClr>
        <a:buSzPct val="85000"/>
        <a:buFont typeface="Monotype Sorts" pitchFamily="2" charset="2"/>
        <a:buChar char="4"/>
        <a:defRPr kumimoji="1" sz="2400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Char char="–"/>
        <a:defRPr kumimoji="1" sz="2000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8" descr="Building glass walls and sky">
            <a:extLst>
              <a:ext uri="{FF2B5EF4-FFF2-40B4-BE49-F238E27FC236}">
                <a16:creationId xmlns:a16="http://schemas.microsoft.com/office/drawing/2014/main" id="{873751CF-C490-45B5-B248-BF86A59ECF2E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 rotWithShape="1">
          <a:blip r:embed="rId2"/>
          <a:srcRect l="-48" t="6766" r="19843" b="3091"/>
          <a:stretch/>
        </p:blipFill>
        <p:spPr>
          <a:xfrm>
            <a:off x="2277274" y="818774"/>
            <a:ext cx="6866726" cy="51435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6E9371-6E05-45E0-803B-4C39AC28C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950" dirty="0"/>
              <a:t>Database Management Systems</a:t>
            </a:r>
            <a:endParaRPr lang="ru-RU" sz="49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0FE25-038A-4A14-B11A-432FECB7FA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Shamim Ahmad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2683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009FF-FBCD-48E9-9C14-6EF6F8136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Normalization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969D17-17D2-48E8-B3DE-4852C46DF0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0731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>
            <a:extLst>
              <a:ext uri="{FF2B5EF4-FFF2-40B4-BE49-F238E27FC236}">
                <a16:creationId xmlns:a16="http://schemas.microsoft.com/office/drawing/2014/main" id="{CDC1B168-A1CD-4707-8251-BE18087EBB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0406" y="0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dirty="0"/>
              <a:t>Keep Decomposition Conditions </a:t>
            </a:r>
          </a:p>
        </p:txBody>
      </p:sp>
      <p:sp>
        <p:nvSpPr>
          <p:cNvPr id="176131" name="Rectangle 3">
            <a:extLst>
              <a:ext uri="{FF2B5EF4-FFF2-40B4-BE49-F238E27FC236}">
                <a16:creationId xmlns:a16="http://schemas.microsoft.com/office/drawing/2014/main" id="{54007F52-ECDF-4C96-BC2F-852EAE98B4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143000"/>
            <a:ext cx="7212013" cy="4567238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2292350" algn="l"/>
                <a:tab pos="2976563" algn="l"/>
              </a:tabLst>
            </a:pPr>
            <a:r>
              <a:rPr lang="en-US" altLang="en-US" sz="1800"/>
              <a:t>Decompose the relation schema </a:t>
            </a:r>
            <a:r>
              <a:rPr lang="en-US" altLang="en-US" sz="1800" i="1"/>
              <a:t>Lending-schema </a:t>
            </a:r>
            <a:r>
              <a:rPr lang="en-US" altLang="en-US" sz="1800"/>
              <a:t>into: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2292350" algn="l"/>
                <a:tab pos="2976563" algn="l"/>
              </a:tabLst>
            </a:pPr>
            <a:r>
              <a:rPr lang="en-US" altLang="en-US" sz="1800" i="1"/>
              <a:t>Branch-schema = (branch-name, branch-city,assets)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2292350" algn="l"/>
                <a:tab pos="2976563" algn="l"/>
              </a:tabLst>
            </a:pPr>
            <a:r>
              <a:rPr lang="en-US" altLang="en-US" sz="1800" i="1"/>
              <a:t>Loan-info-schema = (customer-name, loan-number,</a:t>
            </a:r>
            <a:br>
              <a:rPr lang="en-US" altLang="en-US" sz="1800" i="1"/>
            </a:br>
            <a:r>
              <a:rPr lang="en-US" altLang="en-US" sz="1800" i="1"/>
              <a:t>                                                   branch-name, amount)</a:t>
            </a:r>
          </a:p>
          <a:p>
            <a:pPr>
              <a:lnSpc>
                <a:spcPct val="90000"/>
              </a:lnSpc>
              <a:tabLst>
                <a:tab pos="2292350" algn="l"/>
                <a:tab pos="2976563" algn="l"/>
              </a:tabLst>
            </a:pPr>
            <a:r>
              <a:rPr lang="en-US" altLang="en-US" sz="1800" b="1"/>
              <a:t>All attributes </a:t>
            </a:r>
            <a:r>
              <a:rPr lang="en-US" altLang="en-US" sz="1800"/>
              <a:t>of an original schema (</a:t>
            </a:r>
            <a:r>
              <a:rPr lang="en-US" altLang="en-US" sz="1800" i="1"/>
              <a:t>R) </a:t>
            </a:r>
            <a:r>
              <a:rPr lang="en-US" altLang="en-US" sz="1800"/>
              <a:t>must appear in the decomposition (</a:t>
            </a:r>
            <a:r>
              <a:rPr lang="en-US" altLang="en-US" sz="1800" i="1"/>
              <a:t>R</a:t>
            </a:r>
            <a:r>
              <a:rPr lang="en-US" altLang="en-US" sz="1800" baseline="-25000"/>
              <a:t>1</a:t>
            </a:r>
            <a:r>
              <a:rPr lang="en-US" altLang="en-US" sz="1800" i="1"/>
              <a:t>, R</a:t>
            </a:r>
            <a:r>
              <a:rPr lang="en-US" altLang="en-US" sz="1800" baseline="-25000"/>
              <a:t>2</a:t>
            </a:r>
            <a:r>
              <a:rPr lang="en-US" altLang="en-US" sz="1800" i="1"/>
              <a:t>):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2292350" algn="l"/>
                <a:tab pos="2976563" algn="l"/>
              </a:tabLst>
            </a:pPr>
            <a:r>
              <a:rPr lang="en-US" altLang="en-US" sz="1800"/>
              <a:t>		</a:t>
            </a:r>
            <a:r>
              <a:rPr lang="en-US" altLang="en-US" sz="1800" b="1" i="1"/>
              <a:t>R = R</a:t>
            </a:r>
            <a:r>
              <a:rPr lang="en-US" altLang="en-US" sz="1800" b="1" baseline="-25000"/>
              <a:t>1 </a:t>
            </a:r>
            <a:r>
              <a:rPr lang="en-US" altLang="en-US" sz="1800" b="1">
                <a:sym typeface="Symbol" panose="05050102010706020507" pitchFamily="18" charset="2"/>
              </a:rPr>
              <a:t> </a:t>
            </a:r>
            <a:r>
              <a:rPr lang="en-US" altLang="en-US" sz="1800" b="1" i="1"/>
              <a:t>R</a:t>
            </a:r>
            <a:r>
              <a:rPr lang="en-US" altLang="en-US" sz="1800" b="1" baseline="-25000"/>
              <a:t>2</a:t>
            </a:r>
            <a:endParaRPr lang="en-US" altLang="en-US" sz="1800" b="1"/>
          </a:p>
          <a:p>
            <a:pPr>
              <a:lnSpc>
                <a:spcPct val="90000"/>
              </a:lnSpc>
              <a:tabLst>
                <a:tab pos="2292350" algn="l"/>
                <a:tab pos="2976563" algn="l"/>
              </a:tabLst>
            </a:pPr>
            <a:r>
              <a:rPr lang="en-US" altLang="en-US" sz="1800" b="1"/>
              <a:t>Lossless-join</a:t>
            </a:r>
            <a:r>
              <a:rPr lang="en-US" altLang="en-US" sz="1800"/>
              <a:t> decomposition.</a:t>
            </a:r>
            <a:br>
              <a:rPr lang="en-US" altLang="en-US" sz="1800"/>
            </a:br>
            <a:r>
              <a:rPr lang="en-US" altLang="en-US" sz="1800"/>
              <a:t>For all possible relations </a:t>
            </a:r>
            <a:r>
              <a:rPr lang="en-US" altLang="en-US" sz="1800" i="1"/>
              <a:t>r</a:t>
            </a:r>
            <a:r>
              <a:rPr lang="en-US" altLang="en-US" sz="1800"/>
              <a:t> on schema </a:t>
            </a:r>
            <a:r>
              <a:rPr lang="en-US" altLang="en-US" sz="1800" i="1"/>
              <a:t>R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2292350" algn="l"/>
                <a:tab pos="2976563" algn="l"/>
              </a:tabLst>
            </a:pPr>
            <a:r>
              <a:rPr lang="en-US" altLang="en-US" sz="1800" baseline="-25000"/>
              <a:t>		</a:t>
            </a:r>
            <a:r>
              <a:rPr lang="en-US" altLang="en-US" sz="1800" b="1" i="1"/>
              <a:t>r = </a:t>
            </a:r>
            <a:r>
              <a:rPr lang="en-US" altLang="en-US" sz="1800" b="1">
                <a:sym typeface="Symbol" panose="05050102010706020507" pitchFamily="18" charset="2"/>
              </a:rPr>
              <a:t></a:t>
            </a:r>
            <a:r>
              <a:rPr lang="en-US" altLang="en-US" sz="1800" b="1" baseline="-25000">
                <a:sym typeface="Symbol" panose="05050102010706020507" pitchFamily="18" charset="2"/>
              </a:rPr>
              <a:t>R1 </a:t>
            </a:r>
            <a:r>
              <a:rPr lang="en-US" altLang="en-US" sz="1800" b="1">
                <a:sym typeface="Symbol" panose="05050102010706020507" pitchFamily="18" charset="2"/>
              </a:rPr>
              <a:t>(</a:t>
            </a:r>
            <a:r>
              <a:rPr lang="en-US" altLang="en-US" sz="1800" b="1" i="1">
                <a:sym typeface="Symbol" panose="05050102010706020507" pitchFamily="18" charset="2"/>
              </a:rPr>
              <a:t>r</a:t>
            </a:r>
            <a:r>
              <a:rPr lang="en-US" altLang="en-US" sz="1800" b="1">
                <a:sym typeface="Symbol" panose="05050102010706020507" pitchFamily="18" charset="2"/>
              </a:rPr>
              <a:t>)    </a:t>
            </a:r>
            <a:r>
              <a:rPr lang="en-US" altLang="en-US" sz="1800" b="1" baseline="-25000">
                <a:sym typeface="Symbol" panose="05050102010706020507" pitchFamily="18" charset="2"/>
              </a:rPr>
              <a:t>R2 </a:t>
            </a:r>
            <a:r>
              <a:rPr lang="en-US" altLang="en-US" sz="1800" b="1">
                <a:sym typeface="Symbol" panose="05050102010706020507" pitchFamily="18" charset="2"/>
              </a:rPr>
              <a:t>(</a:t>
            </a:r>
            <a:r>
              <a:rPr lang="en-US" altLang="en-US" sz="1800" b="1" i="1">
                <a:sym typeface="Symbol" panose="05050102010706020507" pitchFamily="18" charset="2"/>
              </a:rPr>
              <a:t>r</a:t>
            </a:r>
            <a:r>
              <a:rPr lang="en-US" altLang="en-US" sz="1800" b="1">
                <a:sym typeface="Symbol" panose="05050102010706020507" pitchFamily="18" charset="2"/>
              </a:rPr>
              <a:t>) </a:t>
            </a:r>
          </a:p>
          <a:p>
            <a:pPr>
              <a:lnSpc>
                <a:spcPct val="90000"/>
              </a:lnSpc>
              <a:tabLst>
                <a:tab pos="2292350" algn="l"/>
                <a:tab pos="2976563" algn="l"/>
              </a:tabLst>
            </a:pPr>
            <a:r>
              <a:rPr lang="en-US" altLang="en-US" sz="1800"/>
              <a:t>A decomposition of R into </a:t>
            </a:r>
            <a:r>
              <a:rPr kumimoji="0" lang="en-US" altLang="en-US" sz="1800" i="1"/>
              <a:t>R</a:t>
            </a:r>
            <a:r>
              <a:rPr kumimoji="0" lang="en-US" altLang="en-US" sz="1800" baseline="-25000"/>
              <a:t>1</a:t>
            </a:r>
            <a:r>
              <a:rPr kumimoji="0" lang="en-US" altLang="en-US" sz="1800"/>
              <a:t> and </a:t>
            </a:r>
            <a:r>
              <a:rPr kumimoji="0" lang="en-US" altLang="en-US" sz="1800" i="1"/>
              <a:t>R</a:t>
            </a:r>
            <a:r>
              <a:rPr kumimoji="0" lang="en-US" altLang="en-US" sz="1800" baseline="-25000"/>
              <a:t>2</a:t>
            </a:r>
            <a:r>
              <a:rPr kumimoji="0" lang="en-US" altLang="en-US" sz="1800" b="1"/>
              <a:t> is lossless join </a:t>
            </a:r>
            <a:r>
              <a:rPr kumimoji="0" lang="en-US" altLang="en-US" sz="1800"/>
              <a:t>if and only if </a:t>
            </a:r>
            <a:r>
              <a:rPr kumimoji="0" lang="en-US" altLang="en-US" sz="1800" b="1"/>
              <a:t>at</a:t>
            </a:r>
            <a:r>
              <a:rPr lang="en-US" altLang="en-US" sz="1800" b="1"/>
              <a:t> least one of the following dependencies is in F</a:t>
            </a:r>
            <a:r>
              <a:rPr lang="en-US" altLang="en-US" b="1" baseline="30000"/>
              <a:t>+</a:t>
            </a:r>
            <a:r>
              <a:rPr lang="en-US" altLang="en-US" sz="1800" b="1"/>
              <a:t>:</a:t>
            </a:r>
          </a:p>
          <a:p>
            <a:pPr lvl="1">
              <a:lnSpc>
                <a:spcPct val="90000"/>
              </a:lnSpc>
              <a:tabLst>
                <a:tab pos="2292350" algn="l"/>
                <a:tab pos="2976563" algn="l"/>
              </a:tabLst>
            </a:pPr>
            <a:r>
              <a:rPr lang="en-US" altLang="en-US" sz="1600" b="1" i="1"/>
              <a:t>R</a:t>
            </a:r>
            <a:r>
              <a:rPr lang="en-US" altLang="en-US" sz="1600" b="1" baseline="-25000"/>
              <a:t>1</a:t>
            </a:r>
            <a:r>
              <a:rPr lang="en-US" altLang="en-US" sz="1600" b="1"/>
              <a:t> </a:t>
            </a:r>
            <a:r>
              <a:rPr lang="en-US" altLang="en-US" sz="1600" b="1">
                <a:sym typeface="Symbol" panose="05050102010706020507" pitchFamily="18" charset="2"/>
              </a:rPr>
              <a:t> </a:t>
            </a:r>
            <a:r>
              <a:rPr lang="en-US" altLang="en-US" sz="1600" b="1" i="1"/>
              <a:t>R</a:t>
            </a:r>
            <a:r>
              <a:rPr lang="en-US" altLang="en-US" sz="1600" b="1" baseline="-25000"/>
              <a:t>2</a:t>
            </a:r>
            <a:r>
              <a:rPr lang="en-US" altLang="en-US" sz="1600" b="1"/>
              <a:t> </a:t>
            </a:r>
            <a:r>
              <a:rPr lang="en-US" altLang="en-US" sz="1600" b="1">
                <a:sym typeface="Symbol" panose="05050102010706020507" pitchFamily="18" charset="2"/>
              </a:rPr>
              <a:t></a:t>
            </a:r>
            <a:r>
              <a:rPr lang="en-US" altLang="en-US" sz="1600" b="1">
                <a:sym typeface="Monotype Sorts" pitchFamily="2" charset="2"/>
              </a:rPr>
              <a:t> </a:t>
            </a:r>
            <a:r>
              <a:rPr lang="en-US" altLang="en-US" sz="1600" b="1" i="1"/>
              <a:t>R</a:t>
            </a:r>
            <a:r>
              <a:rPr lang="en-US" altLang="en-US" sz="1600" b="1" baseline="-25000"/>
              <a:t>1</a:t>
            </a:r>
          </a:p>
          <a:p>
            <a:pPr lvl="1">
              <a:lnSpc>
                <a:spcPct val="90000"/>
              </a:lnSpc>
              <a:tabLst>
                <a:tab pos="2292350" algn="l"/>
                <a:tab pos="2976563" algn="l"/>
              </a:tabLst>
            </a:pPr>
            <a:r>
              <a:rPr lang="en-US" altLang="en-US" sz="1600" b="1" i="1"/>
              <a:t>R</a:t>
            </a:r>
            <a:r>
              <a:rPr lang="en-US" altLang="en-US" sz="1600" b="1" baseline="-25000"/>
              <a:t>1</a:t>
            </a:r>
            <a:r>
              <a:rPr lang="en-US" altLang="en-US" sz="1600" b="1"/>
              <a:t> </a:t>
            </a:r>
            <a:r>
              <a:rPr lang="en-US" altLang="en-US" sz="1600" b="1">
                <a:sym typeface="Symbol" panose="05050102010706020507" pitchFamily="18" charset="2"/>
              </a:rPr>
              <a:t> </a:t>
            </a:r>
            <a:r>
              <a:rPr lang="en-US" altLang="en-US" sz="1600" b="1" i="1"/>
              <a:t>R</a:t>
            </a:r>
            <a:r>
              <a:rPr lang="en-US" altLang="en-US" sz="1600" b="1" baseline="-25000"/>
              <a:t>2</a:t>
            </a:r>
            <a:r>
              <a:rPr lang="en-US" altLang="en-US" sz="1600" b="1"/>
              <a:t> </a:t>
            </a:r>
            <a:r>
              <a:rPr lang="en-US" altLang="en-US" sz="1600" b="1">
                <a:sym typeface="Symbol" panose="05050102010706020507" pitchFamily="18" charset="2"/>
              </a:rPr>
              <a:t></a:t>
            </a:r>
            <a:r>
              <a:rPr lang="en-US" altLang="en-US" sz="1600" b="1">
                <a:sym typeface="Monotype Sorts" pitchFamily="2" charset="2"/>
              </a:rPr>
              <a:t> </a:t>
            </a:r>
            <a:r>
              <a:rPr lang="en-US" altLang="en-US" sz="1600" b="1" i="1"/>
              <a:t>R</a:t>
            </a:r>
            <a:r>
              <a:rPr lang="en-US" altLang="en-US" sz="1600" b="1" baseline="-25000"/>
              <a:t>2</a:t>
            </a:r>
            <a:endParaRPr lang="en-US" altLang="en-US" sz="1600" b="1"/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2292350" algn="l"/>
                <a:tab pos="2976563" algn="l"/>
              </a:tabLst>
            </a:pPr>
            <a:endParaRPr lang="en-US" altLang="en-US" sz="1800">
              <a:sym typeface="Symbol" panose="05050102010706020507" pitchFamily="18" charset="2"/>
            </a:endParaRPr>
          </a:p>
        </p:txBody>
      </p:sp>
      <p:sp>
        <p:nvSpPr>
          <p:cNvPr id="176132" name="Freeform 4">
            <a:extLst>
              <a:ext uri="{FF2B5EF4-FFF2-40B4-BE49-F238E27FC236}">
                <a16:creationId xmlns:a16="http://schemas.microsoft.com/office/drawing/2014/main" id="{A1BAD06F-4F89-4B26-B535-1DEC4B48DF04}"/>
              </a:ext>
            </a:extLst>
          </p:cNvPr>
          <p:cNvSpPr>
            <a:spLocks/>
          </p:cNvSpPr>
          <p:nvPr/>
        </p:nvSpPr>
        <p:spPr bwMode="auto">
          <a:xfrm>
            <a:off x="4573588" y="4075113"/>
            <a:ext cx="142875" cy="142875"/>
          </a:xfrm>
          <a:custGeom>
            <a:avLst/>
            <a:gdLst>
              <a:gd name="T0" fmla="*/ 0 w 182"/>
              <a:gd name="T1" fmla="*/ 0 h 182"/>
              <a:gd name="T2" fmla="*/ 0 w 182"/>
              <a:gd name="T3" fmla="*/ 2147483646 h 182"/>
              <a:gd name="T4" fmla="*/ 2147483646 w 182"/>
              <a:gd name="T5" fmla="*/ 0 h 182"/>
              <a:gd name="T6" fmla="*/ 2147483646 w 182"/>
              <a:gd name="T7" fmla="*/ 2147483646 h 182"/>
              <a:gd name="T8" fmla="*/ 0 w 182"/>
              <a:gd name="T9" fmla="*/ 0 h 1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2"/>
              <a:gd name="T16" fmla="*/ 0 h 182"/>
              <a:gd name="T17" fmla="*/ 182 w 182"/>
              <a:gd name="T18" fmla="*/ 182 h 1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2" h="182">
                <a:moveTo>
                  <a:pt x="0" y="0"/>
                </a:moveTo>
                <a:lnTo>
                  <a:pt x="0" y="182"/>
                </a:lnTo>
                <a:lnTo>
                  <a:pt x="182" y="0"/>
                </a:lnTo>
                <a:lnTo>
                  <a:pt x="182" y="182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0ABD628-D8BD-4C3D-9A7C-56350694C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Database Normalization Rules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C77781-FC86-4135-8B1F-9853F482575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901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4C3F4D7-56B4-44C1-A548-20DB4098A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Sample Database for Sales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C4F57A-EDB8-4936-8070-9D004930841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262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5BA7A19-E8B5-4DDD-915E-61A08D3F0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Initial Form Evaluation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B6302D-46D0-4886-8D25-7EC365183DD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305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A3C0E8A-F1AC-4026-B9DC-DA55B4459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Initial Objects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8512C9-CAF9-4C48-BF05-F288C870963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877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C75B949-25D4-4A49-8EA2-66ACFB551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Initial Form Evaluation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1D76DF-D05D-47F0-A718-601C16AC61F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895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E9BF9F0-4A8D-487A-B210-F506460A3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Problems with Repeating Sections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A03AA2-CD49-488E-8585-1166B1FFB63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564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D937D09-6E44-4AC0-820C-07919DB97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Problems with Repeating Sections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75D0A2-88C9-48C0-A837-2ADF9128DB8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098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6BFD1EA-F827-44BF-B1EB-46E88A9E8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Database Normalization Rules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5CD07B-AB33-4B65-9404-4063A3AF492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504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0EED10F-DA7C-4909-A14F-BDE9EBF0D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Problems with Repeating Sections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61B18A-6010-4393-87F0-CE808CC7E2E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68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C77B2AF-1F38-4598-858A-2296C8446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>
                <a:solidFill>
                  <a:schemeClr val="tx1"/>
                </a:solidFill>
              </a:rPr>
              <a:t>First Normal Form Definition </a:t>
            </a:r>
            <a:br>
              <a:rPr lang="en-US" altLang="en-US" sz="3600" b="1">
                <a:solidFill>
                  <a:schemeClr val="tx1"/>
                </a:solidFill>
              </a:rPr>
            </a:br>
            <a:r>
              <a:rPr lang="en-US" altLang="en-US" sz="3600" b="1">
                <a:solidFill>
                  <a:schemeClr val="tx1"/>
                </a:solidFill>
              </a:rPr>
              <a:t> </a:t>
            </a:r>
            <a:r>
              <a:rPr lang="en-US" altLang="en-US" b="1" i="1">
                <a:solidFill>
                  <a:srgbClr val="000000"/>
                </a:solidFill>
              </a:rPr>
              <a:t>Eliminating Repeated Groups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2F7D86-EA7B-4DE6-A2AC-DF08B5479A9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667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3DDEB4-E926-406D-8410-F175E7508879}"/>
              </a:ext>
            </a:extLst>
          </p:cNvPr>
          <p:cNvSpPr txBox="1"/>
          <p:nvPr/>
        </p:nvSpPr>
        <p:spPr>
          <a:xfrm>
            <a:off x="475637" y="879506"/>
            <a:ext cx="844713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prstClr val="black"/>
                </a:solidFill>
                <a:latin typeface="Lucida Grande"/>
              </a:rPr>
              <a:t>Definition</a:t>
            </a:r>
          </a:p>
          <a:p>
            <a:r>
              <a:rPr lang="en-US" sz="2800" dirty="0">
                <a:solidFill>
                  <a:prstClr val="black"/>
                </a:solidFill>
                <a:latin typeface="Lucida Grande"/>
              </a:rPr>
              <a:t>A table is said to be in </a:t>
            </a:r>
            <a:r>
              <a:rPr lang="en-US" sz="2800" b="1" dirty="0">
                <a:solidFill>
                  <a:prstClr val="black"/>
                </a:solidFill>
                <a:latin typeface="Lucida Grande"/>
              </a:rPr>
              <a:t>First Normal Form (1NF)</a:t>
            </a:r>
            <a:r>
              <a:rPr lang="en-US" sz="2800" dirty="0">
                <a:solidFill>
                  <a:prstClr val="black"/>
                </a:solidFill>
                <a:latin typeface="Lucida Grande"/>
              </a:rPr>
              <a:t> if:</a:t>
            </a:r>
          </a:p>
          <a:p>
            <a:pPr>
              <a:buFont typeface="+mj-lt"/>
              <a:buAutoNum type="arabicPeriod"/>
            </a:pPr>
            <a:r>
              <a:rPr lang="en-US" sz="2800" b="1" dirty="0">
                <a:solidFill>
                  <a:prstClr val="black"/>
                </a:solidFill>
                <a:latin typeface="Lucida Grande"/>
              </a:rPr>
              <a:t>Each column contains only atomic (indivisible) values</a:t>
            </a:r>
            <a:r>
              <a:rPr lang="en-US" sz="2800" dirty="0">
                <a:solidFill>
                  <a:prstClr val="black"/>
                </a:solidFill>
                <a:latin typeface="Lucida Grande"/>
              </a:rPr>
              <a:t> — no multiple or composite values in a single field.</a:t>
            </a:r>
          </a:p>
          <a:p>
            <a:pPr>
              <a:buFont typeface="+mj-lt"/>
              <a:buAutoNum type="arabicPeriod"/>
            </a:pPr>
            <a:r>
              <a:rPr lang="en-US" sz="2800" b="1" dirty="0">
                <a:solidFill>
                  <a:prstClr val="black"/>
                </a:solidFill>
                <a:latin typeface="Lucida Grande"/>
              </a:rPr>
              <a:t>Each record (row) is unique</a:t>
            </a:r>
            <a:r>
              <a:rPr lang="en-US" sz="2800" dirty="0">
                <a:solidFill>
                  <a:prstClr val="black"/>
                </a:solidFill>
                <a:latin typeface="Lucida Grande"/>
              </a:rPr>
              <a:t> — no duplicate rows.</a:t>
            </a:r>
          </a:p>
          <a:p>
            <a:pPr>
              <a:buFont typeface="+mj-lt"/>
              <a:buAutoNum type="arabicPeriod"/>
            </a:pPr>
            <a:r>
              <a:rPr lang="en-US" sz="2800" b="1" dirty="0">
                <a:solidFill>
                  <a:prstClr val="black"/>
                </a:solidFill>
                <a:latin typeface="Lucida Grande"/>
              </a:rPr>
              <a:t>Each field contains values of the same type</a:t>
            </a:r>
            <a:r>
              <a:rPr lang="en-US" sz="2800" dirty="0">
                <a:solidFill>
                  <a:prstClr val="black"/>
                </a:solidFill>
                <a:latin typeface="Lucida Grande"/>
              </a:rPr>
              <a:t> — a column should hold values of a single data type.</a:t>
            </a:r>
          </a:p>
        </p:txBody>
      </p:sp>
    </p:spTree>
    <p:extLst>
      <p:ext uri="{BB962C8B-B14F-4D97-AF65-F5344CB8AC3E}">
        <p14:creationId xmlns:p14="http://schemas.microsoft.com/office/powerpoint/2010/main" val="40386436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818EA52-E11D-4A8D-90A8-9D2EDB4A5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>
                <a:solidFill>
                  <a:schemeClr val="tx1"/>
                </a:solidFill>
              </a:rPr>
              <a:t>First Normal Form Definition </a:t>
            </a:r>
            <a:br>
              <a:rPr lang="en-US" altLang="en-US" sz="3600" b="1">
                <a:solidFill>
                  <a:schemeClr val="tx1"/>
                </a:solidFill>
              </a:rPr>
            </a:br>
            <a:r>
              <a:rPr lang="en-US" altLang="en-US" sz="3600" b="1">
                <a:solidFill>
                  <a:schemeClr val="tx1"/>
                </a:solidFill>
              </a:rPr>
              <a:t> </a:t>
            </a:r>
            <a:r>
              <a:rPr lang="en-US" altLang="en-US" b="1" i="1">
                <a:solidFill>
                  <a:srgbClr val="000000"/>
                </a:solidFill>
              </a:rPr>
              <a:t>Eliminating Repeated Groups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156148-D8B7-4333-B2F0-F003DCCA741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4482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F62BF03-3E4C-4E77-BBE6-3FE8DF578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>
                <a:solidFill>
                  <a:schemeClr val="tx1"/>
                </a:solidFill>
              </a:rPr>
              <a:t>First Normal Form Definition </a:t>
            </a:r>
            <a:br>
              <a:rPr lang="en-US" altLang="en-US" sz="3600" b="1">
                <a:solidFill>
                  <a:schemeClr val="tx1"/>
                </a:solidFill>
              </a:rPr>
            </a:br>
            <a:r>
              <a:rPr lang="en-US" altLang="en-US" sz="3600" b="1">
                <a:solidFill>
                  <a:schemeClr val="tx1"/>
                </a:solidFill>
              </a:rPr>
              <a:t> </a:t>
            </a:r>
            <a:r>
              <a:rPr lang="en-US" altLang="en-US" b="1" i="1">
                <a:solidFill>
                  <a:srgbClr val="000000"/>
                </a:solidFill>
              </a:rPr>
              <a:t>Eliminating Repeated Groups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F1AF29-A3D9-411B-8D8C-AF9A56FF176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535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>
            <a:extLst>
              <a:ext uri="{FF2B5EF4-FFF2-40B4-BE49-F238E27FC236}">
                <a16:creationId xmlns:a16="http://schemas.microsoft.com/office/drawing/2014/main" id="{CDC1B168-A1CD-4707-8251-BE18087EBB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0406" y="404734"/>
            <a:ext cx="8077200" cy="609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4000" b="1" dirty="0"/>
              <a:t>Keep Decomposition Conditions </a:t>
            </a:r>
          </a:p>
        </p:txBody>
      </p:sp>
      <p:sp>
        <p:nvSpPr>
          <p:cNvPr id="176131" name="Rectangle 3">
            <a:extLst>
              <a:ext uri="{FF2B5EF4-FFF2-40B4-BE49-F238E27FC236}">
                <a16:creationId xmlns:a16="http://schemas.microsoft.com/office/drawing/2014/main" id="{54007F52-ECDF-4C96-BC2F-852EAE98B4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143000"/>
            <a:ext cx="7212013" cy="4567238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2292350" algn="l"/>
                <a:tab pos="2976563" algn="l"/>
              </a:tabLst>
            </a:pPr>
            <a:r>
              <a:rPr lang="en-US" altLang="en-US" sz="1800" dirty="0"/>
              <a:t>Decompose the relation schema </a:t>
            </a:r>
            <a:r>
              <a:rPr lang="en-US" altLang="en-US" sz="1800" i="1" dirty="0"/>
              <a:t>Lending-schema </a:t>
            </a:r>
            <a:r>
              <a:rPr lang="en-US" altLang="en-US" sz="1800" dirty="0"/>
              <a:t>into: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2292350" algn="l"/>
                <a:tab pos="2976563" algn="l"/>
              </a:tabLst>
            </a:pPr>
            <a:r>
              <a:rPr lang="en-US" altLang="en-US" sz="1800" i="1" dirty="0"/>
              <a:t>Branch-schema = (branch-name, branch-</a:t>
            </a:r>
            <a:r>
              <a:rPr lang="en-US" altLang="en-US" sz="1800" i="1" dirty="0" err="1"/>
              <a:t>city,assets</a:t>
            </a:r>
            <a:r>
              <a:rPr lang="en-US" altLang="en-US" sz="1800" i="1" dirty="0"/>
              <a:t>)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2292350" algn="l"/>
                <a:tab pos="2976563" algn="l"/>
              </a:tabLst>
            </a:pPr>
            <a:r>
              <a:rPr lang="en-US" altLang="en-US" sz="1800" i="1" dirty="0"/>
              <a:t>Loan-info-schema = (customer-name, loan-number,</a:t>
            </a:r>
            <a:br>
              <a:rPr lang="en-US" altLang="en-US" sz="1800" i="1" dirty="0"/>
            </a:br>
            <a:r>
              <a:rPr lang="en-US" altLang="en-US" sz="1800" i="1" dirty="0"/>
              <a:t>                                                   branch-name, amount)</a:t>
            </a:r>
          </a:p>
          <a:p>
            <a:pPr>
              <a:lnSpc>
                <a:spcPct val="90000"/>
              </a:lnSpc>
              <a:tabLst>
                <a:tab pos="2292350" algn="l"/>
                <a:tab pos="2976563" algn="l"/>
              </a:tabLst>
            </a:pPr>
            <a:r>
              <a:rPr lang="en-US" altLang="en-US" sz="1800" b="1" dirty="0"/>
              <a:t>All attributes </a:t>
            </a:r>
            <a:r>
              <a:rPr lang="en-US" altLang="en-US" sz="1800" dirty="0"/>
              <a:t>of an original schema (</a:t>
            </a:r>
            <a:r>
              <a:rPr lang="en-US" altLang="en-US" sz="1800" i="1" dirty="0"/>
              <a:t>R) </a:t>
            </a:r>
            <a:r>
              <a:rPr lang="en-US" altLang="en-US" sz="1800" dirty="0"/>
              <a:t>must appear in the decomposition (</a:t>
            </a:r>
            <a:r>
              <a:rPr lang="en-US" altLang="en-US" sz="1800" i="1" dirty="0"/>
              <a:t>R</a:t>
            </a:r>
            <a:r>
              <a:rPr lang="en-US" altLang="en-US" sz="1800" baseline="-25000" dirty="0"/>
              <a:t>1</a:t>
            </a:r>
            <a:r>
              <a:rPr lang="en-US" altLang="en-US" sz="1800" i="1" dirty="0"/>
              <a:t>, R</a:t>
            </a:r>
            <a:r>
              <a:rPr lang="en-US" altLang="en-US" sz="1800" baseline="-25000" dirty="0"/>
              <a:t>2</a:t>
            </a:r>
            <a:r>
              <a:rPr lang="en-US" altLang="en-US" sz="1800" i="1" dirty="0"/>
              <a:t>):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2292350" algn="l"/>
                <a:tab pos="2976563" algn="l"/>
              </a:tabLst>
            </a:pPr>
            <a:r>
              <a:rPr lang="en-US" altLang="en-US" sz="1800" dirty="0"/>
              <a:t>		</a:t>
            </a:r>
            <a:r>
              <a:rPr lang="en-US" altLang="en-US" sz="1800" b="1" i="1" dirty="0"/>
              <a:t>R = R</a:t>
            </a:r>
            <a:r>
              <a:rPr lang="en-US" altLang="en-US" sz="1800" b="1" baseline="-25000" dirty="0"/>
              <a:t>1 </a:t>
            </a:r>
            <a:r>
              <a:rPr lang="en-US" altLang="en-US" sz="1800" b="1" dirty="0">
                <a:sym typeface="Symbol" panose="05050102010706020507" pitchFamily="18" charset="2"/>
              </a:rPr>
              <a:t> </a:t>
            </a:r>
            <a:r>
              <a:rPr lang="en-US" altLang="en-US" sz="1800" b="1" i="1" dirty="0"/>
              <a:t>R</a:t>
            </a:r>
            <a:r>
              <a:rPr lang="en-US" altLang="en-US" sz="1800" b="1" baseline="-25000" dirty="0"/>
              <a:t>2</a:t>
            </a:r>
            <a:endParaRPr lang="en-US" altLang="en-US" sz="1800" b="1" dirty="0"/>
          </a:p>
          <a:p>
            <a:pPr>
              <a:lnSpc>
                <a:spcPct val="90000"/>
              </a:lnSpc>
              <a:tabLst>
                <a:tab pos="2292350" algn="l"/>
                <a:tab pos="2976563" algn="l"/>
              </a:tabLst>
            </a:pPr>
            <a:r>
              <a:rPr lang="en-US" altLang="en-US" sz="1800" b="1" dirty="0"/>
              <a:t>Lossless-join</a:t>
            </a:r>
            <a:r>
              <a:rPr lang="en-US" altLang="en-US" sz="1800" dirty="0"/>
              <a:t> decomposition.</a:t>
            </a:r>
            <a:br>
              <a:rPr lang="en-US" altLang="en-US" sz="1800" dirty="0"/>
            </a:br>
            <a:r>
              <a:rPr lang="en-US" altLang="en-US" sz="1800" dirty="0"/>
              <a:t>For all possible relations </a:t>
            </a:r>
            <a:r>
              <a:rPr lang="en-US" altLang="en-US" sz="1800" i="1" dirty="0"/>
              <a:t>r</a:t>
            </a:r>
            <a:r>
              <a:rPr lang="en-US" altLang="en-US" sz="1800" dirty="0"/>
              <a:t> on schema </a:t>
            </a:r>
            <a:r>
              <a:rPr lang="en-US" altLang="en-US" sz="1800" i="1" dirty="0"/>
              <a:t>R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2292350" algn="l"/>
                <a:tab pos="2976563" algn="l"/>
              </a:tabLst>
            </a:pPr>
            <a:r>
              <a:rPr lang="en-US" altLang="en-US" sz="1800" baseline="-25000" dirty="0"/>
              <a:t>		</a:t>
            </a:r>
            <a:r>
              <a:rPr lang="en-US" altLang="en-US" sz="1800" b="1" i="1" dirty="0"/>
              <a:t>r = </a:t>
            </a:r>
            <a:r>
              <a:rPr lang="en-US" altLang="en-US" sz="1800" b="1" dirty="0">
                <a:sym typeface="Symbol" panose="05050102010706020507" pitchFamily="18" charset="2"/>
              </a:rPr>
              <a:t></a:t>
            </a:r>
            <a:r>
              <a:rPr lang="en-US" altLang="en-US" sz="1800" b="1" baseline="-25000" dirty="0">
                <a:sym typeface="Symbol" panose="05050102010706020507" pitchFamily="18" charset="2"/>
              </a:rPr>
              <a:t>R1 </a:t>
            </a:r>
            <a:r>
              <a:rPr lang="en-US" altLang="en-US" sz="1800" b="1" dirty="0">
                <a:sym typeface="Symbol" panose="05050102010706020507" pitchFamily="18" charset="2"/>
              </a:rPr>
              <a:t>(</a:t>
            </a:r>
            <a:r>
              <a:rPr lang="en-US" altLang="en-US" sz="1800" b="1" i="1" dirty="0">
                <a:sym typeface="Symbol" panose="05050102010706020507" pitchFamily="18" charset="2"/>
              </a:rPr>
              <a:t>r</a:t>
            </a:r>
            <a:r>
              <a:rPr lang="en-US" altLang="en-US" sz="1800" b="1" dirty="0">
                <a:sym typeface="Symbol" panose="05050102010706020507" pitchFamily="18" charset="2"/>
              </a:rPr>
              <a:t>)    </a:t>
            </a:r>
            <a:r>
              <a:rPr lang="en-US" altLang="en-US" sz="1800" b="1" baseline="-25000" dirty="0">
                <a:sym typeface="Symbol" panose="05050102010706020507" pitchFamily="18" charset="2"/>
              </a:rPr>
              <a:t>R2 </a:t>
            </a:r>
            <a:r>
              <a:rPr lang="en-US" altLang="en-US" sz="1800" b="1" dirty="0">
                <a:sym typeface="Symbol" panose="05050102010706020507" pitchFamily="18" charset="2"/>
              </a:rPr>
              <a:t>(</a:t>
            </a:r>
            <a:r>
              <a:rPr lang="en-US" altLang="en-US" sz="1800" b="1" i="1" dirty="0">
                <a:sym typeface="Symbol" panose="05050102010706020507" pitchFamily="18" charset="2"/>
              </a:rPr>
              <a:t>r</a:t>
            </a:r>
            <a:r>
              <a:rPr lang="en-US" altLang="en-US" sz="1800" b="1" dirty="0">
                <a:sym typeface="Symbol" panose="05050102010706020507" pitchFamily="18" charset="2"/>
              </a:rPr>
              <a:t>) </a:t>
            </a:r>
          </a:p>
          <a:p>
            <a:pPr>
              <a:lnSpc>
                <a:spcPct val="90000"/>
              </a:lnSpc>
              <a:tabLst>
                <a:tab pos="2292350" algn="l"/>
                <a:tab pos="2976563" algn="l"/>
              </a:tabLst>
            </a:pPr>
            <a:r>
              <a:rPr lang="en-US" altLang="en-US" sz="1800" b="1" dirty="0">
                <a:solidFill>
                  <a:srgbClr val="FF0000"/>
                </a:solidFill>
              </a:rPr>
              <a:t>A decomposition of R into </a:t>
            </a:r>
            <a:r>
              <a:rPr kumimoji="0" lang="en-US" altLang="en-US" sz="1800" b="1" i="1" dirty="0">
                <a:solidFill>
                  <a:srgbClr val="FF0000"/>
                </a:solidFill>
              </a:rPr>
              <a:t>R</a:t>
            </a:r>
            <a:r>
              <a:rPr kumimoji="0" lang="en-US" altLang="en-US" sz="1800" b="1" baseline="-25000" dirty="0">
                <a:solidFill>
                  <a:srgbClr val="FF0000"/>
                </a:solidFill>
              </a:rPr>
              <a:t>1</a:t>
            </a:r>
            <a:r>
              <a:rPr kumimoji="0" lang="en-US" altLang="en-US" sz="1800" b="1" dirty="0">
                <a:solidFill>
                  <a:srgbClr val="FF0000"/>
                </a:solidFill>
              </a:rPr>
              <a:t> and </a:t>
            </a:r>
            <a:r>
              <a:rPr kumimoji="0" lang="en-US" altLang="en-US" sz="1800" b="1" i="1" dirty="0">
                <a:solidFill>
                  <a:srgbClr val="FF0000"/>
                </a:solidFill>
              </a:rPr>
              <a:t>R</a:t>
            </a:r>
            <a:r>
              <a:rPr kumimoji="0" lang="en-US" altLang="en-US" sz="1800" b="1" baseline="-25000" dirty="0">
                <a:solidFill>
                  <a:srgbClr val="FF0000"/>
                </a:solidFill>
              </a:rPr>
              <a:t>2</a:t>
            </a:r>
            <a:r>
              <a:rPr kumimoji="0" lang="en-US" altLang="en-US" sz="1800" b="1" dirty="0">
                <a:solidFill>
                  <a:srgbClr val="FF0000"/>
                </a:solidFill>
              </a:rPr>
              <a:t> is lossless join if and only if at</a:t>
            </a:r>
            <a:r>
              <a:rPr lang="en-US" altLang="en-US" sz="1800" b="1" dirty="0">
                <a:solidFill>
                  <a:srgbClr val="FF0000"/>
                </a:solidFill>
              </a:rPr>
              <a:t> least one of the following dependencies is in F</a:t>
            </a:r>
            <a:r>
              <a:rPr lang="en-US" altLang="en-US" b="1" baseline="30000" dirty="0">
                <a:solidFill>
                  <a:srgbClr val="FF0000"/>
                </a:solidFill>
              </a:rPr>
              <a:t>+</a:t>
            </a:r>
            <a:r>
              <a:rPr lang="en-US" altLang="en-US" sz="1800" b="1" dirty="0">
                <a:solidFill>
                  <a:srgbClr val="FF0000"/>
                </a:solidFill>
              </a:rPr>
              <a:t>:</a:t>
            </a:r>
          </a:p>
          <a:p>
            <a:pPr lvl="1">
              <a:lnSpc>
                <a:spcPct val="90000"/>
              </a:lnSpc>
              <a:tabLst>
                <a:tab pos="2292350" algn="l"/>
                <a:tab pos="2976563" algn="l"/>
              </a:tabLst>
            </a:pPr>
            <a:r>
              <a:rPr lang="en-US" altLang="en-US" sz="1600" b="1" i="1" dirty="0">
                <a:solidFill>
                  <a:srgbClr val="FF0000"/>
                </a:solidFill>
              </a:rPr>
              <a:t>R</a:t>
            </a:r>
            <a:r>
              <a:rPr lang="en-US" altLang="en-US" sz="1600" b="1" baseline="-25000" dirty="0">
                <a:solidFill>
                  <a:srgbClr val="FF0000"/>
                </a:solidFill>
              </a:rPr>
              <a:t>1</a:t>
            </a:r>
            <a:r>
              <a:rPr lang="en-US" altLang="en-US" sz="1600" b="1" dirty="0">
                <a:solidFill>
                  <a:srgbClr val="FF0000"/>
                </a:solidFill>
              </a:rPr>
              <a:t> </a:t>
            </a:r>
            <a:r>
              <a:rPr lang="en-US" altLang="en-US" sz="1600" b="1" dirty="0">
                <a:solidFill>
                  <a:srgbClr val="FF0000"/>
                </a:solidFill>
                <a:sym typeface="Symbol" panose="05050102010706020507" pitchFamily="18" charset="2"/>
              </a:rPr>
              <a:t> </a:t>
            </a:r>
            <a:r>
              <a:rPr lang="en-US" altLang="en-US" sz="1600" b="1" i="1" dirty="0">
                <a:solidFill>
                  <a:srgbClr val="FF0000"/>
                </a:solidFill>
              </a:rPr>
              <a:t>R</a:t>
            </a:r>
            <a:r>
              <a:rPr lang="en-US" altLang="en-US" sz="1600" b="1" baseline="-25000" dirty="0">
                <a:solidFill>
                  <a:srgbClr val="FF0000"/>
                </a:solidFill>
              </a:rPr>
              <a:t>2</a:t>
            </a:r>
            <a:r>
              <a:rPr lang="en-US" altLang="en-US" sz="1600" b="1" dirty="0">
                <a:solidFill>
                  <a:srgbClr val="FF0000"/>
                </a:solidFill>
              </a:rPr>
              <a:t> </a:t>
            </a:r>
            <a:r>
              <a:rPr lang="en-US" altLang="en-US" sz="1600" b="1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600" b="1" dirty="0">
                <a:solidFill>
                  <a:srgbClr val="FF0000"/>
                </a:solidFill>
                <a:sym typeface="Monotype Sorts" pitchFamily="2" charset="2"/>
              </a:rPr>
              <a:t> </a:t>
            </a:r>
            <a:r>
              <a:rPr lang="en-US" altLang="en-US" sz="1600" b="1" i="1" dirty="0">
                <a:solidFill>
                  <a:srgbClr val="FF0000"/>
                </a:solidFill>
              </a:rPr>
              <a:t>R</a:t>
            </a:r>
            <a:r>
              <a:rPr lang="en-US" altLang="en-US" sz="1600" b="1" baseline="-25000" dirty="0">
                <a:solidFill>
                  <a:srgbClr val="FF0000"/>
                </a:solidFill>
              </a:rPr>
              <a:t>1</a:t>
            </a:r>
          </a:p>
          <a:p>
            <a:pPr lvl="1">
              <a:lnSpc>
                <a:spcPct val="90000"/>
              </a:lnSpc>
              <a:tabLst>
                <a:tab pos="2292350" algn="l"/>
                <a:tab pos="2976563" algn="l"/>
              </a:tabLst>
            </a:pPr>
            <a:r>
              <a:rPr lang="en-US" altLang="en-US" sz="1600" b="1" i="1" dirty="0">
                <a:solidFill>
                  <a:srgbClr val="FF0000"/>
                </a:solidFill>
              </a:rPr>
              <a:t>R</a:t>
            </a:r>
            <a:r>
              <a:rPr lang="en-US" altLang="en-US" sz="1600" b="1" baseline="-25000" dirty="0">
                <a:solidFill>
                  <a:srgbClr val="FF0000"/>
                </a:solidFill>
              </a:rPr>
              <a:t>1</a:t>
            </a:r>
            <a:r>
              <a:rPr lang="en-US" altLang="en-US" sz="1600" b="1" dirty="0">
                <a:solidFill>
                  <a:srgbClr val="FF0000"/>
                </a:solidFill>
              </a:rPr>
              <a:t> </a:t>
            </a:r>
            <a:r>
              <a:rPr lang="en-US" altLang="en-US" sz="1600" b="1" dirty="0">
                <a:solidFill>
                  <a:srgbClr val="FF0000"/>
                </a:solidFill>
                <a:sym typeface="Symbol" panose="05050102010706020507" pitchFamily="18" charset="2"/>
              </a:rPr>
              <a:t> </a:t>
            </a:r>
            <a:r>
              <a:rPr lang="en-US" altLang="en-US" sz="1600" b="1" i="1" dirty="0">
                <a:solidFill>
                  <a:srgbClr val="FF0000"/>
                </a:solidFill>
              </a:rPr>
              <a:t>R</a:t>
            </a:r>
            <a:r>
              <a:rPr lang="en-US" altLang="en-US" sz="1600" b="1" baseline="-25000" dirty="0">
                <a:solidFill>
                  <a:srgbClr val="FF0000"/>
                </a:solidFill>
              </a:rPr>
              <a:t>2</a:t>
            </a:r>
            <a:r>
              <a:rPr lang="en-US" altLang="en-US" sz="1600" b="1" dirty="0">
                <a:solidFill>
                  <a:srgbClr val="FF0000"/>
                </a:solidFill>
              </a:rPr>
              <a:t> </a:t>
            </a:r>
            <a:r>
              <a:rPr lang="en-US" altLang="en-US" sz="1600" b="1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600" b="1" dirty="0">
                <a:solidFill>
                  <a:srgbClr val="FF0000"/>
                </a:solidFill>
                <a:sym typeface="Monotype Sorts" pitchFamily="2" charset="2"/>
              </a:rPr>
              <a:t> </a:t>
            </a:r>
            <a:r>
              <a:rPr lang="en-US" altLang="en-US" sz="1600" b="1" i="1" dirty="0">
                <a:solidFill>
                  <a:srgbClr val="FF0000"/>
                </a:solidFill>
              </a:rPr>
              <a:t>R</a:t>
            </a:r>
            <a:r>
              <a:rPr lang="en-US" altLang="en-US" sz="1600" b="1" baseline="-25000" dirty="0">
                <a:solidFill>
                  <a:srgbClr val="FF0000"/>
                </a:solidFill>
              </a:rPr>
              <a:t>2</a:t>
            </a:r>
            <a:endParaRPr lang="en-US" altLang="en-US" sz="1600" b="1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2292350" algn="l"/>
                <a:tab pos="2976563" algn="l"/>
              </a:tabLst>
            </a:pPr>
            <a:endParaRPr lang="en-US" altLang="en-US" sz="1800" dirty="0">
              <a:sym typeface="Symbol" panose="05050102010706020507" pitchFamily="18" charset="2"/>
            </a:endParaRPr>
          </a:p>
        </p:txBody>
      </p:sp>
      <p:sp>
        <p:nvSpPr>
          <p:cNvPr id="176132" name="Freeform 4">
            <a:extLst>
              <a:ext uri="{FF2B5EF4-FFF2-40B4-BE49-F238E27FC236}">
                <a16:creationId xmlns:a16="http://schemas.microsoft.com/office/drawing/2014/main" id="{A1BAD06F-4F89-4B26-B535-1DEC4B48DF04}"/>
              </a:ext>
            </a:extLst>
          </p:cNvPr>
          <p:cNvSpPr>
            <a:spLocks/>
          </p:cNvSpPr>
          <p:nvPr/>
        </p:nvSpPr>
        <p:spPr bwMode="auto">
          <a:xfrm>
            <a:off x="4573588" y="4075113"/>
            <a:ext cx="142875" cy="142875"/>
          </a:xfrm>
          <a:custGeom>
            <a:avLst/>
            <a:gdLst>
              <a:gd name="T0" fmla="*/ 0 w 182"/>
              <a:gd name="T1" fmla="*/ 0 h 182"/>
              <a:gd name="T2" fmla="*/ 0 w 182"/>
              <a:gd name="T3" fmla="*/ 2147483646 h 182"/>
              <a:gd name="T4" fmla="*/ 2147483646 w 182"/>
              <a:gd name="T5" fmla="*/ 0 h 182"/>
              <a:gd name="T6" fmla="*/ 2147483646 w 182"/>
              <a:gd name="T7" fmla="*/ 2147483646 h 182"/>
              <a:gd name="T8" fmla="*/ 0 w 182"/>
              <a:gd name="T9" fmla="*/ 0 h 1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2"/>
              <a:gd name="T16" fmla="*/ 0 h 182"/>
              <a:gd name="T17" fmla="*/ 182 w 182"/>
              <a:gd name="T18" fmla="*/ 182 h 1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2" h="182">
                <a:moveTo>
                  <a:pt x="0" y="0"/>
                </a:moveTo>
                <a:lnTo>
                  <a:pt x="0" y="182"/>
                </a:lnTo>
                <a:lnTo>
                  <a:pt x="182" y="0"/>
                </a:lnTo>
                <a:lnTo>
                  <a:pt x="182" y="182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0275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35CDFA7-53F0-46A6-8843-CD20CB669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Multiple Repeating: Independent Groups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D11844-7DCE-46EB-A80D-C93603B31C3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7779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04436B8-AAE8-4FE9-AB92-A26481737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>
                <a:solidFill>
                  <a:schemeClr val="tx1"/>
                </a:solidFill>
              </a:rPr>
              <a:t>First Normal Form Definition </a:t>
            </a:r>
            <a:br>
              <a:rPr lang="en-US" altLang="en-US" sz="3600" b="1">
                <a:solidFill>
                  <a:schemeClr val="tx1"/>
                </a:solidFill>
              </a:rPr>
            </a:br>
            <a:r>
              <a:rPr lang="en-US" altLang="en-US" sz="3600" b="1">
                <a:solidFill>
                  <a:schemeClr val="tx1"/>
                </a:solidFill>
              </a:rPr>
              <a:t> </a:t>
            </a:r>
            <a:r>
              <a:rPr lang="en-US" altLang="en-US" b="1" i="1">
                <a:solidFill>
                  <a:srgbClr val="000000"/>
                </a:solidFill>
              </a:rPr>
              <a:t>Eliminating Repeated Groups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408BA5-86B4-4BE3-BA45-12934F4BA61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126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183414D-2623-4EF2-963F-DD5154632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>
                <a:solidFill>
                  <a:schemeClr val="tx1"/>
                </a:solidFill>
              </a:rPr>
              <a:t>First Normal Form Problems (Data)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6D7926-49D8-413F-A98F-4FF94C7A607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3933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8E2FE05-4A2C-4CF0-8315-CA1553AF77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858602"/>
              </p:ext>
            </p:extLst>
          </p:nvPr>
        </p:nvGraphicFramePr>
        <p:xfrm>
          <a:off x="746637" y="1018802"/>
          <a:ext cx="7886700" cy="19812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21700914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6815188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094170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/>
                        <a:t>Student_ID</a:t>
                      </a:r>
                      <a:endParaRPr lang="en-US" sz="28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Subjects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156685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Rafi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Math, English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658161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Sima</a:t>
                      </a:r>
                      <a:endParaRPr lang="en-US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Physics, Chemistry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39434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81200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8E2FE05-4A2C-4CF0-8315-CA1553AF77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02149"/>
              </p:ext>
            </p:extLst>
          </p:nvPr>
        </p:nvGraphicFramePr>
        <p:xfrm>
          <a:off x="628650" y="399370"/>
          <a:ext cx="7886700" cy="13716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21700914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6815188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094170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/>
                        <a:t>Student_ID</a:t>
                      </a:r>
                      <a:endParaRPr lang="en-US" sz="24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Subjects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156685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Rafi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Math, English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658161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Sima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Physics, Chemistry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3943440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525B55-9F1F-456E-8606-7D6D6F5462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41046"/>
              </p:ext>
            </p:extLst>
          </p:nvPr>
        </p:nvGraphicFramePr>
        <p:xfrm>
          <a:off x="628650" y="3258344"/>
          <a:ext cx="7886700" cy="22860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34451199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6718884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078128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/>
                        <a:t>Student_ID</a:t>
                      </a:r>
                      <a:endParaRPr lang="en-US" sz="24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Subject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949565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Rafi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Math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536267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Rafi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English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462206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Sima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Physics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455241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Sima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Chemistry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5272575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80911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A42A802-E8CB-48BF-8D82-CC88C91C3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Database Normalization Rules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205E68-0DCE-4D76-9D8C-7928C06AEEE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5832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D1122C8-2BF5-4760-9F6B-1DD4A4C90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>
                <a:solidFill>
                  <a:schemeClr val="tx1"/>
                </a:solidFill>
              </a:rPr>
              <a:t>First Normal Form Problems (Data)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8EC660-5E2B-47A1-86DC-D85D247E919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7293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1F3638A-1404-469E-A22D-C905F698F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>
                <a:solidFill>
                  <a:schemeClr val="tx1"/>
                </a:solidFill>
              </a:rPr>
              <a:t>Second Normal Form Definition</a:t>
            </a:r>
            <a:br>
              <a:rPr lang="en-US" altLang="en-US" sz="3600" b="1">
                <a:solidFill>
                  <a:schemeClr val="tx1"/>
                </a:solidFill>
              </a:rPr>
            </a:br>
            <a:r>
              <a:rPr lang="en-US" altLang="en-US" b="1" i="1">
                <a:solidFill>
                  <a:schemeClr val="tx1"/>
                </a:solidFill>
              </a:rPr>
              <a:t>Eliminating Redundant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4A45D6-99EA-4354-8F5D-0230F7E208A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2743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F719473-940C-4C6D-A616-615DFA440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Second Normal Form 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426C96-C419-44D7-A1DF-87D13C06F7D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8354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5DDEC3B-D2CD-40BF-885B-3CDF9AE5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>
                <a:solidFill>
                  <a:schemeClr val="tx1"/>
                </a:solidFill>
              </a:rPr>
              <a:t>Second Normal Form Example (Data</a:t>
            </a:r>
            <a:r>
              <a:rPr lang="en-US" altLang="en-US"/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124A7B-E9D3-4C92-8809-468EDBA160F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1155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DA240AF-4196-4C14-BBDB-7CBE3C172F84}"/>
              </a:ext>
            </a:extLst>
          </p:cNvPr>
          <p:cNvSpPr txBox="1"/>
          <p:nvPr/>
        </p:nvSpPr>
        <p:spPr>
          <a:xfrm>
            <a:off x="641555" y="967996"/>
            <a:ext cx="786089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🔹 Definition: Second Normal Form (2NF)</a:t>
            </a:r>
          </a:p>
          <a:p>
            <a:endParaRPr lang="en-US" sz="3200" b="1" dirty="0"/>
          </a:p>
          <a:p>
            <a:r>
              <a:rPr lang="en-US" sz="3200" dirty="0"/>
              <a:t>A table is in </a:t>
            </a:r>
            <a:r>
              <a:rPr lang="en-US" sz="3200" b="1" dirty="0"/>
              <a:t>Second Normal Form (2NF)</a:t>
            </a:r>
            <a:r>
              <a:rPr lang="en-US" sz="3200" dirty="0"/>
              <a:t> if:</a:t>
            </a:r>
          </a:p>
          <a:p>
            <a:endParaRPr lang="en-US" sz="3200" dirty="0"/>
          </a:p>
          <a:p>
            <a:pPr>
              <a:buFont typeface="+mj-lt"/>
              <a:buAutoNum type="arabicPeriod"/>
            </a:pPr>
            <a:r>
              <a:rPr lang="en-US" sz="3200" dirty="0"/>
              <a:t>It is already in </a:t>
            </a:r>
            <a:r>
              <a:rPr lang="en-US" sz="3200" b="1" dirty="0"/>
              <a:t>First Normal Form (1NF)</a:t>
            </a:r>
            <a:r>
              <a:rPr lang="en-US" sz="3200" dirty="0"/>
              <a:t>, </a:t>
            </a:r>
            <a:r>
              <a:rPr lang="en-US" sz="3200" b="1" dirty="0"/>
              <a:t>and</a:t>
            </a:r>
            <a:endParaRPr lang="en-US" sz="3200" dirty="0"/>
          </a:p>
          <a:p>
            <a:pPr>
              <a:buFont typeface="+mj-lt"/>
              <a:buAutoNum type="arabicPeriod"/>
            </a:pPr>
            <a:r>
              <a:rPr lang="en-US" sz="3200" b="1" dirty="0"/>
              <a:t>Every non-key attribute</a:t>
            </a:r>
            <a:r>
              <a:rPr lang="en-US" sz="3200" dirty="0"/>
              <a:t> (i.e., every column that is not part of a primary key) is </a:t>
            </a:r>
            <a:r>
              <a:rPr lang="en-US" sz="3200" b="1" dirty="0"/>
              <a:t>fully functionally dependent on the entire primary key</a:t>
            </a:r>
            <a:r>
              <a:rPr lang="en-US" sz="3200" dirty="0"/>
              <a:t> — not just on a part of it.</a:t>
            </a:r>
          </a:p>
        </p:txBody>
      </p:sp>
    </p:spTree>
    <p:extLst>
      <p:ext uri="{BB962C8B-B14F-4D97-AF65-F5344CB8AC3E}">
        <p14:creationId xmlns:p14="http://schemas.microsoft.com/office/powerpoint/2010/main" val="24218998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6D7FFA8-15DB-4812-991F-7E2CAD3D0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840746"/>
              </p:ext>
            </p:extLst>
          </p:nvPr>
        </p:nvGraphicFramePr>
        <p:xfrm>
          <a:off x="628650" y="472005"/>
          <a:ext cx="7886700" cy="1341120"/>
        </p:xfrm>
        <a:graphic>
          <a:graphicData uri="http://schemas.openxmlformats.org/drawingml/2006/table">
            <a:tbl>
              <a:tblPr/>
              <a:tblGrid>
                <a:gridCol w="1577340">
                  <a:extLst>
                    <a:ext uri="{9D8B030D-6E8A-4147-A177-3AD203B41FA5}">
                      <a16:colId xmlns:a16="http://schemas.microsoft.com/office/drawing/2014/main" val="656814145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65158849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3704763121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3462702585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2446784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Student_ID</a:t>
                      </a:r>
                      <a:endParaRPr lang="en-US" sz="16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Course_ID</a:t>
                      </a:r>
                      <a:endParaRPr lang="en-US" sz="16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Student_Name</a:t>
                      </a:r>
                      <a:endParaRPr lang="en-US" sz="16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Course_Name</a:t>
                      </a:r>
                      <a:endParaRPr lang="en-US" sz="16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Instructor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340634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CSE101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Rafi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DBMS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Rahim Sir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329593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CSE101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Sima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DBMS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Rahim Sir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254896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CSE102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Rafi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Programming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Karim Sir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848914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98679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6D7FFA8-15DB-4812-991F-7E2CAD3D0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232387"/>
              </p:ext>
            </p:extLst>
          </p:nvPr>
        </p:nvGraphicFramePr>
        <p:xfrm>
          <a:off x="628650" y="690445"/>
          <a:ext cx="7886700" cy="1341120"/>
        </p:xfrm>
        <a:graphic>
          <a:graphicData uri="http://schemas.openxmlformats.org/drawingml/2006/table">
            <a:tbl>
              <a:tblPr/>
              <a:tblGrid>
                <a:gridCol w="1577340">
                  <a:extLst>
                    <a:ext uri="{9D8B030D-6E8A-4147-A177-3AD203B41FA5}">
                      <a16:colId xmlns:a16="http://schemas.microsoft.com/office/drawing/2014/main" val="656814145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65158849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3704763121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3462702585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2446784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Student_ID</a:t>
                      </a:r>
                      <a:endParaRPr lang="en-US" sz="16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Course_ID</a:t>
                      </a:r>
                      <a:endParaRPr lang="en-US" sz="16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Student_Name</a:t>
                      </a:r>
                      <a:endParaRPr lang="en-US" sz="16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Course_Name</a:t>
                      </a:r>
                      <a:endParaRPr lang="en-US" sz="16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Instructor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340634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CSE101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Rafi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DBMS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Rahim Sir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329593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CSE101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Sima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DBMS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Rahim Sir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254896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CSE102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Rafi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Programming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Karim Sir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84891468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955D442-D556-4C8C-A602-DDB9055596A5}"/>
              </a:ext>
            </a:extLst>
          </p:cNvPr>
          <p:cNvSpPr txBox="1"/>
          <p:nvPr/>
        </p:nvSpPr>
        <p:spPr>
          <a:xfrm>
            <a:off x="376083" y="3112904"/>
            <a:ext cx="848769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Primary Key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(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Student_ID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Course_ID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— combination of both.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Student_Name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depends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only on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Student_ID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Course_Name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Instructor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depend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only on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Course_ID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👉 Therefore, we have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partial dependencies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→ not in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2NF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15379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6D7FFA8-15DB-4812-991F-7E2CAD3D0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857406"/>
              </p:ext>
            </p:extLst>
          </p:nvPr>
        </p:nvGraphicFramePr>
        <p:xfrm>
          <a:off x="628650" y="472005"/>
          <a:ext cx="7886700" cy="1341120"/>
        </p:xfrm>
        <a:graphic>
          <a:graphicData uri="http://schemas.openxmlformats.org/drawingml/2006/table">
            <a:tbl>
              <a:tblPr/>
              <a:tblGrid>
                <a:gridCol w="1577340">
                  <a:extLst>
                    <a:ext uri="{9D8B030D-6E8A-4147-A177-3AD203B41FA5}">
                      <a16:colId xmlns:a16="http://schemas.microsoft.com/office/drawing/2014/main" val="656814145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65158849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3704763121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3462702585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2446784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Student_ID</a:t>
                      </a:r>
                      <a:endParaRPr lang="en-US" sz="16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Course_ID</a:t>
                      </a:r>
                      <a:endParaRPr lang="en-US" sz="16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Student_Name</a:t>
                      </a:r>
                      <a:endParaRPr lang="en-US" sz="16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Course_Name</a:t>
                      </a:r>
                      <a:endParaRPr lang="en-US" sz="16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Instructor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340634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CSE101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Rafi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DBMS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Rahim Sir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329593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CSE101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Sima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DBMS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Rahim Sir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254896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CSE102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Rafi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Programming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Karim Sir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848914682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2ABDAE3-C465-4407-9B29-D29E218A66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282908"/>
              </p:ext>
            </p:extLst>
          </p:nvPr>
        </p:nvGraphicFramePr>
        <p:xfrm>
          <a:off x="731888" y="2286000"/>
          <a:ext cx="7886700" cy="118872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1544862182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14898026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Student_ID</a:t>
                      </a:r>
                      <a:endParaRPr lang="en-US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Student_Name</a:t>
                      </a:r>
                      <a:endParaRPr lang="en-US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209621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Rafi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993349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Sima</a:t>
                      </a:r>
                      <a:endParaRPr 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1528749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3D9F93-E73F-4BDA-9B02-ECE3FAB9BB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571832"/>
              </p:ext>
            </p:extLst>
          </p:nvPr>
        </p:nvGraphicFramePr>
        <p:xfrm>
          <a:off x="731888" y="3698730"/>
          <a:ext cx="7886700" cy="10972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61340557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6806879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441667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Course_ID</a:t>
                      </a:r>
                      <a:endParaRPr lang="en-US" sz="18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Course_Name</a:t>
                      </a:r>
                      <a:endParaRPr lang="en-US" sz="18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Instructor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738257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CSE101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DBMS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Rahim Sir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491494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CSE102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Programming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Karim Sir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76357899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EF5E6A-0B56-4040-8874-4BE7575AEC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375605"/>
              </p:ext>
            </p:extLst>
          </p:nvPr>
        </p:nvGraphicFramePr>
        <p:xfrm>
          <a:off x="731888" y="5147020"/>
          <a:ext cx="7886700" cy="146304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1248947297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15178377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Student_ID</a:t>
                      </a:r>
                      <a:endParaRPr lang="en-US" sz="18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Course_ID</a:t>
                      </a:r>
                      <a:endParaRPr lang="en-US" sz="18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4138143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CSE101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54212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CSE102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508297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CSE101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964392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71368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AC05024-F1CB-457D-9A0F-17872B46B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Second Normal Form Problems (Data)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3D5CED-11B7-4020-9195-D22EF5BC8DD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2875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8E0DC55-80DA-46CC-98D2-695DD2B95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Database Normalization Rules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B1E692-A408-4268-8F98-5CE839CA319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9374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73CC534-9F9E-4AEA-889C-8D302373A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Second Normal Form Problems (Data)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2AEFF4-C1CC-4E9E-B0D2-F1F40E45735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7597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229805B-F872-4BA1-BA15-3EF7F7D15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>
                <a:solidFill>
                  <a:schemeClr val="tx1"/>
                </a:solidFill>
              </a:rPr>
              <a:t>Third Normal Form Definition</a:t>
            </a:r>
            <a:br>
              <a:rPr lang="en-US" altLang="en-US" sz="3600" b="1">
                <a:solidFill>
                  <a:schemeClr val="tx1"/>
                </a:solidFill>
              </a:rPr>
            </a:br>
            <a:r>
              <a:rPr lang="en-US" altLang="en-US" b="1" i="1">
                <a:solidFill>
                  <a:schemeClr val="tx1"/>
                </a:solidFill>
              </a:rPr>
              <a:t>Eliminating Columns not Dependant on Keys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7285E2-9D1D-497C-8933-26AE7E4F951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4664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BB2C71-E318-4A6B-ACE3-FD4B99C9FCCC}"/>
              </a:ext>
            </a:extLst>
          </p:cNvPr>
          <p:cNvSpPr txBox="1"/>
          <p:nvPr/>
        </p:nvSpPr>
        <p:spPr>
          <a:xfrm>
            <a:off x="390832" y="1498938"/>
            <a:ext cx="836233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Definition: Third Normal Form (3NF)</a:t>
            </a:r>
          </a:p>
          <a:p>
            <a:endParaRPr lang="en-US" sz="3200" b="1" dirty="0"/>
          </a:p>
          <a:p>
            <a:r>
              <a:rPr lang="en-US" sz="3200" dirty="0"/>
              <a:t>A table is in </a:t>
            </a:r>
            <a:r>
              <a:rPr lang="en-US" sz="3200" b="1" dirty="0"/>
              <a:t>Third Normal Form (3NF)</a:t>
            </a:r>
            <a:r>
              <a:rPr lang="en-US" sz="3200" dirty="0"/>
              <a:t> if:</a:t>
            </a:r>
          </a:p>
          <a:p>
            <a:pPr>
              <a:buFont typeface="+mj-lt"/>
              <a:buAutoNum type="arabicPeriod"/>
            </a:pPr>
            <a:r>
              <a:rPr lang="en-US" sz="3200" dirty="0"/>
              <a:t>It is already in </a:t>
            </a:r>
            <a:r>
              <a:rPr lang="en-US" sz="3200" b="1" dirty="0"/>
              <a:t>Second Normal Form (2NF)</a:t>
            </a:r>
            <a:r>
              <a:rPr lang="en-US" sz="3200" dirty="0"/>
              <a:t>, </a:t>
            </a:r>
            <a:r>
              <a:rPr lang="en-US" sz="3200" b="1" dirty="0"/>
              <a:t>and</a:t>
            </a:r>
            <a:endParaRPr lang="en-US" sz="3200" dirty="0"/>
          </a:p>
          <a:p>
            <a:pPr>
              <a:buFont typeface="+mj-lt"/>
              <a:buAutoNum type="arabicPeriod"/>
            </a:pPr>
            <a:r>
              <a:rPr lang="en-US" sz="3200" b="1" dirty="0"/>
              <a:t>No non-key attribute depends on another non-key attribute</a:t>
            </a:r>
            <a:r>
              <a:rPr lang="en-US" sz="3200" dirty="0"/>
              <a:t> —</a:t>
            </a:r>
            <a:br>
              <a:rPr lang="en-US" sz="3200" dirty="0"/>
            </a:br>
            <a:r>
              <a:rPr lang="en-US" sz="3200" dirty="0"/>
              <a:t>that is, </a:t>
            </a:r>
            <a:r>
              <a:rPr lang="en-US" sz="3200" b="1" dirty="0"/>
              <a:t>no transitive dependency</a:t>
            </a:r>
            <a:r>
              <a:rPr lang="en-US" sz="3200" dirty="0"/>
              <a:t> exists.</a:t>
            </a:r>
          </a:p>
        </p:txBody>
      </p:sp>
    </p:spTree>
    <p:extLst>
      <p:ext uri="{BB962C8B-B14F-4D97-AF65-F5344CB8AC3E}">
        <p14:creationId xmlns:p14="http://schemas.microsoft.com/office/powerpoint/2010/main" val="4643568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269031-D44D-43FD-8E13-3FFBEFA76509}"/>
              </a:ext>
            </a:extLst>
          </p:cNvPr>
          <p:cNvSpPr txBox="1"/>
          <p:nvPr/>
        </p:nvSpPr>
        <p:spPr>
          <a:xfrm>
            <a:off x="383457" y="587758"/>
            <a:ext cx="837708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What is a Transitive Dependency?</a:t>
            </a:r>
          </a:p>
          <a:p>
            <a:endParaRPr lang="en-US" sz="2800" b="1" dirty="0"/>
          </a:p>
          <a:p>
            <a:r>
              <a:rPr lang="en-US" sz="2800" dirty="0"/>
              <a:t>A </a:t>
            </a:r>
            <a:r>
              <a:rPr lang="en-US" sz="2800" b="1" dirty="0"/>
              <a:t>transitive dependency</a:t>
            </a:r>
            <a:r>
              <a:rPr lang="en-US" sz="2800" dirty="0"/>
              <a:t> occurs when:</a:t>
            </a:r>
            <a:br>
              <a:rPr lang="en-US" sz="2800" dirty="0"/>
            </a:br>
            <a:r>
              <a:rPr lang="en-US" sz="2800" dirty="0"/>
              <a:t>A → B and B → C,</a:t>
            </a:r>
            <a:br>
              <a:rPr lang="en-US" sz="2800" dirty="0"/>
            </a:br>
            <a:r>
              <a:rPr lang="en-US" sz="2800" dirty="0"/>
              <a:t>then A → C indirectly.</a:t>
            </a:r>
          </a:p>
          <a:p>
            <a:endParaRPr lang="en-US" sz="2800" dirty="0"/>
          </a:p>
          <a:p>
            <a:r>
              <a:rPr lang="en-US" sz="2800" dirty="0"/>
              <a:t>In database terms:</a:t>
            </a:r>
            <a:br>
              <a:rPr lang="en-US" sz="2800" dirty="0"/>
            </a:br>
            <a:r>
              <a:rPr lang="en-US" sz="2800" dirty="0"/>
              <a:t>If </a:t>
            </a:r>
            <a:r>
              <a:rPr lang="en-US" sz="2800" b="1" dirty="0" err="1"/>
              <a:t>Student_ID</a:t>
            </a:r>
            <a:r>
              <a:rPr lang="en-US" sz="2800" b="1" dirty="0"/>
              <a:t> → </a:t>
            </a:r>
            <a:r>
              <a:rPr lang="en-US" sz="2800" b="1" dirty="0" err="1"/>
              <a:t>Department_ID</a:t>
            </a:r>
            <a:r>
              <a:rPr lang="en-US" sz="2800" dirty="0"/>
              <a:t> and </a:t>
            </a:r>
            <a:r>
              <a:rPr lang="en-US" sz="2800" b="1" dirty="0" err="1"/>
              <a:t>Department_ID</a:t>
            </a:r>
            <a:r>
              <a:rPr lang="en-US" sz="2800" b="1" dirty="0"/>
              <a:t> → </a:t>
            </a:r>
            <a:r>
              <a:rPr lang="en-US" sz="2800" b="1" dirty="0" err="1"/>
              <a:t>Department_Name</a:t>
            </a:r>
            <a:r>
              <a:rPr lang="en-US" sz="2800" dirty="0"/>
              <a:t>,</a:t>
            </a:r>
            <a:br>
              <a:rPr lang="en-US" sz="2800" dirty="0"/>
            </a:br>
            <a:r>
              <a:rPr lang="en-US" sz="2800" dirty="0"/>
              <a:t>then </a:t>
            </a:r>
            <a:r>
              <a:rPr lang="en-US" sz="2800" b="1" dirty="0" err="1"/>
              <a:t>Student_ID</a:t>
            </a:r>
            <a:r>
              <a:rPr lang="en-US" sz="2800" b="1" dirty="0"/>
              <a:t> → </a:t>
            </a:r>
            <a:r>
              <a:rPr lang="en-US" sz="2800" b="1" dirty="0" err="1"/>
              <a:t>Department_Name</a:t>
            </a:r>
            <a:r>
              <a:rPr lang="en-US" sz="2800" dirty="0"/>
              <a:t> (transitively)</a:t>
            </a:r>
          </a:p>
        </p:txBody>
      </p:sp>
    </p:spTree>
    <p:extLst>
      <p:ext uri="{BB962C8B-B14F-4D97-AF65-F5344CB8AC3E}">
        <p14:creationId xmlns:p14="http://schemas.microsoft.com/office/powerpoint/2010/main" val="39975859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47EEECA-7822-46C9-B718-2BE0535B7F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956727"/>
              </p:ext>
            </p:extLst>
          </p:nvPr>
        </p:nvGraphicFramePr>
        <p:xfrm>
          <a:off x="628649" y="1017696"/>
          <a:ext cx="8235132" cy="1584960"/>
        </p:xfrm>
        <a:graphic>
          <a:graphicData uri="http://schemas.openxmlformats.org/drawingml/2006/table">
            <a:tbl>
              <a:tblPr/>
              <a:tblGrid>
                <a:gridCol w="1834332">
                  <a:extLst>
                    <a:ext uri="{9D8B030D-6E8A-4147-A177-3AD203B41FA5}">
                      <a16:colId xmlns:a16="http://schemas.microsoft.com/office/drawing/2014/main" val="3859830965"/>
                    </a:ext>
                  </a:extLst>
                </a:gridCol>
                <a:gridCol w="1946787">
                  <a:extLst>
                    <a:ext uri="{9D8B030D-6E8A-4147-A177-3AD203B41FA5}">
                      <a16:colId xmlns:a16="http://schemas.microsoft.com/office/drawing/2014/main" val="2863124395"/>
                    </a:ext>
                  </a:extLst>
                </a:gridCol>
                <a:gridCol w="2079522">
                  <a:extLst>
                    <a:ext uri="{9D8B030D-6E8A-4147-A177-3AD203B41FA5}">
                      <a16:colId xmlns:a16="http://schemas.microsoft.com/office/drawing/2014/main" val="321284553"/>
                    </a:ext>
                  </a:extLst>
                </a:gridCol>
                <a:gridCol w="2374491">
                  <a:extLst>
                    <a:ext uri="{9D8B030D-6E8A-4147-A177-3AD203B41FA5}">
                      <a16:colId xmlns:a16="http://schemas.microsoft.com/office/drawing/2014/main" val="42394681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Student_ID</a:t>
                      </a:r>
                      <a:endParaRPr lang="en-US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Student_Name</a:t>
                      </a:r>
                      <a:endParaRPr lang="en-US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Department_ID</a:t>
                      </a:r>
                      <a:endParaRPr lang="en-US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Department_Name</a:t>
                      </a:r>
                      <a:endParaRPr lang="en-US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13515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Rafi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D01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CSE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186128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Sima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CSE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074197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Hasan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D02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EEE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200519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84960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47EEECA-7822-46C9-B718-2BE0535B7F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052740"/>
              </p:ext>
            </p:extLst>
          </p:nvPr>
        </p:nvGraphicFramePr>
        <p:xfrm>
          <a:off x="281025" y="589992"/>
          <a:ext cx="8199298" cy="1584960"/>
        </p:xfrm>
        <a:graphic>
          <a:graphicData uri="http://schemas.openxmlformats.org/drawingml/2006/table">
            <a:tbl>
              <a:tblPr/>
              <a:tblGrid>
                <a:gridCol w="1739504">
                  <a:extLst>
                    <a:ext uri="{9D8B030D-6E8A-4147-A177-3AD203B41FA5}">
                      <a16:colId xmlns:a16="http://schemas.microsoft.com/office/drawing/2014/main" val="3859830965"/>
                    </a:ext>
                  </a:extLst>
                </a:gridCol>
                <a:gridCol w="1917290">
                  <a:extLst>
                    <a:ext uri="{9D8B030D-6E8A-4147-A177-3AD203B41FA5}">
                      <a16:colId xmlns:a16="http://schemas.microsoft.com/office/drawing/2014/main" val="2863124395"/>
                    </a:ext>
                  </a:extLst>
                </a:gridCol>
                <a:gridCol w="2064775">
                  <a:extLst>
                    <a:ext uri="{9D8B030D-6E8A-4147-A177-3AD203B41FA5}">
                      <a16:colId xmlns:a16="http://schemas.microsoft.com/office/drawing/2014/main" val="321284553"/>
                    </a:ext>
                  </a:extLst>
                </a:gridCol>
                <a:gridCol w="2477729">
                  <a:extLst>
                    <a:ext uri="{9D8B030D-6E8A-4147-A177-3AD203B41FA5}">
                      <a16:colId xmlns:a16="http://schemas.microsoft.com/office/drawing/2014/main" val="42394681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Student_ID</a:t>
                      </a:r>
                      <a:endParaRPr lang="en-US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Student_Name</a:t>
                      </a:r>
                      <a:endParaRPr lang="en-US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Department_ID</a:t>
                      </a:r>
                      <a:endParaRPr lang="en-US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Department_Name</a:t>
                      </a:r>
                      <a:endParaRPr lang="en-US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13515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Rafi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D01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CSE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186128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Sima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CSE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074197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Hasan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D02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EEE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h="50800" prst="divo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200519375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61D840B-735D-4470-9869-DC672A39F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25" y="3429000"/>
            <a:ext cx="8581950" cy="2224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0813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A53044E-F722-42AD-AC75-524BB28201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219982"/>
              </p:ext>
            </p:extLst>
          </p:nvPr>
        </p:nvGraphicFramePr>
        <p:xfrm>
          <a:off x="422172" y="722727"/>
          <a:ext cx="7886700" cy="1584960"/>
        </p:xfrm>
        <a:graphic>
          <a:graphicData uri="http://schemas.openxmlformats.org/drawingml/2006/table">
            <a:tbl>
              <a:tblPr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</a:tblPr>
              <a:tblGrid>
                <a:gridCol w="2557002">
                  <a:extLst>
                    <a:ext uri="{9D8B030D-6E8A-4147-A177-3AD203B41FA5}">
                      <a16:colId xmlns:a16="http://schemas.microsoft.com/office/drawing/2014/main" val="912491562"/>
                    </a:ext>
                  </a:extLst>
                </a:gridCol>
                <a:gridCol w="2700798">
                  <a:extLst>
                    <a:ext uri="{9D8B030D-6E8A-4147-A177-3AD203B41FA5}">
                      <a16:colId xmlns:a16="http://schemas.microsoft.com/office/drawing/2014/main" val="27378019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853050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Student_ID</a:t>
                      </a:r>
                      <a:endParaRPr lang="en-US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Student_Name</a:t>
                      </a:r>
                      <a:endParaRPr lang="en-US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Department_ID</a:t>
                      </a:r>
                      <a:endParaRPr lang="en-US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620055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Rafi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692814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Sima</a:t>
                      </a:r>
                      <a:endParaRPr 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339916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Hasan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1025650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C57EF07-7957-40E4-9ECF-E74D7EDFF8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387564"/>
              </p:ext>
            </p:extLst>
          </p:nvPr>
        </p:nvGraphicFramePr>
        <p:xfrm>
          <a:off x="422172" y="3361594"/>
          <a:ext cx="7886700" cy="118872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938437141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5849951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Department_ID</a:t>
                      </a:r>
                      <a:endParaRPr lang="en-US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prst="riblet"/>
                      <a:lightRig rig="flood" dir="t"/>
                    </a:cell3D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Department_Name</a:t>
                      </a:r>
                      <a:endParaRPr lang="en-US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prst="riblet"/>
                      <a:lightRig rig="flood" dir="t"/>
                    </a:cell3D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646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prst="riblet"/>
                      <a:lightRig rig="flood" dir="t"/>
                    </a:cell3D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prst="riblet"/>
                      <a:lightRig rig="flood" dir="t"/>
                    </a:cell3D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977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D02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prst="riblet"/>
                      <a:lightRig rig="flood" dir="t"/>
                    </a:cell3D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EEE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prst="riblet"/>
                      <a:lightRig rig="flood" dir="t"/>
                    </a:cell3D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471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89238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2485674-DD2C-4782-8DBC-E73E31C3A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Third Normal Form 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B51779-A5B1-4283-B1FB-5F7D834A75A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752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Custom 25">
      <a:dk1>
        <a:sysClr val="windowText" lastClr="000000"/>
      </a:dk1>
      <a:lt1>
        <a:sysClr val="window" lastClr="FFFFFF"/>
      </a:lt1>
      <a:dk2>
        <a:srgbClr val="FFCD00"/>
      </a:dk2>
      <a:lt2>
        <a:srgbClr val="00AEDE"/>
      </a:lt2>
      <a:accent1>
        <a:srgbClr val="002E62"/>
      </a:accent1>
      <a:accent2>
        <a:srgbClr val="004CB9"/>
      </a:accent2>
      <a:accent3>
        <a:srgbClr val="FF9D00"/>
      </a:accent3>
      <a:accent4>
        <a:srgbClr val="57A773"/>
      </a:accent4>
      <a:accent5>
        <a:srgbClr val="D11149"/>
      </a:accent5>
      <a:accent6>
        <a:srgbClr val="00111F"/>
      </a:accent6>
      <a:hlink>
        <a:srgbClr val="FFFFFF"/>
      </a:hlink>
      <a:folHlink>
        <a:srgbClr val="FFFFFF"/>
      </a:folHlink>
    </a:clrScheme>
    <a:fontScheme name="Custom 22">
      <a:majorFont>
        <a:latin typeface="Verdana"/>
        <a:ea typeface=""/>
        <a:cs typeface=""/>
      </a:majorFont>
      <a:minorFont>
        <a:latin typeface="Lucida Grand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NBPL_GeneralDesign02_MO - v4" id="{6FF23145-4007-4574-94C2-B80E45F46FD9}" vid="{0FB396FC-CF2E-452A-9B17-DA6C73B1359A}"/>
    </a:ext>
  </a:extLst>
</a:theme>
</file>

<file path=ppt/theme/theme3.xml><?xml version="1.0" encoding="utf-8"?>
<a:theme xmlns:a="http://schemas.openxmlformats.org/drawingml/2006/main" name="db-book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CCCC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E2E2"/>
      </a:accent5>
      <a:accent6>
        <a:srgbClr val="B9B900"/>
      </a:accent6>
      <a:hlink>
        <a:srgbClr val="FF9900"/>
      </a:hlink>
      <a:folHlink>
        <a:srgbClr val="FF9933"/>
      </a:folHlink>
    </a:clrScheme>
    <a:fontScheme name="db-book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db-book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book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book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1494</TotalTime>
  <Words>941</Words>
  <Application>Microsoft Office PowerPoint</Application>
  <PresentationFormat>On-screen Show (4:3)</PresentationFormat>
  <Paragraphs>245</Paragraphs>
  <Slides>41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4" baseType="lpstr">
      <vt:lpstr>Arial</vt:lpstr>
      <vt:lpstr>Calibri</vt:lpstr>
      <vt:lpstr>Calibri Light</vt:lpstr>
      <vt:lpstr>Helvetica</vt:lpstr>
      <vt:lpstr>Lucida Grande</vt:lpstr>
      <vt:lpstr>Monotype Sorts</vt:lpstr>
      <vt:lpstr>Times New Roman</vt:lpstr>
      <vt:lpstr>Verdana</vt:lpstr>
      <vt:lpstr>Wingdings</vt:lpstr>
      <vt:lpstr>Office Theme</vt:lpstr>
      <vt:lpstr>1_Office Theme</vt:lpstr>
      <vt:lpstr>db-book</vt:lpstr>
      <vt:lpstr>Clip</vt:lpstr>
      <vt:lpstr>Database Management Systems</vt:lpstr>
      <vt:lpstr> Normalization</vt:lpstr>
      <vt:lpstr>Keep Decomposition Conditions </vt:lpstr>
      <vt:lpstr>Database Normalization Rules</vt:lpstr>
      <vt:lpstr>Sample Database for Sales</vt:lpstr>
      <vt:lpstr>Initial Form Evaluation</vt:lpstr>
      <vt:lpstr>Initial Objects</vt:lpstr>
      <vt:lpstr>Initial Form Evaluation</vt:lpstr>
      <vt:lpstr>Problems with Repeating Sections</vt:lpstr>
      <vt:lpstr>Problems with Repeating Sections</vt:lpstr>
      <vt:lpstr>Database Normalization Rules</vt:lpstr>
      <vt:lpstr>Problems with Repeating Sections</vt:lpstr>
      <vt:lpstr>First Normal Form Definition   Eliminating Repeated Groups</vt:lpstr>
      <vt:lpstr>PowerPoint Presentation</vt:lpstr>
      <vt:lpstr>First Normal Form Definition   Eliminating Repeated Groups</vt:lpstr>
      <vt:lpstr>First Normal Form Definition   Eliminating Repeated Groups</vt:lpstr>
      <vt:lpstr>Keep Decomposition Conditions </vt:lpstr>
      <vt:lpstr>Multiple Repeating: Independent Groups</vt:lpstr>
      <vt:lpstr>First Normal Form Definition   Eliminating Repeated Groups</vt:lpstr>
      <vt:lpstr>First Normal Form Problems (Data)</vt:lpstr>
      <vt:lpstr>PowerPoint Presentation</vt:lpstr>
      <vt:lpstr>PowerPoint Presentation</vt:lpstr>
      <vt:lpstr>Database Normalization Rules</vt:lpstr>
      <vt:lpstr>First Normal Form Problems (Data)</vt:lpstr>
      <vt:lpstr>Second Normal Form Definition Eliminating Redundant Data</vt:lpstr>
      <vt:lpstr>Second Normal Form Example</vt:lpstr>
      <vt:lpstr>Second Normal Form Example (Data)</vt:lpstr>
      <vt:lpstr>PowerPoint Presentation</vt:lpstr>
      <vt:lpstr>PowerPoint Presentation</vt:lpstr>
      <vt:lpstr>PowerPoint Presentation</vt:lpstr>
      <vt:lpstr>PowerPoint Presentation</vt:lpstr>
      <vt:lpstr>Second Normal Form Problems (Data)</vt:lpstr>
      <vt:lpstr>Database Normalization Rules</vt:lpstr>
      <vt:lpstr>Second Normal Form Problems (Data)</vt:lpstr>
      <vt:lpstr>Third Normal Form Definition Eliminating Columns not Dependant on Keys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Third Normal Form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CSE Head</dc:creator>
  <cp:lastModifiedBy>CSE Head</cp:lastModifiedBy>
  <cp:revision>18</cp:revision>
  <dcterms:created xsi:type="dcterms:W3CDTF">2025-11-08T17:12:04Z</dcterms:created>
  <dcterms:modified xsi:type="dcterms:W3CDTF">2026-05-18T04:34:53Z</dcterms:modified>
</cp:coreProperties>
</file>