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59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33903" y="1666113"/>
            <a:ext cx="6124193" cy="1763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68597" y="91119"/>
            <a:ext cx="5532501" cy="13545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6F2F9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03291" y="2030476"/>
            <a:ext cx="6908800" cy="3333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1.png"/><Relationship Id="rId7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openxmlformats.org/officeDocument/2006/relationships/image" Target="../media/image24.png"/><Relationship Id="rId4" Type="http://schemas.openxmlformats.org/officeDocument/2006/relationships/image" Target="../media/image5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2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3.png"/><Relationship Id="rId9" Type="http://schemas.openxmlformats.org/officeDocument/2006/relationships/image" Target="../media/image6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007110" marR="5080" indent="-989965">
              <a:lnSpc>
                <a:spcPts val="6480"/>
              </a:lnSpc>
              <a:spcBef>
                <a:spcPts val="915"/>
              </a:spcBef>
            </a:pPr>
            <a:r>
              <a:rPr sz="6000" b="0" dirty="0">
                <a:solidFill>
                  <a:srgbClr val="000000"/>
                </a:solidFill>
                <a:latin typeface="Calibri Light"/>
                <a:cs typeface="Calibri Light"/>
              </a:rPr>
              <a:t>ALU</a:t>
            </a:r>
            <a:r>
              <a:rPr sz="6000" b="0" spc="-32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spc="-10" dirty="0">
                <a:solidFill>
                  <a:srgbClr val="000000"/>
                </a:solidFill>
                <a:latin typeface="Calibri Light"/>
                <a:cs typeface="Calibri Light"/>
              </a:rPr>
              <a:t>Design</a:t>
            </a:r>
            <a:r>
              <a:rPr sz="6000" b="0" spc="-31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spc="-65" dirty="0">
                <a:solidFill>
                  <a:srgbClr val="000000"/>
                </a:solidFill>
                <a:latin typeface="Calibri Light"/>
                <a:cs typeface="Calibri Light"/>
              </a:rPr>
              <a:t>Example </a:t>
            </a:r>
            <a:r>
              <a:rPr sz="6000" b="0" spc="-40" dirty="0">
                <a:solidFill>
                  <a:srgbClr val="000000"/>
                </a:solidFill>
                <a:latin typeface="Calibri Light"/>
                <a:cs typeface="Calibri Light"/>
              </a:rPr>
              <a:t>(1-</a:t>
            </a:r>
            <a:r>
              <a:rPr sz="6000" b="0" dirty="0">
                <a:solidFill>
                  <a:srgbClr val="000000"/>
                </a:solidFill>
                <a:latin typeface="Calibri Light"/>
                <a:cs typeface="Calibri Light"/>
              </a:rPr>
              <a:t>bit</a:t>
            </a:r>
            <a:r>
              <a:rPr sz="6000" b="0" spc="-16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dirty="0">
                <a:solidFill>
                  <a:srgbClr val="000000"/>
                </a:solidFill>
                <a:latin typeface="Calibri Light"/>
                <a:cs typeface="Calibri Light"/>
              </a:rPr>
              <a:t>&amp;</a:t>
            </a:r>
            <a:r>
              <a:rPr sz="6000" b="0" spc="-17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6000" b="0" spc="-40" dirty="0">
                <a:solidFill>
                  <a:srgbClr val="000000"/>
                </a:solidFill>
                <a:latin typeface="Calibri Light"/>
                <a:cs typeface="Calibri Light"/>
              </a:rPr>
              <a:t>4-</a:t>
            </a:r>
            <a:r>
              <a:rPr sz="6000" b="0" spc="-20" dirty="0">
                <a:solidFill>
                  <a:srgbClr val="000000"/>
                </a:solidFill>
                <a:latin typeface="Calibri Light"/>
                <a:cs typeface="Calibri Light"/>
              </a:rPr>
              <a:t>bit)</a:t>
            </a:r>
            <a:endParaRPr sz="6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84597" y="3843273"/>
            <a:ext cx="3749803" cy="1002069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448309" marR="5080" indent="-436245">
              <a:lnSpc>
                <a:spcPct val="95200"/>
              </a:lnSpc>
              <a:spcBef>
                <a:spcPts val="290"/>
              </a:spcBef>
            </a:pPr>
            <a:r>
              <a:rPr lang="en-US" sz="3300" dirty="0">
                <a:latin typeface="Calibri"/>
                <a:cs typeface="Calibri"/>
              </a:rPr>
              <a:t>Protik </a:t>
            </a:r>
            <a:r>
              <a:rPr lang="en-US" sz="3300" dirty="0" err="1">
                <a:latin typeface="Calibri"/>
                <a:cs typeface="Calibri"/>
              </a:rPr>
              <a:t>Chakroborty</a:t>
            </a:r>
            <a:r>
              <a:rPr sz="3300" spc="-10" dirty="0">
                <a:latin typeface="Calibri"/>
                <a:cs typeface="Calibri"/>
              </a:rPr>
              <a:t> Lecturer </a:t>
            </a:r>
            <a:r>
              <a:rPr sz="3300" dirty="0">
                <a:latin typeface="Calibri"/>
                <a:cs typeface="Calibri"/>
              </a:rPr>
              <a:t>CSE,</a:t>
            </a:r>
            <a:r>
              <a:rPr sz="3300" spc="-50" dirty="0">
                <a:latin typeface="Calibri"/>
                <a:cs typeface="Calibri"/>
              </a:rPr>
              <a:t> </a:t>
            </a:r>
            <a:r>
              <a:rPr lang="en-US" sz="3300" spc="-20" dirty="0">
                <a:latin typeface="Calibri"/>
                <a:cs typeface="Calibri"/>
              </a:rPr>
              <a:t>VU</a:t>
            </a:r>
            <a:endParaRPr sz="3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0042" y="158572"/>
            <a:ext cx="2365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ALU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in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CPU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474845" y="2688716"/>
            <a:ext cx="1648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Control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Unit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(CU)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7382" y="3143503"/>
            <a:ext cx="117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Register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1689" y="2725928"/>
            <a:ext cx="588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RAM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(Main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91689" y="3274567"/>
            <a:ext cx="911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Memory)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837387"/>
            <a:ext cx="20783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Program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Counter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(PC)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1500" y="5335016"/>
            <a:ext cx="15347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Arithmetic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Unit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(ALU)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989326" y="1187577"/>
            <a:ext cx="5346700" cy="4159885"/>
            <a:chOff x="2989326" y="1187577"/>
            <a:chExt cx="5346700" cy="4159885"/>
          </a:xfrm>
        </p:grpSpPr>
        <p:sp>
          <p:nvSpPr>
            <p:cNvPr id="10" name="object 10"/>
            <p:cNvSpPr/>
            <p:nvPr/>
          </p:nvSpPr>
          <p:spPr>
            <a:xfrm>
              <a:off x="2989326" y="1328165"/>
              <a:ext cx="1382395" cy="381000"/>
            </a:xfrm>
            <a:custGeom>
              <a:avLst/>
              <a:gdLst/>
              <a:ahLst/>
              <a:cxnLst/>
              <a:rect l="l" t="t" r="r" b="b"/>
              <a:pathLst>
                <a:path w="1382395" h="381000">
                  <a:moveTo>
                    <a:pt x="1379220" y="38100"/>
                  </a:moveTo>
                  <a:lnTo>
                    <a:pt x="1360170" y="28575"/>
                  </a:lnTo>
                  <a:lnTo>
                    <a:pt x="1303020" y="0"/>
                  </a:lnTo>
                  <a:lnTo>
                    <a:pt x="1303020" y="28575"/>
                  </a:lnTo>
                  <a:lnTo>
                    <a:pt x="0" y="28575"/>
                  </a:lnTo>
                  <a:lnTo>
                    <a:pt x="0" y="47625"/>
                  </a:lnTo>
                  <a:lnTo>
                    <a:pt x="1303020" y="47625"/>
                  </a:lnTo>
                  <a:lnTo>
                    <a:pt x="1303020" y="76200"/>
                  </a:lnTo>
                  <a:lnTo>
                    <a:pt x="1360170" y="47625"/>
                  </a:lnTo>
                  <a:lnTo>
                    <a:pt x="1379220" y="38100"/>
                  </a:lnTo>
                  <a:close/>
                </a:path>
                <a:path w="1382395" h="381000">
                  <a:moveTo>
                    <a:pt x="1382268" y="342900"/>
                  </a:moveTo>
                  <a:lnTo>
                    <a:pt x="1363218" y="333375"/>
                  </a:lnTo>
                  <a:lnTo>
                    <a:pt x="1306068" y="304800"/>
                  </a:lnTo>
                  <a:lnTo>
                    <a:pt x="1306068" y="333375"/>
                  </a:lnTo>
                  <a:lnTo>
                    <a:pt x="3048" y="333375"/>
                  </a:lnTo>
                  <a:lnTo>
                    <a:pt x="3048" y="352425"/>
                  </a:lnTo>
                  <a:lnTo>
                    <a:pt x="1306068" y="352425"/>
                  </a:lnTo>
                  <a:lnTo>
                    <a:pt x="1306068" y="381000"/>
                  </a:lnTo>
                  <a:lnTo>
                    <a:pt x="1363218" y="352425"/>
                  </a:lnTo>
                  <a:lnTo>
                    <a:pt x="1382268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70070" y="1197102"/>
              <a:ext cx="3956685" cy="4140835"/>
            </a:xfrm>
            <a:custGeom>
              <a:avLst/>
              <a:gdLst/>
              <a:ahLst/>
              <a:cxnLst/>
              <a:rect l="l" t="t" r="r" b="b"/>
              <a:pathLst>
                <a:path w="3956684" h="4140835">
                  <a:moveTo>
                    <a:pt x="2667000" y="4140708"/>
                  </a:moveTo>
                  <a:lnTo>
                    <a:pt x="3956304" y="4140708"/>
                  </a:lnTo>
                  <a:lnTo>
                    <a:pt x="3956304" y="2616708"/>
                  </a:lnTo>
                  <a:lnTo>
                    <a:pt x="2667000" y="2616708"/>
                  </a:lnTo>
                  <a:lnTo>
                    <a:pt x="2667000" y="4140708"/>
                  </a:lnTo>
                  <a:close/>
                </a:path>
                <a:path w="3956684" h="4140835">
                  <a:moveTo>
                    <a:pt x="0" y="1524000"/>
                  </a:moveTo>
                  <a:lnTo>
                    <a:pt x="1882139" y="1524000"/>
                  </a:lnTo>
                  <a:lnTo>
                    <a:pt x="1882139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419980" y="1203705"/>
            <a:ext cx="58610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[1]</a:t>
            </a:r>
            <a:endParaRPr sz="18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55"/>
              </a:spcBef>
            </a:pPr>
            <a:r>
              <a:rPr sz="1800" dirty="0">
                <a:latin typeface="Calibri"/>
                <a:cs typeface="Calibri"/>
              </a:rPr>
              <a:t>op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[0]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9501" y="1190625"/>
            <a:ext cx="2456180" cy="2120900"/>
            <a:chOff x="579501" y="1190625"/>
            <a:chExt cx="2456180" cy="2120900"/>
          </a:xfrm>
        </p:grpSpPr>
        <p:sp>
          <p:nvSpPr>
            <p:cNvPr id="14" name="object 14"/>
            <p:cNvSpPr/>
            <p:nvPr/>
          </p:nvSpPr>
          <p:spPr>
            <a:xfrm>
              <a:off x="1959101" y="1200150"/>
              <a:ext cx="1066800" cy="1524000"/>
            </a:xfrm>
            <a:custGeom>
              <a:avLst/>
              <a:gdLst/>
              <a:ahLst/>
              <a:cxnLst/>
              <a:rect l="l" t="t" r="r" b="b"/>
              <a:pathLst>
                <a:path w="1066800" h="1524000">
                  <a:moveTo>
                    <a:pt x="10668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066800" y="15240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9026" y="1200150"/>
              <a:ext cx="2437130" cy="1524000"/>
            </a:xfrm>
            <a:custGeom>
              <a:avLst/>
              <a:gdLst/>
              <a:ahLst/>
              <a:cxnLst/>
              <a:rect l="l" t="t" r="r" b="b"/>
              <a:pathLst>
                <a:path w="2437130" h="1524000">
                  <a:moveTo>
                    <a:pt x="1370076" y="1524000"/>
                  </a:moveTo>
                  <a:lnTo>
                    <a:pt x="2436876" y="1524000"/>
                  </a:lnTo>
                  <a:lnTo>
                    <a:pt x="2436876" y="0"/>
                  </a:lnTo>
                  <a:lnTo>
                    <a:pt x="1370076" y="0"/>
                  </a:lnTo>
                  <a:lnTo>
                    <a:pt x="1370076" y="1524000"/>
                  </a:lnTo>
                  <a:close/>
                </a:path>
                <a:path w="2437130" h="1524000">
                  <a:moveTo>
                    <a:pt x="0" y="1524000"/>
                  </a:moveTo>
                  <a:lnTo>
                    <a:pt x="864108" y="1524000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  <a:path w="2437130" h="1524000">
                  <a:moveTo>
                    <a:pt x="257555" y="1524000"/>
                  </a:moveTo>
                  <a:lnTo>
                    <a:pt x="405383" y="1188720"/>
                  </a:lnTo>
                  <a:lnTo>
                    <a:pt x="553211" y="1524000"/>
                  </a:lnTo>
                  <a:lnTo>
                    <a:pt x="257555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51609" y="1529334"/>
              <a:ext cx="508634" cy="76200"/>
            </a:xfrm>
            <a:custGeom>
              <a:avLst/>
              <a:gdLst/>
              <a:ahLst/>
              <a:cxnLst/>
              <a:rect l="l" t="t" r="r" b="b"/>
              <a:pathLst>
                <a:path w="508635" h="76200">
                  <a:moveTo>
                    <a:pt x="432434" y="0"/>
                  </a:moveTo>
                  <a:lnTo>
                    <a:pt x="432434" y="76200"/>
                  </a:lnTo>
                  <a:lnTo>
                    <a:pt x="489584" y="47625"/>
                  </a:lnTo>
                  <a:lnTo>
                    <a:pt x="445134" y="47625"/>
                  </a:lnTo>
                  <a:lnTo>
                    <a:pt x="445134" y="28575"/>
                  </a:lnTo>
                  <a:lnTo>
                    <a:pt x="489584" y="28575"/>
                  </a:lnTo>
                  <a:lnTo>
                    <a:pt x="432434" y="0"/>
                  </a:lnTo>
                  <a:close/>
                </a:path>
                <a:path w="508635" h="76200">
                  <a:moveTo>
                    <a:pt x="43243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32434" y="47625"/>
                  </a:lnTo>
                  <a:lnTo>
                    <a:pt x="432434" y="28575"/>
                  </a:lnTo>
                  <a:close/>
                </a:path>
                <a:path w="508635" h="76200">
                  <a:moveTo>
                    <a:pt x="489584" y="28575"/>
                  </a:moveTo>
                  <a:lnTo>
                    <a:pt x="445134" y="28575"/>
                  </a:lnTo>
                  <a:lnTo>
                    <a:pt x="445134" y="47625"/>
                  </a:lnTo>
                  <a:lnTo>
                    <a:pt x="489584" y="47625"/>
                  </a:lnTo>
                  <a:lnTo>
                    <a:pt x="508634" y="38100"/>
                  </a:lnTo>
                  <a:lnTo>
                    <a:pt x="489584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69086" y="1567434"/>
              <a:ext cx="571500" cy="1734820"/>
            </a:xfrm>
            <a:custGeom>
              <a:avLst/>
              <a:gdLst/>
              <a:ahLst/>
              <a:cxnLst/>
              <a:rect l="l" t="t" r="r" b="b"/>
              <a:pathLst>
                <a:path w="571500" h="1734820">
                  <a:moveTo>
                    <a:pt x="571500" y="0"/>
                  </a:moveTo>
                  <a:lnTo>
                    <a:pt x="571500" y="1578102"/>
                  </a:lnTo>
                </a:path>
                <a:path w="571500" h="1734820">
                  <a:moveTo>
                    <a:pt x="0" y="1734312"/>
                  </a:moveTo>
                  <a:lnTo>
                    <a:pt x="496824" y="1734312"/>
                  </a:lnTo>
                  <a:lnTo>
                    <a:pt x="496824" y="1399032"/>
                  </a:lnTo>
                  <a:lnTo>
                    <a:pt x="0" y="1399032"/>
                  </a:lnTo>
                  <a:lnTo>
                    <a:pt x="0" y="1734312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88211" y="2968574"/>
            <a:ext cx="256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74700" y="1533905"/>
            <a:ext cx="1375410" cy="1613535"/>
            <a:chOff x="274700" y="1533905"/>
            <a:chExt cx="1375410" cy="1613535"/>
          </a:xfrm>
        </p:grpSpPr>
        <p:sp>
          <p:nvSpPr>
            <p:cNvPr id="20" name="object 20"/>
            <p:cNvSpPr/>
            <p:nvPr/>
          </p:nvSpPr>
          <p:spPr>
            <a:xfrm>
              <a:off x="284225" y="1559813"/>
              <a:ext cx="1356360" cy="1578610"/>
            </a:xfrm>
            <a:custGeom>
              <a:avLst/>
              <a:gdLst/>
              <a:ahLst/>
              <a:cxnLst/>
              <a:rect l="l" t="t" r="r" b="b"/>
              <a:pathLst>
                <a:path w="1356360" h="1578610">
                  <a:moveTo>
                    <a:pt x="1355979" y="1574291"/>
                  </a:moveTo>
                  <a:lnTo>
                    <a:pt x="1281684" y="1574291"/>
                  </a:lnTo>
                </a:path>
                <a:path w="1356360" h="1578610">
                  <a:moveTo>
                    <a:pt x="784110" y="1574291"/>
                  </a:moveTo>
                  <a:lnTo>
                    <a:pt x="0" y="1574291"/>
                  </a:lnTo>
                </a:path>
                <a:path w="1356360" h="1578610">
                  <a:moveTo>
                    <a:pt x="3048" y="0"/>
                  </a:moveTo>
                  <a:lnTo>
                    <a:pt x="3048" y="15781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5081" y="1533905"/>
              <a:ext cx="307340" cy="76200"/>
            </a:xfrm>
            <a:custGeom>
              <a:avLst/>
              <a:gdLst/>
              <a:ahLst/>
              <a:cxnLst/>
              <a:rect l="l" t="t" r="r" b="b"/>
              <a:pathLst>
                <a:path w="307340" h="76200">
                  <a:moveTo>
                    <a:pt x="231140" y="0"/>
                  </a:moveTo>
                  <a:lnTo>
                    <a:pt x="231140" y="76200"/>
                  </a:lnTo>
                  <a:lnTo>
                    <a:pt x="288290" y="47625"/>
                  </a:lnTo>
                  <a:lnTo>
                    <a:pt x="243840" y="47625"/>
                  </a:lnTo>
                  <a:lnTo>
                    <a:pt x="243840" y="28575"/>
                  </a:lnTo>
                  <a:lnTo>
                    <a:pt x="288290" y="28575"/>
                  </a:lnTo>
                  <a:lnTo>
                    <a:pt x="231140" y="0"/>
                  </a:lnTo>
                  <a:close/>
                </a:path>
                <a:path w="307340" h="76200">
                  <a:moveTo>
                    <a:pt x="23114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231140" y="47625"/>
                  </a:lnTo>
                  <a:lnTo>
                    <a:pt x="231140" y="28575"/>
                  </a:lnTo>
                  <a:close/>
                </a:path>
                <a:path w="307340" h="76200">
                  <a:moveTo>
                    <a:pt x="288290" y="28575"/>
                  </a:moveTo>
                  <a:lnTo>
                    <a:pt x="243840" y="28575"/>
                  </a:lnTo>
                  <a:lnTo>
                    <a:pt x="243840" y="47625"/>
                  </a:lnTo>
                  <a:lnTo>
                    <a:pt x="288290" y="47625"/>
                  </a:lnTo>
                  <a:lnTo>
                    <a:pt x="307340" y="38100"/>
                  </a:lnTo>
                  <a:lnTo>
                    <a:pt x="28829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541523" y="2022728"/>
            <a:ext cx="455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25" dirty="0">
                <a:latin typeface="Calibri"/>
                <a:cs typeface="Calibri"/>
              </a:rPr>
              <a:t>[0]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351782" y="3489197"/>
            <a:ext cx="1882139" cy="2263140"/>
          </a:xfrm>
          <a:custGeom>
            <a:avLst/>
            <a:gdLst/>
            <a:ahLst/>
            <a:cxnLst/>
            <a:rect l="l" t="t" r="r" b="b"/>
            <a:pathLst>
              <a:path w="1882139" h="2263140">
                <a:moveTo>
                  <a:pt x="0" y="2263140"/>
                </a:moveTo>
                <a:lnTo>
                  <a:pt x="1882139" y="2263140"/>
                </a:lnTo>
                <a:lnTo>
                  <a:pt x="1882139" y="0"/>
                </a:lnTo>
                <a:lnTo>
                  <a:pt x="0" y="0"/>
                </a:lnTo>
                <a:lnTo>
                  <a:pt x="0" y="226314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418838" y="3673094"/>
            <a:ext cx="268605" cy="622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Ra Rb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22775" y="4384294"/>
            <a:ext cx="418465" cy="80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419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Wr </a:t>
            </a:r>
            <a:r>
              <a:rPr sz="1800" spc="-40" dirty="0">
                <a:latin typeface="Calibri"/>
                <a:cs typeface="Calibri"/>
              </a:rPr>
              <a:t>Wrd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16661" y="1458849"/>
            <a:ext cx="8007984" cy="4836160"/>
            <a:chOff x="716661" y="1458849"/>
            <a:chExt cx="8007984" cy="4836160"/>
          </a:xfrm>
        </p:grpSpPr>
        <p:sp>
          <p:nvSpPr>
            <p:cNvPr id="27" name="object 27"/>
            <p:cNvSpPr/>
            <p:nvPr/>
          </p:nvSpPr>
          <p:spPr>
            <a:xfrm>
              <a:off x="4345686" y="5453633"/>
              <a:ext cx="335280" cy="294640"/>
            </a:xfrm>
            <a:custGeom>
              <a:avLst/>
              <a:gdLst/>
              <a:ahLst/>
              <a:cxnLst/>
              <a:rect l="l" t="t" r="r" b="b"/>
              <a:pathLst>
                <a:path w="335279" h="294639">
                  <a:moveTo>
                    <a:pt x="0" y="0"/>
                  </a:moveTo>
                  <a:lnTo>
                    <a:pt x="0" y="294131"/>
                  </a:lnTo>
                  <a:lnTo>
                    <a:pt x="335279" y="1470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25902" y="1917954"/>
              <a:ext cx="1655445" cy="3830320"/>
            </a:xfrm>
            <a:custGeom>
              <a:avLst/>
              <a:gdLst/>
              <a:ahLst/>
              <a:cxnLst/>
              <a:rect l="l" t="t" r="r" b="b"/>
              <a:pathLst>
                <a:path w="1655445" h="3830320">
                  <a:moveTo>
                    <a:pt x="1319784" y="3535680"/>
                  </a:moveTo>
                  <a:lnTo>
                    <a:pt x="1655064" y="3682746"/>
                  </a:lnTo>
                  <a:lnTo>
                    <a:pt x="1319784" y="3829812"/>
                  </a:lnTo>
                  <a:lnTo>
                    <a:pt x="1319784" y="3535680"/>
                  </a:lnTo>
                  <a:close/>
                </a:path>
                <a:path w="1655445" h="3830320">
                  <a:moveTo>
                    <a:pt x="0" y="0"/>
                  </a:moveTo>
                  <a:lnTo>
                    <a:pt x="779780" y="0"/>
                  </a:lnTo>
                </a:path>
                <a:path w="1655445" h="3830320">
                  <a:moveTo>
                    <a:pt x="780288" y="0"/>
                  </a:moveTo>
                  <a:lnTo>
                    <a:pt x="780288" y="19453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06190" y="3826002"/>
              <a:ext cx="534035" cy="76200"/>
            </a:xfrm>
            <a:custGeom>
              <a:avLst/>
              <a:gdLst/>
              <a:ahLst/>
              <a:cxnLst/>
              <a:rect l="l" t="t" r="r" b="b"/>
              <a:pathLst>
                <a:path w="534035" h="76200">
                  <a:moveTo>
                    <a:pt x="457835" y="0"/>
                  </a:moveTo>
                  <a:lnTo>
                    <a:pt x="457835" y="76200"/>
                  </a:lnTo>
                  <a:lnTo>
                    <a:pt x="514985" y="47625"/>
                  </a:lnTo>
                  <a:lnTo>
                    <a:pt x="470535" y="47625"/>
                  </a:lnTo>
                  <a:lnTo>
                    <a:pt x="470535" y="28575"/>
                  </a:lnTo>
                  <a:lnTo>
                    <a:pt x="514985" y="28575"/>
                  </a:lnTo>
                  <a:lnTo>
                    <a:pt x="457835" y="0"/>
                  </a:lnTo>
                  <a:close/>
                </a:path>
                <a:path w="534035" h="76200">
                  <a:moveTo>
                    <a:pt x="457835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57835" y="47625"/>
                  </a:lnTo>
                  <a:lnTo>
                    <a:pt x="457835" y="28575"/>
                  </a:lnTo>
                  <a:close/>
                </a:path>
                <a:path w="534035" h="76200">
                  <a:moveTo>
                    <a:pt x="514985" y="28575"/>
                  </a:moveTo>
                  <a:lnTo>
                    <a:pt x="470535" y="28575"/>
                  </a:lnTo>
                  <a:lnTo>
                    <a:pt x="470535" y="47625"/>
                  </a:lnTo>
                  <a:lnTo>
                    <a:pt x="514985" y="47625"/>
                  </a:lnTo>
                  <a:lnTo>
                    <a:pt x="534035" y="38100"/>
                  </a:lnTo>
                  <a:lnTo>
                    <a:pt x="51498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25902" y="2207514"/>
              <a:ext cx="559435" cy="1942464"/>
            </a:xfrm>
            <a:custGeom>
              <a:avLst/>
              <a:gdLst/>
              <a:ahLst/>
              <a:cxnLst/>
              <a:rect l="l" t="t" r="r" b="b"/>
              <a:pathLst>
                <a:path w="559435" h="1942464">
                  <a:moveTo>
                    <a:pt x="0" y="0"/>
                  </a:moveTo>
                  <a:lnTo>
                    <a:pt x="559308" y="0"/>
                  </a:lnTo>
                </a:path>
                <a:path w="559435" h="1942464">
                  <a:moveTo>
                    <a:pt x="556260" y="0"/>
                  </a:moveTo>
                  <a:lnTo>
                    <a:pt x="556768" y="194221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585083" y="4121784"/>
              <a:ext cx="755015" cy="76200"/>
            </a:xfrm>
            <a:custGeom>
              <a:avLst/>
              <a:gdLst/>
              <a:ahLst/>
              <a:cxnLst/>
              <a:rect l="l" t="t" r="r" b="b"/>
              <a:pathLst>
                <a:path w="755014" h="76200">
                  <a:moveTo>
                    <a:pt x="679068" y="0"/>
                  </a:moveTo>
                  <a:lnTo>
                    <a:pt x="678639" y="28625"/>
                  </a:lnTo>
                  <a:lnTo>
                    <a:pt x="691388" y="28828"/>
                  </a:lnTo>
                  <a:lnTo>
                    <a:pt x="691011" y="47676"/>
                  </a:lnTo>
                  <a:lnTo>
                    <a:pt x="691006" y="47878"/>
                  </a:lnTo>
                  <a:lnTo>
                    <a:pt x="678350" y="47878"/>
                  </a:lnTo>
                  <a:lnTo>
                    <a:pt x="677926" y="76200"/>
                  </a:lnTo>
                  <a:lnTo>
                    <a:pt x="736911" y="47878"/>
                  </a:lnTo>
                  <a:lnTo>
                    <a:pt x="691006" y="47878"/>
                  </a:lnTo>
                  <a:lnTo>
                    <a:pt x="678353" y="47676"/>
                  </a:lnTo>
                  <a:lnTo>
                    <a:pt x="737333" y="47676"/>
                  </a:lnTo>
                  <a:lnTo>
                    <a:pt x="754633" y="39369"/>
                  </a:lnTo>
                  <a:lnTo>
                    <a:pt x="679068" y="0"/>
                  </a:lnTo>
                  <a:close/>
                </a:path>
                <a:path w="755014" h="76200">
                  <a:moveTo>
                    <a:pt x="678639" y="28625"/>
                  </a:moveTo>
                  <a:lnTo>
                    <a:pt x="678516" y="36829"/>
                  </a:lnTo>
                  <a:lnTo>
                    <a:pt x="678478" y="39369"/>
                  </a:lnTo>
                  <a:lnTo>
                    <a:pt x="678353" y="47676"/>
                  </a:lnTo>
                  <a:lnTo>
                    <a:pt x="691006" y="47878"/>
                  </a:lnTo>
                  <a:lnTo>
                    <a:pt x="691388" y="28828"/>
                  </a:lnTo>
                  <a:lnTo>
                    <a:pt x="678639" y="28625"/>
                  </a:lnTo>
                  <a:close/>
                </a:path>
                <a:path w="755014" h="76200">
                  <a:moveTo>
                    <a:pt x="253" y="17779"/>
                  </a:moveTo>
                  <a:lnTo>
                    <a:pt x="109" y="28625"/>
                  </a:lnTo>
                  <a:lnTo>
                    <a:pt x="0" y="36829"/>
                  </a:lnTo>
                  <a:lnTo>
                    <a:pt x="678353" y="47676"/>
                  </a:lnTo>
                  <a:lnTo>
                    <a:pt x="678478" y="39369"/>
                  </a:lnTo>
                  <a:lnTo>
                    <a:pt x="678516" y="36829"/>
                  </a:lnTo>
                  <a:lnTo>
                    <a:pt x="678639" y="28625"/>
                  </a:lnTo>
                  <a:lnTo>
                    <a:pt x="253" y="177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07713" y="2977134"/>
              <a:ext cx="0" cy="1694814"/>
            </a:xfrm>
            <a:custGeom>
              <a:avLst/>
              <a:gdLst/>
              <a:ahLst/>
              <a:cxnLst/>
              <a:rect l="l" t="t" r="r" b="b"/>
              <a:pathLst>
                <a:path h="1694814">
                  <a:moveTo>
                    <a:pt x="0" y="0"/>
                  </a:moveTo>
                  <a:lnTo>
                    <a:pt x="0" y="16944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804412" y="1468373"/>
              <a:ext cx="3700779" cy="3476625"/>
            </a:xfrm>
            <a:custGeom>
              <a:avLst/>
              <a:gdLst/>
              <a:ahLst/>
              <a:cxnLst/>
              <a:rect l="l" t="t" r="r" b="b"/>
              <a:pathLst>
                <a:path w="3700779" h="3476625">
                  <a:moveTo>
                    <a:pt x="525856" y="3217799"/>
                  </a:moveTo>
                  <a:lnTo>
                    <a:pt x="479425" y="3217799"/>
                  </a:lnTo>
                  <a:lnTo>
                    <a:pt x="466623" y="3217799"/>
                  </a:lnTo>
                  <a:lnTo>
                    <a:pt x="465963" y="3246120"/>
                  </a:lnTo>
                  <a:lnTo>
                    <a:pt x="525856" y="3217799"/>
                  </a:lnTo>
                  <a:close/>
                </a:path>
                <a:path w="3700779" h="3476625">
                  <a:moveTo>
                    <a:pt x="543052" y="3209671"/>
                  </a:moveTo>
                  <a:lnTo>
                    <a:pt x="467741" y="3169920"/>
                  </a:lnTo>
                  <a:lnTo>
                    <a:pt x="467067" y="3198469"/>
                  </a:lnTo>
                  <a:lnTo>
                    <a:pt x="508" y="3187827"/>
                  </a:lnTo>
                  <a:lnTo>
                    <a:pt x="0" y="3206877"/>
                  </a:lnTo>
                  <a:lnTo>
                    <a:pt x="466623" y="3217519"/>
                  </a:lnTo>
                  <a:lnTo>
                    <a:pt x="479425" y="3217519"/>
                  </a:lnTo>
                  <a:lnTo>
                    <a:pt x="526465" y="3217519"/>
                  </a:lnTo>
                  <a:lnTo>
                    <a:pt x="543052" y="3209671"/>
                  </a:lnTo>
                  <a:close/>
                </a:path>
                <a:path w="3700779" h="3476625">
                  <a:moveTo>
                    <a:pt x="3223895" y="3438144"/>
                  </a:moveTo>
                  <a:lnTo>
                    <a:pt x="3204845" y="3428619"/>
                  </a:lnTo>
                  <a:lnTo>
                    <a:pt x="3147695" y="3400044"/>
                  </a:lnTo>
                  <a:lnTo>
                    <a:pt x="3147695" y="3428619"/>
                  </a:lnTo>
                  <a:lnTo>
                    <a:pt x="2437130" y="3428619"/>
                  </a:lnTo>
                  <a:lnTo>
                    <a:pt x="2437130" y="3447669"/>
                  </a:lnTo>
                  <a:lnTo>
                    <a:pt x="3147695" y="3447669"/>
                  </a:lnTo>
                  <a:lnTo>
                    <a:pt x="3147695" y="3476244"/>
                  </a:lnTo>
                  <a:lnTo>
                    <a:pt x="3204845" y="3447669"/>
                  </a:lnTo>
                  <a:lnTo>
                    <a:pt x="3223895" y="3438144"/>
                  </a:lnTo>
                  <a:close/>
                </a:path>
                <a:path w="3700779" h="3476625">
                  <a:moveTo>
                    <a:pt x="3231896" y="2692908"/>
                  </a:moveTo>
                  <a:lnTo>
                    <a:pt x="3212846" y="2683383"/>
                  </a:lnTo>
                  <a:lnTo>
                    <a:pt x="3155696" y="2654808"/>
                  </a:lnTo>
                  <a:lnTo>
                    <a:pt x="3155696" y="2683383"/>
                  </a:lnTo>
                  <a:lnTo>
                    <a:pt x="2427986" y="2683383"/>
                  </a:lnTo>
                  <a:lnTo>
                    <a:pt x="2427986" y="2702433"/>
                  </a:lnTo>
                  <a:lnTo>
                    <a:pt x="3155696" y="2702433"/>
                  </a:lnTo>
                  <a:lnTo>
                    <a:pt x="3155696" y="2731008"/>
                  </a:lnTo>
                  <a:lnTo>
                    <a:pt x="3212846" y="2702433"/>
                  </a:lnTo>
                  <a:lnTo>
                    <a:pt x="3231896" y="2692908"/>
                  </a:lnTo>
                  <a:close/>
                </a:path>
                <a:path w="3700779" h="3476625">
                  <a:moveTo>
                    <a:pt x="3700526" y="2270379"/>
                  </a:moveTo>
                  <a:lnTo>
                    <a:pt x="3671951" y="2270379"/>
                  </a:lnTo>
                  <a:lnTo>
                    <a:pt x="3671951" y="0"/>
                  </a:lnTo>
                  <a:lnTo>
                    <a:pt x="3652901" y="0"/>
                  </a:lnTo>
                  <a:lnTo>
                    <a:pt x="3652901" y="2270379"/>
                  </a:lnTo>
                  <a:lnTo>
                    <a:pt x="3624326" y="2270379"/>
                  </a:lnTo>
                  <a:lnTo>
                    <a:pt x="3662426" y="2346579"/>
                  </a:lnTo>
                  <a:lnTo>
                    <a:pt x="3694176" y="2283079"/>
                  </a:lnTo>
                  <a:lnTo>
                    <a:pt x="3700526" y="22703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04665" y="1468374"/>
              <a:ext cx="4910455" cy="4817110"/>
            </a:xfrm>
            <a:custGeom>
              <a:avLst/>
              <a:gdLst/>
              <a:ahLst/>
              <a:cxnLst/>
              <a:rect l="l" t="t" r="r" b="b"/>
              <a:pathLst>
                <a:path w="4910455" h="4817110">
                  <a:moveTo>
                    <a:pt x="2447544" y="0"/>
                  </a:moveTo>
                  <a:lnTo>
                    <a:pt x="3663061" y="0"/>
                  </a:lnTo>
                </a:path>
                <a:path w="4910455" h="4817110">
                  <a:moveTo>
                    <a:pt x="4521708" y="3012948"/>
                  </a:moveTo>
                  <a:lnTo>
                    <a:pt x="4910074" y="3012948"/>
                  </a:lnTo>
                </a:path>
                <a:path w="4910455" h="4817110">
                  <a:moveTo>
                    <a:pt x="4902708" y="3012948"/>
                  </a:moveTo>
                  <a:lnTo>
                    <a:pt x="4902708" y="4816462"/>
                  </a:lnTo>
                </a:path>
                <a:path w="4910455" h="4817110">
                  <a:moveTo>
                    <a:pt x="0" y="4792980"/>
                  </a:moveTo>
                  <a:lnTo>
                    <a:pt x="4902708" y="4816754"/>
                  </a:lnTo>
                </a:path>
                <a:path w="4910455" h="4817110">
                  <a:moveTo>
                    <a:pt x="0" y="3549396"/>
                  </a:moveTo>
                  <a:lnTo>
                    <a:pt x="0" y="47849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95268" y="4986146"/>
              <a:ext cx="555625" cy="76200"/>
            </a:xfrm>
            <a:custGeom>
              <a:avLst/>
              <a:gdLst/>
              <a:ahLst/>
              <a:cxnLst/>
              <a:rect l="l" t="t" r="r" b="b"/>
              <a:pathLst>
                <a:path w="555625" h="76200">
                  <a:moveTo>
                    <a:pt x="479933" y="0"/>
                  </a:moveTo>
                  <a:lnTo>
                    <a:pt x="479169" y="28621"/>
                  </a:lnTo>
                  <a:lnTo>
                    <a:pt x="491871" y="28955"/>
                  </a:lnTo>
                  <a:lnTo>
                    <a:pt x="491371" y="47671"/>
                  </a:lnTo>
                  <a:lnTo>
                    <a:pt x="491363" y="48005"/>
                  </a:lnTo>
                  <a:lnTo>
                    <a:pt x="478652" y="48005"/>
                  </a:lnTo>
                  <a:lnTo>
                    <a:pt x="477901" y="76200"/>
                  </a:lnTo>
                  <a:lnTo>
                    <a:pt x="538259" y="48005"/>
                  </a:lnTo>
                  <a:lnTo>
                    <a:pt x="491363" y="48005"/>
                  </a:lnTo>
                  <a:lnTo>
                    <a:pt x="478661" y="47671"/>
                  </a:lnTo>
                  <a:lnTo>
                    <a:pt x="538976" y="47671"/>
                  </a:lnTo>
                  <a:lnTo>
                    <a:pt x="555117" y="40131"/>
                  </a:lnTo>
                  <a:lnTo>
                    <a:pt x="479933" y="0"/>
                  </a:lnTo>
                  <a:close/>
                </a:path>
                <a:path w="555625" h="76200">
                  <a:moveTo>
                    <a:pt x="479169" y="28621"/>
                  </a:moveTo>
                  <a:lnTo>
                    <a:pt x="478661" y="47671"/>
                  </a:lnTo>
                  <a:lnTo>
                    <a:pt x="491363" y="48005"/>
                  </a:lnTo>
                  <a:lnTo>
                    <a:pt x="491871" y="28955"/>
                  </a:lnTo>
                  <a:lnTo>
                    <a:pt x="479169" y="28621"/>
                  </a:lnTo>
                  <a:close/>
                </a:path>
                <a:path w="555625" h="76200">
                  <a:moveTo>
                    <a:pt x="508" y="16001"/>
                  </a:moveTo>
                  <a:lnTo>
                    <a:pt x="0" y="35051"/>
                  </a:lnTo>
                  <a:lnTo>
                    <a:pt x="478661" y="47671"/>
                  </a:lnTo>
                  <a:lnTo>
                    <a:pt x="479160" y="28955"/>
                  </a:lnTo>
                  <a:lnTo>
                    <a:pt x="479169" y="28621"/>
                  </a:lnTo>
                  <a:lnTo>
                    <a:pt x="508" y="160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6186" y="2730246"/>
              <a:ext cx="3619500" cy="2870835"/>
            </a:xfrm>
            <a:custGeom>
              <a:avLst/>
              <a:gdLst/>
              <a:ahLst/>
              <a:cxnLst/>
              <a:rect l="l" t="t" r="r" b="b"/>
              <a:pathLst>
                <a:path w="3619500" h="2870835">
                  <a:moveTo>
                    <a:pt x="0" y="2833116"/>
                  </a:moveTo>
                  <a:lnTo>
                    <a:pt x="3619246" y="2870466"/>
                  </a:lnTo>
                </a:path>
                <a:path w="3619500" h="2870835">
                  <a:moveTo>
                    <a:pt x="246722" y="0"/>
                  </a:moveTo>
                  <a:lnTo>
                    <a:pt x="236220" y="2832607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017133" y="3959732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21704" y="4740020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11110" y="3975049"/>
            <a:ext cx="1352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03109" y="4740020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65252" y="5397195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clk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17205" y="4314570"/>
            <a:ext cx="105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012314" y="1200658"/>
            <a:ext cx="989965" cy="788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2445">
              <a:lnSpc>
                <a:spcPts val="1864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25" dirty="0">
                <a:latin typeface="Calibri"/>
                <a:cs typeface="Calibri"/>
              </a:rPr>
              <a:t>[3]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ts val="1864"/>
              </a:lnSpc>
            </a:pPr>
            <a:r>
              <a:rPr sz="1800" dirty="0">
                <a:latin typeface="Calibri"/>
                <a:cs typeface="Calibri"/>
              </a:rPr>
              <a:t>a[1]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2700" baseline="-21604" dirty="0">
                <a:latin typeface="Calibri"/>
                <a:cs typeface="Calibri"/>
              </a:rPr>
              <a:t>d</a:t>
            </a:r>
            <a:r>
              <a:rPr sz="2700" spc="7" baseline="-21604" dirty="0">
                <a:latin typeface="Calibri"/>
                <a:cs typeface="Calibri"/>
              </a:rPr>
              <a:t> </a:t>
            </a:r>
            <a:r>
              <a:rPr sz="2700" spc="-37" baseline="-21604" dirty="0">
                <a:latin typeface="Calibri"/>
                <a:cs typeface="Calibri"/>
              </a:rPr>
              <a:t>[2]</a:t>
            </a:r>
            <a:endParaRPr sz="2700" baseline="-21604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latin typeface="Calibri"/>
                <a:cs typeface="Calibri"/>
              </a:rPr>
              <a:t>a[0]</a:t>
            </a:r>
            <a:r>
              <a:rPr sz="1800" spc="45" dirty="0">
                <a:latin typeface="Calibri"/>
                <a:cs typeface="Calibri"/>
              </a:rPr>
              <a:t>  </a:t>
            </a:r>
            <a:r>
              <a:rPr sz="2700" baseline="-13888" dirty="0">
                <a:latin typeface="Calibri"/>
                <a:cs typeface="Calibri"/>
              </a:rPr>
              <a:t>d</a:t>
            </a:r>
            <a:r>
              <a:rPr sz="2700" spc="15" baseline="-13888" dirty="0">
                <a:latin typeface="Calibri"/>
                <a:cs typeface="Calibri"/>
              </a:rPr>
              <a:t> </a:t>
            </a:r>
            <a:r>
              <a:rPr sz="2700" spc="-37" baseline="-13888" dirty="0">
                <a:latin typeface="Calibri"/>
                <a:cs typeface="Calibri"/>
              </a:rPr>
              <a:t>[1]</a:t>
            </a:r>
            <a:endParaRPr sz="2700" baseline="-13888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829547" y="579501"/>
            <a:ext cx="3226435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97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have </a:t>
            </a:r>
            <a:r>
              <a:rPr sz="1800" dirty="0">
                <a:latin typeface="Calibri"/>
                <a:cs typeface="Calibri"/>
              </a:rPr>
              <a:t>address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current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clock </a:t>
            </a:r>
            <a:r>
              <a:rPr sz="1800" spc="-10" dirty="0">
                <a:latin typeface="Calibri"/>
                <a:cs typeface="Calibri"/>
              </a:rPr>
              <a:t>cycle.</a:t>
            </a:r>
            <a:endParaRPr sz="1800">
              <a:latin typeface="Calibri"/>
              <a:cs typeface="Calibri"/>
            </a:endParaRPr>
          </a:p>
          <a:p>
            <a:pPr marL="355600" marR="24765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Address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RAM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retrieve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instruction.</a:t>
            </a:r>
            <a:endParaRPr sz="1800">
              <a:latin typeface="Calibri"/>
              <a:cs typeface="Calibri"/>
            </a:endParaRPr>
          </a:p>
          <a:p>
            <a:pPr marL="355600" marR="6223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Instruction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decoded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select registers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and/or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immediate values.</a:t>
            </a:r>
            <a:endParaRPr sz="1800">
              <a:latin typeface="Calibri"/>
              <a:cs typeface="Calibri"/>
            </a:endParaRPr>
          </a:p>
          <a:p>
            <a:pPr marL="355600" marR="112395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registers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and/or </a:t>
            </a:r>
            <a:r>
              <a:rPr sz="1800" dirty="0">
                <a:latin typeface="Calibri"/>
                <a:cs typeface="Calibri"/>
              </a:rPr>
              <a:t>immediate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sent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Arithmetic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Unit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(ALU)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operations.</a:t>
            </a:r>
            <a:endParaRPr sz="1800">
              <a:latin typeface="Calibri"/>
              <a:cs typeface="Calibri"/>
            </a:endParaRPr>
          </a:p>
          <a:p>
            <a:pPr marL="355600" marR="31115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ALU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 operation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spc="-10" dirty="0">
                <a:latin typeface="Calibri"/>
                <a:cs typeface="Calibri"/>
              </a:rPr>
              <a:t>written.</a:t>
            </a:r>
            <a:endParaRPr sz="18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Finally,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incremented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clock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cycle.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73761" y="1829561"/>
            <a:ext cx="1410970" cy="1416685"/>
            <a:chOff x="373761" y="1829561"/>
            <a:chExt cx="1410970" cy="1416685"/>
          </a:xfrm>
        </p:grpSpPr>
        <p:sp>
          <p:nvSpPr>
            <p:cNvPr id="46" name="object 46"/>
            <p:cNvSpPr/>
            <p:nvPr/>
          </p:nvSpPr>
          <p:spPr>
            <a:xfrm>
              <a:off x="383286" y="1855469"/>
              <a:ext cx="1391920" cy="1381760"/>
            </a:xfrm>
            <a:custGeom>
              <a:avLst/>
              <a:gdLst/>
              <a:ahLst/>
              <a:cxnLst/>
              <a:rect l="l" t="t" r="r" b="b"/>
              <a:pathLst>
                <a:path w="1391920" h="1381760">
                  <a:moveTo>
                    <a:pt x="1391412" y="25907"/>
                  </a:moveTo>
                  <a:lnTo>
                    <a:pt x="1391412" y="1367154"/>
                  </a:lnTo>
                </a:path>
                <a:path w="1391920" h="1381760">
                  <a:moveTo>
                    <a:pt x="1390269" y="1367027"/>
                  </a:moveTo>
                  <a:lnTo>
                    <a:pt x="1182624" y="1367027"/>
                  </a:lnTo>
                </a:path>
                <a:path w="1391920" h="1381760">
                  <a:moveTo>
                    <a:pt x="685050" y="1368552"/>
                  </a:moveTo>
                  <a:lnTo>
                    <a:pt x="0" y="1368552"/>
                  </a:lnTo>
                </a:path>
                <a:path w="1391920" h="1381760">
                  <a:moveTo>
                    <a:pt x="0" y="0"/>
                  </a:moveTo>
                  <a:lnTo>
                    <a:pt x="0" y="138125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906" y="1829561"/>
              <a:ext cx="198754" cy="76200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614578" y="1403096"/>
            <a:ext cx="822960" cy="88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aseline="1543" dirty="0">
                <a:latin typeface="Calibri"/>
                <a:cs typeface="Calibri"/>
              </a:rPr>
              <a:t>i[1]</a:t>
            </a:r>
            <a:r>
              <a:rPr sz="2700" spc="705" baseline="1543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o[1]</a:t>
            </a:r>
            <a:endParaRPr sz="18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i[0]</a:t>
            </a:r>
            <a:r>
              <a:rPr sz="1800" spc="4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o[0]</a:t>
            </a:r>
            <a:endParaRPr sz="180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210"/>
              </a:spcBef>
            </a:pPr>
            <a:r>
              <a:rPr sz="1800" spc="-25" dirty="0">
                <a:latin typeface="Calibri"/>
                <a:cs typeface="Calibri"/>
              </a:rPr>
              <a:t>PC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451610" y="1856994"/>
            <a:ext cx="508634" cy="76200"/>
          </a:xfrm>
          <a:custGeom>
            <a:avLst/>
            <a:gdLst/>
            <a:ahLst/>
            <a:cxnLst/>
            <a:rect l="l" t="t" r="r" b="b"/>
            <a:pathLst>
              <a:path w="508635" h="76200">
                <a:moveTo>
                  <a:pt x="432434" y="0"/>
                </a:moveTo>
                <a:lnTo>
                  <a:pt x="432434" y="76200"/>
                </a:lnTo>
                <a:lnTo>
                  <a:pt x="489584" y="47625"/>
                </a:lnTo>
                <a:lnTo>
                  <a:pt x="445134" y="47625"/>
                </a:lnTo>
                <a:lnTo>
                  <a:pt x="445134" y="28575"/>
                </a:lnTo>
                <a:lnTo>
                  <a:pt x="489584" y="28575"/>
                </a:lnTo>
                <a:lnTo>
                  <a:pt x="432434" y="0"/>
                </a:lnTo>
                <a:close/>
              </a:path>
              <a:path w="508635" h="76200">
                <a:moveTo>
                  <a:pt x="432434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432434" y="47625"/>
                </a:lnTo>
                <a:lnTo>
                  <a:pt x="432434" y="28575"/>
                </a:lnTo>
                <a:close/>
              </a:path>
              <a:path w="508635" h="76200">
                <a:moveTo>
                  <a:pt x="489584" y="28575"/>
                </a:moveTo>
                <a:lnTo>
                  <a:pt x="445134" y="28575"/>
                </a:lnTo>
                <a:lnTo>
                  <a:pt x="445134" y="47625"/>
                </a:lnTo>
                <a:lnTo>
                  <a:pt x="489584" y="47625"/>
                </a:lnTo>
                <a:lnTo>
                  <a:pt x="508634" y="38100"/>
                </a:lnTo>
                <a:lnTo>
                  <a:pt x="48958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5327141" y="1287526"/>
            <a:ext cx="906144" cy="5568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6034" marR="5080" indent="-13335">
              <a:lnSpc>
                <a:spcPts val="2020"/>
              </a:lnSpc>
              <a:spcBef>
                <a:spcPts val="280"/>
              </a:spcBef>
            </a:pPr>
            <a:r>
              <a:rPr sz="1800" spc="-10" dirty="0">
                <a:latin typeface="Calibri"/>
                <a:cs typeface="Calibri"/>
              </a:rPr>
              <a:t>op_sel[1] op_sel[0]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265926" y="1719833"/>
            <a:ext cx="1632585" cy="2105025"/>
            <a:chOff x="6265926" y="1719833"/>
            <a:chExt cx="1632585" cy="2105025"/>
          </a:xfrm>
        </p:grpSpPr>
        <p:sp>
          <p:nvSpPr>
            <p:cNvPr id="52" name="object 52"/>
            <p:cNvSpPr/>
            <p:nvPr/>
          </p:nvSpPr>
          <p:spPr>
            <a:xfrm>
              <a:off x="6265926" y="1730501"/>
              <a:ext cx="1593850" cy="0"/>
            </a:xfrm>
            <a:custGeom>
              <a:avLst/>
              <a:gdLst/>
              <a:ahLst/>
              <a:cxnLst/>
              <a:rect l="l" t="t" r="r" b="b"/>
              <a:pathLst>
                <a:path w="1593850">
                  <a:moveTo>
                    <a:pt x="0" y="0"/>
                  </a:moveTo>
                  <a:lnTo>
                    <a:pt x="159359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821930" y="1719833"/>
              <a:ext cx="76200" cy="2105025"/>
            </a:xfrm>
            <a:custGeom>
              <a:avLst/>
              <a:gdLst/>
              <a:ahLst/>
              <a:cxnLst/>
              <a:rect l="l" t="t" r="r" b="b"/>
              <a:pathLst>
                <a:path w="76200" h="2105025">
                  <a:moveTo>
                    <a:pt x="28575" y="2028824"/>
                  </a:moveTo>
                  <a:lnTo>
                    <a:pt x="0" y="2028824"/>
                  </a:lnTo>
                  <a:lnTo>
                    <a:pt x="38100" y="2105024"/>
                  </a:lnTo>
                  <a:lnTo>
                    <a:pt x="69850" y="2041524"/>
                  </a:lnTo>
                  <a:lnTo>
                    <a:pt x="28575" y="2041524"/>
                  </a:lnTo>
                  <a:lnTo>
                    <a:pt x="28575" y="2028824"/>
                  </a:lnTo>
                  <a:close/>
                </a:path>
                <a:path w="76200" h="2105025">
                  <a:moveTo>
                    <a:pt x="47625" y="0"/>
                  </a:moveTo>
                  <a:lnTo>
                    <a:pt x="28575" y="0"/>
                  </a:lnTo>
                  <a:lnTo>
                    <a:pt x="28575" y="2041524"/>
                  </a:lnTo>
                  <a:lnTo>
                    <a:pt x="47625" y="2041524"/>
                  </a:lnTo>
                  <a:lnTo>
                    <a:pt x="47625" y="0"/>
                  </a:lnTo>
                  <a:close/>
                </a:path>
                <a:path w="76200" h="2105025">
                  <a:moveTo>
                    <a:pt x="76200" y="2028824"/>
                  </a:moveTo>
                  <a:lnTo>
                    <a:pt x="47625" y="2028824"/>
                  </a:lnTo>
                  <a:lnTo>
                    <a:pt x="47625" y="2041524"/>
                  </a:lnTo>
                  <a:lnTo>
                    <a:pt x="69850" y="2041524"/>
                  </a:lnTo>
                  <a:lnTo>
                    <a:pt x="76200" y="20288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211694" y="3765295"/>
            <a:ext cx="1121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15" baseline="-4629" dirty="0">
                <a:latin typeface="Calibri"/>
                <a:cs typeface="Calibri"/>
              </a:rPr>
              <a:t>alu[1]</a:t>
            </a:r>
            <a:r>
              <a:rPr sz="1800" spc="-10" dirty="0">
                <a:latin typeface="Calibri"/>
                <a:cs typeface="Calibri"/>
              </a:rPr>
              <a:t>alu[0]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828034" y="6301841"/>
            <a:ext cx="1776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Figure: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CPU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74825" y="4487671"/>
            <a:ext cx="1851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ourier New"/>
                <a:cs typeface="Courier New"/>
              </a:rPr>
              <a:t>ADD</a:t>
            </a:r>
            <a:r>
              <a:rPr sz="2400" b="1" spc="-2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R1,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R0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0042" y="158572"/>
            <a:ext cx="23653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000000"/>
                </a:solidFill>
              </a:rPr>
              <a:t>ALU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dirty="0">
                <a:solidFill>
                  <a:srgbClr val="000000"/>
                </a:solidFill>
              </a:rPr>
              <a:t>in</a:t>
            </a:r>
            <a:r>
              <a:rPr sz="4000" spc="-80" dirty="0">
                <a:solidFill>
                  <a:srgbClr val="000000"/>
                </a:solidFill>
              </a:rPr>
              <a:t> </a:t>
            </a:r>
            <a:r>
              <a:rPr sz="4000" spc="-25" dirty="0">
                <a:solidFill>
                  <a:srgbClr val="000000"/>
                </a:solidFill>
              </a:rPr>
              <a:t>CPU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8829547" y="579501"/>
            <a:ext cx="3226435" cy="578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39700" indent="-3429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Counter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have </a:t>
            </a:r>
            <a:r>
              <a:rPr sz="1800" dirty="0">
                <a:latin typeface="Calibri"/>
                <a:cs typeface="Calibri"/>
              </a:rPr>
              <a:t>address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executed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current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clock </a:t>
            </a:r>
            <a:r>
              <a:rPr sz="1800" spc="-10" dirty="0">
                <a:latin typeface="Calibri"/>
                <a:cs typeface="Calibri"/>
              </a:rPr>
              <a:t>cycle.</a:t>
            </a:r>
            <a:endParaRPr sz="1800">
              <a:latin typeface="Calibri"/>
              <a:cs typeface="Calibri"/>
            </a:endParaRPr>
          </a:p>
          <a:p>
            <a:pPr marL="355600" marR="24765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Address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PC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dirty="0">
                <a:latin typeface="Calibri"/>
                <a:cs typeface="Calibri"/>
              </a:rPr>
              <a:t>RAM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retrieve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instruction.</a:t>
            </a:r>
            <a:endParaRPr sz="1800">
              <a:latin typeface="Calibri"/>
              <a:cs typeface="Calibri"/>
            </a:endParaRPr>
          </a:p>
          <a:p>
            <a:pPr marL="355600" marR="6223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Instruction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decoded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by </a:t>
            </a:r>
            <a:r>
              <a:rPr sz="1800" dirty="0">
                <a:latin typeface="Calibri"/>
                <a:cs typeface="Calibri"/>
              </a:rPr>
              <a:t>control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select registers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and/or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immediate values.</a:t>
            </a:r>
            <a:endParaRPr sz="1800">
              <a:latin typeface="Calibri"/>
              <a:cs typeface="Calibri"/>
            </a:endParaRPr>
          </a:p>
          <a:p>
            <a:pPr marL="355600" marR="112395" indent="-3429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registers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and/or </a:t>
            </a:r>
            <a:r>
              <a:rPr sz="1800" dirty="0">
                <a:latin typeface="Calibri"/>
                <a:cs typeface="Calibri"/>
              </a:rPr>
              <a:t>immediate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values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sent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Arithmetic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Unit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(ALU)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perform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operations.</a:t>
            </a:r>
            <a:endParaRPr sz="1800">
              <a:latin typeface="Calibri"/>
              <a:cs typeface="Calibri"/>
            </a:endParaRPr>
          </a:p>
          <a:p>
            <a:pPr marL="355600" marR="311150" indent="-342900">
              <a:lnSpc>
                <a:spcPct val="100000"/>
              </a:lnSpc>
              <a:buAutoNum type="arabicPeriod"/>
              <a:tabLst>
                <a:tab pos="35560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ALU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 operation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result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dirty="0">
                <a:latin typeface="Calibri"/>
                <a:cs typeface="Calibri"/>
              </a:rPr>
              <a:t>sent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spc="-10" dirty="0">
                <a:latin typeface="Calibri"/>
                <a:cs typeface="Calibri"/>
              </a:rPr>
              <a:t>written.</a:t>
            </a:r>
            <a:endParaRPr sz="18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5600" algn="l"/>
              </a:tabLst>
            </a:pPr>
            <a:r>
              <a:rPr sz="1800" spc="-10" dirty="0">
                <a:latin typeface="Calibri"/>
                <a:cs typeface="Calibri"/>
              </a:rPr>
              <a:t>Finally,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incremented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instruction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next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clock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cycle.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8034" y="6301841"/>
            <a:ext cx="1776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Figure: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CPU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45756" y="3517138"/>
            <a:ext cx="1392555" cy="2762250"/>
            <a:chOff x="6945756" y="3517138"/>
            <a:chExt cx="1392555" cy="2762250"/>
          </a:xfrm>
        </p:grpSpPr>
        <p:pic>
          <p:nvPicPr>
            <p:cNvPr id="6" name="object 6" descr="Image result for alu symbol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5451" y="3739896"/>
              <a:ext cx="1292352" cy="18987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417180" y="3523488"/>
              <a:ext cx="725170" cy="697865"/>
            </a:xfrm>
            <a:custGeom>
              <a:avLst/>
              <a:gdLst/>
              <a:ahLst/>
              <a:cxnLst/>
              <a:rect l="l" t="t" r="r" b="b"/>
              <a:pathLst>
                <a:path w="725170" h="697864">
                  <a:moveTo>
                    <a:pt x="644525" y="0"/>
                  </a:moveTo>
                  <a:lnTo>
                    <a:pt x="0" y="427481"/>
                  </a:lnTo>
                  <a:lnTo>
                    <a:pt x="724916" y="697484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17180" y="3523488"/>
              <a:ext cx="725170" cy="697865"/>
            </a:xfrm>
            <a:custGeom>
              <a:avLst/>
              <a:gdLst/>
              <a:ahLst/>
              <a:cxnLst/>
              <a:rect l="l" t="t" r="r" b="b"/>
              <a:pathLst>
                <a:path w="725170" h="697864">
                  <a:moveTo>
                    <a:pt x="724916" y="697484"/>
                  </a:moveTo>
                  <a:lnTo>
                    <a:pt x="0" y="427481"/>
                  </a:lnTo>
                  <a:lnTo>
                    <a:pt x="644525" y="0"/>
                  </a:lnTo>
                  <a:lnTo>
                    <a:pt x="724916" y="69748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52106" y="5216905"/>
              <a:ext cx="967105" cy="1056005"/>
            </a:xfrm>
            <a:custGeom>
              <a:avLst/>
              <a:gdLst/>
              <a:ahLst/>
              <a:cxnLst/>
              <a:rect l="l" t="t" r="r" b="b"/>
              <a:pathLst>
                <a:path w="967104" h="1056004">
                  <a:moveTo>
                    <a:pt x="937641" y="0"/>
                  </a:moveTo>
                  <a:lnTo>
                    <a:pt x="0" y="485927"/>
                  </a:lnTo>
                  <a:lnTo>
                    <a:pt x="966597" y="1055649"/>
                  </a:lnTo>
                  <a:lnTo>
                    <a:pt x="937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52106" y="5216905"/>
              <a:ext cx="967105" cy="1056005"/>
            </a:xfrm>
            <a:custGeom>
              <a:avLst/>
              <a:gdLst/>
              <a:ahLst/>
              <a:cxnLst/>
              <a:rect l="l" t="t" r="r" b="b"/>
              <a:pathLst>
                <a:path w="967104" h="1056004">
                  <a:moveTo>
                    <a:pt x="0" y="485927"/>
                  </a:moveTo>
                  <a:lnTo>
                    <a:pt x="937641" y="0"/>
                  </a:lnTo>
                  <a:lnTo>
                    <a:pt x="966597" y="1055649"/>
                  </a:lnTo>
                  <a:lnTo>
                    <a:pt x="0" y="4859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474845" y="2701290"/>
            <a:ext cx="1648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Control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Unit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(CU)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07382" y="3155950"/>
            <a:ext cx="117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Register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91689" y="2738373"/>
            <a:ext cx="5892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RAM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(Main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1689" y="3287395"/>
            <a:ext cx="911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Memory)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850519"/>
            <a:ext cx="2077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Program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Counter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(PC)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89326" y="1201292"/>
            <a:ext cx="3272790" cy="1543050"/>
            <a:chOff x="2989326" y="1201292"/>
            <a:chExt cx="3272790" cy="1543050"/>
          </a:xfrm>
        </p:grpSpPr>
        <p:sp>
          <p:nvSpPr>
            <p:cNvPr id="17" name="object 17"/>
            <p:cNvSpPr/>
            <p:nvPr/>
          </p:nvSpPr>
          <p:spPr>
            <a:xfrm>
              <a:off x="2989326" y="1340357"/>
              <a:ext cx="1382395" cy="381000"/>
            </a:xfrm>
            <a:custGeom>
              <a:avLst/>
              <a:gdLst/>
              <a:ahLst/>
              <a:cxnLst/>
              <a:rect l="l" t="t" r="r" b="b"/>
              <a:pathLst>
                <a:path w="1382395" h="381000">
                  <a:moveTo>
                    <a:pt x="1379220" y="38100"/>
                  </a:moveTo>
                  <a:lnTo>
                    <a:pt x="1360170" y="28575"/>
                  </a:lnTo>
                  <a:lnTo>
                    <a:pt x="1303020" y="0"/>
                  </a:lnTo>
                  <a:lnTo>
                    <a:pt x="1303020" y="28575"/>
                  </a:lnTo>
                  <a:lnTo>
                    <a:pt x="0" y="28575"/>
                  </a:lnTo>
                  <a:lnTo>
                    <a:pt x="0" y="47625"/>
                  </a:lnTo>
                  <a:lnTo>
                    <a:pt x="1303020" y="47625"/>
                  </a:lnTo>
                  <a:lnTo>
                    <a:pt x="1303020" y="76200"/>
                  </a:lnTo>
                  <a:lnTo>
                    <a:pt x="1360170" y="47625"/>
                  </a:lnTo>
                  <a:lnTo>
                    <a:pt x="1379220" y="38100"/>
                  </a:lnTo>
                  <a:close/>
                </a:path>
                <a:path w="1382395" h="381000">
                  <a:moveTo>
                    <a:pt x="1382268" y="342900"/>
                  </a:moveTo>
                  <a:lnTo>
                    <a:pt x="1363218" y="333375"/>
                  </a:lnTo>
                  <a:lnTo>
                    <a:pt x="1306068" y="304800"/>
                  </a:lnTo>
                  <a:lnTo>
                    <a:pt x="1306068" y="333375"/>
                  </a:lnTo>
                  <a:lnTo>
                    <a:pt x="3048" y="333375"/>
                  </a:lnTo>
                  <a:lnTo>
                    <a:pt x="3048" y="352425"/>
                  </a:lnTo>
                  <a:lnTo>
                    <a:pt x="1306068" y="352425"/>
                  </a:lnTo>
                  <a:lnTo>
                    <a:pt x="1306068" y="381000"/>
                  </a:lnTo>
                  <a:lnTo>
                    <a:pt x="1363218" y="352425"/>
                  </a:lnTo>
                  <a:lnTo>
                    <a:pt x="1382268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70070" y="1210817"/>
              <a:ext cx="1882139" cy="1524000"/>
            </a:xfrm>
            <a:custGeom>
              <a:avLst/>
              <a:gdLst/>
              <a:ahLst/>
              <a:cxnLst/>
              <a:rect l="l" t="t" r="r" b="b"/>
              <a:pathLst>
                <a:path w="1882139" h="1524000">
                  <a:moveTo>
                    <a:pt x="0" y="1524000"/>
                  </a:moveTo>
                  <a:lnTo>
                    <a:pt x="1882139" y="1524000"/>
                  </a:lnTo>
                  <a:lnTo>
                    <a:pt x="1882139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419980" y="1216278"/>
            <a:ext cx="58610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[1]</a:t>
            </a:r>
            <a:endParaRPr sz="18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55"/>
              </a:spcBef>
            </a:pPr>
            <a:r>
              <a:rPr sz="1800" dirty="0">
                <a:latin typeface="Calibri"/>
                <a:cs typeface="Calibri"/>
              </a:rPr>
              <a:t>op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[0]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79501" y="1202816"/>
            <a:ext cx="2456180" cy="2120900"/>
            <a:chOff x="579501" y="1202816"/>
            <a:chExt cx="2456180" cy="2120900"/>
          </a:xfrm>
        </p:grpSpPr>
        <p:sp>
          <p:nvSpPr>
            <p:cNvPr id="21" name="object 21"/>
            <p:cNvSpPr/>
            <p:nvPr/>
          </p:nvSpPr>
          <p:spPr>
            <a:xfrm>
              <a:off x="1959101" y="1212341"/>
              <a:ext cx="1066800" cy="1524000"/>
            </a:xfrm>
            <a:custGeom>
              <a:avLst/>
              <a:gdLst/>
              <a:ahLst/>
              <a:cxnLst/>
              <a:rect l="l" t="t" r="r" b="b"/>
              <a:pathLst>
                <a:path w="1066800" h="1524000">
                  <a:moveTo>
                    <a:pt x="10668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066800" y="15240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9026" y="1212341"/>
              <a:ext cx="2437130" cy="1524000"/>
            </a:xfrm>
            <a:custGeom>
              <a:avLst/>
              <a:gdLst/>
              <a:ahLst/>
              <a:cxnLst/>
              <a:rect l="l" t="t" r="r" b="b"/>
              <a:pathLst>
                <a:path w="2437130" h="1524000">
                  <a:moveTo>
                    <a:pt x="1370076" y="1524000"/>
                  </a:moveTo>
                  <a:lnTo>
                    <a:pt x="2436876" y="1524000"/>
                  </a:lnTo>
                  <a:lnTo>
                    <a:pt x="2436876" y="0"/>
                  </a:lnTo>
                  <a:lnTo>
                    <a:pt x="1370076" y="0"/>
                  </a:lnTo>
                  <a:lnTo>
                    <a:pt x="1370076" y="1524000"/>
                  </a:lnTo>
                  <a:close/>
                </a:path>
                <a:path w="2437130" h="1524000">
                  <a:moveTo>
                    <a:pt x="0" y="1524000"/>
                  </a:moveTo>
                  <a:lnTo>
                    <a:pt x="864108" y="1524000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  <a:path w="2437130" h="1524000">
                  <a:moveTo>
                    <a:pt x="257555" y="1524000"/>
                  </a:moveTo>
                  <a:lnTo>
                    <a:pt x="405383" y="1188720"/>
                  </a:lnTo>
                  <a:lnTo>
                    <a:pt x="553211" y="1524000"/>
                  </a:lnTo>
                  <a:lnTo>
                    <a:pt x="257555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51609" y="1541525"/>
              <a:ext cx="508634" cy="76200"/>
            </a:xfrm>
            <a:custGeom>
              <a:avLst/>
              <a:gdLst/>
              <a:ahLst/>
              <a:cxnLst/>
              <a:rect l="l" t="t" r="r" b="b"/>
              <a:pathLst>
                <a:path w="508635" h="76200">
                  <a:moveTo>
                    <a:pt x="432434" y="0"/>
                  </a:moveTo>
                  <a:lnTo>
                    <a:pt x="432434" y="76200"/>
                  </a:lnTo>
                  <a:lnTo>
                    <a:pt x="489584" y="47625"/>
                  </a:lnTo>
                  <a:lnTo>
                    <a:pt x="445134" y="47625"/>
                  </a:lnTo>
                  <a:lnTo>
                    <a:pt x="445134" y="28575"/>
                  </a:lnTo>
                  <a:lnTo>
                    <a:pt x="489584" y="28575"/>
                  </a:lnTo>
                  <a:lnTo>
                    <a:pt x="432434" y="0"/>
                  </a:lnTo>
                  <a:close/>
                </a:path>
                <a:path w="508635" h="76200">
                  <a:moveTo>
                    <a:pt x="43243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32434" y="47625"/>
                  </a:lnTo>
                  <a:lnTo>
                    <a:pt x="432434" y="28575"/>
                  </a:lnTo>
                  <a:close/>
                </a:path>
                <a:path w="508635" h="76200">
                  <a:moveTo>
                    <a:pt x="489584" y="28575"/>
                  </a:moveTo>
                  <a:lnTo>
                    <a:pt x="445134" y="28575"/>
                  </a:lnTo>
                  <a:lnTo>
                    <a:pt x="445134" y="47625"/>
                  </a:lnTo>
                  <a:lnTo>
                    <a:pt x="489584" y="47625"/>
                  </a:lnTo>
                  <a:lnTo>
                    <a:pt x="508634" y="38100"/>
                  </a:lnTo>
                  <a:lnTo>
                    <a:pt x="489584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69086" y="1579625"/>
              <a:ext cx="571500" cy="1734820"/>
            </a:xfrm>
            <a:custGeom>
              <a:avLst/>
              <a:gdLst/>
              <a:ahLst/>
              <a:cxnLst/>
              <a:rect l="l" t="t" r="r" b="b"/>
              <a:pathLst>
                <a:path w="571500" h="1734820">
                  <a:moveTo>
                    <a:pt x="571500" y="0"/>
                  </a:moveTo>
                  <a:lnTo>
                    <a:pt x="571500" y="1578102"/>
                  </a:lnTo>
                </a:path>
                <a:path w="571500" h="1734820">
                  <a:moveTo>
                    <a:pt x="0" y="1734312"/>
                  </a:moveTo>
                  <a:lnTo>
                    <a:pt x="496824" y="1734312"/>
                  </a:lnTo>
                  <a:lnTo>
                    <a:pt x="496824" y="1399032"/>
                  </a:lnTo>
                  <a:lnTo>
                    <a:pt x="0" y="1399032"/>
                  </a:lnTo>
                  <a:lnTo>
                    <a:pt x="0" y="1734312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88211" y="2981705"/>
            <a:ext cx="256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74700" y="1546097"/>
            <a:ext cx="1375410" cy="1613535"/>
            <a:chOff x="274700" y="1546097"/>
            <a:chExt cx="1375410" cy="1613535"/>
          </a:xfrm>
        </p:grpSpPr>
        <p:sp>
          <p:nvSpPr>
            <p:cNvPr id="27" name="object 27"/>
            <p:cNvSpPr/>
            <p:nvPr/>
          </p:nvSpPr>
          <p:spPr>
            <a:xfrm>
              <a:off x="284225" y="1572005"/>
              <a:ext cx="1356360" cy="1578610"/>
            </a:xfrm>
            <a:custGeom>
              <a:avLst/>
              <a:gdLst/>
              <a:ahLst/>
              <a:cxnLst/>
              <a:rect l="l" t="t" r="r" b="b"/>
              <a:pathLst>
                <a:path w="1356360" h="1578610">
                  <a:moveTo>
                    <a:pt x="1355979" y="1574292"/>
                  </a:moveTo>
                  <a:lnTo>
                    <a:pt x="1281684" y="1574292"/>
                  </a:lnTo>
                </a:path>
                <a:path w="1356360" h="1578610">
                  <a:moveTo>
                    <a:pt x="784110" y="1574292"/>
                  </a:moveTo>
                  <a:lnTo>
                    <a:pt x="0" y="1574292"/>
                  </a:lnTo>
                </a:path>
                <a:path w="1356360" h="1578610">
                  <a:moveTo>
                    <a:pt x="3048" y="0"/>
                  </a:moveTo>
                  <a:lnTo>
                    <a:pt x="3048" y="15781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5081" y="1546097"/>
              <a:ext cx="307340" cy="76200"/>
            </a:xfrm>
            <a:custGeom>
              <a:avLst/>
              <a:gdLst/>
              <a:ahLst/>
              <a:cxnLst/>
              <a:rect l="l" t="t" r="r" b="b"/>
              <a:pathLst>
                <a:path w="307340" h="76200">
                  <a:moveTo>
                    <a:pt x="231140" y="0"/>
                  </a:moveTo>
                  <a:lnTo>
                    <a:pt x="231140" y="76200"/>
                  </a:lnTo>
                  <a:lnTo>
                    <a:pt x="288290" y="47625"/>
                  </a:lnTo>
                  <a:lnTo>
                    <a:pt x="243840" y="47625"/>
                  </a:lnTo>
                  <a:lnTo>
                    <a:pt x="243840" y="28575"/>
                  </a:lnTo>
                  <a:lnTo>
                    <a:pt x="288290" y="28575"/>
                  </a:lnTo>
                  <a:lnTo>
                    <a:pt x="231140" y="0"/>
                  </a:lnTo>
                  <a:close/>
                </a:path>
                <a:path w="307340" h="76200">
                  <a:moveTo>
                    <a:pt x="23114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231140" y="47625"/>
                  </a:lnTo>
                  <a:lnTo>
                    <a:pt x="231140" y="28575"/>
                  </a:lnTo>
                  <a:close/>
                </a:path>
                <a:path w="307340" h="76200">
                  <a:moveTo>
                    <a:pt x="288290" y="28575"/>
                  </a:moveTo>
                  <a:lnTo>
                    <a:pt x="243840" y="28575"/>
                  </a:lnTo>
                  <a:lnTo>
                    <a:pt x="243840" y="47625"/>
                  </a:lnTo>
                  <a:lnTo>
                    <a:pt x="288290" y="47625"/>
                  </a:lnTo>
                  <a:lnTo>
                    <a:pt x="307340" y="38100"/>
                  </a:lnTo>
                  <a:lnTo>
                    <a:pt x="28829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541523" y="2035555"/>
            <a:ext cx="455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25" dirty="0">
                <a:latin typeface="Calibri"/>
                <a:cs typeface="Calibri"/>
              </a:rPr>
              <a:t>[0]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351782" y="3501390"/>
            <a:ext cx="1882139" cy="2263140"/>
          </a:xfrm>
          <a:custGeom>
            <a:avLst/>
            <a:gdLst/>
            <a:ahLst/>
            <a:cxnLst/>
            <a:rect l="l" t="t" r="r" b="b"/>
            <a:pathLst>
              <a:path w="1882139" h="2263140">
                <a:moveTo>
                  <a:pt x="0" y="2263139"/>
                </a:moveTo>
                <a:lnTo>
                  <a:pt x="1882139" y="2263139"/>
                </a:lnTo>
                <a:lnTo>
                  <a:pt x="1882139" y="0"/>
                </a:lnTo>
                <a:lnTo>
                  <a:pt x="0" y="0"/>
                </a:lnTo>
                <a:lnTo>
                  <a:pt x="0" y="2263139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418838" y="3685794"/>
            <a:ext cx="26860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Ra Rb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22775" y="4396597"/>
            <a:ext cx="418465" cy="80454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5"/>
              </a:spcBef>
            </a:pPr>
            <a:r>
              <a:rPr sz="1800" spc="-25" dirty="0">
                <a:latin typeface="Calibri"/>
                <a:cs typeface="Calibri"/>
              </a:rPr>
              <a:t>Wr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800" spc="-25" dirty="0">
                <a:latin typeface="Calibri"/>
                <a:cs typeface="Calibri"/>
              </a:rPr>
              <a:t>Wrd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16661" y="1471041"/>
            <a:ext cx="8000365" cy="4836160"/>
            <a:chOff x="716661" y="1471041"/>
            <a:chExt cx="8000365" cy="4836160"/>
          </a:xfrm>
        </p:grpSpPr>
        <p:sp>
          <p:nvSpPr>
            <p:cNvPr id="34" name="object 34"/>
            <p:cNvSpPr/>
            <p:nvPr/>
          </p:nvSpPr>
          <p:spPr>
            <a:xfrm>
              <a:off x="4345686" y="5465825"/>
              <a:ext cx="335280" cy="295910"/>
            </a:xfrm>
            <a:custGeom>
              <a:avLst/>
              <a:gdLst/>
              <a:ahLst/>
              <a:cxnLst/>
              <a:rect l="l" t="t" r="r" b="b"/>
              <a:pathLst>
                <a:path w="335279" h="295910">
                  <a:moveTo>
                    <a:pt x="0" y="0"/>
                  </a:moveTo>
                  <a:lnTo>
                    <a:pt x="0" y="295656"/>
                  </a:lnTo>
                  <a:lnTo>
                    <a:pt x="335279" y="1478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25902" y="1931670"/>
              <a:ext cx="1655445" cy="3830320"/>
            </a:xfrm>
            <a:custGeom>
              <a:avLst/>
              <a:gdLst/>
              <a:ahLst/>
              <a:cxnLst/>
              <a:rect l="l" t="t" r="r" b="b"/>
              <a:pathLst>
                <a:path w="1655445" h="3830320">
                  <a:moveTo>
                    <a:pt x="1319784" y="3534155"/>
                  </a:moveTo>
                  <a:lnTo>
                    <a:pt x="1655064" y="3681983"/>
                  </a:lnTo>
                  <a:lnTo>
                    <a:pt x="1319784" y="3829811"/>
                  </a:lnTo>
                  <a:lnTo>
                    <a:pt x="1319784" y="3534155"/>
                  </a:lnTo>
                  <a:close/>
                </a:path>
                <a:path w="1655445" h="3830320">
                  <a:moveTo>
                    <a:pt x="0" y="0"/>
                  </a:moveTo>
                  <a:lnTo>
                    <a:pt x="779780" y="0"/>
                  </a:lnTo>
                </a:path>
                <a:path w="1655445" h="3830320">
                  <a:moveTo>
                    <a:pt x="780288" y="0"/>
                  </a:moveTo>
                  <a:lnTo>
                    <a:pt x="780288" y="1945385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806190" y="3838194"/>
              <a:ext cx="534035" cy="76200"/>
            </a:xfrm>
            <a:custGeom>
              <a:avLst/>
              <a:gdLst/>
              <a:ahLst/>
              <a:cxnLst/>
              <a:rect l="l" t="t" r="r" b="b"/>
              <a:pathLst>
                <a:path w="534035" h="76200">
                  <a:moveTo>
                    <a:pt x="457835" y="0"/>
                  </a:moveTo>
                  <a:lnTo>
                    <a:pt x="457835" y="76199"/>
                  </a:lnTo>
                  <a:lnTo>
                    <a:pt x="514985" y="47624"/>
                  </a:lnTo>
                  <a:lnTo>
                    <a:pt x="470535" y="47624"/>
                  </a:lnTo>
                  <a:lnTo>
                    <a:pt x="470535" y="28574"/>
                  </a:lnTo>
                  <a:lnTo>
                    <a:pt x="514985" y="28574"/>
                  </a:lnTo>
                  <a:lnTo>
                    <a:pt x="457835" y="0"/>
                  </a:lnTo>
                  <a:close/>
                </a:path>
                <a:path w="534035" h="76200">
                  <a:moveTo>
                    <a:pt x="457835" y="28574"/>
                  </a:moveTo>
                  <a:lnTo>
                    <a:pt x="0" y="28574"/>
                  </a:lnTo>
                  <a:lnTo>
                    <a:pt x="0" y="47624"/>
                  </a:lnTo>
                  <a:lnTo>
                    <a:pt x="457835" y="47624"/>
                  </a:lnTo>
                  <a:lnTo>
                    <a:pt x="457835" y="28574"/>
                  </a:lnTo>
                  <a:close/>
                </a:path>
                <a:path w="534035" h="76200">
                  <a:moveTo>
                    <a:pt x="514985" y="28574"/>
                  </a:moveTo>
                  <a:lnTo>
                    <a:pt x="470535" y="28574"/>
                  </a:lnTo>
                  <a:lnTo>
                    <a:pt x="470535" y="47624"/>
                  </a:lnTo>
                  <a:lnTo>
                    <a:pt x="514985" y="47624"/>
                  </a:lnTo>
                  <a:lnTo>
                    <a:pt x="534035" y="38099"/>
                  </a:lnTo>
                  <a:lnTo>
                    <a:pt x="514985" y="28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025902" y="2219706"/>
              <a:ext cx="559435" cy="1942464"/>
            </a:xfrm>
            <a:custGeom>
              <a:avLst/>
              <a:gdLst/>
              <a:ahLst/>
              <a:cxnLst/>
              <a:rect l="l" t="t" r="r" b="b"/>
              <a:pathLst>
                <a:path w="559435" h="1942464">
                  <a:moveTo>
                    <a:pt x="0" y="0"/>
                  </a:moveTo>
                  <a:lnTo>
                    <a:pt x="559308" y="0"/>
                  </a:lnTo>
                </a:path>
                <a:path w="559435" h="1942464">
                  <a:moveTo>
                    <a:pt x="556260" y="0"/>
                  </a:moveTo>
                  <a:lnTo>
                    <a:pt x="556768" y="1942211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585083" y="4135501"/>
              <a:ext cx="755015" cy="76200"/>
            </a:xfrm>
            <a:custGeom>
              <a:avLst/>
              <a:gdLst/>
              <a:ahLst/>
              <a:cxnLst/>
              <a:rect l="l" t="t" r="r" b="b"/>
              <a:pathLst>
                <a:path w="755014" h="76200">
                  <a:moveTo>
                    <a:pt x="679068" y="0"/>
                  </a:moveTo>
                  <a:lnTo>
                    <a:pt x="678639" y="28625"/>
                  </a:lnTo>
                  <a:lnTo>
                    <a:pt x="691388" y="28829"/>
                  </a:lnTo>
                  <a:lnTo>
                    <a:pt x="691011" y="47676"/>
                  </a:lnTo>
                  <a:lnTo>
                    <a:pt x="691006" y="47879"/>
                  </a:lnTo>
                  <a:lnTo>
                    <a:pt x="678350" y="47879"/>
                  </a:lnTo>
                  <a:lnTo>
                    <a:pt x="677926" y="76200"/>
                  </a:lnTo>
                  <a:lnTo>
                    <a:pt x="736911" y="47879"/>
                  </a:lnTo>
                  <a:lnTo>
                    <a:pt x="691006" y="47879"/>
                  </a:lnTo>
                  <a:lnTo>
                    <a:pt x="678353" y="47676"/>
                  </a:lnTo>
                  <a:lnTo>
                    <a:pt x="737333" y="47676"/>
                  </a:lnTo>
                  <a:lnTo>
                    <a:pt x="754633" y="39369"/>
                  </a:lnTo>
                  <a:lnTo>
                    <a:pt x="679068" y="0"/>
                  </a:lnTo>
                  <a:close/>
                </a:path>
                <a:path w="755014" h="76200">
                  <a:moveTo>
                    <a:pt x="678639" y="28625"/>
                  </a:moveTo>
                  <a:lnTo>
                    <a:pt x="678516" y="36830"/>
                  </a:lnTo>
                  <a:lnTo>
                    <a:pt x="678478" y="39369"/>
                  </a:lnTo>
                  <a:lnTo>
                    <a:pt x="678353" y="47676"/>
                  </a:lnTo>
                  <a:lnTo>
                    <a:pt x="691006" y="47879"/>
                  </a:lnTo>
                  <a:lnTo>
                    <a:pt x="691388" y="28829"/>
                  </a:lnTo>
                  <a:lnTo>
                    <a:pt x="678639" y="28625"/>
                  </a:lnTo>
                  <a:close/>
                </a:path>
                <a:path w="755014" h="76200">
                  <a:moveTo>
                    <a:pt x="253" y="17780"/>
                  </a:moveTo>
                  <a:lnTo>
                    <a:pt x="109" y="28625"/>
                  </a:lnTo>
                  <a:lnTo>
                    <a:pt x="0" y="36830"/>
                  </a:lnTo>
                  <a:lnTo>
                    <a:pt x="678353" y="47676"/>
                  </a:lnTo>
                  <a:lnTo>
                    <a:pt x="678478" y="39369"/>
                  </a:lnTo>
                  <a:lnTo>
                    <a:pt x="678516" y="36830"/>
                  </a:lnTo>
                  <a:lnTo>
                    <a:pt x="678639" y="28625"/>
                  </a:lnTo>
                  <a:lnTo>
                    <a:pt x="253" y="17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07713" y="2990850"/>
              <a:ext cx="0" cy="1694814"/>
            </a:xfrm>
            <a:custGeom>
              <a:avLst/>
              <a:gdLst/>
              <a:ahLst/>
              <a:cxnLst/>
              <a:rect l="l" t="t" r="r" b="b"/>
              <a:pathLst>
                <a:path h="1694814">
                  <a:moveTo>
                    <a:pt x="0" y="0"/>
                  </a:moveTo>
                  <a:lnTo>
                    <a:pt x="0" y="16944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804412" y="1480565"/>
              <a:ext cx="3700779" cy="3810635"/>
            </a:xfrm>
            <a:custGeom>
              <a:avLst/>
              <a:gdLst/>
              <a:ahLst/>
              <a:cxnLst/>
              <a:rect l="l" t="t" r="r" b="b"/>
              <a:pathLst>
                <a:path w="3700779" h="3810635">
                  <a:moveTo>
                    <a:pt x="525856" y="3217799"/>
                  </a:moveTo>
                  <a:lnTo>
                    <a:pt x="479425" y="3217799"/>
                  </a:lnTo>
                  <a:lnTo>
                    <a:pt x="466623" y="3217799"/>
                  </a:lnTo>
                  <a:lnTo>
                    <a:pt x="465963" y="3246120"/>
                  </a:lnTo>
                  <a:lnTo>
                    <a:pt x="525856" y="3217799"/>
                  </a:lnTo>
                  <a:close/>
                </a:path>
                <a:path w="3700779" h="3810635">
                  <a:moveTo>
                    <a:pt x="543052" y="3209671"/>
                  </a:moveTo>
                  <a:lnTo>
                    <a:pt x="467741" y="3169920"/>
                  </a:lnTo>
                  <a:lnTo>
                    <a:pt x="467067" y="3198469"/>
                  </a:lnTo>
                  <a:lnTo>
                    <a:pt x="508" y="3187827"/>
                  </a:lnTo>
                  <a:lnTo>
                    <a:pt x="0" y="3206877"/>
                  </a:lnTo>
                  <a:lnTo>
                    <a:pt x="466623" y="3217519"/>
                  </a:lnTo>
                  <a:lnTo>
                    <a:pt x="479425" y="3217519"/>
                  </a:lnTo>
                  <a:lnTo>
                    <a:pt x="526465" y="3217519"/>
                  </a:lnTo>
                  <a:lnTo>
                    <a:pt x="543052" y="3209671"/>
                  </a:lnTo>
                  <a:close/>
                </a:path>
                <a:path w="3700779" h="3810635">
                  <a:moveTo>
                    <a:pt x="3231896" y="2694432"/>
                  </a:moveTo>
                  <a:lnTo>
                    <a:pt x="3212846" y="2684907"/>
                  </a:lnTo>
                  <a:lnTo>
                    <a:pt x="3155696" y="2656332"/>
                  </a:lnTo>
                  <a:lnTo>
                    <a:pt x="3155696" y="2684907"/>
                  </a:lnTo>
                  <a:lnTo>
                    <a:pt x="2427986" y="2684907"/>
                  </a:lnTo>
                  <a:lnTo>
                    <a:pt x="2427986" y="2703957"/>
                  </a:lnTo>
                  <a:lnTo>
                    <a:pt x="3155696" y="2703957"/>
                  </a:lnTo>
                  <a:lnTo>
                    <a:pt x="3155696" y="2732532"/>
                  </a:lnTo>
                  <a:lnTo>
                    <a:pt x="3212846" y="2703957"/>
                  </a:lnTo>
                  <a:lnTo>
                    <a:pt x="3231896" y="2694432"/>
                  </a:lnTo>
                  <a:close/>
                </a:path>
                <a:path w="3700779" h="3810635">
                  <a:moveTo>
                    <a:pt x="3233140" y="3782060"/>
                  </a:moveTo>
                  <a:lnTo>
                    <a:pt x="3187065" y="3782060"/>
                  </a:lnTo>
                  <a:lnTo>
                    <a:pt x="3174365" y="3782060"/>
                  </a:lnTo>
                  <a:lnTo>
                    <a:pt x="3173857" y="3810381"/>
                  </a:lnTo>
                  <a:lnTo>
                    <a:pt x="3233140" y="3782060"/>
                  </a:lnTo>
                  <a:close/>
                </a:path>
                <a:path w="3700779" h="3810635">
                  <a:moveTo>
                    <a:pt x="3250692" y="3773678"/>
                  </a:moveTo>
                  <a:lnTo>
                    <a:pt x="3175254" y="3734193"/>
                  </a:lnTo>
                  <a:lnTo>
                    <a:pt x="3174720" y="3762781"/>
                  </a:lnTo>
                  <a:lnTo>
                    <a:pt x="2489073" y="3750183"/>
                  </a:lnTo>
                  <a:lnTo>
                    <a:pt x="2488895" y="3762781"/>
                  </a:lnTo>
                  <a:lnTo>
                    <a:pt x="2488819" y="3769233"/>
                  </a:lnTo>
                  <a:lnTo>
                    <a:pt x="3174377" y="3781831"/>
                  </a:lnTo>
                  <a:lnTo>
                    <a:pt x="3187065" y="3781831"/>
                  </a:lnTo>
                  <a:lnTo>
                    <a:pt x="3233623" y="3781831"/>
                  </a:lnTo>
                  <a:lnTo>
                    <a:pt x="3250692" y="3773678"/>
                  </a:lnTo>
                  <a:close/>
                </a:path>
                <a:path w="3700779" h="3810635">
                  <a:moveTo>
                    <a:pt x="3700526" y="2433066"/>
                  </a:moveTo>
                  <a:lnTo>
                    <a:pt x="3671951" y="2433066"/>
                  </a:lnTo>
                  <a:lnTo>
                    <a:pt x="3671951" y="0"/>
                  </a:lnTo>
                  <a:lnTo>
                    <a:pt x="3652901" y="0"/>
                  </a:lnTo>
                  <a:lnTo>
                    <a:pt x="3652901" y="2433066"/>
                  </a:lnTo>
                  <a:lnTo>
                    <a:pt x="3624326" y="2433066"/>
                  </a:lnTo>
                  <a:lnTo>
                    <a:pt x="3662426" y="2509266"/>
                  </a:lnTo>
                  <a:lnTo>
                    <a:pt x="3694176" y="2445766"/>
                  </a:lnTo>
                  <a:lnTo>
                    <a:pt x="3700526" y="24330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804665" y="1480566"/>
              <a:ext cx="4902835" cy="4817110"/>
            </a:xfrm>
            <a:custGeom>
              <a:avLst/>
              <a:gdLst/>
              <a:ahLst/>
              <a:cxnLst/>
              <a:rect l="l" t="t" r="r" b="b"/>
              <a:pathLst>
                <a:path w="4902834" h="4817110">
                  <a:moveTo>
                    <a:pt x="2447544" y="0"/>
                  </a:moveTo>
                  <a:lnTo>
                    <a:pt x="3663061" y="0"/>
                  </a:lnTo>
                </a:path>
                <a:path w="4902834" h="4817110">
                  <a:moveTo>
                    <a:pt x="4514088" y="3188208"/>
                  </a:moveTo>
                  <a:lnTo>
                    <a:pt x="4902454" y="3188208"/>
                  </a:lnTo>
                </a:path>
                <a:path w="4902834" h="4817110">
                  <a:moveTo>
                    <a:pt x="4902708" y="3194304"/>
                  </a:moveTo>
                  <a:lnTo>
                    <a:pt x="4902708" y="4790808"/>
                  </a:lnTo>
                </a:path>
                <a:path w="4902834" h="4817110">
                  <a:moveTo>
                    <a:pt x="0" y="4792980"/>
                  </a:moveTo>
                  <a:lnTo>
                    <a:pt x="4902708" y="4816754"/>
                  </a:lnTo>
                </a:path>
                <a:path w="4902834" h="4817110">
                  <a:moveTo>
                    <a:pt x="0" y="3549396"/>
                  </a:moveTo>
                  <a:lnTo>
                    <a:pt x="0" y="47849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795268" y="4998338"/>
              <a:ext cx="555625" cy="76200"/>
            </a:xfrm>
            <a:custGeom>
              <a:avLst/>
              <a:gdLst/>
              <a:ahLst/>
              <a:cxnLst/>
              <a:rect l="l" t="t" r="r" b="b"/>
              <a:pathLst>
                <a:path w="555625" h="76200">
                  <a:moveTo>
                    <a:pt x="479933" y="0"/>
                  </a:moveTo>
                  <a:lnTo>
                    <a:pt x="479169" y="28621"/>
                  </a:lnTo>
                  <a:lnTo>
                    <a:pt x="491871" y="28956"/>
                  </a:lnTo>
                  <a:lnTo>
                    <a:pt x="491371" y="47671"/>
                  </a:lnTo>
                  <a:lnTo>
                    <a:pt x="491363" y="48006"/>
                  </a:lnTo>
                  <a:lnTo>
                    <a:pt x="478652" y="48006"/>
                  </a:lnTo>
                  <a:lnTo>
                    <a:pt x="477901" y="76200"/>
                  </a:lnTo>
                  <a:lnTo>
                    <a:pt x="538259" y="48006"/>
                  </a:lnTo>
                  <a:lnTo>
                    <a:pt x="491363" y="48006"/>
                  </a:lnTo>
                  <a:lnTo>
                    <a:pt x="478661" y="47671"/>
                  </a:lnTo>
                  <a:lnTo>
                    <a:pt x="538976" y="47671"/>
                  </a:lnTo>
                  <a:lnTo>
                    <a:pt x="555117" y="40131"/>
                  </a:lnTo>
                  <a:lnTo>
                    <a:pt x="479933" y="0"/>
                  </a:lnTo>
                  <a:close/>
                </a:path>
                <a:path w="555625" h="76200">
                  <a:moveTo>
                    <a:pt x="479169" y="28621"/>
                  </a:moveTo>
                  <a:lnTo>
                    <a:pt x="478661" y="47671"/>
                  </a:lnTo>
                  <a:lnTo>
                    <a:pt x="491363" y="48006"/>
                  </a:lnTo>
                  <a:lnTo>
                    <a:pt x="491871" y="28956"/>
                  </a:lnTo>
                  <a:lnTo>
                    <a:pt x="479169" y="28621"/>
                  </a:lnTo>
                  <a:close/>
                </a:path>
                <a:path w="555625" h="76200">
                  <a:moveTo>
                    <a:pt x="508" y="16002"/>
                  </a:moveTo>
                  <a:lnTo>
                    <a:pt x="0" y="35052"/>
                  </a:lnTo>
                  <a:lnTo>
                    <a:pt x="478661" y="47671"/>
                  </a:lnTo>
                  <a:lnTo>
                    <a:pt x="479160" y="28956"/>
                  </a:lnTo>
                  <a:lnTo>
                    <a:pt x="479169" y="28621"/>
                  </a:lnTo>
                  <a:lnTo>
                    <a:pt x="508" y="160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6186" y="2743962"/>
              <a:ext cx="3619500" cy="2869565"/>
            </a:xfrm>
            <a:custGeom>
              <a:avLst/>
              <a:gdLst/>
              <a:ahLst/>
              <a:cxnLst/>
              <a:rect l="l" t="t" r="r" b="b"/>
              <a:pathLst>
                <a:path w="3619500" h="2869565">
                  <a:moveTo>
                    <a:pt x="0" y="2831591"/>
                  </a:moveTo>
                  <a:lnTo>
                    <a:pt x="3619246" y="2868942"/>
                  </a:lnTo>
                </a:path>
                <a:path w="3619500" h="2869565">
                  <a:moveTo>
                    <a:pt x="246722" y="0"/>
                  </a:moveTo>
                  <a:lnTo>
                    <a:pt x="236220" y="2832608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17133" y="3972559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21704" y="4752594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130922" y="3944873"/>
            <a:ext cx="175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65252" y="540999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clk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71207" y="3459226"/>
            <a:ext cx="563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alu[1]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117205" y="4427346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012314" y="1213230"/>
            <a:ext cx="990600" cy="78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2445">
              <a:lnSpc>
                <a:spcPts val="1864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25" dirty="0">
                <a:latin typeface="Calibri"/>
                <a:cs typeface="Calibri"/>
              </a:rPr>
              <a:t>[3]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ts val="1864"/>
              </a:lnSpc>
            </a:pPr>
            <a:r>
              <a:rPr sz="1800" dirty="0">
                <a:latin typeface="Calibri"/>
                <a:cs typeface="Calibri"/>
              </a:rPr>
              <a:t>a[1]</a:t>
            </a:r>
            <a:r>
              <a:rPr sz="1800" spc="50" dirty="0">
                <a:latin typeface="Calibri"/>
                <a:cs typeface="Calibri"/>
              </a:rPr>
              <a:t>  </a:t>
            </a:r>
            <a:r>
              <a:rPr sz="2700" baseline="-21604" dirty="0">
                <a:latin typeface="Calibri"/>
                <a:cs typeface="Calibri"/>
              </a:rPr>
              <a:t>d</a:t>
            </a:r>
            <a:r>
              <a:rPr sz="2700" spc="7" baseline="-21604" dirty="0">
                <a:latin typeface="Calibri"/>
                <a:cs typeface="Calibri"/>
              </a:rPr>
              <a:t> </a:t>
            </a:r>
            <a:r>
              <a:rPr sz="2700" spc="-37" baseline="-21604" dirty="0">
                <a:latin typeface="Calibri"/>
                <a:cs typeface="Calibri"/>
              </a:rPr>
              <a:t>[2]</a:t>
            </a:r>
            <a:endParaRPr sz="2700" baseline="-21604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114"/>
              </a:spcBef>
            </a:pPr>
            <a:r>
              <a:rPr sz="1800" dirty="0">
                <a:latin typeface="Calibri"/>
                <a:cs typeface="Calibri"/>
              </a:rPr>
              <a:t>a[0]</a:t>
            </a:r>
            <a:r>
              <a:rPr sz="1800" spc="45" dirty="0">
                <a:latin typeface="Calibri"/>
                <a:cs typeface="Calibri"/>
              </a:rPr>
              <a:t>  </a:t>
            </a:r>
            <a:r>
              <a:rPr sz="2700" baseline="-13888" dirty="0">
                <a:latin typeface="Calibri"/>
                <a:cs typeface="Calibri"/>
              </a:rPr>
              <a:t>d</a:t>
            </a:r>
            <a:r>
              <a:rPr sz="2700" spc="15" baseline="-13888" dirty="0">
                <a:latin typeface="Calibri"/>
                <a:cs typeface="Calibri"/>
              </a:rPr>
              <a:t> </a:t>
            </a:r>
            <a:r>
              <a:rPr sz="2700" spc="-37" baseline="-13888" dirty="0">
                <a:latin typeface="Calibri"/>
                <a:cs typeface="Calibri"/>
              </a:rPr>
              <a:t>[1]</a:t>
            </a:r>
            <a:endParaRPr sz="2700" baseline="-13888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73761" y="1841754"/>
            <a:ext cx="1410970" cy="1418590"/>
            <a:chOff x="373761" y="1841754"/>
            <a:chExt cx="1410970" cy="1418590"/>
          </a:xfrm>
        </p:grpSpPr>
        <p:sp>
          <p:nvSpPr>
            <p:cNvPr id="52" name="object 52"/>
            <p:cNvSpPr/>
            <p:nvPr/>
          </p:nvSpPr>
          <p:spPr>
            <a:xfrm>
              <a:off x="383286" y="1869186"/>
              <a:ext cx="1391920" cy="1381760"/>
            </a:xfrm>
            <a:custGeom>
              <a:avLst/>
              <a:gdLst/>
              <a:ahLst/>
              <a:cxnLst/>
              <a:rect l="l" t="t" r="r" b="b"/>
              <a:pathLst>
                <a:path w="1391920" h="1381760">
                  <a:moveTo>
                    <a:pt x="1391412" y="25908"/>
                  </a:moveTo>
                  <a:lnTo>
                    <a:pt x="1391412" y="1367154"/>
                  </a:lnTo>
                </a:path>
                <a:path w="1391920" h="1381760">
                  <a:moveTo>
                    <a:pt x="1390269" y="1367027"/>
                  </a:moveTo>
                  <a:lnTo>
                    <a:pt x="1182624" y="1367027"/>
                  </a:lnTo>
                </a:path>
                <a:path w="1391920" h="1381760">
                  <a:moveTo>
                    <a:pt x="685050" y="1368552"/>
                  </a:moveTo>
                  <a:lnTo>
                    <a:pt x="0" y="1368552"/>
                  </a:lnTo>
                </a:path>
                <a:path w="1391920" h="1381760">
                  <a:moveTo>
                    <a:pt x="0" y="0"/>
                  </a:moveTo>
                  <a:lnTo>
                    <a:pt x="0" y="138125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0906" y="1841754"/>
              <a:ext cx="198754" cy="7620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614578" y="1415541"/>
            <a:ext cx="822960" cy="88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aseline="1543" dirty="0">
                <a:latin typeface="Calibri"/>
                <a:cs typeface="Calibri"/>
              </a:rPr>
              <a:t>i[1]</a:t>
            </a:r>
            <a:r>
              <a:rPr sz="2700" spc="705" baseline="1543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o[1]</a:t>
            </a:r>
            <a:endParaRPr sz="18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z="1800" dirty="0">
                <a:latin typeface="Calibri"/>
                <a:cs typeface="Calibri"/>
              </a:rPr>
              <a:t>i[0]</a:t>
            </a:r>
            <a:r>
              <a:rPr sz="1800" spc="4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o[0]</a:t>
            </a:r>
            <a:endParaRPr sz="180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204"/>
              </a:spcBef>
            </a:pPr>
            <a:r>
              <a:rPr sz="1800" spc="-25" dirty="0">
                <a:latin typeface="Calibri"/>
                <a:cs typeface="Calibri"/>
              </a:rPr>
              <a:t>PC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451610" y="1870710"/>
            <a:ext cx="508634" cy="76200"/>
          </a:xfrm>
          <a:custGeom>
            <a:avLst/>
            <a:gdLst/>
            <a:ahLst/>
            <a:cxnLst/>
            <a:rect l="l" t="t" r="r" b="b"/>
            <a:pathLst>
              <a:path w="508635" h="76200">
                <a:moveTo>
                  <a:pt x="432434" y="0"/>
                </a:moveTo>
                <a:lnTo>
                  <a:pt x="432434" y="76200"/>
                </a:lnTo>
                <a:lnTo>
                  <a:pt x="489584" y="47625"/>
                </a:lnTo>
                <a:lnTo>
                  <a:pt x="445134" y="47625"/>
                </a:lnTo>
                <a:lnTo>
                  <a:pt x="445134" y="28575"/>
                </a:lnTo>
                <a:lnTo>
                  <a:pt x="489584" y="28575"/>
                </a:lnTo>
                <a:lnTo>
                  <a:pt x="432434" y="0"/>
                </a:lnTo>
                <a:close/>
              </a:path>
              <a:path w="508635" h="76200">
                <a:moveTo>
                  <a:pt x="432434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432434" y="47625"/>
                </a:lnTo>
                <a:lnTo>
                  <a:pt x="432434" y="28575"/>
                </a:lnTo>
                <a:close/>
              </a:path>
              <a:path w="508635" h="76200">
                <a:moveTo>
                  <a:pt x="489584" y="28575"/>
                </a:moveTo>
                <a:lnTo>
                  <a:pt x="445134" y="28575"/>
                </a:lnTo>
                <a:lnTo>
                  <a:pt x="445134" y="47625"/>
                </a:lnTo>
                <a:lnTo>
                  <a:pt x="489584" y="47625"/>
                </a:lnTo>
                <a:lnTo>
                  <a:pt x="508634" y="38100"/>
                </a:lnTo>
                <a:lnTo>
                  <a:pt x="489584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5327141" y="1300353"/>
            <a:ext cx="906144" cy="5568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6034" marR="5080" indent="-13335">
              <a:lnSpc>
                <a:spcPts val="2020"/>
              </a:lnSpc>
              <a:spcBef>
                <a:spcPts val="280"/>
              </a:spcBef>
            </a:pPr>
            <a:r>
              <a:rPr sz="1800" spc="-10" dirty="0">
                <a:latin typeface="Calibri"/>
                <a:cs typeface="Calibri"/>
              </a:rPr>
              <a:t>op_sel[1] op_sel[0]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265926" y="1732026"/>
            <a:ext cx="1632585" cy="2436495"/>
            <a:chOff x="6265926" y="1732026"/>
            <a:chExt cx="1632585" cy="2436495"/>
          </a:xfrm>
        </p:grpSpPr>
        <p:sp>
          <p:nvSpPr>
            <p:cNvPr id="58" name="object 58"/>
            <p:cNvSpPr/>
            <p:nvPr/>
          </p:nvSpPr>
          <p:spPr>
            <a:xfrm>
              <a:off x="6265926" y="1744218"/>
              <a:ext cx="1593850" cy="0"/>
            </a:xfrm>
            <a:custGeom>
              <a:avLst/>
              <a:gdLst/>
              <a:ahLst/>
              <a:cxnLst/>
              <a:rect l="l" t="t" r="r" b="b"/>
              <a:pathLst>
                <a:path w="1593850">
                  <a:moveTo>
                    <a:pt x="0" y="0"/>
                  </a:moveTo>
                  <a:lnTo>
                    <a:pt x="159359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821930" y="1732026"/>
              <a:ext cx="76200" cy="2436495"/>
            </a:xfrm>
            <a:custGeom>
              <a:avLst/>
              <a:gdLst/>
              <a:ahLst/>
              <a:cxnLst/>
              <a:rect l="l" t="t" r="r" b="b"/>
              <a:pathLst>
                <a:path w="76200" h="2436495">
                  <a:moveTo>
                    <a:pt x="28575" y="2359787"/>
                  </a:moveTo>
                  <a:lnTo>
                    <a:pt x="0" y="2359787"/>
                  </a:lnTo>
                  <a:lnTo>
                    <a:pt x="38100" y="2435987"/>
                  </a:lnTo>
                  <a:lnTo>
                    <a:pt x="69850" y="2372487"/>
                  </a:lnTo>
                  <a:lnTo>
                    <a:pt x="28575" y="2372487"/>
                  </a:lnTo>
                  <a:lnTo>
                    <a:pt x="28575" y="2359787"/>
                  </a:lnTo>
                  <a:close/>
                </a:path>
                <a:path w="76200" h="2436495">
                  <a:moveTo>
                    <a:pt x="47625" y="0"/>
                  </a:moveTo>
                  <a:lnTo>
                    <a:pt x="28575" y="0"/>
                  </a:lnTo>
                  <a:lnTo>
                    <a:pt x="28575" y="2372487"/>
                  </a:lnTo>
                  <a:lnTo>
                    <a:pt x="47625" y="2372487"/>
                  </a:lnTo>
                  <a:lnTo>
                    <a:pt x="47625" y="0"/>
                  </a:lnTo>
                  <a:close/>
                </a:path>
                <a:path w="76200" h="2436495">
                  <a:moveTo>
                    <a:pt x="76200" y="2359787"/>
                  </a:moveTo>
                  <a:lnTo>
                    <a:pt x="47625" y="2359787"/>
                  </a:lnTo>
                  <a:lnTo>
                    <a:pt x="47625" y="2372487"/>
                  </a:lnTo>
                  <a:lnTo>
                    <a:pt x="69850" y="2372487"/>
                  </a:lnTo>
                  <a:lnTo>
                    <a:pt x="76200" y="2359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915147" y="3481781"/>
            <a:ext cx="5638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alu[0]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421118" y="5335651"/>
            <a:ext cx="1034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Arithmetic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21118" y="5609945"/>
            <a:ext cx="913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395718" y="5705957"/>
            <a:ext cx="10553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1800" b="1" spc="-470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4800" b="1" spc="-1597" baseline="12152" dirty="0"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it</a:t>
            </a:r>
            <a:r>
              <a:rPr sz="1800" b="1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(ALU)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108317" y="5036261"/>
            <a:ext cx="189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06239" y="2987116"/>
            <a:ext cx="30441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000000"/>
                </a:solidFill>
              </a:rPr>
              <a:t>ALU</a:t>
            </a:r>
            <a:r>
              <a:rPr sz="5400" spc="-195" dirty="0">
                <a:solidFill>
                  <a:srgbClr val="000000"/>
                </a:solidFill>
              </a:rPr>
              <a:t> </a:t>
            </a:r>
            <a:r>
              <a:rPr sz="5400" spc="-10" dirty="0">
                <a:solidFill>
                  <a:srgbClr val="000000"/>
                </a:solidFill>
              </a:rPr>
              <a:t>Basics</a:t>
            </a:r>
            <a:endParaRPr sz="5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63310" y="400938"/>
            <a:ext cx="867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98068" y="1005332"/>
            <a:ext cx="10592435" cy="405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175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Arithmetic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(ALU)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combinational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digital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arithmetic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bitwise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fundamental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block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Central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(CPU)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computers.</a:t>
            </a:r>
            <a:endParaRPr sz="2400">
              <a:latin typeface="Calibri"/>
              <a:cs typeface="Calibri"/>
            </a:endParaRPr>
          </a:p>
          <a:p>
            <a:pPr marL="12700" marR="55499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ALU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operands,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code </a:t>
            </a:r>
            <a:r>
              <a:rPr sz="2400" dirty="0">
                <a:latin typeface="Calibri"/>
                <a:cs typeface="Calibri"/>
              </a:rPr>
              <a:t>indicating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performed.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ALU's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performed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885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status/FLAG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inputs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outputs,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which </a:t>
            </a:r>
            <a:r>
              <a:rPr sz="2400" dirty="0">
                <a:latin typeface="Calibri"/>
                <a:cs typeface="Calibri"/>
              </a:rPr>
              <a:t>convey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previous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current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respectively,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status/FLAG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registers.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9998" y="-131571"/>
            <a:ext cx="3571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Functions</a:t>
            </a:r>
            <a:r>
              <a:rPr sz="4000" spc="-60" dirty="0"/>
              <a:t> </a:t>
            </a:r>
            <a:r>
              <a:rPr sz="4000" dirty="0"/>
              <a:t>of</a:t>
            </a:r>
            <a:r>
              <a:rPr sz="4000" spc="-9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98068" y="331089"/>
            <a:ext cx="334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400" b="1" spc="-25" dirty="0">
                <a:latin typeface="Calibri"/>
                <a:cs typeface="Calibri"/>
              </a:rPr>
              <a:t>a.</a:t>
            </a:r>
            <a:r>
              <a:rPr sz="2400" b="1" dirty="0">
                <a:latin typeface="Calibri"/>
                <a:cs typeface="Calibri"/>
              </a:rPr>
              <a:t>	Arithmetic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operations: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5267" y="685493"/>
            <a:ext cx="10084435" cy="59575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Add: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summed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Y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carry-</a:t>
            </a:r>
            <a:r>
              <a:rPr sz="2400" b="1" spc="-20" dirty="0">
                <a:latin typeface="Courier New"/>
                <a:cs typeface="Courier New"/>
              </a:rPr>
              <a:t>out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Add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carry: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carry-in</a:t>
            </a:r>
            <a:r>
              <a:rPr sz="2400" b="1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summed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Y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carry-</a:t>
            </a:r>
            <a:r>
              <a:rPr sz="2400" b="1" spc="-20" dirty="0">
                <a:latin typeface="Courier New"/>
                <a:cs typeface="Courier New"/>
              </a:rPr>
              <a:t>out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900" marR="130810" indent="-457200">
              <a:lnSpc>
                <a:spcPct val="100699"/>
              </a:lnSpc>
              <a:spcBef>
                <a:spcPts val="484"/>
              </a:spcBef>
              <a:buAutoNum type="arabicPeriod" startAt="3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Subtract:</a:t>
            </a:r>
            <a:r>
              <a:rPr sz="2400" b="1" spc="-13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versa)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at </a:t>
            </a:r>
            <a:r>
              <a:rPr sz="2400" b="1" dirty="0">
                <a:latin typeface="Courier New"/>
                <a:cs typeface="Courier New"/>
              </a:rPr>
              <a:t>Y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carry-</a:t>
            </a:r>
            <a:r>
              <a:rPr sz="2400" b="1" dirty="0">
                <a:latin typeface="Courier New"/>
                <a:cs typeface="Courier New"/>
              </a:rPr>
              <a:t>out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carry-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effectively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"borrow" </a:t>
            </a:r>
            <a:r>
              <a:rPr sz="2400" spc="-30" dirty="0">
                <a:latin typeface="Calibri"/>
                <a:cs typeface="Calibri"/>
              </a:rPr>
              <a:t>indicator.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magnitudes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ourier New"/>
                <a:cs typeface="Courier New"/>
              </a:rPr>
              <a:t>A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dirty="0">
                <a:latin typeface="Calibri"/>
                <a:cs typeface="Calibri"/>
              </a:rPr>
              <a:t>;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Y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output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ignored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processor,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interested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status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(particularly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zero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negative)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operation.</a:t>
            </a:r>
            <a:endParaRPr sz="2400">
              <a:latin typeface="Calibri"/>
              <a:cs typeface="Calibri"/>
            </a:endParaRPr>
          </a:p>
          <a:p>
            <a:pPr marL="469900" marR="29209" indent="-457200">
              <a:lnSpc>
                <a:spcPct val="100000"/>
              </a:lnSpc>
              <a:spcBef>
                <a:spcPts val="409"/>
              </a:spcBef>
              <a:buAutoNum type="arabicPeriod" startAt="3"/>
              <a:tabLst>
                <a:tab pos="469900" algn="l"/>
              </a:tabLst>
            </a:pPr>
            <a:r>
              <a:rPr sz="2400" b="1" spc="-10" dirty="0">
                <a:latin typeface="Calibri"/>
                <a:cs typeface="Calibri"/>
              </a:rPr>
              <a:t>Subtract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with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borrow: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vice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versa)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borrow (</a:t>
            </a:r>
            <a:r>
              <a:rPr sz="2400" b="1" spc="-10" dirty="0">
                <a:latin typeface="Courier New"/>
                <a:cs typeface="Courier New"/>
              </a:rPr>
              <a:t>carry-</a:t>
            </a:r>
            <a:r>
              <a:rPr sz="2400" b="1" dirty="0">
                <a:latin typeface="Courier New"/>
                <a:cs typeface="Courier New"/>
              </a:rPr>
              <a:t>in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difference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Y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carry-out</a:t>
            </a:r>
            <a:r>
              <a:rPr sz="2400" b="1" spc="-92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(borrow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out).</a:t>
            </a:r>
            <a:endParaRPr sz="2400">
              <a:latin typeface="Calibri"/>
              <a:cs typeface="Calibri"/>
            </a:endParaRPr>
          </a:p>
          <a:p>
            <a:pPr marL="469900" marR="1059815" indent="-457200">
              <a:lnSpc>
                <a:spcPct val="100000"/>
              </a:lnSpc>
              <a:spcBef>
                <a:spcPts val="495"/>
              </a:spcBef>
              <a:buAutoNum type="arabicPeriod" startAt="3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Two's</a:t>
            </a:r>
            <a:r>
              <a:rPr sz="2400" b="1" spc="-1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complement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(negate):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zero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difference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00"/>
              </a:spcBef>
              <a:buAutoNum type="arabicPeriod" startAt="3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Increment: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increased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09"/>
              </a:spcBef>
              <a:buAutoNum type="arabicPeriod" startAt="3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Decrement: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decreased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9998" y="-131571"/>
            <a:ext cx="3571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Functions</a:t>
            </a:r>
            <a:r>
              <a:rPr sz="4000" spc="-60" dirty="0"/>
              <a:t> </a:t>
            </a:r>
            <a:r>
              <a:rPr sz="4000" dirty="0"/>
              <a:t>of</a:t>
            </a:r>
            <a:r>
              <a:rPr sz="4000" spc="-9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98068" y="418592"/>
            <a:ext cx="10513695" cy="630745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05"/>
              </a:spcBef>
              <a:buAutoNum type="alphaLcPeriod" startAt="2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Bitwise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logical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operations: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926465" algn="l"/>
              </a:tabLst>
            </a:pPr>
            <a:r>
              <a:rPr sz="2400" b="1" dirty="0">
                <a:latin typeface="Calibri"/>
                <a:cs typeface="Calibri"/>
              </a:rPr>
              <a:t>AND: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bitwise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926465" algn="l"/>
              </a:tabLst>
            </a:pPr>
            <a:r>
              <a:rPr sz="2400" b="1" dirty="0">
                <a:latin typeface="Calibri"/>
                <a:cs typeface="Calibri"/>
              </a:rPr>
              <a:t>OR: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bitwise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10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00"/>
              </a:spcBef>
              <a:buAutoNum type="arabicPeriod"/>
              <a:tabLst>
                <a:tab pos="926465" algn="l"/>
              </a:tabLst>
            </a:pPr>
            <a:r>
              <a:rPr sz="2400" b="1" spc="-20" dirty="0">
                <a:latin typeface="Calibri"/>
                <a:cs typeface="Calibri"/>
              </a:rPr>
              <a:t>Exclusive-</a:t>
            </a:r>
            <a:r>
              <a:rPr sz="2400" b="1" dirty="0">
                <a:latin typeface="Calibri"/>
                <a:cs typeface="Calibri"/>
              </a:rPr>
              <a:t>OR:</a:t>
            </a:r>
            <a:r>
              <a:rPr sz="2400" b="1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bitwise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spcBef>
                <a:spcPts val="505"/>
              </a:spcBef>
              <a:buAutoNum type="arabicPeriod"/>
              <a:tabLst>
                <a:tab pos="926465" algn="l"/>
              </a:tabLst>
            </a:pPr>
            <a:r>
              <a:rPr sz="2400" b="1" dirty="0">
                <a:latin typeface="Calibri"/>
                <a:cs typeface="Calibri"/>
              </a:rPr>
              <a:t>Ones'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complement: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0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inverted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69900" marR="308610" indent="-457200">
              <a:lnSpc>
                <a:spcPct val="100000"/>
              </a:lnSpc>
              <a:spcBef>
                <a:spcPts val="1839"/>
              </a:spcBef>
              <a:buAutoNum type="alphaLcPeriod" startAt="2"/>
              <a:tabLst>
                <a:tab pos="469900" algn="l"/>
              </a:tabLst>
            </a:pPr>
            <a:r>
              <a:rPr sz="2400" b="1" dirty="0">
                <a:latin typeface="Calibri"/>
                <a:cs typeface="Calibri"/>
              </a:rPr>
              <a:t>Bit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shift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operations: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shift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A</a:t>
            </a:r>
            <a:r>
              <a:rPr sz="2400" b="1" spc="-915" dirty="0">
                <a:latin typeface="Courier New"/>
                <a:cs typeface="Courier New"/>
              </a:rPr>
              <a:t> </a:t>
            </a:r>
            <a:r>
              <a:rPr sz="2400" dirty="0">
                <a:latin typeface="Calibri"/>
                <a:cs typeface="Calibri"/>
              </a:rPr>
              <a:t>(or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ourier New"/>
                <a:cs typeface="Courier New"/>
              </a:rPr>
              <a:t>B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shift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(depending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opcode)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shifted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ourier New"/>
                <a:cs typeface="Courier New"/>
              </a:rPr>
              <a:t>Y</a:t>
            </a:r>
            <a:r>
              <a:rPr sz="2400" spc="-2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456565" marR="265430" lvl="1" indent="-456565" algn="ctr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456565" algn="l"/>
              </a:tabLst>
            </a:pPr>
            <a:r>
              <a:rPr sz="2400" b="1" dirty="0">
                <a:latin typeface="Calibri"/>
                <a:cs typeface="Calibri"/>
              </a:rPr>
              <a:t>Arithmetic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shift: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two's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integer,</a:t>
            </a:r>
            <a:endParaRPr sz="2400">
              <a:latin typeface="Calibri"/>
              <a:cs typeface="Calibri"/>
            </a:endParaRPr>
          </a:p>
          <a:p>
            <a:pPr marR="250825" algn="ctr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meaning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significant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"sign"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preserved.</a:t>
            </a:r>
            <a:endParaRPr sz="2400">
              <a:latin typeface="Calibri"/>
              <a:cs typeface="Calibri"/>
            </a:endParaRPr>
          </a:p>
          <a:p>
            <a:pPr marL="927100" marR="695325" lvl="1" indent="-457200">
              <a:lnSpc>
                <a:spcPct val="100000"/>
              </a:lnSpc>
              <a:spcBef>
                <a:spcPts val="505"/>
              </a:spcBef>
              <a:buAutoNum type="arabicPeriod" startAt="2"/>
              <a:tabLst>
                <a:tab pos="927100" algn="l"/>
              </a:tabLst>
            </a:pPr>
            <a:r>
              <a:rPr sz="2400" b="1" dirty="0">
                <a:latin typeface="Calibri"/>
                <a:cs typeface="Calibri"/>
              </a:rPr>
              <a:t>Logical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shift: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logic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zero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shifted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shift </a:t>
            </a:r>
            <a:r>
              <a:rPr sz="2400" dirty="0">
                <a:latin typeface="Calibri"/>
                <a:cs typeface="Calibri"/>
              </a:rPr>
              <a:t>unsigned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integers.</a:t>
            </a:r>
            <a:endParaRPr sz="2400">
              <a:latin typeface="Calibri"/>
              <a:cs typeface="Calibri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495"/>
              </a:spcBef>
              <a:buAutoNum type="arabicPeriod" startAt="2"/>
              <a:tabLst>
                <a:tab pos="927100" algn="l"/>
              </a:tabLst>
            </a:pPr>
            <a:r>
              <a:rPr sz="2400" b="1" spc="-10" dirty="0">
                <a:latin typeface="Calibri"/>
                <a:cs typeface="Calibri"/>
              </a:rPr>
              <a:t>Rotate: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circular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buffer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most </a:t>
            </a:r>
            <a:r>
              <a:rPr sz="2400" dirty="0">
                <a:latin typeface="Calibri"/>
                <a:cs typeface="Calibri"/>
              </a:rPr>
              <a:t>significant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adjacent.</a:t>
            </a:r>
            <a:endParaRPr sz="2400">
              <a:latin typeface="Calibri"/>
              <a:cs typeface="Calibri"/>
            </a:endParaRPr>
          </a:p>
          <a:p>
            <a:pPr marL="927100" marR="165100" lvl="1" indent="-457200">
              <a:lnSpc>
                <a:spcPct val="100000"/>
              </a:lnSpc>
              <a:spcBef>
                <a:spcPts val="505"/>
              </a:spcBef>
              <a:buAutoNum type="arabicPeriod" startAt="2"/>
              <a:tabLst>
                <a:tab pos="927100" algn="l"/>
              </a:tabLst>
            </a:pPr>
            <a:r>
              <a:rPr sz="2400" b="1" spc="-10" dirty="0">
                <a:latin typeface="Calibri"/>
                <a:cs typeface="Calibri"/>
              </a:rPr>
              <a:t>Rotate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through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carry: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collectively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treated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circular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buffer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bits.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9998" y="-131571"/>
            <a:ext cx="3571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Functions</a:t>
            </a:r>
            <a:r>
              <a:rPr sz="4000" spc="-60" dirty="0"/>
              <a:t> </a:t>
            </a:r>
            <a:r>
              <a:rPr sz="4000" dirty="0"/>
              <a:t>of</a:t>
            </a:r>
            <a:r>
              <a:rPr sz="4000" spc="-90" dirty="0"/>
              <a:t> </a:t>
            </a:r>
            <a:r>
              <a:rPr sz="4000" spc="-25" dirty="0"/>
              <a:t>ALU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5327" y="512063"/>
            <a:ext cx="6181344" cy="6181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66359" y="400938"/>
            <a:ext cx="8604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FPU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798068" y="1005332"/>
            <a:ext cx="1054100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922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floating-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(FPU,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colloquially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coprocessor)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 system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specially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floating-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Typical operations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addition,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subtraction,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multiplication,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division,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square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root.</a:t>
            </a:r>
            <a:endParaRPr sz="2400">
              <a:latin typeface="Calibri"/>
              <a:cs typeface="Calibri"/>
            </a:endParaRPr>
          </a:p>
          <a:p>
            <a:pPr marL="12700" marR="14478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general-</a:t>
            </a:r>
            <a:r>
              <a:rPr sz="2400" dirty="0">
                <a:latin typeface="Calibri"/>
                <a:cs typeface="Calibri"/>
              </a:rPr>
              <a:t>purpose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architectures,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FPUs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integrated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execution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Central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(CPU).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However,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embedded processors/microcontrollers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hardware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floating-</a:t>
            </a:r>
            <a:r>
              <a:rPr sz="2400" spc="-10" dirty="0">
                <a:latin typeface="Calibri"/>
                <a:cs typeface="Calibri"/>
              </a:rPr>
              <a:t>point operations.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885"/>
              </a:spcBef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CPU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executing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floating-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ways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out:</a:t>
            </a:r>
            <a:endParaRPr sz="2400">
              <a:latin typeface="Calibri"/>
              <a:cs typeface="Calibri"/>
            </a:endParaRPr>
          </a:p>
          <a:p>
            <a:pPr marL="926465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floating-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emulator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floating-</a:t>
            </a:r>
            <a:r>
              <a:rPr sz="2400" dirty="0">
                <a:latin typeface="Calibri"/>
                <a:cs typeface="Calibri"/>
              </a:rPr>
              <a:t>point</a:t>
            </a:r>
            <a:r>
              <a:rPr sz="2400" spc="-10" dirty="0">
                <a:latin typeface="Calibri"/>
                <a:cs typeface="Calibri"/>
              </a:rPr>
              <a:t> library/Software).</a:t>
            </a:r>
            <a:endParaRPr sz="2400">
              <a:latin typeface="Calibri"/>
              <a:cs typeface="Calibri"/>
            </a:endParaRPr>
          </a:p>
          <a:p>
            <a:pPr marL="926465" indent="-456565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sz="2400" spc="-10" dirty="0">
                <a:latin typeface="Calibri"/>
                <a:cs typeface="Calibri"/>
              </a:rPr>
              <a:t>Add-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FPU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(Coprocessor/Not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inside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Processor).</a:t>
            </a:r>
            <a:endParaRPr sz="2400">
              <a:latin typeface="Calibri"/>
              <a:cs typeface="Calibri"/>
            </a:endParaRPr>
          </a:p>
          <a:p>
            <a:pPr marL="926465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926465" algn="l"/>
              </a:tabLst>
            </a:pPr>
            <a:r>
              <a:rPr sz="2400" spc="-20" dirty="0">
                <a:latin typeface="Calibri"/>
                <a:cs typeface="Calibri"/>
              </a:rPr>
              <a:t>Integrated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FPU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(Inside</a:t>
            </a:r>
            <a:r>
              <a:rPr sz="2400" spc="-10" dirty="0">
                <a:latin typeface="Calibri"/>
                <a:cs typeface="Calibri"/>
              </a:rPr>
              <a:t> Processor).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0916" y="2744216"/>
            <a:ext cx="64579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Example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1: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1-</a:t>
            </a:r>
            <a:r>
              <a:rPr dirty="0">
                <a:solidFill>
                  <a:srgbClr val="000000"/>
                </a:solidFill>
              </a:rPr>
              <a:t>bit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ALU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08653" y="3880865"/>
            <a:ext cx="2108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Cambria Math"/>
                <a:cs typeface="Cambria Math"/>
              </a:rPr>
              <a:t>𝑺</a:t>
            </a:r>
            <a:r>
              <a:rPr sz="1125" spc="-37" baseline="-14814" dirty="0">
                <a:latin typeface="Cambria Math"/>
                <a:cs typeface="Cambria Math"/>
              </a:rPr>
              <a:t>𝟏</a:t>
            </a:r>
            <a:endParaRPr sz="1125" baseline="-14814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58614" y="729233"/>
            <a:ext cx="32505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8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AND</a:t>
            </a:r>
            <a:r>
              <a:rPr b="0" spc="-200" dirty="0">
                <a:latin typeface="Calibri Light"/>
                <a:cs typeface="Calibri Light"/>
              </a:rPr>
              <a:t> </a:t>
            </a:r>
            <a:r>
              <a:rPr b="0" spc="-30" dirty="0">
                <a:latin typeface="Calibri Light"/>
                <a:cs typeface="Calibri Light"/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28138" y="2446866"/>
            <a:ext cx="1791970" cy="1007744"/>
            <a:chOff x="2628138" y="2446866"/>
            <a:chExt cx="1791970" cy="10077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1884" y="2446866"/>
              <a:ext cx="1537716" cy="10077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628138" y="2628138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49474" y="3259074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267204" y="2402204"/>
            <a:ext cx="232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𝐀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8727" y="3045714"/>
            <a:ext cx="22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1746" y="2720085"/>
            <a:ext cx="436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𝐀𝐁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31153" y="2573782"/>
            <a:ext cx="777875" cy="723265"/>
            <a:chOff x="5931153" y="2573782"/>
            <a:chExt cx="777875" cy="723265"/>
          </a:xfrm>
        </p:grpSpPr>
        <p:sp>
          <p:nvSpPr>
            <p:cNvPr id="11" name="object 11"/>
            <p:cNvSpPr/>
            <p:nvPr/>
          </p:nvSpPr>
          <p:spPr>
            <a:xfrm>
              <a:off x="5937503" y="2580132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409956" y="0"/>
                  </a:moveTo>
                  <a:lnTo>
                    <a:pt x="409956" y="177545"/>
                  </a:lnTo>
                  <a:lnTo>
                    <a:pt x="0" y="177545"/>
                  </a:lnTo>
                  <a:lnTo>
                    <a:pt x="0" y="532638"/>
                  </a:lnTo>
                  <a:lnTo>
                    <a:pt x="409956" y="532638"/>
                  </a:lnTo>
                  <a:lnTo>
                    <a:pt x="409956" y="710183"/>
                  </a:lnTo>
                  <a:lnTo>
                    <a:pt x="765048" y="355091"/>
                  </a:lnTo>
                  <a:lnTo>
                    <a:pt x="4099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7503" y="2580132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0" y="177545"/>
                  </a:moveTo>
                  <a:lnTo>
                    <a:pt x="409956" y="177545"/>
                  </a:lnTo>
                  <a:lnTo>
                    <a:pt x="409956" y="0"/>
                  </a:lnTo>
                  <a:lnTo>
                    <a:pt x="765048" y="355091"/>
                  </a:lnTo>
                  <a:lnTo>
                    <a:pt x="409956" y="710183"/>
                  </a:lnTo>
                  <a:lnTo>
                    <a:pt x="409956" y="532638"/>
                  </a:lnTo>
                  <a:lnTo>
                    <a:pt x="0" y="532638"/>
                  </a:lnTo>
                  <a:lnTo>
                    <a:pt x="0" y="17754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7666481" y="261594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66481" y="3196589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42961" y="2460117"/>
            <a:ext cx="2032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50073" y="3022854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78190" y="2387345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/>
              <a:cs typeface="Times New Roman"/>
            </a:endParaRPr>
          </a:p>
          <a:p>
            <a:pPr marL="68580" algn="ctr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074402" y="289788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906759" y="2717038"/>
            <a:ext cx="2235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9302" y="729233"/>
            <a:ext cx="29089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40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OR</a:t>
            </a:r>
            <a:r>
              <a:rPr b="0" spc="-135" dirty="0">
                <a:latin typeface="Calibri Light"/>
                <a:cs typeface="Calibri Light"/>
              </a:rPr>
              <a:t> </a:t>
            </a:r>
            <a:r>
              <a:rPr b="0" spc="-45" dirty="0">
                <a:latin typeface="Calibri Light"/>
                <a:cs typeface="Calibri Light"/>
              </a:rPr>
              <a:t>gate</a:t>
            </a:r>
          </a:p>
        </p:txBody>
      </p:sp>
      <p:pic>
        <p:nvPicPr>
          <p:cNvPr id="3" name="object 3" descr="Image result for Or gat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4226" y="2146007"/>
            <a:ext cx="2480777" cy="17901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95164" y="2835655"/>
            <a:ext cx="796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𝐀 +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6295" y="2302890"/>
            <a:ext cx="232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𝐀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7851" y="3401059"/>
            <a:ext cx="22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𝐁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39002" y="2689605"/>
            <a:ext cx="777875" cy="723265"/>
            <a:chOff x="6239002" y="2689605"/>
            <a:chExt cx="777875" cy="723265"/>
          </a:xfrm>
        </p:grpSpPr>
        <p:sp>
          <p:nvSpPr>
            <p:cNvPr id="8" name="object 8"/>
            <p:cNvSpPr/>
            <p:nvPr/>
          </p:nvSpPr>
          <p:spPr>
            <a:xfrm>
              <a:off x="6245352" y="2695955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409955" y="0"/>
                  </a:moveTo>
                  <a:lnTo>
                    <a:pt x="409955" y="177546"/>
                  </a:lnTo>
                  <a:lnTo>
                    <a:pt x="0" y="177546"/>
                  </a:lnTo>
                  <a:lnTo>
                    <a:pt x="0" y="532638"/>
                  </a:lnTo>
                  <a:lnTo>
                    <a:pt x="409955" y="532638"/>
                  </a:lnTo>
                  <a:lnTo>
                    <a:pt x="409955" y="710184"/>
                  </a:lnTo>
                  <a:lnTo>
                    <a:pt x="765048" y="355092"/>
                  </a:lnTo>
                  <a:lnTo>
                    <a:pt x="40995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45352" y="2695955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0" y="177546"/>
                  </a:moveTo>
                  <a:lnTo>
                    <a:pt x="409955" y="177546"/>
                  </a:lnTo>
                  <a:lnTo>
                    <a:pt x="409955" y="0"/>
                  </a:lnTo>
                  <a:lnTo>
                    <a:pt x="765048" y="355092"/>
                  </a:lnTo>
                  <a:lnTo>
                    <a:pt x="409955" y="710184"/>
                  </a:lnTo>
                  <a:lnTo>
                    <a:pt x="409955" y="532638"/>
                  </a:lnTo>
                  <a:lnTo>
                    <a:pt x="0" y="532638"/>
                  </a:lnTo>
                  <a:lnTo>
                    <a:pt x="0" y="17754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666481" y="261594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66481" y="3196589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42961" y="2460117"/>
            <a:ext cx="2032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0073" y="3022854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78190" y="2387345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/>
              <a:cs typeface="Times New Roman"/>
            </a:endParaRPr>
          </a:p>
          <a:p>
            <a:pPr marR="74295" algn="ctr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4402" y="289788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906759" y="2717038"/>
            <a:ext cx="2235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98238" y="729233"/>
            <a:ext cx="3169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80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XOR</a:t>
            </a:r>
            <a:r>
              <a:rPr b="0" spc="-195" dirty="0">
                <a:latin typeface="Calibri Light"/>
                <a:cs typeface="Calibri Light"/>
              </a:rPr>
              <a:t> </a:t>
            </a:r>
            <a:r>
              <a:rPr b="0" spc="-40" dirty="0">
                <a:latin typeface="Calibri Light"/>
                <a:cs typeface="Calibri Light"/>
              </a:rPr>
              <a:t>gate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8315" y="2842005"/>
            <a:ext cx="701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𝐀⨁𝐁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66366" y="2562225"/>
            <a:ext cx="232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𝐀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67889" y="3199257"/>
            <a:ext cx="22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𝐁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6" name="object 6" descr="Image result for XOr gat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0507" y="2423160"/>
            <a:ext cx="2356104" cy="140316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239002" y="2689605"/>
            <a:ext cx="777875" cy="723265"/>
            <a:chOff x="6239002" y="2689605"/>
            <a:chExt cx="777875" cy="723265"/>
          </a:xfrm>
        </p:grpSpPr>
        <p:sp>
          <p:nvSpPr>
            <p:cNvPr id="8" name="object 8"/>
            <p:cNvSpPr/>
            <p:nvPr/>
          </p:nvSpPr>
          <p:spPr>
            <a:xfrm>
              <a:off x="6245352" y="2695955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409955" y="0"/>
                  </a:moveTo>
                  <a:lnTo>
                    <a:pt x="409955" y="177546"/>
                  </a:lnTo>
                  <a:lnTo>
                    <a:pt x="0" y="177546"/>
                  </a:lnTo>
                  <a:lnTo>
                    <a:pt x="0" y="532638"/>
                  </a:lnTo>
                  <a:lnTo>
                    <a:pt x="409955" y="532638"/>
                  </a:lnTo>
                  <a:lnTo>
                    <a:pt x="409955" y="710184"/>
                  </a:lnTo>
                  <a:lnTo>
                    <a:pt x="765048" y="355092"/>
                  </a:lnTo>
                  <a:lnTo>
                    <a:pt x="409955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45352" y="2695955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0" y="177546"/>
                  </a:moveTo>
                  <a:lnTo>
                    <a:pt x="409955" y="177546"/>
                  </a:lnTo>
                  <a:lnTo>
                    <a:pt x="409955" y="0"/>
                  </a:lnTo>
                  <a:lnTo>
                    <a:pt x="765048" y="355092"/>
                  </a:lnTo>
                  <a:lnTo>
                    <a:pt x="409955" y="710184"/>
                  </a:lnTo>
                  <a:lnTo>
                    <a:pt x="409955" y="532638"/>
                  </a:lnTo>
                  <a:lnTo>
                    <a:pt x="0" y="532638"/>
                  </a:lnTo>
                  <a:lnTo>
                    <a:pt x="0" y="17754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7666481" y="261594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66481" y="3196589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442961" y="2460117"/>
            <a:ext cx="2032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0073" y="3022854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78190" y="2387345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/>
              <a:cs typeface="Times New Roman"/>
            </a:endParaRPr>
          </a:p>
          <a:p>
            <a:pPr marL="37465" algn="ctr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XOR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074402" y="289788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906759" y="2717038"/>
            <a:ext cx="2235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1261" rIns="0" bIns="0" rtlCol="0">
            <a:spAutoFit/>
          </a:bodyPr>
          <a:lstStyle/>
          <a:p>
            <a:pPr marL="170053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55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Adder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45609" y="2220341"/>
            <a:ext cx="3141345" cy="41910"/>
            <a:chOff x="4745609" y="2220341"/>
            <a:chExt cx="3141345" cy="41910"/>
          </a:xfrm>
        </p:grpSpPr>
        <p:sp>
          <p:nvSpPr>
            <p:cNvPr id="4" name="object 4"/>
            <p:cNvSpPr/>
            <p:nvPr/>
          </p:nvSpPr>
          <p:spPr>
            <a:xfrm>
              <a:off x="4746498" y="2221230"/>
              <a:ext cx="3175" cy="40005"/>
            </a:xfrm>
            <a:custGeom>
              <a:avLst/>
              <a:gdLst/>
              <a:ahLst/>
              <a:cxnLst/>
              <a:rect l="l" t="t" r="r" b="b"/>
              <a:pathLst>
                <a:path w="3175" h="40005">
                  <a:moveTo>
                    <a:pt x="0" y="0"/>
                  </a:moveTo>
                  <a:lnTo>
                    <a:pt x="3048" y="396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83836" y="2220468"/>
              <a:ext cx="568960" cy="40005"/>
            </a:xfrm>
            <a:custGeom>
              <a:avLst/>
              <a:gdLst/>
              <a:ahLst/>
              <a:cxnLst/>
              <a:rect l="l" t="t" r="r" b="b"/>
              <a:pathLst>
                <a:path w="568960" h="40005">
                  <a:moveTo>
                    <a:pt x="568451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568451" y="39624"/>
                  </a:lnTo>
                  <a:lnTo>
                    <a:pt x="5684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4598" y="2221230"/>
              <a:ext cx="568960" cy="3175"/>
            </a:xfrm>
            <a:custGeom>
              <a:avLst/>
              <a:gdLst/>
              <a:ahLst/>
              <a:cxnLst/>
              <a:rect l="l" t="t" r="r" b="b"/>
              <a:pathLst>
                <a:path w="568960" h="3175">
                  <a:moveTo>
                    <a:pt x="0" y="0"/>
                  </a:moveTo>
                  <a:lnTo>
                    <a:pt x="568451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52288" y="2220468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39624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624" y="39624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353050" y="222123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0"/>
                  </a:moveTo>
                  <a:lnTo>
                    <a:pt x="39624" y="3048"/>
                  </a:lnTo>
                </a:path>
                <a:path w="40004" h="40005">
                  <a:moveTo>
                    <a:pt x="0" y="0"/>
                  </a:moveTo>
                  <a:lnTo>
                    <a:pt x="3048" y="396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91912" y="2220468"/>
              <a:ext cx="553720" cy="40005"/>
            </a:xfrm>
            <a:custGeom>
              <a:avLst/>
              <a:gdLst/>
              <a:ahLst/>
              <a:cxnLst/>
              <a:rect l="l" t="t" r="r" b="b"/>
              <a:pathLst>
                <a:path w="553720" h="40005">
                  <a:moveTo>
                    <a:pt x="553212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553212" y="39624"/>
                  </a:lnTo>
                  <a:lnTo>
                    <a:pt x="5532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392674" y="2221230"/>
              <a:ext cx="553720" cy="3175"/>
            </a:xfrm>
            <a:custGeom>
              <a:avLst/>
              <a:gdLst/>
              <a:ahLst/>
              <a:cxnLst/>
              <a:rect l="l" t="t" r="r" b="b"/>
              <a:pathLst>
                <a:path w="553720" h="3175">
                  <a:moveTo>
                    <a:pt x="0" y="0"/>
                  </a:moveTo>
                  <a:lnTo>
                    <a:pt x="553212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84748" y="2220468"/>
              <a:ext cx="923925" cy="40005"/>
            </a:xfrm>
            <a:custGeom>
              <a:avLst/>
              <a:gdLst/>
              <a:ahLst/>
              <a:cxnLst/>
              <a:rect l="l" t="t" r="r" b="b"/>
              <a:pathLst>
                <a:path w="923925" h="40005">
                  <a:moveTo>
                    <a:pt x="923544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923544" y="39624"/>
                  </a:lnTo>
                  <a:lnTo>
                    <a:pt x="9235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85510" y="2221230"/>
              <a:ext cx="923925" cy="3175"/>
            </a:xfrm>
            <a:custGeom>
              <a:avLst/>
              <a:gdLst/>
              <a:ahLst/>
              <a:cxnLst/>
              <a:rect l="l" t="t" r="r" b="b"/>
              <a:pathLst>
                <a:path w="923925" h="3175">
                  <a:moveTo>
                    <a:pt x="0" y="0"/>
                  </a:moveTo>
                  <a:lnTo>
                    <a:pt x="923543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08292" y="2220468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39624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9624" y="39624"/>
                  </a:lnTo>
                  <a:lnTo>
                    <a:pt x="3962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09054" y="2221230"/>
              <a:ext cx="40005" cy="40005"/>
            </a:xfrm>
            <a:custGeom>
              <a:avLst/>
              <a:gdLst/>
              <a:ahLst/>
              <a:cxnLst/>
              <a:rect l="l" t="t" r="r" b="b"/>
              <a:pathLst>
                <a:path w="40004" h="40005">
                  <a:moveTo>
                    <a:pt x="0" y="0"/>
                  </a:moveTo>
                  <a:lnTo>
                    <a:pt x="39624" y="3048"/>
                  </a:lnTo>
                </a:path>
                <a:path w="40004" h="40005">
                  <a:moveTo>
                    <a:pt x="0" y="0"/>
                  </a:moveTo>
                  <a:lnTo>
                    <a:pt x="3048" y="39624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47916" y="2220468"/>
              <a:ext cx="937260" cy="40005"/>
            </a:xfrm>
            <a:custGeom>
              <a:avLst/>
              <a:gdLst/>
              <a:ahLst/>
              <a:cxnLst/>
              <a:rect l="l" t="t" r="r" b="b"/>
              <a:pathLst>
                <a:path w="937259" h="40005">
                  <a:moveTo>
                    <a:pt x="937259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937259" y="39624"/>
                  </a:lnTo>
                  <a:lnTo>
                    <a:pt x="937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48678" y="2221230"/>
              <a:ext cx="937260" cy="3175"/>
            </a:xfrm>
            <a:custGeom>
              <a:avLst/>
              <a:gdLst/>
              <a:ahLst/>
              <a:cxnLst/>
              <a:rect l="l" t="t" r="r" b="b"/>
              <a:pathLst>
                <a:path w="937259" h="3175">
                  <a:moveTo>
                    <a:pt x="0" y="0"/>
                  </a:moveTo>
                  <a:lnTo>
                    <a:pt x="937260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278376" y="1772285"/>
          <a:ext cx="3195320" cy="40277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4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359"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A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R="7112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B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 marL="21971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b="1" spc="-25" dirty="0">
                          <a:latin typeface="Calibri"/>
                          <a:cs typeface="Calibri"/>
                        </a:rPr>
                        <a:t>Cin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b="1" spc="-20" dirty="0">
                          <a:latin typeface="Calibri"/>
                          <a:cs typeface="Calibri"/>
                        </a:rPr>
                        <a:t>Cout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S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09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309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0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413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534">
                <a:tc>
                  <a:txBody>
                    <a:bodyPr/>
                    <a:lstStyle/>
                    <a:p>
                      <a:pPr marR="252729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R="6350"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R w="571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03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571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210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4137533" y="2220341"/>
            <a:ext cx="648335" cy="40005"/>
            <a:chOff x="4137533" y="2220341"/>
            <a:chExt cx="648335" cy="40005"/>
          </a:xfrm>
        </p:grpSpPr>
        <p:sp>
          <p:nvSpPr>
            <p:cNvPr id="19" name="object 19"/>
            <p:cNvSpPr/>
            <p:nvPr/>
          </p:nvSpPr>
          <p:spPr>
            <a:xfrm>
              <a:off x="4137660" y="2220468"/>
              <a:ext cx="608330" cy="40005"/>
            </a:xfrm>
            <a:custGeom>
              <a:avLst/>
              <a:gdLst/>
              <a:ahLst/>
              <a:cxnLst/>
              <a:rect l="l" t="t" r="r" b="b"/>
              <a:pathLst>
                <a:path w="608329" h="40005">
                  <a:moveTo>
                    <a:pt x="608076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608076" y="39624"/>
                  </a:lnTo>
                  <a:lnTo>
                    <a:pt x="6080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38422" y="2221230"/>
              <a:ext cx="608330" cy="3175"/>
            </a:xfrm>
            <a:custGeom>
              <a:avLst/>
              <a:gdLst/>
              <a:ahLst/>
              <a:cxnLst/>
              <a:rect l="l" t="t" r="r" b="b"/>
              <a:pathLst>
                <a:path w="608329" h="3175">
                  <a:moveTo>
                    <a:pt x="0" y="0"/>
                  </a:moveTo>
                  <a:lnTo>
                    <a:pt x="608076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45736" y="2220468"/>
              <a:ext cx="38100" cy="40005"/>
            </a:xfrm>
            <a:custGeom>
              <a:avLst/>
              <a:gdLst/>
              <a:ahLst/>
              <a:cxnLst/>
              <a:rect l="l" t="t" r="r" b="b"/>
              <a:pathLst>
                <a:path w="38100" h="40005">
                  <a:moveTo>
                    <a:pt x="38100" y="0"/>
                  </a:moveTo>
                  <a:lnTo>
                    <a:pt x="0" y="0"/>
                  </a:lnTo>
                  <a:lnTo>
                    <a:pt x="0" y="39624"/>
                  </a:lnTo>
                  <a:lnTo>
                    <a:pt x="38100" y="39624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746498" y="2221230"/>
              <a:ext cx="38100" cy="3175"/>
            </a:xfrm>
            <a:custGeom>
              <a:avLst/>
              <a:gdLst/>
              <a:ahLst/>
              <a:cxnLst/>
              <a:rect l="l" t="t" r="r" b="b"/>
              <a:pathLst>
                <a:path w="38100" h="3175">
                  <a:moveTo>
                    <a:pt x="0" y="0"/>
                  </a:moveTo>
                  <a:lnTo>
                    <a:pt x="38100" y="3048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8647176" y="3112007"/>
            <a:ext cx="207645" cy="1905"/>
          </a:xfrm>
          <a:custGeom>
            <a:avLst/>
            <a:gdLst/>
            <a:ahLst/>
            <a:cxnLst/>
            <a:rect l="l" t="t" r="r" b="b"/>
            <a:pathLst>
              <a:path w="207645" h="1905">
                <a:moveTo>
                  <a:pt x="0" y="0"/>
                </a:moveTo>
                <a:lnTo>
                  <a:pt x="207264" y="15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907780" y="3112007"/>
            <a:ext cx="189230" cy="1905"/>
          </a:xfrm>
          <a:custGeom>
            <a:avLst/>
            <a:gdLst/>
            <a:ahLst/>
            <a:cxnLst/>
            <a:rect l="l" t="t" r="r" b="b"/>
            <a:pathLst>
              <a:path w="189229" h="1905">
                <a:moveTo>
                  <a:pt x="0" y="0"/>
                </a:moveTo>
                <a:lnTo>
                  <a:pt x="188975" y="152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393935" y="3112007"/>
            <a:ext cx="213360" cy="1905"/>
          </a:xfrm>
          <a:custGeom>
            <a:avLst/>
            <a:gdLst/>
            <a:ahLst/>
            <a:cxnLst/>
            <a:rect l="l" t="t" r="r" b="b"/>
            <a:pathLst>
              <a:path w="213359" h="1905">
                <a:moveTo>
                  <a:pt x="0" y="0"/>
                </a:moveTo>
                <a:lnTo>
                  <a:pt x="213360" y="1524"/>
                </a:lnTo>
              </a:path>
            </a:pathLst>
          </a:custGeom>
          <a:ln w="63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785604" y="3112007"/>
            <a:ext cx="242570" cy="1905"/>
          </a:xfrm>
          <a:custGeom>
            <a:avLst/>
            <a:gdLst/>
            <a:ahLst/>
            <a:cxnLst/>
            <a:rect l="l" t="t" r="r" b="b"/>
            <a:pathLst>
              <a:path w="242570" h="1905">
                <a:moveTo>
                  <a:pt x="0" y="0"/>
                </a:moveTo>
                <a:lnTo>
                  <a:pt x="242316" y="152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303764" y="3112007"/>
            <a:ext cx="463550" cy="1905"/>
          </a:xfrm>
          <a:custGeom>
            <a:avLst/>
            <a:gdLst/>
            <a:ahLst/>
            <a:cxnLst/>
            <a:rect l="l" t="t" r="r" b="b"/>
            <a:pathLst>
              <a:path w="463550" h="1905">
                <a:moveTo>
                  <a:pt x="0" y="0"/>
                </a:moveTo>
                <a:lnTo>
                  <a:pt x="213359" y="1524"/>
                </a:lnTo>
              </a:path>
              <a:path w="463550" h="1905">
                <a:moveTo>
                  <a:pt x="256031" y="0"/>
                </a:moveTo>
                <a:lnTo>
                  <a:pt x="463295" y="152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829800" y="3372739"/>
            <a:ext cx="420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Symbol"/>
                <a:cs typeface="Symbol"/>
              </a:rPr>
              <a:t>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2700" b="1" spc="-75" baseline="-7716" dirty="0">
                <a:latin typeface="Calibri"/>
                <a:cs typeface="Calibri"/>
              </a:rPr>
              <a:t>B</a:t>
            </a:r>
            <a:endParaRPr sz="2700" baseline="-7716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810245" y="3406267"/>
            <a:ext cx="269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15975" algn="l"/>
                <a:tab pos="1083945" algn="l"/>
                <a:tab pos="1345565" algn="l"/>
                <a:tab pos="2534285" algn="l"/>
              </a:tabLst>
            </a:pPr>
            <a:r>
              <a:rPr sz="2700" b="1" baseline="1543" dirty="0">
                <a:latin typeface="Calibri"/>
                <a:cs typeface="Calibri"/>
              </a:rPr>
              <a:t>Cout</a:t>
            </a:r>
            <a:r>
              <a:rPr sz="2700" b="1" spc="150" baseline="1543" dirty="0">
                <a:latin typeface="Calibri"/>
                <a:cs typeface="Calibri"/>
              </a:rPr>
              <a:t> </a:t>
            </a:r>
            <a:r>
              <a:rPr sz="2700" b="1" spc="-75" baseline="1543" dirty="0">
                <a:latin typeface="Symbol"/>
                <a:cs typeface="Symbol"/>
              </a:rPr>
              <a:t></a:t>
            </a:r>
            <a:r>
              <a:rPr sz="2700" baseline="1543" dirty="0">
                <a:latin typeface="Times New Roman"/>
                <a:cs typeface="Times New Roman"/>
              </a:rPr>
              <a:t>	</a:t>
            </a:r>
            <a:r>
              <a:rPr sz="1800" b="1" spc="-5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50" dirty="0">
                <a:latin typeface="Calibri"/>
                <a:cs typeface="Calibri"/>
              </a:rPr>
              <a:t>B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="1" baseline="7716" dirty="0">
                <a:latin typeface="Symbol"/>
                <a:cs typeface="Symbol"/>
              </a:rPr>
              <a:t></a:t>
            </a:r>
            <a:r>
              <a:rPr sz="2700" spc="390" baseline="7716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39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C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50" dirty="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848600" y="3072510"/>
            <a:ext cx="4172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80035" algn="l"/>
                <a:tab pos="795020" algn="l"/>
                <a:tab pos="1056640" algn="l"/>
              </a:tabLst>
            </a:pPr>
            <a:r>
              <a:rPr sz="1800" b="1" spc="-50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="1" baseline="7716" dirty="0">
                <a:latin typeface="Symbol"/>
                <a:cs typeface="Symbol"/>
              </a:rPr>
              <a:t></a:t>
            </a:r>
            <a:r>
              <a:rPr sz="2700" spc="735" baseline="7716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50" dirty="0">
                <a:latin typeface="Calibri"/>
                <a:cs typeface="Calibri"/>
              </a:rPr>
              <a:t>B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10" dirty="0">
                <a:latin typeface="Calibri"/>
                <a:cs typeface="Calibri"/>
              </a:rPr>
              <a:t>Cin</a:t>
            </a:r>
            <a:r>
              <a:rPr sz="2700" b="1" spc="-15" baseline="7716" dirty="0">
                <a:latin typeface="Symbol"/>
                <a:cs typeface="Symbol"/>
              </a:rPr>
              <a:t></a:t>
            </a:r>
            <a:r>
              <a:rPr sz="2700" spc="585" baseline="7716" dirty="0">
                <a:latin typeface="Times New Roman"/>
                <a:cs typeface="Times New Roman"/>
              </a:rPr>
              <a:t> </a:t>
            </a:r>
            <a:r>
              <a:rPr sz="2400" b="1" baseline="6944" dirty="0">
                <a:latin typeface="Calibri"/>
                <a:cs typeface="Calibri"/>
              </a:rPr>
              <a:t>A</a:t>
            </a:r>
            <a:r>
              <a:rPr sz="2400" b="1" spc="112" baseline="6944" dirty="0">
                <a:latin typeface="Calibri"/>
                <a:cs typeface="Calibri"/>
              </a:rPr>
              <a:t> </a:t>
            </a:r>
            <a:r>
              <a:rPr sz="2700" b="1" baseline="3086" dirty="0">
                <a:latin typeface="Calibri"/>
                <a:cs typeface="Calibri"/>
              </a:rPr>
              <a:t>B</a:t>
            </a:r>
            <a:r>
              <a:rPr sz="2700" b="1" spc="397" baseline="3086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Cin</a:t>
            </a:r>
            <a:r>
              <a:rPr sz="2700" b="1" baseline="7716" dirty="0">
                <a:latin typeface="Symbol"/>
                <a:cs typeface="Symbol"/>
              </a:rPr>
              <a:t></a:t>
            </a:r>
            <a:r>
              <a:rPr sz="2700" spc="637" baseline="7716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29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</a:t>
            </a:r>
            <a:r>
              <a:rPr sz="1800" b="1" spc="2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Cin</a:t>
            </a:r>
            <a:r>
              <a:rPr sz="1800" b="1" spc="-130" dirty="0">
                <a:latin typeface="Calibri"/>
                <a:cs typeface="Calibri"/>
              </a:rPr>
              <a:t> </a:t>
            </a:r>
            <a:r>
              <a:rPr sz="2700" b="1" baseline="7716" dirty="0">
                <a:latin typeface="Symbol"/>
                <a:cs typeface="Symbol"/>
              </a:rPr>
              <a:t></a:t>
            </a:r>
            <a:r>
              <a:rPr sz="2700" spc="44" baseline="7716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libri"/>
                <a:cs typeface="Calibri"/>
              </a:rPr>
              <a:t>A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B</a:t>
            </a:r>
            <a:r>
              <a:rPr sz="1800" b="1" spc="-14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Cin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43405" y="2469642"/>
            <a:ext cx="1503045" cy="14020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4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33222" y="2754629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50" y="0"/>
                </a:moveTo>
                <a:lnTo>
                  <a:pt x="635050" y="76200"/>
                </a:lnTo>
                <a:lnTo>
                  <a:pt x="685816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16" y="25400"/>
                </a:lnTo>
                <a:lnTo>
                  <a:pt x="635050" y="0"/>
                </a:lnTo>
                <a:close/>
              </a:path>
              <a:path w="711200" h="76200">
                <a:moveTo>
                  <a:pt x="63505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50" y="50800"/>
                </a:lnTo>
                <a:lnTo>
                  <a:pt x="635050" y="25400"/>
                </a:lnTo>
                <a:close/>
              </a:path>
              <a:path w="711200" h="76200">
                <a:moveTo>
                  <a:pt x="685816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16" y="50800"/>
                </a:lnTo>
                <a:lnTo>
                  <a:pt x="711200" y="38100"/>
                </a:lnTo>
                <a:lnTo>
                  <a:pt x="685816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24077" y="313410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50" y="0"/>
                </a:moveTo>
                <a:lnTo>
                  <a:pt x="635050" y="76200"/>
                </a:lnTo>
                <a:lnTo>
                  <a:pt x="685816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16" y="25400"/>
                </a:lnTo>
                <a:lnTo>
                  <a:pt x="635050" y="0"/>
                </a:lnTo>
                <a:close/>
              </a:path>
              <a:path w="711200" h="76200">
                <a:moveTo>
                  <a:pt x="63505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50" y="50800"/>
                </a:lnTo>
                <a:lnTo>
                  <a:pt x="635050" y="25400"/>
                </a:lnTo>
                <a:close/>
              </a:path>
              <a:path w="711200" h="76200">
                <a:moveTo>
                  <a:pt x="685816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16" y="50800"/>
                </a:lnTo>
                <a:lnTo>
                  <a:pt x="711200" y="38100"/>
                </a:lnTo>
                <a:lnTo>
                  <a:pt x="685816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855214" y="2871977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855214" y="3419094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77190" y="2597607"/>
            <a:ext cx="433705" cy="1139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  <a:p>
            <a:pPr marR="20955" algn="r">
              <a:lnSpc>
                <a:spcPct val="100000"/>
              </a:lnSpc>
              <a:spcBef>
                <a:spcPts val="9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  <a:p>
            <a:pPr marR="28575" algn="r">
              <a:lnSpc>
                <a:spcPct val="100000"/>
              </a:lnSpc>
              <a:spcBef>
                <a:spcPts val="390"/>
              </a:spcBef>
            </a:pPr>
            <a:r>
              <a:rPr sz="2300" b="1" spc="-25" dirty="0">
                <a:latin typeface="Calibri"/>
                <a:cs typeface="Calibri"/>
              </a:rPr>
              <a:t>Cin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28650" y="3533394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50" y="0"/>
                </a:moveTo>
                <a:lnTo>
                  <a:pt x="635050" y="76199"/>
                </a:lnTo>
                <a:lnTo>
                  <a:pt x="685816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16" y="25400"/>
                </a:lnTo>
                <a:lnTo>
                  <a:pt x="635050" y="0"/>
                </a:lnTo>
                <a:close/>
              </a:path>
              <a:path w="711200" h="76200">
                <a:moveTo>
                  <a:pt x="63505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50" y="50800"/>
                </a:lnTo>
                <a:lnTo>
                  <a:pt x="635050" y="25400"/>
                </a:lnTo>
                <a:close/>
              </a:path>
              <a:path w="711200" h="76200">
                <a:moveTo>
                  <a:pt x="685816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16" y="50800"/>
                </a:lnTo>
                <a:lnTo>
                  <a:pt x="711200" y="38100"/>
                </a:lnTo>
                <a:lnTo>
                  <a:pt x="685816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594353" y="3248659"/>
            <a:ext cx="546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latin typeface="Calibri"/>
                <a:cs typeface="Calibri"/>
              </a:rPr>
              <a:t>Cout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24834" y="2697860"/>
            <a:ext cx="1517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latin typeface="Calibri"/>
                <a:cs typeface="Calibri"/>
              </a:rPr>
              <a:t>S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84597" y="261315"/>
            <a:ext cx="35045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40" dirty="0">
                <a:latin typeface="Calibri Light"/>
                <a:cs typeface="Calibri Light"/>
              </a:rPr>
              <a:t>Subtractor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569965" y="3259582"/>
            <a:ext cx="1079500" cy="812800"/>
            <a:chOff x="5569965" y="3259582"/>
            <a:chExt cx="1079500" cy="812800"/>
          </a:xfrm>
        </p:grpSpPr>
        <p:sp>
          <p:nvSpPr>
            <p:cNvPr id="4" name="object 4"/>
            <p:cNvSpPr/>
            <p:nvPr/>
          </p:nvSpPr>
          <p:spPr>
            <a:xfrm>
              <a:off x="5576315" y="3265932"/>
              <a:ext cx="1066800" cy="800100"/>
            </a:xfrm>
            <a:custGeom>
              <a:avLst/>
              <a:gdLst/>
              <a:ahLst/>
              <a:cxnLst/>
              <a:rect l="l" t="t" r="r" b="b"/>
              <a:pathLst>
                <a:path w="1066800" h="800100">
                  <a:moveTo>
                    <a:pt x="666750" y="0"/>
                  </a:moveTo>
                  <a:lnTo>
                    <a:pt x="666750" y="200025"/>
                  </a:lnTo>
                  <a:lnTo>
                    <a:pt x="0" y="200025"/>
                  </a:lnTo>
                  <a:lnTo>
                    <a:pt x="0" y="600074"/>
                  </a:lnTo>
                  <a:lnTo>
                    <a:pt x="666750" y="600074"/>
                  </a:lnTo>
                  <a:lnTo>
                    <a:pt x="666750" y="800099"/>
                  </a:lnTo>
                  <a:lnTo>
                    <a:pt x="1066800" y="400049"/>
                  </a:lnTo>
                  <a:lnTo>
                    <a:pt x="6667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76315" y="3265932"/>
              <a:ext cx="1066800" cy="800100"/>
            </a:xfrm>
            <a:custGeom>
              <a:avLst/>
              <a:gdLst/>
              <a:ahLst/>
              <a:cxnLst/>
              <a:rect l="l" t="t" r="r" b="b"/>
              <a:pathLst>
                <a:path w="1066800" h="800100">
                  <a:moveTo>
                    <a:pt x="0" y="200025"/>
                  </a:moveTo>
                  <a:lnTo>
                    <a:pt x="666750" y="200025"/>
                  </a:lnTo>
                  <a:lnTo>
                    <a:pt x="666750" y="0"/>
                  </a:lnTo>
                  <a:lnTo>
                    <a:pt x="1066800" y="400049"/>
                  </a:lnTo>
                  <a:lnTo>
                    <a:pt x="666750" y="800099"/>
                  </a:lnTo>
                  <a:lnTo>
                    <a:pt x="666750" y="600074"/>
                  </a:lnTo>
                  <a:lnTo>
                    <a:pt x="0" y="600074"/>
                  </a:lnTo>
                  <a:lnTo>
                    <a:pt x="0" y="200025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44790" y="3038094"/>
            <a:ext cx="1503045" cy="14020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0"/>
              </a:spcBef>
            </a:pPr>
            <a:endParaRPr sz="2400">
              <a:latin typeface="Times New Roman"/>
              <a:cs typeface="Times New Roman"/>
            </a:endParaRPr>
          </a:p>
          <a:p>
            <a:pPr marR="825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818626" y="2276094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993380" y="1571625"/>
            <a:ext cx="2636520" cy="2066289"/>
            <a:chOff x="7993380" y="1571625"/>
            <a:chExt cx="2636520" cy="2066289"/>
          </a:xfrm>
        </p:grpSpPr>
        <p:sp>
          <p:nvSpPr>
            <p:cNvPr id="9" name="object 9"/>
            <p:cNvSpPr/>
            <p:nvPr/>
          </p:nvSpPr>
          <p:spPr>
            <a:xfrm>
              <a:off x="8280654" y="2276094"/>
              <a:ext cx="76200" cy="711200"/>
            </a:xfrm>
            <a:custGeom>
              <a:avLst/>
              <a:gdLst/>
              <a:ahLst/>
              <a:cxnLst/>
              <a:rect l="l" t="t" r="r" b="b"/>
              <a:pathLst>
                <a:path w="76200" h="711200">
                  <a:moveTo>
                    <a:pt x="25400" y="635000"/>
                  </a:moveTo>
                  <a:lnTo>
                    <a:pt x="0" y="635000"/>
                  </a:lnTo>
                  <a:lnTo>
                    <a:pt x="38100" y="711200"/>
                  </a:lnTo>
                  <a:lnTo>
                    <a:pt x="69850" y="647700"/>
                  </a:lnTo>
                  <a:lnTo>
                    <a:pt x="25400" y="647700"/>
                  </a:lnTo>
                  <a:lnTo>
                    <a:pt x="25400" y="635000"/>
                  </a:lnTo>
                  <a:close/>
                </a:path>
                <a:path w="76200" h="711200">
                  <a:moveTo>
                    <a:pt x="50800" y="0"/>
                  </a:moveTo>
                  <a:lnTo>
                    <a:pt x="25400" y="0"/>
                  </a:lnTo>
                  <a:lnTo>
                    <a:pt x="25400" y="647700"/>
                  </a:lnTo>
                  <a:lnTo>
                    <a:pt x="50800" y="647700"/>
                  </a:lnTo>
                  <a:lnTo>
                    <a:pt x="50800" y="0"/>
                  </a:lnTo>
                  <a:close/>
                </a:path>
                <a:path w="76200" h="711200">
                  <a:moveTo>
                    <a:pt x="76200" y="635000"/>
                  </a:moveTo>
                  <a:lnTo>
                    <a:pt x="50800" y="635000"/>
                  </a:lnTo>
                  <a:lnTo>
                    <a:pt x="50800" y="647700"/>
                  </a:lnTo>
                  <a:lnTo>
                    <a:pt x="69850" y="647700"/>
                  </a:lnTo>
                  <a:lnTo>
                    <a:pt x="76200" y="635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3380" y="1584959"/>
              <a:ext cx="598931" cy="8229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443722" y="1581150"/>
              <a:ext cx="2176780" cy="2047239"/>
            </a:xfrm>
            <a:custGeom>
              <a:avLst/>
              <a:gdLst/>
              <a:ahLst/>
              <a:cxnLst/>
              <a:rect l="l" t="t" r="r" b="b"/>
              <a:pathLst>
                <a:path w="2176779" h="2047239">
                  <a:moveTo>
                    <a:pt x="0" y="4572"/>
                  </a:moveTo>
                  <a:lnTo>
                    <a:pt x="2176272" y="4572"/>
                  </a:lnTo>
                </a:path>
                <a:path w="2176779" h="2047239">
                  <a:moveTo>
                    <a:pt x="1682496" y="2046477"/>
                  </a:moveTo>
                  <a:lnTo>
                    <a:pt x="1682496" y="0"/>
                  </a:lnTo>
                </a:path>
                <a:path w="2176779" h="2047239">
                  <a:moveTo>
                    <a:pt x="903731" y="2046732"/>
                  </a:moveTo>
                  <a:lnTo>
                    <a:pt x="1682750" y="20467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8818626" y="4499609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71509" y="4499609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800845" y="5212791"/>
            <a:ext cx="16446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98611" y="5178297"/>
            <a:ext cx="18034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C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60332" y="1924050"/>
            <a:ext cx="2032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07171" y="1164082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676890" y="1371041"/>
            <a:ext cx="77089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latin typeface="Calibri"/>
                <a:cs typeface="Calibri"/>
              </a:rPr>
              <a:t>Cin</a:t>
            </a:r>
            <a:r>
              <a:rPr sz="2300" b="1" spc="-10" dirty="0">
                <a:latin typeface="Calibri"/>
                <a:cs typeface="Calibri"/>
              </a:rPr>
              <a:t> </a:t>
            </a:r>
            <a:r>
              <a:rPr sz="2300" b="1" spc="-25" dirty="0">
                <a:latin typeface="Calibri"/>
                <a:cs typeface="Calibri"/>
              </a:rPr>
              <a:t>=1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15985" y="2280666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976616" y="2330195"/>
            <a:ext cx="253365" cy="1905"/>
          </a:xfrm>
          <a:custGeom>
            <a:avLst/>
            <a:gdLst/>
            <a:ahLst/>
            <a:cxnLst/>
            <a:rect l="l" t="t" r="r" b="b"/>
            <a:pathLst>
              <a:path w="253365" h="1905">
                <a:moveTo>
                  <a:pt x="0" y="0"/>
                </a:moveTo>
                <a:lnTo>
                  <a:pt x="252983" y="1524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21457" y="3007614"/>
            <a:ext cx="1501140" cy="14020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8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70"/>
              </a:spcBef>
            </a:pPr>
            <a:endParaRPr sz="24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22597" y="3670553"/>
            <a:ext cx="499109" cy="76200"/>
          </a:xfrm>
          <a:custGeom>
            <a:avLst/>
            <a:gdLst/>
            <a:ahLst/>
            <a:cxnLst/>
            <a:rect l="l" t="t" r="r" b="b"/>
            <a:pathLst>
              <a:path w="49911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50800"/>
                </a:lnTo>
                <a:lnTo>
                  <a:pt x="63500" y="50800"/>
                </a:lnTo>
                <a:lnTo>
                  <a:pt x="63500" y="25400"/>
                </a:lnTo>
                <a:lnTo>
                  <a:pt x="76200" y="25400"/>
                </a:lnTo>
                <a:lnTo>
                  <a:pt x="76200" y="0"/>
                </a:lnTo>
                <a:close/>
              </a:path>
              <a:path w="499110" h="76200">
                <a:moveTo>
                  <a:pt x="76200" y="25400"/>
                </a:moveTo>
                <a:lnTo>
                  <a:pt x="63500" y="25400"/>
                </a:lnTo>
                <a:lnTo>
                  <a:pt x="63500" y="50800"/>
                </a:lnTo>
                <a:lnTo>
                  <a:pt x="76200" y="50800"/>
                </a:lnTo>
                <a:lnTo>
                  <a:pt x="76200" y="25400"/>
                </a:lnTo>
                <a:close/>
              </a:path>
              <a:path w="499110" h="76200">
                <a:moveTo>
                  <a:pt x="498855" y="25400"/>
                </a:moveTo>
                <a:lnTo>
                  <a:pt x="76200" y="25400"/>
                </a:lnTo>
                <a:lnTo>
                  <a:pt x="76200" y="50800"/>
                </a:lnTo>
                <a:lnTo>
                  <a:pt x="498855" y="50800"/>
                </a:lnTo>
                <a:lnTo>
                  <a:pt x="498855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33166" y="2237994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399" y="635000"/>
                </a:moveTo>
                <a:lnTo>
                  <a:pt x="0" y="635000"/>
                </a:lnTo>
                <a:lnTo>
                  <a:pt x="38099" y="711200"/>
                </a:lnTo>
                <a:lnTo>
                  <a:pt x="69849" y="647700"/>
                </a:lnTo>
                <a:lnTo>
                  <a:pt x="25399" y="647700"/>
                </a:lnTo>
                <a:lnTo>
                  <a:pt x="25399" y="635000"/>
                </a:lnTo>
                <a:close/>
              </a:path>
              <a:path w="76200" h="711200">
                <a:moveTo>
                  <a:pt x="50799" y="0"/>
                </a:moveTo>
                <a:lnTo>
                  <a:pt x="25399" y="0"/>
                </a:lnTo>
                <a:lnTo>
                  <a:pt x="25399" y="647700"/>
                </a:lnTo>
                <a:lnTo>
                  <a:pt x="50799" y="647700"/>
                </a:lnTo>
                <a:lnTo>
                  <a:pt x="50799" y="0"/>
                </a:lnTo>
                <a:close/>
              </a:path>
              <a:path w="76200" h="711200">
                <a:moveTo>
                  <a:pt x="76199" y="635000"/>
                </a:moveTo>
                <a:lnTo>
                  <a:pt x="50799" y="635000"/>
                </a:lnTo>
                <a:lnTo>
                  <a:pt x="50799" y="647700"/>
                </a:lnTo>
                <a:lnTo>
                  <a:pt x="69849" y="647700"/>
                </a:lnTo>
                <a:lnTo>
                  <a:pt x="76199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93770" y="4469129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948177" y="4469129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157854" y="1844167"/>
            <a:ext cx="2032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80157" y="1859661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832354" y="2242566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654041" y="3457194"/>
            <a:ext cx="40957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5" dirty="0">
                <a:latin typeface="Calibri"/>
                <a:cs typeface="Calibri"/>
              </a:rPr>
              <a:t>Cin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27451" y="5222240"/>
            <a:ext cx="5461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latin typeface="Calibri"/>
                <a:cs typeface="Calibri"/>
              </a:rPr>
              <a:t>Cout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 rot="10860000">
            <a:off x="3401282" y="5303615"/>
            <a:ext cx="297052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100" b="1" spc="-50" dirty="0">
                <a:latin typeface="Calibri"/>
                <a:cs typeface="Calibri"/>
              </a:rPr>
              <a:t>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660128" y="3680205"/>
            <a:ext cx="70485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10" dirty="0">
                <a:latin typeface="Calibri"/>
                <a:cs typeface="Calibri"/>
              </a:rPr>
              <a:t>Cin=1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50029" y="261315"/>
            <a:ext cx="49726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204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Adder</a:t>
            </a:r>
            <a:r>
              <a:rPr b="0" spc="-200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(Modified)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32070" y="3118866"/>
            <a:ext cx="1503045" cy="14020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5"/>
              </a:spcBef>
            </a:pPr>
            <a:endParaRPr sz="24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05905" y="2358389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280659" y="1656969"/>
            <a:ext cx="2626995" cy="2061210"/>
            <a:chOff x="5280659" y="1656969"/>
            <a:chExt cx="2626995" cy="2061210"/>
          </a:xfrm>
        </p:grpSpPr>
        <p:sp>
          <p:nvSpPr>
            <p:cNvPr id="6" name="object 6"/>
            <p:cNvSpPr/>
            <p:nvPr/>
          </p:nvSpPr>
          <p:spPr>
            <a:xfrm>
              <a:off x="5567933" y="2358390"/>
              <a:ext cx="76200" cy="711200"/>
            </a:xfrm>
            <a:custGeom>
              <a:avLst/>
              <a:gdLst/>
              <a:ahLst/>
              <a:cxnLst/>
              <a:rect l="l" t="t" r="r" b="b"/>
              <a:pathLst>
                <a:path w="76200" h="711200">
                  <a:moveTo>
                    <a:pt x="25400" y="635000"/>
                  </a:moveTo>
                  <a:lnTo>
                    <a:pt x="0" y="635000"/>
                  </a:lnTo>
                  <a:lnTo>
                    <a:pt x="38100" y="711200"/>
                  </a:lnTo>
                  <a:lnTo>
                    <a:pt x="69850" y="647700"/>
                  </a:lnTo>
                  <a:lnTo>
                    <a:pt x="25400" y="647700"/>
                  </a:lnTo>
                  <a:lnTo>
                    <a:pt x="25400" y="635000"/>
                  </a:lnTo>
                  <a:close/>
                </a:path>
                <a:path w="76200" h="711200">
                  <a:moveTo>
                    <a:pt x="50800" y="0"/>
                  </a:moveTo>
                  <a:lnTo>
                    <a:pt x="25400" y="0"/>
                  </a:lnTo>
                  <a:lnTo>
                    <a:pt x="25400" y="647700"/>
                  </a:lnTo>
                  <a:lnTo>
                    <a:pt x="50800" y="647700"/>
                  </a:lnTo>
                  <a:lnTo>
                    <a:pt x="50800" y="0"/>
                  </a:lnTo>
                  <a:close/>
                </a:path>
                <a:path w="76200" h="711200">
                  <a:moveTo>
                    <a:pt x="76200" y="635000"/>
                  </a:moveTo>
                  <a:lnTo>
                    <a:pt x="50800" y="635000"/>
                  </a:lnTo>
                  <a:lnTo>
                    <a:pt x="50800" y="647700"/>
                  </a:lnTo>
                  <a:lnTo>
                    <a:pt x="69850" y="647700"/>
                  </a:lnTo>
                  <a:lnTo>
                    <a:pt x="76200" y="635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0659" y="1665732"/>
              <a:ext cx="598931" cy="8244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31001" y="1661922"/>
              <a:ext cx="2176780" cy="2047239"/>
            </a:xfrm>
            <a:custGeom>
              <a:avLst/>
              <a:gdLst/>
              <a:ahLst/>
              <a:cxnLst/>
              <a:rect l="l" t="t" r="r" b="b"/>
              <a:pathLst>
                <a:path w="2176779" h="2047239">
                  <a:moveTo>
                    <a:pt x="0" y="4572"/>
                  </a:moveTo>
                  <a:lnTo>
                    <a:pt x="2176272" y="4572"/>
                  </a:lnTo>
                </a:path>
                <a:path w="2176779" h="2047239">
                  <a:moveTo>
                    <a:pt x="1682496" y="2046477"/>
                  </a:moveTo>
                  <a:lnTo>
                    <a:pt x="1682496" y="0"/>
                  </a:lnTo>
                </a:path>
                <a:path w="2176779" h="2047239">
                  <a:moveTo>
                    <a:pt x="903731" y="2046732"/>
                  </a:moveTo>
                  <a:lnTo>
                    <a:pt x="1682750" y="20467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6105905" y="4580382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58790" y="4580382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087871" y="5294477"/>
            <a:ext cx="1638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85638" y="5259704"/>
            <a:ext cx="18034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C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03011" y="2025218"/>
            <a:ext cx="927100" cy="713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6600">
              <a:lnSpc>
                <a:spcPts val="2705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05"/>
              </a:lnSpc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94197" y="1245488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63916" y="1452752"/>
            <a:ext cx="7048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Cin=0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83373" y="3728415"/>
            <a:ext cx="70485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Cin=0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30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45" dirty="0">
                <a:latin typeface="Calibri Light"/>
                <a:cs typeface="Calibri Light"/>
              </a:rPr>
              <a:t>Adder/Subtractor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1189" y="3271265"/>
            <a:ext cx="1503045" cy="14020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79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65"/>
              </a:spcBef>
            </a:pPr>
            <a:endParaRPr sz="24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75026" y="2510789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049779" y="1809369"/>
            <a:ext cx="2626995" cy="2061210"/>
            <a:chOff x="2049779" y="1809369"/>
            <a:chExt cx="2626995" cy="2061210"/>
          </a:xfrm>
        </p:grpSpPr>
        <p:sp>
          <p:nvSpPr>
            <p:cNvPr id="6" name="object 6"/>
            <p:cNvSpPr/>
            <p:nvPr/>
          </p:nvSpPr>
          <p:spPr>
            <a:xfrm>
              <a:off x="2337053" y="2510790"/>
              <a:ext cx="76200" cy="711200"/>
            </a:xfrm>
            <a:custGeom>
              <a:avLst/>
              <a:gdLst/>
              <a:ahLst/>
              <a:cxnLst/>
              <a:rect l="l" t="t" r="r" b="b"/>
              <a:pathLst>
                <a:path w="76200" h="711200">
                  <a:moveTo>
                    <a:pt x="25400" y="635000"/>
                  </a:moveTo>
                  <a:lnTo>
                    <a:pt x="0" y="635000"/>
                  </a:lnTo>
                  <a:lnTo>
                    <a:pt x="38100" y="711200"/>
                  </a:lnTo>
                  <a:lnTo>
                    <a:pt x="69850" y="647700"/>
                  </a:lnTo>
                  <a:lnTo>
                    <a:pt x="25400" y="647700"/>
                  </a:lnTo>
                  <a:lnTo>
                    <a:pt x="25400" y="635000"/>
                  </a:lnTo>
                  <a:close/>
                </a:path>
                <a:path w="76200" h="711200">
                  <a:moveTo>
                    <a:pt x="50800" y="0"/>
                  </a:moveTo>
                  <a:lnTo>
                    <a:pt x="25400" y="0"/>
                  </a:lnTo>
                  <a:lnTo>
                    <a:pt x="25400" y="647700"/>
                  </a:lnTo>
                  <a:lnTo>
                    <a:pt x="50800" y="647700"/>
                  </a:lnTo>
                  <a:lnTo>
                    <a:pt x="50800" y="0"/>
                  </a:lnTo>
                  <a:close/>
                </a:path>
                <a:path w="76200" h="711200">
                  <a:moveTo>
                    <a:pt x="76200" y="635000"/>
                  </a:moveTo>
                  <a:lnTo>
                    <a:pt x="50800" y="635000"/>
                  </a:lnTo>
                  <a:lnTo>
                    <a:pt x="50800" y="647700"/>
                  </a:lnTo>
                  <a:lnTo>
                    <a:pt x="69850" y="647700"/>
                  </a:lnTo>
                  <a:lnTo>
                    <a:pt x="76200" y="635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9779" y="1818132"/>
              <a:ext cx="598931" cy="8244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500121" y="1814322"/>
              <a:ext cx="2176780" cy="2047239"/>
            </a:xfrm>
            <a:custGeom>
              <a:avLst/>
              <a:gdLst/>
              <a:ahLst/>
              <a:cxnLst/>
              <a:rect l="l" t="t" r="r" b="b"/>
              <a:pathLst>
                <a:path w="2176779" h="2047239">
                  <a:moveTo>
                    <a:pt x="0" y="4572"/>
                  </a:moveTo>
                  <a:lnTo>
                    <a:pt x="2176272" y="4572"/>
                  </a:lnTo>
                </a:path>
                <a:path w="2176779" h="2047239">
                  <a:moveTo>
                    <a:pt x="1682495" y="2046477"/>
                  </a:moveTo>
                  <a:lnTo>
                    <a:pt x="1682495" y="0"/>
                  </a:lnTo>
                </a:path>
                <a:path w="2176779" h="2047239">
                  <a:moveTo>
                    <a:pt x="903731" y="2046732"/>
                  </a:moveTo>
                  <a:lnTo>
                    <a:pt x="1682750" y="204673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2599182" y="4732782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80258" y="5446877"/>
            <a:ext cx="1638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1877" y="2178176"/>
            <a:ext cx="926465" cy="713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35965">
              <a:lnSpc>
                <a:spcPts val="2705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ts val="2705"/>
              </a:lnSpc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2682" y="1397888"/>
            <a:ext cx="18986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32401" y="1604848"/>
            <a:ext cx="89471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Cin/Sel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11114" y="3104133"/>
            <a:ext cx="777875" cy="724535"/>
            <a:chOff x="5611114" y="3104133"/>
            <a:chExt cx="777875" cy="724535"/>
          </a:xfrm>
        </p:grpSpPr>
        <p:sp>
          <p:nvSpPr>
            <p:cNvPr id="15" name="object 15"/>
            <p:cNvSpPr/>
            <p:nvPr/>
          </p:nvSpPr>
          <p:spPr>
            <a:xfrm>
              <a:off x="5617464" y="3110483"/>
              <a:ext cx="765175" cy="711835"/>
            </a:xfrm>
            <a:custGeom>
              <a:avLst/>
              <a:gdLst/>
              <a:ahLst/>
              <a:cxnLst/>
              <a:rect l="l" t="t" r="r" b="b"/>
              <a:pathLst>
                <a:path w="765175" h="711835">
                  <a:moveTo>
                    <a:pt x="409194" y="0"/>
                  </a:moveTo>
                  <a:lnTo>
                    <a:pt x="409194" y="177926"/>
                  </a:lnTo>
                  <a:lnTo>
                    <a:pt x="0" y="177926"/>
                  </a:lnTo>
                  <a:lnTo>
                    <a:pt x="0" y="533780"/>
                  </a:lnTo>
                  <a:lnTo>
                    <a:pt x="409194" y="533780"/>
                  </a:lnTo>
                  <a:lnTo>
                    <a:pt x="409194" y="711707"/>
                  </a:lnTo>
                  <a:lnTo>
                    <a:pt x="765048" y="355853"/>
                  </a:lnTo>
                  <a:lnTo>
                    <a:pt x="4091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617464" y="3110483"/>
              <a:ext cx="765175" cy="711835"/>
            </a:xfrm>
            <a:custGeom>
              <a:avLst/>
              <a:gdLst/>
              <a:ahLst/>
              <a:cxnLst/>
              <a:rect l="l" t="t" r="r" b="b"/>
              <a:pathLst>
                <a:path w="765175" h="711835">
                  <a:moveTo>
                    <a:pt x="0" y="177926"/>
                  </a:moveTo>
                  <a:lnTo>
                    <a:pt x="409194" y="177926"/>
                  </a:lnTo>
                  <a:lnTo>
                    <a:pt x="409194" y="0"/>
                  </a:lnTo>
                  <a:lnTo>
                    <a:pt x="765048" y="355853"/>
                  </a:lnTo>
                  <a:lnTo>
                    <a:pt x="409194" y="711707"/>
                  </a:lnTo>
                  <a:lnTo>
                    <a:pt x="409194" y="533780"/>
                  </a:lnTo>
                  <a:lnTo>
                    <a:pt x="0" y="533780"/>
                  </a:lnTo>
                  <a:lnTo>
                    <a:pt x="0" y="17792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7040118" y="3031998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49261" y="3475482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22542" y="2799054"/>
            <a:ext cx="399415" cy="1263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0" marR="5080" indent="-16510" algn="r">
              <a:lnSpc>
                <a:spcPct val="1219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A B</a:t>
            </a:r>
            <a:endParaRPr sz="2300">
              <a:latin typeface="Calibri"/>
              <a:cs typeface="Calibri"/>
            </a:endParaRPr>
          </a:p>
          <a:p>
            <a:pPr marR="20955" algn="r">
              <a:lnSpc>
                <a:spcPct val="100000"/>
              </a:lnSpc>
              <a:spcBef>
                <a:spcPts val="250"/>
              </a:spcBef>
            </a:pPr>
            <a:r>
              <a:rPr sz="2300" b="1" spc="-25" dirty="0">
                <a:latin typeface="Calibri"/>
                <a:cs typeface="Calibri"/>
              </a:rPr>
              <a:t>Sel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50302" y="2803398"/>
            <a:ext cx="1697989" cy="12528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120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70"/>
              </a:spcBef>
            </a:pPr>
            <a:endParaRPr sz="1800">
              <a:latin typeface="Times New Roman"/>
              <a:cs typeface="Times New Roman"/>
            </a:endParaRPr>
          </a:p>
          <a:p>
            <a:pPr marL="42164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ADD/SUB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049261" y="385800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461754" y="3138677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294111" y="2956636"/>
            <a:ext cx="16446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63846" y="261315"/>
            <a:ext cx="3345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0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5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Multiplier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30929" y="1841838"/>
            <a:ext cx="1791970" cy="1007744"/>
            <a:chOff x="3630929" y="1841838"/>
            <a:chExt cx="1791970" cy="100774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4675" y="1841838"/>
              <a:ext cx="1537715" cy="10077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30929" y="2042922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5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0741" y="2663190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5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269107" y="1796922"/>
            <a:ext cx="232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𝐀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0630" y="2439746"/>
            <a:ext cx="228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3648" y="2114550"/>
            <a:ext cx="4362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𝐀𝐁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60791" y="1717928"/>
            <a:ext cx="12534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𝟎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𝟎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𝟎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𝟎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-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∗</a:t>
            </a:r>
            <a:r>
              <a:rPr sz="2400" spc="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𝟏</a:t>
            </a:r>
            <a:r>
              <a:rPr sz="2400" spc="1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50377" y="1335151"/>
            <a:ext cx="232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mbria Math"/>
                <a:cs typeface="Cambria Math"/>
              </a:rPr>
              <a:t>𝐀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12530" y="1361897"/>
            <a:ext cx="8369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1340" algn="l"/>
              </a:tabLst>
            </a:pPr>
            <a:r>
              <a:rPr sz="3600" spc="-75" baseline="2314" dirty="0">
                <a:latin typeface="Cambria Math"/>
                <a:cs typeface="Cambria Math"/>
              </a:rPr>
              <a:t>𝐁</a:t>
            </a:r>
            <a:r>
              <a:rPr sz="3600" baseline="2314" dirty="0">
                <a:latin typeface="Cambria Math"/>
                <a:cs typeface="Cambria Math"/>
              </a:rPr>
              <a:t>	</a:t>
            </a:r>
            <a:r>
              <a:rPr sz="2400" spc="-50" dirty="0">
                <a:latin typeface="Cambria Math"/>
                <a:cs typeface="Cambria Math"/>
              </a:rPr>
              <a:t>𝐌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89067" y="2957957"/>
            <a:ext cx="694690" cy="681990"/>
            <a:chOff x="4989067" y="2957957"/>
            <a:chExt cx="694690" cy="681990"/>
          </a:xfrm>
        </p:grpSpPr>
        <p:sp>
          <p:nvSpPr>
            <p:cNvPr id="14" name="object 14"/>
            <p:cNvSpPr/>
            <p:nvPr/>
          </p:nvSpPr>
          <p:spPr>
            <a:xfrm>
              <a:off x="4995417" y="2964307"/>
              <a:ext cx="681990" cy="669290"/>
            </a:xfrm>
            <a:custGeom>
              <a:avLst/>
              <a:gdLst/>
              <a:ahLst/>
              <a:cxnLst/>
              <a:rect l="l" t="t" r="r" b="b"/>
              <a:pathLst>
                <a:path w="681989" h="669289">
                  <a:moveTo>
                    <a:pt x="241681" y="0"/>
                  </a:moveTo>
                  <a:lnTo>
                    <a:pt x="0" y="260730"/>
                  </a:lnTo>
                  <a:lnTo>
                    <a:pt x="300101" y="538860"/>
                  </a:lnTo>
                  <a:lnTo>
                    <a:pt x="179197" y="669162"/>
                  </a:lnTo>
                  <a:lnTo>
                    <a:pt x="681609" y="650239"/>
                  </a:lnTo>
                  <a:lnTo>
                    <a:pt x="662559" y="147827"/>
                  </a:lnTo>
                  <a:lnTo>
                    <a:pt x="541782" y="278256"/>
                  </a:lnTo>
                  <a:lnTo>
                    <a:pt x="24168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95417" y="2964307"/>
              <a:ext cx="681990" cy="669290"/>
            </a:xfrm>
            <a:custGeom>
              <a:avLst/>
              <a:gdLst/>
              <a:ahLst/>
              <a:cxnLst/>
              <a:rect l="l" t="t" r="r" b="b"/>
              <a:pathLst>
                <a:path w="681989" h="669289">
                  <a:moveTo>
                    <a:pt x="241681" y="0"/>
                  </a:moveTo>
                  <a:lnTo>
                    <a:pt x="541782" y="278256"/>
                  </a:lnTo>
                  <a:lnTo>
                    <a:pt x="662559" y="147827"/>
                  </a:lnTo>
                  <a:lnTo>
                    <a:pt x="681609" y="650239"/>
                  </a:lnTo>
                  <a:lnTo>
                    <a:pt x="179197" y="669162"/>
                  </a:lnTo>
                  <a:lnTo>
                    <a:pt x="300101" y="538860"/>
                  </a:lnTo>
                  <a:lnTo>
                    <a:pt x="0" y="260730"/>
                  </a:lnTo>
                  <a:lnTo>
                    <a:pt x="241681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5397246" y="4272534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397246" y="4851653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72836" y="4116704"/>
            <a:ext cx="20320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79821" y="4679441"/>
            <a:ext cx="18986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08953" y="4043934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/>
              <a:cs typeface="Times New Roman"/>
            </a:endParaRPr>
          </a:p>
          <a:p>
            <a:pPr marL="80010" algn="ctr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MUL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805166" y="4554473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8636634" y="4373626"/>
            <a:ext cx="2235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30" rIns="0" bIns="0" rtlCol="0">
            <a:spAutoFit/>
          </a:bodyPr>
          <a:lstStyle/>
          <a:p>
            <a:pPr marL="1459865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Shifter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2823" y="940308"/>
            <a:ext cx="7984235" cy="51556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793492" y="5755640"/>
            <a:ext cx="45618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𝐘</a:t>
            </a:r>
            <a:r>
              <a:rPr sz="1800" spc="47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=</a:t>
            </a:r>
            <a:r>
              <a:rPr sz="1800" spc="55" dirty="0">
                <a:latin typeface="Cambria Math"/>
                <a:cs typeface="Cambria Math"/>
              </a:rPr>
              <a:t>  </a:t>
            </a:r>
            <a:r>
              <a:rPr sz="1800" spc="-475" dirty="0">
                <a:latin typeface="Cambria Math"/>
                <a:cs typeface="Cambria Math"/>
              </a:rPr>
              <a:t>𝐀</a:t>
            </a:r>
            <a:r>
              <a:rPr sz="2700" spc="-712" baseline="10802" dirty="0">
                <a:latin typeface="Cambria Math"/>
                <a:cs typeface="Cambria Math"/>
              </a:rPr>
              <a:t>ഥ</a:t>
            </a:r>
            <a:r>
              <a:rPr sz="1800" spc="-475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475" dirty="0">
                <a:latin typeface="Cambria Math"/>
                <a:cs typeface="Cambria Math"/>
              </a:rPr>
              <a:t>𝐁</a:t>
            </a:r>
            <a:r>
              <a:rPr sz="2700" spc="-712" baseline="10802" dirty="0">
                <a:latin typeface="Cambria Math"/>
                <a:cs typeface="Cambria Math"/>
              </a:rPr>
              <a:t>ഥ</a:t>
            </a:r>
            <a:r>
              <a:rPr sz="1800" spc="-475" dirty="0">
                <a:latin typeface="Cambria Math"/>
                <a:cs typeface="Cambria Math"/>
              </a:rPr>
              <a:t>.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𝐃𝟎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-475" dirty="0">
                <a:latin typeface="Cambria Math"/>
                <a:cs typeface="Cambria Math"/>
              </a:rPr>
              <a:t>𝐀</a:t>
            </a:r>
            <a:r>
              <a:rPr sz="2700" spc="-712" baseline="10802" dirty="0">
                <a:latin typeface="Cambria Math"/>
                <a:cs typeface="Cambria Math"/>
              </a:rPr>
              <a:t>ഥ</a:t>
            </a:r>
            <a:r>
              <a:rPr sz="1800" spc="-475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𝐁.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𝐃𝟏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𝐀.</a:t>
            </a:r>
            <a:r>
              <a:rPr sz="1800" spc="-85" dirty="0">
                <a:latin typeface="Cambria Math"/>
                <a:cs typeface="Cambria Math"/>
              </a:rPr>
              <a:t> </a:t>
            </a:r>
            <a:r>
              <a:rPr sz="1800" spc="-475" dirty="0">
                <a:latin typeface="Cambria Math"/>
                <a:cs typeface="Cambria Math"/>
              </a:rPr>
              <a:t>𝐁</a:t>
            </a:r>
            <a:r>
              <a:rPr sz="2700" spc="-712" baseline="10802" dirty="0">
                <a:latin typeface="Cambria Math"/>
                <a:cs typeface="Cambria Math"/>
              </a:rPr>
              <a:t>ഥ</a:t>
            </a:r>
            <a:r>
              <a:rPr sz="1800" spc="-475" dirty="0">
                <a:latin typeface="Cambria Math"/>
                <a:cs typeface="Cambria Math"/>
              </a:rPr>
              <a:t>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𝐃𝟐</a:t>
            </a:r>
            <a:r>
              <a:rPr sz="1800" spc="-5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+</a:t>
            </a:r>
            <a:r>
              <a:rPr sz="1800" spc="10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𝐀.</a:t>
            </a:r>
            <a:r>
              <a:rPr sz="1800" spc="-95" dirty="0">
                <a:latin typeface="Cambria Math"/>
                <a:cs typeface="Cambria Math"/>
              </a:rPr>
              <a:t> </a:t>
            </a:r>
            <a:r>
              <a:rPr sz="1800" spc="-10" dirty="0">
                <a:latin typeface="Cambria Math"/>
                <a:cs typeface="Cambria Math"/>
              </a:rPr>
              <a:t>𝐁.</a:t>
            </a:r>
            <a:r>
              <a:rPr sz="1800" spc="-90" dirty="0">
                <a:latin typeface="Cambria Math"/>
                <a:cs typeface="Cambria Math"/>
              </a:rPr>
              <a:t> </a:t>
            </a:r>
            <a:r>
              <a:rPr sz="1800" spc="-965" dirty="0">
                <a:latin typeface="Cambria Math"/>
                <a:cs typeface="Cambria Math"/>
              </a:rPr>
              <a:t>𝐃𝟑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3530" rIns="0" bIns="0" rtlCol="0">
            <a:spAutoFit/>
          </a:bodyPr>
          <a:lstStyle/>
          <a:p>
            <a:pPr marL="1459865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Shifter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046848" y="1568450"/>
          <a:ext cx="3535045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R="514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𝑺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𝑺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Operation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161656" y="3985005"/>
            <a:ext cx="18065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Input: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tabLst>
                <a:tab pos="141605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Right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shift: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Left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shift: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36151" y="3985005"/>
            <a:ext cx="17760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Input: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Right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shift: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1416050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Left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shift: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70198" y="1892045"/>
            <a:ext cx="1102360" cy="842010"/>
          </a:xfrm>
          <a:custGeom>
            <a:avLst/>
            <a:gdLst/>
            <a:ahLst/>
            <a:cxnLst/>
            <a:rect l="l" t="t" r="r" b="b"/>
            <a:pathLst>
              <a:path w="1102360" h="842010">
                <a:moveTo>
                  <a:pt x="76200" y="758444"/>
                </a:moveTo>
                <a:lnTo>
                  <a:pt x="50800" y="758444"/>
                </a:lnTo>
                <a:lnTo>
                  <a:pt x="50800" y="123444"/>
                </a:lnTo>
                <a:lnTo>
                  <a:pt x="25400" y="123444"/>
                </a:lnTo>
                <a:lnTo>
                  <a:pt x="25400" y="758444"/>
                </a:lnTo>
                <a:lnTo>
                  <a:pt x="0" y="758444"/>
                </a:lnTo>
                <a:lnTo>
                  <a:pt x="38100" y="834644"/>
                </a:lnTo>
                <a:lnTo>
                  <a:pt x="69850" y="771144"/>
                </a:lnTo>
                <a:lnTo>
                  <a:pt x="76200" y="758444"/>
                </a:lnTo>
                <a:close/>
              </a:path>
              <a:path w="1102360" h="842010">
                <a:moveTo>
                  <a:pt x="562356" y="758444"/>
                </a:moveTo>
                <a:lnTo>
                  <a:pt x="536956" y="758444"/>
                </a:lnTo>
                <a:lnTo>
                  <a:pt x="536956" y="123444"/>
                </a:lnTo>
                <a:lnTo>
                  <a:pt x="511556" y="123444"/>
                </a:lnTo>
                <a:lnTo>
                  <a:pt x="511556" y="758444"/>
                </a:lnTo>
                <a:lnTo>
                  <a:pt x="486156" y="758444"/>
                </a:lnTo>
                <a:lnTo>
                  <a:pt x="524256" y="834644"/>
                </a:lnTo>
                <a:lnTo>
                  <a:pt x="556006" y="771144"/>
                </a:lnTo>
                <a:lnTo>
                  <a:pt x="562356" y="758444"/>
                </a:lnTo>
                <a:close/>
              </a:path>
              <a:path w="1102360" h="842010">
                <a:moveTo>
                  <a:pt x="1101852" y="765429"/>
                </a:moveTo>
                <a:lnTo>
                  <a:pt x="1076452" y="765429"/>
                </a:lnTo>
                <a:lnTo>
                  <a:pt x="1076452" y="0"/>
                </a:lnTo>
                <a:lnTo>
                  <a:pt x="1051052" y="0"/>
                </a:lnTo>
                <a:lnTo>
                  <a:pt x="1051052" y="765429"/>
                </a:lnTo>
                <a:lnTo>
                  <a:pt x="1025652" y="765429"/>
                </a:lnTo>
                <a:lnTo>
                  <a:pt x="1063752" y="841629"/>
                </a:lnTo>
                <a:lnTo>
                  <a:pt x="1095502" y="778129"/>
                </a:lnTo>
                <a:lnTo>
                  <a:pt x="1101852" y="765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59782" y="1486026"/>
            <a:ext cx="20320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21938" y="1651762"/>
            <a:ext cx="67056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9270" algn="l"/>
              </a:tabLst>
            </a:pPr>
            <a:r>
              <a:rPr sz="2300" b="1" spc="-50" dirty="0">
                <a:latin typeface="Calibri"/>
                <a:cs typeface="Calibri"/>
              </a:rPr>
              <a:t>0</a:t>
            </a:r>
            <a:r>
              <a:rPr sz="2300" b="1" dirty="0">
                <a:latin typeface="Calibri"/>
                <a:cs typeface="Calibri"/>
              </a:rPr>
              <a:t>	</a:t>
            </a:r>
            <a:r>
              <a:rPr sz="2300" b="1" spc="-50" dirty="0">
                <a:latin typeface="Calibri"/>
                <a:cs typeface="Calibri"/>
              </a:rPr>
              <a:t>0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65753" y="2023110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85871" y="1690243"/>
            <a:ext cx="18669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X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37585" y="2720594"/>
            <a:ext cx="2200275" cy="2369820"/>
            <a:chOff x="3037585" y="2720594"/>
            <a:chExt cx="2200275" cy="2369820"/>
          </a:xfrm>
        </p:grpSpPr>
        <p:sp>
          <p:nvSpPr>
            <p:cNvPr id="12" name="object 12"/>
            <p:cNvSpPr/>
            <p:nvPr/>
          </p:nvSpPr>
          <p:spPr>
            <a:xfrm>
              <a:off x="4150613" y="4379214"/>
              <a:ext cx="76200" cy="711200"/>
            </a:xfrm>
            <a:custGeom>
              <a:avLst/>
              <a:gdLst/>
              <a:ahLst/>
              <a:cxnLst/>
              <a:rect l="l" t="t" r="r" b="b"/>
              <a:pathLst>
                <a:path w="76200" h="711200">
                  <a:moveTo>
                    <a:pt x="25400" y="635000"/>
                  </a:moveTo>
                  <a:lnTo>
                    <a:pt x="0" y="635000"/>
                  </a:lnTo>
                  <a:lnTo>
                    <a:pt x="38100" y="711200"/>
                  </a:lnTo>
                  <a:lnTo>
                    <a:pt x="69850" y="647700"/>
                  </a:lnTo>
                  <a:lnTo>
                    <a:pt x="25400" y="647700"/>
                  </a:lnTo>
                  <a:lnTo>
                    <a:pt x="25400" y="635000"/>
                  </a:lnTo>
                  <a:close/>
                </a:path>
                <a:path w="76200" h="711200">
                  <a:moveTo>
                    <a:pt x="50800" y="0"/>
                  </a:moveTo>
                  <a:lnTo>
                    <a:pt x="25400" y="0"/>
                  </a:lnTo>
                  <a:lnTo>
                    <a:pt x="25400" y="647700"/>
                  </a:lnTo>
                  <a:lnTo>
                    <a:pt x="50800" y="647700"/>
                  </a:lnTo>
                  <a:lnTo>
                    <a:pt x="50800" y="0"/>
                  </a:lnTo>
                  <a:close/>
                </a:path>
                <a:path w="76200" h="711200">
                  <a:moveTo>
                    <a:pt x="76200" y="635000"/>
                  </a:moveTo>
                  <a:lnTo>
                    <a:pt x="50800" y="635000"/>
                  </a:lnTo>
                  <a:lnTo>
                    <a:pt x="50800" y="647700"/>
                  </a:lnTo>
                  <a:lnTo>
                    <a:pt x="69850" y="647700"/>
                  </a:lnTo>
                  <a:lnTo>
                    <a:pt x="76200" y="6350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50285" y="2733294"/>
              <a:ext cx="2174875" cy="1645920"/>
            </a:xfrm>
            <a:custGeom>
              <a:avLst/>
              <a:gdLst/>
              <a:ahLst/>
              <a:cxnLst/>
              <a:rect l="l" t="t" r="r" b="b"/>
              <a:pathLst>
                <a:path w="2174875" h="1645920">
                  <a:moveTo>
                    <a:pt x="0" y="1645919"/>
                  </a:moveTo>
                  <a:lnTo>
                    <a:pt x="2174748" y="1645919"/>
                  </a:lnTo>
                  <a:lnTo>
                    <a:pt x="2174748" y="0"/>
                  </a:lnTo>
                  <a:lnTo>
                    <a:pt x="0" y="0"/>
                  </a:lnTo>
                  <a:lnTo>
                    <a:pt x="0" y="1645919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9025" y="3278631"/>
              <a:ext cx="216788" cy="20142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9025" y="3639819"/>
              <a:ext cx="218439" cy="1920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071620" y="5139944"/>
            <a:ext cx="2235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5815" y="2823794"/>
            <a:ext cx="167703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90855" algn="l"/>
                <a:tab pos="982980" algn="l"/>
                <a:tab pos="1527175" algn="l"/>
              </a:tabLst>
            </a:pPr>
            <a:r>
              <a:rPr sz="1800" spc="-50" dirty="0">
                <a:latin typeface="Cambria Math"/>
                <a:cs typeface="Cambria Math"/>
              </a:rPr>
              <a:t>𝟑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𝟐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𝟏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𝟎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800">
              <a:latin typeface="Cambria Math"/>
              <a:cs typeface="Cambria Math"/>
            </a:endParaRPr>
          </a:p>
          <a:p>
            <a:pPr marL="243204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4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MUX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573274" y="3323081"/>
            <a:ext cx="461009" cy="401320"/>
          </a:xfrm>
          <a:custGeom>
            <a:avLst/>
            <a:gdLst/>
            <a:ahLst/>
            <a:cxnLst/>
            <a:rect l="l" t="t" r="r" b="b"/>
            <a:pathLst>
              <a:path w="461010" h="401320">
                <a:moveTo>
                  <a:pt x="461010" y="362712"/>
                </a:moveTo>
                <a:lnTo>
                  <a:pt x="435610" y="350012"/>
                </a:lnTo>
                <a:lnTo>
                  <a:pt x="384810" y="324612"/>
                </a:lnTo>
                <a:lnTo>
                  <a:pt x="384810" y="350012"/>
                </a:lnTo>
                <a:lnTo>
                  <a:pt x="0" y="350012"/>
                </a:lnTo>
                <a:lnTo>
                  <a:pt x="0" y="375412"/>
                </a:lnTo>
                <a:lnTo>
                  <a:pt x="384810" y="375412"/>
                </a:lnTo>
                <a:lnTo>
                  <a:pt x="384810" y="400812"/>
                </a:lnTo>
                <a:lnTo>
                  <a:pt x="435610" y="375412"/>
                </a:lnTo>
                <a:lnTo>
                  <a:pt x="461010" y="362712"/>
                </a:lnTo>
                <a:close/>
              </a:path>
              <a:path w="461010" h="401320">
                <a:moveTo>
                  <a:pt x="461010" y="38100"/>
                </a:moveTo>
                <a:lnTo>
                  <a:pt x="435610" y="25400"/>
                </a:lnTo>
                <a:lnTo>
                  <a:pt x="384810" y="0"/>
                </a:lnTo>
                <a:lnTo>
                  <a:pt x="384810" y="25400"/>
                </a:lnTo>
                <a:lnTo>
                  <a:pt x="0" y="25400"/>
                </a:lnTo>
                <a:lnTo>
                  <a:pt x="0" y="50800"/>
                </a:lnTo>
                <a:lnTo>
                  <a:pt x="384810" y="50800"/>
                </a:lnTo>
                <a:lnTo>
                  <a:pt x="384810" y="76200"/>
                </a:lnTo>
                <a:lnTo>
                  <a:pt x="435610" y="50800"/>
                </a:lnTo>
                <a:lnTo>
                  <a:pt x="46101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6670" y="91119"/>
            <a:ext cx="2750820" cy="130746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445"/>
              </a:spcBef>
            </a:pPr>
            <a:r>
              <a:rPr b="0" spc="-45" dirty="0">
                <a:latin typeface="Calibri Light"/>
                <a:cs typeface="Calibri Light"/>
              </a:rPr>
              <a:t>1-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Shifter</a:t>
            </a: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300" spc="-50" dirty="0">
                <a:solidFill>
                  <a:srgbClr val="000000"/>
                </a:solidFill>
              </a:rPr>
              <a:t>A</a:t>
            </a:r>
            <a:endParaRPr sz="2300"/>
          </a:p>
        </p:txBody>
      </p:sp>
      <p:grpSp>
        <p:nvGrpSpPr>
          <p:cNvPr id="3" name="object 3"/>
          <p:cNvGrpSpPr/>
          <p:nvPr/>
        </p:nvGrpSpPr>
        <p:grpSpPr>
          <a:xfrm>
            <a:off x="6043929" y="2523489"/>
            <a:ext cx="776605" cy="723265"/>
            <a:chOff x="6043929" y="2523489"/>
            <a:chExt cx="776605" cy="723265"/>
          </a:xfrm>
        </p:grpSpPr>
        <p:sp>
          <p:nvSpPr>
            <p:cNvPr id="4" name="object 4"/>
            <p:cNvSpPr/>
            <p:nvPr/>
          </p:nvSpPr>
          <p:spPr>
            <a:xfrm>
              <a:off x="6050279" y="2529839"/>
              <a:ext cx="763905" cy="710565"/>
            </a:xfrm>
            <a:custGeom>
              <a:avLst/>
              <a:gdLst/>
              <a:ahLst/>
              <a:cxnLst/>
              <a:rect l="l" t="t" r="r" b="b"/>
              <a:pathLst>
                <a:path w="763904" h="710564">
                  <a:moveTo>
                    <a:pt x="408432" y="0"/>
                  </a:moveTo>
                  <a:lnTo>
                    <a:pt x="408432" y="177546"/>
                  </a:lnTo>
                  <a:lnTo>
                    <a:pt x="0" y="177546"/>
                  </a:lnTo>
                  <a:lnTo>
                    <a:pt x="0" y="532638"/>
                  </a:lnTo>
                  <a:lnTo>
                    <a:pt x="408432" y="532638"/>
                  </a:lnTo>
                  <a:lnTo>
                    <a:pt x="408432" y="710184"/>
                  </a:lnTo>
                  <a:lnTo>
                    <a:pt x="763524" y="355092"/>
                  </a:lnTo>
                  <a:lnTo>
                    <a:pt x="40843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50279" y="2529839"/>
              <a:ext cx="763905" cy="710565"/>
            </a:xfrm>
            <a:custGeom>
              <a:avLst/>
              <a:gdLst/>
              <a:ahLst/>
              <a:cxnLst/>
              <a:rect l="l" t="t" r="r" b="b"/>
              <a:pathLst>
                <a:path w="763904" h="710564">
                  <a:moveTo>
                    <a:pt x="0" y="177546"/>
                  </a:moveTo>
                  <a:lnTo>
                    <a:pt x="408432" y="177546"/>
                  </a:lnTo>
                  <a:lnTo>
                    <a:pt x="408432" y="0"/>
                  </a:lnTo>
                  <a:lnTo>
                    <a:pt x="763524" y="355092"/>
                  </a:lnTo>
                  <a:lnTo>
                    <a:pt x="408432" y="710184"/>
                  </a:lnTo>
                  <a:lnTo>
                    <a:pt x="408432" y="532638"/>
                  </a:lnTo>
                  <a:lnTo>
                    <a:pt x="0" y="532638"/>
                  </a:lnTo>
                  <a:lnTo>
                    <a:pt x="0" y="17754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80656" y="4218940"/>
          <a:ext cx="3533138" cy="1852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6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𝑺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4765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𝑺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Operation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7471409" y="2492501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83118" y="2221229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12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75"/>
              </a:spcBef>
            </a:pPr>
            <a:endParaRPr sz="1800">
              <a:latin typeface="Times New Roman"/>
              <a:cs typeface="Times New Roman"/>
            </a:endParaRPr>
          </a:p>
          <a:p>
            <a:pPr marL="66484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SHIFT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79330" y="2731770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711053" y="2550668"/>
            <a:ext cx="2235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94269" y="2839973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71409" y="3224022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03109" y="2335783"/>
            <a:ext cx="408940" cy="10547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10">
              <a:lnSpc>
                <a:spcPts val="2645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  <a:p>
            <a:pPr marL="64769">
              <a:lnSpc>
                <a:spcPts val="2670"/>
              </a:lnSpc>
            </a:pPr>
            <a:r>
              <a:rPr sz="2400" spc="-25" dirty="0">
                <a:latin typeface="Cambria Math"/>
                <a:cs typeface="Cambria Math"/>
              </a:rPr>
              <a:t>𝑺</a:t>
            </a:r>
            <a:r>
              <a:rPr sz="2625" spc="-37" baseline="-15873" dirty="0">
                <a:latin typeface="Cambria Math"/>
                <a:cs typeface="Cambria Math"/>
              </a:rPr>
              <a:t>𝟏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780"/>
              </a:lnSpc>
            </a:pPr>
            <a:r>
              <a:rPr sz="2400" spc="-25" dirty="0">
                <a:latin typeface="Cambria Math"/>
                <a:cs typeface="Cambria Math"/>
              </a:rPr>
              <a:t>𝑺</a:t>
            </a:r>
            <a:r>
              <a:rPr sz="2625" spc="-37" baseline="-15873" dirty="0">
                <a:latin typeface="Cambria Math"/>
                <a:cs typeface="Cambria Math"/>
              </a:rPr>
              <a:t>𝟐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17086" y="1428749"/>
            <a:ext cx="1102360" cy="842010"/>
          </a:xfrm>
          <a:custGeom>
            <a:avLst/>
            <a:gdLst/>
            <a:ahLst/>
            <a:cxnLst/>
            <a:rect l="l" t="t" r="r" b="b"/>
            <a:pathLst>
              <a:path w="1102360" h="842010">
                <a:moveTo>
                  <a:pt x="76200" y="756920"/>
                </a:moveTo>
                <a:lnTo>
                  <a:pt x="50800" y="756920"/>
                </a:lnTo>
                <a:lnTo>
                  <a:pt x="50800" y="121920"/>
                </a:lnTo>
                <a:lnTo>
                  <a:pt x="25400" y="121920"/>
                </a:lnTo>
                <a:lnTo>
                  <a:pt x="25400" y="756920"/>
                </a:lnTo>
                <a:lnTo>
                  <a:pt x="0" y="756920"/>
                </a:lnTo>
                <a:lnTo>
                  <a:pt x="38100" y="833120"/>
                </a:lnTo>
                <a:lnTo>
                  <a:pt x="69850" y="769620"/>
                </a:lnTo>
                <a:lnTo>
                  <a:pt x="76200" y="756920"/>
                </a:lnTo>
                <a:close/>
              </a:path>
              <a:path w="1102360" h="842010">
                <a:moveTo>
                  <a:pt x="562356" y="756920"/>
                </a:moveTo>
                <a:lnTo>
                  <a:pt x="536956" y="756920"/>
                </a:lnTo>
                <a:lnTo>
                  <a:pt x="536956" y="121920"/>
                </a:lnTo>
                <a:lnTo>
                  <a:pt x="511556" y="121920"/>
                </a:lnTo>
                <a:lnTo>
                  <a:pt x="511556" y="756920"/>
                </a:lnTo>
                <a:lnTo>
                  <a:pt x="486156" y="756920"/>
                </a:lnTo>
                <a:lnTo>
                  <a:pt x="524256" y="833120"/>
                </a:lnTo>
                <a:lnTo>
                  <a:pt x="556006" y="769620"/>
                </a:lnTo>
                <a:lnTo>
                  <a:pt x="562356" y="756920"/>
                </a:lnTo>
                <a:close/>
              </a:path>
              <a:path w="1102360" h="842010">
                <a:moveTo>
                  <a:pt x="1101852" y="765429"/>
                </a:moveTo>
                <a:lnTo>
                  <a:pt x="1076452" y="765429"/>
                </a:lnTo>
                <a:lnTo>
                  <a:pt x="1076452" y="0"/>
                </a:lnTo>
                <a:lnTo>
                  <a:pt x="1051052" y="0"/>
                </a:lnTo>
                <a:lnTo>
                  <a:pt x="1051052" y="765429"/>
                </a:lnTo>
                <a:lnTo>
                  <a:pt x="1025652" y="765429"/>
                </a:lnTo>
                <a:lnTo>
                  <a:pt x="1063752" y="841629"/>
                </a:lnTo>
                <a:lnTo>
                  <a:pt x="1095502" y="778129"/>
                </a:lnTo>
                <a:lnTo>
                  <a:pt x="1101852" y="765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68826" y="1187957"/>
            <a:ext cx="67056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9270" algn="l"/>
              </a:tabLst>
            </a:pPr>
            <a:r>
              <a:rPr sz="2300" b="1" spc="-50" dirty="0">
                <a:latin typeface="Calibri"/>
                <a:cs typeface="Calibri"/>
              </a:rPr>
              <a:t>0</a:t>
            </a:r>
            <a:r>
              <a:rPr sz="2300" b="1" dirty="0">
                <a:latin typeface="Calibri"/>
                <a:cs typeface="Calibri"/>
              </a:rPr>
              <a:t>	</a:t>
            </a:r>
            <a:r>
              <a:rPr sz="2300" b="1" spc="-50" dirty="0">
                <a:latin typeface="Calibri"/>
                <a:cs typeface="Calibri"/>
              </a:rPr>
              <a:t>0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12641" y="1558289"/>
            <a:ext cx="76200" cy="711200"/>
          </a:xfrm>
          <a:custGeom>
            <a:avLst/>
            <a:gdLst/>
            <a:ahLst/>
            <a:cxnLst/>
            <a:rect l="l" t="t" r="r" b="b"/>
            <a:pathLst>
              <a:path w="76200" h="711200">
                <a:moveTo>
                  <a:pt x="25400" y="635000"/>
                </a:moveTo>
                <a:lnTo>
                  <a:pt x="0" y="635000"/>
                </a:lnTo>
                <a:lnTo>
                  <a:pt x="38100" y="711200"/>
                </a:lnTo>
                <a:lnTo>
                  <a:pt x="69850" y="647700"/>
                </a:lnTo>
                <a:lnTo>
                  <a:pt x="25400" y="647700"/>
                </a:lnTo>
                <a:lnTo>
                  <a:pt x="25400" y="635000"/>
                </a:lnTo>
                <a:close/>
              </a:path>
              <a:path w="76200" h="711200">
                <a:moveTo>
                  <a:pt x="50800" y="0"/>
                </a:moveTo>
                <a:lnTo>
                  <a:pt x="25400" y="0"/>
                </a:lnTo>
                <a:lnTo>
                  <a:pt x="25400" y="647700"/>
                </a:lnTo>
                <a:lnTo>
                  <a:pt x="50800" y="647700"/>
                </a:lnTo>
                <a:lnTo>
                  <a:pt x="50800" y="0"/>
                </a:lnTo>
                <a:close/>
              </a:path>
              <a:path w="76200" h="711200">
                <a:moveTo>
                  <a:pt x="76200" y="635000"/>
                </a:moveTo>
                <a:lnTo>
                  <a:pt x="50800" y="635000"/>
                </a:lnTo>
                <a:lnTo>
                  <a:pt x="50800" y="647700"/>
                </a:lnTo>
                <a:lnTo>
                  <a:pt x="69850" y="647700"/>
                </a:lnTo>
                <a:lnTo>
                  <a:pt x="76200" y="635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532759" y="1226057"/>
            <a:ext cx="18669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X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84473" y="2257298"/>
            <a:ext cx="2200275" cy="2369820"/>
            <a:chOff x="3284473" y="2257298"/>
            <a:chExt cx="2200275" cy="2369820"/>
          </a:xfrm>
        </p:grpSpPr>
        <p:sp>
          <p:nvSpPr>
            <p:cNvPr id="19" name="object 19"/>
            <p:cNvSpPr/>
            <p:nvPr/>
          </p:nvSpPr>
          <p:spPr>
            <a:xfrm>
              <a:off x="4397501" y="3915918"/>
              <a:ext cx="76200" cy="711200"/>
            </a:xfrm>
            <a:custGeom>
              <a:avLst/>
              <a:gdLst/>
              <a:ahLst/>
              <a:cxnLst/>
              <a:rect l="l" t="t" r="r" b="b"/>
              <a:pathLst>
                <a:path w="76200" h="711200">
                  <a:moveTo>
                    <a:pt x="25400" y="634999"/>
                  </a:moveTo>
                  <a:lnTo>
                    <a:pt x="0" y="634999"/>
                  </a:lnTo>
                  <a:lnTo>
                    <a:pt x="38100" y="711199"/>
                  </a:lnTo>
                  <a:lnTo>
                    <a:pt x="69850" y="647699"/>
                  </a:lnTo>
                  <a:lnTo>
                    <a:pt x="25400" y="647699"/>
                  </a:lnTo>
                  <a:lnTo>
                    <a:pt x="25400" y="634999"/>
                  </a:lnTo>
                  <a:close/>
                </a:path>
                <a:path w="76200" h="711200">
                  <a:moveTo>
                    <a:pt x="50800" y="0"/>
                  </a:moveTo>
                  <a:lnTo>
                    <a:pt x="25400" y="0"/>
                  </a:lnTo>
                  <a:lnTo>
                    <a:pt x="25400" y="647699"/>
                  </a:lnTo>
                  <a:lnTo>
                    <a:pt x="50800" y="647699"/>
                  </a:lnTo>
                  <a:lnTo>
                    <a:pt x="50800" y="0"/>
                  </a:lnTo>
                  <a:close/>
                </a:path>
                <a:path w="76200" h="711200">
                  <a:moveTo>
                    <a:pt x="76200" y="634999"/>
                  </a:moveTo>
                  <a:lnTo>
                    <a:pt x="50800" y="634999"/>
                  </a:lnTo>
                  <a:lnTo>
                    <a:pt x="50800" y="647699"/>
                  </a:lnTo>
                  <a:lnTo>
                    <a:pt x="69850" y="647699"/>
                  </a:lnTo>
                  <a:lnTo>
                    <a:pt x="76200" y="6349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97173" y="2269998"/>
              <a:ext cx="2174875" cy="1645920"/>
            </a:xfrm>
            <a:custGeom>
              <a:avLst/>
              <a:gdLst/>
              <a:ahLst/>
              <a:cxnLst/>
              <a:rect l="l" t="t" r="r" b="b"/>
              <a:pathLst>
                <a:path w="2174875" h="1645920">
                  <a:moveTo>
                    <a:pt x="0" y="1645920"/>
                  </a:moveTo>
                  <a:lnTo>
                    <a:pt x="2174748" y="1645920"/>
                  </a:lnTo>
                  <a:lnTo>
                    <a:pt x="2174748" y="0"/>
                  </a:lnTo>
                  <a:lnTo>
                    <a:pt x="0" y="0"/>
                  </a:lnTo>
                  <a:lnTo>
                    <a:pt x="0" y="164592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5913" y="2814701"/>
              <a:ext cx="216788" cy="20129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75913" y="3175889"/>
              <a:ext cx="218312" cy="192024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318508" y="4675759"/>
            <a:ext cx="2235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92703" y="2360167"/>
            <a:ext cx="167703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490855" algn="l"/>
                <a:tab pos="982980" algn="l"/>
                <a:tab pos="1527175" algn="l"/>
              </a:tabLst>
            </a:pPr>
            <a:r>
              <a:rPr sz="1800" spc="-50" dirty="0">
                <a:latin typeface="Cambria Math"/>
                <a:cs typeface="Cambria Math"/>
              </a:rPr>
              <a:t>𝟑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𝟐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𝟏</a:t>
            </a:r>
            <a:r>
              <a:rPr sz="1800" dirty="0">
                <a:latin typeface="Cambria Math"/>
                <a:cs typeface="Cambria Math"/>
              </a:rPr>
              <a:t>	</a:t>
            </a:r>
            <a:r>
              <a:rPr sz="1800" spc="-50" dirty="0">
                <a:latin typeface="Cambria Math"/>
                <a:cs typeface="Cambria Math"/>
              </a:rPr>
              <a:t>𝟎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800">
              <a:latin typeface="Cambria Math"/>
              <a:cs typeface="Cambria Math"/>
            </a:endParaRPr>
          </a:p>
          <a:p>
            <a:pPr marL="243204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4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to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MUX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20162" y="2858261"/>
            <a:ext cx="461009" cy="402590"/>
          </a:xfrm>
          <a:custGeom>
            <a:avLst/>
            <a:gdLst/>
            <a:ahLst/>
            <a:cxnLst/>
            <a:rect l="l" t="t" r="r" b="b"/>
            <a:pathLst>
              <a:path w="461010" h="402589">
                <a:moveTo>
                  <a:pt x="461010" y="364236"/>
                </a:moveTo>
                <a:lnTo>
                  <a:pt x="435610" y="351536"/>
                </a:lnTo>
                <a:lnTo>
                  <a:pt x="384810" y="326136"/>
                </a:lnTo>
                <a:lnTo>
                  <a:pt x="384810" y="351536"/>
                </a:lnTo>
                <a:lnTo>
                  <a:pt x="0" y="351536"/>
                </a:lnTo>
                <a:lnTo>
                  <a:pt x="0" y="376936"/>
                </a:lnTo>
                <a:lnTo>
                  <a:pt x="384810" y="376936"/>
                </a:lnTo>
                <a:lnTo>
                  <a:pt x="384810" y="402336"/>
                </a:lnTo>
                <a:lnTo>
                  <a:pt x="435610" y="376936"/>
                </a:lnTo>
                <a:lnTo>
                  <a:pt x="461010" y="364236"/>
                </a:lnTo>
                <a:close/>
              </a:path>
              <a:path w="461010" h="402589">
                <a:moveTo>
                  <a:pt x="461010" y="38100"/>
                </a:moveTo>
                <a:lnTo>
                  <a:pt x="435610" y="25400"/>
                </a:lnTo>
                <a:lnTo>
                  <a:pt x="384810" y="0"/>
                </a:lnTo>
                <a:lnTo>
                  <a:pt x="384810" y="25400"/>
                </a:lnTo>
                <a:lnTo>
                  <a:pt x="0" y="25400"/>
                </a:lnTo>
                <a:lnTo>
                  <a:pt x="0" y="50800"/>
                </a:lnTo>
                <a:lnTo>
                  <a:pt x="384810" y="50800"/>
                </a:lnTo>
                <a:lnTo>
                  <a:pt x="384810" y="76200"/>
                </a:lnTo>
                <a:lnTo>
                  <a:pt x="435610" y="50800"/>
                </a:lnTo>
                <a:lnTo>
                  <a:pt x="46101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8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libri Light"/>
                <a:cs typeface="Calibri Light"/>
              </a:rPr>
              <a:t>All</a:t>
            </a:r>
            <a:r>
              <a:rPr b="0" spc="-140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the</a:t>
            </a:r>
            <a:r>
              <a:rPr b="0" spc="-165" dirty="0">
                <a:latin typeface="Calibri Light"/>
                <a:cs typeface="Calibri Light"/>
              </a:rPr>
              <a:t> </a:t>
            </a:r>
            <a:r>
              <a:rPr b="0" spc="-30" dirty="0">
                <a:latin typeface="Calibri Light"/>
                <a:cs typeface="Calibri Light"/>
              </a:rPr>
              <a:t>circuits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so</a:t>
            </a:r>
            <a:r>
              <a:rPr b="0" spc="-155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far</a:t>
            </a:r>
          </a:p>
        </p:txBody>
      </p:sp>
      <p:sp>
        <p:nvSpPr>
          <p:cNvPr id="3" name="object 3"/>
          <p:cNvSpPr/>
          <p:nvPr/>
        </p:nvSpPr>
        <p:spPr>
          <a:xfrm>
            <a:off x="1625346" y="1855470"/>
            <a:ext cx="547370" cy="76200"/>
          </a:xfrm>
          <a:custGeom>
            <a:avLst/>
            <a:gdLst/>
            <a:ahLst/>
            <a:cxnLst/>
            <a:rect l="l" t="t" r="r" b="b"/>
            <a:pathLst>
              <a:path w="547369" h="76200">
                <a:moveTo>
                  <a:pt x="470916" y="0"/>
                </a:moveTo>
                <a:lnTo>
                  <a:pt x="470916" y="76200"/>
                </a:lnTo>
                <a:lnTo>
                  <a:pt x="521716" y="50800"/>
                </a:lnTo>
                <a:lnTo>
                  <a:pt x="483616" y="50800"/>
                </a:lnTo>
                <a:lnTo>
                  <a:pt x="483616" y="25400"/>
                </a:lnTo>
                <a:lnTo>
                  <a:pt x="521716" y="25400"/>
                </a:lnTo>
                <a:lnTo>
                  <a:pt x="470916" y="0"/>
                </a:lnTo>
                <a:close/>
              </a:path>
              <a:path w="547369" h="76200">
                <a:moveTo>
                  <a:pt x="470916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0916" y="50800"/>
                </a:lnTo>
                <a:lnTo>
                  <a:pt x="470916" y="25400"/>
                </a:lnTo>
                <a:close/>
              </a:path>
              <a:path w="547369" h="76200">
                <a:moveTo>
                  <a:pt x="521716" y="25400"/>
                </a:moveTo>
                <a:lnTo>
                  <a:pt x="483616" y="25400"/>
                </a:lnTo>
                <a:lnTo>
                  <a:pt x="483616" y="50800"/>
                </a:lnTo>
                <a:lnTo>
                  <a:pt x="521716" y="50800"/>
                </a:lnTo>
                <a:lnTo>
                  <a:pt x="547116" y="38100"/>
                </a:lnTo>
                <a:lnTo>
                  <a:pt x="521716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625346" y="2277617"/>
            <a:ext cx="547370" cy="76200"/>
          </a:xfrm>
          <a:custGeom>
            <a:avLst/>
            <a:gdLst/>
            <a:ahLst/>
            <a:cxnLst/>
            <a:rect l="l" t="t" r="r" b="b"/>
            <a:pathLst>
              <a:path w="547369" h="76200">
                <a:moveTo>
                  <a:pt x="470916" y="0"/>
                </a:moveTo>
                <a:lnTo>
                  <a:pt x="470916" y="76200"/>
                </a:lnTo>
                <a:lnTo>
                  <a:pt x="521716" y="50800"/>
                </a:lnTo>
                <a:lnTo>
                  <a:pt x="483616" y="50800"/>
                </a:lnTo>
                <a:lnTo>
                  <a:pt x="483616" y="25400"/>
                </a:lnTo>
                <a:lnTo>
                  <a:pt x="521716" y="25400"/>
                </a:lnTo>
                <a:lnTo>
                  <a:pt x="470916" y="0"/>
                </a:lnTo>
                <a:close/>
              </a:path>
              <a:path w="547369" h="76200">
                <a:moveTo>
                  <a:pt x="470916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0916" y="50800"/>
                </a:lnTo>
                <a:lnTo>
                  <a:pt x="470916" y="25400"/>
                </a:lnTo>
                <a:close/>
              </a:path>
              <a:path w="547369" h="76200">
                <a:moveTo>
                  <a:pt x="521716" y="25400"/>
                </a:moveTo>
                <a:lnTo>
                  <a:pt x="483616" y="25400"/>
                </a:lnTo>
                <a:lnTo>
                  <a:pt x="483616" y="50800"/>
                </a:lnTo>
                <a:lnTo>
                  <a:pt x="521716" y="50800"/>
                </a:lnTo>
                <a:lnTo>
                  <a:pt x="547116" y="38100"/>
                </a:lnTo>
                <a:lnTo>
                  <a:pt x="521716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08938" y="1575917"/>
            <a:ext cx="203200" cy="920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 marR="5080" indent="-7620">
              <a:lnSpc>
                <a:spcPct val="127600"/>
              </a:lnSpc>
              <a:spcBef>
                <a:spcPts val="95"/>
              </a:spcBef>
            </a:pPr>
            <a:r>
              <a:rPr sz="2300" b="1" spc="-50" dirty="0">
                <a:latin typeface="Calibri"/>
                <a:cs typeface="Calibri"/>
              </a:rPr>
              <a:t>A 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72461" y="1700022"/>
            <a:ext cx="1304925" cy="91313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52095" rIns="0" bIns="0" rtlCol="0">
            <a:spAutoFit/>
          </a:bodyPr>
          <a:lstStyle/>
          <a:p>
            <a:pPr marL="481330">
              <a:lnSpc>
                <a:spcPct val="100000"/>
              </a:lnSpc>
              <a:spcBef>
                <a:spcPts val="1985"/>
              </a:spcBef>
            </a:pPr>
            <a:r>
              <a:rPr sz="1800" b="1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77005" y="2061210"/>
            <a:ext cx="547370" cy="76200"/>
          </a:xfrm>
          <a:custGeom>
            <a:avLst/>
            <a:gdLst/>
            <a:ahLst/>
            <a:cxnLst/>
            <a:rect l="l" t="t" r="r" b="b"/>
            <a:pathLst>
              <a:path w="547370" h="76200">
                <a:moveTo>
                  <a:pt x="470916" y="0"/>
                </a:moveTo>
                <a:lnTo>
                  <a:pt x="470916" y="76200"/>
                </a:lnTo>
                <a:lnTo>
                  <a:pt x="521716" y="50800"/>
                </a:lnTo>
                <a:lnTo>
                  <a:pt x="483616" y="50800"/>
                </a:lnTo>
                <a:lnTo>
                  <a:pt x="483616" y="25400"/>
                </a:lnTo>
                <a:lnTo>
                  <a:pt x="521716" y="25400"/>
                </a:lnTo>
                <a:lnTo>
                  <a:pt x="470916" y="0"/>
                </a:lnTo>
                <a:close/>
              </a:path>
              <a:path w="547370" h="76200">
                <a:moveTo>
                  <a:pt x="470916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0916" y="50800"/>
                </a:lnTo>
                <a:lnTo>
                  <a:pt x="470916" y="25400"/>
                </a:lnTo>
                <a:close/>
              </a:path>
              <a:path w="547370" h="76200">
                <a:moveTo>
                  <a:pt x="521716" y="25400"/>
                </a:moveTo>
                <a:lnTo>
                  <a:pt x="483616" y="25400"/>
                </a:lnTo>
                <a:lnTo>
                  <a:pt x="483616" y="50800"/>
                </a:lnTo>
                <a:lnTo>
                  <a:pt x="521716" y="50800"/>
                </a:lnTo>
                <a:lnTo>
                  <a:pt x="547116" y="38100"/>
                </a:lnTo>
                <a:lnTo>
                  <a:pt x="521716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14038" y="1930400"/>
            <a:ext cx="2235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078729" y="1824989"/>
            <a:ext cx="513715" cy="76200"/>
          </a:xfrm>
          <a:custGeom>
            <a:avLst/>
            <a:gdLst/>
            <a:ahLst/>
            <a:cxnLst/>
            <a:rect l="l" t="t" r="r" b="b"/>
            <a:pathLst>
              <a:path w="513714" h="76200">
                <a:moveTo>
                  <a:pt x="437515" y="0"/>
                </a:moveTo>
                <a:lnTo>
                  <a:pt x="437515" y="76200"/>
                </a:lnTo>
                <a:lnTo>
                  <a:pt x="488315" y="50800"/>
                </a:lnTo>
                <a:lnTo>
                  <a:pt x="450215" y="50800"/>
                </a:lnTo>
                <a:lnTo>
                  <a:pt x="450215" y="25400"/>
                </a:lnTo>
                <a:lnTo>
                  <a:pt x="488315" y="25400"/>
                </a:lnTo>
                <a:lnTo>
                  <a:pt x="437515" y="0"/>
                </a:lnTo>
                <a:close/>
              </a:path>
              <a:path w="513714" h="76200">
                <a:moveTo>
                  <a:pt x="437515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37515" y="50800"/>
                </a:lnTo>
                <a:lnTo>
                  <a:pt x="437515" y="25400"/>
                </a:lnTo>
                <a:close/>
              </a:path>
              <a:path w="513714" h="76200">
                <a:moveTo>
                  <a:pt x="488315" y="25400"/>
                </a:moveTo>
                <a:lnTo>
                  <a:pt x="450215" y="25400"/>
                </a:lnTo>
                <a:lnTo>
                  <a:pt x="450215" y="50800"/>
                </a:lnTo>
                <a:lnTo>
                  <a:pt x="488315" y="50800"/>
                </a:lnTo>
                <a:lnTo>
                  <a:pt x="513715" y="38100"/>
                </a:lnTo>
                <a:lnTo>
                  <a:pt x="488315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78729" y="2265426"/>
            <a:ext cx="513715" cy="76200"/>
          </a:xfrm>
          <a:custGeom>
            <a:avLst/>
            <a:gdLst/>
            <a:ahLst/>
            <a:cxnLst/>
            <a:rect l="l" t="t" r="r" b="b"/>
            <a:pathLst>
              <a:path w="513714" h="76200">
                <a:moveTo>
                  <a:pt x="437515" y="0"/>
                </a:moveTo>
                <a:lnTo>
                  <a:pt x="437515" y="76200"/>
                </a:lnTo>
                <a:lnTo>
                  <a:pt x="488315" y="50800"/>
                </a:lnTo>
                <a:lnTo>
                  <a:pt x="450215" y="50800"/>
                </a:lnTo>
                <a:lnTo>
                  <a:pt x="450215" y="25400"/>
                </a:lnTo>
                <a:lnTo>
                  <a:pt x="488315" y="25400"/>
                </a:lnTo>
                <a:lnTo>
                  <a:pt x="437515" y="0"/>
                </a:lnTo>
                <a:close/>
              </a:path>
              <a:path w="513714" h="76200">
                <a:moveTo>
                  <a:pt x="437515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37515" y="50800"/>
                </a:lnTo>
                <a:lnTo>
                  <a:pt x="437515" y="25400"/>
                </a:lnTo>
                <a:close/>
              </a:path>
              <a:path w="513714" h="76200">
                <a:moveTo>
                  <a:pt x="488315" y="25400"/>
                </a:moveTo>
                <a:lnTo>
                  <a:pt x="450215" y="25400"/>
                </a:lnTo>
                <a:lnTo>
                  <a:pt x="450215" y="50800"/>
                </a:lnTo>
                <a:lnTo>
                  <a:pt x="488315" y="50800"/>
                </a:lnTo>
                <a:lnTo>
                  <a:pt x="513715" y="38100"/>
                </a:lnTo>
                <a:lnTo>
                  <a:pt x="488315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71720" y="1508734"/>
            <a:ext cx="203200" cy="962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5080" indent="-5080">
              <a:lnSpc>
                <a:spcPct val="133600"/>
              </a:lnSpc>
              <a:spcBef>
                <a:spcPts val="95"/>
              </a:spcBef>
            </a:pPr>
            <a:r>
              <a:rPr sz="2300" b="1" spc="-50" dirty="0">
                <a:latin typeface="Calibri"/>
                <a:cs typeface="Calibri"/>
              </a:rPr>
              <a:t>A 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90794" y="1660398"/>
            <a:ext cx="1225550" cy="9525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9"/>
              </a:spcBef>
            </a:pPr>
            <a:endParaRPr sz="1800">
              <a:latin typeface="Times New Roman"/>
              <a:cs typeface="Times New Roman"/>
            </a:endParaRPr>
          </a:p>
          <a:p>
            <a:pPr marL="69850" algn="ctr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816090" y="2038350"/>
            <a:ext cx="513715" cy="76200"/>
          </a:xfrm>
          <a:custGeom>
            <a:avLst/>
            <a:gdLst/>
            <a:ahLst/>
            <a:cxnLst/>
            <a:rect l="l" t="t" r="r" b="b"/>
            <a:pathLst>
              <a:path w="513715" h="76200">
                <a:moveTo>
                  <a:pt x="437514" y="0"/>
                </a:moveTo>
                <a:lnTo>
                  <a:pt x="437514" y="76200"/>
                </a:lnTo>
                <a:lnTo>
                  <a:pt x="488314" y="50800"/>
                </a:lnTo>
                <a:lnTo>
                  <a:pt x="450214" y="50800"/>
                </a:lnTo>
                <a:lnTo>
                  <a:pt x="450214" y="25400"/>
                </a:lnTo>
                <a:lnTo>
                  <a:pt x="488314" y="25400"/>
                </a:lnTo>
                <a:lnTo>
                  <a:pt x="437514" y="0"/>
                </a:lnTo>
                <a:close/>
              </a:path>
              <a:path w="513715" h="76200">
                <a:moveTo>
                  <a:pt x="43751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37514" y="50800"/>
                </a:lnTo>
                <a:lnTo>
                  <a:pt x="437514" y="25400"/>
                </a:lnTo>
                <a:close/>
              </a:path>
              <a:path w="513715" h="76200">
                <a:moveTo>
                  <a:pt x="488314" y="25400"/>
                </a:moveTo>
                <a:lnTo>
                  <a:pt x="450214" y="25400"/>
                </a:lnTo>
                <a:lnTo>
                  <a:pt x="450214" y="50800"/>
                </a:lnTo>
                <a:lnTo>
                  <a:pt x="488314" y="50800"/>
                </a:lnTo>
                <a:lnTo>
                  <a:pt x="513714" y="38100"/>
                </a:lnTo>
                <a:lnTo>
                  <a:pt x="48831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13752" y="1902332"/>
            <a:ext cx="2235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315706" y="1882901"/>
            <a:ext cx="493395" cy="76200"/>
          </a:xfrm>
          <a:custGeom>
            <a:avLst/>
            <a:gdLst/>
            <a:ahLst/>
            <a:cxnLst/>
            <a:rect l="l" t="t" r="r" b="b"/>
            <a:pathLst>
              <a:path w="493395" h="76200">
                <a:moveTo>
                  <a:pt x="417068" y="0"/>
                </a:moveTo>
                <a:lnTo>
                  <a:pt x="417068" y="76200"/>
                </a:lnTo>
                <a:lnTo>
                  <a:pt x="467868" y="50800"/>
                </a:lnTo>
                <a:lnTo>
                  <a:pt x="429768" y="50800"/>
                </a:lnTo>
                <a:lnTo>
                  <a:pt x="429768" y="25400"/>
                </a:lnTo>
                <a:lnTo>
                  <a:pt x="467868" y="25400"/>
                </a:lnTo>
                <a:lnTo>
                  <a:pt x="417068" y="0"/>
                </a:lnTo>
                <a:close/>
              </a:path>
              <a:path w="493395" h="76200">
                <a:moveTo>
                  <a:pt x="41706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17068" y="50800"/>
                </a:lnTo>
                <a:lnTo>
                  <a:pt x="417068" y="25400"/>
                </a:lnTo>
                <a:close/>
              </a:path>
              <a:path w="493395" h="76200">
                <a:moveTo>
                  <a:pt x="467868" y="25400"/>
                </a:moveTo>
                <a:lnTo>
                  <a:pt x="429768" y="25400"/>
                </a:lnTo>
                <a:lnTo>
                  <a:pt x="429768" y="50800"/>
                </a:lnTo>
                <a:lnTo>
                  <a:pt x="467868" y="50800"/>
                </a:lnTo>
                <a:lnTo>
                  <a:pt x="493268" y="38100"/>
                </a:lnTo>
                <a:lnTo>
                  <a:pt x="46786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315706" y="2306573"/>
            <a:ext cx="493395" cy="76200"/>
          </a:xfrm>
          <a:custGeom>
            <a:avLst/>
            <a:gdLst/>
            <a:ahLst/>
            <a:cxnLst/>
            <a:rect l="l" t="t" r="r" b="b"/>
            <a:pathLst>
              <a:path w="493395" h="76200">
                <a:moveTo>
                  <a:pt x="417068" y="0"/>
                </a:moveTo>
                <a:lnTo>
                  <a:pt x="417068" y="76200"/>
                </a:lnTo>
                <a:lnTo>
                  <a:pt x="467868" y="50800"/>
                </a:lnTo>
                <a:lnTo>
                  <a:pt x="429768" y="50800"/>
                </a:lnTo>
                <a:lnTo>
                  <a:pt x="429768" y="25400"/>
                </a:lnTo>
                <a:lnTo>
                  <a:pt x="467868" y="25400"/>
                </a:lnTo>
                <a:lnTo>
                  <a:pt x="417068" y="0"/>
                </a:lnTo>
                <a:close/>
              </a:path>
              <a:path w="493395" h="76200">
                <a:moveTo>
                  <a:pt x="41706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17068" y="50800"/>
                </a:lnTo>
                <a:lnTo>
                  <a:pt x="417068" y="25400"/>
                </a:lnTo>
                <a:close/>
              </a:path>
              <a:path w="493395" h="76200">
                <a:moveTo>
                  <a:pt x="467868" y="25400"/>
                </a:moveTo>
                <a:lnTo>
                  <a:pt x="429768" y="25400"/>
                </a:lnTo>
                <a:lnTo>
                  <a:pt x="429768" y="50800"/>
                </a:lnTo>
                <a:lnTo>
                  <a:pt x="467868" y="50800"/>
                </a:lnTo>
                <a:lnTo>
                  <a:pt x="493268" y="38100"/>
                </a:lnTo>
                <a:lnTo>
                  <a:pt x="46786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116061" y="1600428"/>
            <a:ext cx="203200" cy="927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 marR="5080" indent="-5080">
              <a:lnSpc>
                <a:spcPct val="128600"/>
              </a:lnSpc>
              <a:spcBef>
                <a:spcPts val="95"/>
              </a:spcBef>
            </a:pPr>
            <a:r>
              <a:rPr sz="2300" b="1" spc="-50" dirty="0">
                <a:latin typeface="Calibri"/>
                <a:cs typeface="Calibri"/>
              </a:rPr>
              <a:t>A 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09481" y="1727454"/>
            <a:ext cx="1176655" cy="914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5"/>
              </a:spcBef>
            </a:pPr>
            <a:endParaRPr sz="1800">
              <a:latin typeface="Times New Roman"/>
              <a:cs typeface="Times New Roman"/>
            </a:endParaRPr>
          </a:p>
          <a:p>
            <a:pPr marL="39497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XOR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986009" y="2088642"/>
            <a:ext cx="493395" cy="76200"/>
          </a:xfrm>
          <a:custGeom>
            <a:avLst/>
            <a:gdLst/>
            <a:ahLst/>
            <a:cxnLst/>
            <a:rect l="l" t="t" r="r" b="b"/>
            <a:pathLst>
              <a:path w="493395" h="76200">
                <a:moveTo>
                  <a:pt x="417068" y="0"/>
                </a:moveTo>
                <a:lnTo>
                  <a:pt x="417068" y="76200"/>
                </a:lnTo>
                <a:lnTo>
                  <a:pt x="467868" y="50800"/>
                </a:lnTo>
                <a:lnTo>
                  <a:pt x="429768" y="50800"/>
                </a:lnTo>
                <a:lnTo>
                  <a:pt x="429768" y="25400"/>
                </a:lnTo>
                <a:lnTo>
                  <a:pt x="467868" y="25400"/>
                </a:lnTo>
                <a:lnTo>
                  <a:pt x="417068" y="0"/>
                </a:lnTo>
                <a:close/>
              </a:path>
              <a:path w="493395" h="76200">
                <a:moveTo>
                  <a:pt x="41706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17068" y="50800"/>
                </a:lnTo>
                <a:lnTo>
                  <a:pt x="417068" y="25400"/>
                </a:lnTo>
                <a:close/>
              </a:path>
              <a:path w="493395" h="76200">
                <a:moveTo>
                  <a:pt x="467868" y="25400"/>
                </a:moveTo>
                <a:lnTo>
                  <a:pt x="429768" y="25400"/>
                </a:lnTo>
                <a:lnTo>
                  <a:pt x="429768" y="50800"/>
                </a:lnTo>
                <a:lnTo>
                  <a:pt x="467868" y="50800"/>
                </a:lnTo>
                <a:lnTo>
                  <a:pt x="493268" y="38100"/>
                </a:lnTo>
                <a:lnTo>
                  <a:pt x="46786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558653" y="1958467"/>
            <a:ext cx="2235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585722" y="3641597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9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9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9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9" y="50800"/>
                </a:lnTo>
                <a:lnTo>
                  <a:pt x="562229" y="38100"/>
                </a:lnTo>
                <a:lnTo>
                  <a:pt x="53682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93341" y="4039361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9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9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9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9" y="50800"/>
                </a:lnTo>
                <a:lnTo>
                  <a:pt x="562229" y="38100"/>
                </a:lnTo>
                <a:lnTo>
                  <a:pt x="53682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148077" y="3440429"/>
            <a:ext cx="1341120" cy="11233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15"/>
              </a:spcBef>
            </a:pPr>
            <a:endParaRPr sz="1800">
              <a:latin typeface="Times New Roman"/>
              <a:cs typeface="Times New Roman"/>
            </a:endParaRPr>
          </a:p>
          <a:p>
            <a:pPr marL="21653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ADD/SUB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89197" y="4094226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8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8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8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8" y="50800"/>
                </a:lnTo>
                <a:lnTo>
                  <a:pt x="562228" y="38100"/>
                </a:lnTo>
                <a:lnTo>
                  <a:pt x="53682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143883" y="3933825"/>
            <a:ext cx="1638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593341" y="4382261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9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9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9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9" y="50800"/>
                </a:lnTo>
                <a:lnTo>
                  <a:pt x="562229" y="38100"/>
                </a:lnTo>
                <a:lnTo>
                  <a:pt x="53682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87602" y="3471138"/>
            <a:ext cx="421005" cy="113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204" marR="5080" indent="-13335" algn="r">
              <a:lnSpc>
                <a:spcPct val="1091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A B</a:t>
            </a:r>
            <a:endParaRPr sz="2300">
              <a:latin typeface="Calibri"/>
              <a:cs typeface="Calibri"/>
            </a:endParaRPr>
          </a:p>
          <a:p>
            <a:pPr marR="41910" algn="r">
              <a:lnSpc>
                <a:spcPts val="2700"/>
              </a:lnSpc>
            </a:pPr>
            <a:r>
              <a:rPr sz="2300" b="1" spc="-25" dirty="0">
                <a:latin typeface="Calibri"/>
                <a:cs typeface="Calibri"/>
              </a:rPr>
              <a:t>Sel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67478" y="3731514"/>
            <a:ext cx="568960" cy="76200"/>
          </a:xfrm>
          <a:custGeom>
            <a:avLst/>
            <a:gdLst/>
            <a:ahLst/>
            <a:cxnLst/>
            <a:rect l="l" t="t" r="r" b="b"/>
            <a:pathLst>
              <a:path w="568960" h="76200">
                <a:moveTo>
                  <a:pt x="492760" y="0"/>
                </a:moveTo>
                <a:lnTo>
                  <a:pt x="492760" y="76200"/>
                </a:lnTo>
                <a:lnTo>
                  <a:pt x="543560" y="50800"/>
                </a:lnTo>
                <a:lnTo>
                  <a:pt x="505460" y="50800"/>
                </a:lnTo>
                <a:lnTo>
                  <a:pt x="505460" y="25400"/>
                </a:lnTo>
                <a:lnTo>
                  <a:pt x="543560" y="25400"/>
                </a:lnTo>
                <a:lnTo>
                  <a:pt x="492760" y="0"/>
                </a:lnTo>
                <a:close/>
              </a:path>
              <a:path w="568960" h="76200">
                <a:moveTo>
                  <a:pt x="49276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92760" y="50800"/>
                </a:lnTo>
                <a:lnTo>
                  <a:pt x="492760" y="25400"/>
                </a:lnTo>
                <a:close/>
              </a:path>
              <a:path w="568960" h="76200">
                <a:moveTo>
                  <a:pt x="543560" y="25400"/>
                </a:moveTo>
                <a:lnTo>
                  <a:pt x="505460" y="25400"/>
                </a:lnTo>
                <a:lnTo>
                  <a:pt x="505460" y="50800"/>
                </a:lnTo>
                <a:lnTo>
                  <a:pt x="543560" y="50800"/>
                </a:lnTo>
                <a:lnTo>
                  <a:pt x="568960" y="38100"/>
                </a:lnTo>
                <a:lnTo>
                  <a:pt x="54356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967478" y="4222241"/>
            <a:ext cx="568960" cy="76200"/>
          </a:xfrm>
          <a:custGeom>
            <a:avLst/>
            <a:gdLst/>
            <a:ahLst/>
            <a:cxnLst/>
            <a:rect l="l" t="t" r="r" b="b"/>
            <a:pathLst>
              <a:path w="568960" h="76200">
                <a:moveTo>
                  <a:pt x="492760" y="0"/>
                </a:moveTo>
                <a:lnTo>
                  <a:pt x="492760" y="76199"/>
                </a:lnTo>
                <a:lnTo>
                  <a:pt x="543560" y="50799"/>
                </a:lnTo>
                <a:lnTo>
                  <a:pt x="505460" y="50799"/>
                </a:lnTo>
                <a:lnTo>
                  <a:pt x="505460" y="25399"/>
                </a:lnTo>
                <a:lnTo>
                  <a:pt x="543560" y="25399"/>
                </a:lnTo>
                <a:lnTo>
                  <a:pt x="492760" y="0"/>
                </a:lnTo>
                <a:close/>
              </a:path>
              <a:path w="568960" h="76200">
                <a:moveTo>
                  <a:pt x="49276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92760" y="50799"/>
                </a:lnTo>
                <a:lnTo>
                  <a:pt x="492760" y="25399"/>
                </a:lnTo>
                <a:close/>
              </a:path>
              <a:path w="568960" h="76200">
                <a:moveTo>
                  <a:pt x="543560" y="25399"/>
                </a:moveTo>
                <a:lnTo>
                  <a:pt x="505460" y="25399"/>
                </a:lnTo>
                <a:lnTo>
                  <a:pt x="505460" y="50799"/>
                </a:lnTo>
                <a:lnTo>
                  <a:pt x="543560" y="50799"/>
                </a:lnTo>
                <a:lnTo>
                  <a:pt x="568960" y="38099"/>
                </a:lnTo>
                <a:lnTo>
                  <a:pt x="54356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785486" y="3476091"/>
            <a:ext cx="203200" cy="97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357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A B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35929" y="3544061"/>
            <a:ext cx="1358265" cy="106108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0"/>
              </a:spcBef>
            </a:pPr>
            <a:endParaRPr sz="1800">
              <a:latin typeface="Times New Roman"/>
              <a:cs typeface="Times New Roman"/>
            </a:endParaRPr>
          </a:p>
          <a:p>
            <a:pPr marL="48514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MUL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893814" y="3969258"/>
            <a:ext cx="568960" cy="76200"/>
          </a:xfrm>
          <a:custGeom>
            <a:avLst/>
            <a:gdLst/>
            <a:ahLst/>
            <a:cxnLst/>
            <a:rect l="l" t="t" r="r" b="b"/>
            <a:pathLst>
              <a:path w="568959" h="76200">
                <a:moveTo>
                  <a:pt x="492759" y="0"/>
                </a:moveTo>
                <a:lnTo>
                  <a:pt x="492759" y="76200"/>
                </a:lnTo>
                <a:lnTo>
                  <a:pt x="543559" y="50800"/>
                </a:lnTo>
                <a:lnTo>
                  <a:pt x="505459" y="50800"/>
                </a:lnTo>
                <a:lnTo>
                  <a:pt x="505459" y="25400"/>
                </a:lnTo>
                <a:lnTo>
                  <a:pt x="543559" y="25400"/>
                </a:lnTo>
                <a:lnTo>
                  <a:pt x="492759" y="0"/>
                </a:lnTo>
                <a:close/>
              </a:path>
              <a:path w="568959" h="76200">
                <a:moveTo>
                  <a:pt x="49275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92759" y="50800"/>
                </a:lnTo>
                <a:lnTo>
                  <a:pt x="492759" y="25400"/>
                </a:lnTo>
                <a:close/>
              </a:path>
              <a:path w="568959" h="76200">
                <a:moveTo>
                  <a:pt x="543559" y="25400"/>
                </a:moveTo>
                <a:lnTo>
                  <a:pt x="505459" y="25400"/>
                </a:lnTo>
                <a:lnTo>
                  <a:pt x="505459" y="50800"/>
                </a:lnTo>
                <a:lnTo>
                  <a:pt x="543559" y="50800"/>
                </a:lnTo>
                <a:lnTo>
                  <a:pt x="568959" y="38100"/>
                </a:lnTo>
                <a:lnTo>
                  <a:pt x="54355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556118" y="3818001"/>
            <a:ext cx="2235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472678" y="3704082"/>
            <a:ext cx="519430" cy="76200"/>
          </a:xfrm>
          <a:custGeom>
            <a:avLst/>
            <a:gdLst/>
            <a:ahLst/>
            <a:cxnLst/>
            <a:rect l="l" t="t" r="r" b="b"/>
            <a:pathLst>
              <a:path w="519429" h="76200">
                <a:moveTo>
                  <a:pt x="443102" y="0"/>
                </a:moveTo>
                <a:lnTo>
                  <a:pt x="443102" y="76200"/>
                </a:lnTo>
                <a:lnTo>
                  <a:pt x="493902" y="50800"/>
                </a:lnTo>
                <a:lnTo>
                  <a:pt x="455802" y="50800"/>
                </a:lnTo>
                <a:lnTo>
                  <a:pt x="455802" y="25400"/>
                </a:lnTo>
                <a:lnTo>
                  <a:pt x="493902" y="25400"/>
                </a:lnTo>
                <a:lnTo>
                  <a:pt x="443102" y="0"/>
                </a:lnTo>
                <a:close/>
              </a:path>
              <a:path w="519429" h="76200">
                <a:moveTo>
                  <a:pt x="4431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43102" y="50800"/>
                </a:lnTo>
                <a:lnTo>
                  <a:pt x="443102" y="25400"/>
                </a:lnTo>
                <a:close/>
              </a:path>
              <a:path w="519429" h="76200">
                <a:moveTo>
                  <a:pt x="493902" y="25400"/>
                </a:moveTo>
                <a:lnTo>
                  <a:pt x="455802" y="25400"/>
                </a:lnTo>
                <a:lnTo>
                  <a:pt x="455802" y="50800"/>
                </a:lnTo>
                <a:lnTo>
                  <a:pt x="493902" y="50800"/>
                </a:lnTo>
                <a:lnTo>
                  <a:pt x="519302" y="38100"/>
                </a:lnTo>
                <a:lnTo>
                  <a:pt x="4939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992361" y="3490721"/>
            <a:ext cx="1239520" cy="10242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05"/>
              </a:spcBef>
            </a:pPr>
            <a:endParaRPr sz="1800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SHIFT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10231373" y="3900678"/>
            <a:ext cx="519430" cy="76200"/>
          </a:xfrm>
          <a:custGeom>
            <a:avLst/>
            <a:gdLst/>
            <a:ahLst/>
            <a:cxnLst/>
            <a:rect l="l" t="t" r="r" b="b"/>
            <a:pathLst>
              <a:path w="519429" h="76200">
                <a:moveTo>
                  <a:pt x="443102" y="0"/>
                </a:moveTo>
                <a:lnTo>
                  <a:pt x="443102" y="76200"/>
                </a:lnTo>
                <a:lnTo>
                  <a:pt x="493902" y="50800"/>
                </a:lnTo>
                <a:lnTo>
                  <a:pt x="455802" y="50800"/>
                </a:lnTo>
                <a:lnTo>
                  <a:pt x="455802" y="25400"/>
                </a:lnTo>
                <a:lnTo>
                  <a:pt x="493902" y="25400"/>
                </a:lnTo>
                <a:lnTo>
                  <a:pt x="443102" y="0"/>
                </a:lnTo>
                <a:close/>
              </a:path>
              <a:path w="519429" h="76200">
                <a:moveTo>
                  <a:pt x="4431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43102" y="50800"/>
                </a:lnTo>
                <a:lnTo>
                  <a:pt x="443102" y="25400"/>
                </a:lnTo>
                <a:close/>
              </a:path>
              <a:path w="519429" h="76200">
                <a:moveTo>
                  <a:pt x="493902" y="25400"/>
                </a:moveTo>
                <a:lnTo>
                  <a:pt x="455802" y="25400"/>
                </a:lnTo>
                <a:lnTo>
                  <a:pt x="455802" y="50800"/>
                </a:lnTo>
                <a:lnTo>
                  <a:pt x="493902" y="50800"/>
                </a:lnTo>
                <a:lnTo>
                  <a:pt x="519302" y="38100"/>
                </a:lnTo>
                <a:lnTo>
                  <a:pt x="4939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10835385" y="3753992"/>
            <a:ext cx="2235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50" dirty="0">
                <a:latin typeface="Calibri"/>
                <a:cs typeface="Calibri"/>
              </a:rPr>
              <a:t>O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490966" y="3989070"/>
            <a:ext cx="519430" cy="76200"/>
          </a:xfrm>
          <a:custGeom>
            <a:avLst/>
            <a:gdLst/>
            <a:ahLst/>
            <a:cxnLst/>
            <a:rect l="l" t="t" r="r" b="b"/>
            <a:pathLst>
              <a:path w="519429" h="76200">
                <a:moveTo>
                  <a:pt x="443102" y="0"/>
                </a:moveTo>
                <a:lnTo>
                  <a:pt x="443102" y="76199"/>
                </a:lnTo>
                <a:lnTo>
                  <a:pt x="493902" y="50799"/>
                </a:lnTo>
                <a:lnTo>
                  <a:pt x="455802" y="50799"/>
                </a:lnTo>
                <a:lnTo>
                  <a:pt x="455802" y="25399"/>
                </a:lnTo>
                <a:lnTo>
                  <a:pt x="493902" y="25399"/>
                </a:lnTo>
                <a:lnTo>
                  <a:pt x="443102" y="0"/>
                </a:lnTo>
                <a:close/>
              </a:path>
              <a:path w="519429" h="76200">
                <a:moveTo>
                  <a:pt x="443102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43102" y="50799"/>
                </a:lnTo>
                <a:lnTo>
                  <a:pt x="443102" y="25399"/>
                </a:lnTo>
                <a:close/>
              </a:path>
              <a:path w="519429" h="76200">
                <a:moveTo>
                  <a:pt x="493902" y="25399"/>
                </a:moveTo>
                <a:lnTo>
                  <a:pt x="455802" y="25399"/>
                </a:lnTo>
                <a:lnTo>
                  <a:pt x="455802" y="50799"/>
                </a:lnTo>
                <a:lnTo>
                  <a:pt x="493902" y="50799"/>
                </a:lnTo>
                <a:lnTo>
                  <a:pt x="519302" y="38099"/>
                </a:lnTo>
                <a:lnTo>
                  <a:pt x="493902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474202" y="4303014"/>
            <a:ext cx="519430" cy="76200"/>
          </a:xfrm>
          <a:custGeom>
            <a:avLst/>
            <a:gdLst/>
            <a:ahLst/>
            <a:cxnLst/>
            <a:rect l="l" t="t" r="r" b="b"/>
            <a:pathLst>
              <a:path w="519429" h="76200">
                <a:moveTo>
                  <a:pt x="443102" y="0"/>
                </a:moveTo>
                <a:lnTo>
                  <a:pt x="443102" y="76200"/>
                </a:lnTo>
                <a:lnTo>
                  <a:pt x="493902" y="50800"/>
                </a:lnTo>
                <a:lnTo>
                  <a:pt x="455802" y="50800"/>
                </a:lnTo>
                <a:lnTo>
                  <a:pt x="455802" y="25400"/>
                </a:lnTo>
                <a:lnTo>
                  <a:pt x="493902" y="25400"/>
                </a:lnTo>
                <a:lnTo>
                  <a:pt x="443102" y="0"/>
                </a:lnTo>
                <a:close/>
              </a:path>
              <a:path w="519429" h="76200">
                <a:moveTo>
                  <a:pt x="44310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43102" y="50800"/>
                </a:lnTo>
                <a:lnTo>
                  <a:pt x="443102" y="25400"/>
                </a:lnTo>
                <a:close/>
              </a:path>
              <a:path w="519429" h="76200">
                <a:moveTo>
                  <a:pt x="493902" y="25400"/>
                </a:moveTo>
                <a:lnTo>
                  <a:pt x="455802" y="25400"/>
                </a:lnTo>
                <a:lnTo>
                  <a:pt x="455802" y="50800"/>
                </a:lnTo>
                <a:lnTo>
                  <a:pt x="493902" y="50800"/>
                </a:lnTo>
                <a:lnTo>
                  <a:pt x="519302" y="38100"/>
                </a:lnTo>
                <a:lnTo>
                  <a:pt x="49390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8203692" y="3578097"/>
            <a:ext cx="391160" cy="933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935">
              <a:lnSpc>
                <a:spcPts val="2415"/>
              </a:lnSpc>
              <a:spcBef>
                <a:spcPts val="105"/>
              </a:spcBef>
            </a:pPr>
            <a:r>
              <a:rPr sz="2300" b="1" spc="-50" dirty="0">
                <a:latin typeface="Calibri"/>
                <a:cs typeface="Calibri"/>
              </a:rPr>
              <a:t>A</a:t>
            </a:r>
            <a:endParaRPr sz="2300">
              <a:latin typeface="Calibri"/>
              <a:cs typeface="Calibri"/>
            </a:endParaRPr>
          </a:p>
          <a:p>
            <a:pPr marL="57785">
              <a:lnSpc>
                <a:spcPts val="2195"/>
              </a:lnSpc>
            </a:pPr>
            <a:r>
              <a:rPr sz="2400" spc="-25" dirty="0">
                <a:latin typeface="Cambria Math"/>
                <a:cs typeface="Cambria Math"/>
              </a:rPr>
              <a:t>𝐒</a:t>
            </a:r>
            <a:r>
              <a:rPr sz="2625" spc="-37" baseline="-15873" dirty="0">
                <a:latin typeface="Cambria Math"/>
                <a:cs typeface="Cambria Math"/>
              </a:rPr>
              <a:t>𝟐</a:t>
            </a:r>
            <a:endParaRPr sz="2625" baseline="-15873">
              <a:latin typeface="Cambria Math"/>
              <a:cs typeface="Cambria Math"/>
            </a:endParaRPr>
          </a:p>
          <a:p>
            <a:pPr marL="38100">
              <a:lnSpc>
                <a:spcPts val="2535"/>
              </a:lnSpc>
            </a:pPr>
            <a:r>
              <a:rPr sz="2400" spc="-25" dirty="0">
                <a:latin typeface="Cambria Math"/>
                <a:cs typeface="Cambria Math"/>
              </a:rPr>
              <a:t>𝐒</a:t>
            </a:r>
            <a:r>
              <a:rPr sz="2625" spc="-37" baseline="-15873" dirty="0">
                <a:latin typeface="Cambria Math"/>
                <a:cs typeface="Cambria Math"/>
              </a:rPr>
              <a:t>𝟏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735963" y="4838522"/>
            <a:ext cx="2011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𝐀𝐃𝐃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𝐒𝐔𝐁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869935" y="4823841"/>
            <a:ext cx="358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05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𝐋𝐄𝐅𝐓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𝐒𝐇𝐈𝐅𝐓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𝐑𝐈𝐆𝐇𝐓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𝐒𝐇𝐈𝐅𝐓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899" rIns="0" bIns="0" rtlCol="0">
            <a:spAutoFit/>
          </a:bodyPr>
          <a:lstStyle/>
          <a:p>
            <a:pPr marL="967740">
              <a:lnSpc>
                <a:spcPct val="100000"/>
              </a:lnSpc>
              <a:spcBef>
                <a:spcPts val="105"/>
              </a:spcBef>
            </a:pPr>
            <a:r>
              <a:rPr dirty="0"/>
              <a:t>ALU</a:t>
            </a:r>
            <a:r>
              <a:rPr spc="-120" dirty="0"/>
              <a:t> </a:t>
            </a:r>
            <a:r>
              <a:rPr spc="-10" dirty="0"/>
              <a:t>Circuit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84647" y="2240788"/>
            <a:ext cx="2092960" cy="3529329"/>
            <a:chOff x="5184647" y="2240788"/>
            <a:chExt cx="2092960" cy="3529329"/>
          </a:xfrm>
        </p:grpSpPr>
        <p:pic>
          <p:nvPicPr>
            <p:cNvPr id="4" name="object 4" descr="Image result for alu symbol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4647" y="2519172"/>
              <a:ext cx="2092528" cy="26869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49695" y="2247138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627887" y="0"/>
                  </a:moveTo>
                  <a:lnTo>
                    <a:pt x="0" y="572388"/>
                  </a:lnTo>
                  <a:lnTo>
                    <a:pt x="741552" y="987171"/>
                  </a:lnTo>
                  <a:lnTo>
                    <a:pt x="627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49695" y="2247138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741552" y="987171"/>
                  </a:moveTo>
                  <a:lnTo>
                    <a:pt x="0" y="572388"/>
                  </a:lnTo>
                  <a:lnTo>
                    <a:pt x="627887" y="0"/>
                  </a:lnTo>
                  <a:lnTo>
                    <a:pt x="741552" y="9871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3605" y="4573523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1016889" y="0"/>
                  </a:moveTo>
                  <a:lnTo>
                    <a:pt x="0" y="620394"/>
                  </a:lnTo>
                  <a:lnTo>
                    <a:pt x="966597" y="1190142"/>
                  </a:lnTo>
                  <a:lnTo>
                    <a:pt x="10168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3605" y="4573523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0" y="620394"/>
                  </a:moveTo>
                  <a:lnTo>
                    <a:pt x="1016889" y="0"/>
                  </a:lnTo>
                  <a:lnTo>
                    <a:pt x="966597" y="1190142"/>
                  </a:lnTo>
                  <a:lnTo>
                    <a:pt x="0" y="62039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27952" y="2247138"/>
              <a:ext cx="142875" cy="780415"/>
            </a:xfrm>
            <a:custGeom>
              <a:avLst/>
              <a:gdLst/>
              <a:ahLst/>
              <a:cxnLst/>
              <a:rect l="l" t="t" r="r" b="b"/>
              <a:pathLst>
                <a:path w="142875" h="780414">
                  <a:moveTo>
                    <a:pt x="47625" y="637159"/>
                  </a:moveTo>
                  <a:lnTo>
                    <a:pt x="0" y="637159"/>
                  </a:lnTo>
                  <a:lnTo>
                    <a:pt x="71500" y="780034"/>
                  </a:lnTo>
                  <a:lnTo>
                    <a:pt x="130947" y="661035"/>
                  </a:lnTo>
                  <a:lnTo>
                    <a:pt x="47625" y="661035"/>
                  </a:lnTo>
                  <a:lnTo>
                    <a:pt x="47625" y="637159"/>
                  </a:lnTo>
                  <a:close/>
                </a:path>
                <a:path w="142875" h="780414">
                  <a:moveTo>
                    <a:pt x="95250" y="0"/>
                  </a:moveTo>
                  <a:lnTo>
                    <a:pt x="47625" y="0"/>
                  </a:lnTo>
                  <a:lnTo>
                    <a:pt x="47625" y="661035"/>
                  </a:lnTo>
                  <a:lnTo>
                    <a:pt x="95250" y="661035"/>
                  </a:lnTo>
                  <a:lnTo>
                    <a:pt x="95250" y="0"/>
                  </a:lnTo>
                  <a:close/>
                </a:path>
                <a:path w="142875" h="780414">
                  <a:moveTo>
                    <a:pt x="142875" y="637159"/>
                  </a:moveTo>
                  <a:lnTo>
                    <a:pt x="95250" y="637159"/>
                  </a:lnTo>
                  <a:lnTo>
                    <a:pt x="95250" y="661035"/>
                  </a:lnTo>
                  <a:lnTo>
                    <a:pt x="130947" y="661035"/>
                  </a:lnTo>
                  <a:lnTo>
                    <a:pt x="142875" y="637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827778" y="1716786"/>
            <a:ext cx="2783205" cy="39865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664" algn="ctr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5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350"/>
              </a:spcBef>
            </a:pPr>
            <a:r>
              <a:rPr sz="3200" b="1" spc="-50" dirty="0">
                <a:latin typeface="Calibri"/>
                <a:cs typeface="Calibri"/>
              </a:rPr>
              <a:t>O</a:t>
            </a:r>
            <a:endParaRPr sz="32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2160"/>
              </a:spcBef>
            </a:pPr>
            <a:r>
              <a:rPr sz="3200" b="1" spc="-5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  <a:p>
            <a:pPr marL="113664" algn="ctr">
              <a:lnSpc>
                <a:spcPct val="100000"/>
              </a:lnSpc>
              <a:spcBef>
                <a:spcPts val="3329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 result for alu symbo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9743" y="3808476"/>
            <a:ext cx="1292352" cy="18987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09913" y="5684926"/>
            <a:ext cx="21780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20556" y="3586353"/>
            <a:ext cx="1202690" cy="2762250"/>
            <a:chOff x="8520556" y="3586353"/>
            <a:chExt cx="1202690" cy="2762250"/>
          </a:xfrm>
        </p:grpSpPr>
        <p:sp>
          <p:nvSpPr>
            <p:cNvPr id="5" name="object 5"/>
            <p:cNvSpPr/>
            <p:nvPr/>
          </p:nvSpPr>
          <p:spPr>
            <a:xfrm>
              <a:off x="8991980" y="3592703"/>
              <a:ext cx="725170" cy="697865"/>
            </a:xfrm>
            <a:custGeom>
              <a:avLst/>
              <a:gdLst/>
              <a:ahLst/>
              <a:cxnLst/>
              <a:rect l="l" t="t" r="r" b="b"/>
              <a:pathLst>
                <a:path w="725170" h="697864">
                  <a:moveTo>
                    <a:pt x="644525" y="0"/>
                  </a:moveTo>
                  <a:lnTo>
                    <a:pt x="0" y="427609"/>
                  </a:lnTo>
                  <a:lnTo>
                    <a:pt x="724916" y="697611"/>
                  </a:lnTo>
                  <a:lnTo>
                    <a:pt x="6445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91980" y="3592703"/>
              <a:ext cx="725170" cy="697865"/>
            </a:xfrm>
            <a:custGeom>
              <a:avLst/>
              <a:gdLst/>
              <a:ahLst/>
              <a:cxnLst/>
              <a:rect l="l" t="t" r="r" b="b"/>
              <a:pathLst>
                <a:path w="725170" h="697864">
                  <a:moveTo>
                    <a:pt x="724916" y="697611"/>
                  </a:moveTo>
                  <a:lnTo>
                    <a:pt x="0" y="427609"/>
                  </a:lnTo>
                  <a:lnTo>
                    <a:pt x="644525" y="0"/>
                  </a:lnTo>
                  <a:lnTo>
                    <a:pt x="724916" y="697611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26906" y="5286248"/>
              <a:ext cx="967105" cy="1056005"/>
            </a:xfrm>
            <a:custGeom>
              <a:avLst/>
              <a:gdLst/>
              <a:ahLst/>
              <a:cxnLst/>
              <a:rect l="l" t="t" r="r" b="b"/>
              <a:pathLst>
                <a:path w="967104" h="1056004">
                  <a:moveTo>
                    <a:pt x="937641" y="0"/>
                  </a:moveTo>
                  <a:lnTo>
                    <a:pt x="0" y="485876"/>
                  </a:lnTo>
                  <a:lnTo>
                    <a:pt x="966597" y="1055598"/>
                  </a:lnTo>
                  <a:lnTo>
                    <a:pt x="9376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26906" y="5286248"/>
              <a:ext cx="967105" cy="1056005"/>
            </a:xfrm>
            <a:custGeom>
              <a:avLst/>
              <a:gdLst/>
              <a:ahLst/>
              <a:cxnLst/>
              <a:rect l="l" t="t" r="r" b="b"/>
              <a:pathLst>
                <a:path w="967104" h="1056004">
                  <a:moveTo>
                    <a:pt x="0" y="485876"/>
                  </a:moveTo>
                  <a:lnTo>
                    <a:pt x="937641" y="0"/>
                  </a:lnTo>
                  <a:lnTo>
                    <a:pt x="966597" y="1055598"/>
                  </a:lnTo>
                  <a:lnTo>
                    <a:pt x="0" y="48587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299075" y="215646"/>
            <a:ext cx="19970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1-</a:t>
            </a:r>
            <a:r>
              <a:rPr sz="4000" dirty="0"/>
              <a:t>bit</a:t>
            </a:r>
            <a:r>
              <a:rPr sz="4000" spc="-40" dirty="0"/>
              <a:t> </a:t>
            </a:r>
            <a:r>
              <a:rPr sz="4000" spc="-25" dirty="0"/>
              <a:t>CPU</a:t>
            </a:r>
            <a:endParaRPr sz="4000"/>
          </a:p>
        </p:txBody>
      </p:sp>
      <p:sp>
        <p:nvSpPr>
          <p:cNvPr id="10" name="object 10"/>
          <p:cNvSpPr txBox="1"/>
          <p:nvPr/>
        </p:nvSpPr>
        <p:spPr>
          <a:xfrm>
            <a:off x="6050026" y="2770759"/>
            <a:ext cx="1648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Control</a:t>
            </a:r>
            <a:r>
              <a:rPr sz="18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Unit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(CU)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2690" y="3225546"/>
            <a:ext cx="117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Register</a:t>
            </a:r>
            <a:r>
              <a:rPr sz="1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File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66490" y="2807970"/>
            <a:ext cx="588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0000"/>
                </a:solidFill>
                <a:latin typeface="Calibri"/>
                <a:cs typeface="Calibri"/>
              </a:rPr>
              <a:t>RAM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(Main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66490" y="3356609"/>
            <a:ext cx="911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Memory)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53667" y="919734"/>
            <a:ext cx="2077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Program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Counter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(PC)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63617" y="1269872"/>
            <a:ext cx="3272790" cy="1543050"/>
            <a:chOff x="4563617" y="1269872"/>
            <a:chExt cx="3272790" cy="1543050"/>
          </a:xfrm>
        </p:grpSpPr>
        <p:sp>
          <p:nvSpPr>
            <p:cNvPr id="16" name="object 16"/>
            <p:cNvSpPr/>
            <p:nvPr/>
          </p:nvSpPr>
          <p:spPr>
            <a:xfrm>
              <a:off x="4563618" y="1408937"/>
              <a:ext cx="1384300" cy="381000"/>
            </a:xfrm>
            <a:custGeom>
              <a:avLst/>
              <a:gdLst/>
              <a:ahLst/>
              <a:cxnLst/>
              <a:rect l="l" t="t" r="r" b="b"/>
              <a:pathLst>
                <a:path w="1384300" h="381000">
                  <a:moveTo>
                    <a:pt x="1379220" y="38100"/>
                  </a:moveTo>
                  <a:lnTo>
                    <a:pt x="1360170" y="28575"/>
                  </a:lnTo>
                  <a:lnTo>
                    <a:pt x="1303020" y="0"/>
                  </a:lnTo>
                  <a:lnTo>
                    <a:pt x="1303020" y="28575"/>
                  </a:lnTo>
                  <a:lnTo>
                    <a:pt x="0" y="28575"/>
                  </a:lnTo>
                  <a:lnTo>
                    <a:pt x="0" y="47625"/>
                  </a:lnTo>
                  <a:lnTo>
                    <a:pt x="1303020" y="47625"/>
                  </a:lnTo>
                  <a:lnTo>
                    <a:pt x="1303020" y="76200"/>
                  </a:lnTo>
                  <a:lnTo>
                    <a:pt x="1360170" y="47625"/>
                  </a:lnTo>
                  <a:lnTo>
                    <a:pt x="1379220" y="38100"/>
                  </a:lnTo>
                  <a:close/>
                </a:path>
                <a:path w="1384300" h="381000">
                  <a:moveTo>
                    <a:pt x="1383792" y="342900"/>
                  </a:moveTo>
                  <a:lnTo>
                    <a:pt x="1364742" y="333375"/>
                  </a:lnTo>
                  <a:lnTo>
                    <a:pt x="1307592" y="304800"/>
                  </a:lnTo>
                  <a:lnTo>
                    <a:pt x="1307592" y="333375"/>
                  </a:lnTo>
                  <a:lnTo>
                    <a:pt x="4572" y="333375"/>
                  </a:lnTo>
                  <a:lnTo>
                    <a:pt x="4572" y="352425"/>
                  </a:lnTo>
                  <a:lnTo>
                    <a:pt x="1307592" y="352425"/>
                  </a:lnTo>
                  <a:lnTo>
                    <a:pt x="1307592" y="381000"/>
                  </a:lnTo>
                  <a:lnTo>
                    <a:pt x="1364742" y="352425"/>
                  </a:lnTo>
                  <a:lnTo>
                    <a:pt x="1383792" y="3429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44361" y="1279397"/>
              <a:ext cx="1882139" cy="1524000"/>
            </a:xfrm>
            <a:custGeom>
              <a:avLst/>
              <a:gdLst/>
              <a:ahLst/>
              <a:cxnLst/>
              <a:rect l="l" t="t" r="r" b="b"/>
              <a:pathLst>
                <a:path w="1882140" h="1524000">
                  <a:moveTo>
                    <a:pt x="0" y="1524000"/>
                  </a:moveTo>
                  <a:lnTo>
                    <a:pt x="1882139" y="1524000"/>
                  </a:lnTo>
                  <a:lnTo>
                    <a:pt x="1882139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995161" y="1285189"/>
            <a:ext cx="58610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[1]</a:t>
            </a:r>
            <a:endParaRPr sz="18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60"/>
              </a:spcBef>
            </a:pPr>
            <a:r>
              <a:rPr sz="1800" dirty="0">
                <a:latin typeface="Calibri"/>
                <a:cs typeface="Calibri"/>
              </a:rPr>
              <a:t>op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[0]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53792" y="1271397"/>
            <a:ext cx="2457450" cy="2122170"/>
            <a:chOff x="2153792" y="1271397"/>
            <a:chExt cx="2457450" cy="2122170"/>
          </a:xfrm>
        </p:grpSpPr>
        <p:sp>
          <p:nvSpPr>
            <p:cNvPr id="20" name="object 20"/>
            <p:cNvSpPr/>
            <p:nvPr/>
          </p:nvSpPr>
          <p:spPr>
            <a:xfrm>
              <a:off x="3534917" y="1280922"/>
              <a:ext cx="1066800" cy="1524000"/>
            </a:xfrm>
            <a:custGeom>
              <a:avLst/>
              <a:gdLst/>
              <a:ahLst/>
              <a:cxnLst/>
              <a:rect l="l" t="t" r="r" b="b"/>
              <a:pathLst>
                <a:path w="1066800" h="1524000">
                  <a:moveTo>
                    <a:pt x="1066800" y="0"/>
                  </a:moveTo>
                  <a:lnTo>
                    <a:pt x="0" y="0"/>
                  </a:lnTo>
                  <a:lnTo>
                    <a:pt x="0" y="1524000"/>
                  </a:lnTo>
                  <a:lnTo>
                    <a:pt x="1066800" y="15240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63317" y="1280922"/>
              <a:ext cx="2438400" cy="1524000"/>
            </a:xfrm>
            <a:custGeom>
              <a:avLst/>
              <a:gdLst/>
              <a:ahLst/>
              <a:cxnLst/>
              <a:rect l="l" t="t" r="r" b="b"/>
              <a:pathLst>
                <a:path w="2438400" h="1524000">
                  <a:moveTo>
                    <a:pt x="1371599" y="1524000"/>
                  </a:moveTo>
                  <a:lnTo>
                    <a:pt x="2438399" y="1524000"/>
                  </a:lnTo>
                  <a:lnTo>
                    <a:pt x="2438399" y="0"/>
                  </a:lnTo>
                  <a:lnTo>
                    <a:pt x="1371599" y="0"/>
                  </a:lnTo>
                  <a:lnTo>
                    <a:pt x="1371599" y="1524000"/>
                  </a:lnTo>
                  <a:close/>
                </a:path>
                <a:path w="2438400" h="1524000">
                  <a:moveTo>
                    <a:pt x="0" y="1524000"/>
                  </a:moveTo>
                  <a:lnTo>
                    <a:pt x="865632" y="1524000"/>
                  </a:lnTo>
                  <a:lnTo>
                    <a:pt x="865632" y="0"/>
                  </a:lnTo>
                  <a:lnTo>
                    <a:pt x="0" y="0"/>
                  </a:lnTo>
                  <a:lnTo>
                    <a:pt x="0" y="1524000"/>
                  </a:lnTo>
                  <a:close/>
                </a:path>
                <a:path w="2438400" h="1524000">
                  <a:moveTo>
                    <a:pt x="259080" y="1524000"/>
                  </a:moveTo>
                  <a:lnTo>
                    <a:pt x="406145" y="1188719"/>
                  </a:lnTo>
                  <a:lnTo>
                    <a:pt x="553212" y="1524000"/>
                  </a:lnTo>
                  <a:lnTo>
                    <a:pt x="259080" y="15240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25901" y="1610106"/>
              <a:ext cx="508634" cy="76200"/>
            </a:xfrm>
            <a:custGeom>
              <a:avLst/>
              <a:gdLst/>
              <a:ahLst/>
              <a:cxnLst/>
              <a:rect l="l" t="t" r="r" b="b"/>
              <a:pathLst>
                <a:path w="508635" h="76200">
                  <a:moveTo>
                    <a:pt x="432435" y="0"/>
                  </a:moveTo>
                  <a:lnTo>
                    <a:pt x="432435" y="76200"/>
                  </a:lnTo>
                  <a:lnTo>
                    <a:pt x="489585" y="47625"/>
                  </a:lnTo>
                  <a:lnTo>
                    <a:pt x="445135" y="47625"/>
                  </a:lnTo>
                  <a:lnTo>
                    <a:pt x="445135" y="28575"/>
                  </a:lnTo>
                  <a:lnTo>
                    <a:pt x="489585" y="28575"/>
                  </a:lnTo>
                  <a:lnTo>
                    <a:pt x="432435" y="0"/>
                  </a:lnTo>
                  <a:close/>
                </a:path>
                <a:path w="508635" h="76200">
                  <a:moveTo>
                    <a:pt x="432435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32435" y="47625"/>
                  </a:lnTo>
                  <a:lnTo>
                    <a:pt x="432435" y="28575"/>
                  </a:lnTo>
                  <a:close/>
                </a:path>
                <a:path w="508635" h="76200">
                  <a:moveTo>
                    <a:pt x="489585" y="28575"/>
                  </a:moveTo>
                  <a:lnTo>
                    <a:pt x="445135" y="28575"/>
                  </a:lnTo>
                  <a:lnTo>
                    <a:pt x="445135" y="47625"/>
                  </a:lnTo>
                  <a:lnTo>
                    <a:pt x="489585" y="47625"/>
                  </a:lnTo>
                  <a:lnTo>
                    <a:pt x="508635" y="38100"/>
                  </a:lnTo>
                  <a:lnTo>
                    <a:pt x="489585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643377" y="1648206"/>
              <a:ext cx="571500" cy="1736089"/>
            </a:xfrm>
            <a:custGeom>
              <a:avLst/>
              <a:gdLst/>
              <a:ahLst/>
              <a:cxnLst/>
              <a:rect l="l" t="t" r="r" b="b"/>
              <a:pathLst>
                <a:path w="571500" h="1736089">
                  <a:moveTo>
                    <a:pt x="571500" y="0"/>
                  </a:moveTo>
                  <a:lnTo>
                    <a:pt x="571500" y="1578102"/>
                  </a:lnTo>
                </a:path>
                <a:path w="571500" h="1736089">
                  <a:moveTo>
                    <a:pt x="0" y="1735836"/>
                  </a:moveTo>
                  <a:lnTo>
                    <a:pt x="498348" y="1735836"/>
                  </a:lnTo>
                  <a:lnTo>
                    <a:pt x="498348" y="1400556"/>
                  </a:lnTo>
                  <a:lnTo>
                    <a:pt x="0" y="1400556"/>
                  </a:lnTo>
                  <a:lnTo>
                    <a:pt x="0" y="1735836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763392" y="3050794"/>
            <a:ext cx="256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+1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849373" y="1614677"/>
            <a:ext cx="1376680" cy="1615440"/>
            <a:chOff x="1849373" y="1614677"/>
            <a:chExt cx="1376680" cy="1615440"/>
          </a:xfrm>
        </p:grpSpPr>
        <p:sp>
          <p:nvSpPr>
            <p:cNvPr id="26" name="object 26"/>
            <p:cNvSpPr/>
            <p:nvPr/>
          </p:nvSpPr>
          <p:spPr>
            <a:xfrm>
              <a:off x="1860041" y="1642109"/>
              <a:ext cx="1356360" cy="1578610"/>
            </a:xfrm>
            <a:custGeom>
              <a:avLst/>
              <a:gdLst/>
              <a:ahLst/>
              <a:cxnLst/>
              <a:rect l="l" t="t" r="r" b="b"/>
              <a:pathLst>
                <a:path w="1356360" h="1578610">
                  <a:moveTo>
                    <a:pt x="1355978" y="1574291"/>
                  </a:moveTo>
                  <a:lnTo>
                    <a:pt x="1281683" y="1574291"/>
                  </a:lnTo>
                </a:path>
                <a:path w="1356360" h="1578610">
                  <a:moveTo>
                    <a:pt x="784097" y="1574291"/>
                  </a:moveTo>
                  <a:lnTo>
                    <a:pt x="0" y="1574291"/>
                  </a:lnTo>
                </a:path>
                <a:path w="1356360" h="1578610">
                  <a:moveTo>
                    <a:pt x="1524" y="0"/>
                  </a:moveTo>
                  <a:lnTo>
                    <a:pt x="1524" y="157810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49373" y="1614677"/>
              <a:ext cx="307340" cy="76200"/>
            </a:xfrm>
            <a:custGeom>
              <a:avLst/>
              <a:gdLst/>
              <a:ahLst/>
              <a:cxnLst/>
              <a:rect l="l" t="t" r="r" b="b"/>
              <a:pathLst>
                <a:path w="307339" h="76200">
                  <a:moveTo>
                    <a:pt x="231139" y="0"/>
                  </a:moveTo>
                  <a:lnTo>
                    <a:pt x="231139" y="76200"/>
                  </a:lnTo>
                  <a:lnTo>
                    <a:pt x="288289" y="47625"/>
                  </a:lnTo>
                  <a:lnTo>
                    <a:pt x="243839" y="47625"/>
                  </a:lnTo>
                  <a:lnTo>
                    <a:pt x="243839" y="28575"/>
                  </a:lnTo>
                  <a:lnTo>
                    <a:pt x="288289" y="28575"/>
                  </a:lnTo>
                  <a:lnTo>
                    <a:pt x="231139" y="0"/>
                  </a:lnTo>
                  <a:close/>
                </a:path>
                <a:path w="307339" h="76200">
                  <a:moveTo>
                    <a:pt x="231139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231139" y="47625"/>
                  </a:lnTo>
                  <a:lnTo>
                    <a:pt x="231139" y="28575"/>
                  </a:lnTo>
                  <a:close/>
                </a:path>
                <a:path w="307339" h="76200">
                  <a:moveTo>
                    <a:pt x="288289" y="28575"/>
                  </a:moveTo>
                  <a:lnTo>
                    <a:pt x="243839" y="28575"/>
                  </a:lnTo>
                  <a:lnTo>
                    <a:pt x="243839" y="47625"/>
                  </a:lnTo>
                  <a:lnTo>
                    <a:pt x="288289" y="47625"/>
                  </a:lnTo>
                  <a:lnTo>
                    <a:pt x="307339" y="38100"/>
                  </a:lnTo>
                  <a:lnTo>
                    <a:pt x="288289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612896" y="1282141"/>
            <a:ext cx="930275" cy="49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045">
              <a:lnSpc>
                <a:spcPts val="1864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25" dirty="0">
                <a:latin typeface="Calibri"/>
                <a:cs typeface="Calibri"/>
              </a:rPr>
              <a:t>[3]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864"/>
              </a:lnSpc>
            </a:pPr>
            <a:r>
              <a:rPr sz="1800" spc="-20" dirty="0">
                <a:latin typeface="Calibri"/>
                <a:cs typeface="Calibri"/>
              </a:rPr>
              <a:t>a[1]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16451" y="2104771"/>
            <a:ext cx="455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25" dirty="0">
                <a:latin typeface="Calibri"/>
                <a:cs typeface="Calibri"/>
              </a:rPr>
              <a:t>[0]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926073" y="3571494"/>
            <a:ext cx="1882139" cy="2263140"/>
          </a:xfrm>
          <a:custGeom>
            <a:avLst/>
            <a:gdLst/>
            <a:ahLst/>
            <a:cxnLst/>
            <a:rect l="l" t="t" r="r" b="b"/>
            <a:pathLst>
              <a:path w="1882140" h="2263140">
                <a:moveTo>
                  <a:pt x="0" y="2263140"/>
                </a:moveTo>
                <a:lnTo>
                  <a:pt x="1882139" y="2263140"/>
                </a:lnTo>
                <a:lnTo>
                  <a:pt x="1882139" y="0"/>
                </a:lnTo>
                <a:lnTo>
                  <a:pt x="0" y="0"/>
                </a:lnTo>
                <a:lnTo>
                  <a:pt x="0" y="226314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993638" y="3755263"/>
            <a:ext cx="26860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Ra Rb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97702" y="4466335"/>
            <a:ext cx="418465" cy="803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419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Wr </a:t>
            </a:r>
            <a:r>
              <a:rPr sz="1800" spc="-40" dirty="0">
                <a:latin typeface="Calibri"/>
                <a:cs typeface="Calibri"/>
              </a:rPr>
              <a:t>Wrd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292476" y="1539621"/>
            <a:ext cx="8000365" cy="4836160"/>
            <a:chOff x="2292476" y="1539621"/>
            <a:chExt cx="8000365" cy="4836160"/>
          </a:xfrm>
        </p:grpSpPr>
        <p:sp>
          <p:nvSpPr>
            <p:cNvPr id="34" name="object 34"/>
            <p:cNvSpPr/>
            <p:nvPr/>
          </p:nvSpPr>
          <p:spPr>
            <a:xfrm>
              <a:off x="5919977" y="5535930"/>
              <a:ext cx="335280" cy="294640"/>
            </a:xfrm>
            <a:custGeom>
              <a:avLst/>
              <a:gdLst/>
              <a:ahLst/>
              <a:cxnLst/>
              <a:rect l="l" t="t" r="r" b="b"/>
              <a:pathLst>
                <a:path w="335279" h="294639">
                  <a:moveTo>
                    <a:pt x="0" y="0"/>
                  </a:moveTo>
                  <a:lnTo>
                    <a:pt x="0" y="294132"/>
                  </a:lnTo>
                  <a:lnTo>
                    <a:pt x="335280" y="1470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01717" y="2000250"/>
              <a:ext cx="1653539" cy="3830320"/>
            </a:xfrm>
            <a:custGeom>
              <a:avLst/>
              <a:gdLst/>
              <a:ahLst/>
              <a:cxnLst/>
              <a:rect l="l" t="t" r="r" b="b"/>
              <a:pathLst>
                <a:path w="1653539" h="3830320">
                  <a:moveTo>
                    <a:pt x="1318260" y="3535679"/>
                  </a:moveTo>
                  <a:lnTo>
                    <a:pt x="1653540" y="3682746"/>
                  </a:lnTo>
                  <a:lnTo>
                    <a:pt x="1318260" y="3829812"/>
                  </a:lnTo>
                  <a:lnTo>
                    <a:pt x="1318260" y="3535679"/>
                  </a:lnTo>
                  <a:close/>
                </a:path>
                <a:path w="1653539" h="3830320">
                  <a:moveTo>
                    <a:pt x="0" y="0"/>
                  </a:moveTo>
                  <a:lnTo>
                    <a:pt x="779780" y="0"/>
                  </a:lnTo>
                </a:path>
                <a:path w="1653539" h="3830320">
                  <a:moveTo>
                    <a:pt x="778764" y="0"/>
                  </a:moveTo>
                  <a:lnTo>
                    <a:pt x="778764" y="194538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380481" y="3906774"/>
              <a:ext cx="534035" cy="76200"/>
            </a:xfrm>
            <a:custGeom>
              <a:avLst/>
              <a:gdLst/>
              <a:ahLst/>
              <a:cxnLst/>
              <a:rect l="l" t="t" r="r" b="b"/>
              <a:pathLst>
                <a:path w="534035" h="76200">
                  <a:moveTo>
                    <a:pt x="457834" y="0"/>
                  </a:moveTo>
                  <a:lnTo>
                    <a:pt x="457834" y="76200"/>
                  </a:lnTo>
                  <a:lnTo>
                    <a:pt x="514984" y="47625"/>
                  </a:lnTo>
                  <a:lnTo>
                    <a:pt x="470534" y="47625"/>
                  </a:lnTo>
                  <a:lnTo>
                    <a:pt x="470534" y="28575"/>
                  </a:lnTo>
                  <a:lnTo>
                    <a:pt x="514984" y="28575"/>
                  </a:lnTo>
                  <a:lnTo>
                    <a:pt x="457834" y="0"/>
                  </a:lnTo>
                  <a:close/>
                </a:path>
                <a:path w="534035" h="76200">
                  <a:moveTo>
                    <a:pt x="457834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457834" y="47625"/>
                  </a:lnTo>
                  <a:lnTo>
                    <a:pt x="457834" y="28575"/>
                  </a:lnTo>
                  <a:close/>
                </a:path>
                <a:path w="534035" h="76200">
                  <a:moveTo>
                    <a:pt x="514984" y="28575"/>
                  </a:moveTo>
                  <a:lnTo>
                    <a:pt x="470534" y="28575"/>
                  </a:lnTo>
                  <a:lnTo>
                    <a:pt x="470534" y="47625"/>
                  </a:lnTo>
                  <a:lnTo>
                    <a:pt x="514984" y="47625"/>
                  </a:lnTo>
                  <a:lnTo>
                    <a:pt x="534034" y="38100"/>
                  </a:lnTo>
                  <a:lnTo>
                    <a:pt x="514984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01717" y="2289810"/>
              <a:ext cx="559435" cy="1942464"/>
            </a:xfrm>
            <a:custGeom>
              <a:avLst/>
              <a:gdLst/>
              <a:ahLst/>
              <a:cxnLst/>
              <a:rect l="l" t="t" r="r" b="b"/>
              <a:pathLst>
                <a:path w="559435" h="1942464">
                  <a:moveTo>
                    <a:pt x="0" y="0"/>
                  </a:moveTo>
                  <a:lnTo>
                    <a:pt x="559308" y="0"/>
                  </a:lnTo>
                </a:path>
                <a:path w="559435" h="1942464">
                  <a:moveTo>
                    <a:pt x="556260" y="0"/>
                  </a:moveTo>
                  <a:lnTo>
                    <a:pt x="556768" y="194221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160898" y="4204081"/>
              <a:ext cx="755015" cy="76200"/>
            </a:xfrm>
            <a:custGeom>
              <a:avLst/>
              <a:gdLst/>
              <a:ahLst/>
              <a:cxnLst/>
              <a:rect l="l" t="t" r="r" b="b"/>
              <a:pathLst>
                <a:path w="755014" h="76200">
                  <a:moveTo>
                    <a:pt x="679068" y="0"/>
                  </a:moveTo>
                  <a:lnTo>
                    <a:pt x="678639" y="28625"/>
                  </a:lnTo>
                  <a:lnTo>
                    <a:pt x="691388" y="28829"/>
                  </a:lnTo>
                  <a:lnTo>
                    <a:pt x="691011" y="47676"/>
                  </a:lnTo>
                  <a:lnTo>
                    <a:pt x="691006" y="47879"/>
                  </a:lnTo>
                  <a:lnTo>
                    <a:pt x="678350" y="47879"/>
                  </a:lnTo>
                  <a:lnTo>
                    <a:pt x="677926" y="76200"/>
                  </a:lnTo>
                  <a:lnTo>
                    <a:pt x="736911" y="47879"/>
                  </a:lnTo>
                  <a:lnTo>
                    <a:pt x="691006" y="47879"/>
                  </a:lnTo>
                  <a:lnTo>
                    <a:pt x="678353" y="47676"/>
                  </a:lnTo>
                  <a:lnTo>
                    <a:pt x="737333" y="47676"/>
                  </a:lnTo>
                  <a:lnTo>
                    <a:pt x="754634" y="39370"/>
                  </a:lnTo>
                  <a:lnTo>
                    <a:pt x="679068" y="0"/>
                  </a:lnTo>
                  <a:close/>
                </a:path>
                <a:path w="755014" h="76200">
                  <a:moveTo>
                    <a:pt x="678639" y="28625"/>
                  </a:moveTo>
                  <a:lnTo>
                    <a:pt x="678516" y="36830"/>
                  </a:lnTo>
                  <a:lnTo>
                    <a:pt x="678478" y="39370"/>
                  </a:lnTo>
                  <a:lnTo>
                    <a:pt x="678353" y="47676"/>
                  </a:lnTo>
                  <a:lnTo>
                    <a:pt x="691006" y="47879"/>
                  </a:lnTo>
                  <a:lnTo>
                    <a:pt x="691388" y="28829"/>
                  </a:lnTo>
                  <a:lnTo>
                    <a:pt x="678639" y="28625"/>
                  </a:lnTo>
                  <a:close/>
                </a:path>
                <a:path w="755014" h="76200">
                  <a:moveTo>
                    <a:pt x="253" y="17780"/>
                  </a:moveTo>
                  <a:lnTo>
                    <a:pt x="109" y="28625"/>
                  </a:lnTo>
                  <a:lnTo>
                    <a:pt x="0" y="36830"/>
                  </a:lnTo>
                  <a:lnTo>
                    <a:pt x="678353" y="47676"/>
                  </a:lnTo>
                  <a:lnTo>
                    <a:pt x="678478" y="39370"/>
                  </a:lnTo>
                  <a:lnTo>
                    <a:pt x="678516" y="36830"/>
                  </a:lnTo>
                  <a:lnTo>
                    <a:pt x="678639" y="28625"/>
                  </a:lnTo>
                  <a:lnTo>
                    <a:pt x="253" y="177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83529" y="3059430"/>
              <a:ext cx="0" cy="1694814"/>
            </a:xfrm>
            <a:custGeom>
              <a:avLst/>
              <a:gdLst/>
              <a:ahLst/>
              <a:cxnLst/>
              <a:rect l="l" t="t" r="r" b="b"/>
              <a:pathLst>
                <a:path h="1694814">
                  <a:moveTo>
                    <a:pt x="0" y="0"/>
                  </a:moveTo>
                  <a:lnTo>
                    <a:pt x="0" y="169443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380228" y="1549145"/>
              <a:ext cx="3700779" cy="3810635"/>
            </a:xfrm>
            <a:custGeom>
              <a:avLst/>
              <a:gdLst/>
              <a:ahLst/>
              <a:cxnLst/>
              <a:rect l="l" t="t" r="r" b="b"/>
              <a:pathLst>
                <a:path w="3700779" h="3810635">
                  <a:moveTo>
                    <a:pt x="525856" y="3219323"/>
                  </a:moveTo>
                  <a:lnTo>
                    <a:pt x="479425" y="3219323"/>
                  </a:lnTo>
                  <a:lnTo>
                    <a:pt x="466623" y="3219323"/>
                  </a:lnTo>
                  <a:lnTo>
                    <a:pt x="465963" y="3247644"/>
                  </a:lnTo>
                  <a:lnTo>
                    <a:pt x="525856" y="3219323"/>
                  </a:lnTo>
                  <a:close/>
                </a:path>
                <a:path w="3700779" h="3810635">
                  <a:moveTo>
                    <a:pt x="543052" y="3211195"/>
                  </a:moveTo>
                  <a:lnTo>
                    <a:pt x="467741" y="3171444"/>
                  </a:lnTo>
                  <a:lnTo>
                    <a:pt x="467067" y="3199993"/>
                  </a:lnTo>
                  <a:lnTo>
                    <a:pt x="508" y="3189351"/>
                  </a:lnTo>
                  <a:lnTo>
                    <a:pt x="0" y="3208401"/>
                  </a:lnTo>
                  <a:lnTo>
                    <a:pt x="466623" y="3219043"/>
                  </a:lnTo>
                  <a:lnTo>
                    <a:pt x="479425" y="3219043"/>
                  </a:lnTo>
                  <a:lnTo>
                    <a:pt x="526465" y="3219043"/>
                  </a:lnTo>
                  <a:lnTo>
                    <a:pt x="543052" y="3211195"/>
                  </a:lnTo>
                  <a:close/>
                </a:path>
                <a:path w="3700779" h="3810635">
                  <a:moveTo>
                    <a:pt x="3230372" y="2694432"/>
                  </a:moveTo>
                  <a:lnTo>
                    <a:pt x="3211322" y="2684907"/>
                  </a:lnTo>
                  <a:lnTo>
                    <a:pt x="3154172" y="2656332"/>
                  </a:lnTo>
                  <a:lnTo>
                    <a:pt x="3154172" y="2684907"/>
                  </a:lnTo>
                  <a:lnTo>
                    <a:pt x="2426462" y="2684907"/>
                  </a:lnTo>
                  <a:lnTo>
                    <a:pt x="2426462" y="2703957"/>
                  </a:lnTo>
                  <a:lnTo>
                    <a:pt x="3154172" y="2703957"/>
                  </a:lnTo>
                  <a:lnTo>
                    <a:pt x="3154172" y="2732532"/>
                  </a:lnTo>
                  <a:lnTo>
                    <a:pt x="3211322" y="2703957"/>
                  </a:lnTo>
                  <a:lnTo>
                    <a:pt x="3230372" y="2694432"/>
                  </a:lnTo>
                  <a:close/>
                </a:path>
                <a:path w="3700779" h="3810635">
                  <a:moveTo>
                    <a:pt x="3231616" y="3782060"/>
                  </a:moveTo>
                  <a:lnTo>
                    <a:pt x="3185541" y="3782060"/>
                  </a:lnTo>
                  <a:lnTo>
                    <a:pt x="3172841" y="3782060"/>
                  </a:lnTo>
                  <a:lnTo>
                    <a:pt x="3172333" y="3810381"/>
                  </a:lnTo>
                  <a:lnTo>
                    <a:pt x="3231616" y="3782060"/>
                  </a:lnTo>
                  <a:close/>
                </a:path>
                <a:path w="3700779" h="3810635">
                  <a:moveTo>
                    <a:pt x="3249168" y="3773678"/>
                  </a:moveTo>
                  <a:lnTo>
                    <a:pt x="3173730" y="3734181"/>
                  </a:lnTo>
                  <a:lnTo>
                    <a:pt x="3173196" y="3762781"/>
                  </a:lnTo>
                  <a:lnTo>
                    <a:pt x="2487549" y="3750183"/>
                  </a:lnTo>
                  <a:lnTo>
                    <a:pt x="2487371" y="3762781"/>
                  </a:lnTo>
                  <a:lnTo>
                    <a:pt x="2487295" y="3769233"/>
                  </a:lnTo>
                  <a:lnTo>
                    <a:pt x="3172853" y="3781831"/>
                  </a:lnTo>
                  <a:lnTo>
                    <a:pt x="3185541" y="3781831"/>
                  </a:lnTo>
                  <a:lnTo>
                    <a:pt x="3232099" y="3781831"/>
                  </a:lnTo>
                  <a:lnTo>
                    <a:pt x="3249168" y="3773678"/>
                  </a:lnTo>
                  <a:close/>
                </a:path>
                <a:path w="3700779" h="3810635">
                  <a:moveTo>
                    <a:pt x="3700526" y="2433066"/>
                  </a:moveTo>
                  <a:lnTo>
                    <a:pt x="3671951" y="2433066"/>
                  </a:lnTo>
                  <a:lnTo>
                    <a:pt x="3671951" y="0"/>
                  </a:lnTo>
                  <a:lnTo>
                    <a:pt x="3652901" y="0"/>
                  </a:lnTo>
                  <a:lnTo>
                    <a:pt x="3652901" y="2433066"/>
                  </a:lnTo>
                  <a:lnTo>
                    <a:pt x="3624326" y="2433066"/>
                  </a:lnTo>
                  <a:lnTo>
                    <a:pt x="3662426" y="2509266"/>
                  </a:lnTo>
                  <a:lnTo>
                    <a:pt x="3694176" y="2445766"/>
                  </a:lnTo>
                  <a:lnTo>
                    <a:pt x="3700526" y="24330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80481" y="1549146"/>
              <a:ext cx="4902835" cy="4817110"/>
            </a:xfrm>
            <a:custGeom>
              <a:avLst/>
              <a:gdLst/>
              <a:ahLst/>
              <a:cxnLst/>
              <a:rect l="l" t="t" r="r" b="b"/>
              <a:pathLst>
                <a:path w="4902834" h="4817110">
                  <a:moveTo>
                    <a:pt x="2446019" y="0"/>
                  </a:moveTo>
                  <a:lnTo>
                    <a:pt x="3661537" y="0"/>
                  </a:lnTo>
                </a:path>
                <a:path w="4902834" h="4817110">
                  <a:moveTo>
                    <a:pt x="4514088" y="3188208"/>
                  </a:moveTo>
                  <a:lnTo>
                    <a:pt x="4902453" y="3188208"/>
                  </a:lnTo>
                </a:path>
                <a:path w="4902834" h="4817110">
                  <a:moveTo>
                    <a:pt x="4902708" y="3195828"/>
                  </a:moveTo>
                  <a:lnTo>
                    <a:pt x="4902708" y="4792332"/>
                  </a:lnTo>
                </a:path>
                <a:path w="4902834" h="4817110">
                  <a:moveTo>
                    <a:pt x="0" y="4792980"/>
                  </a:moveTo>
                  <a:lnTo>
                    <a:pt x="4902708" y="4816754"/>
                  </a:lnTo>
                </a:path>
                <a:path w="4902834" h="4817110">
                  <a:moveTo>
                    <a:pt x="0" y="3550920"/>
                  </a:moveTo>
                  <a:lnTo>
                    <a:pt x="0" y="4786426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369559" y="5068442"/>
              <a:ext cx="555625" cy="76200"/>
            </a:xfrm>
            <a:custGeom>
              <a:avLst/>
              <a:gdLst/>
              <a:ahLst/>
              <a:cxnLst/>
              <a:rect l="l" t="t" r="r" b="b"/>
              <a:pathLst>
                <a:path w="555625" h="76200">
                  <a:moveTo>
                    <a:pt x="479932" y="0"/>
                  </a:moveTo>
                  <a:lnTo>
                    <a:pt x="479169" y="28621"/>
                  </a:lnTo>
                  <a:lnTo>
                    <a:pt x="491870" y="28955"/>
                  </a:lnTo>
                  <a:lnTo>
                    <a:pt x="491371" y="47671"/>
                  </a:lnTo>
                  <a:lnTo>
                    <a:pt x="491363" y="48005"/>
                  </a:lnTo>
                  <a:lnTo>
                    <a:pt x="478652" y="48005"/>
                  </a:lnTo>
                  <a:lnTo>
                    <a:pt x="477900" y="76199"/>
                  </a:lnTo>
                  <a:lnTo>
                    <a:pt x="538259" y="48005"/>
                  </a:lnTo>
                  <a:lnTo>
                    <a:pt x="491363" y="48005"/>
                  </a:lnTo>
                  <a:lnTo>
                    <a:pt x="478661" y="47671"/>
                  </a:lnTo>
                  <a:lnTo>
                    <a:pt x="538976" y="47671"/>
                  </a:lnTo>
                  <a:lnTo>
                    <a:pt x="555116" y="40131"/>
                  </a:lnTo>
                  <a:lnTo>
                    <a:pt x="479932" y="0"/>
                  </a:lnTo>
                  <a:close/>
                </a:path>
                <a:path w="555625" h="76200">
                  <a:moveTo>
                    <a:pt x="479169" y="28621"/>
                  </a:moveTo>
                  <a:lnTo>
                    <a:pt x="478661" y="47671"/>
                  </a:lnTo>
                  <a:lnTo>
                    <a:pt x="491363" y="48005"/>
                  </a:lnTo>
                  <a:lnTo>
                    <a:pt x="491870" y="28955"/>
                  </a:lnTo>
                  <a:lnTo>
                    <a:pt x="479169" y="28621"/>
                  </a:lnTo>
                  <a:close/>
                </a:path>
                <a:path w="555625" h="76200">
                  <a:moveTo>
                    <a:pt x="507" y="16001"/>
                  </a:moveTo>
                  <a:lnTo>
                    <a:pt x="0" y="35051"/>
                  </a:lnTo>
                  <a:lnTo>
                    <a:pt x="478661" y="47671"/>
                  </a:lnTo>
                  <a:lnTo>
                    <a:pt x="479160" y="28955"/>
                  </a:lnTo>
                  <a:lnTo>
                    <a:pt x="479169" y="28621"/>
                  </a:lnTo>
                  <a:lnTo>
                    <a:pt x="507" y="160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302001" y="2812542"/>
              <a:ext cx="3619500" cy="2870835"/>
            </a:xfrm>
            <a:custGeom>
              <a:avLst/>
              <a:gdLst/>
              <a:ahLst/>
              <a:cxnLst/>
              <a:rect l="l" t="t" r="r" b="b"/>
              <a:pathLst>
                <a:path w="3619500" h="2870835">
                  <a:moveTo>
                    <a:pt x="0" y="2833116"/>
                  </a:moveTo>
                  <a:lnTo>
                    <a:pt x="3619246" y="2870466"/>
                  </a:lnTo>
                </a:path>
                <a:path w="3619500" h="2870835">
                  <a:moveTo>
                    <a:pt x="245237" y="0"/>
                  </a:moveTo>
                  <a:lnTo>
                    <a:pt x="234696" y="2832633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592059" y="4041775"/>
            <a:ext cx="135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596885" y="4822063"/>
            <a:ext cx="146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705850" y="4013961"/>
            <a:ext cx="1758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40179" y="5479186"/>
            <a:ext cx="276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libri"/>
                <a:cs typeface="Calibri"/>
              </a:rPr>
              <a:t>clk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446389" y="3528441"/>
            <a:ext cx="563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alu[1]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692385" y="4496561"/>
            <a:ext cx="116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87750" y="1568577"/>
            <a:ext cx="989330" cy="5022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>
              <a:lnSpc>
                <a:spcPts val="1875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 </a:t>
            </a:r>
            <a:r>
              <a:rPr sz="1800" spc="-25" dirty="0">
                <a:latin typeface="Calibri"/>
                <a:cs typeface="Calibri"/>
              </a:rPr>
              <a:t>[2]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ts val="1875"/>
              </a:lnSpc>
            </a:pPr>
            <a:r>
              <a:rPr sz="1800" dirty="0">
                <a:latin typeface="Calibri"/>
                <a:cs typeface="Calibri"/>
              </a:rPr>
              <a:t>a[0]</a:t>
            </a:r>
            <a:r>
              <a:rPr sz="1800" spc="45" dirty="0">
                <a:latin typeface="Calibri"/>
                <a:cs typeface="Calibri"/>
              </a:rPr>
              <a:t>  </a:t>
            </a:r>
            <a:r>
              <a:rPr sz="2700" baseline="-13888" dirty="0">
                <a:latin typeface="Calibri"/>
                <a:cs typeface="Calibri"/>
              </a:rPr>
              <a:t>d</a:t>
            </a:r>
            <a:r>
              <a:rPr sz="2700" spc="15" baseline="-13888" dirty="0">
                <a:latin typeface="Calibri"/>
                <a:cs typeface="Calibri"/>
              </a:rPr>
              <a:t> </a:t>
            </a:r>
            <a:r>
              <a:rPr sz="2700" spc="-37" baseline="-13888" dirty="0">
                <a:latin typeface="Calibri"/>
                <a:cs typeface="Calibri"/>
              </a:rPr>
              <a:t>[1]</a:t>
            </a:r>
            <a:endParaRPr sz="2700" baseline="-13888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949576" y="1911857"/>
            <a:ext cx="1409700" cy="1416685"/>
            <a:chOff x="1949576" y="1911857"/>
            <a:chExt cx="1409700" cy="1416685"/>
          </a:xfrm>
        </p:grpSpPr>
        <p:sp>
          <p:nvSpPr>
            <p:cNvPr id="52" name="object 52"/>
            <p:cNvSpPr/>
            <p:nvPr/>
          </p:nvSpPr>
          <p:spPr>
            <a:xfrm>
              <a:off x="1959101" y="1937765"/>
              <a:ext cx="1390650" cy="1381760"/>
            </a:xfrm>
            <a:custGeom>
              <a:avLst/>
              <a:gdLst/>
              <a:ahLst/>
              <a:cxnLst/>
              <a:rect l="l" t="t" r="r" b="b"/>
              <a:pathLst>
                <a:path w="1390650" h="1381760">
                  <a:moveTo>
                    <a:pt x="1389888" y="25908"/>
                  </a:moveTo>
                  <a:lnTo>
                    <a:pt x="1389888" y="1367155"/>
                  </a:lnTo>
                </a:path>
                <a:path w="1390650" h="1381760">
                  <a:moveTo>
                    <a:pt x="1390269" y="1367028"/>
                  </a:moveTo>
                  <a:lnTo>
                    <a:pt x="1182624" y="1367028"/>
                  </a:lnTo>
                </a:path>
                <a:path w="1390650" h="1381760">
                  <a:moveTo>
                    <a:pt x="685038" y="1368552"/>
                  </a:moveTo>
                  <a:lnTo>
                    <a:pt x="0" y="1368552"/>
                  </a:lnTo>
                </a:path>
                <a:path w="1390650" h="1381760">
                  <a:moveTo>
                    <a:pt x="0" y="0"/>
                  </a:moveTo>
                  <a:lnTo>
                    <a:pt x="0" y="1381252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5197" y="1911857"/>
              <a:ext cx="198754" cy="7620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2189479" y="1485138"/>
            <a:ext cx="822960" cy="88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aseline="1543" dirty="0">
                <a:latin typeface="Calibri"/>
                <a:cs typeface="Calibri"/>
              </a:rPr>
              <a:t>i[1]</a:t>
            </a:r>
            <a:r>
              <a:rPr sz="2700" spc="705" baseline="1543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o[1]</a:t>
            </a:r>
            <a:endParaRPr sz="18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85"/>
              </a:spcBef>
            </a:pPr>
            <a:r>
              <a:rPr sz="1800" dirty="0">
                <a:latin typeface="Calibri"/>
                <a:cs typeface="Calibri"/>
              </a:rPr>
              <a:t>i[0]</a:t>
            </a:r>
            <a:r>
              <a:rPr sz="1800" spc="4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o[0]</a:t>
            </a:r>
            <a:endParaRPr sz="180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210"/>
              </a:spcBef>
            </a:pPr>
            <a:r>
              <a:rPr sz="1800" spc="-25" dirty="0">
                <a:latin typeface="Calibri"/>
                <a:cs typeface="Calibri"/>
              </a:rPr>
              <a:t>PC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025901" y="1939289"/>
            <a:ext cx="508634" cy="76200"/>
          </a:xfrm>
          <a:custGeom>
            <a:avLst/>
            <a:gdLst/>
            <a:ahLst/>
            <a:cxnLst/>
            <a:rect l="l" t="t" r="r" b="b"/>
            <a:pathLst>
              <a:path w="508635" h="76200">
                <a:moveTo>
                  <a:pt x="432435" y="0"/>
                </a:moveTo>
                <a:lnTo>
                  <a:pt x="432435" y="76200"/>
                </a:lnTo>
                <a:lnTo>
                  <a:pt x="489585" y="47625"/>
                </a:lnTo>
                <a:lnTo>
                  <a:pt x="445135" y="47625"/>
                </a:lnTo>
                <a:lnTo>
                  <a:pt x="445135" y="28575"/>
                </a:lnTo>
                <a:lnTo>
                  <a:pt x="489585" y="28575"/>
                </a:lnTo>
                <a:lnTo>
                  <a:pt x="432435" y="0"/>
                </a:lnTo>
                <a:close/>
              </a:path>
              <a:path w="508635" h="76200">
                <a:moveTo>
                  <a:pt x="432435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432435" y="47625"/>
                </a:lnTo>
                <a:lnTo>
                  <a:pt x="432435" y="28575"/>
                </a:lnTo>
                <a:close/>
              </a:path>
              <a:path w="508635" h="76200">
                <a:moveTo>
                  <a:pt x="489585" y="28575"/>
                </a:moveTo>
                <a:lnTo>
                  <a:pt x="445135" y="28575"/>
                </a:lnTo>
                <a:lnTo>
                  <a:pt x="445135" y="47625"/>
                </a:lnTo>
                <a:lnTo>
                  <a:pt x="489585" y="47625"/>
                </a:lnTo>
                <a:lnTo>
                  <a:pt x="508635" y="38100"/>
                </a:lnTo>
                <a:lnTo>
                  <a:pt x="48958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901942" y="1369567"/>
            <a:ext cx="906780" cy="55689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6034" marR="5080" indent="-13970">
              <a:lnSpc>
                <a:spcPts val="2020"/>
              </a:lnSpc>
              <a:spcBef>
                <a:spcPts val="280"/>
              </a:spcBef>
            </a:pPr>
            <a:r>
              <a:rPr sz="1800" spc="-10" dirty="0">
                <a:latin typeface="Calibri"/>
                <a:cs typeface="Calibri"/>
              </a:rPr>
              <a:t>op_sel[1] op_sel[0]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7841742" y="1802129"/>
            <a:ext cx="1630680" cy="2436495"/>
            <a:chOff x="7841742" y="1802129"/>
            <a:chExt cx="1630680" cy="2436495"/>
          </a:xfrm>
        </p:grpSpPr>
        <p:sp>
          <p:nvSpPr>
            <p:cNvPr id="58" name="object 58"/>
            <p:cNvSpPr/>
            <p:nvPr/>
          </p:nvSpPr>
          <p:spPr>
            <a:xfrm>
              <a:off x="7841742" y="1812797"/>
              <a:ext cx="1593850" cy="0"/>
            </a:xfrm>
            <a:custGeom>
              <a:avLst/>
              <a:gdLst/>
              <a:ahLst/>
              <a:cxnLst/>
              <a:rect l="l" t="t" r="r" b="b"/>
              <a:pathLst>
                <a:path w="1593850">
                  <a:moveTo>
                    <a:pt x="0" y="0"/>
                  </a:moveTo>
                  <a:lnTo>
                    <a:pt x="1593596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396222" y="1802129"/>
              <a:ext cx="76200" cy="2436495"/>
            </a:xfrm>
            <a:custGeom>
              <a:avLst/>
              <a:gdLst/>
              <a:ahLst/>
              <a:cxnLst/>
              <a:rect l="l" t="t" r="r" b="b"/>
              <a:pathLst>
                <a:path w="76200" h="2436495">
                  <a:moveTo>
                    <a:pt x="28575" y="2359787"/>
                  </a:moveTo>
                  <a:lnTo>
                    <a:pt x="0" y="2359787"/>
                  </a:lnTo>
                  <a:lnTo>
                    <a:pt x="38100" y="2435987"/>
                  </a:lnTo>
                  <a:lnTo>
                    <a:pt x="69850" y="2372487"/>
                  </a:lnTo>
                  <a:lnTo>
                    <a:pt x="28575" y="2372487"/>
                  </a:lnTo>
                  <a:lnTo>
                    <a:pt x="28575" y="2359787"/>
                  </a:lnTo>
                  <a:close/>
                </a:path>
                <a:path w="76200" h="2436495">
                  <a:moveTo>
                    <a:pt x="47625" y="0"/>
                  </a:moveTo>
                  <a:lnTo>
                    <a:pt x="28575" y="0"/>
                  </a:lnTo>
                  <a:lnTo>
                    <a:pt x="28575" y="2372487"/>
                  </a:lnTo>
                  <a:lnTo>
                    <a:pt x="47625" y="2372487"/>
                  </a:lnTo>
                  <a:lnTo>
                    <a:pt x="47625" y="0"/>
                  </a:lnTo>
                  <a:close/>
                </a:path>
                <a:path w="76200" h="2436495">
                  <a:moveTo>
                    <a:pt x="76200" y="2359787"/>
                  </a:moveTo>
                  <a:lnTo>
                    <a:pt x="47625" y="2359787"/>
                  </a:lnTo>
                  <a:lnTo>
                    <a:pt x="47625" y="2372487"/>
                  </a:lnTo>
                  <a:lnTo>
                    <a:pt x="69850" y="2372487"/>
                  </a:lnTo>
                  <a:lnTo>
                    <a:pt x="76200" y="23597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490075" y="3551682"/>
            <a:ext cx="5638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alu[0]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027289" y="5606897"/>
            <a:ext cx="29991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Arithmetic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8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Logic</a:t>
            </a:r>
            <a:r>
              <a:rPr sz="18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Unit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(ALU)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683497" y="5106161"/>
            <a:ext cx="1892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b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153405" y="6403644"/>
            <a:ext cx="1776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Figure: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1-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CPU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1178" y="573151"/>
            <a:ext cx="25679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ALU</a:t>
            </a:r>
            <a:r>
              <a:rPr spc="-135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4073" y="1340865"/>
            <a:ext cx="3861435" cy="483171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459105" marR="450850" algn="ctr">
              <a:lnSpc>
                <a:spcPct val="70000"/>
              </a:lnSpc>
              <a:spcBef>
                <a:spcPts val="1040"/>
              </a:spcBef>
            </a:pPr>
            <a:r>
              <a:rPr sz="2600" b="1" dirty="0">
                <a:solidFill>
                  <a:srgbClr val="6F2F9F"/>
                </a:solidFill>
                <a:latin typeface="Calibri"/>
                <a:cs typeface="Calibri"/>
              </a:rPr>
              <a:t>Available</a:t>
            </a:r>
            <a:r>
              <a:rPr sz="2600" b="1" spc="-1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6F2F9F"/>
                </a:solidFill>
                <a:latin typeface="Calibri"/>
                <a:cs typeface="Calibri"/>
              </a:rPr>
              <a:t>Operations: </a:t>
            </a:r>
            <a:r>
              <a:rPr sz="2600" b="1" spc="-20" dirty="0">
                <a:latin typeface="Calibri"/>
                <a:cs typeface="Calibri"/>
              </a:rPr>
              <a:t>ADD,</a:t>
            </a:r>
            <a:endParaRPr sz="2600">
              <a:latin typeface="Calibri"/>
              <a:cs typeface="Calibri"/>
            </a:endParaRPr>
          </a:p>
          <a:p>
            <a:pPr marL="1597660" marR="1516380" indent="-72390" algn="ctr">
              <a:lnSpc>
                <a:spcPct val="70000"/>
              </a:lnSpc>
            </a:pPr>
            <a:r>
              <a:rPr sz="2600" b="1" spc="-20" dirty="0">
                <a:latin typeface="Calibri"/>
                <a:cs typeface="Calibri"/>
              </a:rPr>
              <a:t>SUB, MUL, AND, </a:t>
            </a:r>
            <a:r>
              <a:rPr sz="2600" b="1" spc="-25" dirty="0">
                <a:latin typeface="Calibri"/>
                <a:cs typeface="Calibri"/>
              </a:rPr>
              <a:t>OR, </a:t>
            </a:r>
            <a:r>
              <a:rPr sz="2600" b="1" spc="-20" dirty="0">
                <a:latin typeface="Calibri"/>
                <a:cs typeface="Calibri"/>
              </a:rPr>
              <a:t>XOR,</a:t>
            </a:r>
            <a:endParaRPr sz="2600">
              <a:latin typeface="Calibri"/>
              <a:cs typeface="Calibri"/>
            </a:endParaRPr>
          </a:p>
          <a:p>
            <a:pPr marL="1080770" marR="1072515" indent="-1270" algn="ctr">
              <a:lnSpc>
                <a:spcPct val="70000"/>
              </a:lnSpc>
              <a:spcBef>
                <a:spcPts val="5"/>
              </a:spcBef>
            </a:pPr>
            <a:r>
              <a:rPr sz="2600" b="1" dirty="0">
                <a:latin typeface="Calibri"/>
                <a:cs typeface="Calibri"/>
              </a:rPr>
              <a:t>LEFT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SHIFT, </a:t>
            </a:r>
            <a:r>
              <a:rPr sz="2600" b="1" dirty="0">
                <a:latin typeface="Calibri"/>
                <a:cs typeface="Calibri"/>
              </a:rPr>
              <a:t>RIGHT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SHIFT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ts val="2655"/>
              </a:lnSpc>
              <a:spcBef>
                <a:spcPts val="1245"/>
              </a:spcBef>
            </a:pPr>
            <a:r>
              <a:rPr sz="2600" b="1" dirty="0">
                <a:latin typeface="Calibri"/>
                <a:cs typeface="Calibri"/>
              </a:rPr>
              <a:t>All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operations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will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ts val="2655"/>
              </a:lnSpc>
            </a:pPr>
            <a:r>
              <a:rPr sz="2600" b="1" dirty="0">
                <a:latin typeface="Calibri"/>
                <a:cs typeface="Calibri"/>
              </a:rPr>
              <a:t>be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executed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at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the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same.</a:t>
            </a:r>
            <a:endParaRPr sz="2600">
              <a:latin typeface="Calibri"/>
              <a:cs typeface="Calibri"/>
            </a:endParaRPr>
          </a:p>
          <a:p>
            <a:pPr marL="12700" marR="5080" algn="ctr">
              <a:lnSpc>
                <a:spcPct val="70000"/>
              </a:lnSpc>
              <a:spcBef>
                <a:spcPts val="2185"/>
              </a:spcBef>
            </a:pPr>
            <a:r>
              <a:rPr sz="2600" b="1" dirty="0">
                <a:latin typeface="Calibri"/>
                <a:cs typeface="Calibri"/>
              </a:rPr>
              <a:t>Only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one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operation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must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be </a:t>
            </a:r>
            <a:r>
              <a:rPr sz="2600" b="1" dirty="0">
                <a:latin typeface="Calibri"/>
                <a:cs typeface="Calibri"/>
              </a:rPr>
              <a:t>selected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by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Control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Unit.</a:t>
            </a:r>
            <a:endParaRPr sz="2600">
              <a:latin typeface="Calibri"/>
              <a:cs typeface="Calibri"/>
            </a:endParaRPr>
          </a:p>
          <a:p>
            <a:pPr marL="1270" algn="ctr">
              <a:lnSpc>
                <a:spcPct val="100000"/>
              </a:lnSpc>
              <a:spcBef>
                <a:spcPts val="1015"/>
              </a:spcBef>
            </a:pPr>
            <a:r>
              <a:rPr sz="2600" b="1" spc="-35" dirty="0">
                <a:latin typeface="Calibri"/>
                <a:cs typeface="Calibri"/>
              </a:rPr>
              <a:t>Total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Operations: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50" dirty="0">
                <a:latin typeface="Calibri"/>
                <a:cs typeface="Calibri"/>
              </a:rPr>
              <a:t>8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 descr="Image result for alu symbo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9464" y="2407920"/>
            <a:ext cx="2091015" cy="268693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11070" y="2618358"/>
            <a:ext cx="2724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1229" y="4166742"/>
            <a:ext cx="254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94046" y="3404057"/>
            <a:ext cx="2552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Calibri"/>
                <a:cs typeface="Calibri"/>
              </a:rPr>
              <a:t>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0665" y="5077155"/>
            <a:ext cx="2184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861055" y="2129282"/>
            <a:ext cx="1220470" cy="3529329"/>
            <a:chOff x="2861055" y="2129282"/>
            <a:chExt cx="1220470" cy="3529329"/>
          </a:xfrm>
        </p:grpSpPr>
        <p:sp>
          <p:nvSpPr>
            <p:cNvPr id="10" name="object 10"/>
            <p:cNvSpPr/>
            <p:nvPr/>
          </p:nvSpPr>
          <p:spPr>
            <a:xfrm>
              <a:off x="3333495" y="2135632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627888" y="0"/>
                  </a:moveTo>
                  <a:lnTo>
                    <a:pt x="0" y="572388"/>
                  </a:lnTo>
                  <a:lnTo>
                    <a:pt x="741552" y="987170"/>
                  </a:lnTo>
                  <a:lnTo>
                    <a:pt x="627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33495" y="2135632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741552" y="987170"/>
                  </a:moveTo>
                  <a:lnTo>
                    <a:pt x="0" y="572388"/>
                  </a:lnTo>
                  <a:lnTo>
                    <a:pt x="627888" y="0"/>
                  </a:lnTo>
                  <a:lnTo>
                    <a:pt x="741552" y="98717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867405" y="4462145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1016889" y="0"/>
                  </a:moveTo>
                  <a:lnTo>
                    <a:pt x="0" y="620267"/>
                  </a:lnTo>
                  <a:lnTo>
                    <a:pt x="966596" y="1190053"/>
                  </a:lnTo>
                  <a:lnTo>
                    <a:pt x="10168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67405" y="4462145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0" y="620267"/>
                  </a:moveTo>
                  <a:lnTo>
                    <a:pt x="1016889" y="0"/>
                  </a:lnTo>
                  <a:lnTo>
                    <a:pt x="966596" y="1190053"/>
                  </a:lnTo>
                  <a:lnTo>
                    <a:pt x="0" y="62026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11244" y="2135886"/>
              <a:ext cx="142875" cy="780415"/>
            </a:xfrm>
            <a:custGeom>
              <a:avLst/>
              <a:gdLst/>
              <a:ahLst/>
              <a:cxnLst/>
              <a:rect l="l" t="t" r="r" b="b"/>
              <a:pathLst>
                <a:path w="142875" h="780414">
                  <a:moveTo>
                    <a:pt x="47625" y="637159"/>
                  </a:moveTo>
                  <a:lnTo>
                    <a:pt x="0" y="637159"/>
                  </a:lnTo>
                  <a:lnTo>
                    <a:pt x="71500" y="780034"/>
                  </a:lnTo>
                  <a:lnTo>
                    <a:pt x="130947" y="661035"/>
                  </a:lnTo>
                  <a:lnTo>
                    <a:pt x="47625" y="661035"/>
                  </a:lnTo>
                  <a:lnTo>
                    <a:pt x="47625" y="637159"/>
                  </a:lnTo>
                  <a:close/>
                </a:path>
                <a:path w="142875" h="780414">
                  <a:moveTo>
                    <a:pt x="95250" y="0"/>
                  </a:moveTo>
                  <a:lnTo>
                    <a:pt x="47625" y="0"/>
                  </a:lnTo>
                  <a:lnTo>
                    <a:pt x="47625" y="661035"/>
                  </a:lnTo>
                  <a:lnTo>
                    <a:pt x="95250" y="661035"/>
                  </a:lnTo>
                  <a:lnTo>
                    <a:pt x="95250" y="0"/>
                  </a:lnTo>
                  <a:close/>
                </a:path>
                <a:path w="142875" h="780414">
                  <a:moveTo>
                    <a:pt x="142875" y="637159"/>
                  </a:moveTo>
                  <a:lnTo>
                    <a:pt x="95250" y="637159"/>
                  </a:lnTo>
                  <a:lnTo>
                    <a:pt x="95250" y="661035"/>
                  </a:lnTo>
                  <a:lnTo>
                    <a:pt x="130947" y="661035"/>
                  </a:lnTo>
                  <a:lnTo>
                    <a:pt x="142875" y="637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50665" y="1605152"/>
            <a:ext cx="21780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03826" y="702690"/>
            <a:ext cx="37795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5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22668" y="1407617"/>
            <a:ext cx="3193415" cy="250126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065" marR="5080" algn="ctr">
              <a:lnSpc>
                <a:spcPts val="2690"/>
              </a:lnSpc>
              <a:spcBef>
                <a:spcPts val="745"/>
              </a:spcBef>
            </a:pP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Available</a:t>
            </a:r>
            <a:r>
              <a:rPr sz="2800" b="1" spc="-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6F2F9F"/>
                </a:solidFill>
                <a:latin typeface="Calibri"/>
                <a:cs typeface="Calibri"/>
              </a:rPr>
              <a:t>Operations: </a:t>
            </a:r>
            <a:r>
              <a:rPr sz="2800" b="1" spc="-20" dirty="0">
                <a:latin typeface="Calibri"/>
                <a:cs typeface="Calibri"/>
              </a:rPr>
              <a:t>ADD,</a:t>
            </a:r>
            <a:endParaRPr sz="2800">
              <a:latin typeface="Calibri"/>
              <a:cs typeface="Calibri"/>
            </a:endParaRPr>
          </a:p>
          <a:p>
            <a:pPr marL="1237615" marR="1154430" indent="-76200" algn="ctr">
              <a:lnSpc>
                <a:spcPct val="80000"/>
              </a:lnSpc>
              <a:spcBef>
                <a:spcPts val="25"/>
              </a:spcBef>
            </a:pPr>
            <a:r>
              <a:rPr sz="2800" b="1" spc="-20" dirty="0">
                <a:latin typeface="Calibri"/>
                <a:cs typeface="Calibri"/>
              </a:rPr>
              <a:t>SUB, MUL, AND, </a:t>
            </a:r>
            <a:r>
              <a:rPr sz="2800" b="1" spc="-25" dirty="0">
                <a:latin typeface="Calibri"/>
                <a:cs typeface="Calibri"/>
              </a:rPr>
              <a:t>OR, </a:t>
            </a:r>
            <a:r>
              <a:rPr sz="2800" b="1" spc="-20" dirty="0">
                <a:latin typeface="Calibri"/>
                <a:cs typeface="Calibri"/>
              </a:rPr>
              <a:t>XOR,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2897" y="3798189"/>
            <a:ext cx="4592955" cy="219329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381125" marR="1376045" algn="ctr">
              <a:lnSpc>
                <a:spcPts val="2690"/>
              </a:lnSpc>
              <a:spcBef>
                <a:spcPts val="740"/>
              </a:spcBef>
            </a:pPr>
            <a:r>
              <a:rPr sz="2800" b="1" dirty="0">
                <a:latin typeface="Calibri"/>
                <a:cs typeface="Calibri"/>
              </a:rPr>
              <a:t>LEFT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SHIFT, </a:t>
            </a:r>
            <a:r>
              <a:rPr sz="2800" b="1" dirty="0">
                <a:latin typeface="Calibri"/>
                <a:cs typeface="Calibri"/>
              </a:rPr>
              <a:t>RIGHT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SHIFT</a:t>
            </a:r>
            <a:endParaRPr sz="2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680"/>
              </a:spcBef>
            </a:pPr>
            <a:r>
              <a:rPr sz="2600" b="1" spc="-35" dirty="0">
                <a:latin typeface="Calibri"/>
                <a:cs typeface="Calibri"/>
              </a:rPr>
              <a:t>Total</a:t>
            </a:r>
            <a:r>
              <a:rPr sz="2600" b="1" spc="-9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Operations: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b="1" spc="-50" dirty="0">
                <a:latin typeface="Calibri"/>
                <a:cs typeface="Calibri"/>
              </a:rPr>
              <a:t>8</a:t>
            </a:r>
            <a:endParaRPr sz="2600">
              <a:latin typeface="Calibri"/>
              <a:cs typeface="Calibri"/>
            </a:endParaRPr>
          </a:p>
          <a:p>
            <a:pPr marL="12700" marR="5080" algn="ctr">
              <a:lnSpc>
                <a:spcPct val="100000"/>
              </a:lnSpc>
              <a:spcBef>
                <a:spcPts val="5"/>
              </a:spcBef>
            </a:pPr>
            <a:r>
              <a:rPr sz="2600" b="1" dirty="0">
                <a:latin typeface="Calibri"/>
                <a:cs typeface="Calibri"/>
              </a:rPr>
              <a:t>So,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selection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line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must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support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at </a:t>
            </a:r>
            <a:r>
              <a:rPr sz="2600" b="1" dirty="0">
                <a:latin typeface="Calibri"/>
                <a:cs typeface="Calibri"/>
              </a:rPr>
              <a:t>least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8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combinations.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5" name="object 5" descr="Image result for alu symbo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079" y="2647188"/>
            <a:ext cx="2092528" cy="26869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68955" y="2856941"/>
            <a:ext cx="272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8989" y="4405629"/>
            <a:ext cx="2540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51552" y="3643629"/>
            <a:ext cx="254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08552" y="5316728"/>
            <a:ext cx="21780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18814" y="1923923"/>
            <a:ext cx="1220470" cy="3973829"/>
            <a:chOff x="3218814" y="1923923"/>
            <a:chExt cx="1220470" cy="3973829"/>
          </a:xfrm>
        </p:grpSpPr>
        <p:sp>
          <p:nvSpPr>
            <p:cNvPr id="11" name="object 11"/>
            <p:cNvSpPr/>
            <p:nvPr/>
          </p:nvSpPr>
          <p:spPr>
            <a:xfrm>
              <a:off x="3691127" y="2374773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628014" y="0"/>
                  </a:moveTo>
                  <a:lnTo>
                    <a:pt x="0" y="572388"/>
                  </a:lnTo>
                  <a:lnTo>
                    <a:pt x="741680" y="987171"/>
                  </a:lnTo>
                  <a:lnTo>
                    <a:pt x="628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691127" y="2374773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741680" y="987171"/>
                  </a:moveTo>
                  <a:lnTo>
                    <a:pt x="0" y="572388"/>
                  </a:lnTo>
                  <a:lnTo>
                    <a:pt x="628014" y="0"/>
                  </a:lnTo>
                  <a:lnTo>
                    <a:pt x="741680" y="9871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25164" y="4701158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1016888" y="0"/>
                  </a:moveTo>
                  <a:lnTo>
                    <a:pt x="0" y="620395"/>
                  </a:lnTo>
                  <a:lnTo>
                    <a:pt x="966597" y="1190129"/>
                  </a:lnTo>
                  <a:lnTo>
                    <a:pt x="1016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25164" y="4701158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0" y="620395"/>
                  </a:moveTo>
                  <a:lnTo>
                    <a:pt x="1016888" y="0"/>
                  </a:lnTo>
                  <a:lnTo>
                    <a:pt x="966597" y="1190129"/>
                  </a:lnTo>
                  <a:lnTo>
                    <a:pt x="0" y="62039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86734" y="1923922"/>
              <a:ext cx="777875" cy="1375410"/>
            </a:xfrm>
            <a:custGeom>
              <a:avLst/>
              <a:gdLst/>
              <a:ahLst/>
              <a:cxnLst/>
              <a:rect l="l" t="t" r="r" b="b"/>
              <a:pathLst>
                <a:path w="777875" h="1375410">
                  <a:moveTo>
                    <a:pt x="76200" y="896112"/>
                  </a:moveTo>
                  <a:lnTo>
                    <a:pt x="50800" y="896112"/>
                  </a:lnTo>
                  <a:lnTo>
                    <a:pt x="50800" y="127"/>
                  </a:lnTo>
                  <a:lnTo>
                    <a:pt x="25400" y="127"/>
                  </a:lnTo>
                  <a:lnTo>
                    <a:pt x="25400" y="896112"/>
                  </a:lnTo>
                  <a:lnTo>
                    <a:pt x="0" y="896112"/>
                  </a:lnTo>
                  <a:lnTo>
                    <a:pt x="38100" y="972312"/>
                  </a:lnTo>
                  <a:lnTo>
                    <a:pt x="69850" y="908812"/>
                  </a:lnTo>
                  <a:lnTo>
                    <a:pt x="76200" y="896112"/>
                  </a:lnTo>
                  <a:close/>
                </a:path>
                <a:path w="777875" h="1375410">
                  <a:moveTo>
                    <a:pt x="431292" y="1086612"/>
                  </a:moveTo>
                  <a:lnTo>
                    <a:pt x="405892" y="1086612"/>
                  </a:lnTo>
                  <a:lnTo>
                    <a:pt x="405892" y="127"/>
                  </a:lnTo>
                  <a:lnTo>
                    <a:pt x="380492" y="127"/>
                  </a:lnTo>
                  <a:lnTo>
                    <a:pt x="380492" y="1086612"/>
                  </a:lnTo>
                  <a:lnTo>
                    <a:pt x="355092" y="1086612"/>
                  </a:lnTo>
                  <a:lnTo>
                    <a:pt x="393192" y="1162812"/>
                  </a:lnTo>
                  <a:lnTo>
                    <a:pt x="424942" y="1099312"/>
                  </a:lnTo>
                  <a:lnTo>
                    <a:pt x="431292" y="1086612"/>
                  </a:lnTo>
                  <a:close/>
                </a:path>
                <a:path w="777875" h="1375410">
                  <a:moveTo>
                    <a:pt x="777875" y="1299591"/>
                  </a:moveTo>
                  <a:lnTo>
                    <a:pt x="752449" y="1299337"/>
                  </a:lnTo>
                  <a:lnTo>
                    <a:pt x="764032" y="254"/>
                  </a:lnTo>
                  <a:lnTo>
                    <a:pt x="738632" y="0"/>
                  </a:lnTo>
                  <a:lnTo>
                    <a:pt x="727062" y="1298829"/>
                  </a:lnTo>
                  <a:lnTo>
                    <a:pt x="727049" y="1299083"/>
                  </a:lnTo>
                  <a:lnTo>
                    <a:pt x="701675" y="1298829"/>
                  </a:lnTo>
                  <a:lnTo>
                    <a:pt x="739140" y="1375410"/>
                  </a:lnTo>
                  <a:lnTo>
                    <a:pt x="771512" y="1312037"/>
                  </a:lnTo>
                  <a:lnTo>
                    <a:pt x="777875" y="12995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05453" y="1568322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60927" y="1580464"/>
            <a:ext cx="297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29353" y="1580464"/>
            <a:ext cx="297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899" rIns="0" bIns="0" rtlCol="0">
            <a:spAutoFit/>
          </a:bodyPr>
          <a:lstStyle/>
          <a:p>
            <a:pPr marL="877569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0" dirty="0"/>
              <a:t> </a:t>
            </a:r>
            <a:r>
              <a:rPr dirty="0"/>
              <a:t>ALU</a:t>
            </a:r>
            <a:r>
              <a:rPr spc="-55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78522" y="2185797"/>
            <a:ext cx="408622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336550">
              <a:lnSpc>
                <a:spcPts val="3020"/>
              </a:lnSpc>
              <a:spcBef>
                <a:spcPts val="480"/>
              </a:spcBef>
            </a:pPr>
            <a:r>
              <a:rPr sz="2800" b="1" dirty="0">
                <a:latin typeface="Calibri"/>
                <a:cs typeface="Calibri"/>
              </a:rPr>
              <a:t>We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will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need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MUX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to </a:t>
            </a:r>
            <a:r>
              <a:rPr sz="2800" b="1" dirty="0">
                <a:latin typeface="Calibri"/>
                <a:cs typeface="Calibri"/>
              </a:rPr>
              <a:t>select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our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expected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output.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36434" y="3338322"/>
            <a:ext cx="396811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 indent="-1270" algn="ctr">
              <a:lnSpc>
                <a:spcPct val="90000"/>
              </a:lnSpc>
              <a:spcBef>
                <a:spcPts val="430"/>
              </a:spcBef>
            </a:pPr>
            <a:r>
              <a:rPr sz="2800" b="1" dirty="0">
                <a:latin typeface="Calibri"/>
                <a:cs typeface="Calibri"/>
              </a:rPr>
              <a:t>As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there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are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eight </a:t>
            </a:r>
            <a:r>
              <a:rPr sz="2800" b="1" spc="-10" dirty="0">
                <a:latin typeface="Calibri"/>
                <a:cs typeface="Calibri"/>
              </a:rPr>
              <a:t>operations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in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total,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we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will </a:t>
            </a:r>
            <a:r>
              <a:rPr sz="2800" b="1" dirty="0">
                <a:latin typeface="Calibri"/>
                <a:cs typeface="Calibri"/>
              </a:rPr>
              <a:t>use</a:t>
            </a:r>
            <a:r>
              <a:rPr sz="2800" b="1" spc="-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8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MUX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 descr="Image result for alu symbol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1255" y="2743200"/>
            <a:ext cx="2091015" cy="268693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33877" y="2952953"/>
            <a:ext cx="2724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3910" y="4501641"/>
            <a:ext cx="1547495" cy="142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335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16473" y="3739641"/>
            <a:ext cx="25463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libri"/>
                <a:cs typeface="Calibri"/>
              </a:rPr>
              <a:t>R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83609" y="2019935"/>
            <a:ext cx="1220470" cy="3973829"/>
            <a:chOff x="3483609" y="2019935"/>
            <a:chExt cx="1220470" cy="3973829"/>
          </a:xfrm>
        </p:grpSpPr>
        <p:sp>
          <p:nvSpPr>
            <p:cNvPr id="10" name="object 10"/>
            <p:cNvSpPr/>
            <p:nvPr/>
          </p:nvSpPr>
          <p:spPr>
            <a:xfrm>
              <a:off x="3955922" y="2470658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628014" y="0"/>
                  </a:moveTo>
                  <a:lnTo>
                    <a:pt x="0" y="572388"/>
                  </a:lnTo>
                  <a:lnTo>
                    <a:pt x="741679" y="987170"/>
                  </a:lnTo>
                  <a:lnTo>
                    <a:pt x="628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55922" y="2470658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741679" y="987170"/>
                  </a:moveTo>
                  <a:lnTo>
                    <a:pt x="0" y="572388"/>
                  </a:lnTo>
                  <a:lnTo>
                    <a:pt x="628014" y="0"/>
                  </a:lnTo>
                  <a:lnTo>
                    <a:pt x="741679" y="98717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9959" y="4797170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1016888" y="0"/>
                  </a:moveTo>
                  <a:lnTo>
                    <a:pt x="0" y="620267"/>
                  </a:lnTo>
                  <a:lnTo>
                    <a:pt x="966469" y="1190028"/>
                  </a:lnTo>
                  <a:lnTo>
                    <a:pt x="1016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89959" y="4797170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0" y="620267"/>
                  </a:moveTo>
                  <a:lnTo>
                    <a:pt x="1016888" y="0"/>
                  </a:lnTo>
                  <a:lnTo>
                    <a:pt x="966469" y="1190028"/>
                  </a:lnTo>
                  <a:lnTo>
                    <a:pt x="0" y="62026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1910" y="2019934"/>
              <a:ext cx="777875" cy="1375410"/>
            </a:xfrm>
            <a:custGeom>
              <a:avLst/>
              <a:gdLst/>
              <a:ahLst/>
              <a:cxnLst/>
              <a:rect l="l" t="t" r="r" b="b"/>
              <a:pathLst>
                <a:path w="777875" h="1375410">
                  <a:moveTo>
                    <a:pt x="76200" y="896112"/>
                  </a:moveTo>
                  <a:lnTo>
                    <a:pt x="50800" y="896112"/>
                  </a:lnTo>
                  <a:lnTo>
                    <a:pt x="50800" y="127"/>
                  </a:lnTo>
                  <a:lnTo>
                    <a:pt x="25400" y="127"/>
                  </a:lnTo>
                  <a:lnTo>
                    <a:pt x="25400" y="896112"/>
                  </a:lnTo>
                  <a:lnTo>
                    <a:pt x="0" y="896112"/>
                  </a:lnTo>
                  <a:lnTo>
                    <a:pt x="38100" y="972312"/>
                  </a:lnTo>
                  <a:lnTo>
                    <a:pt x="69850" y="908812"/>
                  </a:lnTo>
                  <a:lnTo>
                    <a:pt x="76200" y="896112"/>
                  </a:lnTo>
                  <a:close/>
                </a:path>
                <a:path w="777875" h="1375410">
                  <a:moveTo>
                    <a:pt x="431292" y="1086612"/>
                  </a:moveTo>
                  <a:lnTo>
                    <a:pt x="405892" y="1086612"/>
                  </a:lnTo>
                  <a:lnTo>
                    <a:pt x="405892" y="127"/>
                  </a:lnTo>
                  <a:lnTo>
                    <a:pt x="380492" y="127"/>
                  </a:lnTo>
                  <a:lnTo>
                    <a:pt x="380492" y="1086612"/>
                  </a:lnTo>
                  <a:lnTo>
                    <a:pt x="355092" y="1086612"/>
                  </a:lnTo>
                  <a:lnTo>
                    <a:pt x="393192" y="1162812"/>
                  </a:lnTo>
                  <a:lnTo>
                    <a:pt x="424942" y="1099312"/>
                  </a:lnTo>
                  <a:lnTo>
                    <a:pt x="431292" y="1086612"/>
                  </a:lnTo>
                  <a:close/>
                </a:path>
                <a:path w="777875" h="1375410">
                  <a:moveTo>
                    <a:pt x="777875" y="1299591"/>
                  </a:moveTo>
                  <a:lnTo>
                    <a:pt x="752449" y="1299337"/>
                  </a:lnTo>
                  <a:lnTo>
                    <a:pt x="764032" y="254"/>
                  </a:lnTo>
                  <a:lnTo>
                    <a:pt x="738632" y="0"/>
                  </a:lnTo>
                  <a:lnTo>
                    <a:pt x="727062" y="1298829"/>
                  </a:lnTo>
                  <a:lnTo>
                    <a:pt x="727049" y="1299083"/>
                  </a:lnTo>
                  <a:lnTo>
                    <a:pt x="701675" y="1298829"/>
                  </a:lnTo>
                  <a:lnTo>
                    <a:pt x="739140" y="1375410"/>
                  </a:lnTo>
                  <a:lnTo>
                    <a:pt x="771512" y="1312037"/>
                  </a:lnTo>
                  <a:lnTo>
                    <a:pt x="777875" y="12995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770121" y="1664334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5721" y="1676780"/>
            <a:ext cx="297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06976" y="1676780"/>
            <a:ext cx="271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666" rIns="0" bIns="0" rtlCol="0">
            <a:spAutoFit/>
          </a:bodyPr>
          <a:lstStyle/>
          <a:p>
            <a:pPr marL="946150" algn="ctr">
              <a:lnSpc>
                <a:spcPts val="4655"/>
              </a:lnSpc>
              <a:spcBef>
                <a:spcPts val="100"/>
              </a:spcBef>
            </a:pPr>
            <a:r>
              <a:rPr spc="-10" dirty="0"/>
              <a:t>1-</a:t>
            </a:r>
            <a:r>
              <a:rPr dirty="0"/>
              <a:t>bit</a:t>
            </a:r>
            <a:r>
              <a:rPr spc="-75" dirty="0"/>
              <a:t> </a:t>
            </a:r>
            <a:r>
              <a:rPr dirty="0"/>
              <a:t>ALU</a:t>
            </a:r>
            <a:r>
              <a:rPr spc="-70" dirty="0"/>
              <a:t> </a:t>
            </a:r>
            <a:r>
              <a:rPr spc="-10" dirty="0"/>
              <a:t>Circuit</a:t>
            </a:r>
          </a:p>
          <a:p>
            <a:pPr marL="946150" marR="6985" algn="ctr">
              <a:lnSpc>
                <a:spcPts val="3215"/>
              </a:lnSpc>
            </a:pPr>
            <a:r>
              <a:rPr sz="3200" dirty="0"/>
              <a:t>8</a:t>
            </a:r>
            <a:r>
              <a:rPr sz="3200" spc="-35" dirty="0"/>
              <a:t> </a:t>
            </a:r>
            <a:r>
              <a:rPr sz="3200" dirty="0"/>
              <a:t>to</a:t>
            </a:r>
            <a:r>
              <a:rPr sz="3200" spc="-30" dirty="0"/>
              <a:t> </a:t>
            </a:r>
            <a:r>
              <a:rPr sz="3200" dirty="0"/>
              <a:t>1</a:t>
            </a:r>
            <a:r>
              <a:rPr sz="3200" spc="-30" dirty="0"/>
              <a:t> </a:t>
            </a:r>
            <a:r>
              <a:rPr sz="3200" spc="-25" dirty="0"/>
              <a:t>MUX</a:t>
            </a:r>
            <a:endParaRPr sz="3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49850" y="1691258"/>
          <a:ext cx="5181600" cy="3333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R="55943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943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18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𝐘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𝟑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𝟒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𝟓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𝟔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58229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816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𝟕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5129403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79922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28919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96075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45070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262746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62263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829418" y="5432552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081"/>
                </a:lnTo>
                <a:lnTo>
                  <a:pt x="255777" y="13081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91482" y="5377383"/>
            <a:ext cx="6885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𝐘</a:t>
            </a:r>
            <a:r>
              <a:rPr sz="2000" spc="105" dirty="0">
                <a:latin typeface="Cambria Math"/>
                <a:cs typeface="Cambria Math"/>
              </a:rPr>
              <a:t>  </a:t>
            </a: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105" dirty="0">
                <a:latin typeface="Cambria Math"/>
                <a:cs typeface="Cambria Math"/>
              </a:rPr>
              <a:t> 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𝐈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175" spc="375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𝐈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175" spc="397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5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𝐈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175" spc="375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9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𝐈</a:t>
            </a:r>
            <a:r>
              <a:rPr sz="2175" baseline="-15325" dirty="0">
                <a:latin typeface="Cambria Math"/>
                <a:cs typeface="Cambria Math"/>
              </a:rPr>
              <a:t>𝟑</a:t>
            </a:r>
            <a:r>
              <a:rPr sz="2175" spc="382" baseline="-15325" dirty="0">
                <a:latin typeface="Cambria Math"/>
                <a:cs typeface="Cambria Math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+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90590" y="5729668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8" y="0"/>
                </a:moveTo>
                <a:lnTo>
                  <a:pt x="0" y="0"/>
                </a:lnTo>
                <a:lnTo>
                  <a:pt x="0" y="13182"/>
                </a:lnTo>
                <a:lnTo>
                  <a:pt x="255778" y="13182"/>
                </a:lnTo>
                <a:lnTo>
                  <a:pt x="2557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39586" y="5729668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182"/>
                </a:lnTo>
                <a:lnTo>
                  <a:pt x="255777" y="13182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055739" y="5729668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182"/>
                </a:lnTo>
                <a:lnTo>
                  <a:pt x="255777" y="13182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972931" y="5729668"/>
            <a:ext cx="255904" cy="13335"/>
          </a:xfrm>
          <a:custGeom>
            <a:avLst/>
            <a:gdLst/>
            <a:ahLst/>
            <a:cxnLst/>
            <a:rect l="l" t="t" r="r" b="b"/>
            <a:pathLst>
              <a:path w="255904" h="13335">
                <a:moveTo>
                  <a:pt x="255777" y="0"/>
                </a:moveTo>
                <a:lnTo>
                  <a:pt x="0" y="0"/>
                </a:lnTo>
                <a:lnTo>
                  <a:pt x="0" y="13182"/>
                </a:lnTo>
                <a:lnTo>
                  <a:pt x="255777" y="13182"/>
                </a:lnTo>
                <a:lnTo>
                  <a:pt x="2557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102605" y="5674563"/>
            <a:ext cx="60299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𝐈</a:t>
            </a:r>
            <a:r>
              <a:rPr sz="2175" baseline="-15325" dirty="0">
                <a:latin typeface="Cambria Math"/>
                <a:cs typeface="Cambria Math"/>
              </a:rPr>
              <a:t>𝟒</a:t>
            </a:r>
            <a:r>
              <a:rPr sz="2175" spc="412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𝐈</a:t>
            </a:r>
            <a:r>
              <a:rPr sz="2175" baseline="-15325" dirty="0">
                <a:latin typeface="Cambria Math"/>
                <a:cs typeface="Cambria Math"/>
              </a:rPr>
              <a:t>𝟓</a:t>
            </a:r>
            <a:r>
              <a:rPr sz="2175" spc="427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𝐈</a:t>
            </a:r>
            <a:r>
              <a:rPr sz="2175" baseline="-15325" dirty="0">
                <a:latin typeface="Cambria Math"/>
                <a:cs typeface="Cambria Math"/>
              </a:rPr>
              <a:t>𝟔</a:t>
            </a:r>
            <a:r>
              <a:rPr sz="2175" spc="405" baseline="-1532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+</a:t>
            </a:r>
            <a:r>
              <a:rPr sz="2000" spc="80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𝟐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7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𝟏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6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𝐒</a:t>
            </a:r>
            <a:r>
              <a:rPr sz="2175" baseline="-15325" dirty="0">
                <a:latin typeface="Cambria Math"/>
                <a:cs typeface="Cambria Math"/>
              </a:rPr>
              <a:t>𝟎</a:t>
            </a:r>
            <a:r>
              <a:rPr sz="2000" dirty="0">
                <a:latin typeface="Cambria Math"/>
                <a:cs typeface="Cambria Math"/>
              </a:rPr>
              <a:t>.</a:t>
            </a:r>
            <a:r>
              <a:rPr sz="2000" spc="-80" dirty="0">
                <a:latin typeface="Cambria Math"/>
                <a:cs typeface="Cambria Math"/>
              </a:rPr>
              <a:t> </a:t>
            </a:r>
            <a:r>
              <a:rPr sz="2000" spc="-25" dirty="0">
                <a:latin typeface="Cambria Math"/>
                <a:cs typeface="Cambria Math"/>
              </a:rPr>
              <a:t>𝐈</a:t>
            </a:r>
            <a:r>
              <a:rPr sz="2175" spc="-37" baseline="-15325" dirty="0">
                <a:latin typeface="Cambria Math"/>
                <a:cs typeface="Cambria Math"/>
              </a:rPr>
              <a:t>𝟕</a:t>
            </a:r>
            <a:endParaRPr sz="2175" baseline="-15325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5945" y="1399794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63089" y="1700022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578863" y="1506982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863089" y="22273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63089" y="275310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63089" y="33428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63089" y="388086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63089" y="444474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61566" y="50086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61566" y="54886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01746" y="36598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5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094734" y="3477259"/>
            <a:ext cx="18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72133" y="203923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78863" y="255003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78863" y="3160267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72133" y="3682745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68830" y="4292600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𝟓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52321" y="479920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𝟔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42541" y="5363057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𝟕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143250" y="861822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552064" y="549909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928366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655570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899" rIns="0" bIns="0" rtlCol="0">
            <a:spAutoFit/>
          </a:bodyPr>
          <a:lstStyle/>
          <a:p>
            <a:pPr marL="877569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0" dirty="0"/>
              <a:t> </a:t>
            </a:r>
            <a:r>
              <a:rPr dirty="0"/>
              <a:t>ALU</a:t>
            </a:r>
            <a:r>
              <a:rPr spc="-55" dirty="0"/>
              <a:t> </a:t>
            </a:r>
            <a:r>
              <a:rPr spc="-10" dirty="0"/>
              <a:t>Circuit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041391" y="2030476"/>
          <a:ext cx="4604385" cy="333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Operation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63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098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𝐎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XOR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𝟑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𝟒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ADD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𝟓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SUB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𝟔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MUL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𝟕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45257" y="1669542"/>
            <a:ext cx="685800" cy="4343400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0877" y="196824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07286" y="1775536"/>
            <a:ext cx="260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7094" dirty="0">
                <a:latin typeface="Cambria Math"/>
                <a:cs typeface="Cambria Math"/>
              </a:rPr>
              <a:t>𝟎</a:t>
            </a:r>
            <a:endParaRPr sz="1950" baseline="-17094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90877" y="2495550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0877" y="3021329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0877" y="3611117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0877" y="4149090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0877" y="47144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9354" y="5278373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89354" y="575843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4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31057" y="392963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5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5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23157" y="3746372"/>
            <a:ext cx="18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0810" y="2308352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7286" y="2819146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7286" y="3429380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0810" y="3951858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7253" y="456171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𝟓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0997" y="5068316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𝟔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0964" y="5632196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𝟕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71038" y="11300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80488" y="819150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4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35" dirty="0">
                <a:latin typeface="Cambria Math"/>
                <a:cs typeface="Cambria Math"/>
              </a:rPr>
              <a:t>𝐒</a:t>
            </a:r>
            <a:r>
              <a:rPr sz="1950" spc="-52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56154" y="1133094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84882" y="1133094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04053" y="5631891"/>
            <a:ext cx="2011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𝐀𝐃𝐃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𝐒𝐔𝐁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69833" y="5677306"/>
            <a:ext cx="3585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𝐋𝐄𝐅𝐓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𝐒𝐇𝐈𝐅𝐓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9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𝐑𝐈𝐆𝐇𝐓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𝐒𝐇𝐈𝐅𝐓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531485" y="4516373"/>
            <a:ext cx="2171065" cy="1460500"/>
          </a:xfrm>
          <a:custGeom>
            <a:avLst/>
            <a:gdLst/>
            <a:ahLst/>
            <a:cxnLst/>
            <a:rect l="l" t="t" r="r" b="b"/>
            <a:pathLst>
              <a:path w="2171065" h="1460500">
                <a:moveTo>
                  <a:pt x="2141982" y="0"/>
                </a:moveTo>
                <a:lnTo>
                  <a:pt x="2035556" y="2921"/>
                </a:lnTo>
                <a:lnTo>
                  <a:pt x="2050567" y="30962"/>
                </a:lnTo>
                <a:lnTo>
                  <a:pt x="0" y="1127734"/>
                </a:lnTo>
                <a:lnTo>
                  <a:pt x="14986" y="1155738"/>
                </a:lnTo>
                <a:lnTo>
                  <a:pt x="2065528" y="58915"/>
                </a:lnTo>
                <a:lnTo>
                  <a:pt x="2080514" y="86868"/>
                </a:lnTo>
                <a:lnTo>
                  <a:pt x="2125345" y="23495"/>
                </a:lnTo>
                <a:lnTo>
                  <a:pt x="2141982" y="0"/>
                </a:lnTo>
                <a:close/>
              </a:path>
              <a:path w="2171065" h="1460500">
                <a:moveTo>
                  <a:pt x="2171065" y="348996"/>
                </a:moveTo>
                <a:lnTo>
                  <a:pt x="2064639" y="349631"/>
                </a:lnTo>
                <a:lnTo>
                  <a:pt x="2078951" y="377888"/>
                </a:lnTo>
                <a:lnTo>
                  <a:pt x="254" y="1431950"/>
                </a:lnTo>
                <a:lnTo>
                  <a:pt x="14732" y="1460258"/>
                </a:lnTo>
                <a:lnTo>
                  <a:pt x="2093302" y="406209"/>
                </a:lnTo>
                <a:lnTo>
                  <a:pt x="2107692" y="434594"/>
                </a:lnTo>
                <a:lnTo>
                  <a:pt x="2154974" y="370713"/>
                </a:lnTo>
                <a:lnTo>
                  <a:pt x="2171065" y="348996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899" rIns="0" bIns="0" rtlCol="0">
            <a:spAutoFit/>
          </a:bodyPr>
          <a:lstStyle/>
          <a:p>
            <a:pPr marL="877569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0" dirty="0"/>
              <a:t> </a:t>
            </a:r>
            <a:r>
              <a:rPr dirty="0"/>
              <a:t>ALU</a:t>
            </a:r>
            <a:r>
              <a:rPr spc="-55" dirty="0"/>
              <a:t> </a:t>
            </a:r>
            <a:r>
              <a:rPr spc="-10" dirty="0"/>
              <a:t>Circuit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041391" y="2030476"/>
          <a:ext cx="4604385" cy="333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6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Operation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463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098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50" dirty="0">
                          <a:latin typeface="Cambria Math"/>
                          <a:cs typeface="Cambria Math"/>
                        </a:rPr>
                        <a:t>𝐎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XOR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𝟑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𝟒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ADD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𝟓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SUB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𝟔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MUL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686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19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82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𝟕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445257" y="1669542"/>
            <a:ext cx="685800" cy="4343400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90877" y="196824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07286" y="1775536"/>
            <a:ext cx="2603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7094" dirty="0">
                <a:latin typeface="Cambria Math"/>
                <a:cs typeface="Cambria Math"/>
              </a:rPr>
              <a:t>𝟎</a:t>
            </a:r>
            <a:endParaRPr sz="1950" baseline="-17094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690877" y="2495550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0877" y="3021329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90877" y="3611117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90877" y="4149090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90877" y="47144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89354" y="5278373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89354" y="575843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4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31057" y="392963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5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5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923157" y="3746372"/>
            <a:ext cx="18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0810" y="2308352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7286" y="2819146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07286" y="3429380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00810" y="3951858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7253" y="456171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𝟓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0997" y="5068316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𝟔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70964" y="5632196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𝟕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71038" y="11300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380488" y="819150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4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35" dirty="0">
                <a:latin typeface="Cambria Math"/>
                <a:cs typeface="Cambria Math"/>
              </a:rPr>
              <a:t>𝐒</a:t>
            </a:r>
            <a:r>
              <a:rPr sz="1950" spc="-52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56154" y="1133094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84882" y="1133094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04053" y="5631891"/>
            <a:ext cx="2011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𝐀𝐃𝐃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𝐒𝐔𝐁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069833" y="5677306"/>
            <a:ext cx="3585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𝐋𝐄𝐅𝐓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𝐒𝐇𝐈𝐅𝐓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9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𝐑𝐈𝐆𝐇𝐓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𝐒𝐇𝐈𝐅𝐓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148321" y="3733038"/>
            <a:ext cx="2232660" cy="2284730"/>
            <a:chOff x="7148321" y="3733038"/>
            <a:chExt cx="2232660" cy="2284730"/>
          </a:xfrm>
        </p:grpSpPr>
        <p:sp>
          <p:nvSpPr>
            <p:cNvPr id="30" name="object 30"/>
            <p:cNvSpPr/>
            <p:nvPr/>
          </p:nvSpPr>
          <p:spPr>
            <a:xfrm>
              <a:off x="7192518" y="3733037"/>
              <a:ext cx="2146935" cy="2002155"/>
            </a:xfrm>
            <a:custGeom>
              <a:avLst/>
              <a:gdLst/>
              <a:ahLst/>
              <a:cxnLst/>
              <a:rect l="l" t="t" r="r" b="b"/>
              <a:pathLst>
                <a:path w="2146934" h="2002154">
                  <a:moveTo>
                    <a:pt x="1280160" y="1984082"/>
                  </a:moveTo>
                  <a:lnTo>
                    <a:pt x="64541" y="71869"/>
                  </a:lnTo>
                  <a:lnTo>
                    <a:pt x="85712" y="58420"/>
                  </a:lnTo>
                  <a:lnTo>
                    <a:pt x="91313" y="54864"/>
                  </a:lnTo>
                  <a:lnTo>
                    <a:pt x="0" y="0"/>
                  </a:lnTo>
                  <a:lnTo>
                    <a:pt x="10922" y="105918"/>
                  </a:lnTo>
                  <a:lnTo>
                    <a:pt x="37744" y="88887"/>
                  </a:lnTo>
                  <a:lnTo>
                    <a:pt x="1253490" y="2001113"/>
                  </a:lnTo>
                  <a:lnTo>
                    <a:pt x="1280160" y="1984082"/>
                  </a:lnTo>
                  <a:close/>
                </a:path>
                <a:path w="2146934" h="2002154">
                  <a:moveTo>
                    <a:pt x="2146427" y="1983270"/>
                  </a:moveTo>
                  <a:lnTo>
                    <a:pt x="754557" y="67716"/>
                  </a:lnTo>
                  <a:lnTo>
                    <a:pt x="772236" y="54864"/>
                  </a:lnTo>
                  <a:lnTo>
                    <a:pt x="780288" y="49022"/>
                  </a:lnTo>
                  <a:lnTo>
                    <a:pt x="685800" y="0"/>
                  </a:lnTo>
                  <a:lnTo>
                    <a:pt x="703199" y="105029"/>
                  </a:lnTo>
                  <a:lnTo>
                    <a:pt x="728891" y="86360"/>
                  </a:lnTo>
                  <a:lnTo>
                    <a:pt x="2120773" y="2001926"/>
                  </a:lnTo>
                  <a:lnTo>
                    <a:pt x="2146427" y="198327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48322" y="4115561"/>
              <a:ext cx="2232660" cy="1902460"/>
            </a:xfrm>
            <a:custGeom>
              <a:avLst/>
              <a:gdLst/>
              <a:ahLst/>
              <a:cxnLst/>
              <a:rect l="l" t="t" r="r" b="b"/>
              <a:pathLst>
                <a:path w="2232659" h="1902460">
                  <a:moveTo>
                    <a:pt x="1531874" y="1882330"/>
                  </a:moveTo>
                  <a:lnTo>
                    <a:pt x="72034" y="64325"/>
                  </a:lnTo>
                  <a:lnTo>
                    <a:pt x="87439" y="51943"/>
                  </a:lnTo>
                  <a:lnTo>
                    <a:pt x="96774" y="44450"/>
                  </a:lnTo>
                  <a:lnTo>
                    <a:pt x="0" y="0"/>
                  </a:lnTo>
                  <a:lnTo>
                    <a:pt x="22479" y="104140"/>
                  </a:lnTo>
                  <a:lnTo>
                    <a:pt x="47256" y="84239"/>
                  </a:lnTo>
                  <a:lnTo>
                    <a:pt x="1507236" y="1902206"/>
                  </a:lnTo>
                  <a:lnTo>
                    <a:pt x="1531874" y="1882330"/>
                  </a:lnTo>
                  <a:close/>
                </a:path>
                <a:path w="2232659" h="1902460">
                  <a:moveTo>
                    <a:pt x="2232660" y="1882368"/>
                  </a:moveTo>
                  <a:lnTo>
                    <a:pt x="783463" y="64630"/>
                  </a:lnTo>
                  <a:lnTo>
                    <a:pt x="799084" y="52197"/>
                  </a:lnTo>
                  <a:lnTo>
                    <a:pt x="808355" y="44831"/>
                  </a:lnTo>
                  <a:lnTo>
                    <a:pt x="711708" y="0"/>
                  </a:lnTo>
                  <a:lnTo>
                    <a:pt x="733806" y="104140"/>
                  </a:lnTo>
                  <a:lnTo>
                    <a:pt x="758647" y="84378"/>
                  </a:lnTo>
                  <a:lnTo>
                    <a:pt x="2207768" y="1902167"/>
                  </a:lnTo>
                  <a:lnTo>
                    <a:pt x="2232660" y="188236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922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00793" y="1540002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95538" y="1794764"/>
            <a:ext cx="902969" cy="76200"/>
          </a:xfrm>
          <a:custGeom>
            <a:avLst/>
            <a:gdLst/>
            <a:ahLst/>
            <a:cxnLst/>
            <a:rect l="l" t="t" r="r" b="b"/>
            <a:pathLst>
              <a:path w="902970" h="76200">
                <a:moveTo>
                  <a:pt x="826388" y="0"/>
                </a:moveTo>
                <a:lnTo>
                  <a:pt x="826473" y="25311"/>
                </a:lnTo>
                <a:lnTo>
                  <a:pt x="826558" y="50711"/>
                </a:lnTo>
                <a:lnTo>
                  <a:pt x="826642" y="76200"/>
                </a:lnTo>
                <a:lnTo>
                  <a:pt x="877197" y="50711"/>
                </a:lnTo>
                <a:lnTo>
                  <a:pt x="839343" y="50711"/>
                </a:lnTo>
                <a:lnTo>
                  <a:pt x="839228" y="27812"/>
                </a:lnTo>
                <a:lnTo>
                  <a:pt x="839216" y="25311"/>
                </a:lnTo>
                <a:lnTo>
                  <a:pt x="877436" y="25311"/>
                </a:lnTo>
                <a:lnTo>
                  <a:pt x="826388" y="0"/>
                </a:lnTo>
                <a:close/>
              </a:path>
              <a:path w="902970" h="76200">
                <a:moveTo>
                  <a:pt x="826473" y="25311"/>
                </a:moveTo>
                <a:lnTo>
                  <a:pt x="0" y="27812"/>
                </a:lnTo>
                <a:lnTo>
                  <a:pt x="0" y="53212"/>
                </a:lnTo>
                <a:lnTo>
                  <a:pt x="826558" y="50711"/>
                </a:lnTo>
                <a:lnTo>
                  <a:pt x="826473" y="25311"/>
                </a:lnTo>
                <a:close/>
              </a:path>
              <a:path w="902970" h="76200">
                <a:moveTo>
                  <a:pt x="877436" y="25311"/>
                </a:moveTo>
                <a:lnTo>
                  <a:pt x="839216" y="25311"/>
                </a:lnTo>
                <a:lnTo>
                  <a:pt x="839228" y="27812"/>
                </a:lnTo>
                <a:lnTo>
                  <a:pt x="839343" y="50711"/>
                </a:lnTo>
                <a:lnTo>
                  <a:pt x="877197" y="50711"/>
                </a:lnTo>
                <a:lnTo>
                  <a:pt x="902715" y="37846"/>
                </a:lnTo>
                <a:lnTo>
                  <a:pt x="877436" y="2531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86593" y="38000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5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79963" y="361772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28097" y="1002030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22054" y="340359"/>
            <a:ext cx="883285" cy="6496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  <a:tabLst>
                <a:tab pos="310515" algn="l"/>
                <a:tab pos="63627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53340">
              <a:lnSpc>
                <a:spcPct val="100000"/>
              </a:lnSpc>
              <a:spcBef>
                <a:spcPts val="3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684257" y="100355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40418" y="100355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934210" y="1182877"/>
            <a:ext cx="5771515" cy="4972685"/>
            <a:chOff x="1934210" y="1182877"/>
            <a:chExt cx="5771515" cy="4972685"/>
          </a:xfrm>
        </p:grpSpPr>
        <p:sp>
          <p:nvSpPr>
            <p:cNvPr id="12" name="object 12"/>
            <p:cNvSpPr/>
            <p:nvPr/>
          </p:nvSpPr>
          <p:spPr>
            <a:xfrm>
              <a:off x="1946910" y="1614042"/>
              <a:ext cx="5758815" cy="324485"/>
            </a:xfrm>
            <a:custGeom>
              <a:avLst/>
              <a:gdLst/>
              <a:ahLst/>
              <a:cxnLst/>
              <a:rect l="l" t="t" r="r" b="b"/>
              <a:pathLst>
                <a:path w="5758815" h="324485">
                  <a:moveTo>
                    <a:pt x="5758180" y="286131"/>
                  </a:moveTo>
                  <a:lnTo>
                    <a:pt x="5732602" y="273304"/>
                  </a:lnTo>
                  <a:lnTo>
                    <a:pt x="5681980" y="247904"/>
                  </a:lnTo>
                  <a:lnTo>
                    <a:pt x="5681929" y="273304"/>
                  </a:lnTo>
                  <a:lnTo>
                    <a:pt x="294132" y="268351"/>
                  </a:lnTo>
                  <a:lnTo>
                    <a:pt x="294132" y="293751"/>
                  </a:lnTo>
                  <a:lnTo>
                    <a:pt x="5681891" y="298704"/>
                  </a:lnTo>
                  <a:lnTo>
                    <a:pt x="5681853" y="324104"/>
                  </a:lnTo>
                  <a:lnTo>
                    <a:pt x="5732907" y="298704"/>
                  </a:lnTo>
                  <a:lnTo>
                    <a:pt x="5758180" y="286131"/>
                  </a:lnTo>
                  <a:close/>
                </a:path>
                <a:path w="5758815" h="324485">
                  <a:moveTo>
                    <a:pt x="5758434" y="38227"/>
                  </a:moveTo>
                  <a:lnTo>
                    <a:pt x="5733110" y="25527"/>
                  </a:lnTo>
                  <a:lnTo>
                    <a:pt x="5682234" y="0"/>
                  </a:lnTo>
                  <a:lnTo>
                    <a:pt x="5682183" y="25514"/>
                  </a:lnTo>
                  <a:lnTo>
                    <a:pt x="0" y="16891"/>
                  </a:lnTo>
                  <a:lnTo>
                    <a:pt x="0" y="42291"/>
                  </a:lnTo>
                  <a:lnTo>
                    <a:pt x="5682145" y="50914"/>
                  </a:lnTo>
                  <a:lnTo>
                    <a:pt x="5682107" y="76200"/>
                  </a:lnTo>
                  <a:lnTo>
                    <a:pt x="5732894" y="50927"/>
                  </a:lnTo>
                  <a:lnTo>
                    <a:pt x="5758434" y="382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46910" y="1195577"/>
              <a:ext cx="294640" cy="4947285"/>
            </a:xfrm>
            <a:custGeom>
              <a:avLst/>
              <a:gdLst/>
              <a:ahLst/>
              <a:cxnLst/>
              <a:rect l="l" t="t" r="r" b="b"/>
              <a:pathLst>
                <a:path w="294639" h="4947285">
                  <a:moveTo>
                    <a:pt x="0" y="0"/>
                  </a:moveTo>
                  <a:lnTo>
                    <a:pt x="0" y="4947183"/>
                  </a:lnTo>
                </a:path>
                <a:path w="294639" h="4947285">
                  <a:moveTo>
                    <a:pt x="294131" y="10668"/>
                  </a:moveTo>
                  <a:lnTo>
                    <a:pt x="294131" y="494698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06106" y="1540002"/>
            <a:ext cx="789940" cy="53340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285"/>
              </a:spcBef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5652" y="700786"/>
            <a:ext cx="60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114" dirty="0">
                <a:latin typeface="Calibri"/>
                <a:cs typeface="Calibri"/>
              </a:rPr>
              <a:t> </a:t>
            </a:r>
            <a:r>
              <a:rPr sz="4800" b="1" spc="-75" baseline="1736" dirty="0">
                <a:latin typeface="Calibri"/>
                <a:cs typeface="Calibri"/>
              </a:rPr>
              <a:t>B</a:t>
            </a:r>
            <a:endParaRPr sz="4800" baseline="1736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889505" y="1595374"/>
            <a:ext cx="410845" cy="342265"/>
            <a:chOff x="1889505" y="1595374"/>
            <a:chExt cx="410845" cy="342265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1595374"/>
              <a:ext cx="111760" cy="889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8209" y="1848358"/>
              <a:ext cx="111759" cy="88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14417" y="196342"/>
            <a:ext cx="37801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00793" y="1540002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20917" y="2960370"/>
            <a:ext cx="3580129" cy="76200"/>
          </a:xfrm>
          <a:custGeom>
            <a:avLst/>
            <a:gdLst/>
            <a:ahLst/>
            <a:cxnLst/>
            <a:rect l="l" t="t" r="r" b="b"/>
            <a:pathLst>
              <a:path w="3580129" h="76200">
                <a:moveTo>
                  <a:pt x="3503422" y="0"/>
                </a:moveTo>
                <a:lnTo>
                  <a:pt x="3503422" y="76200"/>
                </a:lnTo>
                <a:lnTo>
                  <a:pt x="3554222" y="50800"/>
                </a:lnTo>
                <a:lnTo>
                  <a:pt x="3516122" y="50800"/>
                </a:lnTo>
                <a:lnTo>
                  <a:pt x="3516122" y="25400"/>
                </a:lnTo>
                <a:lnTo>
                  <a:pt x="3554222" y="25400"/>
                </a:lnTo>
                <a:lnTo>
                  <a:pt x="3503422" y="0"/>
                </a:lnTo>
                <a:close/>
              </a:path>
              <a:path w="3580129" h="76200">
                <a:moveTo>
                  <a:pt x="350342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503422" y="50800"/>
                </a:lnTo>
                <a:lnTo>
                  <a:pt x="3503422" y="25400"/>
                </a:lnTo>
                <a:close/>
              </a:path>
              <a:path w="3580129" h="76200">
                <a:moveTo>
                  <a:pt x="3554222" y="25400"/>
                </a:moveTo>
                <a:lnTo>
                  <a:pt x="3516122" y="25400"/>
                </a:lnTo>
                <a:lnTo>
                  <a:pt x="3516122" y="50800"/>
                </a:lnTo>
                <a:lnTo>
                  <a:pt x="3554222" y="50800"/>
                </a:lnTo>
                <a:lnTo>
                  <a:pt x="3579622" y="38100"/>
                </a:lnTo>
                <a:lnTo>
                  <a:pt x="3554222" y="25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946910" y="1527302"/>
            <a:ext cx="7451725" cy="948690"/>
            <a:chOff x="1946910" y="1527302"/>
            <a:chExt cx="7451725" cy="948690"/>
          </a:xfrm>
        </p:grpSpPr>
        <p:sp>
          <p:nvSpPr>
            <p:cNvPr id="6" name="object 6"/>
            <p:cNvSpPr/>
            <p:nvPr/>
          </p:nvSpPr>
          <p:spPr>
            <a:xfrm>
              <a:off x="7425690" y="1794763"/>
              <a:ext cx="1972945" cy="681355"/>
            </a:xfrm>
            <a:custGeom>
              <a:avLst/>
              <a:gdLst/>
              <a:ahLst/>
              <a:cxnLst/>
              <a:rect l="l" t="t" r="r" b="b"/>
              <a:pathLst>
                <a:path w="1972945" h="681355">
                  <a:moveTo>
                    <a:pt x="1972564" y="37846"/>
                  </a:moveTo>
                  <a:lnTo>
                    <a:pt x="1947278" y="25323"/>
                  </a:lnTo>
                  <a:lnTo>
                    <a:pt x="1896237" y="0"/>
                  </a:lnTo>
                  <a:lnTo>
                    <a:pt x="1896313" y="25323"/>
                  </a:lnTo>
                  <a:lnTo>
                    <a:pt x="1069848" y="27813"/>
                  </a:lnTo>
                  <a:lnTo>
                    <a:pt x="1069848" y="53213"/>
                  </a:lnTo>
                  <a:lnTo>
                    <a:pt x="1896402" y="50723"/>
                  </a:lnTo>
                  <a:lnTo>
                    <a:pt x="1896491" y="76200"/>
                  </a:lnTo>
                  <a:lnTo>
                    <a:pt x="1947037" y="50723"/>
                  </a:lnTo>
                  <a:lnTo>
                    <a:pt x="1972564" y="37846"/>
                  </a:lnTo>
                  <a:close/>
                </a:path>
                <a:path w="1972945" h="681355">
                  <a:moveTo>
                    <a:pt x="1972945" y="642874"/>
                  </a:moveTo>
                  <a:lnTo>
                    <a:pt x="1947545" y="630174"/>
                  </a:lnTo>
                  <a:lnTo>
                    <a:pt x="1896745" y="604774"/>
                  </a:lnTo>
                  <a:lnTo>
                    <a:pt x="1896745" y="630174"/>
                  </a:lnTo>
                  <a:lnTo>
                    <a:pt x="0" y="630174"/>
                  </a:lnTo>
                  <a:lnTo>
                    <a:pt x="0" y="655574"/>
                  </a:lnTo>
                  <a:lnTo>
                    <a:pt x="1896745" y="655574"/>
                  </a:lnTo>
                  <a:lnTo>
                    <a:pt x="1896745" y="680974"/>
                  </a:lnTo>
                  <a:lnTo>
                    <a:pt x="1947545" y="655574"/>
                  </a:lnTo>
                  <a:lnTo>
                    <a:pt x="1972945" y="6428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06106" y="1540002"/>
              <a:ext cx="789940" cy="533400"/>
            </a:xfrm>
            <a:custGeom>
              <a:avLst/>
              <a:gdLst/>
              <a:ahLst/>
              <a:cxnLst/>
              <a:rect l="l" t="t" r="r" b="b"/>
              <a:pathLst>
                <a:path w="789940" h="533400">
                  <a:moveTo>
                    <a:pt x="0" y="533400"/>
                  </a:moveTo>
                  <a:lnTo>
                    <a:pt x="789431" y="533400"/>
                  </a:lnTo>
                  <a:lnTo>
                    <a:pt x="789431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46910" y="1614042"/>
              <a:ext cx="5758815" cy="324485"/>
            </a:xfrm>
            <a:custGeom>
              <a:avLst/>
              <a:gdLst/>
              <a:ahLst/>
              <a:cxnLst/>
              <a:rect l="l" t="t" r="r" b="b"/>
              <a:pathLst>
                <a:path w="5758815" h="324485">
                  <a:moveTo>
                    <a:pt x="5758180" y="286131"/>
                  </a:moveTo>
                  <a:lnTo>
                    <a:pt x="5732602" y="273304"/>
                  </a:lnTo>
                  <a:lnTo>
                    <a:pt x="5681980" y="247904"/>
                  </a:lnTo>
                  <a:lnTo>
                    <a:pt x="5681929" y="273304"/>
                  </a:lnTo>
                  <a:lnTo>
                    <a:pt x="294132" y="268351"/>
                  </a:lnTo>
                  <a:lnTo>
                    <a:pt x="294132" y="293751"/>
                  </a:lnTo>
                  <a:lnTo>
                    <a:pt x="5681891" y="298704"/>
                  </a:lnTo>
                  <a:lnTo>
                    <a:pt x="5681853" y="324104"/>
                  </a:lnTo>
                  <a:lnTo>
                    <a:pt x="5732907" y="298704"/>
                  </a:lnTo>
                  <a:lnTo>
                    <a:pt x="5758180" y="286131"/>
                  </a:lnTo>
                  <a:close/>
                </a:path>
                <a:path w="5758815" h="324485">
                  <a:moveTo>
                    <a:pt x="5758434" y="38227"/>
                  </a:moveTo>
                  <a:lnTo>
                    <a:pt x="5733110" y="25527"/>
                  </a:lnTo>
                  <a:lnTo>
                    <a:pt x="5682234" y="0"/>
                  </a:lnTo>
                  <a:lnTo>
                    <a:pt x="5682183" y="25514"/>
                  </a:lnTo>
                  <a:lnTo>
                    <a:pt x="0" y="16891"/>
                  </a:lnTo>
                  <a:lnTo>
                    <a:pt x="0" y="42291"/>
                  </a:lnTo>
                  <a:lnTo>
                    <a:pt x="5682145" y="50914"/>
                  </a:lnTo>
                  <a:lnTo>
                    <a:pt x="5682107" y="76200"/>
                  </a:lnTo>
                  <a:lnTo>
                    <a:pt x="5732894" y="50927"/>
                  </a:lnTo>
                  <a:lnTo>
                    <a:pt x="5758434" y="3822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086593" y="38000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5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79963" y="361772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28097" y="1002030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37293" y="690117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684257" y="100355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40418" y="100355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36230" y="1690243"/>
            <a:ext cx="3632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46910" y="2181098"/>
            <a:ext cx="5491480" cy="516255"/>
            <a:chOff x="1946910" y="2181098"/>
            <a:chExt cx="5491480" cy="516255"/>
          </a:xfrm>
        </p:grpSpPr>
        <p:sp>
          <p:nvSpPr>
            <p:cNvPr id="17" name="object 17"/>
            <p:cNvSpPr/>
            <p:nvPr/>
          </p:nvSpPr>
          <p:spPr>
            <a:xfrm>
              <a:off x="6643877" y="2193798"/>
              <a:ext cx="782320" cy="490855"/>
            </a:xfrm>
            <a:custGeom>
              <a:avLst/>
              <a:gdLst/>
              <a:ahLst/>
              <a:cxnLst/>
              <a:rect l="l" t="t" r="r" b="b"/>
              <a:pathLst>
                <a:path w="782320" h="490855">
                  <a:moveTo>
                    <a:pt x="0" y="490727"/>
                  </a:moveTo>
                  <a:lnTo>
                    <a:pt x="781812" y="490727"/>
                  </a:lnTo>
                  <a:lnTo>
                    <a:pt x="781812" y="0"/>
                  </a:lnTo>
                  <a:lnTo>
                    <a:pt x="0" y="0"/>
                  </a:lnTo>
                  <a:lnTo>
                    <a:pt x="0" y="490727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46910" y="2260091"/>
              <a:ext cx="4697730" cy="302895"/>
            </a:xfrm>
            <a:custGeom>
              <a:avLst/>
              <a:gdLst/>
              <a:ahLst/>
              <a:cxnLst/>
              <a:rect l="l" t="t" r="r" b="b"/>
              <a:pathLst>
                <a:path w="4697730" h="302894">
                  <a:moveTo>
                    <a:pt x="4697209" y="264414"/>
                  </a:moveTo>
                  <a:lnTo>
                    <a:pt x="4671809" y="251714"/>
                  </a:lnTo>
                  <a:lnTo>
                    <a:pt x="4621009" y="226314"/>
                  </a:lnTo>
                  <a:lnTo>
                    <a:pt x="4621009" y="251714"/>
                  </a:lnTo>
                  <a:lnTo>
                    <a:pt x="294132" y="251714"/>
                  </a:lnTo>
                  <a:lnTo>
                    <a:pt x="294132" y="277114"/>
                  </a:lnTo>
                  <a:lnTo>
                    <a:pt x="4621009" y="277114"/>
                  </a:lnTo>
                  <a:lnTo>
                    <a:pt x="4621009" y="302514"/>
                  </a:lnTo>
                  <a:lnTo>
                    <a:pt x="4671809" y="277114"/>
                  </a:lnTo>
                  <a:lnTo>
                    <a:pt x="4697209" y="264414"/>
                  </a:lnTo>
                  <a:close/>
                </a:path>
                <a:path w="4697730" h="302894">
                  <a:moveTo>
                    <a:pt x="4697463" y="38100"/>
                  </a:moveTo>
                  <a:lnTo>
                    <a:pt x="4672063" y="25400"/>
                  </a:lnTo>
                  <a:lnTo>
                    <a:pt x="4621263" y="0"/>
                  </a:lnTo>
                  <a:lnTo>
                    <a:pt x="4621212" y="25387"/>
                  </a:lnTo>
                  <a:lnTo>
                    <a:pt x="0" y="20066"/>
                  </a:lnTo>
                  <a:lnTo>
                    <a:pt x="0" y="45466"/>
                  </a:lnTo>
                  <a:lnTo>
                    <a:pt x="4621174" y="50787"/>
                  </a:lnTo>
                  <a:lnTo>
                    <a:pt x="4621136" y="76200"/>
                  </a:lnTo>
                  <a:lnTo>
                    <a:pt x="4672025" y="50800"/>
                  </a:lnTo>
                  <a:lnTo>
                    <a:pt x="4697463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904735" y="2370582"/>
            <a:ext cx="24637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46783" y="2776600"/>
            <a:ext cx="3027680" cy="328930"/>
          </a:xfrm>
          <a:custGeom>
            <a:avLst/>
            <a:gdLst/>
            <a:ahLst/>
            <a:cxnLst/>
            <a:rect l="l" t="t" r="r" b="b"/>
            <a:pathLst>
              <a:path w="3027679" h="328930">
                <a:moveTo>
                  <a:pt x="3019806" y="290449"/>
                </a:moveTo>
                <a:lnTo>
                  <a:pt x="2994609" y="277901"/>
                </a:lnTo>
                <a:lnTo>
                  <a:pt x="2943606" y="252476"/>
                </a:lnTo>
                <a:lnTo>
                  <a:pt x="2943644" y="277901"/>
                </a:lnTo>
                <a:lnTo>
                  <a:pt x="301879" y="282448"/>
                </a:lnTo>
                <a:lnTo>
                  <a:pt x="301879" y="307848"/>
                </a:lnTo>
                <a:lnTo>
                  <a:pt x="2943682" y="303301"/>
                </a:lnTo>
                <a:lnTo>
                  <a:pt x="2943733" y="328676"/>
                </a:lnTo>
                <a:lnTo>
                  <a:pt x="2994228" y="303301"/>
                </a:lnTo>
                <a:lnTo>
                  <a:pt x="3019806" y="290449"/>
                </a:lnTo>
                <a:close/>
              </a:path>
              <a:path w="3027679" h="328930">
                <a:moveTo>
                  <a:pt x="3027553" y="37465"/>
                </a:moveTo>
                <a:lnTo>
                  <a:pt x="3002864" y="25374"/>
                </a:lnTo>
                <a:lnTo>
                  <a:pt x="2951099" y="0"/>
                </a:lnTo>
                <a:lnTo>
                  <a:pt x="2951264" y="25374"/>
                </a:lnTo>
                <a:lnTo>
                  <a:pt x="0" y="48387"/>
                </a:lnTo>
                <a:lnTo>
                  <a:pt x="254" y="73787"/>
                </a:lnTo>
                <a:lnTo>
                  <a:pt x="2951429" y="50774"/>
                </a:lnTo>
                <a:lnTo>
                  <a:pt x="2951581" y="73787"/>
                </a:lnTo>
                <a:lnTo>
                  <a:pt x="2951607" y="76200"/>
                </a:lnTo>
                <a:lnTo>
                  <a:pt x="3001454" y="50774"/>
                </a:lnTo>
                <a:lnTo>
                  <a:pt x="3027553" y="3746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975097" y="2713482"/>
            <a:ext cx="845819" cy="474345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405"/>
              </a:spcBef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46910" y="1195577"/>
            <a:ext cx="294640" cy="4947285"/>
          </a:xfrm>
          <a:custGeom>
            <a:avLst/>
            <a:gdLst/>
            <a:ahLst/>
            <a:cxnLst/>
            <a:rect l="l" t="t" r="r" b="b"/>
            <a:pathLst>
              <a:path w="294639" h="4947285">
                <a:moveTo>
                  <a:pt x="0" y="0"/>
                </a:moveTo>
                <a:lnTo>
                  <a:pt x="0" y="4947183"/>
                </a:lnTo>
              </a:path>
              <a:path w="294639" h="4947285">
                <a:moveTo>
                  <a:pt x="294131" y="10668"/>
                </a:moveTo>
                <a:lnTo>
                  <a:pt x="294131" y="494698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95652" y="700786"/>
            <a:ext cx="60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114" dirty="0">
                <a:latin typeface="Calibri"/>
                <a:cs typeface="Calibri"/>
              </a:rPr>
              <a:t> </a:t>
            </a:r>
            <a:r>
              <a:rPr sz="4800" b="1" spc="-75" baseline="1736" dirty="0">
                <a:latin typeface="Calibri"/>
                <a:cs typeface="Calibri"/>
              </a:rPr>
              <a:t>B</a:t>
            </a:r>
            <a:endParaRPr sz="4800" baseline="1736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889505" y="1595374"/>
            <a:ext cx="410845" cy="1526540"/>
            <a:chOff x="1889505" y="1595374"/>
            <a:chExt cx="410845" cy="1526540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1595374"/>
              <a:ext cx="111760" cy="889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8209" y="1848358"/>
              <a:ext cx="111759" cy="889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9505" y="2236978"/>
              <a:ext cx="111760" cy="889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8209" y="2471674"/>
              <a:ext cx="111759" cy="889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1029" y="2799334"/>
              <a:ext cx="111759" cy="889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2113" y="3034030"/>
              <a:ext cx="111760" cy="8737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9299575" y="146430"/>
            <a:ext cx="749935" cy="53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9"/>
              </a:lnSpc>
              <a:spcBef>
                <a:spcPts val="100"/>
              </a:spcBef>
              <a:tabLst>
                <a:tab pos="285115" algn="l"/>
                <a:tab pos="61087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22225">
              <a:lnSpc>
                <a:spcPts val="1989"/>
              </a:lnSpc>
              <a:tabLst>
                <a:tab pos="294640" algn="l"/>
                <a:tab pos="620395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871210" y="320052"/>
            <a:ext cx="3368675" cy="2505710"/>
          </a:xfrm>
          <a:custGeom>
            <a:avLst/>
            <a:gdLst/>
            <a:ahLst/>
            <a:cxnLst/>
            <a:rect l="l" t="t" r="r" b="b"/>
            <a:pathLst>
              <a:path w="3368675" h="2505710">
                <a:moveTo>
                  <a:pt x="3368294" y="16751"/>
                </a:moveTo>
                <a:lnTo>
                  <a:pt x="3349244" y="0"/>
                </a:lnTo>
                <a:lnTo>
                  <a:pt x="2876232" y="536816"/>
                </a:lnTo>
                <a:lnTo>
                  <a:pt x="55918" y="2451900"/>
                </a:lnTo>
                <a:lnTo>
                  <a:pt x="41656" y="2430894"/>
                </a:lnTo>
                <a:lnTo>
                  <a:pt x="0" y="2505189"/>
                </a:lnTo>
                <a:lnTo>
                  <a:pt x="84455" y="2493886"/>
                </a:lnTo>
                <a:lnTo>
                  <a:pt x="75044" y="2480043"/>
                </a:lnTo>
                <a:lnTo>
                  <a:pt x="70192" y="2472918"/>
                </a:lnTo>
                <a:lnTo>
                  <a:pt x="2808808" y="613333"/>
                </a:lnTo>
                <a:lnTo>
                  <a:pt x="1668564" y="1907362"/>
                </a:lnTo>
                <a:lnTo>
                  <a:pt x="1649476" y="1890509"/>
                </a:lnTo>
                <a:lnTo>
                  <a:pt x="1627632" y="1972932"/>
                </a:lnTo>
                <a:lnTo>
                  <a:pt x="1706626" y="1940928"/>
                </a:lnTo>
                <a:lnTo>
                  <a:pt x="1698409" y="1933689"/>
                </a:lnTo>
                <a:lnTo>
                  <a:pt x="1687601" y="1924151"/>
                </a:lnTo>
                <a:lnTo>
                  <a:pt x="2892996" y="556171"/>
                </a:lnTo>
                <a:lnTo>
                  <a:pt x="3365500" y="235318"/>
                </a:lnTo>
                <a:lnTo>
                  <a:pt x="3351276" y="214236"/>
                </a:lnTo>
                <a:lnTo>
                  <a:pt x="2960420" y="479640"/>
                </a:lnTo>
                <a:lnTo>
                  <a:pt x="3368294" y="1675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14417" y="196342"/>
            <a:ext cx="37801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00793" y="1540002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46910" y="3295141"/>
            <a:ext cx="7453630" cy="897890"/>
            <a:chOff x="1946910" y="3295141"/>
            <a:chExt cx="7453630" cy="897890"/>
          </a:xfrm>
        </p:grpSpPr>
        <p:sp>
          <p:nvSpPr>
            <p:cNvPr id="5" name="object 5"/>
            <p:cNvSpPr/>
            <p:nvPr/>
          </p:nvSpPr>
          <p:spPr>
            <a:xfrm>
              <a:off x="5258562" y="3521201"/>
              <a:ext cx="4142104" cy="671830"/>
            </a:xfrm>
            <a:custGeom>
              <a:avLst/>
              <a:gdLst/>
              <a:ahLst/>
              <a:cxnLst/>
              <a:rect l="l" t="t" r="r" b="b"/>
              <a:pathLst>
                <a:path w="4142104" h="671829">
                  <a:moveTo>
                    <a:pt x="4123436" y="633603"/>
                  </a:moveTo>
                  <a:lnTo>
                    <a:pt x="4098036" y="620903"/>
                  </a:lnTo>
                  <a:lnTo>
                    <a:pt x="4047236" y="595503"/>
                  </a:lnTo>
                  <a:lnTo>
                    <a:pt x="4047236" y="620903"/>
                  </a:lnTo>
                  <a:lnTo>
                    <a:pt x="1059180" y="619760"/>
                  </a:lnTo>
                  <a:lnTo>
                    <a:pt x="1059180" y="645160"/>
                  </a:lnTo>
                  <a:lnTo>
                    <a:pt x="4047236" y="646303"/>
                  </a:lnTo>
                  <a:lnTo>
                    <a:pt x="4047236" y="671703"/>
                  </a:lnTo>
                  <a:lnTo>
                    <a:pt x="4098036" y="646303"/>
                  </a:lnTo>
                  <a:lnTo>
                    <a:pt x="4123436" y="633603"/>
                  </a:lnTo>
                  <a:close/>
                </a:path>
                <a:path w="4142104" h="671829">
                  <a:moveTo>
                    <a:pt x="4141978" y="38100"/>
                  </a:moveTo>
                  <a:lnTo>
                    <a:pt x="4116578" y="25400"/>
                  </a:lnTo>
                  <a:lnTo>
                    <a:pt x="4065778" y="0"/>
                  </a:lnTo>
                  <a:lnTo>
                    <a:pt x="4065778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4065778" y="50800"/>
                  </a:lnTo>
                  <a:lnTo>
                    <a:pt x="4065778" y="76200"/>
                  </a:lnTo>
                  <a:lnTo>
                    <a:pt x="4116578" y="50800"/>
                  </a:lnTo>
                  <a:lnTo>
                    <a:pt x="4141978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60926" y="3307841"/>
              <a:ext cx="897890" cy="512445"/>
            </a:xfrm>
            <a:custGeom>
              <a:avLst/>
              <a:gdLst/>
              <a:ahLst/>
              <a:cxnLst/>
              <a:rect l="l" t="t" r="r" b="b"/>
              <a:pathLst>
                <a:path w="897889" h="512445">
                  <a:moveTo>
                    <a:pt x="0" y="512064"/>
                  </a:moveTo>
                  <a:lnTo>
                    <a:pt x="897636" y="512064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512064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6910" y="3395090"/>
              <a:ext cx="2426970" cy="376555"/>
            </a:xfrm>
            <a:custGeom>
              <a:avLst/>
              <a:gdLst/>
              <a:ahLst/>
              <a:cxnLst/>
              <a:rect l="l" t="t" r="r" b="b"/>
              <a:pathLst>
                <a:path w="2426970" h="376554">
                  <a:moveTo>
                    <a:pt x="2413508" y="37719"/>
                  </a:moveTo>
                  <a:lnTo>
                    <a:pt x="2388438" y="25336"/>
                  </a:lnTo>
                  <a:lnTo>
                    <a:pt x="2337181" y="0"/>
                  </a:lnTo>
                  <a:lnTo>
                    <a:pt x="2337257" y="25336"/>
                  </a:lnTo>
                  <a:lnTo>
                    <a:pt x="0" y="36322"/>
                  </a:lnTo>
                  <a:lnTo>
                    <a:pt x="0" y="61722"/>
                  </a:lnTo>
                  <a:lnTo>
                    <a:pt x="2337346" y="50736"/>
                  </a:lnTo>
                  <a:lnTo>
                    <a:pt x="2337435" y="76200"/>
                  </a:lnTo>
                  <a:lnTo>
                    <a:pt x="2387777" y="50736"/>
                  </a:lnTo>
                  <a:lnTo>
                    <a:pt x="2413508" y="37719"/>
                  </a:lnTo>
                  <a:close/>
                </a:path>
                <a:path w="2426970" h="376554">
                  <a:moveTo>
                    <a:pt x="2414778" y="337947"/>
                  </a:moveTo>
                  <a:lnTo>
                    <a:pt x="2389378" y="325247"/>
                  </a:lnTo>
                  <a:lnTo>
                    <a:pt x="2338578" y="299847"/>
                  </a:lnTo>
                  <a:lnTo>
                    <a:pt x="2338578" y="325247"/>
                  </a:lnTo>
                  <a:lnTo>
                    <a:pt x="1877568" y="325247"/>
                  </a:lnTo>
                  <a:lnTo>
                    <a:pt x="1877568" y="350647"/>
                  </a:lnTo>
                  <a:lnTo>
                    <a:pt x="2338578" y="350647"/>
                  </a:lnTo>
                  <a:lnTo>
                    <a:pt x="2338578" y="376047"/>
                  </a:lnTo>
                  <a:lnTo>
                    <a:pt x="2389378" y="350647"/>
                  </a:lnTo>
                  <a:lnTo>
                    <a:pt x="2414778" y="337947"/>
                  </a:lnTo>
                  <a:close/>
                </a:path>
                <a:path w="2426970" h="376554">
                  <a:moveTo>
                    <a:pt x="2426970" y="180848"/>
                  </a:moveTo>
                  <a:lnTo>
                    <a:pt x="2401062" y="167640"/>
                  </a:lnTo>
                  <a:lnTo>
                    <a:pt x="2351024" y="142113"/>
                  </a:lnTo>
                  <a:lnTo>
                    <a:pt x="2350808" y="167538"/>
                  </a:lnTo>
                  <a:lnTo>
                    <a:pt x="1877695" y="163715"/>
                  </a:lnTo>
                  <a:lnTo>
                    <a:pt x="1877517" y="180848"/>
                  </a:lnTo>
                  <a:lnTo>
                    <a:pt x="1877441" y="189115"/>
                  </a:lnTo>
                  <a:lnTo>
                    <a:pt x="2350592" y="192938"/>
                  </a:lnTo>
                  <a:lnTo>
                    <a:pt x="2363330" y="193040"/>
                  </a:lnTo>
                  <a:lnTo>
                    <a:pt x="2350592" y="193040"/>
                  </a:lnTo>
                  <a:lnTo>
                    <a:pt x="2350389" y="218313"/>
                  </a:lnTo>
                  <a:lnTo>
                    <a:pt x="2402040" y="193040"/>
                  </a:lnTo>
                  <a:lnTo>
                    <a:pt x="2426970" y="18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10086593" y="38000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5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879963" y="361772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928097" y="1002030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337293" y="690117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684257" y="100355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440418" y="100355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341240" y="3369314"/>
            <a:ext cx="714375" cy="44069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45"/>
              </a:spcBef>
            </a:pPr>
            <a:r>
              <a:rPr sz="1575" baseline="-18518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125" baseline="-4074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125" spc="254" baseline="-40740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200" spc="-37" baseline="-17361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1200" baseline="-17361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34210" y="1182877"/>
            <a:ext cx="4409440" cy="4972685"/>
            <a:chOff x="1934210" y="1182877"/>
            <a:chExt cx="4409440" cy="4972685"/>
          </a:xfrm>
        </p:grpSpPr>
        <p:sp>
          <p:nvSpPr>
            <p:cNvPr id="16" name="object 16"/>
            <p:cNvSpPr/>
            <p:nvPr/>
          </p:nvSpPr>
          <p:spPr>
            <a:xfrm>
              <a:off x="6322313" y="3571494"/>
              <a:ext cx="8890" cy="570865"/>
            </a:xfrm>
            <a:custGeom>
              <a:avLst/>
              <a:gdLst/>
              <a:ahLst/>
              <a:cxnLst/>
              <a:rect l="l" t="t" r="r" b="b"/>
              <a:pathLst>
                <a:path w="8889" h="570864">
                  <a:moveTo>
                    <a:pt x="0" y="0"/>
                  </a:moveTo>
                  <a:lnTo>
                    <a:pt x="8509" y="570356"/>
                  </a:lnTo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46910" y="1195577"/>
              <a:ext cx="294640" cy="4947285"/>
            </a:xfrm>
            <a:custGeom>
              <a:avLst/>
              <a:gdLst/>
              <a:ahLst/>
              <a:cxnLst/>
              <a:rect l="l" t="t" r="r" b="b"/>
              <a:pathLst>
                <a:path w="294639" h="4947285">
                  <a:moveTo>
                    <a:pt x="0" y="0"/>
                  </a:moveTo>
                  <a:lnTo>
                    <a:pt x="0" y="4947183"/>
                  </a:lnTo>
                </a:path>
                <a:path w="294639" h="4947285">
                  <a:moveTo>
                    <a:pt x="294131" y="10668"/>
                  </a:moveTo>
                  <a:lnTo>
                    <a:pt x="294131" y="494698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795652" y="700786"/>
            <a:ext cx="60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114" dirty="0">
                <a:latin typeface="Calibri"/>
                <a:cs typeface="Calibri"/>
              </a:rPr>
              <a:t> </a:t>
            </a:r>
            <a:r>
              <a:rPr sz="4800" b="1" spc="-75" baseline="1736" dirty="0">
                <a:latin typeface="Calibri"/>
                <a:cs typeface="Calibri"/>
              </a:rPr>
              <a:t>B</a:t>
            </a:r>
            <a:endParaRPr sz="4800" baseline="1736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505" y="3399790"/>
            <a:ext cx="111760" cy="8890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698750" y="3955160"/>
            <a:ext cx="358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05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𝐋𝐄𝐅𝐓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𝐒𝐇𝐈𝐅𝐓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𝐑𝐈𝐆𝐇𝐓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𝐒𝐇𝐈𝐅𝐓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68206" y="90677"/>
            <a:ext cx="558165" cy="295910"/>
          </a:xfrm>
          <a:prstGeom prst="rect">
            <a:avLst/>
          </a:prstGeom>
          <a:ln w="25400">
            <a:solidFill>
              <a:srgbClr val="2E528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ts val="2090"/>
              </a:lnSpc>
              <a:spcBef>
                <a:spcPts val="240"/>
              </a:spcBef>
              <a:tabLst>
                <a:tab pos="363855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45928" y="108331"/>
            <a:ext cx="141605" cy="56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4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40"/>
              </a:lnSpc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80397" y="451866"/>
            <a:ext cx="559435" cy="236220"/>
          </a:xfrm>
          <a:prstGeom prst="rect">
            <a:avLst/>
          </a:prstGeom>
          <a:ln w="25400">
            <a:solidFill>
              <a:srgbClr val="FFC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680"/>
              </a:lnSpc>
              <a:tabLst>
                <a:tab pos="35179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824478" y="350011"/>
            <a:ext cx="5318760" cy="3975100"/>
            <a:chOff x="3824478" y="350011"/>
            <a:chExt cx="5318760" cy="3975100"/>
          </a:xfrm>
        </p:grpSpPr>
        <p:sp>
          <p:nvSpPr>
            <p:cNvPr id="25" name="object 25"/>
            <p:cNvSpPr/>
            <p:nvPr/>
          </p:nvSpPr>
          <p:spPr>
            <a:xfrm>
              <a:off x="3824478" y="350011"/>
              <a:ext cx="5318760" cy="3669029"/>
            </a:xfrm>
            <a:custGeom>
              <a:avLst/>
              <a:gdLst/>
              <a:ahLst/>
              <a:cxnLst/>
              <a:rect l="l" t="t" r="r" b="b"/>
              <a:pathLst>
                <a:path w="5318759" h="3669029">
                  <a:moveTo>
                    <a:pt x="41148" y="3594354"/>
                  </a:moveTo>
                  <a:lnTo>
                    <a:pt x="0" y="3668903"/>
                  </a:lnTo>
                  <a:lnTo>
                    <a:pt x="84327" y="3657092"/>
                  </a:lnTo>
                  <a:lnTo>
                    <a:pt x="74887" y="3643376"/>
                  </a:lnTo>
                  <a:lnTo>
                    <a:pt x="59436" y="3643376"/>
                  </a:lnTo>
                  <a:lnTo>
                    <a:pt x="45085" y="3622421"/>
                  </a:lnTo>
                  <a:lnTo>
                    <a:pt x="55518" y="3615234"/>
                  </a:lnTo>
                  <a:lnTo>
                    <a:pt x="41148" y="3594354"/>
                  </a:lnTo>
                  <a:close/>
                </a:path>
                <a:path w="5318759" h="3669029">
                  <a:moveTo>
                    <a:pt x="55518" y="3615234"/>
                  </a:moveTo>
                  <a:lnTo>
                    <a:pt x="45085" y="3622421"/>
                  </a:lnTo>
                  <a:lnTo>
                    <a:pt x="59436" y="3643376"/>
                  </a:lnTo>
                  <a:lnTo>
                    <a:pt x="69918" y="3636155"/>
                  </a:lnTo>
                  <a:lnTo>
                    <a:pt x="55518" y="3615234"/>
                  </a:lnTo>
                  <a:close/>
                </a:path>
                <a:path w="5318759" h="3669029">
                  <a:moveTo>
                    <a:pt x="69918" y="3636155"/>
                  </a:moveTo>
                  <a:lnTo>
                    <a:pt x="59436" y="3643376"/>
                  </a:lnTo>
                  <a:lnTo>
                    <a:pt x="74887" y="3643376"/>
                  </a:lnTo>
                  <a:lnTo>
                    <a:pt x="69918" y="3636155"/>
                  </a:lnTo>
                  <a:close/>
                </a:path>
                <a:path w="5318759" h="3669029">
                  <a:moveTo>
                    <a:pt x="5304028" y="0"/>
                  </a:moveTo>
                  <a:lnTo>
                    <a:pt x="55518" y="3615234"/>
                  </a:lnTo>
                  <a:lnTo>
                    <a:pt x="69918" y="3636155"/>
                  </a:lnTo>
                  <a:lnTo>
                    <a:pt x="5318506" y="20828"/>
                  </a:lnTo>
                  <a:lnTo>
                    <a:pt x="530402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896106" y="706627"/>
              <a:ext cx="5246370" cy="3618865"/>
            </a:xfrm>
            <a:custGeom>
              <a:avLst/>
              <a:gdLst/>
              <a:ahLst/>
              <a:cxnLst/>
              <a:rect l="l" t="t" r="r" b="b"/>
              <a:pathLst>
                <a:path w="5246370" h="3618865">
                  <a:moveTo>
                    <a:pt x="41148" y="3543680"/>
                  </a:moveTo>
                  <a:lnTo>
                    <a:pt x="0" y="3618357"/>
                  </a:lnTo>
                  <a:lnTo>
                    <a:pt x="84328" y="3606419"/>
                  </a:lnTo>
                  <a:lnTo>
                    <a:pt x="74975" y="3592829"/>
                  </a:lnTo>
                  <a:lnTo>
                    <a:pt x="59436" y="3592829"/>
                  </a:lnTo>
                  <a:lnTo>
                    <a:pt x="45085" y="3571875"/>
                  </a:lnTo>
                  <a:lnTo>
                    <a:pt x="55578" y="3564648"/>
                  </a:lnTo>
                  <a:lnTo>
                    <a:pt x="41148" y="3543680"/>
                  </a:lnTo>
                  <a:close/>
                </a:path>
                <a:path w="5246370" h="3618865">
                  <a:moveTo>
                    <a:pt x="55578" y="3564648"/>
                  </a:moveTo>
                  <a:lnTo>
                    <a:pt x="45085" y="3571875"/>
                  </a:lnTo>
                  <a:lnTo>
                    <a:pt x="59436" y="3592829"/>
                  </a:lnTo>
                  <a:lnTo>
                    <a:pt x="69978" y="3585569"/>
                  </a:lnTo>
                  <a:lnTo>
                    <a:pt x="55578" y="3564648"/>
                  </a:lnTo>
                  <a:close/>
                </a:path>
                <a:path w="5246370" h="3618865">
                  <a:moveTo>
                    <a:pt x="69978" y="3585569"/>
                  </a:moveTo>
                  <a:lnTo>
                    <a:pt x="59436" y="3592829"/>
                  </a:lnTo>
                  <a:lnTo>
                    <a:pt x="74975" y="3592829"/>
                  </a:lnTo>
                  <a:lnTo>
                    <a:pt x="69978" y="3585569"/>
                  </a:lnTo>
                  <a:close/>
                </a:path>
                <a:path w="5246370" h="3618865">
                  <a:moveTo>
                    <a:pt x="5231511" y="0"/>
                  </a:moveTo>
                  <a:lnTo>
                    <a:pt x="55578" y="3564648"/>
                  </a:lnTo>
                  <a:lnTo>
                    <a:pt x="69978" y="3585569"/>
                  </a:lnTo>
                  <a:lnTo>
                    <a:pt x="5245989" y="20827"/>
                  </a:lnTo>
                  <a:lnTo>
                    <a:pt x="5231511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14417" y="196342"/>
            <a:ext cx="378015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00793" y="1540002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258562" y="3521201"/>
            <a:ext cx="4142104" cy="671830"/>
          </a:xfrm>
          <a:custGeom>
            <a:avLst/>
            <a:gdLst/>
            <a:ahLst/>
            <a:cxnLst/>
            <a:rect l="l" t="t" r="r" b="b"/>
            <a:pathLst>
              <a:path w="4142104" h="671829">
                <a:moveTo>
                  <a:pt x="4123436" y="633603"/>
                </a:moveTo>
                <a:lnTo>
                  <a:pt x="4098036" y="620903"/>
                </a:lnTo>
                <a:lnTo>
                  <a:pt x="4047236" y="595503"/>
                </a:lnTo>
                <a:lnTo>
                  <a:pt x="4047236" y="620903"/>
                </a:lnTo>
                <a:lnTo>
                  <a:pt x="1059180" y="619760"/>
                </a:lnTo>
                <a:lnTo>
                  <a:pt x="1059180" y="645160"/>
                </a:lnTo>
                <a:lnTo>
                  <a:pt x="4047236" y="646303"/>
                </a:lnTo>
                <a:lnTo>
                  <a:pt x="4047236" y="671703"/>
                </a:lnTo>
                <a:lnTo>
                  <a:pt x="4098036" y="646303"/>
                </a:lnTo>
                <a:lnTo>
                  <a:pt x="4123436" y="633603"/>
                </a:lnTo>
                <a:close/>
              </a:path>
              <a:path w="4142104" h="671829">
                <a:moveTo>
                  <a:pt x="4141978" y="38100"/>
                </a:moveTo>
                <a:lnTo>
                  <a:pt x="4116578" y="25400"/>
                </a:lnTo>
                <a:lnTo>
                  <a:pt x="4065778" y="0"/>
                </a:lnTo>
                <a:lnTo>
                  <a:pt x="4065778" y="25400"/>
                </a:lnTo>
                <a:lnTo>
                  <a:pt x="0" y="25400"/>
                </a:lnTo>
                <a:lnTo>
                  <a:pt x="0" y="50800"/>
                </a:lnTo>
                <a:lnTo>
                  <a:pt x="4065778" y="50800"/>
                </a:lnTo>
                <a:lnTo>
                  <a:pt x="4065778" y="76200"/>
                </a:lnTo>
                <a:lnTo>
                  <a:pt x="4116578" y="50800"/>
                </a:lnTo>
                <a:lnTo>
                  <a:pt x="4141978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86593" y="38000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5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79963" y="361772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28097" y="1002030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37293" y="690117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46910" y="1003553"/>
            <a:ext cx="7813675" cy="2767965"/>
            <a:chOff x="1946910" y="1003553"/>
            <a:chExt cx="7813675" cy="2767965"/>
          </a:xfrm>
        </p:grpSpPr>
        <p:sp>
          <p:nvSpPr>
            <p:cNvPr id="10" name="object 10"/>
            <p:cNvSpPr/>
            <p:nvPr/>
          </p:nvSpPr>
          <p:spPr>
            <a:xfrm>
              <a:off x="9440418" y="1003553"/>
              <a:ext cx="320040" cy="530860"/>
            </a:xfrm>
            <a:custGeom>
              <a:avLst/>
              <a:gdLst/>
              <a:ahLst/>
              <a:cxnLst/>
              <a:rect l="l" t="t" r="r" b="b"/>
              <a:pathLst>
                <a:path w="320040" h="530860">
                  <a:moveTo>
                    <a:pt x="76200" y="454279"/>
                  </a:moveTo>
                  <a:lnTo>
                    <a:pt x="50800" y="454279"/>
                  </a:lnTo>
                  <a:lnTo>
                    <a:pt x="50800" y="0"/>
                  </a:lnTo>
                  <a:lnTo>
                    <a:pt x="25400" y="0"/>
                  </a:lnTo>
                  <a:lnTo>
                    <a:pt x="25400" y="454279"/>
                  </a:lnTo>
                  <a:lnTo>
                    <a:pt x="0" y="454279"/>
                  </a:lnTo>
                  <a:lnTo>
                    <a:pt x="38100" y="530479"/>
                  </a:lnTo>
                  <a:lnTo>
                    <a:pt x="69850" y="466979"/>
                  </a:lnTo>
                  <a:lnTo>
                    <a:pt x="76200" y="454279"/>
                  </a:lnTo>
                  <a:close/>
                </a:path>
                <a:path w="320040" h="530860">
                  <a:moveTo>
                    <a:pt x="320040" y="454279"/>
                  </a:moveTo>
                  <a:lnTo>
                    <a:pt x="294640" y="454279"/>
                  </a:lnTo>
                  <a:lnTo>
                    <a:pt x="294640" y="0"/>
                  </a:lnTo>
                  <a:lnTo>
                    <a:pt x="269240" y="0"/>
                  </a:lnTo>
                  <a:lnTo>
                    <a:pt x="269240" y="454279"/>
                  </a:lnTo>
                  <a:lnTo>
                    <a:pt x="243840" y="454279"/>
                  </a:lnTo>
                  <a:lnTo>
                    <a:pt x="281940" y="530479"/>
                  </a:lnTo>
                  <a:lnTo>
                    <a:pt x="313690" y="466979"/>
                  </a:lnTo>
                  <a:lnTo>
                    <a:pt x="320040" y="4542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46910" y="3395090"/>
              <a:ext cx="2427605" cy="376555"/>
            </a:xfrm>
            <a:custGeom>
              <a:avLst/>
              <a:gdLst/>
              <a:ahLst/>
              <a:cxnLst/>
              <a:rect l="l" t="t" r="r" b="b"/>
              <a:pathLst>
                <a:path w="2427604" h="376554">
                  <a:moveTo>
                    <a:pt x="2413508" y="37719"/>
                  </a:moveTo>
                  <a:lnTo>
                    <a:pt x="2388438" y="25336"/>
                  </a:lnTo>
                  <a:lnTo>
                    <a:pt x="2337181" y="0"/>
                  </a:lnTo>
                  <a:lnTo>
                    <a:pt x="2337257" y="25336"/>
                  </a:lnTo>
                  <a:lnTo>
                    <a:pt x="0" y="36322"/>
                  </a:lnTo>
                  <a:lnTo>
                    <a:pt x="0" y="61722"/>
                  </a:lnTo>
                  <a:lnTo>
                    <a:pt x="2337346" y="50736"/>
                  </a:lnTo>
                  <a:lnTo>
                    <a:pt x="2337435" y="76200"/>
                  </a:lnTo>
                  <a:lnTo>
                    <a:pt x="2387777" y="50736"/>
                  </a:lnTo>
                  <a:lnTo>
                    <a:pt x="2413508" y="37719"/>
                  </a:lnTo>
                  <a:close/>
                </a:path>
                <a:path w="2427604" h="376554">
                  <a:moveTo>
                    <a:pt x="2414778" y="337947"/>
                  </a:moveTo>
                  <a:lnTo>
                    <a:pt x="2389378" y="325247"/>
                  </a:lnTo>
                  <a:lnTo>
                    <a:pt x="2338578" y="299847"/>
                  </a:lnTo>
                  <a:lnTo>
                    <a:pt x="2338578" y="325247"/>
                  </a:lnTo>
                  <a:lnTo>
                    <a:pt x="1877568" y="325247"/>
                  </a:lnTo>
                  <a:lnTo>
                    <a:pt x="1877568" y="350647"/>
                  </a:lnTo>
                  <a:lnTo>
                    <a:pt x="2338578" y="350647"/>
                  </a:lnTo>
                  <a:lnTo>
                    <a:pt x="2338578" y="376047"/>
                  </a:lnTo>
                  <a:lnTo>
                    <a:pt x="2389378" y="350647"/>
                  </a:lnTo>
                  <a:lnTo>
                    <a:pt x="2414778" y="337947"/>
                  </a:lnTo>
                  <a:close/>
                </a:path>
                <a:path w="2427604" h="376554">
                  <a:moveTo>
                    <a:pt x="2427097" y="180848"/>
                  </a:moveTo>
                  <a:lnTo>
                    <a:pt x="2401278" y="167779"/>
                  </a:lnTo>
                  <a:lnTo>
                    <a:pt x="2351151" y="142379"/>
                  </a:lnTo>
                  <a:lnTo>
                    <a:pt x="2351036" y="163715"/>
                  </a:lnTo>
                  <a:lnTo>
                    <a:pt x="2351011" y="167716"/>
                  </a:lnTo>
                  <a:lnTo>
                    <a:pt x="1649095" y="163715"/>
                  </a:lnTo>
                  <a:lnTo>
                    <a:pt x="1648917" y="180848"/>
                  </a:lnTo>
                  <a:lnTo>
                    <a:pt x="1648841" y="189115"/>
                  </a:lnTo>
                  <a:lnTo>
                    <a:pt x="2350884" y="193116"/>
                  </a:lnTo>
                  <a:lnTo>
                    <a:pt x="2363597" y="193179"/>
                  </a:lnTo>
                  <a:lnTo>
                    <a:pt x="2350884" y="193179"/>
                  </a:lnTo>
                  <a:lnTo>
                    <a:pt x="2350770" y="218567"/>
                  </a:lnTo>
                  <a:lnTo>
                    <a:pt x="2402167" y="193179"/>
                  </a:lnTo>
                  <a:lnTo>
                    <a:pt x="2427097" y="180848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60926" y="3307841"/>
            <a:ext cx="897890" cy="512445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730"/>
              </a:spcBef>
            </a:pPr>
            <a:r>
              <a:rPr sz="1575" baseline="-18518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125" baseline="-40740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125" spc="254" baseline="-40740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solidFill>
                  <a:srgbClr val="FF0000"/>
                </a:solidFill>
                <a:latin typeface="Cambria Math"/>
                <a:cs typeface="Cambria Math"/>
              </a:rPr>
              <a:t>𝑺</a:t>
            </a:r>
            <a:r>
              <a:rPr sz="1200" spc="-37" baseline="-17361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endParaRPr sz="1200" baseline="-17361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22314" y="3571494"/>
            <a:ext cx="8890" cy="570865"/>
          </a:xfrm>
          <a:custGeom>
            <a:avLst/>
            <a:gdLst/>
            <a:ahLst/>
            <a:cxnLst/>
            <a:rect l="l" t="t" r="r" b="b"/>
            <a:pathLst>
              <a:path w="8889" h="570864">
                <a:moveTo>
                  <a:pt x="0" y="0"/>
                </a:moveTo>
                <a:lnTo>
                  <a:pt x="8509" y="570356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934210" y="1182877"/>
            <a:ext cx="7797800" cy="4972685"/>
            <a:chOff x="1934210" y="1182877"/>
            <a:chExt cx="7797800" cy="4972685"/>
          </a:xfrm>
        </p:grpSpPr>
        <p:sp>
          <p:nvSpPr>
            <p:cNvPr id="15" name="object 15"/>
            <p:cNvSpPr/>
            <p:nvPr/>
          </p:nvSpPr>
          <p:spPr>
            <a:xfrm>
              <a:off x="1946910" y="1195577"/>
              <a:ext cx="294640" cy="4947285"/>
            </a:xfrm>
            <a:custGeom>
              <a:avLst/>
              <a:gdLst/>
              <a:ahLst/>
              <a:cxnLst/>
              <a:rect l="l" t="t" r="r" b="b"/>
              <a:pathLst>
                <a:path w="294639" h="4947285">
                  <a:moveTo>
                    <a:pt x="0" y="0"/>
                  </a:moveTo>
                  <a:lnTo>
                    <a:pt x="0" y="4947183"/>
                  </a:lnTo>
                </a:path>
                <a:path w="294639" h="4947285">
                  <a:moveTo>
                    <a:pt x="294131" y="10668"/>
                  </a:moveTo>
                  <a:lnTo>
                    <a:pt x="294131" y="494698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85210" y="1198625"/>
              <a:ext cx="6134100" cy="2533650"/>
            </a:xfrm>
            <a:custGeom>
              <a:avLst/>
              <a:gdLst/>
              <a:ahLst/>
              <a:cxnLst/>
              <a:rect l="l" t="t" r="r" b="b"/>
              <a:pathLst>
                <a:path w="6134100" h="2533650">
                  <a:moveTo>
                    <a:pt x="5905499" y="7620"/>
                  </a:moveTo>
                  <a:lnTo>
                    <a:pt x="0" y="7620"/>
                  </a:lnTo>
                </a:path>
                <a:path w="6134100" h="2533650">
                  <a:moveTo>
                    <a:pt x="10667" y="0"/>
                  </a:moveTo>
                  <a:lnTo>
                    <a:pt x="10667" y="2380361"/>
                  </a:lnTo>
                </a:path>
                <a:path w="6134100" h="2533650">
                  <a:moveTo>
                    <a:pt x="6134099" y="152400"/>
                  </a:moveTo>
                  <a:lnTo>
                    <a:pt x="228600" y="152400"/>
                  </a:lnTo>
                </a:path>
                <a:path w="6134100" h="2533650">
                  <a:moveTo>
                    <a:pt x="239267" y="143256"/>
                  </a:moveTo>
                  <a:lnTo>
                    <a:pt x="239267" y="2533650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795652" y="700786"/>
            <a:ext cx="60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114" dirty="0">
                <a:latin typeface="Calibri"/>
                <a:cs typeface="Calibri"/>
              </a:rPr>
              <a:t> </a:t>
            </a:r>
            <a:r>
              <a:rPr sz="4800" b="1" spc="-75" baseline="1736" dirty="0">
                <a:latin typeface="Calibri"/>
                <a:cs typeface="Calibri"/>
              </a:rPr>
              <a:t>B</a:t>
            </a:r>
            <a:endParaRPr sz="4800" baseline="1736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89505" y="1150366"/>
            <a:ext cx="7882890" cy="2338705"/>
            <a:chOff x="1889505" y="1150366"/>
            <a:chExt cx="7882890" cy="233870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3399789"/>
              <a:ext cx="111760" cy="889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1113" y="1150366"/>
              <a:ext cx="111759" cy="889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60382" y="1296670"/>
              <a:ext cx="111760" cy="8890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698750" y="3955160"/>
            <a:ext cx="358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05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𝐋𝐄𝐅𝐓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𝐒𝐇𝐈𝐅𝐓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𝐑𝐈𝐆𝐇𝐓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𝐒𝐇𝐈𝐅𝐓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268206" y="90677"/>
            <a:ext cx="558165" cy="295910"/>
          </a:xfrm>
          <a:prstGeom prst="rect">
            <a:avLst/>
          </a:prstGeom>
          <a:ln w="25400">
            <a:solidFill>
              <a:srgbClr val="2E528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ts val="2090"/>
              </a:lnSpc>
              <a:spcBef>
                <a:spcPts val="240"/>
              </a:spcBef>
              <a:tabLst>
                <a:tab pos="363855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45928" y="108331"/>
            <a:ext cx="141605" cy="56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4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40"/>
              </a:lnSpc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80397" y="451866"/>
            <a:ext cx="559435" cy="236220"/>
          </a:xfrm>
          <a:prstGeom prst="rect">
            <a:avLst/>
          </a:prstGeom>
          <a:ln w="25400">
            <a:solidFill>
              <a:srgbClr val="FFC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680"/>
              </a:lnSpc>
              <a:tabLst>
                <a:tab pos="35179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922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00793" y="1540002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34210" y="1182877"/>
            <a:ext cx="7466330" cy="4972685"/>
            <a:chOff x="1934210" y="1182877"/>
            <a:chExt cx="7466330" cy="4972685"/>
          </a:xfrm>
        </p:grpSpPr>
        <p:sp>
          <p:nvSpPr>
            <p:cNvPr id="5" name="object 5"/>
            <p:cNvSpPr/>
            <p:nvPr/>
          </p:nvSpPr>
          <p:spPr>
            <a:xfrm>
              <a:off x="5397246" y="4584954"/>
              <a:ext cx="4003040" cy="640080"/>
            </a:xfrm>
            <a:custGeom>
              <a:avLst/>
              <a:gdLst/>
              <a:ahLst/>
              <a:cxnLst/>
              <a:rect l="l" t="t" r="r" b="b"/>
              <a:pathLst>
                <a:path w="4003040" h="640079">
                  <a:moveTo>
                    <a:pt x="4001643" y="601980"/>
                  </a:moveTo>
                  <a:lnTo>
                    <a:pt x="3976255" y="589292"/>
                  </a:lnTo>
                  <a:lnTo>
                    <a:pt x="3925443" y="563880"/>
                  </a:lnTo>
                  <a:lnTo>
                    <a:pt x="3925443" y="589292"/>
                  </a:lnTo>
                  <a:lnTo>
                    <a:pt x="938784" y="590931"/>
                  </a:lnTo>
                  <a:lnTo>
                    <a:pt x="938784" y="616343"/>
                  </a:lnTo>
                  <a:lnTo>
                    <a:pt x="3925443" y="614692"/>
                  </a:lnTo>
                  <a:lnTo>
                    <a:pt x="3925443" y="640080"/>
                  </a:lnTo>
                  <a:lnTo>
                    <a:pt x="3976217" y="614692"/>
                  </a:lnTo>
                  <a:lnTo>
                    <a:pt x="4001643" y="601980"/>
                  </a:lnTo>
                  <a:close/>
                </a:path>
                <a:path w="4003040" h="640079">
                  <a:moveTo>
                    <a:pt x="4002786" y="38100"/>
                  </a:moveTo>
                  <a:lnTo>
                    <a:pt x="3977386" y="25400"/>
                  </a:lnTo>
                  <a:lnTo>
                    <a:pt x="3926586" y="0"/>
                  </a:lnTo>
                  <a:lnTo>
                    <a:pt x="392658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3926586" y="50800"/>
                  </a:lnTo>
                  <a:lnTo>
                    <a:pt x="3926586" y="76200"/>
                  </a:lnTo>
                  <a:lnTo>
                    <a:pt x="3977386" y="50800"/>
                  </a:lnTo>
                  <a:lnTo>
                    <a:pt x="4002786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6917" y="4412742"/>
              <a:ext cx="1071880" cy="632460"/>
            </a:xfrm>
            <a:custGeom>
              <a:avLst/>
              <a:gdLst/>
              <a:ahLst/>
              <a:cxnLst/>
              <a:rect l="l" t="t" r="r" b="b"/>
              <a:pathLst>
                <a:path w="1071879" h="632460">
                  <a:moveTo>
                    <a:pt x="0" y="632460"/>
                  </a:moveTo>
                  <a:lnTo>
                    <a:pt x="1071372" y="632460"/>
                  </a:lnTo>
                  <a:lnTo>
                    <a:pt x="1071372" y="0"/>
                  </a:lnTo>
                  <a:lnTo>
                    <a:pt x="0" y="0"/>
                  </a:lnTo>
                  <a:lnTo>
                    <a:pt x="0" y="63246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6910" y="4510277"/>
              <a:ext cx="2356485" cy="492759"/>
            </a:xfrm>
            <a:custGeom>
              <a:avLst/>
              <a:gdLst/>
              <a:ahLst/>
              <a:cxnLst/>
              <a:rect l="l" t="t" r="r" b="b"/>
              <a:pathLst>
                <a:path w="2356485" h="492760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6485" h="492760">
                  <a:moveTo>
                    <a:pt x="2355088" y="260604"/>
                  </a:moveTo>
                  <a:lnTo>
                    <a:pt x="2329688" y="247904"/>
                  </a:lnTo>
                  <a:lnTo>
                    <a:pt x="2278888" y="222504"/>
                  </a:lnTo>
                  <a:lnTo>
                    <a:pt x="2278888" y="247904"/>
                  </a:lnTo>
                  <a:lnTo>
                    <a:pt x="294132" y="247904"/>
                  </a:lnTo>
                  <a:lnTo>
                    <a:pt x="294132" y="273304"/>
                  </a:lnTo>
                  <a:lnTo>
                    <a:pt x="2278888" y="273304"/>
                  </a:lnTo>
                  <a:lnTo>
                    <a:pt x="2278888" y="298704"/>
                  </a:lnTo>
                  <a:lnTo>
                    <a:pt x="2329688" y="273304"/>
                  </a:lnTo>
                  <a:lnTo>
                    <a:pt x="2355088" y="260604"/>
                  </a:lnTo>
                  <a:close/>
                </a:path>
                <a:path w="2356485" h="492760">
                  <a:moveTo>
                    <a:pt x="2356231" y="454152"/>
                  </a:moveTo>
                  <a:lnTo>
                    <a:pt x="2330831" y="441452"/>
                  </a:lnTo>
                  <a:lnTo>
                    <a:pt x="2280031" y="416052"/>
                  </a:lnTo>
                  <a:lnTo>
                    <a:pt x="2280031" y="441452"/>
                  </a:lnTo>
                  <a:lnTo>
                    <a:pt x="1877568" y="441452"/>
                  </a:lnTo>
                  <a:lnTo>
                    <a:pt x="1877568" y="466852"/>
                  </a:lnTo>
                  <a:lnTo>
                    <a:pt x="2280031" y="466852"/>
                  </a:lnTo>
                  <a:lnTo>
                    <a:pt x="2280031" y="492252"/>
                  </a:lnTo>
                  <a:lnTo>
                    <a:pt x="2330831" y="466852"/>
                  </a:lnTo>
                  <a:lnTo>
                    <a:pt x="2356231" y="4541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31457" y="4618481"/>
              <a:ext cx="8890" cy="570865"/>
            </a:xfrm>
            <a:custGeom>
              <a:avLst/>
              <a:gdLst/>
              <a:ahLst/>
              <a:cxnLst/>
              <a:rect l="l" t="t" r="r" b="b"/>
              <a:pathLst>
                <a:path w="8889" h="570864">
                  <a:moveTo>
                    <a:pt x="0" y="0"/>
                  </a:moveTo>
                  <a:lnTo>
                    <a:pt x="8508" y="570357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46910" y="1195577"/>
              <a:ext cx="294640" cy="4947285"/>
            </a:xfrm>
            <a:custGeom>
              <a:avLst/>
              <a:gdLst/>
              <a:ahLst/>
              <a:cxnLst/>
              <a:rect l="l" t="t" r="r" b="b"/>
              <a:pathLst>
                <a:path w="294639" h="4947285">
                  <a:moveTo>
                    <a:pt x="0" y="0"/>
                  </a:moveTo>
                  <a:lnTo>
                    <a:pt x="0" y="4947183"/>
                  </a:lnTo>
                </a:path>
                <a:path w="294639" h="4947285">
                  <a:moveTo>
                    <a:pt x="294131" y="10668"/>
                  </a:moveTo>
                  <a:lnTo>
                    <a:pt x="294131" y="494698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0086593" y="38000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5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879963" y="361772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928097" y="1002030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337293" y="690117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660381" y="1003553"/>
            <a:ext cx="111760" cy="530860"/>
            <a:chOff x="9660381" y="1003553"/>
            <a:chExt cx="111760" cy="530860"/>
          </a:xfrm>
        </p:grpSpPr>
        <p:sp>
          <p:nvSpPr>
            <p:cNvPr id="15" name="object 15"/>
            <p:cNvSpPr/>
            <p:nvPr/>
          </p:nvSpPr>
          <p:spPr>
            <a:xfrm>
              <a:off x="9684257" y="1003553"/>
              <a:ext cx="76200" cy="530860"/>
            </a:xfrm>
            <a:custGeom>
              <a:avLst/>
              <a:gdLst/>
              <a:ahLst/>
              <a:cxnLst/>
              <a:rect l="l" t="t" r="r" b="b"/>
              <a:pathLst>
                <a:path w="76200" h="530860">
                  <a:moveTo>
                    <a:pt x="25400" y="454279"/>
                  </a:moveTo>
                  <a:lnTo>
                    <a:pt x="0" y="454279"/>
                  </a:lnTo>
                  <a:lnTo>
                    <a:pt x="38100" y="530479"/>
                  </a:lnTo>
                  <a:lnTo>
                    <a:pt x="69850" y="466979"/>
                  </a:lnTo>
                  <a:lnTo>
                    <a:pt x="25400" y="466979"/>
                  </a:lnTo>
                  <a:lnTo>
                    <a:pt x="25400" y="454279"/>
                  </a:lnTo>
                  <a:close/>
                </a:path>
                <a:path w="76200" h="530860">
                  <a:moveTo>
                    <a:pt x="50800" y="0"/>
                  </a:moveTo>
                  <a:lnTo>
                    <a:pt x="25400" y="0"/>
                  </a:lnTo>
                  <a:lnTo>
                    <a:pt x="25400" y="466979"/>
                  </a:lnTo>
                  <a:lnTo>
                    <a:pt x="50800" y="466979"/>
                  </a:lnTo>
                  <a:lnTo>
                    <a:pt x="50800" y="0"/>
                  </a:lnTo>
                  <a:close/>
                </a:path>
                <a:path w="76200" h="530860">
                  <a:moveTo>
                    <a:pt x="76200" y="454279"/>
                  </a:moveTo>
                  <a:lnTo>
                    <a:pt x="50800" y="454279"/>
                  </a:lnTo>
                  <a:lnTo>
                    <a:pt x="50800" y="466979"/>
                  </a:lnTo>
                  <a:lnTo>
                    <a:pt x="69850" y="466979"/>
                  </a:lnTo>
                  <a:lnTo>
                    <a:pt x="76200" y="4542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60381" y="1296669"/>
              <a:ext cx="111760" cy="8890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9440418" y="1003553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795652" y="700786"/>
            <a:ext cx="60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114" dirty="0">
                <a:latin typeface="Calibri"/>
                <a:cs typeface="Calibri"/>
              </a:rPr>
              <a:t> </a:t>
            </a:r>
            <a:r>
              <a:rPr sz="4800" b="1" spc="-75" baseline="1736" dirty="0">
                <a:latin typeface="Calibri"/>
                <a:cs typeface="Calibri"/>
              </a:rPr>
              <a:t>B</a:t>
            </a:r>
            <a:endParaRPr sz="4800" baseline="1736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889505" y="4503165"/>
            <a:ext cx="416559" cy="296545"/>
            <a:chOff x="1889505" y="4503165"/>
            <a:chExt cx="416559" cy="29654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9505" y="4503165"/>
              <a:ext cx="111760" cy="873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4305" y="4711953"/>
              <a:ext cx="111760" cy="8737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314571" y="4523195"/>
            <a:ext cx="852169" cy="52895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680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𝑺𝒆𝒍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41002" y="139445"/>
            <a:ext cx="253365" cy="295910"/>
          </a:xfrm>
          <a:custGeom>
            <a:avLst/>
            <a:gdLst/>
            <a:ahLst/>
            <a:cxnLst/>
            <a:rect l="l" t="t" r="r" b="b"/>
            <a:pathLst>
              <a:path w="253365" h="295909">
                <a:moveTo>
                  <a:pt x="0" y="295655"/>
                </a:moveTo>
                <a:lnTo>
                  <a:pt x="252983" y="295655"/>
                </a:lnTo>
                <a:lnTo>
                  <a:pt x="252983" y="0"/>
                </a:lnTo>
                <a:lnTo>
                  <a:pt x="0" y="0"/>
                </a:lnTo>
                <a:lnTo>
                  <a:pt x="0" y="295655"/>
                </a:lnTo>
                <a:close/>
              </a:path>
            </a:pathLst>
          </a:custGeom>
          <a:ln w="254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47454" y="137921"/>
            <a:ext cx="739775" cy="58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  <a:tab pos="61087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5115" algn="l"/>
                <a:tab pos="61087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47097" y="471677"/>
            <a:ext cx="241300" cy="236220"/>
          </a:xfrm>
          <a:custGeom>
            <a:avLst/>
            <a:gdLst/>
            <a:ahLst/>
            <a:cxnLst/>
            <a:rect l="l" t="t" r="r" b="b"/>
            <a:pathLst>
              <a:path w="241300" h="236220">
                <a:moveTo>
                  <a:pt x="0" y="236220"/>
                </a:moveTo>
                <a:lnTo>
                  <a:pt x="240792" y="236220"/>
                </a:lnTo>
                <a:lnTo>
                  <a:pt x="240792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ln w="25400">
            <a:solidFill>
              <a:srgbClr val="FFC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980179" y="5289296"/>
            <a:ext cx="2011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𝐀𝐃𝐃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𝐒𝐔𝐁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30317" y="352170"/>
            <a:ext cx="4315460" cy="5306695"/>
            <a:chOff x="4830317" y="352170"/>
            <a:chExt cx="4315460" cy="5306695"/>
          </a:xfrm>
        </p:grpSpPr>
        <p:sp>
          <p:nvSpPr>
            <p:cNvPr id="28" name="object 28"/>
            <p:cNvSpPr/>
            <p:nvPr/>
          </p:nvSpPr>
          <p:spPr>
            <a:xfrm>
              <a:off x="4830317" y="352170"/>
              <a:ext cx="4315460" cy="5001260"/>
            </a:xfrm>
            <a:custGeom>
              <a:avLst/>
              <a:gdLst/>
              <a:ahLst/>
              <a:cxnLst/>
              <a:rect l="l" t="t" r="r" b="b"/>
              <a:pathLst>
                <a:path w="4315459" h="5001260">
                  <a:moveTo>
                    <a:pt x="20955" y="4918583"/>
                  </a:moveTo>
                  <a:lnTo>
                    <a:pt x="0" y="5001259"/>
                  </a:lnTo>
                  <a:lnTo>
                    <a:pt x="78612" y="4968367"/>
                  </a:lnTo>
                  <a:lnTo>
                    <a:pt x="70670" y="4961508"/>
                  </a:lnTo>
                  <a:lnTo>
                    <a:pt x="51054" y="4961508"/>
                  </a:lnTo>
                  <a:lnTo>
                    <a:pt x="31750" y="4944872"/>
                  </a:lnTo>
                  <a:lnTo>
                    <a:pt x="40137" y="4935145"/>
                  </a:lnTo>
                  <a:lnTo>
                    <a:pt x="20955" y="4918583"/>
                  </a:lnTo>
                  <a:close/>
                </a:path>
                <a:path w="4315459" h="5001260">
                  <a:moveTo>
                    <a:pt x="40137" y="4935145"/>
                  </a:moveTo>
                  <a:lnTo>
                    <a:pt x="31750" y="4944872"/>
                  </a:lnTo>
                  <a:lnTo>
                    <a:pt x="51054" y="4961508"/>
                  </a:lnTo>
                  <a:lnTo>
                    <a:pt x="59425" y="4951800"/>
                  </a:lnTo>
                  <a:lnTo>
                    <a:pt x="40137" y="4935145"/>
                  </a:lnTo>
                  <a:close/>
                </a:path>
                <a:path w="4315459" h="5001260">
                  <a:moveTo>
                    <a:pt x="59425" y="4951800"/>
                  </a:moveTo>
                  <a:lnTo>
                    <a:pt x="51054" y="4961508"/>
                  </a:lnTo>
                  <a:lnTo>
                    <a:pt x="70670" y="4961508"/>
                  </a:lnTo>
                  <a:lnTo>
                    <a:pt x="59425" y="4951800"/>
                  </a:lnTo>
                  <a:close/>
                </a:path>
                <a:path w="4315459" h="5001260">
                  <a:moveTo>
                    <a:pt x="4295648" y="0"/>
                  </a:moveTo>
                  <a:lnTo>
                    <a:pt x="40137" y="4935145"/>
                  </a:lnTo>
                  <a:lnTo>
                    <a:pt x="59425" y="4951800"/>
                  </a:lnTo>
                  <a:lnTo>
                    <a:pt x="4314952" y="16509"/>
                  </a:lnTo>
                  <a:lnTo>
                    <a:pt x="4295648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30317" y="708659"/>
              <a:ext cx="4314825" cy="4949825"/>
            </a:xfrm>
            <a:custGeom>
              <a:avLst/>
              <a:gdLst/>
              <a:ahLst/>
              <a:cxnLst/>
              <a:rect l="l" t="t" r="r" b="b"/>
              <a:pathLst>
                <a:path w="4314825" h="4949825">
                  <a:moveTo>
                    <a:pt x="21336" y="4867275"/>
                  </a:moveTo>
                  <a:lnTo>
                    <a:pt x="0" y="4949786"/>
                  </a:lnTo>
                  <a:lnTo>
                    <a:pt x="78740" y="4917363"/>
                  </a:lnTo>
                  <a:lnTo>
                    <a:pt x="70632" y="4910289"/>
                  </a:lnTo>
                  <a:lnTo>
                    <a:pt x="51308" y="4910289"/>
                  </a:lnTo>
                  <a:lnTo>
                    <a:pt x="32131" y="4893602"/>
                  </a:lnTo>
                  <a:lnTo>
                    <a:pt x="40499" y="4883996"/>
                  </a:lnTo>
                  <a:lnTo>
                    <a:pt x="21336" y="4867275"/>
                  </a:lnTo>
                  <a:close/>
                </a:path>
                <a:path w="4314825" h="4949825">
                  <a:moveTo>
                    <a:pt x="40499" y="4883996"/>
                  </a:moveTo>
                  <a:lnTo>
                    <a:pt x="32131" y="4893602"/>
                  </a:lnTo>
                  <a:lnTo>
                    <a:pt x="51308" y="4910289"/>
                  </a:lnTo>
                  <a:lnTo>
                    <a:pt x="59654" y="4900710"/>
                  </a:lnTo>
                  <a:lnTo>
                    <a:pt x="40499" y="4883996"/>
                  </a:lnTo>
                  <a:close/>
                </a:path>
                <a:path w="4314825" h="4949825">
                  <a:moveTo>
                    <a:pt x="59654" y="4900710"/>
                  </a:moveTo>
                  <a:lnTo>
                    <a:pt x="51308" y="4910289"/>
                  </a:lnTo>
                  <a:lnTo>
                    <a:pt x="70632" y="4910289"/>
                  </a:lnTo>
                  <a:lnTo>
                    <a:pt x="59654" y="4900710"/>
                  </a:lnTo>
                  <a:close/>
                </a:path>
                <a:path w="4314825" h="4949825">
                  <a:moveTo>
                    <a:pt x="4295775" y="0"/>
                  </a:moveTo>
                  <a:lnTo>
                    <a:pt x="40499" y="4883996"/>
                  </a:lnTo>
                  <a:lnTo>
                    <a:pt x="59654" y="4900710"/>
                  </a:lnTo>
                  <a:lnTo>
                    <a:pt x="4314825" y="16763"/>
                  </a:lnTo>
                  <a:lnTo>
                    <a:pt x="429577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922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00793" y="1540002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86593" y="38000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5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5397246" y="4584953"/>
            <a:ext cx="4003040" cy="640080"/>
            <a:chOff x="5397246" y="4584953"/>
            <a:chExt cx="4003040" cy="640080"/>
          </a:xfrm>
        </p:grpSpPr>
        <p:sp>
          <p:nvSpPr>
            <p:cNvPr id="6" name="object 6"/>
            <p:cNvSpPr/>
            <p:nvPr/>
          </p:nvSpPr>
          <p:spPr>
            <a:xfrm>
              <a:off x="5397246" y="4584953"/>
              <a:ext cx="4003040" cy="640080"/>
            </a:xfrm>
            <a:custGeom>
              <a:avLst/>
              <a:gdLst/>
              <a:ahLst/>
              <a:cxnLst/>
              <a:rect l="l" t="t" r="r" b="b"/>
              <a:pathLst>
                <a:path w="4003040" h="640079">
                  <a:moveTo>
                    <a:pt x="4001643" y="601980"/>
                  </a:moveTo>
                  <a:lnTo>
                    <a:pt x="3976255" y="589292"/>
                  </a:lnTo>
                  <a:lnTo>
                    <a:pt x="3925443" y="563880"/>
                  </a:lnTo>
                  <a:lnTo>
                    <a:pt x="3925443" y="589292"/>
                  </a:lnTo>
                  <a:lnTo>
                    <a:pt x="938784" y="590931"/>
                  </a:lnTo>
                  <a:lnTo>
                    <a:pt x="938784" y="616343"/>
                  </a:lnTo>
                  <a:lnTo>
                    <a:pt x="3925443" y="614692"/>
                  </a:lnTo>
                  <a:lnTo>
                    <a:pt x="3925443" y="640080"/>
                  </a:lnTo>
                  <a:lnTo>
                    <a:pt x="3976217" y="614692"/>
                  </a:lnTo>
                  <a:lnTo>
                    <a:pt x="4001643" y="601980"/>
                  </a:lnTo>
                  <a:close/>
                </a:path>
                <a:path w="4003040" h="640079">
                  <a:moveTo>
                    <a:pt x="4002786" y="38100"/>
                  </a:moveTo>
                  <a:lnTo>
                    <a:pt x="3977386" y="25400"/>
                  </a:lnTo>
                  <a:lnTo>
                    <a:pt x="3926586" y="0"/>
                  </a:lnTo>
                  <a:lnTo>
                    <a:pt x="392658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3926586" y="50800"/>
                  </a:lnTo>
                  <a:lnTo>
                    <a:pt x="3926586" y="76200"/>
                  </a:lnTo>
                  <a:lnTo>
                    <a:pt x="3977386" y="50800"/>
                  </a:lnTo>
                  <a:lnTo>
                    <a:pt x="4002786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331458" y="4618481"/>
              <a:ext cx="8890" cy="570865"/>
            </a:xfrm>
            <a:custGeom>
              <a:avLst/>
              <a:gdLst/>
              <a:ahLst/>
              <a:cxnLst/>
              <a:rect l="l" t="t" r="r" b="b"/>
              <a:pathLst>
                <a:path w="8889" h="570864">
                  <a:moveTo>
                    <a:pt x="0" y="0"/>
                  </a:moveTo>
                  <a:lnTo>
                    <a:pt x="8508" y="570357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79963" y="361772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28097" y="1002030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37293" y="690117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34210" y="1003553"/>
            <a:ext cx="7826375" cy="5152390"/>
            <a:chOff x="1934210" y="1003553"/>
            <a:chExt cx="7826375" cy="5152390"/>
          </a:xfrm>
        </p:grpSpPr>
        <p:sp>
          <p:nvSpPr>
            <p:cNvPr id="12" name="object 12"/>
            <p:cNvSpPr/>
            <p:nvPr/>
          </p:nvSpPr>
          <p:spPr>
            <a:xfrm>
              <a:off x="9440418" y="1003553"/>
              <a:ext cx="320040" cy="530860"/>
            </a:xfrm>
            <a:custGeom>
              <a:avLst/>
              <a:gdLst/>
              <a:ahLst/>
              <a:cxnLst/>
              <a:rect l="l" t="t" r="r" b="b"/>
              <a:pathLst>
                <a:path w="320040" h="530860">
                  <a:moveTo>
                    <a:pt x="76200" y="454279"/>
                  </a:moveTo>
                  <a:lnTo>
                    <a:pt x="50800" y="454279"/>
                  </a:lnTo>
                  <a:lnTo>
                    <a:pt x="50800" y="0"/>
                  </a:lnTo>
                  <a:lnTo>
                    <a:pt x="25400" y="0"/>
                  </a:lnTo>
                  <a:lnTo>
                    <a:pt x="25400" y="454279"/>
                  </a:lnTo>
                  <a:lnTo>
                    <a:pt x="0" y="454279"/>
                  </a:lnTo>
                  <a:lnTo>
                    <a:pt x="38100" y="530479"/>
                  </a:lnTo>
                  <a:lnTo>
                    <a:pt x="69850" y="466979"/>
                  </a:lnTo>
                  <a:lnTo>
                    <a:pt x="76200" y="454279"/>
                  </a:lnTo>
                  <a:close/>
                </a:path>
                <a:path w="320040" h="530860">
                  <a:moveTo>
                    <a:pt x="320040" y="454279"/>
                  </a:moveTo>
                  <a:lnTo>
                    <a:pt x="294640" y="454279"/>
                  </a:lnTo>
                  <a:lnTo>
                    <a:pt x="294640" y="0"/>
                  </a:lnTo>
                  <a:lnTo>
                    <a:pt x="269240" y="0"/>
                  </a:lnTo>
                  <a:lnTo>
                    <a:pt x="269240" y="454279"/>
                  </a:lnTo>
                  <a:lnTo>
                    <a:pt x="243840" y="454279"/>
                  </a:lnTo>
                  <a:lnTo>
                    <a:pt x="281940" y="530479"/>
                  </a:lnTo>
                  <a:lnTo>
                    <a:pt x="313690" y="466979"/>
                  </a:lnTo>
                  <a:lnTo>
                    <a:pt x="320040" y="4542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46910" y="4510277"/>
              <a:ext cx="2356485" cy="492759"/>
            </a:xfrm>
            <a:custGeom>
              <a:avLst/>
              <a:gdLst/>
              <a:ahLst/>
              <a:cxnLst/>
              <a:rect l="l" t="t" r="r" b="b"/>
              <a:pathLst>
                <a:path w="2356485" h="492760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6485" h="492760">
                  <a:moveTo>
                    <a:pt x="2355088" y="260604"/>
                  </a:moveTo>
                  <a:lnTo>
                    <a:pt x="2329688" y="247904"/>
                  </a:lnTo>
                  <a:lnTo>
                    <a:pt x="2278888" y="222504"/>
                  </a:lnTo>
                  <a:lnTo>
                    <a:pt x="2278888" y="247904"/>
                  </a:lnTo>
                  <a:lnTo>
                    <a:pt x="294132" y="247904"/>
                  </a:lnTo>
                  <a:lnTo>
                    <a:pt x="294132" y="273304"/>
                  </a:lnTo>
                  <a:lnTo>
                    <a:pt x="2278888" y="273304"/>
                  </a:lnTo>
                  <a:lnTo>
                    <a:pt x="2278888" y="298704"/>
                  </a:lnTo>
                  <a:lnTo>
                    <a:pt x="2329688" y="273304"/>
                  </a:lnTo>
                  <a:lnTo>
                    <a:pt x="2355088" y="260604"/>
                  </a:lnTo>
                  <a:close/>
                </a:path>
                <a:path w="2356485" h="492760">
                  <a:moveTo>
                    <a:pt x="2356231" y="454152"/>
                  </a:moveTo>
                  <a:lnTo>
                    <a:pt x="2330831" y="441452"/>
                  </a:lnTo>
                  <a:lnTo>
                    <a:pt x="2280031" y="416052"/>
                  </a:lnTo>
                  <a:lnTo>
                    <a:pt x="2280031" y="441452"/>
                  </a:lnTo>
                  <a:lnTo>
                    <a:pt x="1877568" y="441452"/>
                  </a:lnTo>
                  <a:lnTo>
                    <a:pt x="1877568" y="466852"/>
                  </a:lnTo>
                  <a:lnTo>
                    <a:pt x="2280031" y="466852"/>
                  </a:lnTo>
                  <a:lnTo>
                    <a:pt x="2280031" y="492252"/>
                  </a:lnTo>
                  <a:lnTo>
                    <a:pt x="2330831" y="466852"/>
                  </a:lnTo>
                  <a:lnTo>
                    <a:pt x="2356231" y="4541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46910" y="1195577"/>
              <a:ext cx="294640" cy="4947285"/>
            </a:xfrm>
            <a:custGeom>
              <a:avLst/>
              <a:gdLst/>
              <a:ahLst/>
              <a:cxnLst/>
              <a:rect l="l" t="t" r="r" b="b"/>
              <a:pathLst>
                <a:path w="294639" h="4947285">
                  <a:moveTo>
                    <a:pt x="0" y="0"/>
                  </a:moveTo>
                  <a:lnTo>
                    <a:pt x="0" y="4947183"/>
                  </a:lnTo>
                </a:path>
                <a:path w="294639" h="4947285">
                  <a:moveTo>
                    <a:pt x="294131" y="10668"/>
                  </a:moveTo>
                  <a:lnTo>
                    <a:pt x="294131" y="494698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13810" y="1341881"/>
              <a:ext cx="5905500" cy="3622675"/>
            </a:xfrm>
            <a:custGeom>
              <a:avLst/>
              <a:gdLst/>
              <a:ahLst/>
              <a:cxnLst/>
              <a:rect l="l" t="t" r="r" b="b"/>
              <a:pathLst>
                <a:path w="5905500" h="3622675">
                  <a:moveTo>
                    <a:pt x="5905499" y="9143"/>
                  </a:moveTo>
                  <a:lnTo>
                    <a:pt x="0" y="9143"/>
                  </a:lnTo>
                </a:path>
                <a:path w="5905500" h="3622675">
                  <a:moveTo>
                    <a:pt x="10667" y="0"/>
                  </a:moveTo>
                  <a:lnTo>
                    <a:pt x="10667" y="3622675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95652" y="700786"/>
            <a:ext cx="60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114" dirty="0">
                <a:latin typeface="Calibri"/>
                <a:cs typeface="Calibri"/>
              </a:rPr>
              <a:t> </a:t>
            </a:r>
            <a:r>
              <a:rPr sz="4800" b="1" spc="-75" baseline="1736" dirty="0">
                <a:latin typeface="Calibri"/>
                <a:cs typeface="Calibri"/>
              </a:rPr>
              <a:t>B</a:t>
            </a:r>
            <a:endParaRPr sz="4800" baseline="1736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889505" y="1296669"/>
            <a:ext cx="7882890" cy="3502660"/>
            <a:chOff x="1889505" y="1296669"/>
            <a:chExt cx="7882890" cy="350266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4503165"/>
              <a:ext cx="111760" cy="873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4305" y="4711954"/>
              <a:ext cx="111760" cy="873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60382" y="1296669"/>
              <a:ext cx="111760" cy="8890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296917" y="4412741"/>
            <a:ext cx="1071880" cy="63246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550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440"/>
              </a:spcBef>
            </a:pPr>
            <a:r>
              <a:rPr sz="1050" spc="-25" dirty="0">
                <a:solidFill>
                  <a:srgbClr val="FF0000"/>
                </a:solidFill>
                <a:latin typeface="Cambria Math"/>
                <a:cs typeface="Cambria Math"/>
              </a:rPr>
              <a:t>𝑺𝒆𝒍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80179" y="5289296"/>
            <a:ext cx="2011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𝐀𝐃𝐃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𝐒𝐔𝐁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541002" y="139445"/>
            <a:ext cx="253365" cy="295910"/>
          </a:xfrm>
          <a:custGeom>
            <a:avLst/>
            <a:gdLst/>
            <a:ahLst/>
            <a:cxnLst/>
            <a:rect l="l" t="t" r="r" b="b"/>
            <a:pathLst>
              <a:path w="253365" h="295909">
                <a:moveTo>
                  <a:pt x="0" y="295655"/>
                </a:moveTo>
                <a:lnTo>
                  <a:pt x="252983" y="295655"/>
                </a:lnTo>
                <a:lnTo>
                  <a:pt x="252983" y="0"/>
                </a:lnTo>
                <a:lnTo>
                  <a:pt x="0" y="0"/>
                </a:lnTo>
                <a:lnTo>
                  <a:pt x="0" y="295655"/>
                </a:lnTo>
                <a:close/>
              </a:path>
            </a:pathLst>
          </a:custGeom>
          <a:ln w="25400">
            <a:solidFill>
              <a:srgbClr val="2E528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347454" y="137921"/>
            <a:ext cx="739775" cy="587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  <a:tab pos="61087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5115" algn="l"/>
                <a:tab pos="610870" algn="l"/>
              </a:tabLst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547097" y="471677"/>
            <a:ext cx="241300" cy="236220"/>
          </a:xfrm>
          <a:custGeom>
            <a:avLst/>
            <a:gdLst/>
            <a:ahLst/>
            <a:cxnLst/>
            <a:rect l="l" t="t" r="r" b="b"/>
            <a:pathLst>
              <a:path w="241300" h="236220">
                <a:moveTo>
                  <a:pt x="0" y="236220"/>
                </a:moveTo>
                <a:lnTo>
                  <a:pt x="240792" y="236220"/>
                </a:lnTo>
                <a:lnTo>
                  <a:pt x="240792" y="0"/>
                </a:lnTo>
                <a:lnTo>
                  <a:pt x="0" y="0"/>
                </a:lnTo>
                <a:lnTo>
                  <a:pt x="0" y="236220"/>
                </a:lnTo>
                <a:close/>
              </a:path>
            </a:pathLst>
          </a:custGeom>
          <a:ln w="25400">
            <a:solidFill>
              <a:srgbClr val="FFC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922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1-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00793" y="1540002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495538" y="1794764"/>
            <a:ext cx="902969" cy="76200"/>
          </a:xfrm>
          <a:custGeom>
            <a:avLst/>
            <a:gdLst/>
            <a:ahLst/>
            <a:cxnLst/>
            <a:rect l="l" t="t" r="r" b="b"/>
            <a:pathLst>
              <a:path w="902970" h="76200">
                <a:moveTo>
                  <a:pt x="826388" y="0"/>
                </a:moveTo>
                <a:lnTo>
                  <a:pt x="826473" y="25311"/>
                </a:lnTo>
                <a:lnTo>
                  <a:pt x="826558" y="50711"/>
                </a:lnTo>
                <a:lnTo>
                  <a:pt x="826642" y="76200"/>
                </a:lnTo>
                <a:lnTo>
                  <a:pt x="877197" y="50711"/>
                </a:lnTo>
                <a:lnTo>
                  <a:pt x="839343" y="50711"/>
                </a:lnTo>
                <a:lnTo>
                  <a:pt x="839228" y="27812"/>
                </a:lnTo>
                <a:lnTo>
                  <a:pt x="839216" y="25311"/>
                </a:lnTo>
                <a:lnTo>
                  <a:pt x="877436" y="25311"/>
                </a:lnTo>
                <a:lnTo>
                  <a:pt x="826388" y="0"/>
                </a:lnTo>
                <a:close/>
              </a:path>
              <a:path w="902970" h="76200">
                <a:moveTo>
                  <a:pt x="826473" y="25311"/>
                </a:moveTo>
                <a:lnTo>
                  <a:pt x="0" y="27812"/>
                </a:lnTo>
                <a:lnTo>
                  <a:pt x="0" y="53212"/>
                </a:lnTo>
                <a:lnTo>
                  <a:pt x="826558" y="50711"/>
                </a:lnTo>
                <a:lnTo>
                  <a:pt x="826473" y="25311"/>
                </a:lnTo>
                <a:close/>
              </a:path>
              <a:path w="902970" h="76200">
                <a:moveTo>
                  <a:pt x="877436" y="25311"/>
                </a:moveTo>
                <a:lnTo>
                  <a:pt x="839216" y="25311"/>
                </a:lnTo>
                <a:lnTo>
                  <a:pt x="839228" y="27812"/>
                </a:lnTo>
                <a:lnTo>
                  <a:pt x="839343" y="50711"/>
                </a:lnTo>
                <a:lnTo>
                  <a:pt x="877197" y="50711"/>
                </a:lnTo>
                <a:lnTo>
                  <a:pt x="902715" y="37846"/>
                </a:lnTo>
                <a:lnTo>
                  <a:pt x="877436" y="253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25690" y="2399538"/>
            <a:ext cx="1972945" cy="76200"/>
          </a:xfrm>
          <a:custGeom>
            <a:avLst/>
            <a:gdLst/>
            <a:ahLst/>
            <a:cxnLst/>
            <a:rect l="l" t="t" r="r" b="b"/>
            <a:pathLst>
              <a:path w="1972945" h="76200">
                <a:moveTo>
                  <a:pt x="1896744" y="0"/>
                </a:moveTo>
                <a:lnTo>
                  <a:pt x="1896744" y="76200"/>
                </a:lnTo>
                <a:lnTo>
                  <a:pt x="1947544" y="50800"/>
                </a:lnTo>
                <a:lnTo>
                  <a:pt x="1909444" y="50800"/>
                </a:lnTo>
                <a:lnTo>
                  <a:pt x="1909444" y="25400"/>
                </a:lnTo>
                <a:lnTo>
                  <a:pt x="1947544" y="25400"/>
                </a:lnTo>
                <a:lnTo>
                  <a:pt x="1896744" y="0"/>
                </a:lnTo>
                <a:close/>
              </a:path>
              <a:path w="1972945" h="76200">
                <a:moveTo>
                  <a:pt x="189674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896744" y="50800"/>
                </a:lnTo>
                <a:lnTo>
                  <a:pt x="1896744" y="25400"/>
                </a:lnTo>
                <a:close/>
              </a:path>
              <a:path w="1972945" h="76200">
                <a:moveTo>
                  <a:pt x="1947544" y="25400"/>
                </a:moveTo>
                <a:lnTo>
                  <a:pt x="1909444" y="25400"/>
                </a:lnTo>
                <a:lnTo>
                  <a:pt x="1909444" y="50800"/>
                </a:lnTo>
                <a:lnTo>
                  <a:pt x="1947544" y="50800"/>
                </a:lnTo>
                <a:lnTo>
                  <a:pt x="1972944" y="38100"/>
                </a:lnTo>
                <a:lnTo>
                  <a:pt x="194754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20917" y="2960370"/>
            <a:ext cx="3580129" cy="76200"/>
          </a:xfrm>
          <a:custGeom>
            <a:avLst/>
            <a:gdLst/>
            <a:ahLst/>
            <a:cxnLst/>
            <a:rect l="l" t="t" r="r" b="b"/>
            <a:pathLst>
              <a:path w="3580129" h="76200">
                <a:moveTo>
                  <a:pt x="3503422" y="0"/>
                </a:moveTo>
                <a:lnTo>
                  <a:pt x="3503422" y="76200"/>
                </a:lnTo>
                <a:lnTo>
                  <a:pt x="3554222" y="50800"/>
                </a:lnTo>
                <a:lnTo>
                  <a:pt x="3516122" y="50800"/>
                </a:lnTo>
                <a:lnTo>
                  <a:pt x="3516122" y="25400"/>
                </a:lnTo>
                <a:lnTo>
                  <a:pt x="3554222" y="25400"/>
                </a:lnTo>
                <a:lnTo>
                  <a:pt x="3503422" y="0"/>
                </a:lnTo>
                <a:close/>
              </a:path>
              <a:path w="3580129" h="76200">
                <a:moveTo>
                  <a:pt x="350342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503422" y="50800"/>
                </a:lnTo>
                <a:lnTo>
                  <a:pt x="3503422" y="25400"/>
                </a:lnTo>
                <a:close/>
              </a:path>
              <a:path w="3580129" h="76200">
                <a:moveTo>
                  <a:pt x="3554222" y="25400"/>
                </a:moveTo>
                <a:lnTo>
                  <a:pt x="3516122" y="25400"/>
                </a:lnTo>
                <a:lnTo>
                  <a:pt x="3516122" y="50800"/>
                </a:lnTo>
                <a:lnTo>
                  <a:pt x="3554222" y="50800"/>
                </a:lnTo>
                <a:lnTo>
                  <a:pt x="3579622" y="38100"/>
                </a:lnTo>
                <a:lnTo>
                  <a:pt x="355422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58562" y="3521201"/>
            <a:ext cx="4142104" cy="671830"/>
          </a:xfrm>
          <a:custGeom>
            <a:avLst/>
            <a:gdLst/>
            <a:ahLst/>
            <a:cxnLst/>
            <a:rect l="l" t="t" r="r" b="b"/>
            <a:pathLst>
              <a:path w="4142104" h="671829">
                <a:moveTo>
                  <a:pt x="4123436" y="633603"/>
                </a:moveTo>
                <a:lnTo>
                  <a:pt x="4098036" y="620903"/>
                </a:lnTo>
                <a:lnTo>
                  <a:pt x="4047236" y="595503"/>
                </a:lnTo>
                <a:lnTo>
                  <a:pt x="4047236" y="620903"/>
                </a:lnTo>
                <a:lnTo>
                  <a:pt x="1059180" y="619760"/>
                </a:lnTo>
                <a:lnTo>
                  <a:pt x="1059180" y="645160"/>
                </a:lnTo>
                <a:lnTo>
                  <a:pt x="4047236" y="646303"/>
                </a:lnTo>
                <a:lnTo>
                  <a:pt x="4047236" y="671703"/>
                </a:lnTo>
                <a:lnTo>
                  <a:pt x="4098036" y="646303"/>
                </a:lnTo>
                <a:lnTo>
                  <a:pt x="4123436" y="633603"/>
                </a:lnTo>
                <a:close/>
              </a:path>
              <a:path w="4142104" h="671829">
                <a:moveTo>
                  <a:pt x="4141978" y="38100"/>
                </a:moveTo>
                <a:lnTo>
                  <a:pt x="4116578" y="25400"/>
                </a:lnTo>
                <a:lnTo>
                  <a:pt x="4065778" y="0"/>
                </a:lnTo>
                <a:lnTo>
                  <a:pt x="4065778" y="25400"/>
                </a:lnTo>
                <a:lnTo>
                  <a:pt x="0" y="25400"/>
                </a:lnTo>
                <a:lnTo>
                  <a:pt x="0" y="50800"/>
                </a:lnTo>
                <a:lnTo>
                  <a:pt x="4065778" y="50800"/>
                </a:lnTo>
                <a:lnTo>
                  <a:pt x="4065778" y="76200"/>
                </a:lnTo>
                <a:lnTo>
                  <a:pt x="4116578" y="50800"/>
                </a:lnTo>
                <a:lnTo>
                  <a:pt x="414197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63007" y="5630811"/>
            <a:ext cx="4135754" cy="76200"/>
          </a:xfrm>
          <a:custGeom>
            <a:avLst/>
            <a:gdLst/>
            <a:ahLst/>
            <a:cxnLst/>
            <a:rect l="l" t="t" r="r" b="b"/>
            <a:pathLst>
              <a:path w="4135754" h="76200">
                <a:moveTo>
                  <a:pt x="4058919" y="0"/>
                </a:moveTo>
                <a:lnTo>
                  <a:pt x="4059047" y="25402"/>
                </a:lnTo>
                <a:lnTo>
                  <a:pt x="4059108" y="37706"/>
                </a:lnTo>
                <a:lnTo>
                  <a:pt x="4059174" y="50802"/>
                </a:lnTo>
                <a:lnTo>
                  <a:pt x="4059300" y="76200"/>
                </a:lnTo>
                <a:lnTo>
                  <a:pt x="4109409" y="50802"/>
                </a:lnTo>
                <a:lnTo>
                  <a:pt x="4071874" y="50802"/>
                </a:lnTo>
                <a:lnTo>
                  <a:pt x="4071808" y="37706"/>
                </a:lnTo>
                <a:lnTo>
                  <a:pt x="4071747" y="25402"/>
                </a:lnTo>
                <a:lnTo>
                  <a:pt x="4110340" y="25402"/>
                </a:lnTo>
                <a:lnTo>
                  <a:pt x="4058919" y="0"/>
                </a:lnTo>
                <a:close/>
              </a:path>
              <a:path w="4135754" h="76200">
                <a:moveTo>
                  <a:pt x="4059047" y="25402"/>
                </a:moveTo>
                <a:lnTo>
                  <a:pt x="0" y="46405"/>
                </a:lnTo>
                <a:lnTo>
                  <a:pt x="253" y="71805"/>
                </a:lnTo>
                <a:lnTo>
                  <a:pt x="4059174" y="50802"/>
                </a:lnTo>
                <a:lnTo>
                  <a:pt x="4059108" y="37706"/>
                </a:lnTo>
                <a:lnTo>
                  <a:pt x="4059047" y="25402"/>
                </a:lnTo>
                <a:close/>
              </a:path>
              <a:path w="4135754" h="76200">
                <a:moveTo>
                  <a:pt x="4110340" y="25402"/>
                </a:moveTo>
                <a:lnTo>
                  <a:pt x="4071747" y="25402"/>
                </a:lnTo>
                <a:lnTo>
                  <a:pt x="4071808" y="37706"/>
                </a:lnTo>
                <a:lnTo>
                  <a:pt x="4071874" y="50802"/>
                </a:lnTo>
                <a:lnTo>
                  <a:pt x="4109409" y="50802"/>
                </a:lnTo>
                <a:lnTo>
                  <a:pt x="4135246" y="37706"/>
                </a:lnTo>
                <a:lnTo>
                  <a:pt x="4110340" y="254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086593" y="38000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199"/>
                </a:lnTo>
                <a:lnTo>
                  <a:pt x="728090" y="50799"/>
                </a:lnTo>
                <a:lnTo>
                  <a:pt x="689990" y="50799"/>
                </a:lnTo>
                <a:lnTo>
                  <a:pt x="689990" y="25399"/>
                </a:lnTo>
                <a:lnTo>
                  <a:pt x="728090" y="25399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0" y="50799"/>
                </a:lnTo>
                <a:lnTo>
                  <a:pt x="677290" y="25399"/>
                </a:lnTo>
                <a:close/>
              </a:path>
              <a:path w="753745" h="76200">
                <a:moveTo>
                  <a:pt x="728090" y="25399"/>
                </a:moveTo>
                <a:lnTo>
                  <a:pt x="689990" y="25399"/>
                </a:lnTo>
                <a:lnTo>
                  <a:pt x="689990" y="50799"/>
                </a:lnTo>
                <a:lnTo>
                  <a:pt x="728090" y="50799"/>
                </a:lnTo>
                <a:lnTo>
                  <a:pt x="753490" y="38099"/>
                </a:lnTo>
                <a:lnTo>
                  <a:pt x="728090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879963" y="3617721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928097" y="1002030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9"/>
                </a:moveTo>
                <a:lnTo>
                  <a:pt x="0" y="454279"/>
                </a:lnTo>
                <a:lnTo>
                  <a:pt x="38100" y="530479"/>
                </a:lnTo>
                <a:lnTo>
                  <a:pt x="69850" y="466979"/>
                </a:lnTo>
                <a:lnTo>
                  <a:pt x="25400" y="466979"/>
                </a:lnTo>
                <a:lnTo>
                  <a:pt x="25400" y="454279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9"/>
                </a:lnTo>
                <a:lnTo>
                  <a:pt x="50800" y="466979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9"/>
                </a:moveTo>
                <a:lnTo>
                  <a:pt x="50800" y="454279"/>
                </a:lnTo>
                <a:lnTo>
                  <a:pt x="50800" y="466979"/>
                </a:lnTo>
                <a:lnTo>
                  <a:pt x="69850" y="466979"/>
                </a:lnTo>
                <a:lnTo>
                  <a:pt x="76200" y="454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37293" y="690117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46910" y="1003553"/>
            <a:ext cx="7813675" cy="934719"/>
            <a:chOff x="1946910" y="1003553"/>
            <a:chExt cx="7813675" cy="934719"/>
          </a:xfrm>
        </p:grpSpPr>
        <p:sp>
          <p:nvSpPr>
            <p:cNvPr id="14" name="object 14"/>
            <p:cNvSpPr/>
            <p:nvPr/>
          </p:nvSpPr>
          <p:spPr>
            <a:xfrm>
              <a:off x="9440418" y="1003553"/>
              <a:ext cx="320040" cy="530860"/>
            </a:xfrm>
            <a:custGeom>
              <a:avLst/>
              <a:gdLst/>
              <a:ahLst/>
              <a:cxnLst/>
              <a:rect l="l" t="t" r="r" b="b"/>
              <a:pathLst>
                <a:path w="320040" h="530860">
                  <a:moveTo>
                    <a:pt x="76200" y="454279"/>
                  </a:moveTo>
                  <a:lnTo>
                    <a:pt x="50800" y="454279"/>
                  </a:lnTo>
                  <a:lnTo>
                    <a:pt x="50800" y="0"/>
                  </a:lnTo>
                  <a:lnTo>
                    <a:pt x="25400" y="0"/>
                  </a:lnTo>
                  <a:lnTo>
                    <a:pt x="25400" y="454279"/>
                  </a:lnTo>
                  <a:lnTo>
                    <a:pt x="0" y="454279"/>
                  </a:lnTo>
                  <a:lnTo>
                    <a:pt x="38100" y="530479"/>
                  </a:lnTo>
                  <a:lnTo>
                    <a:pt x="69850" y="466979"/>
                  </a:lnTo>
                  <a:lnTo>
                    <a:pt x="76200" y="454279"/>
                  </a:lnTo>
                  <a:close/>
                </a:path>
                <a:path w="320040" h="530860">
                  <a:moveTo>
                    <a:pt x="320040" y="454279"/>
                  </a:moveTo>
                  <a:lnTo>
                    <a:pt x="294640" y="454279"/>
                  </a:lnTo>
                  <a:lnTo>
                    <a:pt x="294640" y="0"/>
                  </a:lnTo>
                  <a:lnTo>
                    <a:pt x="269240" y="0"/>
                  </a:lnTo>
                  <a:lnTo>
                    <a:pt x="269240" y="454279"/>
                  </a:lnTo>
                  <a:lnTo>
                    <a:pt x="243840" y="454279"/>
                  </a:lnTo>
                  <a:lnTo>
                    <a:pt x="281940" y="530479"/>
                  </a:lnTo>
                  <a:lnTo>
                    <a:pt x="313690" y="466979"/>
                  </a:lnTo>
                  <a:lnTo>
                    <a:pt x="320040" y="4542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46910" y="1614042"/>
              <a:ext cx="5758815" cy="324485"/>
            </a:xfrm>
            <a:custGeom>
              <a:avLst/>
              <a:gdLst/>
              <a:ahLst/>
              <a:cxnLst/>
              <a:rect l="l" t="t" r="r" b="b"/>
              <a:pathLst>
                <a:path w="5758815" h="324485">
                  <a:moveTo>
                    <a:pt x="5758180" y="286131"/>
                  </a:moveTo>
                  <a:lnTo>
                    <a:pt x="5732602" y="273304"/>
                  </a:lnTo>
                  <a:lnTo>
                    <a:pt x="5681980" y="247904"/>
                  </a:lnTo>
                  <a:lnTo>
                    <a:pt x="5681929" y="273304"/>
                  </a:lnTo>
                  <a:lnTo>
                    <a:pt x="294132" y="268351"/>
                  </a:lnTo>
                  <a:lnTo>
                    <a:pt x="294132" y="293751"/>
                  </a:lnTo>
                  <a:lnTo>
                    <a:pt x="5681891" y="298704"/>
                  </a:lnTo>
                  <a:lnTo>
                    <a:pt x="5681853" y="324104"/>
                  </a:lnTo>
                  <a:lnTo>
                    <a:pt x="5732907" y="298704"/>
                  </a:lnTo>
                  <a:lnTo>
                    <a:pt x="5758180" y="286131"/>
                  </a:lnTo>
                  <a:close/>
                </a:path>
                <a:path w="5758815" h="324485">
                  <a:moveTo>
                    <a:pt x="5758434" y="38227"/>
                  </a:moveTo>
                  <a:lnTo>
                    <a:pt x="5733110" y="25527"/>
                  </a:lnTo>
                  <a:lnTo>
                    <a:pt x="5682234" y="0"/>
                  </a:lnTo>
                  <a:lnTo>
                    <a:pt x="5682183" y="25514"/>
                  </a:lnTo>
                  <a:lnTo>
                    <a:pt x="0" y="16891"/>
                  </a:lnTo>
                  <a:lnTo>
                    <a:pt x="0" y="42291"/>
                  </a:lnTo>
                  <a:lnTo>
                    <a:pt x="5682145" y="50914"/>
                  </a:lnTo>
                  <a:lnTo>
                    <a:pt x="5682107" y="76200"/>
                  </a:lnTo>
                  <a:lnTo>
                    <a:pt x="5732894" y="50927"/>
                  </a:lnTo>
                  <a:lnTo>
                    <a:pt x="5758434" y="382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5397246" y="4584953"/>
            <a:ext cx="4003040" cy="640080"/>
            <a:chOff x="5397246" y="4584953"/>
            <a:chExt cx="4003040" cy="640080"/>
          </a:xfrm>
        </p:grpSpPr>
        <p:sp>
          <p:nvSpPr>
            <p:cNvPr id="17" name="object 17"/>
            <p:cNvSpPr/>
            <p:nvPr/>
          </p:nvSpPr>
          <p:spPr>
            <a:xfrm>
              <a:off x="5397246" y="4584953"/>
              <a:ext cx="4003040" cy="640080"/>
            </a:xfrm>
            <a:custGeom>
              <a:avLst/>
              <a:gdLst/>
              <a:ahLst/>
              <a:cxnLst/>
              <a:rect l="l" t="t" r="r" b="b"/>
              <a:pathLst>
                <a:path w="4003040" h="640079">
                  <a:moveTo>
                    <a:pt x="4001643" y="601980"/>
                  </a:moveTo>
                  <a:lnTo>
                    <a:pt x="3976255" y="589292"/>
                  </a:lnTo>
                  <a:lnTo>
                    <a:pt x="3925443" y="563880"/>
                  </a:lnTo>
                  <a:lnTo>
                    <a:pt x="3925443" y="589292"/>
                  </a:lnTo>
                  <a:lnTo>
                    <a:pt x="938784" y="590931"/>
                  </a:lnTo>
                  <a:lnTo>
                    <a:pt x="938784" y="616343"/>
                  </a:lnTo>
                  <a:lnTo>
                    <a:pt x="3925443" y="614692"/>
                  </a:lnTo>
                  <a:lnTo>
                    <a:pt x="3925443" y="640080"/>
                  </a:lnTo>
                  <a:lnTo>
                    <a:pt x="3976217" y="614692"/>
                  </a:lnTo>
                  <a:lnTo>
                    <a:pt x="4001643" y="601980"/>
                  </a:lnTo>
                  <a:close/>
                </a:path>
                <a:path w="4003040" h="640079">
                  <a:moveTo>
                    <a:pt x="4002786" y="38100"/>
                  </a:moveTo>
                  <a:lnTo>
                    <a:pt x="3977386" y="25400"/>
                  </a:lnTo>
                  <a:lnTo>
                    <a:pt x="3926586" y="0"/>
                  </a:lnTo>
                  <a:lnTo>
                    <a:pt x="392658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3926586" y="50800"/>
                  </a:lnTo>
                  <a:lnTo>
                    <a:pt x="3926586" y="76200"/>
                  </a:lnTo>
                  <a:lnTo>
                    <a:pt x="3977386" y="50800"/>
                  </a:lnTo>
                  <a:lnTo>
                    <a:pt x="4002786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31458" y="4618481"/>
              <a:ext cx="8890" cy="570865"/>
            </a:xfrm>
            <a:custGeom>
              <a:avLst/>
              <a:gdLst/>
              <a:ahLst/>
              <a:cxnLst/>
              <a:rect l="l" t="t" r="r" b="b"/>
              <a:pathLst>
                <a:path w="8889" h="570864">
                  <a:moveTo>
                    <a:pt x="0" y="0"/>
                  </a:moveTo>
                  <a:lnTo>
                    <a:pt x="8508" y="5703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06106" y="1540002"/>
            <a:ext cx="789940" cy="533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6319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28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946910" y="2260091"/>
            <a:ext cx="4697730" cy="302895"/>
          </a:xfrm>
          <a:custGeom>
            <a:avLst/>
            <a:gdLst/>
            <a:ahLst/>
            <a:cxnLst/>
            <a:rect l="l" t="t" r="r" b="b"/>
            <a:pathLst>
              <a:path w="4697730" h="302894">
                <a:moveTo>
                  <a:pt x="4697209" y="264414"/>
                </a:moveTo>
                <a:lnTo>
                  <a:pt x="4671809" y="251714"/>
                </a:lnTo>
                <a:lnTo>
                  <a:pt x="4621009" y="226314"/>
                </a:lnTo>
                <a:lnTo>
                  <a:pt x="4621009" y="251714"/>
                </a:lnTo>
                <a:lnTo>
                  <a:pt x="294132" y="251714"/>
                </a:lnTo>
                <a:lnTo>
                  <a:pt x="294132" y="277114"/>
                </a:lnTo>
                <a:lnTo>
                  <a:pt x="4621009" y="277114"/>
                </a:lnTo>
                <a:lnTo>
                  <a:pt x="4621009" y="302514"/>
                </a:lnTo>
                <a:lnTo>
                  <a:pt x="4671809" y="277114"/>
                </a:lnTo>
                <a:lnTo>
                  <a:pt x="4697209" y="264414"/>
                </a:lnTo>
                <a:close/>
              </a:path>
              <a:path w="4697730" h="302894">
                <a:moveTo>
                  <a:pt x="4697463" y="38100"/>
                </a:moveTo>
                <a:lnTo>
                  <a:pt x="4672063" y="25400"/>
                </a:lnTo>
                <a:lnTo>
                  <a:pt x="4621263" y="0"/>
                </a:lnTo>
                <a:lnTo>
                  <a:pt x="4621212" y="25387"/>
                </a:lnTo>
                <a:lnTo>
                  <a:pt x="0" y="20066"/>
                </a:lnTo>
                <a:lnTo>
                  <a:pt x="0" y="45466"/>
                </a:lnTo>
                <a:lnTo>
                  <a:pt x="4621174" y="50787"/>
                </a:lnTo>
                <a:lnTo>
                  <a:pt x="4621136" y="76200"/>
                </a:lnTo>
                <a:lnTo>
                  <a:pt x="4672025" y="50800"/>
                </a:lnTo>
                <a:lnTo>
                  <a:pt x="4697463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43878" y="2193798"/>
            <a:ext cx="782320" cy="4908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8986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495"/>
              </a:spcBef>
            </a:pP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46783" y="2776600"/>
            <a:ext cx="3027680" cy="328930"/>
          </a:xfrm>
          <a:custGeom>
            <a:avLst/>
            <a:gdLst/>
            <a:ahLst/>
            <a:cxnLst/>
            <a:rect l="l" t="t" r="r" b="b"/>
            <a:pathLst>
              <a:path w="3027679" h="328930">
                <a:moveTo>
                  <a:pt x="3019806" y="290449"/>
                </a:moveTo>
                <a:lnTo>
                  <a:pt x="2994609" y="277901"/>
                </a:lnTo>
                <a:lnTo>
                  <a:pt x="2943606" y="252476"/>
                </a:lnTo>
                <a:lnTo>
                  <a:pt x="2943644" y="277901"/>
                </a:lnTo>
                <a:lnTo>
                  <a:pt x="301879" y="282448"/>
                </a:lnTo>
                <a:lnTo>
                  <a:pt x="301879" y="307848"/>
                </a:lnTo>
                <a:lnTo>
                  <a:pt x="2943682" y="303301"/>
                </a:lnTo>
                <a:lnTo>
                  <a:pt x="2943733" y="328676"/>
                </a:lnTo>
                <a:lnTo>
                  <a:pt x="2994228" y="303301"/>
                </a:lnTo>
                <a:lnTo>
                  <a:pt x="3019806" y="290449"/>
                </a:lnTo>
                <a:close/>
              </a:path>
              <a:path w="3027679" h="328930">
                <a:moveTo>
                  <a:pt x="3027553" y="37465"/>
                </a:moveTo>
                <a:lnTo>
                  <a:pt x="3002864" y="25374"/>
                </a:lnTo>
                <a:lnTo>
                  <a:pt x="2951099" y="0"/>
                </a:lnTo>
                <a:lnTo>
                  <a:pt x="2951264" y="25374"/>
                </a:lnTo>
                <a:lnTo>
                  <a:pt x="0" y="48387"/>
                </a:lnTo>
                <a:lnTo>
                  <a:pt x="254" y="73787"/>
                </a:lnTo>
                <a:lnTo>
                  <a:pt x="2951429" y="50774"/>
                </a:lnTo>
                <a:lnTo>
                  <a:pt x="2951581" y="73787"/>
                </a:lnTo>
                <a:lnTo>
                  <a:pt x="2951607" y="76200"/>
                </a:lnTo>
                <a:lnTo>
                  <a:pt x="3001454" y="50774"/>
                </a:lnTo>
                <a:lnTo>
                  <a:pt x="3027553" y="374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975097" y="2713482"/>
            <a:ext cx="845819" cy="4743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7843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405"/>
              </a:spcBef>
            </a:pPr>
            <a:r>
              <a:rPr sz="1400" b="1" spc="-25" dirty="0"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946910" y="3395090"/>
            <a:ext cx="2427605" cy="1607820"/>
          </a:xfrm>
          <a:custGeom>
            <a:avLst/>
            <a:gdLst/>
            <a:ahLst/>
            <a:cxnLst/>
            <a:rect l="l" t="t" r="r" b="b"/>
            <a:pathLst>
              <a:path w="2427604" h="1607820">
                <a:moveTo>
                  <a:pt x="2349246" y="1153287"/>
                </a:moveTo>
                <a:lnTo>
                  <a:pt x="2323846" y="1140587"/>
                </a:lnTo>
                <a:lnTo>
                  <a:pt x="2273046" y="1115187"/>
                </a:lnTo>
                <a:lnTo>
                  <a:pt x="2273046" y="1140587"/>
                </a:lnTo>
                <a:lnTo>
                  <a:pt x="0" y="1140587"/>
                </a:lnTo>
                <a:lnTo>
                  <a:pt x="0" y="1165987"/>
                </a:lnTo>
                <a:lnTo>
                  <a:pt x="2273046" y="1165987"/>
                </a:lnTo>
                <a:lnTo>
                  <a:pt x="2273046" y="1191387"/>
                </a:lnTo>
                <a:lnTo>
                  <a:pt x="2323846" y="1165987"/>
                </a:lnTo>
                <a:lnTo>
                  <a:pt x="2349246" y="1153287"/>
                </a:lnTo>
                <a:close/>
              </a:path>
              <a:path w="2427604" h="1607820">
                <a:moveTo>
                  <a:pt x="2355088" y="1375791"/>
                </a:moveTo>
                <a:lnTo>
                  <a:pt x="2329688" y="1363091"/>
                </a:lnTo>
                <a:lnTo>
                  <a:pt x="2278888" y="1337691"/>
                </a:lnTo>
                <a:lnTo>
                  <a:pt x="2278888" y="1363091"/>
                </a:lnTo>
                <a:lnTo>
                  <a:pt x="294132" y="1363091"/>
                </a:lnTo>
                <a:lnTo>
                  <a:pt x="294132" y="1388491"/>
                </a:lnTo>
                <a:lnTo>
                  <a:pt x="2278888" y="1388491"/>
                </a:lnTo>
                <a:lnTo>
                  <a:pt x="2278888" y="1413891"/>
                </a:lnTo>
                <a:lnTo>
                  <a:pt x="2329688" y="1388491"/>
                </a:lnTo>
                <a:lnTo>
                  <a:pt x="2355088" y="1375791"/>
                </a:lnTo>
                <a:close/>
              </a:path>
              <a:path w="2427604" h="1607820">
                <a:moveTo>
                  <a:pt x="2356231" y="1569339"/>
                </a:moveTo>
                <a:lnTo>
                  <a:pt x="2330831" y="1556639"/>
                </a:lnTo>
                <a:lnTo>
                  <a:pt x="2280031" y="1531239"/>
                </a:lnTo>
                <a:lnTo>
                  <a:pt x="2280031" y="1556639"/>
                </a:lnTo>
                <a:lnTo>
                  <a:pt x="1877568" y="1556639"/>
                </a:lnTo>
                <a:lnTo>
                  <a:pt x="1877568" y="1582039"/>
                </a:lnTo>
                <a:lnTo>
                  <a:pt x="2280031" y="1582039"/>
                </a:lnTo>
                <a:lnTo>
                  <a:pt x="2280031" y="1607439"/>
                </a:lnTo>
                <a:lnTo>
                  <a:pt x="2330831" y="1582039"/>
                </a:lnTo>
                <a:lnTo>
                  <a:pt x="2356231" y="1569339"/>
                </a:lnTo>
                <a:close/>
              </a:path>
              <a:path w="2427604" h="1607820">
                <a:moveTo>
                  <a:pt x="2413508" y="37719"/>
                </a:moveTo>
                <a:lnTo>
                  <a:pt x="2388438" y="25336"/>
                </a:lnTo>
                <a:lnTo>
                  <a:pt x="2337181" y="0"/>
                </a:lnTo>
                <a:lnTo>
                  <a:pt x="2337257" y="25336"/>
                </a:lnTo>
                <a:lnTo>
                  <a:pt x="0" y="36322"/>
                </a:lnTo>
                <a:lnTo>
                  <a:pt x="0" y="61722"/>
                </a:lnTo>
                <a:lnTo>
                  <a:pt x="2337346" y="50736"/>
                </a:lnTo>
                <a:lnTo>
                  <a:pt x="2337435" y="76200"/>
                </a:lnTo>
                <a:lnTo>
                  <a:pt x="2387777" y="50736"/>
                </a:lnTo>
                <a:lnTo>
                  <a:pt x="2413508" y="37719"/>
                </a:lnTo>
                <a:close/>
              </a:path>
              <a:path w="2427604" h="1607820">
                <a:moveTo>
                  <a:pt x="2414778" y="337947"/>
                </a:moveTo>
                <a:lnTo>
                  <a:pt x="2389378" y="325247"/>
                </a:lnTo>
                <a:lnTo>
                  <a:pt x="2338578" y="299847"/>
                </a:lnTo>
                <a:lnTo>
                  <a:pt x="2338578" y="325247"/>
                </a:lnTo>
                <a:lnTo>
                  <a:pt x="1877568" y="325247"/>
                </a:lnTo>
                <a:lnTo>
                  <a:pt x="1877568" y="350647"/>
                </a:lnTo>
                <a:lnTo>
                  <a:pt x="2338578" y="350647"/>
                </a:lnTo>
                <a:lnTo>
                  <a:pt x="2338578" y="376047"/>
                </a:lnTo>
                <a:lnTo>
                  <a:pt x="2389378" y="350647"/>
                </a:lnTo>
                <a:lnTo>
                  <a:pt x="2414778" y="337947"/>
                </a:lnTo>
                <a:close/>
              </a:path>
              <a:path w="2427604" h="1607820">
                <a:moveTo>
                  <a:pt x="2427097" y="180848"/>
                </a:moveTo>
                <a:lnTo>
                  <a:pt x="2401278" y="167779"/>
                </a:lnTo>
                <a:lnTo>
                  <a:pt x="2351151" y="142379"/>
                </a:lnTo>
                <a:lnTo>
                  <a:pt x="2351036" y="163715"/>
                </a:lnTo>
                <a:lnTo>
                  <a:pt x="2351011" y="167716"/>
                </a:lnTo>
                <a:lnTo>
                  <a:pt x="1649095" y="163715"/>
                </a:lnTo>
                <a:lnTo>
                  <a:pt x="1648917" y="180848"/>
                </a:lnTo>
                <a:lnTo>
                  <a:pt x="1648841" y="189115"/>
                </a:lnTo>
                <a:lnTo>
                  <a:pt x="2350884" y="193116"/>
                </a:lnTo>
                <a:lnTo>
                  <a:pt x="2363597" y="193179"/>
                </a:lnTo>
                <a:lnTo>
                  <a:pt x="2350884" y="193179"/>
                </a:lnTo>
                <a:lnTo>
                  <a:pt x="2350770" y="218567"/>
                </a:lnTo>
                <a:lnTo>
                  <a:pt x="2402167" y="193179"/>
                </a:lnTo>
                <a:lnTo>
                  <a:pt x="2427097" y="1808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360926" y="3307841"/>
            <a:ext cx="897890" cy="5124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92710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730"/>
              </a:spcBef>
            </a:pPr>
            <a:r>
              <a:rPr sz="1575" baseline="-18518" dirty="0">
                <a:latin typeface="Cambria Math"/>
                <a:cs typeface="Cambria Math"/>
              </a:rPr>
              <a:t>𝑺</a:t>
            </a:r>
            <a:r>
              <a:rPr sz="1125" baseline="-40740" dirty="0">
                <a:latin typeface="Cambria Math"/>
                <a:cs typeface="Cambria Math"/>
              </a:rPr>
              <a:t>𝟏</a:t>
            </a:r>
            <a:r>
              <a:rPr sz="1125" spc="254" baseline="-40740" dirty="0">
                <a:latin typeface="Cambria Math"/>
                <a:cs typeface="Cambria Math"/>
              </a:rPr>
              <a:t>  </a:t>
            </a:r>
            <a:r>
              <a:rPr sz="1400" b="1" spc="-2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latin typeface="Cambria Math"/>
                <a:cs typeface="Cambria Math"/>
              </a:rPr>
              <a:t>𝑺</a:t>
            </a:r>
            <a:r>
              <a:rPr sz="1200" spc="-37" baseline="-17361" dirty="0">
                <a:latin typeface="Cambria Math"/>
                <a:cs typeface="Cambria Math"/>
              </a:rPr>
              <a:t>𝟎</a:t>
            </a:r>
            <a:endParaRPr sz="1200" baseline="-17361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46910" y="5456682"/>
            <a:ext cx="2340610" cy="390525"/>
          </a:xfrm>
          <a:custGeom>
            <a:avLst/>
            <a:gdLst/>
            <a:ahLst/>
            <a:cxnLst/>
            <a:rect l="l" t="t" r="r" b="b"/>
            <a:pathLst>
              <a:path w="2340610" h="390525">
                <a:moveTo>
                  <a:pt x="2340229" y="352044"/>
                </a:moveTo>
                <a:lnTo>
                  <a:pt x="2314829" y="339344"/>
                </a:lnTo>
                <a:lnTo>
                  <a:pt x="2264029" y="313944"/>
                </a:lnTo>
                <a:lnTo>
                  <a:pt x="2264029" y="339344"/>
                </a:lnTo>
                <a:lnTo>
                  <a:pt x="294132" y="339344"/>
                </a:lnTo>
                <a:lnTo>
                  <a:pt x="294132" y="364744"/>
                </a:lnTo>
                <a:lnTo>
                  <a:pt x="2264029" y="364744"/>
                </a:lnTo>
                <a:lnTo>
                  <a:pt x="2264029" y="390144"/>
                </a:lnTo>
                <a:lnTo>
                  <a:pt x="2314829" y="364744"/>
                </a:lnTo>
                <a:lnTo>
                  <a:pt x="2340229" y="352044"/>
                </a:lnTo>
                <a:close/>
              </a:path>
              <a:path w="2340610" h="390525">
                <a:moveTo>
                  <a:pt x="2340483" y="38100"/>
                </a:moveTo>
                <a:lnTo>
                  <a:pt x="2315083" y="25400"/>
                </a:lnTo>
                <a:lnTo>
                  <a:pt x="2264283" y="0"/>
                </a:lnTo>
                <a:lnTo>
                  <a:pt x="2264283" y="25400"/>
                </a:lnTo>
                <a:lnTo>
                  <a:pt x="0" y="25400"/>
                </a:lnTo>
                <a:lnTo>
                  <a:pt x="0" y="50800"/>
                </a:lnTo>
                <a:lnTo>
                  <a:pt x="2264283" y="50800"/>
                </a:lnTo>
                <a:lnTo>
                  <a:pt x="2264283" y="76200"/>
                </a:lnTo>
                <a:lnTo>
                  <a:pt x="2315083" y="50800"/>
                </a:lnTo>
                <a:lnTo>
                  <a:pt x="2340483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287773" y="5350002"/>
            <a:ext cx="975360" cy="6781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400">
              <a:latin typeface="Times New Roman"/>
              <a:cs typeface="Times New Roman"/>
            </a:endParaRPr>
          </a:p>
          <a:p>
            <a:pPr marL="324485">
              <a:lnSpc>
                <a:spcPct val="100000"/>
              </a:lnSpc>
            </a:pPr>
            <a:r>
              <a:rPr sz="1400" b="1" spc="-25" dirty="0">
                <a:latin typeface="Calibri"/>
                <a:cs typeface="Calibri"/>
              </a:rPr>
              <a:t>MUL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322314" y="3571494"/>
            <a:ext cx="8890" cy="570865"/>
          </a:xfrm>
          <a:custGeom>
            <a:avLst/>
            <a:gdLst/>
            <a:ahLst/>
            <a:cxnLst/>
            <a:rect l="l" t="t" r="r" b="b"/>
            <a:pathLst>
              <a:path w="8889" h="570864">
                <a:moveTo>
                  <a:pt x="0" y="0"/>
                </a:moveTo>
                <a:lnTo>
                  <a:pt x="8509" y="570356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46910" y="1195577"/>
            <a:ext cx="7772400" cy="4947285"/>
          </a:xfrm>
          <a:custGeom>
            <a:avLst/>
            <a:gdLst/>
            <a:ahLst/>
            <a:cxnLst/>
            <a:rect l="l" t="t" r="r" b="b"/>
            <a:pathLst>
              <a:path w="7772400" h="4947285">
                <a:moveTo>
                  <a:pt x="0" y="0"/>
                </a:moveTo>
                <a:lnTo>
                  <a:pt x="0" y="4947183"/>
                </a:lnTo>
              </a:path>
              <a:path w="7772400" h="4947285">
                <a:moveTo>
                  <a:pt x="294131" y="10668"/>
                </a:moveTo>
                <a:lnTo>
                  <a:pt x="294131" y="4946980"/>
                </a:lnTo>
              </a:path>
              <a:path w="7772400" h="4947285">
                <a:moveTo>
                  <a:pt x="7543800" y="10668"/>
                </a:moveTo>
                <a:lnTo>
                  <a:pt x="1638300" y="10668"/>
                </a:lnTo>
              </a:path>
              <a:path w="7772400" h="4947285">
                <a:moveTo>
                  <a:pt x="1648967" y="3048"/>
                </a:moveTo>
                <a:lnTo>
                  <a:pt x="1648967" y="2383409"/>
                </a:lnTo>
              </a:path>
              <a:path w="7772400" h="4947285">
                <a:moveTo>
                  <a:pt x="7772400" y="155448"/>
                </a:moveTo>
                <a:lnTo>
                  <a:pt x="1866900" y="155448"/>
                </a:lnTo>
              </a:path>
              <a:path w="7772400" h="4947285">
                <a:moveTo>
                  <a:pt x="1877567" y="146304"/>
                </a:moveTo>
                <a:lnTo>
                  <a:pt x="1877567" y="376897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795652" y="700786"/>
            <a:ext cx="6070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A</a:t>
            </a:r>
            <a:r>
              <a:rPr sz="3200" b="1" spc="114" dirty="0">
                <a:latin typeface="Calibri"/>
                <a:cs typeface="Calibri"/>
              </a:rPr>
              <a:t> </a:t>
            </a:r>
            <a:r>
              <a:rPr sz="4800" b="1" spc="-75" baseline="1736" dirty="0">
                <a:latin typeface="Calibri"/>
                <a:cs typeface="Calibri"/>
              </a:rPr>
              <a:t>B</a:t>
            </a:r>
            <a:endParaRPr sz="4800" baseline="1736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889505" y="1150366"/>
            <a:ext cx="7882890" cy="4693285"/>
            <a:chOff x="1889505" y="1150366"/>
            <a:chExt cx="7882890" cy="4693285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1595374"/>
              <a:ext cx="111760" cy="889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8209" y="1848358"/>
              <a:ext cx="111759" cy="889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9505" y="2236977"/>
              <a:ext cx="111760" cy="889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8209" y="2471674"/>
              <a:ext cx="111759" cy="889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1029" y="2799333"/>
              <a:ext cx="111759" cy="889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2113" y="3034030"/>
              <a:ext cx="111760" cy="8737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3399789"/>
              <a:ext cx="111760" cy="889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89505" y="4503166"/>
              <a:ext cx="111760" cy="873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3221" y="5438901"/>
              <a:ext cx="111759" cy="873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82113" y="5754369"/>
              <a:ext cx="111760" cy="889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94305" y="4711954"/>
              <a:ext cx="111760" cy="873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1113" y="1150366"/>
              <a:ext cx="111759" cy="889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0382" y="1296670"/>
              <a:ext cx="111760" cy="889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5550" y="3684777"/>
              <a:ext cx="111760" cy="889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296917" y="4412741"/>
            <a:ext cx="1071880" cy="6324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96850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550"/>
              </a:spcBef>
            </a:pPr>
            <a:r>
              <a:rPr sz="1400" b="1" spc="-10" dirty="0"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spcBef>
                <a:spcPts val="440"/>
              </a:spcBef>
            </a:pPr>
            <a:r>
              <a:rPr sz="1050" spc="-25" dirty="0">
                <a:latin typeface="Cambria Math"/>
                <a:cs typeface="Cambria Math"/>
              </a:rPr>
              <a:t>𝑺𝒆𝒍</a:t>
            </a:r>
            <a:endParaRPr sz="105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10916" y="2744216"/>
            <a:ext cx="64579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Example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2: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4-</a:t>
            </a:r>
            <a:r>
              <a:rPr dirty="0">
                <a:solidFill>
                  <a:srgbClr val="000000"/>
                </a:solidFill>
              </a:rPr>
              <a:t>bit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ALU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design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58614" y="589280"/>
            <a:ext cx="32505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4-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8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AND</a:t>
            </a:r>
            <a:r>
              <a:rPr b="0" spc="-200" dirty="0">
                <a:latin typeface="Calibri Light"/>
                <a:cs typeface="Calibri Light"/>
              </a:rPr>
              <a:t> </a:t>
            </a:r>
            <a:r>
              <a:rPr b="0" spc="-30" dirty="0">
                <a:latin typeface="Calibri Light"/>
                <a:cs typeface="Calibri Light"/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59526" y="2685033"/>
            <a:ext cx="777875" cy="723265"/>
            <a:chOff x="5859526" y="2685033"/>
            <a:chExt cx="777875" cy="723265"/>
          </a:xfrm>
        </p:grpSpPr>
        <p:sp>
          <p:nvSpPr>
            <p:cNvPr id="4" name="object 4"/>
            <p:cNvSpPr/>
            <p:nvPr/>
          </p:nvSpPr>
          <p:spPr>
            <a:xfrm>
              <a:off x="5865876" y="2691383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409956" y="0"/>
                  </a:moveTo>
                  <a:lnTo>
                    <a:pt x="409956" y="177545"/>
                  </a:lnTo>
                  <a:lnTo>
                    <a:pt x="0" y="177545"/>
                  </a:lnTo>
                  <a:lnTo>
                    <a:pt x="0" y="532638"/>
                  </a:lnTo>
                  <a:lnTo>
                    <a:pt x="409956" y="532638"/>
                  </a:lnTo>
                  <a:lnTo>
                    <a:pt x="409956" y="710183"/>
                  </a:lnTo>
                  <a:lnTo>
                    <a:pt x="765048" y="355091"/>
                  </a:lnTo>
                  <a:lnTo>
                    <a:pt x="4099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65876" y="2691383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0" y="177545"/>
                  </a:moveTo>
                  <a:lnTo>
                    <a:pt x="409956" y="177545"/>
                  </a:lnTo>
                  <a:lnTo>
                    <a:pt x="409956" y="0"/>
                  </a:lnTo>
                  <a:lnTo>
                    <a:pt x="765048" y="355091"/>
                  </a:lnTo>
                  <a:lnTo>
                    <a:pt x="409956" y="710183"/>
                  </a:lnTo>
                  <a:lnTo>
                    <a:pt x="409956" y="532638"/>
                  </a:lnTo>
                  <a:lnTo>
                    <a:pt x="0" y="532638"/>
                  </a:lnTo>
                  <a:lnTo>
                    <a:pt x="0" y="17754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666481" y="261594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66481" y="3196589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57492" y="2444876"/>
            <a:ext cx="7683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A[3:0]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2510" y="3014852"/>
            <a:ext cx="75628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B[3:0]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8190" y="2387345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2800">
              <a:latin typeface="Times New Roman"/>
              <a:cs typeface="Times New Roman"/>
            </a:endParaRPr>
          </a:p>
          <a:p>
            <a:pPr marL="481330">
              <a:lnSpc>
                <a:spcPct val="100000"/>
              </a:lnSpc>
              <a:spcBef>
                <a:spcPts val="5"/>
              </a:spcBef>
            </a:pPr>
            <a:r>
              <a:rPr sz="2800" b="1" spc="-25" dirty="0"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74402" y="289788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906759" y="2717038"/>
            <a:ext cx="78994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O[3:0]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11017" y="1293029"/>
            <a:ext cx="1793239" cy="1007110"/>
            <a:chOff x="2811017" y="1293029"/>
            <a:chExt cx="1793239" cy="100711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4763" y="1293029"/>
              <a:ext cx="1539239" cy="100649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11017" y="1474469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32353" y="2103881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62048" y="1239392"/>
            <a:ext cx="629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𝐀[𝟑]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76398" y="1882902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𝐁[𝟑]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47386" y="1565275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𝟎[𝟑]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855214" y="2652437"/>
            <a:ext cx="1793239" cy="1007110"/>
            <a:chOff x="2855214" y="2652437"/>
            <a:chExt cx="1793239" cy="100711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960" y="2652437"/>
              <a:ext cx="1539239" cy="100649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855214" y="2833877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76550" y="3463290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176398" y="2617089"/>
            <a:ext cx="629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𝐀[𝟐]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84019" y="3062096"/>
            <a:ext cx="652145" cy="1127125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400" spc="-20" dirty="0">
                <a:latin typeface="Cambria Math"/>
                <a:cs typeface="Cambria Math"/>
              </a:rPr>
              <a:t>𝐁[𝟐]</a:t>
            </a:r>
            <a:endParaRPr sz="240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1460"/>
              </a:spcBef>
            </a:pPr>
            <a:r>
              <a:rPr sz="2400" spc="-20" dirty="0">
                <a:latin typeface="Cambria Math"/>
                <a:cs typeface="Cambria Math"/>
              </a:rPr>
              <a:t>𝐀[𝟏]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91583" y="2924683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𝟎[𝟐]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85694" y="3832182"/>
            <a:ext cx="1793239" cy="1007744"/>
            <a:chOff x="2885694" y="3832182"/>
            <a:chExt cx="1793239" cy="1007744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440" y="3832182"/>
              <a:ext cx="1539239" cy="100772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85694" y="4013454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907030" y="4644390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196845" y="4243559"/>
            <a:ext cx="642620" cy="112649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1550"/>
              </a:spcBef>
            </a:pPr>
            <a:r>
              <a:rPr sz="2400" spc="-20" dirty="0">
                <a:latin typeface="Cambria Math"/>
                <a:cs typeface="Cambria Math"/>
              </a:rPr>
              <a:t>𝐁[𝟏]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455"/>
              </a:spcBef>
            </a:pPr>
            <a:r>
              <a:rPr sz="2400" spc="-20" dirty="0">
                <a:latin typeface="Cambria Math"/>
                <a:cs typeface="Cambria Math"/>
              </a:rPr>
              <a:t>𝐀[𝟎]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822063" y="4105097"/>
            <a:ext cx="6051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𝟎[𝟏]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876550" y="5013113"/>
            <a:ext cx="1791970" cy="1007110"/>
            <a:chOff x="2876550" y="5013113"/>
            <a:chExt cx="1791970" cy="1007110"/>
          </a:xfrm>
        </p:grpSpPr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0295" y="5013113"/>
              <a:ext cx="1537716" cy="100649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876550" y="5194554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96361" y="5823966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204466" y="5609031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𝐁[𝟎]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812029" y="5286552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𝟎[𝟎]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9302" y="545033"/>
            <a:ext cx="2909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4-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4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OR</a:t>
            </a:r>
            <a:r>
              <a:rPr b="0" spc="-135" dirty="0">
                <a:latin typeface="Calibri Light"/>
                <a:cs typeface="Calibri Light"/>
              </a:rPr>
              <a:t> </a:t>
            </a:r>
            <a:r>
              <a:rPr b="0" spc="-40" dirty="0">
                <a:latin typeface="Calibri Light"/>
                <a:cs typeface="Calibri Light"/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31153" y="2573782"/>
            <a:ext cx="777875" cy="723265"/>
            <a:chOff x="5931153" y="2573782"/>
            <a:chExt cx="777875" cy="723265"/>
          </a:xfrm>
        </p:grpSpPr>
        <p:sp>
          <p:nvSpPr>
            <p:cNvPr id="4" name="object 4"/>
            <p:cNvSpPr/>
            <p:nvPr/>
          </p:nvSpPr>
          <p:spPr>
            <a:xfrm>
              <a:off x="5937503" y="2580132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409956" y="0"/>
                  </a:moveTo>
                  <a:lnTo>
                    <a:pt x="409956" y="177545"/>
                  </a:lnTo>
                  <a:lnTo>
                    <a:pt x="0" y="177545"/>
                  </a:lnTo>
                  <a:lnTo>
                    <a:pt x="0" y="532638"/>
                  </a:lnTo>
                  <a:lnTo>
                    <a:pt x="409956" y="532638"/>
                  </a:lnTo>
                  <a:lnTo>
                    <a:pt x="409956" y="710183"/>
                  </a:lnTo>
                  <a:lnTo>
                    <a:pt x="765048" y="355091"/>
                  </a:lnTo>
                  <a:lnTo>
                    <a:pt x="4099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37503" y="2580132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0" y="177545"/>
                  </a:moveTo>
                  <a:lnTo>
                    <a:pt x="409956" y="177545"/>
                  </a:lnTo>
                  <a:lnTo>
                    <a:pt x="409956" y="0"/>
                  </a:lnTo>
                  <a:lnTo>
                    <a:pt x="765048" y="355091"/>
                  </a:lnTo>
                  <a:lnTo>
                    <a:pt x="409956" y="710183"/>
                  </a:lnTo>
                  <a:lnTo>
                    <a:pt x="409956" y="532638"/>
                  </a:lnTo>
                  <a:lnTo>
                    <a:pt x="0" y="532638"/>
                  </a:lnTo>
                  <a:lnTo>
                    <a:pt x="0" y="17754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666481" y="261594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66481" y="3196589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57492" y="2444876"/>
            <a:ext cx="7683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A[3:0]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2510" y="3014852"/>
            <a:ext cx="75628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B[3:0]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8190" y="2387345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54965" rIns="0" bIns="0" rtlCol="0">
            <a:spAutoFit/>
          </a:bodyPr>
          <a:lstStyle/>
          <a:p>
            <a:pPr marR="74930" algn="ctr">
              <a:lnSpc>
                <a:spcPct val="100000"/>
              </a:lnSpc>
              <a:spcBef>
                <a:spcPts val="2795"/>
              </a:spcBef>
            </a:pPr>
            <a:r>
              <a:rPr sz="2800" b="1" spc="-25" dirty="0">
                <a:latin typeface="Calibri"/>
                <a:cs typeface="Calibri"/>
              </a:rPr>
              <a:t>OR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74402" y="289788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906759" y="2717038"/>
            <a:ext cx="78994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O[3:0]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52573" y="1505458"/>
            <a:ext cx="629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𝐀[𝟑]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34119" y="3791855"/>
            <a:ext cx="1897380" cy="1018540"/>
            <a:chOff x="2734119" y="3791855"/>
            <a:chExt cx="1897380" cy="1018540"/>
          </a:xfrm>
        </p:grpSpPr>
        <p:pic>
          <p:nvPicPr>
            <p:cNvPr id="15" name="object 15" descr="Image result for 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03567" y="3791855"/>
              <a:ext cx="1727868" cy="101815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51582" y="4016501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71394" y="4627625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795777" y="5151263"/>
            <a:ext cx="1910714" cy="1018540"/>
            <a:chOff x="2795777" y="5151263"/>
            <a:chExt cx="1910714" cy="1018540"/>
          </a:xfrm>
        </p:grpSpPr>
        <p:pic>
          <p:nvPicPr>
            <p:cNvPr id="19" name="object 19" descr="Image result for 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9714" y="5151263"/>
              <a:ext cx="1726397" cy="101815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95777" y="5375910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815589" y="5985510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115692" y="4425442"/>
            <a:ext cx="62928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𝐁[𝟏]</a:t>
            </a:r>
            <a:endParaRPr sz="24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Cambria Math"/>
                <a:cs typeface="Cambria Math"/>
              </a:rPr>
              <a:t>𝐀[𝟎]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86680" y="4107942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3694" y="5789777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𝐁[𝟎]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1258" y="5467299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𝟎[𝟎]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26" name="object 26" descr="Image result for Or gat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0067" y="2549651"/>
            <a:ext cx="1789176" cy="1255776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2101342" y="3128458"/>
            <a:ext cx="629920" cy="1045210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230"/>
              </a:spcBef>
            </a:pPr>
            <a:r>
              <a:rPr sz="2400" spc="-20" dirty="0">
                <a:latin typeface="Cambria Math"/>
                <a:cs typeface="Cambria Math"/>
              </a:rPr>
              <a:t>𝐁[𝟐]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2400" spc="-20" dirty="0">
                <a:latin typeface="Cambria Math"/>
                <a:cs typeface="Cambria Math"/>
              </a:rPr>
              <a:t>𝐀[𝟏]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721927" y="1426463"/>
            <a:ext cx="1861185" cy="2063750"/>
            <a:chOff x="2721927" y="1426463"/>
            <a:chExt cx="1861185" cy="2063750"/>
          </a:xfrm>
        </p:grpSpPr>
        <p:sp>
          <p:nvSpPr>
            <p:cNvPr id="29" name="object 29"/>
            <p:cNvSpPr/>
            <p:nvPr/>
          </p:nvSpPr>
          <p:spPr>
            <a:xfrm>
              <a:off x="2739389" y="2862833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60725" y="3473958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 descr="Image result for Or ga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1967" y="1426463"/>
              <a:ext cx="1790700" cy="125577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2066925" y="2035047"/>
            <a:ext cx="652780" cy="98488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-20" dirty="0">
                <a:latin typeface="Cambria Math"/>
                <a:cs typeface="Cambria Math"/>
              </a:rPr>
              <a:t>𝐁[𝟑]</a:t>
            </a:r>
            <a:endParaRPr sz="2400">
              <a:latin typeface="Cambria Math"/>
              <a:cs typeface="Cambria Math"/>
            </a:endParaRPr>
          </a:p>
          <a:p>
            <a:pPr marL="35560">
              <a:lnSpc>
                <a:spcPct val="100000"/>
              </a:lnSpc>
              <a:spcBef>
                <a:spcPts val="900"/>
              </a:spcBef>
            </a:pPr>
            <a:r>
              <a:rPr sz="2400" spc="-20" dirty="0">
                <a:latin typeface="Cambria Math"/>
                <a:cs typeface="Cambria Math"/>
              </a:rPr>
              <a:t>𝐀[𝟐]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75759" y="2954528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𝟎[𝟐]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02814" y="1722183"/>
            <a:ext cx="284480" cy="644525"/>
            <a:chOff x="2702814" y="1722183"/>
            <a:chExt cx="284480" cy="644525"/>
          </a:xfrm>
        </p:grpSpPr>
        <p:sp>
          <p:nvSpPr>
            <p:cNvPr id="35" name="object 35"/>
            <p:cNvSpPr/>
            <p:nvPr/>
          </p:nvSpPr>
          <p:spPr>
            <a:xfrm>
              <a:off x="2702814" y="1739645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722626" y="2350769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637913" y="1831340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𝟎[𝟑]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29302" y="480136"/>
            <a:ext cx="2909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4-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45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OR</a:t>
            </a:r>
            <a:r>
              <a:rPr b="0" spc="-135" dirty="0">
                <a:latin typeface="Calibri Light"/>
                <a:cs typeface="Calibri Light"/>
              </a:rPr>
              <a:t> </a:t>
            </a:r>
            <a:r>
              <a:rPr b="0" spc="-40" dirty="0">
                <a:latin typeface="Calibri Light"/>
                <a:cs typeface="Calibri Light"/>
              </a:rPr>
              <a:t>gate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931153" y="2573782"/>
            <a:ext cx="777875" cy="723265"/>
            <a:chOff x="5931153" y="2573782"/>
            <a:chExt cx="777875" cy="723265"/>
          </a:xfrm>
        </p:grpSpPr>
        <p:sp>
          <p:nvSpPr>
            <p:cNvPr id="4" name="object 4"/>
            <p:cNvSpPr/>
            <p:nvPr/>
          </p:nvSpPr>
          <p:spPr>
            <a:xfrm>
              <a:off x="5937503" y="2580132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409956" y="0"/>
                  </a:moveTo>
                  <a:lnTo>
                    <a:pt x="409956" y="177545"/>
                  </a:lnTo>
                  <a:lnTo>
                    <a:pt x="0" y="177545"/>
                  </a:lnTo>
                  <a:lnTo>
                    <a:pt x="0" y="532638"/>
                  </a:lnTo>
                  <a:lnTo>
                    <a:pt x="409956" y="532638"/>
                  </a:lnTo>
                  <a:lnTo>
                    <a:pt x="409956" y="710183"/>
                  </a:lnTo>
                  <a:lnTo>
                    <a:pt x="765048" y="355091"/>
                  </a:lnTo>
                  <a:lnTo>
                    <a:pt x="40995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37503" y="2580132"/>
              <a:ext cx="765175" cy="710565"/>
            </a:xfrm>
            <a:custGeom>
              <a:avLst/>
              <a:gdLst/>
              <a:ahLst/>
              <a:cxnLst/>
              <a:rect l="l" t="t" r="r" b="b"/>
              <a:pathLst>
                <a:path w="765175" h="710564">
                  <a:moveTo>
                    <a:pt x="0" y="177545"/>
                  </a:moveTo>
                  <a:lnTo>
                    <a:pt x="409956" y="177545"/>
                  </a:lnTo>
                  <a:lnTo>
                    <a:pt x="409956" y="0"/>
                  </a:lnTo>
                  <a:lnTo>
                    <a:pt x="765048" y="355091"/>
                  </a:lnTo>
                  <a:lnTo>
                    <a:pt x="409956" y="710183"/>
                  </a:lnTo>
                  <a:lnTo>
                    <a:pt x="409956" y="532638"/>
                  </a:lnTo>
                  <a:lnTo>
                    <a:pt x="0" y="532638"/>
                  </a:lnTo>
                  <a:lnTo>
                    <a:pt x="0" y="17754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7666481" y="261594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666481" y="3196589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857492" y="2444876"/>
            <a:ext cx="7683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A[3:0]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82510" y="3014852"/>
            <a:ext cx="75628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B[3:0]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78190" y="2387345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0"/>
              </a:spcBef>
            </a:pPr>
            <a:endParaRPr sz="2400">
              <a:latin typeface="Times New Roman"/>
              <a:cs typeface="Times New Roman"/>
            </a:endParaRPr>
          </a:p>
          <a:p>
            <a:pPr marR="8255" algn="ctr">
              <a:lnSpc>
                <a:spcPct val="100000"/>
              </a:lnSpc>
              <a:spcBef>
                <a:spcPts val="5"/>
              </a:spcBef>
            </a:pPr>
            <a:r>
              <a:rPr sz="2400" b="1" spc="-25" dirty="0">
                <a:latin typeface="Calibri"/>
                <a:cs typeface="Calibri"/>
              </a:rPr>
              <a:t>XOR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74402" y="289788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906759" y="2717038"/>
            <a:ext cx="78994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O[3:0]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87573" y="3797808"/>
            <a:ext cx="1640839" cy="1289050"/>
            <a:chOff x="2687573" y="3797808"/>
            <a:chExt cx="1640839" cy="1289050"/>
          </a:xfrm>
        </p:grpSpPr>
        <p:pic>
          <p:nvPicPr>
            <p:cNvPr id="14" name="object 14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699" y="3797808"/>
              <a:ext cx="1394460" cy="12887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87573" y="4133850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89097" y="4722114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90089" y="3906139"/>
            <a:ext cx="629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𝐀[𝟏]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4441" y="4535170"/>
            <a:ext cx="629285" cy="1109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𝐁[𝟏]</a:t>
            </a:r>
            <a:endParaRPr sz="2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spc="-20" dirty="0">
                <a:latin typeface="Cambria Math"/>
                <a:cs typeface="Cambria Math"/>
              </a:rPr>
              <a:t>𝐀[𝟎]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5428" y="4224654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𝟎[𝟏]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12442" y="5868720"/>
            <a:ext cx="6248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𝐁[𝟎]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02814" y="5137403"/>
            <a:ext cx="1654810" cy="1374775"/>
            <a:chOff x="2702814" y="5137403"/>
            <a:chExt cx="1654810" cy="1374775"/>
          </a:xfrm>
        </p:grpSpPr>
        <p:sp>
          <p:nvSpPr>
            <p:cNvPr id="22" name="object 22"/>
            <p:cNvSpPr/>
            <p:nvPr/>
          </p:nvSpPr>
          <p:spPr>
            <a:xfrm>
              <a:off x="2702814" y="5473445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24150" y="6051041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 descr="Image result for XOr ga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2656" y="5137403"/>
              <a:ext cx="1394459" cy="1374648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619625" y="5553862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𝟎[𝟎]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687573" y="1030224"/>
            <a:ext cx="1640839" cy="1287780"/>
            <a:chOff x="2687573" y="1030224"/>
            <a:chExt cx="1640839" cy="1287780"/>
          </a:xfrm>
        </p:grpSpPr>
        <p:pic>
          <p:nvPicPr>
            <p:cNvPr id="27" name="object 27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3699" y="1030224"/>
              <a:ext cx="1394460" cy="128730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687573" y="1366266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89097" y="1954530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990089" y="1137665"/>
            <a:ext cx="629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𝐀[𝟑]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04441" y="1766696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𝐁[𝟑]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575428" y="1456182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𝟎[𝟑]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4441" y="2484501"/>
            <a:ext cx="6292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𝐀[𝟐]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12442" y="3100578"/>
            <a:ext cx="6248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𝐁[𝟐]</a:t>
            </a:r>
            <a:endParaRPr sz="2400">
              <a:latin typeface="Cambria Math"/>
              <a:cs typeface="Cambria Math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702814" y="2369820"/>
            <a:ext cx="1654810" cy="1374775"/>
            <a:chOff x="2702814" y="2369820"/>
            <a:chExt cx="1654810" cy="1374775"/>
          </a:xfrm>
        </p:grpSpPr>
        <p:sp>
          <p:nvSpPr>
            <p:cNvPr id="36" name="object 36"/>
            <p:cNvSpPr/>
            <p:nvPr/>
          </p:nvSpPr>
          <p:spPr>
            <a:xfrm>
              <a:off x="2702814" y="2704338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24150" y="3283458"/>
              <a:ext cx="264795" cy="0"/>
            </a:xfrm>
            <a:custGeom>
              <a:avLst/>
              <a:gdLst/>
              <a:ahLst/>
              <a:cxnLst/>
              <a:rect l="l" t="t" r="r" b="b"/>
              <a:pathLst>
                <a:path w="264794">
                  <a:moveTo>
                    <a:pt x="264668" y="0"/>
                  </a:moveTo>
                  <a:lnTo>
                    <a:pt x="0" y="0"/>
                  </a:lnTo>
                </a:path>
              </a:pathLst>
            </a:custGeom>
            <a:ln w="444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 descr="Image result for XOr gat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62656" y="2369820"/>
              <a:ext cx="1394459" cy="137464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619625" y="2785364"/>
            <a:ext cx="6051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Cambria Math"/>
                <a:cs typeface="Cambria Math"/>
              </a:rPr>
              <a:t>𝟎[𝟐]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16502" y="261315"/>
            <a:ext cx="50406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2-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45" dirty="0">
                <a:latin typeface="Calibri Light"/>
                <a:cs typeface="Calibri Light"/>
              </a:rPr>
              <a:t>Adder/Subtractor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481061" y="3224529"/>
            <a:ext cx="602615" cy="628650"/>
            <a:chOff x="7481061" y="3224529"/>
            <a:chExt cx="602615" cy="628650"/>
          </a:xfrm>
        </p:grpSpPr>
        <p:sp>
          <p:nvSpPr>
            <p:cNvPr id="4" name="object 4"/>
            <p:cNvSpPr/>
            <p:nvPr/>
          </p:nvSpPr>
          <p:spPr>
            <a:xfrm>
              <a:off x="7487411" y="3230879"/>
              <a:ext cx="589915" cy="615950"/>
            </a:xfrm>
            <a:custGeom>
              <a:avLst/>
              <a:gdLst/>
              <a:ahLst/>
              <a:cxnLst/>
              <a:rect l="l" t="t" r="r" b="b"/>
              <a:pathLst>
                <a:path w="589915" h="615950">
                  <a:moveTo>
                    <a:pt x="294894" y="0"/>
                  </a:moveTo>
                  <a:lnTo>
                    <a:pt x="294894" y="153924"/>
                  </a:lnTo>
                  <a:lnTo>
                    <a:pt x="0" y="153924"/>
                  </a:lnTo>
                  <a:lnTo>
                    <a:pt x="0" y="461772"/>
                  </a:lnTo>
                  <a:lnTo>
                    <a:pt x="294894" y="461772"/>
                  </a:lnTo>
                  <a:lnTo>
                    <a:pt x="294894" y="615696"/>
                  </a:lnTo>
                  <a:lnTo>
                    <a:pt x="589788" y="307848"/>
                  </a:lnTo>
                  <a:lnTo>
                    <a:pt x="2948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87411" y="3230879"/>
              <a:ext cx="589915" cy="615950"/>
            </a:xfrm>
            <a:custGeom>
              <a:avLst/>
              <a:gdLst/>
              <a:ahLst/>
              <a:cxnLst/>
              <a:rect l="l" t="t" r="r" b="b"/>
              <a:pathLst>
                <a:path w="589915" h="615950">
                  <a:moveTo>
                    <a:pt x="0" y="153924"/>
                  </a:moveTo>
                  <a:lnTo>
                    <a:pt x="294894" y="153924"/>
                  </a:lnTo>
                  <a:lnTo>
                    <a:pt x="294894" y="0"/>
                  </a:lnTo>
                  <a:lnTo>
                    <a:pt x="589788" y="307848"/>
                  </a:lnTo>
                  <a:lnTo>
                    <a:pt x="294894" y="615696"/>
                  </a:lnTo>
                  <a:lnTo>
                    <a:pt x="294894" y="461772"/>
                  </a:lnTo>
                  <a:lnTo>
                    <a:pt x="0" y="461772"/>
                  </a:lnTo>
                  <a:lnTo>
                    <a:pt x="0" y="153924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983218" y="3024377"/>
            <a:ext cx="557530" cy="76200"/>
          </a:xfrm>
          <a:custGeom>
            <a:avLst/>
            <a:gdLst/>
            <a:ahLst/>
            <a:cxnLst/>
            <a:rect l="l" t="t" r="r" b="b"/>
            <a:pathLst>
              <a:path w="557529" h="76200">
                <a:moveTo>
                  <a:pt x="480949" y="0"/>
                </a:moveTo>
                <a:lnTo>
                  <a:pt x="480949" y="76200"/>
                </a:lnTo>
                <a:lnTo>
                  <a:pt x="531749" y="50800"/>
                </a:lnTo>
                <a:lnTo>
                  <a:pt x="493649" y="50800"/>
                </a:lnTo>
                <a:lnTo>
                  <a:pt x="493649" y="25400"/>
                </a:lnTo>
                <a:lnTo>
                  <a:pt x="531749" y="25400"/>
                </a:lnTo>
                <a:lnTo>
                  <a:pt x="480949" y="0"/>
                </a:lnTo>
                <a:close/>
              </a:path>
              <a:path w="557529" h="76200">
                <a:moveTo>
                  <a:pt x="48094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0949" y="50800"/>
                </a:lnTo>
                <a:lnTo>
                  <a:pt x="480949" y="25400"/>
                </a:lnTo>
                <a:close/>
              </a:path>
              <a:path w="557529" h="76200">
                <a:moveTo>
                  <a:pt x="531749" y="25400"/>
                </a:moveTo>
                <a:lnTo>
                  <a:pt x="493649" y="25400"/>
                </a:lnTo>
                <a:lnTo>
                  <a:pt x="493649" y="50800"/>
                </a:lnTo>
                <a:lnTo>
                  <a:pt x="531749" y="50800"/>
                </a:lnTo>
                <a:lnTo>
                  <a:pt x="557149" y="38100"/>
                </a:lnTo>
                <a:lnTo>
                  <a:pt x="53174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990838" y="3467861"/>
            <a:ext cx="557530" cy="76200"/>
          </a:xfrm>
          <a:custGeom>
            <a:avLst/>
            <a:gdLst/>
            <a:ahLst/>
            <a:cxnLst/>
            <a:rect l="l" t="t" r="r" b="b"/>
            <a:pathLst>
              <a:path w="557529" h="76200">
                <a:moveTo>
                  <a:pt x="480948" y="0"/>
                </a:moveTo>
                <a:lnTo>
                  <a:pt x="480948" y="76200"/>
                </a:lnTo>
                <a:lnTo>
                  <a:pt x="531748" y="50800"/>
                </a:lnTo>
                <a:lnTo>
                  <a:pt x="493648" y="50800"/>
                </a:lnTo>
                <a:lnTo>
                  <a:pt x="493648" y="25400"/>
                </a:lnTo>
                <a:lnTo>
                  <a:pt x="531748" y="25400"/>
                </a:lnTo>
                <a:lnTo>
                  <a:pt x="480948" y="0"/>
                </a:lnTo>
                <a:close/>
              </a:path>
              <a:path w="557529" h="76200">
                <a:moveTo>
                  <a:pt x="48094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0948" y="50800"/>
                </a:lnTo>
                <a:lnTo>
                  <a:pt x="480948" y="25400"/>
                </a:lnTo>
                <a:close/>
              </a:path>
              <a:path w="557529" h="76200">
                <a:moveTo>
                  <a:pt x="531748" y="25400"/>
                </a:moveTo>
                <a:lnTo>
                  <a:pt x="493648" y="25400"/>
                </a:lnTo>
                <a:lnTo>
                  <a:pt x="493648" y="50800"/>
                </a:lnTo>
                <a:lnTo>
                  <a:pt x="531748" y="50800"/>
                </a:lnTo>
                <a:lnTo>
                  <a:pt x="557148" y="38100"/>
                </a:lnTo>
                <a:lnTo>
                  <a:pt x="53174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173593" y="2747909"/>
            <a:ext cx="800735" cy="130683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300" b="1" spc="-10" dirty="0">
                <a:latin typeface="Calibri"/>
                <a:cs typeface="Calibri"/>
              </a:rPr>
              <a:t>A[3:0]</a:t>
            </a:r>
            <a:endParaRPr sz="2300">
              <a:latin typeface="Calibri"/>
              <a:cs typeface="Calibri"/>
            </a:endParaRPr>
          </a:p>
          <a:p>
            <a:pPr marL="57150">
              <a:lnSpc>
                <a:spcPct val="100000"/>
              </a:lnSpc>
              <a:spcBef>
                <a:spcPts val="775"/>
              </a:spcBef>
            </a:pPr>
            <a:r>
              <a:rPr sz="2300" b="1" spc="-10" dirty="0">
                <a:latin typeface="Calibri"/>
                <a:cs typeface="Calibri"/>
              </a:rPr>
              <a:t>B[3:0]</a:t>
            </a:r>
            <a:endParaRPr sz="2300">
              <a:latin typeface="Calibri"/>
              <a:cs typeface="Calibri"/>
            </a:endParaRPr>
          </a:p>
          <a:p>
            <a:pPr marL="354330">
              <a:lnSpc>
                <a:spcPct val="100000"/>
              </a:lnSpc>
              <a:spcBef>
                <a:spcPts val="254"/>
              </a:spcBef>
            </a:pPr>
            <a:r>
              <a:rPr sz="2300" b="1" spc="-25" dirty="0">
                <a:latin typeface="Calibri"/>
                <a:cs typeface="Calibri"/>
              </a:rPr>
              <a:t>Sel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39478" y="2795777"/>
            <a:ext cx="1329055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</a:pPr>
            <a:endParaRPr sz="20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ADD/SUB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990838" y="3850385"/>
            <a:ext cx="557530" cy="76200"/>
          </a:xfrm>
          <a:custGeom>
            <a:avLst/>
            <a:gdLst/>
            <a:ahLst/>
            <a:cxnLst/>
            <a:rect l="l" t="t" r="r" b="b"/>
            <a:pathLst>
              <a:path w="557529" h="76200">
                <a:moveTo>
                  <a:pt x="480948" y="0"/>
                </a:moveTo>
                <a:lnTo>
                  <a:pt x="480948" y="76200"/>
                </a:lnTo>
                <a:lnTo>
                  <a:pt x="531748" y="50800"/>
                </a:lnTo>
                <a:lnTo>
                  <a:pt x="493648" y="50800"/>
                </a:lnTo>
                <a:lnTo>
                  <a:pt x="493648" y="25400"/>
                </a:lnTo>
                <a:lnTo>
                  <a:pt x="531748" y="25400"/>
                </a:lnTo>
                <a:lnTo>
                  <a:pt x="480948" y="0"/>
                </a:lnTo>
                <a:close/>
              </a:path>
              <a:path w="557529" h="76200">
                <a:moveTo>
                  <a:pt x="48094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0948" y="50800"/>
                </a:lnTo>
                <a:lnTo>
                  <a:pt x="480948" y="25400"/>
                </a:lnTo>
                <a:close/>
              </a:path>
              <a:path w="557529" h="76200">
                <a:moveTo>
                  <a:pt x="531748" y="25400"/>
                </a:moveTo>
                <a:lnTo>
                  <a:pt x="493648" y="25400"/>
                </a:lnTo>
                <a:lnTo>
                  <a:pt x="493648" y="50800"/>
                </a:lnTo>
                <a:lnTo>
                  <a:pt x="531748" y="50800"/>
                </a:lnTo>
                <a:lnTo>
                  <a:pt x="557148" y="38100"/>
                </a:lnTo>
                <a:lnTo>
                  <a:pt x="53174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880597" y="3131057"/>
            <a:ext cx="342265" cy="76200"/>
          </a:xfrm>
          <a:custGeom>
            <a:avLst/>
            <a:gdLst/>
            <a:ahLst/>
            <a:cxnLst/>
            <a:rect l="l" t="t" r="r" b="b"/>
            <a:pathLst>
              <a:path w="342265" h="76200">
                <a:moveTo>
                  <a:pt x="265683" y="0"/>
                </a:moveTo>
                <a:lnTo>
                  <a:pt x="265683" y="76200"/>
                </a:lnTo>
                <a:lnTo>
                  <a:pt x="316483" y="50800"/>
                </a:lnTo>
                <a:lnTo>
                  <a:pt x="278383" y="50800"/>
                </a:lnTo>
                <a:lnTo>
                  <a:pt x="278383" y="25400"/>
                </a:lnTo>
                <a:lnTo>
                  <a:pt x="316483" y="25400"/>
                </a:lnTo>
                <a:lnTo>
                  <a:pt x="265683" y="0"/>
                </a:lnTo>
                <a:close/>
              </a:path>
              <a:path w="342265" h="76200">
                <a:moveTo>
                  <a:pt x="265683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65683" y="50800"/>
                </a:lnTo>
                <a:lnTo>
                  <a:pt x="265683" y="25400"/>
                </a:lnTo>
                <a:close/>
              </a:path>
              <a:path w="342265" h="76200">
                <a:moveTo>
                  <a:pt x="316483" y="25400"/>
                </a:moveTo>
                <a:lnTo>
                  <a:pt x="278383" y="25400"/>
                </a:lnTo>
                <a:lnTo>
                  <a:pt x="278383" y="50800"/>
                </a:lnTo>
                <a:lnTo>
                  <a:pt x="316483" y="50800"/>
                </a:lnTo>
                <a:lnTo>
                  <a:pt x="341883" y="38100"/>
                </a:lnTo>
                <a:lnTo>
                  <a:pt x="316483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9693" y="2962401"/>
            <a:ext cx="7302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S[3:0]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90209" y="3103626"/>
            <a:ext cx="1138555" cy="1127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Times New Roman"/>
              <a:cs typeface="Times New Roman"/>
            </a:endParaRPr>
          </a:p>
          <a:p>
            <a:pPr marR="825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18682" y="2492501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5"/>
                </a:moveTo>
                <a:lnTo>
                  <a:pt x="0" y="495935"/>
                </a:lnTo>
                <a:lnTo>
                  <a:pt x="38100" y="572135"/>
                </a:lnTo>
                <a:lnTo>
                  <a:pt x="69850" y="508635"/>
                </a:lnTo>
                <a:lnTo>
                  <a:pt x="25400" y="508635"/>
                </a:lnTo>
                <a:lnTo>
                  <a:pt x="25400" y="495935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5"/>
                </a:lnTo>
                <a:lnTo>
                  <a:pt x="50800" y="508635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5"/>
                </a:moveTo>
                <a:lnTo>
                  <a:pt x="50800" y="495935"/>
                </a:lnTo>
                <a:lnTo>
                  <a:pt x="50800" y="508635"/>
                </a:lnTo>
                <a:lnTo>
                  <a:pt x="69850" y="508635"/>
                </a:lnTo>
                <a:lnTo>
                  <a:pt x="76200" y="495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5602223" y="1918970"/>
            <a:ext cx="1999614" cy="1671955"/>
            <a:chOff x="5602223" y="1918970"/>
            <a:chExt cx="1999614" cy="1671955"/>
          </a:xfrm>
        </p:grpSpPr>
        <p:sp>
          <p:nvSpPr>
            <p:cNvPr id="16" name="object 16"/>
            <p:cNvSpPr/>
            <p:nvPr/>
          </p:nvSpPr>
          <p:spPr>
            <a:xfrm>
              <a:off x="5811773" y="2492502"/>
              <a:ext cx="76200" cy="572135"/>
            </a:xfrm>
            <a:custGeom>
              <a:avLst/>
              <a:gdLst/>
              <a:ahLst/>
              <a:cxnLst/>
              <a:rect l="l" t="t" r="r" b="b"/>
              <a:pathLst>
                <a:path w="76200" h="572135">
                  <a:moveTo>
                    <a:pt x="25400" y="495935"/>
                  </a:moveTo>
                  <a:lnTo>
                    <a:pt x="0" y="495935"/>
                  </a:lnTo>
                  <a:lnTo>
                    <a:pt x="38100" y="572135"/>
                  </a:lnTo>
                  <a:lnTo>
                    <a:pt x="69850" y="508635"/>
                  </a:lnTo>
                  <a:lnTo>
                    <a:pt x="25400" y="508635"/>
                  </a:lnTo>
                  <a:lnTo>
                    <a:pt x="25400" y="495935"/>
                  </a:lnTo>
                  <a:close/>
                </a:path>
                <a:path w="76200" h="572135">
                  <a:moveTo>
                    <a:pt x="50800" y="0"/>
                  </a:moveTo>
                  <a:lnTo>
                    <a:pt x="25400" y="0"/>
                  </a:lnTo>
                  <a:lnTo>
                    <a:pt x="25400" y="508635"/>
                  </a:lnTo>
                  <a:lnTo>
                    <a:pt x="50800" y="508635"/>
                  </a:lnTo>
                  <a:lnTo>
                    <a:pt x="50800" y="0"/>
                  </a:lnTo>
                  <a:close/>
                </a:path>
                <a:path w="76200" h="572135">
                  <a:moveTo>
                    <a:pt x="76200" y="495935"/>
                  </a:moveTo>
                  <a:lnTo>
                    <a:pt x="50800" y="495935"/>
                  </a:lnTo>
                  <a:lnTo>
                    <a:pt x="50800" y="508635"/>
                  </a:lnTo>
                  <a:lnTo>
                    <a:pt x="69850" y="508635"/>
                  </a:lnTo>
                  <a:lnTo>
                    <a:pt x="76200" y="495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02223" y="1935480"/>
              <a:ext cx="454151" cy="6629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44361" y="1936242"/>
              <a:ext cx="1647825" cy="0"/>
            </a:xfrm>
            <a:custGeom>
              <a:avLst/>
              <a:gdLst/>
              <a:ahLst/>
              <a:cxnLst/>
              <a:rect l="l" t="t" r="r" b="b"/>
              <a:pathLst>
                <a:path w="1647825">
                  <a:moveTo>
                    <a:pt x="0" y="0"/>
                  </a:moveTo>
                  <a:lnTo>
                    <a:pt x="1647824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18425" y="1931670"/>
              <a:ext cx="0" cy="1646555"/>
            </a:xfrm>
            <a:custGeom>
              <a:avLst/>
              <a:gdLst/>
              <a:ahLst/>
              <a:cxnLst/>
              <a:rect l="l" t="t" r="r" b="b"/>
              <a:pathLst>
                <a:path h="1646554">
                  <a:moveTo>
                    <a:pt x="0" y="1646174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6218682" y="4280153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5"/>
                </a:moveTo>
                <a:lnTo>
                  <a:pt x="0" y="495935"/>
                </a:lnTo>
                <a:lnTo>
                  <a:pt x="38100" y="572135"/>
                </a:lnTo>
                <a:lnTo>
                  <a:pt x="69850" y="508635"/>
                </a:lnTo>
                <a:lnTo>
                  <a:pt x="25400" y="508635"/>
                </a:lnTo>
                <a:lnTo>
                  <a:pt x="25400" y="495935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5"/>
                </a:lnTo>
                <a:lnTo>
                  <a:pt x="50800" y="508635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5"/>
                </a:moveTo>
                <a:lnTo>
                  <a:pt x="50800" y="495935"/>
                </a:lnTo>
                <a:lnTo>
                  <a:pt x="50800" y="508635"/>
                </a:lnTo>
                <a:lnTo>
                  <a:pt x="69850" y="508635"/>
                </a:lnTo>
                <a:lnTo>
                  <a:pt x="76200" y="495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74790" y="4856479"/>
            <a:ext cx="5029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S[0]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00064" y="2202256"/>
            <a:ext cx="53911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31430" y="1757299"/>
            <a:ext cx="89408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Cin/Sel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88258" y="3117342"/>
            <a:ext cx="1137285" cy="1127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15205" y="2504694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4"/>
                </a:moveTo>
                <a:lnTo>
                  <a:pt x="0" y="495934"/>
                </a:lnTo>
                <a:lnTo>
                  <a:pt x="38100" y="572134"/>
                </a:lnTo>
                <a:lnTo>
                  <a:pt x="69850" y="508634"/>
                </a:lnTo>
                <a:lnTo>
                  <a:pt x="25400" y="508634"/>
                </a:lnTo>
                <a:lnTo>
                  <a:pt x="25400" y="495934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4"/>
                </a:lnTo>
                <a:lnTo>
                  <a:pt x="50800" y="508634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4"/>
                </a:moveTo>
                <a:lnTo>
                  <a:pt x="50800" y="495934"/>
                </a:lnTo>
                <a:lnTo>
                  <a:pt x="50800" y="508634"/>
                </a:lnTo>
                <a:lnTo>
                  <a:pt x="69850" y="508634"/>
                </a:lnTo>
                <a:lnTo>
                  <a:pt x="76200" y="4959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08297" y="2504694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4"/>
                </a:moveTo>
                <a:lnTo>
                  <a:pt x="0" y="495934"/>
                </a:lnTo>
                <a:lnTo>
                  <a:pt x="38100" y="572134"/>
                </a:lnTo>
                <a:lnTo>
                  <a:pt x="69850" y="508634"/>
                </a:lnTo>
                <a:lnTo>
                  <a:pt x="25400" y="508634"/>
                </a:lnTo>
                <a:lnTo>
                  <a:pt x="25400" y="495934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4"/>
                </a:lnTo>
                <a:lnTo>
                  <a:pt x="50800" y="508634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4"/>
                </a:moveTo>
                <a:lnTo>
                  <a:pt x="50800" y="495934"/>
                </a:lnTo>
                <a:lnTo>
                  <a:pt x="50800" y="508634"/>
                </a:lnTo>
                <a:lnTo>
                  <a:pt x="69850" y="508634"/>
                </a:lnTo>
                <a:lnTo>
                  <a:pt x="76200" y="4959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659504" y="1341577"/>
            <a:ext cx="245110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34845" algn="l"/>
              </a:tabLst>
            </a:pPr>
            <a:r>
              <a:rPr sz="2300" b="1" spc="-20" dirty="0">
                <a:latin typeface="Calibri"/>
                <a:cs typeface="Calibri"/>
              </a:rPr>
              <a:t>B[1]</a:t>
            </a:r>
            <a:r>
              <a:rPr sz="2300" b="1" dirty="0">
                <a:latin typeface="Calibri"/>
                <a:cs typeface="Calibri"/>
              </a:rPr>
              <a:t>	</a:t>
            </a:r>
            <a:r>
              <a:rPr sz="3450" b="1" spc="-30" baseline="1207" dirty="0">
                <a:latin typeface="Calibri"/>
                <a:cs typeface="Calibri"/>
              </a:rPr>
              <a:t>B[0]</a:t>
            </a:r>
            <a:endParaRPr sz="3450" baseline="1207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315205" y="4292346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4"/>
                </a:moveTo>
                <a:lnTo>
                  <a:pt x="0" y="495934"/>
                </a:lnTo>
                <a:lnTo>
                  <a:pt x="38100" y="572134"/>
                </a:lnTo>
                <a:lnTo>
                  <a:pt x="69850" y="508634"/>
                </a:lnTo>
                <a:lnTo>
                  <a:pt x="25400" y="508634"/>
                </a:lnTo>
                <a:lnTo>
                  <a:pt x="25400" y="495934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4"/>
                </a:lnTo>
                <a:lnTo>
                  <a:pt x="50800" y="508634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4"/>
                </a:moveTo>
                <a:lnTo>
                  <a:pt x="50800" y="495934"/>
                </a:lnTo>
                <a:lnTo>
                  <a:pt x="50800" y="508634"/>
                </a:lnTo>
                <a:lnTo>
                  <a:pt x="69850" y="508634"/>
                </a:lnTo>
                <a:lnTo>
                  <a:pt x="76200" y="4959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156709" y="4869307"/>
            <a:ext cx="5029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S[1]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700271" y="1661414"/>
            <a:ext cx="3518535" cy="1955800"/>
            <a:chOff x="3700271" y="1661414"/>
            <a:chExt cx="3518535" cy="1955800"/>
          </a:xfrm>
        </p:grpSpPr>
        <p:pic>
          <p:nvPicPr>
            <p:cNvPr id="31" name="object 31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0271" y="1947672"/>
              <a:ext cx="452627" cy="66293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40885" y="1948434"/>
              <a:ext cx="1647825" cy="0"/>
            </a:xfrm>
            <a:custGeom>
              <a:avLst/>
              <a:gdLst/>
              <a:ahLst/>
              <a:cxnLst/>
              <a:rect l="l" t="t" r="r" b="b"/>
              <a:pathLst>
                <a:path w="1647825">
                  <a:moveTo>
                    <a:pt x="0" y="0"/>
                  </a:moveTo>
                  <a:lnTo>
                    <a:pt x="1647825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25162" y="3541013"/>
              <a:ext cx="2493645" cy="76200"/>
            </a:xfrm>
            <a:custGeom>
              <a:avLst/>
              <a:gdLst/>
              <a:ahLst/>
              <a:cxnLst/>
              <a:rect l="l" t="t" r="r" b="b"/>
              <a:pathLst>
                <a:path w="2493645" h="76200">
                  <a:moveTo>
                    <a:pt x="766191" y="25400"/>
                  </a:moveTo>
                  <a:lnTo>
                    <a:pt x="76200" y="2540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766191" y="50800"/>
                  </a:lnTo>
                  <a:lnTo>
                    <a:pt x="766191" y="25400"/>
                  </a:lnTo>
                  <a:close/>
                </a:path>
                <a:path w="2493645" h="76200">
                  <a:moveTo>
                    <a:pt x="2493391" y="25400"/>
                  </a:moveTo>
                  <a:lnTo>
                    <a:pt x="1979676" y="25400"/>
                  </a:lnTo>
                  <a:lnTo>
                    <a:pt x="1979676" y="0"/>
                  </a:lnTo>
                  <a:lnTo>
                    <a:pt x="1903476" y="38100"/>
                  </a:lnTo>
                  <a:lnTo>
                    <a:pt x="1979676" y="76200"/>
                  </a:lnTo>
                  <a:lnTo>
                    <a:pt x="1979676" y="50800"/>
                  </a:lnTo>
                  <a:lnTo>
                    <a:pt x="2493391" y="50800"/>
                  </a:lnTo>
                  <a:lnTo>
                    <a:pt x="2493391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44289" y="1674114"/>
              <a:ext cx="2187575" cy="421640"/>
            </a:xfrm>
            <a:custGeom>
              <a:avLst/>
              <a:gdLst/>
              <a:ahLst/>
              <a:cxnLst/>
              <a:rect l="l" t="t" r="r" b="b"/>
              <a:pathLst>
                <a:path w="2187575" h="421639">
                  <a:moveTo>
                    <a:pt x="1906524" y="399923"/>
                  </a:moveTo>
                  <a:lnTo>
                    <a:pt x="1906524" y="0"/>
                  </a:lnTo>
                </a:path>
                <a:path w="2187575" h="421639">
                  <a:moveTo>
                    <a:pt x="0" y="421259"/>
                  </a:moveTo>
                  <a:lnTo>
                    <a:pt x="0" y="21336"/>
                  </a:lnTo>
                </a:path>
                <a:path w="2187575" h="421639">
                  <a:moveTo>
                    <a:pt x="1793748" y="262127"/>
                  </a:moveTo>
                  <a:lnTo>
                    <a:pt x="2187448" y="26212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162805" y="2184273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A[1]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92857" y="3103626"/>
            <a:ext cx="960119" cy="1127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Times New Roman"/>
              <a:cs typeface="Times New Roman"/>
            </a:endParaRPr>
          </a:p>
          <a:p>
            <a:pPr marR="952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954273" y="2492501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5"/>
                </a:moveTo>
                <a:lnTo>
                  <a:pt x="0" y="495935"/>
                </a:lnTo>
                <a:lnTo>
                  <a:pt x="38100" y="572135"/>
                </a:lnTo>
                <a:lnTo>
                  <a:pt x="69850" y="508635"/>
                </a:lnTo>
                <a:lnTo>
                  <a:pt x="25400" y="508635"/>
                </a:lnTo>
                <a:lnTo>
                  <a:pt x="25400" y="495935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5"/>
                </a:lnTo>
                <a:lnTo>
                  <a:pt x="50800" y="508635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5"/>
                </a:moveTo>
                <a:lnTo>
                  <a:pt x="50800" y="495935"/>
                </a:lnTo>
                <a:lnTo>
                  <a:pt x="50800" y="508635"/>
                </a:lnTo>
                <a:lnTo>
                  <a:pt x="69850" y="508635"/>
                </a:lnTo>
                <a:lnTo>
                  <a:pt x="76200" y="495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582417" y="2492501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5"/>
                </a:moveTo>
                <a:lnTo>
                  <a:pt x="0" y="495935"/>
                </a:lnTo>
                <a:lnTo>
                  <a:pt x="38100" y="572135"/>
                </a:lnTo>
                <a:lnTo>
                  <a:pt x="69850" y="508635"/>
                </a:lnTo>
                <a:lnTo>
                  <a:pt x="25400" y="508635"/>
                </a:lnTo>
                <a:lnTo>
                  <a:pt x="25400" y="495935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5"/>
                </a:lnTo>
                <a:lnTo>
                  <a:pt x="50800" y="508635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5"/>
                </a:moveTo>
                <a:lnTo>
                  <a:pt x="50800" y="495935"/>
                </a:lnTo>
                <a:lnTo>
                  <a:pt x="50800" y="508635"/>
                </a:lnTo>
                <a:lnTo>
                  <a:pt x="69850" y="508635"/>
                </a:lnTo>
                <a:lnTo>
                  <a:pt x="76200" y="495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54273" y="4280153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5"/>
                </a:moveTo>
                <a:lnTo>
                  <a:pt x="0" y="495935"/>
                </a:lnTo>
                <a:lnTo>
                  <a:pt x="38100" y="572135"/>
                </a:lnTo>
                <a:lnTo>
                  <a:pt x="69850" y="508635"/>
                </a:lnTo>
                <a:lnTo>
                  <a:pt x="25400" y="508635"/>
                </a:lnTo>
                <a:lnTo>
                  <a:pt x="25400" y="495935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5"/>
                </a:lnTo>
                <a:lnTo>
                  <a:pt x="50800" y="508635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5"/>
                </a:moveTo>
                <a:lnTo>
                  <a:pt x="50800" y="495935"/>
                </a:lnTo>
                <a:lnTo>
                  <a:pt x="50800" y="508635"/>
                </a:lnTo>
                <a:lnTo>
                  <a:pt x="69850" y="508635"/>
                </a:lnTo>
                <a:lnTo>
                  <a:pt x="76200" y="4959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772282" y="4856479"/>
            <a:ext cx="5029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S[2]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47848" y="2202256"/>
            <a:ext cx="53911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74138" y="1334262"/>
            <a:ext cx="5283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B[0]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394204" y="1926717"/>
            <a:ext cx="1828800" cy="671830"/>
            <a:chOff x="2394204" y="1926717"/>
            <a:chExt cx="1828800" cy="671830"/>
          </a:xfrm>
        </p:grpSpPr>
        <p:pic>
          <p:nvPicPr>
            <p:cNvPr id="44" name="object 44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4204" y="1935480"/>
              <a:ext cx="416051" cy="662939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705862" y="1936242"/>
              <a:ext cx="1507490" cy="0"/>
            </a:xfrm>
            <a:custGeom>
              <a:avLst/>
              <a:gdLst/>
              <a:ahLst/>
              <a:cxnLst/>
              <a:rect l="l" t="t" r="r" b="b"/>
              <a:pathLst>
                <a:path w="1507489">
                  <a:moveTo>
                    <a:pt x="0" y="0"/>
                  </a:moveTo>
                  <a:lnTo>
                    <a:pt x="15071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50926" y="3117342"/>
            <a:ext cx="1041400" cy="1127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Times New Roman"/>
              <a:cs typeface="Times New Roman"/>
            </a:endParaRPr>
          </a:p>
          <a:p>
            <a:pPr marR="12065" algn="ctr">
              <a:lnSpc>
                <a:spcPct val="100000"/>
              </a:lnSpc>
            </a:pPr>
            <a:r>
              <a:rPr sz="2400" b="1" spc="-25" dirty="0">
                <a:latin typeface="Calibri"/>
                <a:cs typeface="Calibri"/>
              </a:rPr>
              <a:t>FA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1213866" y="2504694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4"/>
                </a:moveTo>
                <a:lnTo>
                  <a:pt x="0" y="495934"/>
                </a:lnTo>
                <a:lnTo>
                  <a:pt x="38100" y="572134"/>
                </a:lnTo>
                <a:lnTo>
                  <a:pt x="69850" y="508634"/>
                </a:lnTo>
                <a:lnTo>
                  <a:pt x="25400" y="508634"/>
                </a:lnTo>
                <a:lnTo>
                  <a:pt x="25400" y="495934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4"/>
                </a:lnTo>
                <a:lnTo>
                  <a:pt x="50800" y="508634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4"/>
                </a:moveTo>
                <a:lnTo>
                  <a:pt x="50800" y="495934"/>
                </a:lnTo>
                <a:lnTo>
                  <a:pt x="50800" y="508634"/>
                </a:lnTo>
                <a:lnTo>
                  <a:pt x="69850" y="508634"/>
                </a:lnTo>
                <a:lnTo>
                  <a:pt x="76200" y="4959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42010" y="2504694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4"/>
                </a:moveTo>
                <a:lnTo>
                  <a:pt x="0" y="495934"/>
                </a:lnTo>
                <a:lnTo>
                  <a:pt x="38100" y="572134"/>
                </a:lnTo>
                <a:lnTo>
                  <a:pt x="69850" y="508634"/>
                </a:lnTo>
                <a:lnTo>
                  <a:pt x="25400" y="508634"/>
                </a:lnTo>
                <a:lnTo>
                  <a:pt x="25400" y="495934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4"/>
                </a:lnTo>
                <a:lnTo>
                  <a:pt x="50800" y="508634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4"/>
                </a:moveTo>
                <a:lnTo>
                  <a:pt x="50800" y="495934"/>
                </a:lnTo>
                <a:lnTo>
                  <a:pt x="50800" y="508634"/>
                </a:lnTo>
                <a:lnTo>
                  <a:pt x="69850" y="508634"/>
                </a:lnTo>
                <a:lnTo>
                  <a:pt x="76200" y="4959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13866" y="4292346"/>
            <a:ext cx="76200" cy="572135"/>
          </a:xfrm>
          <a:custGeom>
            <a:avLst/>
            <a:gdLst/>
            <a:ahLst/>
            <a:cxnLst/>
            <a:rect l="l" t="t" r="r" b="b"/>
            <a:pathLst>
              <a:path w="76200" h="572135">
                <a:moveTo>
                  <a:pt x="25400" y="495934"/>
                </a:moveTo>
                <a:lnTo>
                  <a:pt x="0" y="495934"/>
                </a:lnTo>
                <a:lnTo>
                  <a:pt x="38100" y="572134"/>
                </a:lnTo>
                <a:lnTo>
                  <a:pt x="69850" y="508634"/>
                </a:lnTo>
                <a:lnTo>
                  <a:pt x="25400" y="508634"/>
                </a:lnTo>
                <a:lnTo>
                  <a:pt x="25400" y="495934"/>
                </a:lnTo>
                <a:close/>
              </a:path>
              <a:path w="76200" h="572135">
                <a:moveTo>
                  <a:pt x="50800" y="0"/>
                </a:moveTo>
                <a:lnTo>
                  <a:pt x="25400" y="0"/>
                </a:lnTo>
                <a:lnTo>
                  <a:pt x="25400" y="508634"/>
                </a:lnTo>
                <a:lnTo>
                  <a:pt x="50800" y="508634"/>
                </a:lnTo>
                <a:lnTo>
                  <a:pt x="50800" y="0"/>
                </a:lnTo>
                <a:close/>
              </a:path>
              <a:path w="76200" h="572135">
                <a:moveTo>
                  <a:pt x="76200" y="495934"/>
                </a:moveTo>
                <a:lnTo>
                  <a:pt x="50800" y="495934"/>
                </a:lnTo>
                <a:lnTo>
                  <a:pt x="50800" y="508634"/>
                </a:lnTo>
                <a:lnTo>
                  <a:pt x="69850" y="508634"/>
                </a:lnTo>
                <a:lnTo>
                  <a:pt x="76200" y="4959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043736" y="4869307"/>
            <a:ext cx="50292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S[3]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15492" y="1341577"/>
            <a:ext cx="52768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B[1]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53795" y="1674114"/>
            <a:ext cx="2933700" cy="1952625"/>
            <a:chOff x="653795" y="1674114"/>
            <a:chExt cx="2933700" cy="1952625"/>
          </a:xfrm>
        </p:grpSpPr>
        <p:pic>
          <p:nvPicPr>
            <p:cNvPr id="53" name="object 53" descr="Image result for X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795" y="1947672"/>
              <a:ext cx="414527" cy="662939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965454" y="1948434"/>
              <a:ext cx="1507490" cy="0"/>
            </a:xfrm>
            <a:custGeom>
              <a:avLst/>
              <a:gdLst/>
              <a:ahLst/>
              <a:cxnLst/>
              <a:rect l="l" t="t" r="r" b="b"/>
              <a:pathLst>
                <a:path w="1507489">
                  <a:moveTo>
                    <a:pt x="0" y="0"/>
                  </a:moveTo>
                  <a:lnTo>
                    <a:pt x="1507109" y="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91818" y="3541013"/>
              <a:ext cx="1995805" cy="85725"/>
            </a:xfrm>
            <a:custGeom>
              <a:avLst/>
              <a:gdLst/>
              <a:ahLst/>
              <a:cxnLst/>
              <a:rect l="l" t="t" r="r" b="b"/>
              <a:pathLst>
                <a:path w="1995804" h="85725">
                  <a:moveTo>
                    <a:pt x="700786" y="25400"/>
                  </a:moveTo>
                  <a:lnTo>
                    <a:pt x="76200" y="25400"/>
                  </a:lnTo>
                  <a:lnTo>
                    <a:pt x="76200" y="0"/>
                  </a:ln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700786" y="50800"/>
                  </a:lnTo>
                  <a:lnTo>
                    <a:pt x="700786" y="25400"/>
                  </a:lnTo>
                  <a:close/>
                </a:path>
                <a:path w="1995804" h="85725">
                  <a:moveTo>
                    <a:pt x="1995424" y="34556"/>
                  </a:moveTo>
                  <a:lnTo>
                    <a:pt x="1722120" y="34556"/>
                  </a:lnTo>
                  <a:lnTo>
                    <a:pt x="1722120" y="9156"/>
                  </a:lnTo>
                  <a:lnTo>
                    <a:pt x="1645920" y="47256"/>
                  </a:lnTo>
                  <a:lnTo>
                    <a:pt x="1722120" y="85344"/>
                  </a:lnTo>
                  <a:lnTo>
                    <a:pt x="1722120" y="59956"/>
                  </a:lnTo>
                  <a:lnTo>
                    <a:pt x="1995424" y="59956"/>
                  </a:lnTo>
                  <a:lnTo>
                    <a:pt x="1995424" y="34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85621" y="1674114"/>
              <a:ext cx="2001520" cy="421640"/>
            </a:xfrm>
            <a:custGeom>
              <a:avLst/>
              <a:gdLst/>
              <a:ahLst/>
              <a:cxnLst/>
              <a:rect l="l" t="t" r="r" b="b"/>
              <a:pathLst>
                <a:path w="2001520" h="421639">
                  <a:moveTo>
                    <a:pt x="1743455" y="399923"/>
                  </a:moveTo>
                  <a:lnTo>
                    <a:pt x="1743455" y="0"/>
                  </a:lnTo>
                </a:path>
                <a:path w="2001520" h="421639">
                  <a:moveTo>
                    <a:pt x="0" y="421259"/>
                  </a:moveTo>
                  <a:lnTo>
                    <a:pt x="0" y="21336"/>
                  </a:lnTo>
                </a:path>
                <a:path w="2001520" h="421639">
                  <a:moveTo>
                    <a:pt x="1641348" y="262127"/>
                  </a:moveTo>
                  <a:lnTo>
                    <a:pt x="2001392" y="26212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076045" y="2184273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A[1]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69614" y="261315"/>
            <a:ext cx="5531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4-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5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Unsigned</a:t>
            </a:r>
            <a:r>
              <a:rPr b="0" spc="-19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Multiplier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39314" y="1324736"/>
            <a:ext cx="338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6F2F9F"/>
                </a:solidFill>
                <a:latin typeface="Cambria Math"/>
                <a:cs typeface="Cambria Math"/>
              </a:rPr>
              <a:t>𝐀</a:t>
            </a:r>
            <a:r>
              <a:rPr sz="1950" spc="-37" baseline="-14957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spc="-25" dirty="0">
                <a:solidFill>
                  <a:srgbClr val="6F2F9F"/>
                </a:solidFill>
                <a:latin typeface="Cambria Math"/>
                <a:cs typeface="Cambria Math"/>
              </a:rPr>
              <a:t>𝐁</a:t>
            </a:r>
            <a:r>
              <a:rPr sz="1950" spc="-37" baseline="-14957" dirty="0">
                <a:solidFill>
                  <a:srgbClr val="6F2F9F"/>
                </a:solidFill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0541" y="1324736"/>
            <a:ext cx="347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6F2F9F"/>
                </a:solidFill>
                <a:latin typeface="Cambria Math"/>
                <a:cs typeface="Cambria Math"/>
              </a:rPr>
              <a:t>𝐀</a:t>
            </a:r>
            <a:r>
              <a:rPr sz="1950" spc="-37" baseline="-14957" dirty="0">
                <a:solidFill>
                  <a:srgbClr val="6F2F9F"/>
                </a:solidFill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spc="-25" dirty="0">
                <a:solidFill>
                  <a:srgbClr val="6F2F9F"/>
                </a:solidFill>
                <a:latin typeface="Cambria Math"/>
                <a:cs typeface="Cambria Math"/>
              </a:rPr>
              <a:t>𝐁</a:t>
            </a:r>
            <a:r>
              <a:rPr sz="1950" spc="-37" baseline="-14957" dirty="0">
                <a:solidFill>
                  <a:srgbClr val="6F2F9F"/>
                </a:solidFill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83792" y="1914905"/>
          <a:ext cx="2547619" cy="95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7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9685"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𝐀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𝐁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5244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1935"/>
                        </a:lnSpc>
                      </a:pP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𝐀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𝐁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𝐀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𝐁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5570" algn="r">
                        <a:lnSpc>
                          <a:spcPts val="1935"/>
                        </a:lnSpc>
                      </a:pP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𝐀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spc="-20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𝐁</a:t>
                      </a:r>
                      <a:r>
                        <a:rPr sz="1950" spc="-30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0" marB="0"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25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𝐌</a:t>
                      </a:r>
                      <a:r>
                        <a:rPr sz="1950" spc="-37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165" marB="0"/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25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𝐌</a:t>
                      </a:r>
                      <a:r>
                        <a:rPr sz="1950" spc="-37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25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𝐌</a:t>
                      </a:r>
                      <a:r>
                        <a:rPr sz="1950" spc="-37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800" spc="-25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𝐌</a:t>
                      </a:r>
                      <a:r>
                        <a:rPr sz="1950" spc="-37" baseline="-14957" dirty="0">
                          <a:solidFill>
                            <a:srgbClr val="6F2F9F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5016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7107682" y="1453133"/>
            <a:ext cx="1577340" cy="2614930"/>
          </a:xfrm>
          <a:custGeom>
            <a:avLst/>
            <a:gdLst/>
            <a:ahLst/>
            <a:cxnLst/>
            <a:rect l="l" t="t" r="r" b="b"/>
            <a:pathLst>
              <a:path w="1577340" h="2614929">
                <a:moveTo>
                  <a:pt x="76200" y="2537968"/>
                </a:moveTo>
                <a:lnTo>
                  <a:pt x="50673" y="2538438"/>
                </a:lnTo>
                <a:lnTo>
                  <a:pt x="25908" y="1246886"/>
                </a:lnTo>
                <a:lnTo>
                  <a:pt x="25908" y="1246378"/>
                </a:lnTo>
                <a:lnTo>
                  <a:pt x="508" y="1246886"/>
                </a:lnTo>
                <a:lnTo>
                  <a:pt x="25387" y="2537968"/>
                </a:lnTo>
                <a:lnTo>
                  <a:pt x="25400" y="2538907"/>
                </a:lnTo>
                <a:lnTo>
                  <a:pt x="0" y="2539365"/>
                </a:lnTo>
                <a:lnTo>
                  <a:pt x="39497" y="2614930"/>
                </a:lnTo>
                <a:lnTo>
                  <a:pt x="69646" y="2551684"/>
                </a:lnTo>
                <a:lnTo>
                  <a:pt x="76200" y="2537968"/>
                </a:lnTo>
                <a:close/>
              </a:path>
              <a:path w="1577340" h="2614929">
                <a:moveTo>
                  <a:pt x="1576832" y="512064"/>
                </a:moveTo>
                <a:lnTo>
                  <a:pt x="1551432" y="512064"/>
                </a:lnTo>
                <a:lnTo>
                  <a:pt x="1551432" y="0"/>
                </a:lnTo>
                <a:lnTo>
                  <a:pt x="1526032" y="0"/>
                </a:lnTo>
                <a:lnTo>
                  <a:pt x="1526032" y="512064"/>
                </a:lnTo>
                <a:lnTo>
                  <a:pt x="1500632" y="512064"/>
                </a:lnTo>
                <a:lnTo>
                  <a:pt x="1538732" y="588264"/>
                </a:lnTo>
                <a:lnTo>
                  <a:pt x="1570482" y="524764"/>
                </a:lnTo>
                <a:lnTo>
                  <a:pt x="1576832" y="5120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39150" y="1059307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53250" y="4068317"/>
            <a:ext cx="929640" cy="5810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64465" rIns="0" bIns="0" rtlCol="0">
            <a:spAutoFit/>
          </a:bodyPr>
          <a:lstStyle/>
          <a:p>
            <a:pPr marL="352425">
              <a:lnSpc>
                <a:spcPct val="100000"/>
              </a:lnSpc>
              <a:spcBef>
                <a:spcPts val="1295"/>
              </a:spcBef>
            </a:pPr>
            <a:r>
              <a:rPr sz="1800" b="1" spc="-25" dirty="0">
                <a:latin typeface="Calibri"/>
                <a:cs typeface="Calibri"/>
              </a:rPr>
              <a:t>HA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793353" y="2664586"/>
            <a:ext cx="76200" cy="2425065"/>
          </a:xfrm>
          <a:custGeom>
            <a:avLst/>
            <a:gdLst/>
            <a:ahLst/>
            <a:cxnLst/>
            <a:rect l="l" t="t" r="r" b="b"/>
            <a:pathLst>
              <a:path w="76200" h="2425065">
                <a:moveTo>
                  <a:pt x="0" y="2348357"/>
                </a:moveTo>
                <a:lnTo>
                  <a:pt x="37465" y="2424938"/>
                </a:lnTo>
                <a:lnTo>
                  <a:pt x="69841" y="2361565"/>
                </a:lnTo>
                <a:lnTo>
                  <a:pt x="50800" y="2361565"/>
                </a:lnTo>
                <a:lnTo>
                  <a:pt x="25400" y="2361311"/>
                </a:lnTo>
                <a:lnTo>
                  <a:pt x="25514" y="2348612"/>
                </a:lnTo>
                <a:lnTo>
                  <a:pt x="0" y="2348357"/>
                </a:lnTo>
                <a:close/>
              </a:path>
              <a:path w="76200" h="2425065">
                <a:moveTo>
                  <a:pt x="25514" y="2348612"/>
                </a:moveTo>
                <a:lnTo>
                  <a:pt x="25400" y="2361311"/>
                </a:lnTo>
                <a:lnTo>
                  <a:pt x="50800" y="2361565"/>
                </a:lnTo>
                <a:lnTo>
                  <a:pt x="50914" y="2348866"/>
                </a:lnTo>
                <a:lnTo>
                  <a:pt x="25514" y="2348612"/>
                </a:lnTo>
                <a:close/>
              </a:path>
              <a:path w="76200" h="2425065">
                <a:moveTo>
                  <a:pt x="50914" y="2348866"/>
                </a:moveTo>
                <a:lnTo>
                  <a:pt x="50800" y="2361565"/>
                </a:lnTo>
                <a:lnTo>
                  <a:pt x="69841" y="2361565"/>
                </a:lnTo>
                <a:lnTo>
                  <a:pt x="76200" y="2349119"/>
                </a:lnTo>
                <a:lnTo>
                  <a:pt x="50914" y="2348866"/>
                </a:lnTo>
                <a:close/>
              </a:path>
              <a:path w="76200" h="2425065">
                <a:moveTo>
                  <a:pt x="46608" y="0"/>
                </a:moveTo>
                <a:lnTo>
                  <a:pt x="25516" y="2348357"/>
                </a:lnTo>
                <a:lnTo>
                  <a:pt x="25514" y="2348612"/>
                </a:lnTo>
                <a:lnTo>
                  <a:pt x="50914" y="2348866"/>
                </a:lnTo>
                <a:lnTo>
                  <a:pt x="72008" y="253"/>
                </a:lnTo>
                <a:lnTo>
                  <a:pt x="46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82025" y="5094478"/>
            <a:ext cx="6203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M[0]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24910" y="1472946"/>
            <a:ext cx="5372735" cy="1241425"/>
            <a:chOff x="4724910" y="1472946"/>
            <a:chExt cx="5372735" cy="1241425"/>
          </a:xfrm>
        </p:grpSpPr>
        <p:sp>
          <p:nvSpPr>
            <p:cNvPr id="12" name="object 12"/>
            <p:cNvSpPr/>
            <p:nvPr/>
          </p:nvSpPr>
          <p:spPr>
            <a:xfrm>
              <a:off x="8957309" y="1747266"/>
              <a:ext cx="76200" cy="294640"/>
            </a:xfrm>
            <a:custGeom>
              <a:avLst/>
              <a:gdLst/>
              <a:ahLst/>
              <a:cxnLst/>
              <a:rect l="l" t="t" r="r" b="b"/>
              <a:pathLst>
                <a:path w="76200" h="294639">
                  <a:moveTo>
                    <a:pt x="25400" y="217932"/>
                  </a:moveTo>
                  <a:lnTo>
                    <a:pt x="0" y="217932"/>
                  </a:lnTo>
                  <a:lnTo>
                    <a:pt x="38100" y="294132"/>
                  </a:lnTo>
                  <a:lnTo>
                    <a:pt x="69850" y="230632"/>
                  </a:lnTo>
                  <a:lnTo>
                    <a:pt x="25400" y="230632"/>
                  </a:lnTo>
                  <a:lnTo>
                    <a:pt x="25400" y="217932"/>
                  </a:lnTo>
                  <a:close/>
                </a:path>
                <a:path w="76200" h="294639">
                  <a:moveTo>
                    <a:pt x="50800" y="0"/>
                  </a:moveTo>
                  <a:lnTo>
                    <a:pt x="25400" y="0"/>
                  </a:lnTo>
                  <a:lnTo>
                    <a:pt x="25400" y="230632"/>
                  </a:lnTo>
                  <a:lnTo>
                    <a:pt x="50800" y="230632"/>
                  </a:lnTo>
                  <a:lnTo>
                    <a:pt x="50800" y="0"/>
                  </a:lnTo>
                  <a:close/>
                </a:path>
                <a:path w="76200" h="294639">
                  <a:moveTo>
                    <a:pt x="76200" y="217932"/>
                  </a:moveTo>
                  <a:lnTo>
                    <a:pt x="50800" y="217932"/>
                  </a:lnTo>
                  <a:lnTo>
                    <a:pt x="50800" y="230632"/>
                  </a:lnTo>
                  <a:lnTo>
                    <a:pt x="69850" y="230632"/>
                  </a:lnTo>
                  <a:lnTo>
                    <a:pt x="76200" y="2179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01811" y="2026920"/>
              <a:ext cx="931163" cy="66903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24910" y="1727581"/>
              <a:ext cx="5372735" cy="76200"/>
            </a:xfrm>
            <a:custGeom>
              <a:avLst/>
              <a:gdLst/>
              <a:ahLst/>
              <a:cxnLst/>
              <a:rect l="l" t="t" r="r" b="b"/>
              <a:pathLst>
                <a:path w="5372734" h="76200">
                  <a:moveTo>
                    <a:pt x="76324" y="0"/>
                  </a:moveTo>
                  <a:lnTo>
                    <a:pt x="0" y="38481"/>
                  </a:lnTo>
                  <a:lnTo>
                    <a:pt x="508" y="38481"/>
                  </a:lnTo>
                  <a:lnTo>
                    <a:pt x="76578" y="76200"/>
                  </a:lnTo>
                  <a:lnTo>
                    <a:pt x="76494" y="50927"/>
                  </a:lnTo>
                  <a:lnTo>
                    <a:pt x="63751" y="50927"/>
                  </a:lnTo>
                  <a:lnTo>
                    <a:pt x="63751" y="25527"/>
                  </a:lnTo>
                  <a:lnTo>
                    <a:pt x="76409" y="25527"/>
                  </a:lnTo>
                  <a:lnTo>
                    <a:pt x="76324" y="0"/>
                  </a:lnTo>
                  <a:close/>
                </a:path>
                <a:path w="5372734" h="76200">
                  <a:moveTo>
                    <a:pt x="5372478" y="13081"/>
                  </a:moveTo>
                  <a:lnTo>
                    <a:pt x="63751" y="25527"/>
                  </a:lnTo>
                  <a:lnTo>
                    <a:pt x="63751" y="50927"/>
                  </a:lnTo>
                  <a:lnTo>
                    <a:pt x="76494" y="50927"/>
                  </a:lnTo>
                  <a:lnTo>
                    <a:pt x="76409" y="25527"/>
                  </a:lnTo>
                  <a:lnTo>
                    <a:pt x="5372541" y="25527"/>
                  </a:lnTo>
                  <a:lnTo>
                    <a:pt x="5372478" y="13081"/>
                  </a:lnTo>
                  <a:close/>
                </a:path>
                <a:path w="5372734" h="76200">
                  <a:moveTo>
                    <a:pt x="5372541" y="25527"/>
                  </a:moveTo>
                  <a:lnTo>
                    <a:pt x="76409" y="25527"/>
                  </a:lnTo>
                  <a:lnTo>
                    <a:pt x="76494" y="50927"/>
                  </a:lnTo>
                  <a:lnTo>
                    <a:pt x="63751" y="50927"/>
                  </a:lnTo>
                  <a:lnTo>
                    <a:pt x="5372605" y="38481"/>
                  </a:lnTo>
                  <a:lnTo>
                    <a:pt x="5372541" y="255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2739" y="2046732"/>
              <a:ext cx="929639" cy="6675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909053" y="1472946"/>
              <a:ext cx="76200" cy="588645"/>
            </a:xfrm>
            <a:custGeom>
              <a:avLst/>
              <a:gdLst/>
              <a:ahLst/>
              <a:cxnLst/>
              <a:rect l="l" t="t" r="r" b="b"/>
              <a:pathLst>
                <a:path w="76200" h="588644">
                  <a:moveTo>
                    <a:pt x="25400" y="512063"/>
                  </a:moveTo>
                  <a:lnTo>
                    <a:pt x="0" y="512063"/>
                  </a:lnTo>
                  <a:lnTo>
                    <a:pt x="38100" y="588263"/>
                  </a:lnTo>
                  <a:lnTo>
                    <a:pt x="69850" y="524763"/>
                  </a:lnTo>
                  <a:lnTo>
                    <a:pt x="25400" y="524763"/>
                  </a:lnTo>
                  <a:lnTo>
                    <a:pt x="25400" y="512063"/>
                  </a:lnTo>
                  <a:close/>
                </a:path>
                <a:path w="76200" h="588644">
                  <a:moveTo>
                    <a:pt x="50800" y="0"/>
                  </a:moveTo>
                  <a:lnTo>
                    <a:pt x="25400" y="0"/>
                  </a:lnTo>
                  <a:lnTo>
                    <a:pt x="25400" y="524763"/>
                  </a:lnTo>
                  <a:lnTo>
                    <a:pt x="50800" y="524763"/>
                  </a:lnTo>
                  <a:lnTo>
                    <a:pt x="50800" y="0"/>
                  </a:lnTo>
                  <a:close/>
                </a:path>
                <a:path w="76200" h="588644">
                  <a:moveTo>
                    <a:pt x="76200" y="512063"/>
                  </a:moveTo>
                  <a:lnTo>
                    <a:pt x="50800" y="512063"/>
                  </a:lnTo>
                  <a:lnTo>
                    <a:pt x="50800" y="524763"/>
                  </a:lnTo>
                  <a:lnTo>
                    <a:pt x="69850" y="524763"/>
                  </a:lnTo>
                  <a:lnTo>
                    <a:pt x="76200" y="512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230104" y="1567383"/>
            <a:ext cx="52768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B[0]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40143" y="1079119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A[1]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810505" y="1767077"/>
            <a:ext cx="5287645" cy="2311400"/>
            <a:chOff x="4810505" y="1767077"/>
            <a:chExt cx="5287645" cy="2311400"/>
          </a:xfrm>
        </p:grpSpPr>
        <p:sp>
          <p:nvSpPr>
            <p:cNvPr id="20" name="object 20"/>
            <p:cNvSpPr/>
            <p:nvPr/>
          </p:nvSpPr>
          <p:spPr>
            <a:xfrm>
              <a:off x="4810506" y="1767077"/>
              <a:ext cx="5287645" cy="2311400"/>
            </a:xfrm>
            <a:custGeom>
              <a:avLst/>
              <a:gdLst/>
              <a:ahLst/>
              <a:cxnLst/>
              <a:rect l="l" t="t" r="r" b="b"/>
              <a:pathLst>
                <a:path w="5287645" h="2311400">
                  <a:moveTo>
                    <a:pt x="2523744" y="217932"/>
                  </a:moveTo>
                  <a:lnTo>
                    <a:pt x="2498344" y="217932"/>
                  </a:lnTo>
                  <a:lnTo>
                    <a:pt x="2498344" y="0"/>
                  </a:lnTo>
                  <a:lnTo>
                    <a:pt x="2472944" y="0"/>
                  </a:lnTo>
                  <a:lnTo>
                    <a:pt x="2472944" y="217932"/>
                  </a:lnTo>
                  <a:lnTo>
                    <a:pt x="2447544" y="217932"/>
                  </a:lnTo>
                  <a:lnTo>
                    <a:pt x="2485644" y="294132"/>
                  </a:lnTo>
                  <a:lnTo>
                    <a:pt x="2517394" y="230632"/>
                  </a:lnTo>
                  <a:lnTo>
                    <a:pt x="2523744" y="217932"/>
                  </a:lnTo>
                  <a:close/>
                </a:path>
                <a:path w="5287645" h="2311400">
                  <a:moveTo>
                    <a:pt x="2907792" y="2235200"/>
                  </a:moveTo>
                  <a:lnTo>
                    <a:pt x="2882392" y="2235200"/>
                  </a:lnTo>
                  <a:lnTo>
                    <a:pt x="2882392" y="1885188"/>
                  </a:lnTo>
                  <a:lnTo>
                    <a:pt x="2856992" y="1885188"/>
                  </a:lnTo>
                  <a:lnTo>
                    <a:pt x="2856992" y="2235200"/>
                  </a:lnTo>
                  <a:lnTo>
                    <a:pt x="2831592" y="2235200"/>
                  </a:lnTo>
                  <a:lnTo>
                    <a:pt x="2869692" y="2311400"/>
                  </a:lnTo>
                  <a:lnTo>
                    <a:pt x="2901442" y="2247900"/>
                  </a:lnTo>
                  <a:lnTo>
                    <a:pt x="2907792" y="2235200"/>
                  </a:lnTo>
                  <a:close/>
                </a:path>
                <a:path w="5287645" h="2311400">
                  <a:moveTo>
                    <a:pt x="5287264" y="1133221"/>
                  </a:moveTo>
                  <a:lnTo>
                    <a:pt x="76238" y="1116888"/>
                  </a:lnTo>
                  <a:lnTo>
                    <a:pt x="76327" y="1091438"/>
                  </a:lnTo>
                  <a:lnTo>
                    <a:pt x="0" y="1129284"/>
                  </a:lnTo>
                  <a:lnTo>
                    <a:pt x="76073" y="1167638"/>
                  </a:lnTo>
                  <a:lnTo>
                    <a:pt x="76149" y="1142288"/>
                  </a:lnTo>
                  <a:lnTo>
                    <a:pt x="5287137" y="1158621"/>
                  </a:lnTo>
                  <a:lnTo>
                    <a:pt x="5287264" y="11332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2904" y="3200400"/>
              <a:ext cx="929639" cy="55778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869686" y="2715005"/>
              <a:ext cx="2014855" cy="1363980"/>
            </a:xfrm>
            <a:custGeom>
              <a:avLst/>
              <a:gdLst/>
              <a:ahLst/>
              <a:cxnLst/>
              <a:rect l="l" t="t" r="r" b="b"/>
              <a:pathLst>
                <a:path w="2014854" h="1363979">
                  <a:moveTo>
                    <a:pt x="76200" y="1287272"/>
                  </a:moveTo>
                  <a:lnTo>
                    <a:pt x="50800" y="1287272"/>
                  </a:lnTo>
                  <a:lnTo>
                    <a:pt x="50800" y="937260"/>
                  </a:lnTo>
                  <a:lnTo>
                    <a:pt x="25400" y="937260"/>
                  </a:lnTo>
                  <a:lnTo>
                    <a:pt x="25400" y="1287272"/>
                  </a:lnTo>
                  <a:lnTo>
                    <a:pt x="0" y="1287272"/>
                  </a:lnTo>
                  <a:lnTo>
                    <a:pt x="38100" y="1363472"/>
                  </a:lnTo>
                  <a:lnTo>
                    <a:pt x="69850" y="1299972"/>
                  </a:lnTo>
                  <a:lnTo>
                    <a:pt x="76200" y="1287272"/>
                  </a:lnTo>
                  <a:close/>
                </a:path>
                <a:path w="2014854" h="1363979">
                  <a:moveTo>
                    <a:pt x="1743456" y="408813"/>
                  </a:moveTo>
                  <a:lnTo>
                    <a:pt x="1718056" y="408813"/>
                  </a:lnTo>
                  <a:lnTo>
                    <a:pt x="1718056" y="0"/>
                  </a:lnTo>
                  <a:lnTo>
                    <a:pt x="1692656" y="0"/>
                  </a:lnTo>
                  <a:lnTo>
                    <a:pt x="1692656" y="408813"/>
                  </a:lnTo>
                  <a:lnTo>
                    <a:pt x="1667256" y="408813"/>
                  </a:lnTo>
                  <a:lnTo>
                    <a:pt x="1705356" y="485013"/>
                  </a:lnTo>
                  <a:lnTo>
                    <a:pt x="1737106" y="421513"/>
                  </a:lnTo>
                  <a:lnTo>
                    <a:pt x="1743456" y="408813"/>
                  </a:lnTo>
                  <a:close/>
                </a:path>
                <a:path w="2014854" h="1363979">
                  <a:moveTo>
                    <a:pt x="2014728" y="423672"/>
                  </a:moveTo>
                  <a:lnTo>
                    <a:pt x="1989328" y="423672"/>
                  </a:lnTo>
                  <a:lnTo>
                    <a:pt x="1989328" y="205740"/>
                  </a:lnTo>
                  <a:lnTo>
                    <a:pt x="1963928" y="205740"/>
                  </a:lnTo>
                  <a:lnTo>
                    <a:pt x="1963928" y="423672"/>
                  </a:lnTo>
                  <a:lnTo>
                    <a:pt x="1938528" y="423672"/>
                  </a:lnTo>
                  <a:lnTo>
                    <a:pt x="1976628" y="499872"/>
                  </a:lnTo>
                  <a:lnTo>
                    <a:pt x="2008378" y="436372"/>
                  </a:lnTo>
                  <a:lnTo>
                    <a:pt x="2014728" y="423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0491" y="3200400"/>
              <a:ext cx="929639" cy="55778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758434" y="2715005"/>
              <a:ext cx="353695" cy="500380"/>
            </a:xfrm>
            <a:custGeom>
              <a:avLst/>
              <a:gdLst/>
              <a:ahLst/>
              <a:cxnLst/>
              <a:rect l="l" t="t" r="r" b="b"/>
              <a:pathLst>
                <a:path w="353695" h="500380">
                  <a:moveTo>
                    <a:pt x="76200" y="422529"/>
                  </a:moveTo>
                  <a:lnTo>
                    <a:pt x="50800" y="422529"/>
                  </a:lnTo>
                  <a:lnTo>
                    <a:pt x="50800" y="0"/>
                  </a:lnTo>
                  <a:lnTo>
                    <a:pt x="25400" y="0"/>
                  </a:lnTo>
                  <a:lnTo>
                    <a:pt x="25400" y="422529"/>
                  </a:lnTo>
                  <a:lnTo>
                    <a:pt x="0" y="422529"/>
                  </a:lnTo>
                  <a:lnTo>
                    <a:pt x="38100" y="498729"/>
                  </a:lnTo>
                  <a:lnTo>
                    <a:pt x="69850" y="435229"/>
                  </a:lnTo>
                  <a:lnTo>
                    <a:pt x="76200" y="422529"/>
                  </a:lnTo>
                  <a:close/>
                </a:path>
                <a:path w="353695" h="500380">
                  <a:moveTo>
                    <a:pt x="353568" y="423672"/>
                  </a:moveTo>
                  <a:lnTo>
                    <a:pt x="328168" y="423672"/>
                  </a:lnTo>
                  <a:lnTo>
                    <a:pt x="328168" y="205740"/>
                  </a:lnTo>
                  <a:lnTo>
                    <a:pt x="302768" y="205740"/>
                  </a:lnTo>
                  <a:lnTo>
                    <a:pt x="302768" y="423672"/>
                  </a:lnTo>
                  <a:lnTo>
                    <a:pt x="277368" y="423672"/>
                  </a:lnTo>
                  <a:lnTo>
                    <a:pt x="315468" y="499872"/>
                  </a:lnTo>
                  <a:lnTo>
                    <a:pt x="347218" y="436372"/>
                  </a:lnTo>
                  <a:lnTo>
                    <a:pt x="353568" y="4236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0230104" y="2736850"/>
            <a:ext cx="5283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B[1]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469885" y="2374138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71490" y="2374138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A[1]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686805" y="4078985"/>
            <a:ext cx="929640" cy="58102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64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sz="1800" b="1" spc="-25" dirty="0">
                <a:latin typeface="Calibri"/>
                <a:cs typeface="Calibri"/>
              </a:rPr>
              <a:t>FA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69585" y="4314063"/>
            <a:ext cx="1885314" cy="825500"/>
            <a:chOff x="5069585" y="4314063"/>
            <a:chExt cx="1885314" cy="825500"/>
          </a:xfrm>
        </p:grpSpPr>
        <p:sp>
          <p:nvSpPr>
            <p:cNvPr id="30" name="object 30"/>
            <p:cNvSpPr/>
            <p:nvPr/>
          </p:nvSpPr>
          <p:spPr>
            <a:xfrm>
              <a:off x="5069586" y="4314062"/>
              <a:ext cx="1885314" cy="825500"/>
            </a:xfrm>
            <a:custGeom>
              <a:avLst/>
              <a:gdLst/>
              <a:ahLst/>
              <a:cxnLst/>
              <a:rect l="l" t="t" r="r" b="b"/>
              <a:pathLst>
                <a:path w="1885315" h="825500">
                  <a:moveTo>
                    <a:pt x="76200" y="749173"/>
                  </a:moveTo>
                  <a:lnTo>
                    <a:pt x="50800" y="749173"/>
                  </a:lnTo>
                  <a:lnTo>
                    <a:pt x="50800" y="43815"/>
                  </a:lnTo>
                  <a:lnTo>
                    <a:pt x="25400" y="43815"/>
                  </a:lnTo>
                  <a:lnTo>
                    <a:pt x="25400" y="749173"/>
                  </a:lnTo>
                  <a:lnTo>
                    <a:pt x="0" y="749173"/>
                  </a:lnTo>
                  <a:lnTo>
                    <a:pt x="38100" y="825373"/>
                  </a:lnTo>
                  <a:lnTo>
                    <a:pt x="69850" y="761873"/>
                  </a:lnTo>
                  <a:lnTo>
                    <a:pt x="76200" y="749173"/>
                  </a:lnTo>
                  <a:close/>
                </a:path>
                <a:path w="1885315" h="825500">
                  <a:moveTo>
                    <a:pt x="1884934" y="31877"/>
                  </a:moveTo>
                  <a:lnTo>
                    <a:pt x="1620266" y="25336"/>
                  </a:lnTo>
                  <a:lnTo>
                    <a:pt x="1620266" y="25019"/>
                  </a:lnTo>
                  <a:lnTo>
                    <a:pt x="1620901" y="0"/>
                  </a:lnTo>
                  <a:lnTo>
                    <a:pt x="1543812" y="36195"/>
                  </a:lnTo>
                  <a:lnTo>
                    <a:pt x="1618996" y="76200"/>
                  </a:lnTo>
                  <a:lnTo>
                    <a:pt x="1619631" y="50736"/>
                  </a:lnTo>
                  <a:lnTo>
                    <a:pt x="1884299" y="57277"/>
                  </a:lnTo>
                  <a:lnTo>
                    <a:pt x="1884819" y="36195"/>
                  </a:lnTo>
                  <a:lnTo>
                    <a:pt x="1884934" y="318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98541" y="4370070"/>
              <a:ext cx="588010" cy="0"/>
            </a:xfrm>
            <a:custGeom>
              <a:avLst/>
              <a:gdLst/>
              <a:ahLst/>
              <a:cxnLst/>
              <a:rect l="l" t="t" r="r" b="b"/>
              <a:pathLst>
                <a:path w="588010">
                  <a:moveTo>
                    <a:pt x="588010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303134" y="5086858"/>
            <a:ext cx="6203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M[1]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185154" y="4659629"/>
            <a:ext cx="1432560" cy="466725"/>
          </a:xfrm>
          <a:custGeom>
            <a:avLst/>
            <a:gdLst/>
            <a:ahLst/>
            <a:cxnLst/>
            <a:rect l="l" t="t" r="r" b="b"/>
            <a:pathLst>
              <a:path w="1432559" h="466725">
                <a:moveTo>
                  <a:pt x="76200" y="390144"/>
                </a:moveTo>
                <a:lnTo>
                  <a:pt x="50800" y="390144"/>
                </a:lnTo>
                <a:lnTo>
                  <a:pt x="50800" y="7620"/>
                </a:lnTo>
                <a:lnTo>
                  <a:pt x="25400" y="7620"/>
                </a:lnTo>
                <a:lnTo>
                  <a:pt x="25400" y="390144"/>
                </a:lnTo>
                <a:lnTo>
                  <a:pt x="0" y="390144"/>
                </a:lnTo>
                <a:lnTo>
                  <a:pt x="38100" y="466344"/>
                </a:lnTo>
                <a:lnTo>
                  <a:pt x="69850" y="402844"/>
                </a:lnTo>
                <a:lnTo>
                  <a:pt x="76200" y="390144"/>
                </a:lnTo>
                <a:close/>
              </a:path>
              <a:path w="1432559" h="466725">
                <a:moveTo>
                  <a:pt x="1432560" y="382524"/>
                </a:moveTo>
                <a:lnTo>
                  <a:pt x="1407160" y="382524"/>
                </a:lnTo>
                <a:lnTo>
                  <a:pt x="1407160" y="0"/>
                </a:lnTo>
                <a:lnTo>
                  <a:pt x="1381760" y="0"/>
                </a:lnTo>
                <a:lnTo>
                  <a:pt x="1381760" y="382524"/>
                </a:lnTo>
                <a:lnTo>
                  <a:pt x="1356360" y="382524"/>
                </a:lnTo>
                <a:lnTo>
                  <a:pt x="1394460" y="458724"/>
                </a:lnTo>
                <a:lnTo>
                  <a:pt x="1426210" y="395224"/>
                </a:lnTo>
                <a:lnTo>
                  <a:pt x="1432560" y="382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5976365" y="5086858"/>
            <a:ext cx="6203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M[2]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857369" y="5110988"/>
            <a:ext cx="6203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M[3]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352794" y="3641597"/>
            <a:ext cx="76200" cy="426720"/>
          </a:xfrm>
          <a:custGeom>
            <a:avLst/>
            <a:gdLst/>
            <a:ahLst/>
            <a:cxnLst/>
            <a:rect l="l" t="t" r="r" b="b"/>
            <a:pathLst>
              <a:path w="76200" h="426720">
                <a:moveTo>
                  <a:pt x="25400" y="350012"/>
                </a:moveTo>
                <a:lnTo>
                  <a:pt x="0" y="350012"/>
                </a:lnTo>
                <a:lnTo>
                  <a:pt x="38100" y="426212"/>
                </a:lnTo>
                <a:lnTo>
                  <a:pt x="69850" y="362712"/>
                </a:lnTo>
                <a:lnTo>
                  <a:pt x="25400" y="362712"/>
                </a:lnTo>
                <a:lnTo>
                  <a:pt x="25400" y="350012"/>
                </a:lnTo>
                <a:close/>
              </a:path>
              <a:path w="76200" h="426720">
                <a:moveTo>
                  <a:pt x="50800" y="0"/>
                </a:moveTo>
                <a:lnTo>
                  <a:pt x="25400" y="0"/>
                </a:lnTo>
                <a:lnTo>
                  <a:pt x="25400" y="362712"/>
                </a:lnTo>
                <a:lnTo>
                  <a:pt x="50800" y="362712"/>
                </a:lnTo>
                <a:lnTo>
                  <a:pt x="50800" y="0"/>
                </a:lnTo>
                <a:close/>
              </a:path>
              <a:path w="76200" h="426720">
                <a:moveTo>
                  <a:pt x="76200" y="350012"/>
                </a:moveTo>
                <a:lnTo>
                  <a:pt x="50800" y="350012"/>
                </a:lnTo>
                <a:lnTo>
                  <a:pt x="50800" y="362712"/>
                </a:lnTo>
                <a:lnTo>
                  <a:pt x="69850" y="362712"/>
                </a:lnTo>
                <a:lnTo>
                  <a:pt x="76200" y="350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69614" y="261315"/>
            <a:ext cx="5531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4-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5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Unsigned</a:t>
            </a:r>
            <a:r>
              <a:rPr b="0" spc="-19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Multiplier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37806" y="2989833"/>
            <a:ext cx="534035" cy="490220"/>
            <a:chOff x="7337806" y="2989833"/>
            <a:chExt cx="534035" cy="490220"/>
          </a:xfrm>
        </p:grpSpPr>
        <p:sp>
          <p:nvSpPr>
            <p:cNvPr id="4" name="object 4"/>
            <p:cNvSpPr/>
            <p:nvPr/>
          </p:nvSpPr>
          <p:spPr>
            <a:xfrm>
              <a:off x="7344156" y="2996183"/>
              <a:ext cx="521334" cy="477520"/>
            </a:xfrm>
            <a:custGeom>
              <a:avLst/>
              <a:gdLst/>
              <a:ahLst/>
              <a:cxnLst/>
              <a:rect l="l" t="t" r="r" b="b"/>
              <a:pathLst>
                <a:path w="521334" h="477520">
                  <a:moveTo>
                    <a:pt x="282701" y="0"/>
                  </a:moveTo>
                  <a:lnTo>
                    <a:pt x="282701" y="119252"/>
                  </a:lnTo>
                  <a:lnTo>
                    <a:pt x="0" y="119252"/>
                  </a:lnTo>
                  <a:lnTo>
                    <a:pt x="0" y="357758"/>
                  </a:lnTo>
                  <a:lnTo>
                    <a:pt x="282701" y="357758"/>
                  </a:lnTo>
                  <a:lnTo>
                    <a:pt x="282701" y="477012"/>
                  </a:lnTo>
                  <a:lnTo>
                    <a:pt x="521208" y="238505"/>
                  </a:lnTo>
                  <a:lnTo>
                    <a:pt x="28270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44156" y="2996183"/>
              <a:ext cx="521334" cy="477520"/>
            </a:xfrm>
            <a:custGeom>
              <a:avLst/>
              <a:gdLst/>
              <a:ahLst/>
              <a:cxnLst/>
              <a:rect l="l" t="t" r="r" b="b"/>
              <a:pathLst>
                <a:path w="521334" h="477520">
                  <a:moveTo>
                    <a:pt x="0" y="119252"/>
                  </a:moveTo>
                  <a:lnTo>
                    <a:pt x="282701" y="119252"/>
                  </a:lnTo>
                  <a:lnTo>
                    <a:pt x="282701" y="0"/>
                  </a:lnTo>
                  <a:lnTo>
                    <a:pt x="521208" y="238505"/>
                  </a:lnTo>
                  <a:lnTo>
                    <a:pt x="282701" y="477012"/>
                  </a:lnTo>
                  <a:lnTo>
                    <a:pt x="282701" y="357758"/>
                  </a:lnTo>
                  <a:lnTo>
                    <a:pt x="0" y="357758"/>
                  </a:lnTo>
                  <a:lnTo>
                    <a:pt x="0" y="119252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762238" y="2917698"/>
            <a:ext cx="478790" cy="76200"/>
          </a:xfrm>
          <a:custGeom>
            <a:avLst/>
            <a:gdLst/>
            <a:ahLst/>
            <a:cxnLst/>
            <a:rect l="l" t="t" r="r" b="b"/>
            <a:pathLst>
              <a:path w="478790" h="76200">
                <a:moveTo>
                  <a:pt x="402208" y="0"/>
                </a:moveTo>
                <a:lnTo>
                  <a:pt x="402208" y="76200"/>
                </a:lnTo>
                <a:lnTo>
                  <a:pt x="453008" y="50800"/>
                </a:lnTo>
                <a:lnTo>
                  <a:pt x="414908" y="50800"/>
                </a:lnTo>
                <a:lnTo>
                  <a:pt x="414908" y="25400"/>
                </a:lnTo>
                <a:lnTo>
                  <a:pt x="453008" y="25400"/>
                </a:lnTo>
                <a:lnTo>
                  <a:pt x="402208" y="0"/>
                </a:lnTo>
                <a:close/>
              </a:path>
              <a:path w="478790" h="76200">
                <a:moveTo>
                  <a:pt x="40220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02208" y="50800"/>
                </a:lnTo>
                <a:lnTo>
                  <a:pt x="402208" y="25400"/>
                </a:lnTo>
                <a:close/>
              </a:path>
              <a:path w="478790" h="76200">
                <a:moveTo>
                  <a:pt x="453008" y="25400"/>
                </a:moveTo>
                <a:lnTo>
                  <a:pt x="414908" y="25400"/>
                </a:lnTo>
                <a:lnTo>
                  <a:pt x="414908" y="50800"/>
                </a:lnTo>
                <a:lnTo>
                  <a:pt x="453008" y="50800"/>
                </a:lnTo>
                <a:lnTo>
                  <a:pt x="478408" y="38100"/>
                </a:lnTo>
                <a:lnTo>
                  <a:pt x="45300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68333" y="3362705"/>
            <a:ext cx="478790" cy="76200"/>
          </a:xfrm>
          <a:custGeom>
            <a:avLst/>
            <a:gdLst/>
            <a:ahLst/>
            <a:cxnLst/>
            <a:rect l="l" t="t" r="r" b="b"/>
            <a:pathLst>
              <a:path w="478790" h="76200">
                <a:moveTo>
                  <a:pt x="402209" y="0"/>
                </a:moveTo>
                <a:lnTo>
                  <a:pt x="402209" y="76200"/>
                </a:lnTo>
                <a:lnTo>
                  <a:pt x="453009" y="50800"/>
                </a:lnTo>
                <a:lnTo>
                  <a:pt x="414909" y="50800"/>
                </a:lnTo>
                <a:lnTo>
                  <a:pt x="414909" y="25400"/>
                </a:lnTo>
                <a:lnTo>
                  <a:pt x="453009" y="25400"/>
                </a:lnTo>
                <a:lnTo>
                  <a:pt x="402209" y="0"/>
                </a:lnTo>
                <a:close/>
              </a:path>
              <a:path w="478790" h="76200">
                <a:moveTo>
                  <a:pt x="40220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02209" y="50800"/>
                </a:lnTo>
                <a:lnTo>
                  <a:pt x="402209" y="25400"/>
                </a:lnTo>
                <a:close/>
              </a:path>
              <a:path w="478790" h="76200">
                <a:moveTo>
                  <a:pt x="453009" y="25400"/>
                </a:moveTo>
                <a:lnTo>
                  <a:pt x="414909" y="25400"/>
                </a:lnTo>
                <a:lnTo>
                  <a:pt x="414909" y="50800"/>
                </a:lnTo>
                <a:lnTo>
                  <a:pt x="453009" y="50800"/>
                </a:lnTo>
                <a:lnTo>
                  <a:pt x="478409" y="38100"/>
                </a:lnTo>
                <a:lnTo>
                  <a:pt x="45300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42580" y="2643377"/>
            <a:ext cx="785495" cy="92265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2300" b="1" spc="-10" dirty="0">
                <a:latin typeface="Calibri"/>
                <a:cs typeface="Calibri"/>
              </a:rPr>
              <a:t>A[1:0]</a:t>
            </a:r>
            <a:endParaRPr sz="230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770"/>
              </a:spcBef>
            </a:pPr>
            <a:r>
              <a:rPr sz="2300" b="1" spc="-10" dirty="0">
                <a:latin typeface="Calibri"/>
                <a:cs typeface="Calibri"/>
              </a:rPr>
              <a:t>B[1:0]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40773" y="2689098"/>
            <a:ext cx="114173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133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80"/>
              </a:spcBef>
            </a:pPr>
            <a:endParaRPr sz="1800">
              <a:latin typeface="Times New Roman"/>
              <a:cs typeface="Times New Roman"/>
            </a:endParaRPr>
          </a:p>
          <a:p>
            <a:pPr marL="31242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MUL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391393" y="3024377"/>
            <a:ext cx="478790" cy="76200"/>
          </a:xfrm>
          <a:custGeom>
            <a:avLst/>
            <a:gdLst/>
            <a:ahLst/>
            <a:cxnLst/>
            <a:rect l="l" t="t" r="r" b="b"/>
            <a:pathLst>
              <a:path w="478790" h="76200">
                <a:moveTo>
                  <a:pt x="402208" y="0"/>
                </a:moveTo>
                <a:lnTo>
                  <a:pt x="402208" y="76200"/>
                </a:lnTo>
                <a:lnTo>
                  <a:pt x="453008" y="50800"/>
                </a:lnTo>
                <a:lnTo>
                  <a:pt x="414908" y="50800"/>
                </a:lnTo>
                <a:lnTo>
                  <a:pt x="414908" y="25400"/>
                </a:lnTo>
                <a:lnTo>
                  <a:pt x="453008" y="25400"/>
                </a:lnTo>
                <a:lnTo>
                  <a:pt x="402208" y="0"/>
                </a:lnTo>
                <a:close/>
              </a:path>
              <a:path w="478790" h="76200">
                <a:moveTo>
                  <a:pt x="40220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02208" y="50800"/>
                </a:lnTo>
                <a:lnTo>
                  <a:pt x="402208" y="25400"/>
                </a:lnTo>
                <a:close/>
              </a:path>
              <a:path w="478790" h="76200">
                <a:moveTo>
                  <a:pt x="453008" y="25400"/>
                </a:moveTo>
                <a:lnTo>
                  <a:pt x="414908" y="25400"/>
                </a:lnTo>
                <a:lnTo>
                  <a:pt x="414908" y="50800"/>
                </a:lnTo>
                <a:lnTo>
                  <a:pt x="453008" y="50800"/>
                </a:lnTo>
                <a:lnTo>
                  <a:pt x="478408" y="38100"/>
                </a:lnTo>
                <a:lnTo>
                  <a:pt x="45300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947272" y="2843911"/>
            <a:ext cx="7302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 dirty="0">
                <a:latin typeface="Calibri"/>
                <a:cs typeface="Calibri"/>
              </a:rPr>
              <a:t>S[3:0]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44926" y="1767077"/>
            <a:ext cx="1577340" cy="2616835"/>
          </a:xfrm>
          <a:custGeom>
            <a:avLst/>
            <a:gdLst/>
            <a:ahLst/>
            <a:cxnLst/>
            <a:rect l="l" t="t" r="r" b="b"/>
            <a:pathLst>
              <a:path w="1577339" h="2616835">
                <a:moveTo>
                  <a:pt x="76200" y="2539492"/>
                </a:moveTo>
                <a:lnTo>
                  <a:pt x="50673" y="2539962"/>
                </a:lnTo>
                <a:lnTo>
                  <a:pt x="25908" y="1248410"/>
                </a:lnTo>
                <a:lnTo>
                  <a:pt x="25908" y="1247902"/>
                </a:lnTo>
                <a:lnTo>
                  <a:pt x="508" y="1248410"/>
                </a:lnTo>
                <a:lnTo>
                  <a:pt x="25387" y="2539492"/>
                </a:lnTo>
                <a:lnTo>
                  <a:pt x="25400" y="2540431"/>
                </a:lnTo>
                <a:lnTo>
                  <a:pt x="0" y="2540889"/>
                </a:lnTo>
                <a:lnTo>
                  <a:pt x="39497" y="2616454"/>
                </a:lnTo>
                <a:lnTo>
                  <a:pt x="69646" y="2553208"/>
                </a:lnTo>
                <a:lnTo>
                  <a:pt x="76200" y="2539492"/>
                </a:lnTo>
                <a:close/>
              </a:path>
              <a:path w="1577339" h="2616835">
                <a:moveTo>
                  <a:pt x="1576832" y="512064"/>
                </a:moveTo>
                <a:lnTo>
                  <a:pt x="1551432" y="512064"/>
                </a:lnTo>
                <a:lnTo>
                  <a:pt x="1551432" y="0"/>
                </a:lnTo>
                <a:lnTo>
                  <a:pt x="1526032" y="0"/>
                </a:lnTo>
                <a:lnTo>
                  <a:pt x="1526032" y="512064"/>
                </a:lnTo>
                <a:lnTo>
                  <a:pt x="1500632" y="512064"/>
                </a:lnTo>
                <a:lnTo>
                  <a:pt x="1538732" y="588264"/>
                </a:lnTo>
                <a:lnTo>
                  <a:pt x="1570482" y="524764"/>
                </a:lnTo>
                <a:lnTo>
                  <a:pt x="1576832" y="5120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675123" y="1373886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90494" y="4382261"/>
            <a:ext cx="928369" cy="58229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marL="351155">
              <a:lnSpc>
                <a:spcPct val="100000"/>
              </a:lnSpc>
              <a:spcBef>
                <a:spcPts val="1300"/>
              </a:spcBef>
            </a:pPr>
            <a:r>
              <a:rPr sz="1800" b="1" spc="-25" dirty="0">
                <a:latin typeface="Calibri"/>
                <a:cs typeface="Calibri"/>
              </a:rPr>
              <a:t>HA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030596" y="2978530"/>
            <a:ext cx="76200" cy="2425065"/>
          </a:xfrm>
          <a:custGeom>
            <a:avLst/>
            <a:gdLst/>
            <a:ahLst/>
            <a:cxnLst/>
            <a:rect l="l" t="t" r="r" b="b"/>
            <a:pathLst>
              <a:path w="76200" h="2425065">
                <a:moveTo>
                  <a:pt x="0" y="2348357"/>
                </a:moveTo>
                <a:lnTo>
                  <a:pt x="37464" y="2424938"/>
                </a:lnTo>
                <a:lnTo>
                  <a:pt x="69841" y="2361565"/>
                </a:lnTo>
                <a:lnTo>
                  <a:pt x="50800" y="2361565"/>
                </a:lnTo>
                <a:lnTo>
                  <a:pt x="25400" y="2361311"/>
                </a:lnTo>
                <a:lnTo>
                  <a:pt x="25514" y="2348612"/>
                </a:lnTo>
                <a:lnTo>
                  <a:pt x="0" y="2348357"/>
                </a:lnTo>
                <a:close/>
              </a:path>
              <a:path w="76200" h="2425065">
                <a:moveTo>
                  <a:pt x="25514" y="2348612"/>
                </a:moveTo>
                <a:lnTo>
                  <a:pt x="25400" y="2361311"/>
                </a:lnTo>
                <a:lnTo>
                  <a:pt x="50800" y="2361565"/>
                </a:lnTo>
                <a:lnTo>
                  <a:pt x="50914" y="2348866"/>
                </a:lnTo>
                <a:lnTo>
                  <a:pt x="25514" y="2348612"/>
                </a:lnTo>
                <a:close/>
              </a:path>
              <a:path w="76200" h="2425065">
                <a:moveTo>
                  <a:pt x="50914" y="2348866"/>
                </a:moveTo>
                <a:lnTo>
                  <a:pt x="50800" y="2361565"/>
                </a:lnTo>
                <a:lnTo>
                  <a:pt x="69841" y="2361565"/>
                </a:lnTo>
                <a:lnTo>
                  <a:pt x="76200" y="2349119"/>
                </a:lnTo>
                <a:lnTo>
                  <a:pt x="50914" y="2348866"/>
                </a:lnTo>
                <a:close/>
              </a:path>
              <a:path w="76200" h="2425065">
                <a:moveTo>
                  <a:pt x="46608" y="0"/>
                </a:moveTo>
                <a:lnTo>
                  <a:pt x="25516" y="2348357"/>
                </a:lnTo>
                <a:lnTo>
                  <a:pt x="25514" y="2348612"/>
                </a:lnTo>
                <a:lnTo>
                  <a:pt x="50914" y="2348866"/>
                </a:lnTo>
                <a:lnTo>
                  <a:pt x="72008" y="254"/>
                </a:lnTo>
                <a:lnTo>
                  <a:pt x="4660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18126" y="5409082"/>
            <a:ext cx="6203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M[0]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60629" y="1786889"/>
            <a:ext cx="5372735" cy="1243330"/>
            <a:chOff x="960629" y="1786889"/>
            <a:chExt cx="5372735" cy="1243330"/>
          </a:xfrm>
        </p:grpSpPr>
        <p:sp>
          <p:nvSpPr>
            <p:cNvPr id="18" name="object 18"/>
            <p:cNvSpPr/>
            <p:nvPr/>
          </p:nvSpPr>
          <p:spPr>
            <a:xfrm>
              <a:off x="5193030" y="2061209"/>
              <a:ext cx="76200" cy="294640"/>
            </a:xfrm>
            <a:custGeom>
              <a:avLst/>
              <a:gdLst/>
              <a:ahLst/>
              <a:cxnLst/>
              <a:rect l="l" t="t" r="r" b="b"/>
              <a:pathLst>
                <a:path w="76200" h="294639">
                  <a:moveTo>
                    <a:pt x="25400" y="217931"/>
                  </a:moveTo>
                  <a:lnTo>
                    <a:pt x="0" y="217931"/>
                  </a:lnTo>
                  <a:lnTo>
                    <a:pt x="38100" y="294131"/>
                  </a:lnTo>
                  <a:lnTo>
                    <a:pt x="69850" y="230631"/>
                  </a:lnTo>
                  <a:lnTo>
                    <a:pt x="25400" y="230631"/>
                  </a:lnTo>
                  <a:lnTo>
                    <a:pt x="25400" y="217931"/>
                  </a:lnTo>
                  <a:close/>
                </a:path>
                <a:path w="76200" h="294639">
                  <a:moveTo>
                    <a:pt x="50800" y="0"/>
                  </a:moveTo>
                  <a:lnTo>
                    <a:pt x="25400" y="0"/>
                  </a:lnTo>
                  <a:lnTo>
                    <a:pt x="25400" y="230631"/>
                  </a:lnTo>
                  <a:lnTo>
                    <a:pt x="50800" y="230631"/>
                  </a:lnTo>
                  <a:lnTo>
                    <a:pt x="50800" y="0"/>
                  </a:lnTo>
                  <a:close/>
                </a:path>
                <a:path w="76200" h="294639">
                  <a:moveTo>
                    <a:pt x="76200" y="217931"/>
                  </a:moveTo>
                  <a:lnTo>
                    <a:pt x="50800" y="217931"/>
                  </a:lnTo>
                  <a:lnTo>
                    <a:pt x="50800" y="230631"/>
                  </a:lnTo>
                  <a:lnTo>
                    <a:pt x="69850" y="230631"/>
                  </a:lnTo>
                  <a:lnTo>
                    <a:pt x="76200" y="2179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9055" y="2340863"/>
              <a:ext cx="929639" cy="66903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60629" y="2043048"/>
              <a:ext cx="5372735" cy="76200"/>
            </a:xfrm>
            <a:custGeom>
              <a:avLst/>
              <a:gdLst/>
              <a:ahLst/>
              <a:cxnLst/>
              <a:rect l="l" t="t" r="r" b="b"/>
              <a:pathLst>
                <a:path w="5372735" h="76200">
                  <a:moveTo>
                    <a:pt x="76363" y="0"/>
                  </a:moveTo>
                  <a:lnTo>
                    <a:pt x="0" y="38480"/>
                  </a:lnTo>
                  <a:lnTo>
                    <a:pt x="508" y="38480"/>
                  </a:lnTo>
                  <a:lnTo>
                    <a:pt x="76540" y="76200"/>
                  </a:lnTo>
                  <a:lnTo>
                    <a:pt x="76481" y="50926"/>
                  </a:lnTo>
                  <a:lnTo>
                    <a:pt x="63764" y="50926"/>
                  </a:lnTo>
                  <a:lnTo>
                    <a:pt x="63701" y="25526"/>
                  </a:lnTo>
                  <a:lnTo>
                    <a:pt x="76422" y="25526"/>
                  </a:lnTo>
                  <a:lnTo>
                    <a:pt x="76363" y="0"/>
                  </a:lnTo>
                  <a:close/>
                </a:path>
                <a:path w="5372735" h="76200">
                  <a:moveTo>
                    <a:pt x="5372479" y="13080"/>
                  </a:moveTo>
                  <a:lnTo>
                    <a:pt x="63701" y="25526"/>
                  </a:lnTo>
                  <a:lnTo>
                    <a:pt x="63764" y="50926"/>
                  </a:lnTo>
                  <a:lnTo>
                    <a:pt x="76481" y="50926"/>
                  </a:lnTo>
                  <a:lnTo>
                    <a:pt x="76422" y="25526"/>
                  </a:lnTo>
                  <a:lnTo>
                    <a:pt x="5372541" y="25526"/>
                  </a:lnTo>
                  <a:lnTo>
                    <a:pt x="5372479" y="13080"/>
                  </a:lnTo>
                  <a:close/>
                </a:path>
                <a:path w="5372735" h="76200">
                  <a:moveTo>
                    <a:pt x="5372541" y="25526"/>
                  </a:moveTo>
                  <a:lnTo>
                    <a:pt x="76422" y="25526"/>
                  </a:lnTo>
                  <a:lnTo>
                    <a:pt x="76481" y="50926"/>
                  </a:lnTo>
                  <a:lnTo>
                    <a:pt x="63764" y="50926"/>
                  </a:lnTo>
                  <a:lnTo>
                    <a:pt x="5372606" y="38480"/>
                  </a:lnTo>
                  <a:lnTo>
                    <a:pt x="5372541" y="25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8460" y="2360675"/>
              <a:ext cx="929639" cy="6690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146297" y="1786889"/>
              <a:ext cx="76200" cy="588645"/>
            </a:xfrm>
            <a:custGeom>
              <a:avLst/>
              <a:gdLst/>
              <a:ahLst/>
              <a:cxnLst/>
              <a:rect l="l" t="t" r="r" b="b"/>
              <a:pathLst>
                <a:path w="76200" h="588644">
                  <a:moveTo>
                    <a:pt x="25400" y="512063"/>
                  </a:moveTo>
                  <a:lnTo>
                    <a:pt x="0" y="512063"/>
                  </a:lnTo>
                  <a:lnTo>
                    <a:pt x="38100" y="588263"/>
                  </a:lnTo>
                  <a:lnTo>
                    <a:pt x="69850" y="524763"/>
                  </a:lnTo>
                  <a:lnTo>
                    <a:pt x="25400" y="524763"/>
                  </a:lnTo>
                  <a:lnTo>
                    <a:pt x="25400" y="512063"/>
                  </a:lnTo>
                  <a:close/>
                </a:path>
                <a:path w="76200" h="588644">
                  <a:moveTo>
                    <a:pt x="50800" y="0"/>
                  </a:moveTo>
                  <a:lnTo>
                    <a:pt x="25400" y="0"/>
                  </a:lnTo>
                  <a:lnTo>
                    <a:pt x="25400" y="524763"/>
                  </a:lnTo>
                  <a:lnTo>
                    <a:pt x="50800" y="524763"/>
                  </a:lnTo>
                  <a:lnTo>
                    <a:pt x="50800" y="0"/>
                  </a:lnTo>
                  <a:close/>
                </a:path>
                <a:path w="76200" h="588644">
                  <a:moveTo>
                    <a:pt x="76200" y="512063"/>
                  </a:moveTo>
                  <a:lnTo>
                    <a:pt x="50800" y="512063"/>
                  </a:lnTo>
                  <a:lnTo>
                    <a:pt x="50800" y="524763"/>
                  </a:lnTo>
                  <a:lnTo>
                    <a:pt x="69850" y="524763"/>
                  </a:lnTo>
                  <a:lnTo>
                    <a:pt x="76200" y="512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66078" y="1882520"/>
            <a:ext cx="5283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B[0]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75864" y="1393697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A[1]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46225" y="2081022"/>
            <a:ext cx="5287645" cy="2313305"/>
            <a:chOff x="1046225" y="2081022"/>
            <a:chExt cx="5287645" cy="2313305"/>
          </a:xfrm>
        </p:grpSpPr>
        <p:sp>
          <p:nvSpPr>
            <p:cNvPr id="26" name="object 26"/>
            <p:cNvSpPr/>
            <p:nvPr/>
          </p:nvSpPr>
          <p:spPr>
            <a:xfrm>
              <a:off x="1046226" y="2081021"/>
              <a:ext cx="5287645" cy="2313305"/>
            </a:xfrm>
            <a:custGeom>
              <a:avLst/>
              <a:gdLst/>
              <a:ahLst/>
              <a:cxnLst/>
              <a:rect l="l" t="t" r="r" b="b"/>
              <a:pathLst>
                <a:path w="5287645" h="2313304">
                  <a:moveTo>
                    <a:pt x="2525268" y="217932"/>
                  </a:moveTo>
                  <a:lnTo>
                    <a:pt x="2499868" y="217932"/>
                  </a:lnTo>
                  <a:lnTo>
                    <a:pt x="2499868" y="0"/>
                  </a:lnTo>
                  <a:lnTo>
                    <a:pt x="2474468" y="0"/>
                  </a:lnTo>
                  <a:lnTo>
                    <a:pt x="2474468" y="217932"/>
                  </a:lnTo>
                  <a:lnTo>
                    <a:pt x="2449068" y="217932"/>
                  </a:lnTo>
                  <a:lnTo>
                    <a:pt x="2487168" y="294132"/>
                  </a:lnTo>
                  <a:lnTo>
                    <a:pt x="2518918" y="230632"/>
                  </a:lnTo>
                  <a:lnTo>
                    <a:pt x="2525268" y="217932"/>
                  </a:lnTo>
                  <a:close/>
                </a:path>
                <a:path w="5287645" h="2313304">
                  <a:moveTo>
                    <a:pt x="2909316" y="2236724"/>
                  </a:moveTo>
                  <a:lnTo>
                    <a:pt x="2883916" y="2236724"/>
                  </a:lnTo>
                  <a:lnTo>
                    <a:pt x="2883916" y="1886712"/>
                  </a:lnTo>
                  <a:lnTo>
                    <a:pt x="2858516" y="1886712"/>
                  </a:lnTo>
                  <a:lnTo>
                    <a:pt x="2858516" y="2236724"/>
                  </a:lnTo>
                  <a:lnTo>
                    <a:pt x="2833116" y="2236724"/>
                  </a:lnTo>
                  <a:lnTo>
                    <a:pt x="2871216" y="2312924"/>
                  </a:lnTo>
                  <a:lnTo>
                    <a:pt x="2902966" y="2249424"/>
                  </a:lnTo>
                  <a:lnTo>
                    <a:pt x="2909316" y="2236724"/>
                  </a:lnTo>
                  <a:close/>
                </a:path>
                <a:path w="5287645" h="2313304">
                  <a:moveTo>
                    <a:pt x="5287264" y="1134745"/>
                  </a:moveTo>
                  <a:lnTo>
                    <a:pt x="76225" y="1118412"/>
                  </a:lnTo>
                  <a:lnTo>
                    <a:pt x="76314" y="1092962"/>
                  </a:lnTo>
                  <a:lnTo>
                    <a:pt x="0" y="1130808"/>
                  </a:lnTo>
                  <a:lnTo>
                    <a:pt x="76085" y="1169162"/>
                  </a:lnTo>
                  <a:lnTo>
                    <a:pt x="76149" y="1143812"/>
                  </a:lnTo>
                  <a:lnTo>
                    <a:pt x="5287137" y="1160145"/>
                  </a:lnTo>
                  <a:lnTo>
                    <a:pt x="5287264" y="11347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68624" y="3514344"/>
              <a:ext cx="929639" cy="55930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06930" y="3030473"/>
              <a:ext cx="2014855" cy="1363980"/>
            </a:xfrm>
            <a:custGeom>
              <a:avLst/>
              <a:gdLst/>
              <a:ahLst/>
              <a:cxnLst/>
              <a:rect l="l" t="t" r="r" b="b"/>
              <a:pathLst>
                <a:path w="2014854" h="1363979">
                  <a:moveTo>
                    <a:pt x="76200" y="1287272"/>
                  </a:moveTo>
                  <a:lnTo>
                    <a:pt x="50800" y="1287272"/>
                  </a:lnTo>
                  <a:lnTo>
                    <a:pt x="50800" y="937260"/>
                  </a:lnTo>
                  <a:lnTo>
                    <a:pt x="25400" y="937260"/>
                  </a:lnTo>
                  <a:lnTo>
                    <a:pt x="25400" y="1287272"/>
                  </a:lnTo>
                  <a:lnTo>
                    <a:pt x="0" y="1287272"/>
                  </a:lnTo>
                  <a:lnTo>
                    <a:pt x="38100" y="1363472"/>
                  </a:lnTo>
                  <a:lnTo>
                    <a:pt x="69850" y="1299972"/>
                  </a:lnTo>
                  <a:lnTo>
                    <a:pt x="76200" y="1287272"/>
                  </a:lnTo>
                  <a:close/>
                </a:path>
                <a:path w="2014854" h="1363979">
                  <a:moveTo>
                    <a:pt x="1741932" y="408813"/>
                  </a:moveTo>
                  <a:lnTo>
                    <a:pt x="1716532" y="408813"/>
                  </a:lnTo>
                  <a:lnTo>
                    <a:pt x="1716532" y="0"/>
                  </a:lnTo>
                  <a:lnTo>
                    <a:pt x="1691132" y="0"/>
                  </a:lnTo>
                  <a:lnTo>
                    <a:pt x="1691132" y="408813"/>
                  </a:lnTo>
                  <a:lnTo>
                    <a:pt x="1665732" y="408813"/>
                  </a:lnTo>
                  <a:lnTo>
                    <a:pt x="1703832" y="485013"/>
                  </a:lnTo>
                  <a:lnTo>
                    <a:pt x="1735582" y="421513"/>
                  </a:lnTo>
                  <a:lnTo>
                    <a:pt x="1741932" y="408813"/>
                  </a:lnTo>
                  <a:close/>
                </a:path>
                <a:path w="2014854" h="1363979">
                  <a:moveTo>
                    <a:pt x="2014728" y="422148"/>
                  </a:moveTo>
                  <a:lnTo>
                    <a:pt x="1989328" y="422148"/>
                  </a:lnTo>
                  <a:lnTo>
                    <a:pt x="1989328" y="204216"/>
                  </a:lnTo>
                  <a:lnTo>
                    <a:pt x="1963928" y="204216"/>
                  </a:lnTo>
                  <a:lnTo>
                    <a:pt x="1963928" y="422148"/>
                  </a:lnTo>
                  <a:lnTo>
                    <a:pt x="1938528" y="422148"/>
                  </a:lnTo>
                  <a:lnTo>
                    <a:pt x="1976628" y="498348"/>
                  </a:lnTo>
                  <a:lnTo>
                    <a:pt x="2008378" y="434848"/>
                  </a:lnTo>
                  <a:lnTo>
                    <a:pt x="2014728" y="422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6211" y="3514344"/>
              <a:ext cx="929639" cy="55930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994154" y="3030473"/>
              <a:ext cx="355600" cy="499109"/>
            </a:xfrm>
            <a:custGeom>
              <a:avLst/>
              <a:gdLst/>
              <a:ahLst/>
              <a:cxnLst/>
              <a:rect l="l" t="t" r="r" b="b"/>
              <a:pathLst>
                <a:path w="355600" h="499110">
                  <a:moveTo>
                    <a:pt x="76200" y="422529"/>
                  </a:moveTo>
                  <a:lnTo>
                    <a:pt x="50800" y="422529"/>
                  </a:lnTo>
                  <a:lnTo>
                    <a:pt x="50800" y="0"/>
                  </a:lnTo>
                  <a:lnTo>
                    <a:pt x="25400" y="0"/>
                  </a:lnTo>
                  <a:lnTo>
                    <a:pt x="25400" y="422529"/>
                  </a:lnTo>
                  <a:lnTo>
                    <a:pt x="0" y="422529"/>
                  </a:lnTo>
                  <a:lnTo>
                    <a:pt x="38100" y="498729"/>
                  </a:lnTo>
                  <a:lnTo>
                    <a:pt x="69850" y="435229"/>
                  </a:lnTo>
                  <a:lnTo>
                    <a:pt x="76200" y="422529"/>
                  </a:lnTo>
                  <a:close/>
                </a:path>
                <a:path w="355600" h="499110">
                  <a:moveTo>
                    <a:pt x="355092" y="422148"/>
                  </a:moveTo>
                  <a:lnTo>
                    <a:pt x="329692" y="422148"/>
                  </a:lnTo>
                  <a:lnTo>
                    <a:pt x="329692" y="204216"/>
                  </a:lnTo>
                  <a:lnTo>
                    <a:pt x="304292" y="204216"/>
                  </a:lnTo>
                  <a:lnTo>
                    <a:pt x="304292" y="422148"/>
                  </a:lnTo>
                  <a:lnTo>
                    <a:pt x="278892" y="422148"/>
                  </a:lnTo>
                  <a:lnTo>
                    <a:pt x="316992" y="498348"/>
                  </a:lnTo>
                  <a:lnTo>
                    <a:pt x="348742" y="434848"/>
                  </a:lnTo>
                  <a:lnTo>
                    <a:pt x="355092" y="422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466078" y="3051429"/>
            <a:ext cx="52832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B[1]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05859" y="2688717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07591" y="2688717"/>
            <a:ext cx="5397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A[1]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922526" y="4392929"/>
            <a:ext cx="929640" cy="58229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651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0"/>
              </a:spcBef>
            </a:pPr>
            <a:r>
              <a:rPr sz="1800" b="1" spc="-25" dirty="0">
                <a:latin typeface="Calibri"/>
                <a:cs typeface="Calibri"/>
              </a:rPr>
              <a:t>FA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305305" y="4629530"/>
            <a:ext cx="1885314" cy="825500"/>
            <a:chOff x="1305305" y="4629530"/>
            <a:chExt cx="1885314" cy="825500"/>
          </a:xfrm>
        </p:grpSpPr>
        <p:sp>
          <p:nvSpPr>
            <p:cNvPr id="36" name="object 36"/>
            <p:cNvSpPr/>
            <p:nvPr/>
          </p:nvSpPr>
          <p:spPr>
            <a:xfrm>
              <a:off x="1305306" y="4629530"/>
              <a:ext cx="1885314" cy="825500"/>
            </a:xfrm>
            <a:custGeom>
              <a:avLst/>
              <a:gdLst/>
              <a:ahLst/>
              <a:cxnLst/>
              <a:rect l="l" t="t" r="r" b="b"/>
              <a:pathLst>
                <a:path w="1885314" h="825500">
                  <a:moveTo>
                    <a:pt x="76200" y="749173"/>
                  </a:moveTo>
                  <a:lnTo>
                    <a:pt x="50800" y="749173"/>
                  </a:lnTo>
                  <a:lnTo>
                    <a:pt x="50800" y="43815"/>
                  </a:lnTo>
                  <a:lnTo>
                    <a:pt x="25400" y="43815"/>
                  </a:lnTo>
                  <a:lnTo>
                    <a:pt x="25400" y="749173"/>
                  </a:lnTo>
                  <a:lnTo>
                    <a:pt x="0" y="749173"/>
                  </a:lnTo>
                  <a:lnTo>
                    <a:pt x="38100" y="825373"/>
                  </a:lnTo>
                  <a:lnTo>
                    <a:pt x="69850" y="761873"/>
                  </a:lnTo>
                  <a:lnTo>
                    <a:pt x="76200" y="749173"/>
                  </a:lnTo>
                  <a:close/>
                </a:path>
                <a:path w="1885314" h="825500">
                  <a:moveTo>
                    <a:pt x="1884934" y="31877"/>
                  </a:moveTo>
                  <a:lnTo>
                    <a:pt x="1620266" y="25336"/>
                  </a:lnTo>
                  <a:lnTo>
                    <a:pt x="1620266" y="25019"/>
                  </a:lnTo>
                  <a:lnTo>
                    <a:pt x="1620901" y="0"/>
                  </a:lnTo>
                  <a:lnTo>
                    <a:pt x="1543812" y="36195"/>
                  </a:lnTo>
                  <a:lnTo>
                    <a:pt x="1618996" y="76200"/>
                  </a:lnTo>
                  <a:lnTo>
                    <a:pt x="1619631" y="50736"/>
                  </a:lnTo>
                  <a:lnTo>
                    <a:pt x="1884299" y="57277"/>
                  </a:lnTo>
                  <a:lnTo>
                    <a:pt x="1884819" y="36195"/>
                  </a:lnTo>
                  <a:lnTo>
                    <a:pt x="1884934" y="3187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35785" y="4684013"/>
              <a:ext cx="588010" cy="0"/>
            </a:xfrm>
            <a:custGeom>
              <a:avLst/>
              <a:gdLst/>
              <a:ahLst/>
              <a:cxnLst/>
              <a:rect l="l" t="t" r="r" b="b"/>
              <a:pathLst>
                <a:path w="588010">
                  <a:moveTo>
                    <a:pt x="588009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539109" y="5401157"/>
            <a:ext cx="61912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M[1]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422398" y="4975097"/>
            <a:ext cx="1431290" cy="466725"/>
          </a:xfrm>
          <a:custGeom>
            <a:avLst/>
            <a:gdLst/>
            <a:ahLst/>
            <a:cxnLst/>
            <a:rect l="l" t="t" r="r" b="b"/>
            <a:pathLst>
              <a:path w="1431289" h="466725">
                <a:moveTo>
                  <a:pt x="76200" y="390144"/>
                </a:moveTo>
                <a:lnTo>
                  <a:pt x="50800" y="390144"/>
                </a:lnTo>
                <a:lnTo>
                  <a:pt x="50800" y="7620"/>
                </a:lnTo>
                <a:lnTo>
                  <a:pt x="25400" y="7620"/>
                </a:lnTo>
                <a:lnTo>
                  <a:pt x="25400" y="390144"/>
                </a:lnTo>
                <a:lnTo>
                  <a:pt x="0" y="390144"/>
                </a:lnTo>
                <a:lnTo>
                  <a:pt x="38100" y="466344"/>
                </a:lnTo>
                <a:lnTo>
                  <a:pt x="69850" y="402844"/>
                </a:lnTo>
                <a:lnTo>
                  <a:pt x="76200" y="390144"/>
                </a:lnTo>
                <a:close/>
              </a:path>
              <a:path w="1431289" h="466725">
                <a:moveTo>
                  <a:pt x="1431036" y="382524"/>
                </a:moveTo>
                <a:lnTo>
                  <a:pt x="1405636" y="382524"/>
                </a:lnTo>
                <a:lnTo>
                  <a:pt x="1405636" y="0"/>
                </a:lnTo>
                <a:lnTo>
                  <a:pt x="1380236" y="0"/>
                </a:lnTo>
                <a:lnTo>
                  <a:pt x="1380236" y="382524"/>
                </a:lnTo>
                <a:lnTo>
                  <a:pt x="1354836" y="382524"/>
                </a:lnTo>
                <a:lnTo>
                  <a:pt x="1392936" y="458724"/>
                </a:lnTo>
                <a:lnTo>
                  <a:pt x="1424686" y="395224"/>
                </a:lnTo>
                <a:lnTo>
                  <a:pt x="1431036" y="382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212339" y="5401157"/>
            <a:ext cx="61912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20" dirty="0">
                <a:latin typeface="Calibri"/>
                <a:cs typeface="Calibri"/>
              </a:rPr>
              <a:t>M[2]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93419" y="5425541"/>
            <a:ext cx="620395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20" dirty="0">
                <a:latin typeface="Calibri"/>
                <a:cs typeface="Calibri"/>
              </a:rPr>
              <a:t>M[3]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15890" y="261315"/>
            <a:ext cx="2641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4-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Shifter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03641" y="1535811"/>
          <a:ext cx="3692525" cy="185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R="8636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𝑺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𝑺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Operation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A[3]A[2]A[1]A[0]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A[2]A[1]A[0]</a:t>
                      </a:r>
                      <a:r>
                        <a:rPr sz="1800" b="1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 A[3]A[2]A[1]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11239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389746" y="3856482"/>
            <a:ext cx="329882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Input: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A[3]A[2]A[1]A[0]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Right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shift: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A[3]A[2]A[1]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Left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shift: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A[2]A[1]A[0]</a:t>
            </a:r>
            <a:r>
              <a:rPr sz="2400" b="1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6F2F9F"/>
                </a:solidFill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58" y="4768341"/>
            <a:ext cx="191273" cy="177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58" y="5089905"/>
            <a:ext cx="194169" cy="171322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518897" y="1322069"/>
            <a:ext cx="1241425" cy="2869565"/>
          </a:xfrm>
          <a:custGeom>
            <a:avLst/>
            <a:gdLst/>
            <a:ahLst/>
            <a:cxnLst/>
            <a:rect l="l" t="t" r="r" b="b"/>
            <a:pathLst>
              <a:path w="1241425" h="2869565">
                <a:moveTo>
                  <a:pt x="76200" y="1051052"/>
                </a:moveTo>
                <a:lnTo>
                  <a:pt x="50800" y="1051052"/>
                </a:lnTo>
                <a:lnTo>
                  <a:pt x="50800" y="601980"/>
                </a:lnTo>
                <a:lnTo>
                  <a:pt x="25400" y="601980"/>
                </a:lnTo>
                <a:lnTo>
                  <a:pt x="25400" y="1051052"/>
                </a:lnTo>
                <a:lnTo>
                  <a:pt x="0" y="1051052"/>
                </a:lnTo>
                <a:lnTo>
                  <a:pt x="38100" y="1127252"/>
                </a:lnTo>
                <a:lnTo>
                  <a:pt x="69850" y="1063752"/>
                </a:lnTo>
                <a:lnTo>
                  <a:pt x="76200" y="1051052"/>
                </a:lnTo>
                <a:close/>
              </a:path>
              <a:path w="1241425" h="2869565">
                <a:moveTo>
                  <a:pt x="461784" y="1046480"/>
                </a:moveTo>
                <a:lnTo>
                  <a:pt x="436384" y="1046480"/>
                </a:lnTo>
                <a:lnTo>
                  <a:pt x="436384" y="597408"/>
                </a:lnTo>
                <a:lnTo>
                  <a:pt x="410984" y="597408"/>
                </a:lnTo>
                <a:lnTo>
                  <a:pt x="410984" y="1046480"/>
                </a:lnTo>
                <a:lnTo>
                  <a:pt x="385584" y="1046480"/>
                </a:lnTo>
                <a:lnTo>
                  <a:pt x="423684" y="1122680"/>
                </a:lnTo>
                <a:lnTo>
                  <a:pt x="455434" y="1059180"/>
                </a:lnTo>
                <a:lnTo>
                  <a:pt x="461784" y="1046480"/>
                </a:lnTo>
                <a:close/>
              </a:path>
              <a:path w="1241425" h="2869565">
                <a:moveTo>
                  <a:pt x="675144" y="2792984"/>
                </a:moveTo>
                <a:lnTo>
                  <a:pt x="649744" y="2792984"/>
                </a:lnTo>
                <a:lnTo>
                  <a:pt x="649744" y="2343912"/>
                </a:lnTo>
                <a:lnTo>
                  <a:pt x="624344" y="2343912"/>
                </a:lnTo>
                <a:lnTo>
                  <a:pt x="624344" y="2792984"/>
                </a:lnTo>
                <a:lnTo>
                  <a:pt x="598944" y="2792984"/>
                </a:lnTo>
                <a:lnTo>
                  <a:pt x="637044" y="2869184"/>
                </a:lnTo>
                <a:lnTo>
                  <a:pt x="668794" y="2805684"/>
                </a:lnTo>
                <a:lnTo>
                  <a:pt x="675144" y="2792984"/>
                </a:lnTo>
                <a:close/>
              </a:path>
              <a:path w="1241425" h="2869565">
                <a:moveTo>
                  <a:pt x="831862" y="1046226"/>
                </a:moveTo>
                <a:lnTo>
                  <a:pt x="806411" y="1045845"/>
                </a:lnTo>
                <a:lnTo>
                  <a:pt x="819416" y="245618"/>
                </a:lnTo>
                <a:lnTo>
                  <a:pt x="794016" y="245110"/>
                </a:lnTo>
                <a:lnTo>
                  <a:pt x="781011" y="1045083"/>
                </a:lnTo>
                <a:lnTo>
                  <a:pt x="781011" y="1045464"/>
                </a:lnTo>
                <a:lnTo>
                  <a:pt x="755662" y="1045083"/>
                </a:lnTo>
                <a:lnTo>
                  <a:pt x="792492" y="1121791"/>
                </a:lnTo>
                <a:lnTo>
                  <a:pt x="825436" y="1058545"/>
                </a:lnTo>
                <a:lnTo>
                  <a:pt x="831862" y="1046226"/>
                </a:lnTo>
                <a:close/>
              </a:path>
              <a:path w="1241425" h="2869565">
                <a:moveTo>
                  <a:pt x="1241310" y="1052195"/>
                </a:moveTo>
                <a:lnTo>
                  <a:pt x="1215898" y="1052195"/>
                </a:lnTo>
                <a:lnTo>
                  <a:pt x="1215148" y="0"/>
                </a:lnTo>
                <a:lnTo>
                  <a:pt x="1189748" y="0"/>
                </a:lnTo>
                <a:lnTo>
                  <a:pt x="1190498" y="1052195"/>
                </a:lnTo>
                <a:lnTo>
                  <a:pt x="1165110" y="1052195"/>
                </a:lnTo>
                <a:lnTo>
                  <a:pt x="1203337" y="1128395"/>
                </a:lnTo>
                <a:lnTo>
                  <a:pt x="1234973" y="1064895"/>
                </a:lnTo>
                <a:lnTo>
                  <a:pt x="1241310" y="1052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95413" y="952626"/>
            <a:ext cx="474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A[0]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29373" y="4220667"/>
            <a:ext cx="49275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O[0]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88785" y="2449829"/>
            <a:ext cx="1560830" cy="1216660"/>
          </a:xfrm>
          <a:custGeom>
            <a:avLst/>
            <a:gdLst/>
            <a:ahLst/>
            <a:cxnLst/>
            <a:rect l="l" t="t" r="r" b="b"/>
            <a:pathLst>
              <a:path w="1560829" h="1216660">
                <a:moveTo>
                  <a:pt x="0" y="1216152"/>
                </a:moveTo>
                <a:lnTo>
                  <a:pt x="1560575" y="1216152"/>
                </a:lnTo>
                <a:lnTo>
                  <a:pt x="1560575" y="0"/>
                </a:lnTo>
                <a:lnTo>
                  <a:pt x="0" y="0"/>
                </a:lnTo>
                <a:lnTo>
                  <a:pt x="0" y="12161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535166" y="2523236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6775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762244" y="1322069"/>
            <a:ext cx="792480" cy="1984375"/>
            <a:chOff x="5762244" y="1322069"/>
            <a:chExt cx="792480" cy="19843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0160" y="2813050"/>
              <a:ext cx="191262" cy="177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0160" y="3134613"/>
              <a:ext cx="194183" cy="1713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6762" y="2875025"/>
              <a:ext cx="179450" cy="76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2774" y="3115818"/>
              <a:ext cx="83565" cy="762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62244" y="1322069"/>
              <a:ext cx="76200" cy="1128395"/>
            </a:xfrm>
            <a:custGeom>
              <a:avLst/>
              <a:gdLst/>
              <a:ahLst/>
              <a:cxnLst/>
              <a:rect l="l" t="t" r="r" b="b"/>
              <a:pathLst>
                <a:path w="76200" h="1128395">
                  <a:moveTo>
                    <a:pt x="25390" y="1052194"/>
                  </a:moveTo>
                  <a:lnTo>
                    <a:pt x="0" y="1052194"/>
                  </a:lnTo>
                  <a:lnTo>
                    <a:pt x="38226" y="1128394"/>
                  </a:lnTo>
                  <a:lnTo>
                    <a:pt x="69871" y="1064894"/>
                  </a:lnTo>
                  <a:lnTo>
                    <a:pt x="25400" y="1064894"/>
                  </a:lnTo>
                  <a:lnTo>
                    <a:pt x="25390" y="1052194"/>
                  </a:lnTo>
                  <a:close/>
                </a:path>
                <a:path w="76200" h="1128395">
                  <a:moveTo>
                    <a:pt x="50037" y="0"/>
                  </a:moveTo>
                  <a:lnTo>
                    <a:pt x="24637" y="0"/>
                  </a:lnTo>
                  <a:lnTo>
                    <a:pt x="25390" y="1052194"/>
                  </a:lnTo>
                  <a:lnTo>
                    <a:pt x="25400" y="1064894"/>
                  </a:lnTo>
                  <a:lnTo>
                    <a:pt x="50800" y="1064894"/>
                  </a:lnTo>
                  <a:lnTo>
                    <a:pt x="50037" y="0"/>
                  </a:lnTo>
                  <a:close/>
                </a:path>
                <a:path w="76200" h="1128395">
                  <a:moveTo>
                    <a:pt x="76200" y="1052194"/>
                  </a:moveTo>
                  <a:lnTo>
                    <a:pt x="50790" y="1052194"/>
                  </a:lnTo>
                  <a:lnTo>
                    <a:pt x="50800" y="1064894"/>
                  </a:lnTo>
                  <a:lnTo>
                    <a:pt x="69871" y="1064894"/>
                  </a:lnTo>
                  <a:lnTo>
                    <a:pt x="76200" y="1052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903084" y="2946273"/>
            <a:ext cx="4889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84697" y="972057"/>
            <a:ext cx="474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A[1]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98670" y="1543049"/>
            <a:ext cx="830580" cy="906780"/>
          </a:xfrm>
          <a:custGeom>
            <a:avLst/>
            <a:gdLst/>
            <a:ahLst/>
            <a:cxnLst/>
            <a:rect l="l" t="t" r="r" b="b"/>
            <a:pathLst>
              <a:path w="830579" h="906780">
                <a:moveTo>
                  <a:pt x="76200" y="830072"/>
                </a:moveTo>
                <a:lnTo>
                  <a:pt x="50800" y="830072"/>
                </a:lnTo>
                <a:lnTo>
                  <a:pt x="50800" y="381000"/>
                </a:lnTo>
                <a:lnTo>
                  <a:pt x="25400" y="381000"/>
                </a:lnTo>
                <a:lnTo>
                  <a:pt x="25400" y="830072"/>
                </a:lnTo>
                <a:lnTo>
                  <a:pt x="0" y="830072"/>
                </a:lnTo>
                <a:lnTo>
                  <a:pt x="38100" y="906272"/>
                </a:lnTo>
                <a:lnTo>
                  <a:pt x="69850" y="842772"/>
                </a:lnTo>
                <a:lnTo>
                  <a:pt x="76200" y="830072"/>
                </a:lnTo>
                <a:close/>
              </a:path>
              <a:path w="830579" h="906780">
                <a:moveTo>
                  <a:pt x="461772" y="825500"/>
                </a:moveTo>
                <a:lnTo>
                  <a:pt x="436372" y="825500"/>
                </a:lnTo>
                <a:lnTo>
                  <a:pt x="436372" y="376428"/>
                </a:lnTo>
                <a:lnTo>
                  <a:pt x="410972" y="376428"/>
                </a:lnTo>
                <a:lnTo>
                  <a:pt x="410972" y="825500"/>
                </a:lnTo>
                <a:lnTo>
                  <a:pt x="385572" y="825500"/>
                </a:lnTo>
                <a:lnTo>
                  <a:pt x="423672" y="901700"/>
                </a:lnTo>
                <a:lnTo>
                  <a:pt x="455422" y="838200"/>
                </a:lnTo>
                <a:lnTo>
                  <a:pt x="461772" y="825500"/>
                </a:lnTo>
                <a:close/>
              </a:path>
              <a:path w="830579" h="906780">
                <a:moveTo>
                  <a:pt x="830580" y="825119"/>
                </a:moveTo>
                <a:lnTo>
                  <a:pt x="805180" y="825119"/>
                </a:lnTo>
                <a:lnTo>
                  <a:pt x="805180" y="0"/>
                </a:lnTo>
                <a:lnTo>
                  <a:pt x="779780" y="0"/>
                </a:lnTo>
                <a:lnTo>
                  <a:pt x="779780" y="825119"/>
                </a:lnTo>
                <a:lnTo>
                  <a:pt x="754380" y="825119"/>
                </a:lnTo>
                <a:lnTo>
                  <a:pt x="792480" y="901319"/>
                </a:lnTo>
                <a:lnTo>
                  <a:pt x="824230" y="837819"/>
                </a:lnTo>
                <a:lnTo>
                  <a:pt x="830580" y="825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494529" y="1198035"/>
            <a:ext cx="2957195" cy="7486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635000">
              <a:lnSpc>
                <a:spcPct val="100000"/>
              </a:lnSpc>
              <a:spcBef>
                <a:spcPts val="545"/>
              </a:spcBef>
              <a:tabLst>
                <a:tab pos="2776220" algn="l"/>
              </a:tabLst>
            </a:pPr>
            <a:r>
              <a:rPr sz="3000" b="1" spc="-30" baseline="1388" dirty="0">
                <a:latin typeface="Calibri"/>
                <a:cs typeface="Calibri"/>
              </a:rPr>
              <a:t>A[0]</a:t>
            </a:r>
            <a:r>
              <a:rPr sz="3000" b="1" baseline="1388" dirty="0">
                <a:latin typeface="Calibri"/>
                <a:cs typeface="Calibri"/>
              </a:rPr>
              <a:t>	</a:t>
            </a:r>
            <a:r>
              <a:rPr sz="2000" b="1" spc="-5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445"/>
              </a:spcBef>
              <a:tabLst>
                <a:tab pos="1983739" algn="l"/>
              </a:tabLst>
            </a:pPr>
            <a:r>
              <a:rPr sz="3000" b="1" baseline="-12500" dirty="0">
                <a:latin typeface="Calibri"/>
                <a:cs typeface="Calibri"/>
              </a:rPr>
              <a:t>X</a:t>
            </a:r>
            <a:r>
              <a:rPr sz="3000" b="1" spc="727" baseline="-1250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A[2]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3000" b="1" baseline="-12500" dirty="0">
                <a:latin typeface="Calibri"/>
                <a:cs typeface="Calibri"/>
              </a:rPr>
              <a:t>X</a:t>
            </a:r>
            <a:r>
              <a:rPr sz="3000" b="1" spc="712" baseline="-1250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A[1]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97602" y="3665982"/>
            <a:ext cx="76200" cy="525780"/>
          </a:xfrm>
          <a:custGeom>
            <a:avLst/>
            <a:gdLst/>
            <a:ahLst/>
            <a:cxnLst/>
            <a:rect l="l" t="t" r="r" b="b"/>
            <a:pathLst>
              <a:path w="76200" h="525779">
                <a:moveTo>
                  <a:pt x="25400" y="449072"/>
                </a:moveTo>
                <a:lnTo>
                  <a:pt x="0" y="449072"/>
                </a:lnTo>
                <a:lnTo>
                  <a:pt x="38100" y="525272"/>
                </a:lnTo>
                <a:lnTo>
                  <a:pt x="69850" y="461772"/>
                </a:lnTo>
                <a:lnTo>
                  <a:pt x="25400" y="461772"/>
                </a:lnTo>
                <a:lnTo>
                  <a:pt x="25400" y="449072"/>
                </a:lnTo>
                <a:close/>
              </a:path>
              <a:path w="76200" h="525779">
                <a:moveTo>
                  <a:pt x="50800" y="0"/>
                </a:moveTo>
                <a:lnTo>
                  <a:pt x="25400" y="0"/>
                </a:lnTo>
                <a:lnTo>
                  <a:pt x="25400" y="461772"/>
                </a:lnTo>
                <a:lnTo>
                  <a:pt x="50800" y="461772"/>
                </a:lnTo>
                <a:lnTo>
                  <a:pt x="50800" y="0"/>
                </a:lnTo>
                <a:close/>
              </a:path>
              <a:path w="76200" h="525779">
                <a:moveTo>
                  <a:pt x="76200" y="449072"/>
                </a:moveTo>
                <a:lnTo>
                  <a:pt x="50800" y="449072"/>
                </a:lnTo>
                <a:lnTo>
                  <a:pt x="50800" y="461772"/>
                </a:lnTo>
                <a:lnTo>
                  <a:pt x="69850" y="461772"/>
                </a:lnTo>
                <a:lnTo>
                  <a:pt x="76200" y="449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983607" y="4220667"/>
            <a:ext cx="49275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O[1]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68546" y="2449829"/>
            <a:ext cx="1560830" cy="1216660"/>
          </a:xfrm>
          <a:custGeom>
            <a:avLst/>
            <a:gdLst/>
            <a:ahLst/>
            <a:cxnLst/>
            <a:rect l="l" t="t" r="r" b="b"/>
            <a:pathLst>
              <a:path w="1560829" h="1216660">
                <a:moveTo>
                  <a:pt x="0" y="1216152"/>
                </a:moveTo>
                <a:lnTo>
                  <a:pt x="1560576" y="1216152"/>
                </a:lnTo>
                <a:lnTo>
                  <a:pt x="1560576" y="0"/>
                </a:lnTo>
                <a:lnTo>
                  <a:pt x="0" y="0"/>
                </a:lnTo>
                <a:lnTo>
                  <a:pt x="0" y="12161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14671" y="2523236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6775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722626" y="1322069"/>
            <a:ext cx="1911350" cy="2870835"/>
            <a:chOff x="2722626" y="1322069"/>
            <a:chExt cx="1911350" cy="287083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9793" y="2813050"/>
              <a:ext cx="191262" cy="177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39793" y="3134613"/>
              <a:ext cx="194183" cy="17132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722626" y="1322069"/>
              <a:ext cx="1241425" cy="2870835"/>
            </a:xfrm>
            <a:custGeom>
              <a:avLst/>
              <a:gdLst/>
              <a:ahLst/>
              <a:cxnLst/>
              <a:rect l="l" t="t" r="r" b="b"/>
              <a:pathLst>
                <a:path w="1241425" h="2870835">
                  <a:moveTo>
                    <a:pt x="76200" y="1054100"/>
                  </a:moveTo>
                  <a:lnTo>
                    <a:pt x="50800" y="1054100"/>
                  </a:lnTo>
                  <a:lnTo>
                    <a:pt x="50800" y="605028"/>
                  </a:lnTo>
                  <a:lnTo>
                    <a:pt x="25400" y="605028"/>
                  </a:lnTo>
                  <a:lnTo>
                    <a:pt x="25400" y="1054100"/>
                  </a:lnTo>
                  <a:lnTo>
                    <a:pt x="0" y="1054100"/>
                  </a:lnTo>
                  <a:lnTo>
                    <a:pt x="38100" y="1130300"/>
                  </a:lnTo>
                  <a:lnTo>
                    <a:pt x="69850" y="1066800"/>
                  </a:lnTo>
                  <a:lnTo>
                    <a:pt x="76200" y="1054100"/>
                  </a:lnTo>
                  <a:close/>
                </a:path>
                <a:path w="1241425" h="2870835">
                  <a:moveTo>
                    <a:pt x="461772" y="1048004"/>
                  </a:moveTo>
                  <a:lnTo>
                    <a:pt x="436372" y="1048004"/>
                  </a:lnTo>
                  <a:lnTo>
                    <a:pt x="436372" y="598932"/>
                  </a:lnTo>
                  <a:lnTo>
                    <a:pt x="410972" y="598932"/>
                  </a:lnTo>
                  <a:lnTo>
                    <a:pt x="410972" y="1048004"/>
                  </a:lnTo>
                  <a:lnTo>
                    <a:pt x="385572" y="1048004"/>
                  </a:lnTo>
                  <a:lnTo>
                    <a:pt x="423672" y="1124204"/>
                  </a:lnTo>
                  <a:lnTo>
                    <a:pt x="455422" y="1060704"/>
                  </a:lnTo>
                  <a:lnTo>
                    <a:pt x="461772" y="1048004"/>
                  </a:lnTo>
                  <a:close/>
                </a:path>
                <a:path w="1241425" h="2870835">
                  <a:moveTo>
                    <a:pt x="675132" y="2794508"/>
                  </a:moveTo>
                  <a:lnTo>
                    <a:pt x="649732" y="2794508"/>
                  </a:lnTo>
                  <a:lnTo>
                    <a:pt x="649732" y="2345436"/>
                  </a:lnTo>
                  <a:lnTo>
                    <a:pt x="624332" y="2345436"/>
                  </a:lnTo>
                  <a:lnTo>
                    <a:pt x="624332" y="2794508"/>
                  </a:lnTo>
                  <a:lnTo>
                    <a:pt x="598932" y="2794508"/>
                  </a:lnTo>
                  <a:lnTo>
                    <a:pt x="637032" y="2870708"/>
                  </a:lnTo>
                  <a:lnTo>
                    <a:pt x="668782" y="2807208"/>
                  </a:lnTo>
                  <a:lnTo>
                    <a:pt x="675132" y="2794508"/>
                  </a:lnTo>
                  <a:close/>
                </a:path>
                <a:path w="1241425" h="2870835">
                  <a:moveTo>
                    <a:pt x="831088" y="1048258"/>
                  </a:moveTo>
                  <a:lnTo>
                    <a:pt x="805637" y="1048131"/>
                  </a:lnTo>
                  <a:lnTo>
                    <a:pt x="810641" y="271399"/>
                  </a:lnTo>
                  <a:lnTo>
                    <a:pt x="785241" y="271145"/>
                  </a:lnTo>
                  <a:lnTo>
                    <a:pt x="780237" y="1048004"/>
                  </a:lnTo>
                  <a:lnTo>
                    <a:pt x="754938" y="1048004"/>
                  </a:lnTo>
                  <a:lnTo>
                    <a:pt x="792480" y="1124331"/>
                  </a:lnTo>
                  <a:lnTo>
                    <a:pt x="824699" y="1060831"/>
                  </a:lnTo>
                  <a:lnTo>
                    <a:pt x="831088" y="1048258"/>
                  </a:lnTo>
                  <a:close/>
                </a:path>
                <a:path w="1241425" h="2870835">
                  <a:moveTo>
                    <a:pt x="1241298" y="1053973"/>
                  </a:moveTo>
                  <a:lnTo>
                    <a:pt x="1215885" y="1053973"/>
                  </a:lnTo>
                  <a:lnTo>
                    <a:pt x="1215136" y="0"/>
                  </a:lnTo>
                  <a:lnTo>
                    <a:pt x="1189736" y="0"/>
                  </a:lnTo>
                  <a:lnTo>
                    <a:pt x="1190485" y="1053973"/>
                  </a:lnTo>
                  <a:lnTo>
                    <a:pt x="1165098" y="1053973"/>
                  </a:lnTo>
                  <a:lnTo>
                    <a:pt x="1203325" y="1130173"/>
                  </a:lnTo>
                  <a:lnTo>
                    <a:pt x="1234960" y="1066673"/>
                  </a:lnTo>
                  <a:lnTo>
                    <a:pt x="1241298" y="1053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982590" y="2946273"/>
            <a:ext cx="4889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65526" y="4222444"/>
            <a:ext cx="49275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O[2]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492501" y="2451354"/>
            <a:ext cx="1560830" cy="1216660"/>
          </a:xfrm>
          <a:custGeom>
            <a:avLst/>
            <a:gdLst/>
            <a:ahLst/>
            <a:cxnLst/>
            <a:rect l="l" t="t" r="r" b="b"/>
            <a:pathLst>
              <a:path w="1560829" h="1216660">
                <a:moveTo>
                  <a:pt x="0" y="1216152"/>
                </a:moveTo>
                <a:lnTo>
                  <a:pt x="1560576" y="1216152"/>
                </a:lnTo>
                <a:lnTo>
                  <a:pt x="1560576" y="0"/>
                </a:lnTo>
                <a:lnTo>
                  <a:pt x="0" y="0"/>
                </a:lnTo>
                <a:lnTo>
                  <a:pt x="0" y="12161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738373" y="2525013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6775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88541" y="1322069"/>
            <a:ext cx="1470025" cy="1985645"/>
            <a:chOff x="1288541" y="1322069"/>
            <a:chExt cx="1470025" cy="1985645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63875" y="2814827"/>
              <a:ext cx="191262" cy="1778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63875" y="3136391"/>
              <a:ext cx="194182" cy="17132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288542" y="1322069"/>
              <a:ext cx="854710" cy="1120775"/>
            </a:xfrm>
            <a:custGeom>
              <a:avLst/>
              <a:gdLst/>
              <a:ahLst/>
              <a:cxnLst/>
              <a:rect l="l" t="t" r="r" b="b"/>
              <a:pathLst>
                <a:path w="854710" h="1120775">
                  <a:moveTo>
                    <a:pt x="76200" y="1037336"/>
                  </a:moveTo>
                  <a:lnTo>
                    <a:pt x="50800" y="1037336"/>
                  </a:lnTo>
                  <a:lnTo>
                    <a:pt x="50800" y="588264"/>
                  </a:lnTo>
                  <a:lnTo>
                    <a:pt x="25400" y="588264"/>
                  </a:lnTo>
                  <a:lnTo>
                    <a:pt x="25400" y="1037336"/>
                  </a:lnTo>
                  <a:lnTo>
                    <a:pt x="0" y="1037336"/>
                  </a:lnTo>
                  <a:lnTo>
                    <a:pt x="38100" y="1113536"/>
                  </a:lnTo>
                  <a:lnTo>
                    <a:pt x="69850" y="1050036"/>
                  </a:lnTo>
                  <a:lnTo>
                    <a:pt x="76200" y="1037336"/>
                  </a:lnTo>
                  <a:close/>
                </a:path>
                <a:path w="854710" h="1120775">
                  <a:moveTo>
                    <a:pt x="445008" y="1037209"/>
                  </a:moveTo>
                  <a:lnTo>
                    <a:pt x="419608" y="1037209"/>
                  </a:lnTo>
                  <a:lnTo>
                    <a:pt x="419608" y="344424"/>
                  </a:lnTo>
                  <a:lnTo>
                    <a:pt x="394208" y="344424"/>
                  </a:lnTo>
                  <a:lnTo>
                    <a:pt x="394208" y="1037209"/>
                  </a:lnTo>
                  <a:lnTo>
                    <a:pt x="368808" y="1037209"/>
                  </a:lnTo>
                  <a:lnTo>
                    <a:pt x="406908" y="1113409"/>
                  </a:lnTo>
                  <a:lnTo>
                    <a:pt x="438658" y="1049909"/>
                  </a:lnTo>
                  <a:lnTo>
                    <a:pt x="445008" y="1037209"/>
                  </a:lnTo>
                  <a:close/>
                </a:path>
                <a:path w="854710" h="1120775">
                  <a:moveTo>
                    <a:pt x="854138" y="1044067"/>
                  </a:moveTo>
                  <a:lnTo>
                    <a:pt x="828789" y="1044067"/>
                  </a:lnTo>
                  <a:lnTo>
                    <a:pt x="828040" y="0"/>
                  </a:lnTo>
                  <a:lnTo>
                    <a:pt x="802640" y="0"/>
                  </a:lnTo>
                  <a:lnTo>
                    <a:pt x="803389" y="1044067"/>
                  </a:lnTo>
                  <a:lnTo>
                    <a:pt x="778002" y="1044067"/>
                  </a:lnTo>
                  <a:lnTo>
                    <a:pt x="816229" y="1120267"/>
                  </a:lnTo>
                  <a:lnTo>
                    <a:pt x="847813" y="1056767"/>
                  </a:lnTo>
                  <a:lnTo>
                    <a:pt x="854138" y="10440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3106166" y="2948177"/>
            <a:ext cx="4889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 </a:t>
            </a: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256791" y="1637157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02969" y="1916429"/>
            <a:ext cx="76200" cy="525780"/>
          </a:xfrm>
          <a:custGeom>
            <a:avLst/>
            <a:gdLst/>
            <a:ahLst/>
            <a:cxnLst/>
            <a:rect l="l" t="t" r="r" b="b"/>
            <a:pathLst>
              <a:path w="76200" h="525780">
                <a:moveTo>
                  <a:pt x="25400" y="449072"/>
                </a:moveTo>
                <a:lnTo>
                  <a:pt x="0" y="449072"/>
                </a:lnTo>
                <a:lnTo>
                  <a:pt x="38100" y="525272"/>
                </a:lnTo>
                <a:lnTo>
                  <a:pt x="69850" y="461772"/>
                </a:lnTo>
                <a:lnTo>
                  <a:pt x="25400" y="461772"/>
                </a:lnTo>
                <a:lnTo>
                  <a:pt x="25400" y="449072"/>
                </a:lnTo>
                <a:close/>
              </a:path>
              <a:path w="76200" h="525780">
                <a:moveTo>
                  <a:pt x="50800" y="0"/>
                </a:moveTo>
                <a:lnTo>
                  <a:pt x="25400" y="0"/>
                </a:lnTo>
                <a:lnTo>
                  <a:pt x="25400" y="461772"/>
                </a:lnTo>
                <a:lnTo>
                  <a:pt x="50800" y="461772"/>
                </a:lnTo>
                <a:lnTo>
                  <a:pt x="50800" y="0"/>
                </a:lnTo>
                <a:close/>
              </a:path>
              <a:path w="76200" h="525780">
                <a:moveTo>
                  <a:pt x="76200" y="449072"/>
                </a:moveTo>
                <a:lnTo>
                  <a:pt x="50800" y="449072"/>
                </a:lnTo>
                <a:lnTo>
                  <a:pt x="50800" y="461772"/>
                </a:lnTo>
                <a:lnTo>
                  <a:pt x="69850" y="461772"/>
                </a:lnTo>
                <a:lnTo>
                  <a:pt x="76200" y="449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48969" y="1665477"/>
            <a:ext cx="165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501902" y="3656838"/>
            <a:ext cx="76200" cy="525780"/>
          </a:xfrm>
          <a:custGeom>
            <a:avLst/>
            <a:gdLst/>
            <a:ahLst/>
            <a:cxnLst/>
            <a:rect l="l" t="t" r="r" b="b"/>
            <a:pathLst>
              <a:path w="76200" h="525779">
                <a:moveTo>
                  <a:pt x="25400" y="449072"/>
                </a:moveTo>
                <a:lnTo>
                  <a:pt x="0" y="449072"/>
                </a:lnTo>
                <a:lnTo>
                  <a:pt x="38100" y="525272"/>
                </a:lnTo>
                <a:lnTo>
                  <a:pt x="69850" y="461772"/>
                </a:lnTo>
                <a:lnTo>
                  <a:pt x="25400" y="461772"/>
                </a:lnTo>
                <a:lnTo>
                  <a:pt x="25400" y="449072"/>
                </a:lnTo>
                <a:close/>
              </a:path>
              <a:path w="76200" h="525779">
                <a:moveTo>
                  <a:pt x="50800" y="0"/>
                </a:moveTo>
                <a:lnTo>
                  <a:pt x="25400" y="0"/>
                </a:lnTo>
                <a:lnTo>
                  <a:pt x="25400" y="461772"/>
                </a:lnTo>
                <a:lnTo>
                  <a:pt x="50800" y="461772"/>
                </a:lnTo>
                <a:lnTo>
                  <a:pt x="50800" y="0"/>
                </a:lnTo>
                <a:close/>
              </a:path>
              <a:path w="76200" h="525779">
                <a:moveTo>
                  <a:pt x="76200" y="449072"/>
                </a:moveTo>
                <a:lnTo>
                  <a:pt x="50800" y="449072"/>
                </a:lnTo>
                <a:lnTo>
                  <a:pt x="50800" y="461772"/>
                </a:lnTo>
                <a:lnTo>
                  <a:pt x="69850" y="461772"/>
                </a:lnTo>
                <a:lnTo>
                  <a:pt x="76200" y="449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312925" y="4213097"/>
            <a:ext cx="4921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Calibri"/>
                <a:cs typeface="Calibri"/>
              </a:rPr>
              <a:t>O[3]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72845" y="2442210"/>
            <a:ext cx="1560830" cy="1214755"/>
          </a:xfrm>
          <a:custGeom>
            <a:avLst/>
            <a:gdLst/>
            <a:ahLst/>
            <a:cxnLst/>
            <a:rect l="l" t="t" r="r" b="b"/>
            <a:pathLst>
              <a:path w="1560830" h="1214754">
                <a:moveTo>
                  <a:pt x="0" y="1214627"/>
                </a:moveTo>
                <a:lnTo>
                  <a:pt x="1560576" y="1214627"/>
                </a:lnTo>
                <a:lnTo>
                  <a:pt x="1560576" y="0"/>
                </a:lnTo>
                <a:lnTo>
                  <a:pt x="0" y="0"/>
                </a:lnTo>
                <a:lnTo>
                  <a:pt x="0" y="121462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918362" y="2514980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7410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94970" y="2804795"/>
            <a:ext cx="5806440" cy="2353310"/>
            <a:chOff x="394970" y="2804795"/>
            <a:chExt cx="5806440" cy="2353310"/>
          </a:xfrm>
        </p:grpSpPr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4118" y="2804795"/>
              <a:ext cx="191274" cy="17792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4118" y="3126359"/>
              <a:ext cx="194170" cy="17145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190237" y="2913126"/>
              <a:ext cx="1998345" cy="2226310"/>
            </a:xfrm>
            <a:custGeom>
              <a:avLst/>
              <a:gdLst/>
              <a:ahLst/>
              <a:cxnLst/>
              <a:rect l="l" t="t" r="r" b="b"/>
              <a:pathLst>
                <a:path w="1998345" h="2226310">
                  <a:moveTo>
                    <a:pt x="1906524" y="0"/>
                  </a:moveTo>
                  <a:lnTo>
                    <a:pt x="1906524" y="1985010"/>
                  </a:lnTo>
                </a:path>
                <a:path w="1998345" h="2226310">
                  <a:moveTo>
                    <a:pt x="1997964" y="240791"/>
                  </a:moveTo>
                  <a:lnTo>
                    <a:pt x="1997964" y="2225802"/>
                  </a:lnTo>
                </a:path>
                <a:path w="1998345" h="2226310">
                  <a:moveTo>
                    <a:pt x="85344" y="240791"/>
                  </a:moveTo>
                  <a:lnTo>
                    <a:pt x="85344" y="2225802"/>
                  </a:lnTo>
                </a:path>
                <a:path w="1998345" h="2226310">
                  <a:moveTo>
                    <a:pt x="0" y="9144"/>
                  </a:moveTo>
                  <a:lnTo>
                    <a:pt x="0" y="199415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8046" y="2870454"/>
              <a:ext cx="179450" cy="762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0154" y="3124962"/>
              <a:ext cx="83566" cy="7620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332481" y="2922270"/>
              <a:ext cx="85725" cy="2216785"/>
            </a:xfrm>
            <a:custGeom>
              <a:avLst/>
              <a:gdLst/>
              <a:ahLst/>
              <a:cxnLst/>
              <a:rect l="l" t="t" r="r" b="b"/>
              <a:pathLst>
                <a:path w="85725" h="2216785">
                  <a:moveTo>
                    <a:pt x="85343" y="231647"/>
                  </a:moveTo>
                  <a:lnTo>
                    <a:pt x="85343" y="2216657"/>
                  </a:lnTo>
                </a:path>
                <a:path w="85725" h="2216785">
                  <a:moveTo>
                    <a:pt x="0" y="0"/>
                  </a:moveTo>
                  <a:lnTo>
                    <a:pt x="0" y="198500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0290" y="2870454"/>
              <a:ext cx="179451" cy="76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22397" y="3124962"/>
              <a:ext cx="83565" cy="762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15874" y="2939034"/>
              <a:ext cx="85725" cy="2215515"/>
            </a:xfrm>
            <a:custGeom>
              <a:avLst/>
              <a:gdLst/>
              <a:ahLst/>
              <a:cxnLst/>
              <a:rect l="l" t="t" r="r" b="b"/>
              <a:pathLst>
                <a:path w="85725" h="2215515">
                  <a:moveTo>
                    <a:pt x="85344" y="230124"/>
                  </a:moveTo>
                  <a:lnTo>
                    <a:pt x="85344" y="2215134"/>
                  </a:lnTo>
                </a:path>
                <a:path w="85725" h="2215515">
                  <a:moveTo>
                    <a:pt x="0" y="0"/>
                  </a:moveTo>
                  <a:lnTo>
                    <a:pt x="0" y="198500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157" y="2887218"/>
              <a:ext cx="179451" cy="762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5790" y="3141726"/>
              <a:ext cx="83578" cy="762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07670" y="4908042"/>
              <a:ext cx="5779135" cy="236854"/>
            </a:xfrm>
            <a:custGeom>
              <a:avLst/>
              <a:gdLst/>
              <a:ahLst/>
              <a:cxnLst/>
              <a:rect l="l" t="t" r="r" b="b"/>
              <a:pathLst>
                <a:path w="5779135" h="236854">
                  <a:moveTo>
                    <a:pt x="5710935" y="0"/>
                  </a:moveTo>
                  <a:lnTo>
                    <a:pt x="0" y="16382"/>
                  </a:lnTo>
                </a:path>
                <a:path w="5779135" h="236854">
                  <a:moveTo>
                    <a:pt x="5778881" y="224027"/>
                  </a:moveTo>
                  <a:lnTo>
                    <a:pt x="0" y="23685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1286255" y="2937713"/>
            <a:ext cx="48895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43504" y="983437"/>
            <a:ext cx="1555115" cy="965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7435">
              <a:lnSpc>
                <a:spcPts val="227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A[2]</a:t>
            </a:r>
            <a:endParaRPr sz="2000">
              <a:latin typeface="Calibri"/>
              <a:cs typeface="Calibri"/>
            </a:endParaRPr>
          </a:p>
          <a:p>
            <a:pPr marL="628650">
              <a:lnSpc>
                <a:spcPts val="2270"/>
              </a:lnSpc>
            </a:pPr>
            <a:r>
              <a:rPr sz="2000" b="1" spc="-20" dirty="0">
                <a:latin typeface="Calibri"/>
                <a:cs typeface="Calibri"/>
              </a:rPr>
              <a:t>A[1]</a:t>
            </a:r>
            <a:endParaRPr sz="20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3000" b="1" baseline="-12500" dirty="0">
                <a:latin typeface="Calibri"/>
                <a:cs typeface="Calibri"/>
              </a:rPr>
              <a:t>X</a:t>
            </a:r>
            <a:r>
              <a:rPr sz="3000" b="1" spc="615" baseline="-1250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A[3]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468627" y="972057"/>
            <a:ext cx="923290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1009">
              <a:lnSpc>
                <a:spcPts val="2255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A[3]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55"/>
              </a:lnSpc>
            </a:pPr>
            <a:r>
              <a:rPr sz="2000" b="1" spc="-20" dirty="0">
                <a:latin typeface="Calibri"/>
                <a:cs typeface="Calibri"/>
              </a:rPr>
              <a:t>A[2]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15890" y="261315"/>
            <a:ext cx="2641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spc="-45" dirty="0">
                <a:latin typeface="Calibri Light"/>
                <a:cs typeface="Calibri Light"/>
              </a:rPr>
              <a:t>4-</a:t>
            </a:r>
            <a:r>
              <a:rPr b="0" dirty="0">
                <a:latin typeface="Calibri Light"/>
                <a:cs typeface="Calibri Light"/>
              </a:rPr>
              <a:t>bit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spc="-20" dirty="0">
                <a:latin typeface="Calibri Light"/>
                <a:cs typeface="Calibri Light"/>
              </a:rPr>
              <a:t>Shifter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158" y="4768341"/>
            <a:ext cx="191273" cy="177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158" y="5089905"/>
            <a:ext cx="194169" cy="17132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6518897" y="1322069"/>
            <a:ext cx="1241425" cy="2869565"/>
          </a:xfrm>
          <a:custGeom>
            <a:avLst/>
            <a:gdLst/>
            <a:ahLst/>
            <a:cxnLst/>
            <a:rect l="l" t="t" r="r" b="b"/>
            <a:pathLst>
              <a:path w="1241425" h="2869565">
                <a:moveTo>
                  <a:pt x="76200" y="1051052"/>
                </a:moveTo>
                <a:lnTo>
                  <a:pt x="50800" y="1051052"/>
                </a:lnTo>
                <a:lnTo>
                  <a:pt x="50800" y="601980"/>
                </a:lnTo>
                <a:lnTo>
                  <a:pt x="25400" y="601980"/>
                </a:lnTo>
                <a:lnTo>
                  <a:pt x="25400" y="1051052"/>
                </a:lnTo>
                <a:lnTo>
                  <a:pt x="0" y="1051052"/>
                </a:lnTo>
                <a:lnTo>
                  <a:pt x="38100" y="1127252"/>
                </a:lnTo>
                <a:lnTo>
                  <a:pt x="69850" y="1063752"/>
                </a:lnTo>
                <a:lnTo>
                  <a:pt x="76200" y="1051052"/>
                </a:lnTo>
                <a:close/>
              </a:path>
              <a:path w="1241425" h="2869565">
                <a:moveTo>
                  <a:pt x="461784" y="1046480"/>
                </a:moveTo>
                <a:lnTo>
                  <a:pt x="436384" y="1046480"/>
                </a:lnTo>
                <a:lnTo>
                  <a:pt x="436384" y="597408"/>
                </a:lnTo>
                <a:lnTo>
                  <a:pt x="410984" y="597408"/>
                </a:lnTo>
                <a:lnTo>
                  <a:pt x="410984" y="1046480"/>
                </a:lnTo>
                <a:lnTo>
                  <a:pt x="385584" y="1046480"/>
                </a:lnTo>
                <a:lnTo>
                  <a:pt x="423684" y="1122680"/>
                </a:lnTo>
                <a:lnTo>
                  <a:pt x="455434" y="1059180"/>
                </a:lnTo>
                <a:lnTo>
                  <a:pt x="461784" y="1046480"/>
                </a:lnTo>
                <a:close/>
              </a:path>
              <a:path w="1241425" h="2869565">
                <a:moveTo>
                  <a:pt x="675144" y="2792984"/>
                </a:moveTo>
                <a:lnTo>
                  <a:pt x="649744" y="2792984"/>
                </a:lnTo>
                <a:lnTo>
                  <a:pt x="649744" y="2343912"/>
                </a:lnTo>
                <a:lnTo>
                  <a:pt x="624344" y="2343912"/>
                </a:lnTo>
                <a:lnTo>
                  <a:pt x="624344" y="2792984"/>
                </a:lnTo>
                <a:lnTo>
                  <a:pt x="598944" y="2792984"/>
                </a:lnTo>
                <a:lnTo>
                  <a:pt x="637044" y="2869184"/>
                </a:lnTo>
                <a:lnTo>
                  <a:pt x="668794" y="2805684"/>
                </a:lnTo>
                <a:lnTo>
                  <a:pt x="675144" y="2792984"/>
                </a:lnTo>
                <a:close/>
              </a:path>
              <a:path w="1241425" h="2869565">
                <a:moveTo>
                  <a:pt x="831862" y="1046226"/>
                </a:moveTo>
                <a:lnTo>
                  <a:pt x="806411" y="1045845"/>
                </a:lnTo>
                <a:lnTo>
                  <a:pt x="819416" y="245618"/>
                </a:lnTo>
                <a:lnTo>
                  <a:pt x="794016" y="245110"/>
                </a:lnTo>
                <a:lnTo>
                  <a:pt x="781011" y="1045083"/>
                </a:lnTo>
                <a:lnTo>
                  <a:pt x="781011" y="1045464"/>
                </a:lnTo>
                <a:lnTo>
                  <a:pt x="755662" y="1045083"/>
                </a:lnTo>
                <a:lnTo>
                  <a:pt x="792492" y="1121791"/>
                </a:lnTo>
                <a:lnTo>
                  <a:pt x="825436" y="1058545"/>
                </a:lnTo>
                <a:lnTo>
                  <a:pt x="831862" y="1046226"/>
                </a:lnTo>
                <a:close/>
              </a:path>
              <a:path w="1241425" h="2869565">
                <a:moveTo>
                  <a:pt x="1241310" y="1052195"/>
                </a:moveTo>
                <a:lnTo>
                  <a:pt x="1215898" y="1052195"/>
                </a:lnTo>
                <a:lnTo>
                  <a:pt x="1215148" y="0"/>
                </a:lnTo>
                <a:lnTo>
                  <a:pt x="1189748" y="0"/>
                </a:lnTo>
                <a:lnTo>
                  <a:pt x="1190498" y="1052195"/>
                </a:lnTo>
                <a:lnTo>
                  <a:pt x="1165110" y="1052195"/>
                </a:lnTo>
                <a:lnTo>
                  <a:pt x="1203337" y="1128395"/>
                </a:lnTo>
                <a:lnTo>
                  <a:pt x="1234973" y="1064895"/>
                </a:lnTo>
                <a:lnTo>
                  <a:pt x="1241310" y="10521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95413" y="952626"/>
            <a:ext cx="474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A[0]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3231" y="4220667"/>
            <a:ext cx="1981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88785" y="2449829"/>
            <a:ext cx="1560830" cy="1216660"/>
          </a:xfrm>
          <a:custGeom>
            <a:avLst/>
            <a:gdLst/>
            <a:ahLst/>
            <a:cxnLst/>
            <a:rect l="l" t="t" r="r" b="b"/>
            <a:pathLst>
              <a:path w="1560829" h="1216660">
                <a:moveTo>
                  <a:pt x="0" y="1216152"/>
                </a:moveTo>
                <a:lnTo>
                  <a:pt x="1560575" y="1216152"/>
                </a:lnTo>
                <a:lnTo>
                  <a:pt x="1560575" y="0"/>
                </a:lnTo>
                <a:lnTo>
                  <a:pt x="0" y="0"/>
                </a:lnTo>
                <a:lnTo>
                  <a:pt x="0" y="12161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35166" y="2523236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6775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62244" y="1322069"/>
            <a:ext cx="792480" cy="1984375"/>
            <a:chOff x="5762244" y="1322069"/>
            <a:chExt cx="792480" cy="198437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0160" y="2813050"/>
              <a:ext cx="191262" cy="177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0160" y="3134613"/>
              <a:ext cx="194183" cy="1713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6762" y="2875025"/>
              <a:ext cx="179450" cy="76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2774" y="3115818"/>
              <a:ext cx="83565" cy="762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762244" y="1322069"/>
              <a:ext cx="76200" cy="1128395"/>
            </a:xfrm>
            <a:custGeom>
              <a:avLst/>
              <a:gdLst/>
              <a:ahLst/>
              <a:cxnLst/>
              <a:rect l="l" t="t" r="r" b="b"/>
              <a:pathLst>
                <a:path w="76200" h="1128395">
                  <a:moveTo>
                    <a:pt x="25390" y="1052194"/>
                  </a:moveTo>
                  <a:lnTo>
                    <a:pt x="0" y="1052194"/>
                  </a:lnTo>
                  <a:lnTo>
                    <a:pt x="38226" y="1128394"/>
                  </a:lnTo>
                  <a:lnTo>
                    <a:pt x="69871" y="1064894"/>
                  </a:lnTo>
                  <a:lnTo>
                    <a:pt x="25400" y="1064894"/>
                  </a:lnTo>
                  <a:lnTo>
                    <a:pt x="25390" y="1052194"/>
                  </a:lnTo>
                  <a:close/>
                </a:path>
                <a:path w="76200" h="1128395">
                  <a:moveTo>
                    <a:pt x="50037" y="0"/>
                  </a:moveTo>
                  <a:lnTo>
                    <a:pt x="24637" y="0"/>
                  </a:lnTo>
                  <a:lnTo>
                    <a:pt x="25390" y="1052194"/>
                  </a:lnTo>
                  <a:lnTo>
                    <a:pt x="25400" y="1064894"/>
                  </a:lnTo>
                  <a:lnTo>
                    <a:pt x="50800" y="1064894"/>
                  </a:lnTo>
                  <a:lnTo>
                    <a:pt x="50037" y="0"/>
                  </a:lnTo>
                  <a:close/>
                </a:path>
                <a:path w="76200" h="1128395">
                  <a:moveTo>
                    <a:pt x="76200" y="1052194"/>
                  </a:moveTo>
                  <a:lnTo>
                    <a:pt x="50790" y="1052194"/>
                  </a:lnTo>
                  <a:lnTo>
                    <a:pt x="50800" y="1064894"/>
                  </a:lnTo>
                  <a:lnTo>
                    <a:pt x="69871" y="1064894"/>
                  </a:lnTo>
                  <a:lnTo>
                    <a:pt x="76200" y="10521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903084" y="2946273"/>
            <a:ext cx="4889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84697" y="972057"/>
            <a:ext cx="4743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A[1]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98670" y="1543049"/>
            <a:ext cx="830580" cy="906780"/>
          </a:xfrm>
          <a:custGeom>
            <a:avLst/>
            <a:gdLst/>
            <a:ahLst/>
            <a:cxnLst/>
            <a:rect l="l" t="t" r="r" b="b"/>
            <a:pathLst>
              <a:path w="830579" h="906780">
                <a:moveTo>
                  <a:pt x="76200" y="830072"/>
                </a:moveTo>
                <a:lnTo>
                  <a:pt x="50800" y="830072"/>
                </a:lnTo>
                <a:lnTo>
                  <a:pt x="50800" y="381000"/>
                </a:lnTo>
                <a:lnTo>
                  <a:pt x="25400" y="381000"/>
                </a:lnTo>
                <a:lnTo>
                  <a:pt x="25400" y="830072"/>
                </a:lnTo>
                <a:lnTo>
                  <a:pt x="0" y="830072"/>
                </a:lnTo>
                <a:lnTo>
                  <a:pt x="38100" y="906272"/>
                </a:lnTo>
                <a:lnTo>
                  <a:pt x="69850" y="842772"/>
                </a:lnTo>
                <a:lnTo>
                  <a:pt x="76200" y="830072"/>
                </a:lnTo>
                <a:close/>
              </a:path>
              <a:path w="830579" h="906780">
                <a:moveTo>
                  <a:pt x="461772" y="825500"/>
                </a:moveTo>
                <a:lnTo>
                  <a:pt x="436372" y="825500"/>
                </a:lnTo>
                <a:lnTo>
                  <a:pt x="436372" y="376428"/>
                </a:lnTo>
                <a:lnTo>
                  <a:pt x="410972" y="376428"/>
                </a:lnTo>
                <a:lnTo>
                  <a:pt x="410972" y="825500"/>
                </a:lnTo>
                <a:lnTo>
                  <a:pt x="385572" y="825500"/>
                </a:lnTo>
                <a:lnTo>
                  <a:pt x="423672" y="901700"/>
                </a:lnTo>
                <a:lnTo>
                  <a:pt x="455422" y="838200"/>
                </a:lnTo>
                <a:lnTo>
                  <a:pt x="461772" y="825500"/>
                </a:lnTo>
                <a:close/>
              </a:path>
              <a:path w="830579" h="906780">
                <a:moveTo>
                  <a:pt x="830580" y="825119"/>
                </a:moveTo>
                <a:lnTo>
                  <a:pt x="805180" y="825119"/>
                </a:lnTo>
                <a:lnTo>
                  <a:pt x="805180" y="0"/>
                </a:lnTo>
                <a:lnTo>
                  <a:pt x="779780" y="0"/>
                </a:lnTo>
                <a:lnTo>
                  <a:pt x="779780" y="825119"/>
                </a:lnTo>
                <a:lnTo>
                  <a:pt x="754380" y="825119"/>
                </a:lnTo>
                <a:lnTo>
                  <a:pt x="792480" y="901319"/>
                </a:lnTo>
                <a:lnTo>
                  <a:pt x="824230" y="837819"/>
                </a:lnTo>
                <a:lnTo>
                  <a:pt x="830580" y="825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494529" y="1198035"/>
            <a:ext cx="2957195" cy="7486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635000">
              <a:lnSpc>
                <a:spcPct val="100000"/>
              </a:lnSpc>
              <a:spcBef>
                <a:spcPts val="545"/>
              </a:spcBef>
              <a:tabLst>
                <a:tab pos="2776220" algn="l"/>
              </a:tabLst>
            </a:pPr>
            <a:r>
              <a:rPr sz="3000" b="1" spc="-30" baseline="1388" dirty="0">
                <a:latin typeface="Calibri"/>
                <a:cs typeface="Calibri"/>
              </a:rPr>
              <a:t>A[0]</a:t>
            </a:r>
            <a:r>
              <a:rPr sz="3000" b="1" baseline="1388" dirty="0">
                <a:latin typeface="Calibri"/>
                <a:cs typeface="Calibri"/>
              </a:rPr>
              <a:t>	</a:t>
            </a:r>
            <a:r>
              <a:rPr sz="2000" b="1" spc="-5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  <a:p>
            <a:pPr marL="63500">
              <a:lnSpc>
                <a:spcPct val="100000"/>
              </a:lnSpc>
              <a:spcBef>
                <a:spcPts val="445"/>
              </a:spcBef>
              <a:tabLst>
                <a:tab pos="1983739" algn="l"/>
              </a:tabLst>
            </a:pPr>
            <a:r>
              <a:rPr sz="3000" b="1" baseline="-12500" dirty="0">
                <a:latin typeface="Calibri"/>
                <a:cs typeface="Calibri"/>
              </a:rPr>
              <a:t>X</a:t>
            </a:r>
            <a:r>
              <a:rPr sz="3000" b="1" spc="727" baseline="-1250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A[2]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3000" b="1" baseline="-12500" dirty="0">
                <a:latin typeface="Calibri"/>
                <a:cs typeface="Calibri"/>
              </a:rPr>
              <a:t>X</a:t>
            </a:r>
            <a:r>
              <a:rPr sz="3000" b="1" spc="712" baseline="-1250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A[1]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97602" y="3665982"/>
            <a:ext cx="76200" cy="525780"/>
          </a:xfrm>
          <a:custGeom>
            <a:avLst/>
            <a:gdLst/>
            <a:ahLst/>
            <a:cxnLst/>
            <a:rect l="l" t="t" r="r" b="b"/>
            <a:pathLst>
              <a:path w="76200" h="525779">
                <a:moveTo>
                  <a:pt x="25400" y="449072"/>
                </a:moveTo>
                <a:lnTo>
                  <a:pt x="0" y="449072"/>
                </a:lnTo>
                <a:lnTo>
                  <a:pt x="38100" y="525272"/>
                </a:lnTo>
                <a:lnTo>
                  <a:pt x="69850" y="461772"/>
                </a:lnTo>
                <a:lnTo>
                  <a:pt x="25400" y="461772"/>
                </a:lnTo>
                <a:lnTo>
                  <a:pt x="25400" y="449072"/>
                </a:lnTo>
                <a:close/>
              </a:path>
              <a:path w="76200" h="525779">
                <a:moveTo>
                  <a:pt x="50800" y="0"/>
                </a:moveTo>
                <a:lnTo>
                  <a:pt x="25400" y="0"/>
                </a:lnTo>
                <a:lnTo>
                  <a:pt x="25400" y="461772"/>
                </a:lnTo>
                <a:lnTo>
                  <a:pt x="50800" y="461772"/>
                </a:lnTo>
                <a:lnTo>
                  <a:pt x="50800" y="0"/>
                </a:lnTo>
                <a:close/>
              </a:path>
              <a:path w="76200" h="525779">
                <a:moveTo>
                  <a:pt x="76200" y="449072"/>
                </a:moveTo>
                <a:lnTo>
                  <a:pt x="50800" y="449072"/>
                </a:lnTo>
                <a:lnTo>
                  <a:pt x="50800" y="461772"/>
                </a:lnTo>
                <a:lnTo>
                  <a:pt x="69850" y="461772"/>
                </a:lnTo>
                <a:lnTo>
                  <a:pt x="76200" y="449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142738" y="4220667"/>
            <a:ext cx="1981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368546" y="2449829"/>
            <a:ext cx="1560830" cy="1216660"/>
          </a:xfrm>
          <a:custGeom>
            <a:avLst/>
            <a:gdLst/>
            <a:ahLst/>
            <a:cxnLst/>
            <a:rect l="l" t="t" r="r" b="b"/>
            <a:pathLst>
              <a:path w="1560829" h="1216660">
                <a:moveTo>
                  <a:pt x="0" y="1216152"/>
                </a:moveTo>
                <a:lnTo>
                  <a:pt x="1560576" y="1216152"/>
                </a:lnTo>
                <a:lnTo>
                  <a:pt x="1560576" y="0"/>
                </a:lnTo>
                <a:lnTo>
                  <a:pt x="0" y="0"/>
                </a:lnTo>
                <a:lnTo>
                  <a:pt x="0" y="12161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14671" y="2523236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6775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722626" y="1322069"/>
            <a:ext cx="1911350" cy="2870835"/>
            <a:chOff x="2722626" y="1322069"/>
            <a:chExt cx="1911350" cy="2870835"/>
          </a:xfrm>
        </p:grpSpPr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9793" y="2813050"/>
              <a:ext cx="191262" cy="177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39793" y="3134613"/>
              <a:ext cx="194183" cy="1713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22626" y="1322069"/>
              <a:ext cx="1241425" cy="2870835"/>
            </a:xfrm>
            <a:custGeom>
              <a:avLst/>
              <a:gdLst/>
              <a:ahLst/>
              <a:cxnLst/>
              <a:rect l="l" t="t" r="r" b="b"/>
              <a:pathLst>
                <a:path w="1241425" h="2870835">
                  <a:moveTo>
                    <a:pt x="76200" y="1054100"/>
                  </a:moveTo>
                  <a:lnTo>
                    <a:pt x="50800" y="1054100"/>
                  </a:lnTo>
                  <a:lnTo>
                    <a:pt x="50800" y="605028"/>
                  </a:lnTo>
                  <a:lnTo>
                    <a:pt x="25400" y="605028"/>
                  </a:lnTo>
                  <a:lnTo>
                    <a:pt x="25400" y="1054100"/>
                  </a:lnTo>
                  <a:lnTo>
                    <a:pt x="0" y="1054100"/>
                  </a:lnTo>
                  <a:lnTo>
                    <a:pt x="38100" y="1130300"/>
                  </a:lnTo>
                  <a:lnTo>
                    <a:pt x="69850" y="1066800"/>
                  </a:lnTo>
                  <a:lnTo>
                    <a:pt x="76200" y="1054100"/>
                  </a:lnTo>
                  <a:close/>
                </a:path>
                <a:path w="1241425" h="2870835">
                  <a:moveTo>
                    <a:pt x="461772" y="1048004"/>
                  </a:moveTo>
                  <a:lnTo>
                    <a:pt x="436372" y="1048004"/>
                  </a:lnTo>
                  <a:lnTo>
                    <a:pt x="436372" y="598932"/>
                  </a:lnTo>
                  <a:lnTo>
                    <a:pt x="410972" y="598932"/>
                  </a:lnTo>
                  <a:lnTo>
                    <a:pt x="410972" y="1048004"/>
                  </a:lnTo>
                  <a:lnTo>
                    <a:pt x="385572" y="1048004"/>
                  </a:lnTo>
                  <a:lnTo>
                    <a:pt x="423672" y="1124204"/>
                  </a:lnTo>
                  <a:lnTo>
                    <a:pt x="455422" y="1060704"/>
                  </a:lnTo>
                  <a:lnTo>
                    <a:pt x="461772" y="1048004"/>
                  </a:lnTo>
                  <a:close/>
                </a:path>
                <a:path w="1241425" h="2870835">
                  <a:moveTo>
                    <a:pt x="675132" y="2794508"/>
                  </a:moveTo>
                  <a:lnTo>
                    <a:pt x="649732" y="2794508"/>
                  </a:lnTo>
                  <a:lnTo>
                    <a:pt x="649732" y="2345436"/>
                  </a:lnTo>
                  <a:lnTo>
                    <a:pt x="624332" y="2345436"/>
                  </a:lnTo>
                  <a:lnTo>
                    <a:pt x="624332" y="2794508"/>
                  </a:lnTo>
                  <a:lnTo>
                    <a:pt x="598932" y="2794508"/>
                  </a:lnTo>
                  <a:lnTo>
                    <a:pt x="637032" y="2870708"/>
                  </a:lnTo>
                  <a:lnTo>
                    <a:pt x="668782" y="2807208"/>
                  </a:lnTo>
                  <a:lnTo>
                    <a:pt x="675132" y="2794508"/>
                  </a:lnTo>
                  <a:close/>
                </a:path>
                <a:path w="1241425" h="2870835">
                  <a:moveTo>
                    <a:pt x="831088" y="1048258"/>
                  </a:moveTo>
                  <a:lnTo>
                    <a:pt x="805637" y="1048131"/>
                  </a:lnTo>
                  <a:lnTo>
                    <a:pt x="810641" y="271399"/>
                  </a:lnTo>
                  <a:lnTo>
                    <a:pt x="785241" y="271145"/>
                  </a:lnTo>
                  <a:lnTo>
                    <a:pt x="780237" y="1048004"/>
                  </a:lnTo>
                  <a:lnTo>
                    <a:pt x="754938" y="1048004"/>
                  </a:lnTo>
                  <a:lnTo>
                    <a:pt x="792480" y="1124331"/>
                  </a:lnTo>
                  <a:lnTo>
                    <a:pt x="824699" y="1060831"/>
                  </a:lnTo>
                  <a:lnTo>
                    <a:pt x="831088" y="1048258"/>
                  </a:lnTo>
                  <a:close/>
                </a:path>
                <a:path w="1241425" h="2870835">
                  <a:moveTo>
                    <a:pt x="1241298" y="1053973"/>
                  </a:moveTo>
                  <a:lnTo>
                    <a:pt x="1215885" y="1053973"/>
                  </a:lnTo>
                  <a:lnTo>
                    <a:pt x="1215136" y="0"/>
                  </a:lnTo>
                  <a:lnTo>
                    <a:pt x="1189736" y="0"/>
                  </a:lnTo>
                  <a:lnTo>
                    <a:pt x="1190485" y="1053973"/>
                  </a:lnTo>
                  <a:lnTo>
                    <a:pt x="1165098" y="1053973"/>
                  </a:lnTo>
                  <a:lnTo>
                    <a:pt x="1203325" y="1130173"/>
                  </a:lnTo>
                  <a:lnTo>
                    <a:pt x="1234960" y="1066673"/>
                  </a:lnTo>
                  <a:lnTo>
                    <a:pt x="1241298" y="10539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982590" y="2946273"/>
            <a:ext cx="4889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66313" y="4222444"/>
            <a:ext cx="1981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492501" y="2451354"/>
            <a:ext cx="1560830" cy="1216660"/>
          </a:xfrm>
          <a:custGeom>
            <a:avLst/>
            <a:gdLst/>
            <a:ahLst/>
            <a:cxnLst/>
            <a:rect l="l" t="t" r="r" b="b"/>
            <a:pathLst>
              <a:path w="1560829" h="1216660">
                <a:moveTo>
                  <a:pt x="0" y="1216152"/>
                </a:moveTo>
                <a:lnTo>
                  <a:pt x="1560576" y="1216152"/>
                </a:lnTo>
                <a:lnTo>
                  <a:pt x="1560576" y="0"/>
                </a:lnTo>
                <a:lnTo>
                  <a:pt x="0" y="0"/>
                </a:lnTo>
                <a:lnTo>
                  <a:pt x="0" y="1216152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738373" y="2525013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6775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288541" y="1322069"/>
            <a:ext cx="1470025" cy="1985645"/>
            <a:chOff x="1288541" y="1322069"/>
            <a:chExt cx="1470025" cy="1985645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63875" y="2814827"/>
              <a:ext cx="191262" cy="177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63875" y="3136391"/>
              <a:ext cx="194182" cy="171323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288542" y="1322069"/>
              <a:ext cx="854710" cy="1120775"/>
            </a:xfrm>
            <a:custGeom>
              <a:avLst/>
              <a:gdLst/>
              <a:ahLst/>
              <a:cxnLst/>
              <a:rect l="l" t="t" r="r" b="b"/>
              <a:pathLst>
                <a:path w="854710" h="1120775">
                  <a:moveTo>
                    <a:pt x="76200" y="1037336"/>
                  </a:moveTo>
                  <a:lnTo>
                    <a:pt x="50800" y="1037336"/>
                  </a:lnTo>
                  <a:lnTo>
                    <a:pt x="50800" y="588264"/>
                  </a:lnTo>
                  <a:lnTo>
                    <a:pt x="25400" y="588264"/>
                  </a:lnTo>
                  <a:lnTo>
                    <a:pt x="25400" y="1037336"/>
                  </a:lnTo>
                  <a:lnTo>
                    <a:pt x="0" y="1037336"/>
                  </a:lnTo>
                  <a:lnTo>
                    <a:pt x="38100" y="1113536"/>
                  </a:lnTo>
                  <a:lnTo>
                    <a:pt x="69850" y="1050036"/>
                  </a:lnTo>
                  <a:lnTo>
                    <a:pt x="76200" y="1037336"/>
                  </a:lnTo>
                  <a:close/>
                </a:path>
                <a:path w="854710" h="1120775">
                  <a:moveTo>
                    <a:pt x="445008" y="1037209"/>
                  </a:moveTo>
                  <a:lnTo>
                    <a:pt x="419608" y="1037209"/>
                  </a:lnTo>
                  <a:lnTo>
                    <a:pt x="419608" y="344424"/>
                  </a:lnTo>
                  <a:lnTo>
                    <a:pt x="394208" y="344424"/>
                  </a:lnTo>
                  <a:lnTo>
                    <a:pt x="394208" y="1037209"/>
                  </a:lnTo>
                  <a:lnTo>
                    <a:pt x="368808" y="1037209"/>
                  </a:lnTo>
                  <a:lnTo>
                    <a:pt x="406908" y="1113409"/>
                  </a:lnTo>
                  <a:lnTo>
                    <a:pt x="438658" y="1049909"/>
                  </a:lnTo>
                  <a:lnTo>
                    <a:pt x="445008" y="1037209"/>
                  </a:lnTo>
                  <a:close/>
                </a:path>
                <a:path w="854710" h="1120775">
                  <a:moveTo>
                    <a:pt x="854138" y="1044067"/>
                  </a:moveTo>
                  <a:lnTo>
                    <a:pt x="828789" y="1044067"/>
                  </a:lnTo>
                  <a:lnTo>
                    <a:pt x="828040" y="0"/>
                  </a:lnTo>
                  <a:lnTo>
                    <a:pt x="802640" y="0"/>
                  </a:lnTo>
                  <a:lnTo>
                    <a:pt x="803389" y="1044067"/>
                  </a:lnTo>
                  <a:lnTo>
                    <a:pt x="778002" y="1044067"/>
                  </a:lnTo>
                  <a:lnTo>
                    <a:pt x="816229" y="1120267"/>
                  </a:lnTo>
                  <a:lnTo>
                    <a:pt x="847813" y="1056767"/>
                  </a:lnTo>
                  <a:lnTo>
                    <a:pt x="854138" y="10440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106166" y="2948177"/>
            <a:ext cx="48895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 </a:t>
            </a: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56791" y="1637157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02969" y="1916429"/>
            <a:ext cx="76200" cy="525780"/>
          </a:xfrm>
          <a:custGeom>
            <a:avLst/>
            <a:gdLst/>
            <a:ahLst/>
            <a:cxnLst/>
            <a:rect l="l" t="t" r="r" b="b"/>
            <a:pathLst>
              <a:path w="76200" h="525780">
                <a:moveTo>
                  <a:pt x="25400" y="449072"/>
                </a:moveTo>
                <a:lnTo>
                  <a:pt x="0" y="449072"/>
                </a:lnTo>
                <a:lnTo>
                  <a:pt x="38100" y="525272"/>
                </a:lnTo>
                <a:lnTo>
                  <a:pt x="69850" y="461772"/>
                </a:lnTo>
                <a:lnTo>
                  <a:pt x="25400" y="461772"/>
                </a:lnTo>
                <a:lnTo>
                  <a:pt x="25400" y="449072"/>
                </a:lnTo>
                <a:close/>
              </a:path>
              <a:path w="76200" h="525780">
                <a:moveTo>
                  <a:pt x="50800" y="0"/>
                </a:moveTo>
                <a:lnTo>
                  <a:pt x="25400" y="0"/>
                </a:lnTo>
                <a:lnTo>
                  <a:pt x="25400" y="461772"/>
                </a:lnTo>
                <a:lnTo>
                  <a:pt x="50800" y="461772"/>
                </a:lnTo>
                <a:lnTo>
                  <a:pt x="50800" y="0"/>
                </a:lnTo>
                <a:close/>
              </a:path>
              <a:path w="76200" h="525780">
                <a:moveTo>
                  <a:pt x="76200" y="449072"/>
                </a:moveTo>
                <a:lnTo>
                  <a:pt x="50800" y="449072"/>
                </a:lnTo>
                <a:lnTo>
                  <a:pt x="50800" y="461772"/>
                </a:lnTo>
                <a:lnTo>
                  <a:pt x="69850" y="461772"/>
                </a:lnTo>
                <a:lnTo>
                  <a:pt x="76200" y="449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48969" y="1665477"/>
            <a:ext cx="1657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501902" y="3656838"/>
            <a:ext cx="76200" cy="525780"/>
          </a:xfrm>
          <a:custGeom>
            <a:avLst/>
            <a:gdLst/>
            <a:ahLst/>
            <a:cxnLst/>
            <a:rect l="l" t="t" r="r" b="b"/>
            <a:pathLst>
              <a:path w="76200" h="525779">
                <a:moveTo>
                  <a:pt x="25400" y="449072"/>
                </a:moveTo>
                <a:lnTo>
                  <a:pt x="0" y="449072"/>
                </a:lnTo>
                <a:lnTo>
                  <a:pt x="38100" y="525272"/>
                </a:lnTo>
                <a:lnTo>
                  <a:pt x="69850" y="461772"/>
                </a:lnTo>
                <a:lnTo>
                  <a:pt x="25400" y="461772"/>
                </a:lnTo>
                <a:lnTo>
                  <a:pt x="25400" y="449072"/>
                </a:lnTo>
                <a:close/>
              </a:path>
              <a:path w="76200" h="525779">
                <a:moveTo>
                  <a:pt x="50800" y="0"/>
                </a:moveTo>
                <a:lnTo>
                  <a:pt x="25400" y="0"/>
                </a:lnTo>
                <a:lnTo>
                  <a:pt x="25400" y="461772"/>
                </a:lnTo>
                <a:lnTo>
                  <a:pt x="50800" y="461772"/>
                </a:lnTo>
                <a:lnTo>
                  <a:pt x="50800" y="0"/>
                </a:lnTo>
                <a:close/>
              </a:path>
              <a:path w="76200" h="525779">
                <a:moveTo>
                  <a:pt x="76200" y="449072"/>
                </a:moveTo>
                <a:lnTo>
                  <a:pt x="50800" y="449072"/>
                </a:lnTo>
                <a:lnTo>
                  <a:pt x="50800" y="461772"/>
                </a:lnTo>
                <a:lnTo>
                  <a:pt x="69850" y="461772"/>
                </a:lnTo>
                <a:lnTo>
                  <a:pt x="76200" y="4490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446402" y="4213097"/>
            <a:ext cx="1981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Calibri"/>
                <a:cs typeface="Calibri"/>
              </a:rPr>
              <a:t>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72845" y="2442210"/>
            <a:ext cx="1560830" cy="1214755"/>
          </a:xfrm>
          <a:custGeom>
            <a:avLst/>
            <a:gdLst/>
            <a:ahLst/>
            <a:cxnLst/>
            <a:rect l="l" t="t" r="r" b="b"/>
            <a:pathLst>
              <a:path w="1560830" h="1214754">
                <a:moveTo>
                  <a:pt x="0" y="1214627"/>
                </a:moveTo>
                <a:lnTo>
                  <a:pt x="1560576" y="1214627"/>
                </a:lnTo>
                <a:lnTo>
                  <a:pt x="1560576" y="0"/>
                </a:lnTo>
                <a:lnTo>
                  <a:pt x="0" y="0"/>
                </a:lnTo>
                <a:lnTo>
                  <a:pt x="0" y="1214627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918362" y="2514980"/>
            <a:ext cx="1301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432434" algn="l"/>
                <a:tab pos="867410" algn="l"/>
                <a:tab pos="1167130" algn="l"/>
              </a:tabLst>
            </a:pPr>
            <a:r>
              <a:rPr sz="1600" spc="-50" dirty="0">
                <a:latin typeface="Cambria Math"/>
                <a:cs typeface="Cambria Math"/>
              </a:rPr>
              <a:t>𝟑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𝟐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𝟏</a:t>
            </a:r>
            <a:r>
              <a:rPr sz="1600" dirty="0">
                <a:latin typeface="Cambria Math"/>
                <a:cs typeface="Cambria Math"/>
              </a:rPr>
              <a:t>	</a:t>
            </a:r>
            <a:r>
              <a:rPr sz="1600" spc="-50" dirty="0">
                <a:latin typeface="Cambria Math"/>
                <a:cs typeface="Cambria Math"/>
              </a:rPr>
              <a:t>𝟎</a:t>
            </a:r>
            <a:endParaRPr sz="1600">
              <a:latin typeface="Cambria Math"/>
              <a:cs typeface="Cambria Math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94970" y="2804795"/>
            <a:ext cx="8812530" cy="2440305"/>
            <a:chOff x="394970" y="2804795"/>
            <a:chExt cx="8812530" cy="2440305"/>
          </a:xfrm>
        </p:grpSpPr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4118" y="2804795"/>
              <a:ext cx="191274" cy="17792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4118" y="3126359"/>
              <a:ext cx="194170" cy="17145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190237" y="2913126"/>
              <a:ext cx="1998345" cy="2226310"/>
            </a:xfrm>
            <a:custGeom>
              <a:avLst/>
              <a:gdLst/>
              <a:ahLst/>
              <a:cxnLst/>
              <a:rect l="l" t="t" r="r" b="b"/>
              <a:pathLst>
                <a:path w="1998345" h="2226310">
                  <a:moveTo>
                    <a:pt x="1906524" y="0"/>
                  </a:moveTo>
                  <a:lnTo>
                    <a:pt x="1906524" y="1985010"/>
                  </a:lnTo>
                </a:path>
                <a:path w="1998345" h="2226310">
                  <a:moveTo>
                    <a:pt x="1997964" y="240791"/>
                  </a:moveTo>
                  <a:lnTo>
                    <a:pt x="1997964" y="2225802"/>
                  </a:lnTo>
                </a:path>
                <a:path w="1998345" h="2226310">
                  <a:moveTo>
                    <a:pt x="85344" y="240791"/>
                  </a:moveTo>
                  <a:lnTo>
                    <a:pt x="85344" y="2225802"/>
                  </a:lnTo>
                </a:path>
                <a:path w="1998345" h="2226310">
                  <a:moveTo>
                    <a:pt x="0" y="9144"/>
                  </a:moveTo>
                  <a:lnTo>
                    <a:pt x="0" y="199415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8046" y="2870454"/>
              <a:ext cx="179450" cy="762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80154" y="3124962"/>
              <a:ext cx="83566" cy="762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332481" y="2922270"/>
              <a:ext cx="85725" cy="2216785"/>
            </a:xfrm>
            <a:custGeom>
              <a:avLst/>
              <a:gdLst/>
              <a:ahLst/>
              <a:cxnLst/>
              <a:rect l="l" t="t" r="r" b="b"/>
              <a:pathLst>
                <a:path w="85725" h="2216785">
                  <a:moveTo>
                    <a:pt x="85343" y="231647"/>
                  </a:moveTo>
                  <a:lnTo>
                    <a:pt x="85343" y="2216657"/>
                  </a:lnTo>
                </a:path>
                <a:path w="85725" h="2216785">
                  <a:moveTo>
                    <a:pt x="0" y="0"/>
                  </a:moveTo>
                  <a:lnTo>
                    <a:pt x="0" y="198500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0290" y="2870454"/>
              <a:ext cx="179451" cy="76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22397" y="3124962"/>
              <a:ext cx="83565" cy="762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15874" y="2939034"/>
              <a:ext cx="85725" cy="2215515"/>
            </a:xfrm>
            <a:custGeom>
              <a:avLst/>
              <a:gdLst/>
              <a:ahLst/>
              <a:cxnLst/>
              <a:rect l="l" t="t" r="r" b="b"/>
              <a:pathLst>
                <a:path w="85725" h="2215515">
                  <a:moveTo>
                    <a:pt x="85344" y="230124"/>
                  </a:moveTo>
                  <a:lnTo>
                    <a:pt x="85344" y="2215134"/>
                  </a:lnTo>
                </a:path>
                <a:path w="85725" h="2215515">
                  <a:moveTo>
                    <a:pt x="0" y="0"/>
                  </a:moveTo>
                  <a:lnTo>
                    <a:pt x="0" y="198500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2157" y="2887218"/>
              <a:ext cx="179451" cy="762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5790" y="3141726"/>
              <a:ext cx="83578" cy="76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07670" y="4908042"/>
              <a:ext cx="5779135" cy="236854"/>
            </a:xfrm>
            <a:custGeom>
              <a:avLst/>
              <a:gdLst/>
              <a:ahLst/>
              <a:cxnLst/>
              <a:rect l="l" t="t" r="r" b="b"/>
              <a:pathLst>
                <a:path w="5779135" h="236854">
                  <a:moveTo>
                    <a:pt x="5710935" y="0"/>
                  </a:moveTo>
                  <a:lnTo>
                    <a:pt x="0" y="16382"/>
                  </a:lnTo>
                </a:path>
                <a:path w="5779135" h="236854">
                  <a:moveTo>
                    <a:pt x="5778881" y="224027"/>
                  </a:moveTo>
                  <a:lnTo>
                    <a:pt x="0" y="23685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65617" y="3592195"/>
              <a:ext cx="1335405" cy="1148715"/>
            </a:xfrm>
            <a:custGeom>
              <a:avLst/>
              <a:gdLst/>
              <a:ahLst/>
              <a:cxnLst/>
              <a:rect l="l" t="t" r="r" b="b"/>
              <a:pathLst>
                <a:path w="1335404" h="1148714">
                  <a:moveTo>
                    <a:pt x="216534" y="0"/>
                  </a:moveTo>
                  <a:lnTo>
                    <a:pt x="0" y="281939"/>
                  </a:lnTo>
                  <a:lnTo>
                    <a:pt x="944879" y="1007490"/>
                  </a:lnTo>
                  <a:lnTo>
                    <a:pt x="836676" y="1148460"/>
                  </a:lnTo>
                  <a:lnTo>
                    <a:pt x="1335024" y="1083055"/>
                  </a:lnTo>
                  <a:lnTo>
                    <a:pt x="1269618" y="584707"/>
                  </a:lnTo>
                  <a:lnTo>
                    <a:pt x="1161414" y="725677"/>
                  </a:lnTo>
                  <a:lnTo>
                    <a:pt x="21653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865617" y="3592195"/>
              <a:ext cx="1335405" cy="1148715"/>
            </a:xfrm>
            <a:custGeom>
              <a:avLst/>
              <a:gdLst/>
              <a:ahLst/>
              <a:cxnLst/>
              <a:rect l="l" t="t" r="r" b="b"/>
              <a:pathLst>
                <a:path w="1335404" h="1148714">
                  <a:moveTo>
                    <a:pt x="216534" y="0"/>
                  </a:moveTo>
                  <a:lnTo>
                    <a:pt x="1161414" y="725677"/>
                  </a:lnTo>
                  <a:lnTo>
                    <a:pt x="1269618" y="584707"/>
                  </a:lnTo>
                  <a:lnTo>
                    <a:pt x="1335024" y="1083055"/>
                  </a:lnTo>
                  <a:lnTo>
                    <a:pt x="836676" y="1148460"/>
                  </a:lnTo>
                  <a:lnTo>
                    <a:pt x="944879" y="1007490"/>
                  </a:lnTo>
                  <a:lnTo>
                    <a:pt x="0" y="281939"/>
                  </a:lnTo>
                  <a:lnTo>
                    <a:pt x="216534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971281" y="5168646"/>
              <a:ext cx="711200" cy="76200"/>
            </a:xfrm>
            <a:custGeom>
              <a:avLst/>
              <a:gdLst/>
              <a:ahLst/>
              <a:cxnLst/>
              <a:rect l="l" t="t" r="r" b="b"/>
              <a:pathLst>
                <a:path w="711200" h="76200">
                  <a:moveTo>
                    <a:pt x="635000" y="0"/>
                  </a:moveTo>
                  <a:lnTo>
                    <a:pt x="635000" y="76199"/>
                  </a:lnTo>
                  <a:lnTo>
                    <a:pt x="685800" y="50799"/>
                  </a:lnTo>
                  <a:lnTo>
                    <a:pt x="647700" y="50799"/>
                  </a:lnTo>
                  <a:lnTo>
                    <a:pt x="647700" y="25399"/>
                  </a:lnTo>
                  <a:lnTo>
                    <a:pt x="685800" y="25399"/>
                  </a:lnTo>
                  <a:lnTo>
                    <a:pt x="635000" y="0"/>
                  </a:lnTo>
                  <a:close/>
                </a:path>
                <a:path w="711200" h="76200">
                  <a:moveTo>
                    <a:pt x="635000" y="25399"/>
                  </a:moveTo>
                  <a:lnTo>
                    <a:pt x="0" y="25399"/>
                  </a:lnTo>
                  <a:lnTo>
                    <a:pt x="0" y="50799"/>
                  </a:lnTo>
                  <a:lnTo>
                    <a:pt x="635000" y="50799"/>
                  </a:lnTo>
                  <a:lnTo>
                    <a:pt x="635000" y="25399"/>
                  </a:lnTo>
                  <a:close/>
                </a:path>
                <a:path w="711200" h="76200">
                  <a:moveTo>
                    <a:pt x="685800" y="25399"/>
                  </a:moveTo>
                  <a:lnTo>
                    <a:pt x="647700" y="25399"/>
                  </a:lnTo>
                  <a:lnTo>
                    <a:pt x="647700" y="50799"/>
                  </a:lnTo>
                  <a:lnTo>
                    <a:pt x="685800" y="50799"/>
                  </a:lnTo>
                  <a:lnTo>
                    <a:pt x="711200" y="38099"/>
                  </a:lnTo>
                  <a:lnTo>
                    <a:pt x="685800" y="253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286255" y="2937713"/>
            <a:ext cx="488950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60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600" b="1" spc="-25" dirty="0"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643504" y="983437"/>
            <a:ext cx="1555115" cy="9652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7435">
              <a:lnSpc>
                <a:spcPts val="2270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A[2]</a:t>
            </a:r>
            <a:endParaRPr sz="2000">
              <a:latin typeface="Calibri"/>
              <a:cs typeface="Calibri"/>
            </a:endParaRPr>
          </a:p>
          <a:p>
            <a:pPr marL="628650">
              <a:lnSpc>
                <a:spcPts val="2270"/>
              </a:lnSpc>
            </a:pPr>
            <a:r>
              <a:rPr sz="2000" b="1" spc="-20" dirty="0">
                <a:latin typeface="Calibri"/>
                <a:cs typeface="Calibri"/>
              </a:rPr>
              <a:t>A[1]</a:t>
            </a:r>
            <a:endParaRPr sz="20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55"/>
              </a:spcBef>
            </a:pPr>
            <a:r>
              <a:rPr sz="3000" b="1" baseline="-12500" dirty="0">
                <a:latin typeface="Calibri"/>
                <a:cs typeface="Calibri"/>
              </a:rPr>
              <a:t>X</a:t>
            </a:r>
            <a:r>
              <a:rPr sz="3000" b="1" spc="615" baseline="-1250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A[3]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468627" y="972057"/>
            <a:ext cx="923290" cy="59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1009">
              <a:lnSpc>
                <a:spcPts val="2255"/>
              </a:lnSpc>
              <a:spcBef>
                <a:spcPts val="105"/>
              </a:spcBef>
            </a:pPr>
            <a:r>
              <a:rPr sz="2000" b="1" spc="-20" dirty="0">
                <a:latin typeface="Calibri"/>
                <a:cs typeface="Calibri"/>
              </a:rPr>
              <a:t>A[3]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55"/>
              </a:lnSpc>
            </a:pPr>
            <a:r>
              <a:rPr sz="2000" b="1" spc="-20" dirty="0">
                <a:latin typeface="Calibri"/>
                <a:cs typeface="Calibri"/>
              </a:rPr>
              <a:t>A[2]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682990" y="4897373"/>
            <a:ext cx="1696720" cy="125476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19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60"/>
              </a:spcBef>
            </a:pPr>
            <a:endParaRPr sz="2400">
              <a:latin typeface="Times New Roman"/>
              <a:cs typeface="Times New Roman"/>
            </a:endParaRPr>
          </a:p>
          <a:p>
            <a:pPr marL="484505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SHIFT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379202" y="5407914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1108563" y="5219827"/>
            <a:ext cx="78994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10" dirty="0">
                <a:latin typeface="Calibri"/>
                <a:cs typeface="Calibri"/>
              </a:rPr>
              <a:t>O[3:0]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7994142" y="5517641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7178167" y="4966842"/>
            <a:ext cx="768350" cy="111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685"/>
              </a:lnSpc>
              <a:spcBef>
                <a:spcPts val="100"/>
              </a:spcBef>
            </a:pPr>
            <a:r>
              <a:rPr sz="2300" b="1" spc="-10" dirty="0">
                <a:latin typeface="Calibri"/>
                <a:cs typeface="Calibri"/>
              </a:rPr>
              <a:t>A[3:0]</a:t>
            </a:r>
            <a:endParaRPr sz="2300">
              <a:latin typeface="Calibri"/>
              <a:cs typeface="Calibri"/>
            </a:endParaRPr>
          </a:p>
          <a:p>
            <a:pPr marR="33655" algn="r">
              <a:lnSpc>
                <a:spcPts val="2805"/>
              </a:lnSpc>
            </a:pPr>
            <a:r>
              <a:rPr sz="2400" b="1" spc="-20" dirty="0">
                <a:latin typeface="Calibri"/>
                <a:cs typeface="Calibri"/>
              </a:rPr>
              <a:t>S[1]</a:t>
            </a:r>
            <a:endParaRPr sz="2400">
              <a:latin typeface="Calibri"/>
              <a:cs typeface="Calibri"/>
            </a:endParaRPr>
          </a:p>
          <a:p>
            <a:pPr marR="33655" algn="r">
              <a:lnSpc>
                <a:spcPct val="100000"/>
              </a:lnSpc>
              <a:spcBef>
                <a:spcPts val="200"/>
              </a:spcBef>
            </a:pPr>
            <a:r>
              <a:rPr sz="2400" b="1" spc="-20" dirty="0">
                <a:latin typeface="Calibri"/>
                <a:cs typeface="Calibri"/>
              </a:rPr>
              <a:t>S[0]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971281" y="5900165"/>
            <a:ext cx="711200" cy="76200"/>
          </a:xfrm>
          <a:custGeom>
            <a:avLst/>
            <a:gdLst/>
            <a:ahLst/>
            <a:cxnLst/>
            <a:rect l="l" t="t" r="r" b="b"/>
            <a:pathLst>
              <a:path w="711200" h="76200">
                <a:moveTo>
                  <a:pt x="635000" y="0"/>
                </a:moveTo>
                <a:lnTo>
                  <a:pt x="635000" y="76200"/>
                </a:lnTo>
                <a:lnTo>
                  <a:pt x="685800" y="50800"/>
                </a:lnTo>
                <a:lnTo>
                  <a:pt x="647700" y="50800"/>
                </a:lnTo>
                <a:lnTo>
                  <a:pt x="647700" y="25400"/>
                </a:lnTo>
                <a:lnTo>
                  <a:pt x="685800" y="25400"/>
                </a:lnTo>
                <a:lnTo>
                  <a:pt x="635000" y="0"/>
                </a:lnTo>
                <a:close/>
              </a:path>
              <a:path w="711200" h="76200">
                <a:moveTo>
                  <a:pt x="63500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35000" y="50800"/>
                </a:lnTo>
                <a:lnTo>
                  <a:pt x="635000" y="25400"/>
                </a:lnTo>
                <a:close/>
              </a:path>
              <a:path w="711200" h="76200">
                <a:moveTo>
                  <a:pt x="685800" y="25400"/>
                </a:moveTo>
                <a:lnTo>
                  <a:pt x="647700" y="25400"/>
                </a:lnTo>
                <a:lnTo>
                  <a:pt x="647700" y="50800"/>
                </a:lnTo>
                <a:lnTo>
                  <a:pt x="685800" y="50800"/>
                </a:lnTo>
                <a:lnTo>
                  <a:pt x="711200" y="38100"/>
                </a:lnTo>
                <a:lnTo>
                  <a:pt x="68580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8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alibri Light"/>
                <a:cs typeface="Calibri Light"/>
              </a:rPr>
              <a:t>All</a:t>
            </a:r>
            <a:r>
              <a:rPr b="0" spc="-140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the</a:t>
            </a:r>
            <a:r>
              <a:rPr b="0" spc="-165" dirty="0">
                <a:latin typeface="Calibri Light"/>
                <a:cs typeface="Calibri Light"/>
              </a:rPr>
              <a:t> </a:t>
            </a:r>
            <a:r>
              <a:rPr b="0" spc="-30" dirty="0">
                <a:latin typeface="Calibri Light"/>
                <a:cs typeface="Calibri Light"/>
              </a:rPr>
              <a:t>circuits</a:t>
            </a:r>
            <a:r>
              <a:rPr b="0" spc="-160" dirty="0">
                <a:latin typeface="Calibri Light"/>
                <a:cs typeface="Calibri Light"/>
              </a:rPr>
              <a:t> </a:t>
            </a:r>
            <a:r>
              <a:rPr b="0" dirty="0">
                <a:latin typeface="Calibri Light"/>
                <a:cs typeface="Calibri Light"/>
              </a:rPr>
              <a:t>so</a:t>
            </a:r>
            <a:r>
              <a:rPr b="0" spc="-155" dirty="0">
                <a:latin typeface="Calibri Light"/>
                <a:cs typeface="Calibri Light"/>
              </a:rPr>
              <a:t> </a:t>
            </a:r>
            <a:r>
              <a:rPr b="0" spc="-25" dirty="0">
                <a:latin typeface="Calibri Light"/>
                <a:cs typeface="Calibri Light"/>
              </a:rPr>
              <a:t>far</a:t>
            </a:r>
          </a:p>
        </p:txBody>
      </p:sp>
      <p:sp>
        <p:nvSpPr>
          <p:cNvPr id="3" name="object 3"/>
          <p:cNvSpPr/>
          <p:nvPr/>
        </p:nvSpPr>
        <p:spPr>
          <a:xfrm>
            <a:off x="1585722" y="3641597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9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9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9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9" y="50800"/>
                </a:lnTo>
                <a:lnTo>
                  <a:pt x="562229" y="38100"/>
                </a:lnTo>
                <a:lnTo>
                  <a:pt x="53682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93341" y="4039361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9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9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9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9" y="50800"/>
                </a:lnTo>
                <a:lnTo>
                  <a:pt x="562229" y="38100"/>
                </a:lnTo>
                <a:lnTo>
                  <a:pt x="53682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65708" y="3390798"/>
            <a:ext cx="544195" cy="1141730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10"/>
              </a:spcBef>
            </a:pPr>
            <a:r>
              <a:rPr sz="1600" b="1" spc="-10" dirty="0">
                <a:latin typeface="Calibri"/>
                <a:cs typeface="Calibri"/>
              </a:rPr>
              <a:t>A[3:0]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1600" b="1" spc="-10" dirty="0">
                <a:latin typeface="Calibri"/>
                <a:cs typeface="Calibri"/>
              </a:rPr>
              <a:t>B[3:0]</a:t>
            </a:r>
            <a:endParaRPr sz="1600">
              <a:latin typeface="Calibri"/>
              <a:cs typeface="Calibri"/>
            </a:endParaRPr>
          </a:p>
          <a:p>
            <a:pPr marL="234315">
              <a:lnSpc>
                <a:spcPct val="100000"/>
              </a:lnSpc>
              <a:spcBef>
                <a:spcPts val="765"/>
              </a:spcBef>
            </a:pPr>
            <a:r>
              <a:rPr sz="1800" b="1" spc="-25" dirty="0">
                <a:latin typeface="Calibri"/>
                <a:cs typeface="Calibri"/>
              </a:rPr>
              <a:t>Sel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8077" y="3440429"/>
            <a:ext cx="1341120" cy="112331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670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15"/>
              </a:spcBef>
            </a:pPr>
            <a:endParaRPr sz="1800">
              <a:latin typeface="Times New Roman"/>
              <a:cs typeface="Times New Roman"/>
            </a:endParaRPr>
          </a:p>
          <a:p>
            <a:pPr marL="21653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ADD/SUB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89197" y="4094226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8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8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8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8" y="50800"/>
                </a:lnTo>
                <a:lnTo>
                  <a:pt x="562228" y="38100"/>
                </a:lnTo>
                <a:lnTo>
                  <a:pt x="53682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76827" y="3974338"/>
            <a:ext cx="577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93341" y="4382261"/>
            <a:ext cx="562610" cy="76200"/>
          </a:xfrm>
          <a:custGeom>
            <a:avLst/>
            <a:gdLst/>
            <a:ahLst/>
            <a:cxnLst/>
            <a:rect l="l" t="t" r="r" b="b"/>
            <a:pathLst>
              <a:path w="562610" h="76200">
                <a:moveTo>
                  <a:pt x="486028" y="0"/>
                </a:moveTo>
                <a:lnTo>
                  <a:pt x="486028" y="76200"/>
                </a:lnTo>
                <a:lnTo>
                  <a:pt x="536829" y="50800"/>
                </a:lnTo>
                <a:lnTo>
                  <a:pt x="498728" y="50800"/>
                </a:lnTo>
                <a:lnTo>
                  <a:pt x="498728" y="25400"/>
                </a:lnTo>
                <a:lnTo>
                  <a:pt x="536829" y="25400"/>
                </a:lnTo>
                <a:lnTo>
                  <a:pt x="486028" y="0"/>
                </a:lnTo>
                <a:close/>
              </a:path>
              <a:path w="562610" h="76200">
                <a:moveTo>
                  <a:pt x="486028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86028" y="50800"/>
                </a:lnTo>
                <a:lnTo>
                  <a:pt x="486028" y="25400"/>
                </a:lnTo>
                <a:close/>
              </a:path>
              <a:path w="562610" h="76200">
                <a:moveTo>
                  <a:pt x="536829" y="25400"/>
                </a:moveTo>
                <a:lnTo>
                  <a:pt x="498728" y="25400"/>
                </a:lnTo>
                <a:lnTo>
                  <a:pt x="498728" y="50800"/>
                </a:lnTo>
                <a:lnTo>
                  <a:pt x="536829" y="50800"/>
                </a:lnTo>
                <a:lnTo>
                  <a:pt x="562229" y="38100"/>
                </a:lnTo>
                <a:lnTo>
                  <a:pt x="53682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18226" y="3723894"/>
            <a:ext cx="372745" cy="76200"/>
          </a:xfrm>
          <a:custGeom>
            <a:avLst/>
            <a:gdLst/>
            <a:ahLst/>
            <a:cxnLst/>
            <a:rect l="l" t="t" r="r" b="b"/>
            <a:pathLst>
              <a:path w="372745" h="76200">
                <a:moveTo>
                  <a:pt x="296037" y="0"/>
                </a:moveTo>
                <a:lnTo>
                  <a:pt x="296037" y="76199"/>
                </a:lnTo>
                <a:lnTo>
                  <a:pt x="346837" y="50799"/>
                </a:lnTo>
                <a:lnTo>
                  <a:pt x="308737" y="50799"/>
                </a:lnTo>
                <a:lnTo>
                  <a:pt x="308737" y="25399"/>
                </a:lnTo>
                <a:lnTo>
                  <a:pt x="346837" y="25399"/>
                </a:lnTo>
                <a:lnTo>
                  <a:pt x="296037" y="0"/>
                </a:lnTo>
                <a:close/>
              </a:path>
              <a:path w="372745" h="76200">
                <a:moveTo>
                  <a:pt x="29603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296037" y="50799"/>
                </a:lnTo>
                <a:lnTo>
                  <a:pt x="296037" y="25399"/>
                </a:lnTo>
                <a:close/>
              </a:path>
              <a:path w="372745" h="76200">
                <a:moveTo>
                  <a:pt x="346837" y="25399"/>
                </a:moveTo>
                <a:lnTo>
                  <a:pt x="308737" y="25399"/>
                </a:lnTo>
                <a:lnTo>
                  <a:pt x="308737" y="50799"/>
                </a:lnTo>
                <a:lnTo>
                  <a:pt x="346837" y="50799"/>
                </a:lnTo>
                <a:lnTo>
                  <a:pt x="372237" y="38099"/>
                </a:lnTo>
                <a:lnTo>
                  <a:pt x="34683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18226" y="4213097"/>
            <a:ext cx="372745" cy="76200"/>
          </a:xfrm>
          <a:custGeom>
            <a:avLst/>
            <a:gdLst/>
            <a:ahLst/>
            <a:cxnLst/>
            <a:rect l="l" t="t" r="r" b="b"/>
            <a:pathLst>
              <a:path w="372745" h="76200">
                <a:moveTo>
                  <a:pt x="296037" y="0"/>
                </a:moveTo>
                <a:lnTo>
                  <a:pt x="296037" y="76200"/>
                </a:lnTo>
                <a:lnTo>
                  <a:pt x="346837" y="50800"/>
                </a:lnTo>
                <a:lnTo>
                  <a:pt x="308737" y="50800"/>
                </a:lnTo>
                <a:lnTo>
                  <a:pt x="308737" y="25400"/>
                </a:lnTo>
                <a:lnTo>
                  <a:pt x="346837" y="25400"/>
                </a:lnTo>
                <a:lnTo>
                  <a:pt x="296037" y="0"/>
                </a:lnTo>
                <a:close/>
              </a:path>
              <a:path w="372745" h="76200">
                <a:moveTo>
                  <a:pt x="29603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96037" y="50800"/>
                </a:lnTo>
                <a:lnTo>
                  <a:pt x="296037" y="25400"/>
                </a:lnTo>
                <a:close/>
              </a:path>
              <a:path w="372745" h="76200">
                <a:moveTo>
                  <a:pt x="346837" y="25400"/>
                </a:moveTo>
                <a:lnTo>
                  <a:pt x="308737" y="25400"/>
                </a:lnTo>
                <a:lnTo>
                  <a:pt x="308737" y="50800"/>
                </a:lnTo>
                <a:lnTo>
                  <a:pt x="346837" y="50800"/>
                </a:lnTo>
                <a:lnTo>
                  <a:pt x="372237" y="38100"/>
                </a:lnTo>
                <a:lnTo>
                  <a:pt x="34683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048503" y="3599179"/>
            <a:ext cx="541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A[1:0]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6350" y="4075938"/>
            <a:ext cx="5321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B[1:0]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23354" y="3944873"/>
            <a:ext cx="282575" cy="76200"/>
          </a:xfrm>
          <a:custGeom>
            <a:avLst/>
            <a:gdLst/>
            <a:ahLst/>
            <a:cxnLst/>
            <a:rect l="l" t="t" r="r" b="b"/>
            <a:pathLst>
              <a:path w="282575" h="76200">
                <a:moveTo>
                  <a:pt x="206375" y="0"/>
                </a:moveTo>
                <a:lnTo>
                  <a:pt x="206375" y="76200"/>
                </a:lnTo>
                <a:lnTo>
                  <a:pt x="257175" y="50800"/>
                </a:lnTo>
                <a:lnTo>
                  <a:pt x="219075" y="50800"/>
                </a:lnTo>
                <a:lnTo>
                  <a:pt x="219075" y="25400"/>
                </a:lnTo>
                <a:lnTo>
                  <a:pt x="257175" y="25400"/>
                </a:lnTo>
                <a:lnTo>
                  <a:pt x="206375" y="0"/>
                </a:lnTo>
                <a:close/>
              </a:path>
              <a:path w="282575" h="76200">
                <a:moveTo>
                  <a:pt x="206375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206375" y="50800"/>
                </a:lnTo>
                <a:lnTo>
                  <a:pt x="206375" y="25400"/>
                </a:lnTo>
                <a:close/>
              </a:path>
              <a:path w="282575" h="76200">
                <a:moveTo>
                  <a:pt x="257175" y="25400"/>
                </a:moveTo>
                <a:lnTo>
                  <a:pt x="219075" y="25400"/>
                </a:lnTo>
                <a:lnTo>
                  <a:pt x="219075" y="50800"/>
                </a:lnTo>
                <a:lnTo>
                  <a:pt x="257175" y="50800"/>
                </a:lnTo>
                <a:lnTo>
                  <a:pt x="282575" y="38100"/>
                </a:lnTo>
                <a:lnTo>
                  <a:pt x="257175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990082" y="3536441"/>
            <a:ext cx="998219" cy="106108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016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</a:pPr>
            <a:endParaRPr sz="1800">
              <a:latin typeface="Times New Roman"/>
              <a:cs typeface="Times New Roman"/>
            </a:endParaRPr>
          </a:p>
          <a:p>
            <a:pPr marL="198120">
              <a:lnSpc>
                <a:spcPct val="100000"/>
              </a:lnSpc>
            </a:pPr>
            <a:r>
              <a:rPr sz="1800" b="1" spc="-25" dirty="0">
                <a:latin typeface="Calibri"/>
                <a:cs typeface="Calibri"/>
              </a:rPr>
              <a:t>MUL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07326" y="3817365"/>
            <a:ext cx="55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O[3:0]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35963" y="4884877"/>
            <a:ext cx="20116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𝐀𝐃𝐃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𝐒𝐔𝐁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69935" y="4706873"/>
            <a:ext cx="3584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05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𝐋𝐄𝐅𝐓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𝐒𝐇𝐈𝐅𝐓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𝐑𝐈𝐆𝐇𝐓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𝐒𝐇𝐈𝐅𝐓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05761" y="1764029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69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69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69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905761" y="2186177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69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69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69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353692" y="1626870"/>
            <a:ext cx="5092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A[3:0]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12670" y="1607058"/>
            <a:ext cx="972819" cy="914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8067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2210"/>
              </a:spcBef>
            </a:pPr>
            <a:r>
              <a:rPr sz="2000" b="1" spc="-25" dirty="0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84982" y="1968245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70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70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70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85108" y="1863978"/>
            <a:ext cx="5232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O[3:0]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3692" y="2074290"/>
            <a:ext cx="5003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B[3:0]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569458" y="1820417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70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70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70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569458" y="2244089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70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70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70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017770" y="1684146"/>
            <a:ext cx="5092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A[3:0]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76365" y="1664970"/>
            <a:ext cx="972819" cy="914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76225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2175"/>
              </a:spcBef>
            </a:pPr>
            <a:r>
              <a:rPr sz="2000" b="1" spc="-25" dirty="0">
                <a:latin typeface="Calibri"/>
                <a:cs typeface="Calibri"/>
              </a:rPr>
              <a:t>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6948678" y="2026157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70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70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70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449057" y="1921255"/>
            <a:ext cx="5232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O[3:0]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17770" y="2131567"/>
            <a:ext cx="5003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B[3:0]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737854" y="1841754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70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70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70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737854" y="2265426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70" h="76200">
                <a:moveTo>
                  <a:pt x="330962" y="0"/>
                </a:moveTo>
                <a:lnTo>
                  <a:pt x="330962" y="76200"/>
                </a:lnTo>
                <a:lnTo>
                  <a:pt x="381762" y="50800"/>
                </a:lnTo>
                <a:lnTo>
                  <a:pt x="343662" y="50800"/>
                </a:lnTo>
                <a:lnTo>
                  <a:pt x="343662" y="25400"/>
                </a:lnTo>
                <a:lnTo>
                  <a:pt x="381762" y="25400"/>
                </a:lnTo>
                <a:lnTo>
                  <a:pt x="330962" y="0"/>
                </a:lnTo>
                <a:close/>
              </a:path>
              <a:path w="407670" h="76200">
                <a:moveTo>
                  <a:pt x="330962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2" y="50800"/>
                </a:lnTo>
                <a:lnTo>
                  <a:pt x="330962" y="25400"/>
                </a:lnTo>
                <a:close/>
              </a:path>
              <a:path w="407670" h="76200">
                <a:moveTo>
                  <a:pt x="381762" y="25400"/>
                </a:moveTo>
                <a:lnTo>
                  <a:pt x="343662" y="25400"/>
                </a:lnTo>
                <a:lnTo>
                  <a:pt x="343662" y="50800"/>
                </a:lnTo>
                <a:lnTo>
                  <a:pt x="381762" y="50800"/>
                </a:lnTo>
                <a:lnTo>
                  <a:pt x="407162" y="38100"/>
                </a:lnTo>
                <a:lnTo>
                  <a:pt x="381762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186419" y="1705736"/>
            <a:ext cx="5092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A[3:0]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761" y="1686305"/>
            <a:ext cx="972819" cy="91440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80670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2210"/>
              </a:spcBef>
            </a:pPr>
            <a:r>
              <a:rPr sz="2000" b="1" spc="-25" dirty="0">
                <a:latin typeface="Calibri"/>
                <a:cs typeface="Calibri"/>
              </a:rPr>
              <a:t>XOR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0117073" y="2047494"/>
            <a:ext cx="407670" cy="76200"/>
          </a:xfrm>
          <a:custGeom>
            <a:avLst/>
            <a:gdLst/>
            <a:ahLst/>
            <a:cxnLst/>
            <a:rect l="l" t="t" r="r" b="b"/>
            <a:pathLst>
              <a:path w="407670" h="76200">
                <a:moveTo>
                  <a:pt x="330961" y="0"/>
                </a:moveTo>
                <a:lnTo>
                  <a:pt x="330961" y="76200"/>
                </a:lnTo>
                <a:lnTo>
                  <a:pt x="381761" y="50800"/>
                </a:lnTo>
                <a:lnTo>
                  <a:pt x="343661" y="50800"/>
                </a:lnTo>
                <a:lnTo>
                  <a:pt x="343661" y="25400"/>
                </a:lnTo>
                <a:lnTo>
                  <a:pt x="381761" y="25400"/>
                </a:lnTo>
                <a:lnTo>
                  <a:pt x="330961" y="0"/>
                </a:lnTo>
                <a:close/>
              </a:path>
              <a:path w="407670" h="76200">
                <a:moveTo>
                  <a:pt x="33096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30961" y="50800"/>
                </a:lnTo>
                <a:lnTo>
                  <a:pt x="330961" y="25400"/>
                </a:lnTo>
                <a:close/>
              </a:path>
              <a:path w="407670" h="76200">
                <a:moveTo>
                  <a:pt x="381761" y="25400"/>
                </a:moveTo>
                <a:lnTo>
                  <a:pt x="343661" y="25400"/>
                </a:lnTo>
                <a:lnTo>
                  <a:pt x="343661" y="50800"/>
                </a:lnTo>
                <a:lnTo>
                  <a:pt x="381761" y="50800"/>
                </a:lnTo>
                <a:lnTo>
                  <a:pt x="407161" y="38100"/>
                </a:lnTo>
                <a:lnTo>
                  <a:pt x="38176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617834" y="1942591"/>
            <a:ext cx="5232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O[3:0]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86419" y="2153158"/>
            <a:ext cx="5003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Calibri"/>
                <a:cs typeface="Calibri"/>
              </a:rPr>
              <a:t>B[3:0]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841485" y="3662934"/>
            <a:ext cx="391795" cy="76200"/>
          </a:xfrm>
          <a:custGeom>
            <a:avLst/>
            <a:gdLst/>
            <a:ahLst/>
            <a:cxnLst/>
            <a:rect l="l" t="t" r="r" b="b"/>
            <a:pathLst>
              <a:path w="391795" h="76200">
                <a:moveTo>
                  <a:pt x="315214" y="0"/>
                </a:moveTo>
                <a:lnTo>
                  <a:pt x="315214" y="76200"/>
                </a:lnTo>
                <a:lnTo>
                  <a:pt x="366014" y="50800"/>
                </a:lnTo>
                <a:lnTo>
                  <a:pt x="327914" y="50800"/>
                </a:lnTo>
                <a:lnTo>
                  <a:pt x="327914" y="25400"/>
                </a:lnTo>
                <a:lnTo>
                  <a:pt x="366014" y="25400"/>
                </a:lnTo>
                <a:lnTo>
                  <a:pt x="315214" y="0"/>
                </a:lnTo>
                <a:close/>
              </a:path>
              <a:path w="391795" h="76200">
                <a:moveTo>
                  <a:pt x="31521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15214" y="50800"/>
                </a:lnTo>
                <a:lnTo>
                  <a:pt x="315214" y="25400"/>
                </a:lnTo>
                <a:close/>
              </a:path>
              <a:path w="391795" h="76200">
                <a:moveTo>
                  <a:pt x="366014" y="25400"/>
                </a:moveTo>
                <a:lnTo>
                  <a:pt x="327914" y="25400"/>
                </a:lnTo>
                <a:lnTo>
                  <a:pt x="327914" y="50800"/>
                </a:lnTo>
                <a:lnTo>
                  <a:pt x="366014" y="50800"/>
                </a:lnTo>
                <a:lnTo>
                  <a:pt x="391414" y="38100"/>
                </a:lnTo>
                <a:lnTo>
                  <a:pt x="36601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8206231" y="3494023"/>
            <a:ext cx="614680" cy="922019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R="11430" algn="r">
              <a:lnSpc>
                <a:spcPct val="100000"/>
              </a:lnSpc>
              <a:spcBef>
                <a:spcPts val="310"/>
              </a:spcBef>
            </a:pPr>
            <a:r>
              <a:rPr sz="1800" b="1" spc="-10" dirty="0">
                <a:latin typeface="Calibri"/>
                <a:cs typeface="Calibri"/>
              </a:rPr>
              <a:t>A[3:0]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10"/>
              </a:spcBef>
            </a:pPr>
            <a:r>
              <a:rPr sz="1800" b="1" spc="-20" dirty="0">
                <a:latin typeface="Calibri"/>
                <a:cs typeface="Calibri"/>
              </a:rPr>
              <a:t>S[1]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55"/>
              </a:spcBef>
            </a:pPr>
            <a:r>
              <a:rPr sz="1800" b="1" spc="-20" dirty="0">
                <a:latin typeface="Calibri"/>
                <a:cs typeface="Calibri"/>
              </a:rPr>
              <a:t>S[0]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33154" y="3449573"/>
            <a:ext cx="934719" cy="102425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25"/>
              </a:spcBef>
            </a:pPr>
            <a:endParaRPr sz="1800">
              <a:latin typeface="Times New Roman"/>
              <a:cs typeface="Times New Roman"/>
            </a:endParaRPr>
          </a:p>
          <a:p>
            <a:pPr marL="205104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Calibri"/>
                <a:cs typeface="Calibri"/>
              </a:rPr>
              <a:t>SHIFT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0167366" y="3859529"/>
            <a:ext cx="391795" cy="76200"/>
          </a:xfrm>
          <a:custGeom>
            <a:avLst/>
            <a:gdLst/>
            <a:ahLst/>
            <a:cxnLst/>
            <a:rect l="l" t="t" r="r" b="b"/>
            <a:pathLst>
              <a:path w="391795" h="76200">
                <a:moveTo>
                  <a:pt x="315213" y="0"/>
                </a:moveTo>
                <a:lnTo>
                  <a:pt x="315213" y="76200"/>
                </a:lnTo>
                <a:lnTo>
                  <a:pt x="366013" y="50800"/>
                </a:lnTo>
                <a:lnTo>
                  <a:pt x="327913" y="50800"/>
                </a:lnTo>
                <a:lnTo>
                  <a:pt x="327913" y="25400"/>
                </a:lnTo>
                <a:lnTo>
                  <a:pt x="366013" y="25400"/>
                </a:lnTo>
                <a:lnTo>
                  <a:pt x="315213" y="0"/>
                </a:lnTo>
                <a:close/>
              </a:path>
              <a:path w="391795" h="76200">
                <a:moveTo>
                  <a:pt x="315213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15213" y="50800"/>
                </a:lnTo>
                <a:lnTo>
                  <a:pt x="315213" y="25400"/>
                </a:lnTo>
                <a:close/>
              </a:path>
              <a:path w="391795" h="76200">
                <a:moveTo>
                  <a:pt x="366013" y="25400"/>
                </a:moveTo>
                <a:lnTo>
                  <a:pt x="327913" y="25400"/>
                </a:lnTo>
                <a:lnTo>
                  <a:pt x="327913" y="50800"/>
                </a:lnTo>
                <a:lnTo>
                  <a:pt x="366013" y="50800"/>
                </a:lnTo>
                <a:lnTo>
                  <a:pt x="391413" y="38100"/>
                </a:lnTo>
                <a:lnTo>
                  <a:pt x="366013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0619993" y="3720210"/>
            <a:ext cx="55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O[3:0]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855202" y="3947921"/>
            <a:ext cx="391795" cy="76200"/>
          </a:xfrm>
          <a:custGeom>
            <a:avLst/>
            <a:gdLst/>
            <a:ahLst/>
            <a:cxnLst/>
            <a:rect l="l" t="t" r="r" b="b"/>
            <a:pathLst>
              <a:path w="391795" h="76200">
                <a:moveTo>
                  <a:pt x="315214" y="0"/>
                </a:moveTo>
                <a:lnTo>
                  <a:pt x="315214" y="76200"/>
                </a:lnTo>
                <a:lnTo>
                  <a:pt x="366014" y="50800"/>
                </a:lnTo>
                <a:lnTo>
                  <a:pt x="327914" y="50800"/>
                </a:lnTo>
                <a:lnTo>
                  <a:pt x="327914" y="25400"/>
                </a:lnTo>
                <a:lnTo>
                  <a:pt x="366014" y="25400"/>
                </a:lnTo>
                <a:lnTo>
                  <a:pt x="315214" y="0"/>
                </a:lnTo>
                <a:close/>
              </a:path>
              <a:path w="391795" h="76200">
                <a:moveTo>
                  <a:pt x="31521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15214" y="50800"/>
                </a:lnTo>
                <a:lnTo>
                  <a:pt x="315214" y="25400"/>
                </a:lnTo>
                <a:close/>
              </a:path>
              <a:path w="391795" h="76200">
                <a:moveTo>
                  <a:pt x="366014" y="25400"/>
                </a:moveTo>
                <a:lnTo>
                  <a:pt x="327914" y="25400"/>
                </a:lnTo>
                <a:lnTo>
                  <a:pt x="327914" y="50800"/>
                </a:lnTo>
                <a:lnTo>
                  <a:pt x="366014" y="50800"/>
                </a:lnTo>
                <a:lnTo>
                  <a:pt x="391414" y="38100"/>
                </a:lnTo>
                <a:lnTo>
                  <a:pt x="36601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843009" y="4261865"/>
            <a:ext cx="391795" cy="76200"/>
          </a:xfrm>
          <a:custGeom>
            <a:avLst/>
            <a:gdLst/>
            <a:ahLst/>
            <a:cxnLst/>
            <a:rect l="l" t="t" r="r" b="b"/>
            <a:pathLst>
              <a:path w="391795" h="76200">
                <a:moveTo>
                  <a:pt x="315214" y="0"/>
                </a:moveTo>
                <a:lnTo>
                  <a:pt x="315214" y="76199"/>
                </a:lnTo>
                <a:lnTo>
                  <a:pt x="366014" y="50799"/>
                </a:lnTo>
                <a:lnTo>
                  <a:pt x="327914" y="50799"/>
                </a:lnTo>
                <a:lnTo>
                  <a:pt x="327914" y="25399"/>
                </a:lnTo>
                <a:lnTo>
                  <a:pt x="366014" y="25399"/>
                </a:lnTo>
                <a:lnTo>
                  <a:pt x="315214" y="0"/>
                </a:lnTo>
                <a:close/>
              </a:path>
              <a:path w="391795" h="76200">
                <a:moveTo>
                  <a:pt x="315214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315214" y="50799"/>
                </a:lnTo>
                <a:lnTo>
                  <a:pt x="315214" y="25399"/>
                </a:lnTo>
                <a:close/>
              </a:path>
              <a:path w="391795" h="76200">
                <a:moveTo>
                  <a:pt x="366014" y="25399"/>
                </a:moveTo>
                <a:lnTo>
                  <a:pt x="327914" y="25399"/>
                </a:lnTo>
                <a:lnTo>
                  <a:pt x="327914" y="50799"/>
                </a:lnTo>
                <a:lnTo>
                  <a:pt x="366014" y="50799"/>
                </a:lnTo>
                <a:lnTo>
                  <a:pt x="391414" y="38099"/>
                </a:lnTo>
                <a:lnTo>
                  <a:pt x="366014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6872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4-</a:t>
            </a:r>
            <a:r>
              <a:rPr dirty="0"/>
              <a:t>bit</a:t>
            </a:r>
            <a:r>
              <a:rPr spc="-60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84647" y="2240788"/>
            <a:ext cx="2092960" cy="3529329"/>
            <a:chOff x="5184647" y="2240788"/>
            <a:chExt cx="2092960" cy="3529329"/>
          </a:xfrm>
        </p:grpSpPr>
        <p:pic>
          <p:nvPicPr>
            <p:cNvPr id="4" name="object 4" descr="Image result for alu symbol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84647" y="2519172"/>
              <a:ext cx="2092528" cy="26869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49695" y="2247138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627887" y="0"/>
                  </a:moveTo>
                  <a:lnTo>
                    <a:pt x="0" y="572388"/>
                  </a:lnTo>
                  <a:lnTo>
                    <a:pt x="741552" y="987171"/>
                  </a:lnTo>
                  <a:lnTo>
                    <a:pt x="627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49695" y="2247138"/>
              <a:ext cx="741680" cy="987425"/>
            </a:xfrm>
            <a:custGeom>
              <a:avLst/>
              <a:gdLst/>
              <a:ahLst/>
              <a:cxnLst/>
              <a:rect l="l" t="t" r="r" b="b"/>
              <a:pathLst>
                <a:path w="741679" h="987425">
                  <a:moveTo>
                    <a:pt x="741552" y="987171"/>
                  </a:moveTo>
                  <a:lnTo>
                    <a:pt x="0" y="572388"/>
                  </a:lnTo>
                  <a:lnTo>
                    <a:pt x="627887" y="0"/>
                  </a:lnTo>
                  <a:lnTo>
                    <a:pt x="741552" y="9871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83605" y="4573523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1016889" y="0"/>
                  </a:moveTo>
                  <a:lnTo>
                    <a:pt x="0" y="620394"/>
                  </a:lnTo>
                  <a:lnTo>
                    <a:pt x="966597" y="1190142"/>
                  </a:lnTo>
                  <a:lnTo>
                    <a:pt x="10168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83605" y="4573523"/>
              <a:ext cx="1017269" cy="1190625"/>
            </a:xfrm>
            <a:custGeom>
              <a:avLst/>
              <a:gdLst/>
              <a:ahLst/>
              <a:cxnLst/>
              <a:rect l="l" t="t" r="r" b="b"/>
              <a:pathLst>
                <a:path w="1017270" h="1190625">
                  <a:moveTo>
                    <a:pt x="0" y="620394"/>
                  </a:moveTo>
                  <a:lnTo>
                    <a:pt x="1016889" y="0"/>
                  </a:lnTo>
                  <a:lnTo>
                    <a:pt x="966597" y="1190142"/>
                  </a:lnTo>
                  <a:lnTo>
                    <a:pt x="0" y="62039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27952" y="2247138"/>
              <a:ext cx="142875" cy="780415"/>
            </a:xfrm>
            <a:custGeom>
              <a:avLst/>
              <a:gdLst/>
              <a:ahLst/>
              <a:cxnLst/>
              <a:rect l="l" t="t" r="r" b="b"/>
              <a:pathLst>
                <a:path w="142875" h="780414">
                  <a:moveTo>
                    <a:pt x="47625" y="637159"/>
                  </a:moveTo>
                  <a:lnTo>
                    <a:pt x="0" y="637159"/>
                  </a:lnTo>
                  <a:lnTo>
                    <a:pt x="71500" y="780034"/>
                  </a:lnTo>
                  <a:lnTo>
                    <a:pt x="130947" y="661035"/>
                  </a:lnTo>
                  <a:lnTo>
                    <a:pt x="47625" y="661035"/>
                  </a:lnTo>
                  <a:lnTo>
                    <a:pt x="47625" y="637159"/>
                  </a:lnTo>
                  <a:close/>
                </a:path>
                <a:path w="142875" h="780414">
                  <a:moveTo>
                    <a:pt x="95250" y="0"/>
                  </a:moveTo>
                  <a:lnTo>
                    <a:pt x="47625" y="0"/>
                  </a:lnTo>
                  <a:lnTo>
                    <a:pt x="47625" y="661035"/>
                  </a:lnTo>
                  <a:lnTo>
                    <a:pt x="95250" y="661035"/>
                  </a:lnTo>
                  <a:lnTo>
                    <a:pt x="95250" y="0"/>
                  </a:lnTo>
                  <a:close/>
                </a:path>
                <a:path w="142875" h="780414">
                  <a:moveTo>
                    <a:pt x="142875" y="637159"/>
                  </a:moveTo>
                  <a:lnTo>
                    <a:pt x="95250" y="637159"/>
                  </a:lnTo>
                  <a:lnTo>
                    <a:pt x="95250" y="661035"/>
                  </a:lnTo>
                  <a:lnTo>
                    <a:pt x="130947" y="661035"/>
                  </a:lnTo>
                  <a:lnTo>
                    <a:pt x="142875" y="63715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92955" y="1716786"/>
            <a:ext cx="4307840" cy="39865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995" algn="ctr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S[2:0]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10" dirty="0">
                <a:latin typeface="Calibri"/>
                <a:cs typeface="Calibri"/>
              </a:rPr>
              <a:t>A[3:0]</a:t>
            </a:r>
            <a:endParaRPr sz="3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350"/>
              </a:spcBef>
            </a:pPr>
            <a:r>
              <a:rPr sz="3200" b="1" spc="-10" dirty="0">
                <a:latin typeface="Calibri"/>
                <a:cs typeface="Calibri"/>
              </a:rPr>
              <a:t>O[3:0]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sz="3200" b="1" spc="-10" dirty="0">
                <a:latin typeface="Calibri"/>
                <a:cs typeface="Calibri"/>
              </a:rPr>
              <a:t>B[3:0]</a:t>
            </a:r>
            <a:endParaRPr sz="3200">
              <a:latin typeface="Calibri"/>
              <a:cs typeface="Calibri"/>
            </a:endParaRPr>
          </a:p>
          <a:p>
            <a:pPr marL="58419" algn="ctr">
              <a:lnSpc>
                <a:spcPct val="100000"/>
              </a:lnSpc>
              <a:spcBef>
                <a:spcPts val="3329"/>
              </a:spcBef>
            </a:pPr>
            <a:r>
              <a:rPr sz="3200" b="1" spc="-50" dirty="0">
                <a:latin typeface="Calibri"/>
                <a:cs typeface="Calibri"/>
              </a:rPr>
              <a:t>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666" rIns="0" bIns="0" rtlCol="0">
            <a:spAutoFit/>
          </a:bodyPr>
          <a:lstStyle/>
          <a:p>
            <a:pPr marL="946150" algn="ctr">
              <a:lnSpc>
                <a:spcPts val="4655"/>
              </a:lnSpc>
              <a:spcBef>
                <a:spcPts val="100"/>
              </a:spcBef>
            </a:pPr>
            <a:r>
              <a:rPr spc="-10" dirty="0"/>
              <a:t>4-</a:t>
            </a:r>
            <a:r>
              <a:rPr dirty="0"/>
              <a:t>bit</a:t>
            </a:r>
            <a:r>
              <a:rPr spc="-75" dirty="0"/>
              <a:t> </a:t>
            </a:r>
            <a:r>
              <a:rPr dirty="0"/>
              <a:t>ALU</a:t>
            </a:r>
            <a:r>
              <a:rPr spc="-70" dirty="0"/>
              <a:t> </a:t>
            </a:r>
            <a:r>
              <a:rPr spc="-10" dirty="0"/>
              <a:t>Circuit</a:t>
            </a:r>
          </a:p>
          <a:p>
            <a:pPr marL="946150" marR="6985" algn="ctr">
              <a:lnSpc>
                <a:spcPts val="3215"/>
              </a:lnSpc>
            </a:pPr>
            <a:r>
              <a:rPr sz="3200" dirty="0"/>
              <a:t>8</a:t>
            </a:r>
            <a:r>
              <a:rPr sz="3200" spc="-35" dirty="0"/>
              <a:t> </a:t>
            </a:r>
            <a:r>
              <a:rPr sz="3200" dirty="0"/>
              <a:t>to</a:t>
            </a:r>
            <a:r>
              <a:rPr sz="3200" spc="-30" dirty="0"/>
              <a:t> </a:t>
            </a:r>
            <a:r>
              <a:rPr sz="3200" dirty="0"/>
              <a:t>1</a:t>
            </a:r>
            <a:r>
              <a:rPr sz="3200" spc="-30" dirty="0"/>
              <a:t> </a:t>
            </a:r>
            <a:r>
              <a:rPr sz="3200" spc="-25" dirty="0"/>
              <a:t>MUX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615945" y="1399794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3089" y="1700022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8863" y="1506982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3089" y="22273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3089" y="275310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63089" y="33428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63089" y="388086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3089" y="444474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61566" y="50086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61566" y="54886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01746" y="36598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5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94734" y="3477259"/>
            <a:ext cx="18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2133" y="203923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8863" y="255003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78863" y="3160267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2133" y="3682745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8830" y="4292600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𝟓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2321" y="479920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𝟔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42541" y="5363057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𝟕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43250" y="861822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552064" y="549909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28366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55570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939665" y="3040761"/>
            <a:ext cx="59690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But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this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MUX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can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handle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only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1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bit. </a:t>
            </a:r>
            <a:r>
              <a:rPr sz="3200" b="1" dirty="0">
                <a:latin typeface="Calibri"/>
                <a:cs typeface="Calibri"/>
              </a:rPr>
              <a:t>How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can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we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build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4-</a:t>
            </a:r>
            <a:r>
              <a:rPr sz="3200" b="1" dirty="0">
                <a:latin typeface="Calibri"/>
                <a:cs typeface="Calibri"/>
              </a:rPr>
              <a:t>bit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MUX?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666" rIns="0" bIns="0" rtlCol="0">
            <a:spAutoFit/>
          </a:bodyPr>
          <a:lstStyle/>
          <a:p>
            <a:pPr marL="946150" algn="ctr">
              <a:lnSpc>
                <a:spcPts val="4655"/>
              </a:lnSpc>
              <a:spcBef>
                <a:spcPts val="100"/>
              </a:spcBef>
            </a:pPr>
            <a:r>
              <a:rPr spc="-10" dirty="0"/>
              <a:t>4-</a:t>
            </a:r>
            <a:r>
              <a:rPr dirty="0"/>
              <a:t>bit</a:t>
            </a:r>
            <a:r>
              <a:rPr spc="-75" dirty="0"/>
              <a:t> </a:t>
            </a:r>
            <a:r>
              <a:rPr dirty="0"/>
              <a:t>ALU</a:t>
            </a:r>
            <a:r>
              <a:rPr spc="-70" dirty="0"/>
              <a:t> </a:t>
            </a:r>
            <a:r>
              <a:rPr spc="-10" dirty="0"/>
              <a:t>Circuit</a:t>
            </a:r>
          </a:p>
          <a:p>
            <a:pPr marL="946150" marR="6985" algn="ctr">
              <a:lnSpc>
                <a:spcPts val="3215"/>
              </a:lnSpc>
            </a:pPr>
            <a:r>
              <a:rPr sz="3200" dirty="0"/>
              <a:t>8</a:t>
            </a:r>
            <a:r>
              <a:rPr sz="3200" spc="-35" dirty="0"/>
              <a:t> </a:t>
            </a:r>
            <a:r>
              <a:rPr sz="3200" dirty="0"/>
              <a:t>to</a:t>
            </a:r>
            <a:r>
              <a:rPr sz="3200" spc="-30" dirty="0"/>
              <a:t> </a:t>
            </a:r>
            <a:r>
              <a:rPr sz="3200" dirty="0"/>
              <a:t>1</a:t>
            </a:r>
            <a:r>
              <a:rPr sz="3200" spc="-30" dirty="0"/>
              <a:t> </a:t>
            </a:r>
            <a:r>
              <a:rPr sz="3200" spc="-25" dirty="0"/>
              <a:t>MUX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615945" y="1399794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3089" y="1700022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78863" y="1506982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3089" y="22273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3089" y="275310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63089" y="33428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63089" y="388086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3089" y="444474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61566" y="50086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61566" y="54886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01746" y="36598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5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94734" y="3477259"/>
            <a:ext cx="184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latin typeface="Calibri"/>
                <a:cs typeface="Calibri"/>
              </a:rPr>
              <a:t>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2133" y="2039239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𝟏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78863" y="255003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𝟐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78863" y="3160267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𝟑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72133" y="3682745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𝟒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68830" y="4292600"/>
            <a:ext cx="260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𝟓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2321" y="4799203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𝟔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42541" y="5363057"/>
            <a:ext cx="260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Cambria Math"/>
                <a:cs typeface="Cambria Math"/>
              </a:rPr>
              <a:t>𝐈</a:t>
            </a:r>
            <a:r>
              <a:rPr sz="1950" spc="-37" baseline="-14957" dirty="0">
                <a:latin typeface="Cambria Math"/>
                <a:cs typeface="Cambria Math"/>
              </a:rPr>
              <a:t>𝟕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43250" y="861822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552064" y="549909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28366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55570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008626" y="2439670"/>
            <a:ext cx="596836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But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this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MUX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can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handle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only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1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bit. </a:t>
            </a:r>
            <a:r>
              <a:rPr sz="3200" b="1" dirty="0">
                <a:latin typeface="Calibri"/>
                <a:cs typeface="Calibri"/>
              </a:rPr>
              <a:t>How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can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we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build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4-</a:t>
            </a:r>
            <a:r>
              <a:rPr sz="3200" b="1" dirty="0">
                <a:latin typeface="Calibri"/>
                <a:cs typeface="Calibri"/>
              </a:rPr>
              <a:t>bit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MUX?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08626" y="3903090"/>
            <a:ext cx="593725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Solution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is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use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FOUR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8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to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1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spc="-25" dirty="0">
                <a:latin typeface="Calibri"/>
                <a:cs typeface="Calibri"/>
              </a:rPr>
              <a:t>MUX </a:t>
            </a:r>
            <a:r>
              <a:rPr sz="3200" b="1" dirty="0">
                <a:latin typeface="Calibri"/>
                <a:cs typeface="Calibri"/>
              </a:rPr>
              <a:t>for</a:t>
            </a:r>
            <a:r>
              <a:rPr sz="3200" b="1" spc="-2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4</a:t>
            </a:r>
            <a:r>
              <a:rPr sz="3200" b="1" spc="-1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input</a:t>
            </a:r>
            <a:r>
              <a:rPr sz="3200" b="1" spc="-2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lines</a:t>
            </a:r>
            <a:r>
              <a:rPr sz="3200" b="1" spc="-3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and</a:t>
            </a:r>
            <a:r>
              <a:rPr sz="3200" b="1" spc="-4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4</a:t>
            </a:r>
            <a:r>
              <a:rPr sz="3200" b="1" spc="-1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output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lines.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17972" y="307086"/>
            <a:ext cx="3780154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730"/>
              </a:lnSpc>
              <a:spcBef>
                <a:spcPts val="100"/>
              </a:spcBef>
            </a:pPr>
            <a:r>
              <a:rPr spc="-10" dirty="0"/>
              <a:t>4-</a:t>
            </a:r>
            <a:r>
              <a:rPr dirty="0"/>
              <a:t>bit</a:t>
            </a:r>
            <a:r>
              <a:rPr spc="-75" dirty="0"/>
              <a:t> </a:t>
            </a:r>
            <a:r>
              <a:rPr dirty="0"/>
              <a:t>ALU</a:t>
            </a:r>
            <a:r>
              <a:rPr spc="-70" dirty="0"/>
              <a:t> </a:t>
            </a:r>
            <a:r>
              <a:rPr spc="-10" dirty="0"/>
              <a:t>Circuit</a:t>
            </a:r>
          </a:p>
          <a:p>
            <a:pPr marL="273050">
              <a:lnSpc>
                <a:spcPts val="3290"/>
              </a:lnSpc>
            </a:pPr>
            <a:r>
              <a:rPr sz="3200" spc="-10" dirty="0"/>
              <a:t>4-</a:t>
            </a:r>
            <a:r>
              <a:rPr sz="3200" dirty="0"/>
              <a:t>bit</a:t>
            </a:r>
            <a:r>
              <a:rPr sz="3200" spc="-40" dirty="0"/>
              <a:t> </a:t>
            </a:r>
            <a:r>
              <a:rPr sz="3200" dirty="0"/>
              <a:t>8</a:t>
            </a:r>
            <a:r>
              <a:rPr sz="3200" spc="-20" dirty="0"/>
              <a:t> </a:t>
            </a:r>
            <a:r>
              <a:rPr sz="3200" dirty="0"/>
              <a:t>to</a:t>
            </a:r>
            <a:r>
              <a:rPr sz="3200" spc="-25" dirty="0"/>
              <a:t> </a:t>
            </a:r>
            <a:r>
              <a:rPr sz="3200" dirty="0"/>
              <a:t>1</a:t>
            </a:r>
            <a:r>
              <a:rPr sz="3200" spc="-20" dirty="0"/>
              <a:t> </a:t>
            </a:r>
            <a:r>
              <a:rPr sz="3200" spc="-25" dirty="0"/>
              <a:t>MUX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2445257" y="207390"/>
            <a:ext cx="1594485" cy="1438910"/>
            <a:chOff x="2445257" y="207390"/>
            <a:chExt cx="1594485" cy="1438910"/>
          </a:xfrm>
        </p:grpSpPr>
        <p:sp>
          <p:nvSpPr>
            <p:cNvPr id="4" name="object 4"/>
            <p:cNvSpPr/>
            <p:nvPr/>
          </p:nvSpPr>
          <p:spPr>
            <a:xfrm>
              <a:off x="2993897" y="223265"/>
              <a:ext cx="498475" cy="1407160"/>
            </a:xfrm>
            <a:custGeom>
              <a:avLst/>
              <a:gdLst/>
              <a:ahLst/>
              <a:cxnLst/>
              <a:rect l="l" t="t" r="r" b="b"/>
              <a:pathLst>
                <a:path w="498475" h="1407160">
                  <a:moveTo>
                    <a:pt x="0" y="1406652"/>
                  </a:moveTo>
                  <a:lnTo>
                    <a:pt x="498348" y="1406652"/>
                  </a:lnTo>
                  <a:lnTo>
                    <a:pt x="498348" y="0"/>
                  </a:lnTo>
                  <a:lnTo>
                    <a:pt x="0" y="0"/>
                  </a:lnTo>
                  <a:lnTo>
                    <a:pt x="0" y="1406652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5258" y="294893"/>
              <a:ext cx="1594485" cy="1303020"/>
            </a:xfrm>
            <a:custGeom>
              <a:avLst/>
              <a:gdLst/>
              <a:ahLst/>
              <a:cxnLst/>
              <a:rect l="l" t="t" r="r" b="b"/>
              <a:pathLst>
                <a:path w="1594485" h="1303020">
                  <a:moveTo>
                    <a:pt x="547497" y="1264920"/>
                  </a:moveTo>
                  <a:lnTo>
                    <a:pt x="522097" y="1252220"/>
                  </a:lnTo>
                  <a:lnTo>
                    <a:pt x="471297" y="1226820"/>
                  </a:lnTo>
                  <a:lnTo>
                    <a:pt x="471297" y="1252220"/>
                  </a:lnTo>
                  <a:lnTo>
                    <a:pt x="0" y="1252220"/>
                  </a:lnTo>
                  <a:lnTo>
                    <a:pt x="0" y="1277620"/>
                  </a:lnTo>
                  <a:lnTo>
                    <a:pt x="471297" y="1277620"/>
                  </a:lnTo>
                  <a:lnTo>
                    <a:pt x="471297" y="1303020"/>
                  </a:lnTo>
                  <a:lnTo>
                    <a:pt x="522097" y="1277620"/>
                  </a:lnTo>
                  <a:lnTo>
                    <a:pt x="547497" y="1264920"/>
                  </a:lnTo>
                  <a:close/>
                </a:path>
                <a:path w="1594485" h="1303020">
                  <a:moveTo>
                    <a:pt x="547497" y="1109472"/>
                  </a:moveTo>
                  <a:lnTo>
                    <a:pt x="522097" y="1096772"/>
                  </a:lnTo>
                  <a:lnTo>
                    <a:pt x="471297" y="1071372"/>
                  </a:lnTo>
                  <a:lnTo>
                    <a:pt x="471297" y="1096772"/>
                  </a:lnTo>
                  <a:lnTo>
                    <a:pt x="0" y="1096772"/>
                  </a:lnTo>
                  <a:lnTo>
                    <a:pt x="0" y="1122172"/>
                  </a:lnTo>
                  <a:lnTo>
                    <a:pt x="471297" y="1122172"/>
                  </a:lnTo>
                  <a:lnTo>
                    <a:pt x="471297" y="1147572"/>
                  </a:lnTo>
                  <a:lnTo>
                    <a:pt x="522097" y="1122172"/>
                  </a:lnTo>
                  <a:lnTo>
                    <a:pt x="547497" y="1109472"/>
                  </a:lnTo>
                  <a:close/>
                </a:path>
                <a:path w="1594485" h="1303020">
                  <a:moveTo>
                    <a:pt x="549021" y="926592"/>
                  </a:moveTo>
                  <a:lnTo>
                    <a:pt x="523621" y="913892"/>
                  </a:lnTo>
                  <a:lnTo>
                    <a:pt x="472821" y="888492"/>
                  </a:lnTo>
                  <a:lnTo>
                    <a:pt x="472821" y="913892"/>
                  </a:lnTo>
                  <a:lnTo>
                    <a:pt x="1524" y="913892"/>
                  </a:lnTo>
                  <a:lnTo>
                    <a:pt x="1524" y="939292"/>
                  </a:lnTo>
                  <a:lnTo>
                    <a:pt x="472821" y="939292"/>
                  </a:lnTo>
                  <a:lnTo>
                    <a:pt x="472821" y="964692"/>
                  </a:lnTo>
                  <a:lnTo>
                    <a:pt x="523621" y="939292"/>
                  </a:lnTo>
                  <a:lnTo>
                    <a:pt x="549021" y="926592"/>
                  </a:lnTo>
                  <a:close/>
                </a:path>
                <a:path w="1594485" h="1303020">
                  <a:moveTo>
                    <a:pt x="549021" y="743712"/>
                  </a:moveTo>
                  <a:lnTo>
                    <a:pt x="523621" y="731012"/>
                  </a:lnTo>
                  <a:lnTo>
                    <a:pt x="472821" y="705612"/>
                  </a:lnTo>
                  <a:lnTo>
                    <a:pt x="472821" y="731012"/>
                  </a:lnTo>
                  <a:lnTo>
                    <a:pt x="1524" y="731012"/>
                  </a:lnTo>
                  <a:lnTo>
                    <a:pt x="1524" y="756412"/>
                  </a:lnTo>
                  <a:lnTo>
                    <a:pt x="472821" y="756412"/>
                  </a:lnTo>
                  <a:lnTo>
                    <a:pt x="472821" y="781812"/>
                  </a:lnTo>
                  <a:lnTo>
                    <a:pt x="523621" y="756412"/>
                  </a:lnTo>
                  <a:lnTo>
                    <a:pt x="549021" y="743712"/>
                  </a:lnTo>
                  <a:close/>
                </a:path>
                <a:path w="1594485" h="1303020">
                  <a:moveTo>
                    <a:pt x="549021" y="569976"/>
                  </a:moveTo>
                  <a:lnTo>
                    <a:pt x="523621" y="557276"/>
                  </a:lnTo>
                  <a:lnTo>
                    <a:pt x="472821" y="531876"/>
                  </a:lnTo>
                  <a:lnTo>
                    <a:pt x="472821" y="557276"/>
                  </a:lnTo>
                  <a:lnTo>
                    <a:pt x="1524" y="557276"/>
                  </a:lnTo>
                  <a:lnTo>
                    <a:pt x="1524" y="582676"/>
                  </a:lnTo>
                  <a:lnTo>
                    <a:pt x="472821" y="582676"/>
                  </a:lnTo>
                  <a:lnTo>
                    <a:pt x="472821" y="608076"/>
                  </a:lnTo>
                  <a:lnTo>
                    <a:pt x="523621" y="582676"/>
                  </a:lnTo>
                  <a:lnTo>
                    <a:pt x="549021" y="569976"/>
                  </a:lnTo>
                  <a:close/>
                </a:path>
                <a:path w="1594485" h="1303020">
                  <a:moveTo>
                    <a:pt x="549021" y="379476"/>
                  </a:moveTo>
                  <a:lnTo>
                    <a:pt x="523621" y="366776"/>
                  </a:lnTo>
                  <a:lnTo>
                    <a:pt x="472821" y="341376"/>
                  </a:lnTo>
                  <a:lnTo>
                    <a:pt x="472821" y="366776"/>
                  </a:lnTo>
                  <a:lnTo>
                    <a:pt x="1524" y="366776"/>
                  </a:lnTo>
                  <a:lnTo>
                    <a:pt x="1524" y="392176"/>
                  </a:lnTo>
                  <a:lnTo>
                    <a:pt x="472821" y="392176"/>
                  </a:lnTo>
                  <a:lnTo>
                    <a:pt x="472821" y="417576"/>
                  </a:lnTo>
                  <a:lnTo>
                    <a:pt x="523621" y="392176"/>
                  </a:lnTo>
                  <a:lnTo>
                    <a:pt x="549021" y="379476"/>
                  </a:lnTo>
                  <a:close/>
                </a:path>
                <a:path w="1594485" h="1303020">
                  <a:moveTo>
                    <a:pt x="549021" y="208788"/>
                  </a:moveTo>
                  <a:lnTo>
                    <a:pt x="523621" y="196088"/>
                  </a:lnTo>
                  <a:lnTo>
                    <a:pt x="472821" y="170688"/>
                  </a:lnTo>
                  <a:lnTo>
                    <a:pt x="472821" y="196088"/>
                  </a:lnTo>
                  <a:lnTo>
                    <a:pt x="1524" y="196088"/>
                  </a:lnTo>
                  <a:lnTo>
                    <a:pt x="1524" y="221488"/>
                  </a:lnTo>
                  <a:lnTo>
                    <a:pt x="472821" y="221488"/>
                  </a:lnTo>
                  <a:lnTo>
                    <a:pt x="472821" y="246888"/>
                  </a:lnTo>
                  <a:lnTo>
                    <a:pt x="523621" y="221488"/>
                  </a:lnTo>
                  <a:lnTo>
                    <a:pt x="549021" y="208788"/>
                  </a:lnTo>
                  <a:close/>
                </a:path>
                <a:path w="1594485" h="1303020">
                  <a:moveTo>
                    <a:pt x="549021" y="38100"/>
                  </a:moveTo>
                  <a:lnTo>
                    <a:pt x="523621" y="25400"/>
                  </a:lnTo>
                  <a:lnTo>
                    <a:pt x="472821" y="0"/>
                  </a:lnTo>
                  <a:lnTo>
                    <a:pt x="472821" y="25400"/>
                  </a:lnTo>
                  <a:lnTo>
                    <a:pt x="1524" y="25400"/>
                  </a:lnTo>
                  <a:lnTo>
                    <a:pt x="1524" y="50800"/>
                  </a:lnTo>
                  <a:lnTo>
                    <a:pt x="472821" y="50800"/>
                  </a:lnTo>
                  <a:lnTo>
                    <a:pt x="472821" y="76200"/>
                  </a:lnTo>
                  <a:lnTo>
                    <a:pt x="523621" y="50800"/>
                  </a:lnTo>
                  <a:lnTo>
                    <a:pt x="549021" y="38100"/>
                  </a:lnTo>
                  <a:close/>
                </a:path>
                <a:path w="1594485" h="1303020">
                  <a:moveTo>
                    <a:pt x="1594485" y="673608"/>
                  </a:moveTo>
                  <a:lnTo>
                    <a:pt x="1569085" y="660908"/>
                  </a:lnTo>
                  <a:lnTo>
                    <a:pt x="1518285" y="635508"/>
                  </a:lnTo>
                  <a:lnTo>
                    <a:pt x="1518285" y="660908"/>
                  </a:lnTo>
                  <a:lnTo>
                    <a:pt x="1046988" y="660908"/>
                  </a:lnTo>
                  <a:lnTo>
                    <a:pt x="1046988" y="686308"/>
                  </a:lnTo>
                  <a:lnTo>
                    <a:pt x="1518285" y="686308"/>
                  </a:lnTo>
                  <a:lnTo>
                    <a:pt x="1518285" y="711708"/>
                  </a:lnTo>
                  <a:lnTo>
                    <a:pt x="1569085" y="686308"/>
                  </a:lnTo>
                  <a:lnTo>
                    <a:pt x="1594485" y="6736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65523" y="885824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Y[3]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93898" y="1823466"/>
            <a:ext cx="498475" cy="1481455"/>
          </a:xfrm>
          <a:custGeom>
            <a:avLst/>
            <a:gdLst/>
            <a:ahLst/>
            <a:cxnLst/>
            <a:rect l="l" t="t" r="r" b="b"/>
            <a:pathLst>
              <a:path w="498475" h="1481454">
                <a:moveTo>
                  <a:pt x="0" y="1481327"/>
                </a:moveTo>
                <a:lnTo>
                  <a:pt x="498348" y="1481327"/>
                </a:lnTo>
                <a:lnTo>
                  <a:pt x="498348" y="0"/>
                </a:lnTo>
                <a:lnTo>
                  <a:pt x="0" y="0"/>
                </a:lnTo>
                <a:lnTo>
                  <a:pt x="0" y="1481327"/>
                </a:lnTo>
                <a:close/>
              </a:path>
            </a:pathLst>
          </a:custGeom>
          <a:ln w="31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04464" y="2718028"/>
            <a:ext cx="77470" cy="57404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800" b="1" spc="-50" dirty="0"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46782" y="1899666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46782" y="2079498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46782" y="2259329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46782" y="2460498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46782" y="264337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2145410" y="223265"/>
          <a:ext cx="1346835" cy="25469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  <a:p>
                      <a:pPr marL="5334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57785">
                        <a:lnSpc>
                          <a:spcPts val="1055"/>
                        </a:lnSpc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5"/>
                        </a:lnSpc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marL="53340">
                        <a:lnSpc>
                          <a:spcPts val="1070"/>
                        </a:lnSpc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5"/>
                        </a:lnSpc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720">
                <a:tc>
                  <a:txBody>
                    <a:bodyPr/>
                    <a:lstStyle/>
                    <a:p>
                      <a:pPr marL="38100">
                        <a:lnSpc>
                          <a:spcPts val="1050"/>
                        </a:lnSpc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5"/>
                        </a:lnSpc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154">
                <a:tc>
                  <a:txBody>
                    <a:bodyPr/>
                    <a:lstStyle/>
                    <a:p>
                      <a:pPr marL="31750">
                        <a:lnSpc>
                          <a:spcPts val="1125"/>
                        </a:lnSpc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[𝟑]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9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[𝟐]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marL="53340">
                        <a:lnSpc>
                          <a:spcPts val="1120"/>
                        </a:lnSpc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[𝟐]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57785">
                        <a:lnSpc>
                          <a:spcPts val="1090"/>
                        </a:lnSpc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[𝟐]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270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675"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[𝟐]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1290">
                <a:tc>
                  <a:txBody>
                    <a:bodyPr/>
                    <a:lstStyle/>
                    <a:p>
                      <a:pPr marL="53340">
                        <a:lnSpc>
                          <a:spcPts val="1105"/>
                        </a:lnSpc>
                      </a:pPr>
                      <a:r>
                        <a:rPr sz="1000" spc="-10" dirty="0"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050" spc="-15" baseline="-15873" dirty="0"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000" spc="-10" dirty="0">
                          <a:latin typeface="Cambria Math"/>
                          <a:cs typeface="Cambria Math"/>
                        </a:rPr>
                        <a:t>[𝟐]</a:t>
                      </a:r>
                      <a:endParaRPr sz="1000">
                        <a:latin typeface="Cambria Math"/>
                        <a:cs typeface="Cambria Math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15"/>
                        </a:lnSpc>
                      </a:pPr>
                      <a:r>
                        <a:rPr sz="800" b="1" spc="-50" dirty="0"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2445258" y="2568701"/>
            <a:ext cx="1594485" cy="699770"/>
          </a:xfrm>
          <a:custGeom>
            <a:avLst/>
            <a:gdLst/>
            <a:ahLst/>
            <a:cxnLst/>
            <a:rect l="l" t="t" r="r" b="b"/>
            <a:pathLst>
              <a:path w="1594485" h="699770">
                <a:moveTo>
                  <a:pt x="547497" y="661416"/>
                </a:moveTo>
                <a:lnTo>
                  <a:pt x="522097" y="648716"/>
                </a:lnTo>
                <a:lnTo>
                  <a:pt x="471297" y="623316"/>
                </a:lnTo>
                <a:lnTo>
                  <a:pt x="471297" y="648716"/>
                </a:lnTo>
                <a:lnTo>
                  <a:pt x="0" y="648716"/>
                </a:lnTo>
                <a:lnTo>
                  <a:pt x="0" y="674116"/>
                </a:lnTo>
                <a:lnTo>
                  <a:pt x="471297" y="674116"/>
                </a:lnTo>
                <a:lnTo>
                  <a:pt x="471297" y="699516"/>
                </a:lnTo>
                <a:lnTo>
                  <a:pt x="522097" y="674116"/>
                </a:lnTo>
                <a:lnTo>
                  <a:pt x="547497" y="661416"/>
                </a:lnTo>
                <a:close/>
              </a:path>
              <a:path w="1594485" h="699770">
                <a:moveTo>
                  <a:pt x="547497" y="498348"/>
                </a:moveTo>
                <a:lnTo>
                  <a:pt x="522097" y="485648"/>
                </a:lnTo>
                <a:lnTo>
                  <a:pt x="471297" y="460248"/>
                </a:lnTo>
                <a:lnTo>
                  <a:pt x="471297" y="485648"/>
                </a:lnTo>
                <a:lnTo>
                  <a:pt x="0" y="485648"/>
                </a:lnTo>
                <a:lnTo>
                  <a:pt x="0" y="511048"/>
                </a:lnTo>
                <a:lnTo>
                  <a:pt x="471297" y="511048"/>
                </a:lnTo>
                <a:lnTo>
                  <a:pt x="471297" y="536448"/>
                </a:lnTo>
                <a:lnTo>
                  <a:pt x="522097" y="511048"/>
                </a:lnTo>
                <a:lnTo>
                  <a:pt x="547497" y="498348"/>
                </a:lnTo>
                <a:close/>
              </a:path>
              <a:path w="1594485" h="699770">
                <a:moveTo>
                  <a:pt x="549021" y="304800"/>
                </a:moveTo>
                <a:lnTo>
                  <a:pt x="523621" y="292100"/>
                </a:lnTo>
                <a:lnTo>
                  <a:pt x="472821" y="266700"/>
                </a:lnTo>
                <a:lnTo>
                  <a:pt x="472821" y="292100"/>
                </a:lnTo>
                <a:lnTo>
                  <a:pt x="1524" y="292100"/>
                </a:lnTo>
                <a:lnTo>
                  <a:pt x="1524" y="317500"/>
                </a:lnTo>
                <a:lnTo>
                  <a:pt x="472821" y="317500"/>
                </a:lnTo>
                <a:lnTo>
                  <a:pt x="472821" y="342900"/>
                </a:lnTo>
                <a:lnTo>
                  <a:pt x="523621" y="317500"/>
                </a:lnTo>
                <a:lnTo>
                  <a:pt x="549021" y="304800"/>
                </a:lnTo>
                <a:close/>
              </a:path>
              <a:path w="1594485" h="699770">
                <a:moveTo>
                  <a:pt x="1594485" y="38100"/>
                </a:moveTo>
                <a:lnTo>
                  <a:pt x="1569085" y="25400"/>
                </a:lnTo>
                <a:lnTo>
                  <a:pt x="1518285" y="0"/>
                </a:lnTo>
                <a:lnTo>
                  <a:pt x="1518285" y="25400"/>
                </a:lnTo>
                <a:lnTo>
                  <a:pt x="1046988" y="25400"/>
                </a:lnTo>
                <a:lnTo>
                  <a:pt x="1046988" y="50800"/>
                </a:lnTo>
                <a:lnTo>
                  <a:pt x="1518285" y="50800"/>
                </a:lnTo>
                <a:lnTo>
                  <a:pt x="1518285" y="76200"/>
                </a:lnTo>
                <a:lnTo>
                  <a:pt x="1569085" y="50800"/>
                </a:lnTo>
                <a:lnTo>
                  <a:pt x="1594485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65523" y="2521966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Y[2]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39060" y="2777007"/>
            <a:ext cx="367030" cy="56324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259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𝟓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15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𝟔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1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𝟕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93898" y="3484626"/>
            <a:ext cx="498475" cy="146621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5"/>
              </a:spcBef>
            </a:pPr>
            <a:r>
              <a:rPr sz="800" b="1" spc="-50" dirty="0"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800" b="1" spc="-50" dirty="0"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446782" y="3559302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46782" y="3737609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446782" y="391591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5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446782" y="4114038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446782" y="429691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5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446782" y="448741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5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445257" y="467791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5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45257" y="4839461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492246" y="4222241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6" y="0"/>
                </a:moveTo>
                <a:lnTo>
                  <a:pt x="471296" y="76199"/>
                </a:lnTo>
                <a:lnTo>
                  <a:pt x="522096" y="50799"/>
                </a:lnTo>
                <a:lnTo>
                  <a:pt x="483996" y="50799"/>
                </a:lnTo>
                <a:lnTo>
                  <a:pt x="483996" y="25399"/>
                </a:lnTo>
                <a:lnTo>
                  <a:pt x="522096" y="25399"/>
                </a:lnTo>
                <a:lnTo>
                  <a:pt x="471296" y="0"/>
                </a:lnTo>
                <a:close/>
              </a:path>
              <a:path w="548004" h="76200">
                <a:moveTo>
                  <a:pt x="471296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6" y="50799"/>
                </a:lnTo>
                <a:lnTo>
                  <a:pt x="471296" y="25399"/>
                </a:lnTo>
                <a:close/>
              </a:path>
              <a:path w="548004" h="76200">
                <a:moveTo>
                  <a:pt x="522096" y="25399"/>
                </a:moveTo>
                <a:lnTo>
                  <a:pt x="483996" y="25399"/>
                </a:lnTo>
                <a:lnTo>
                  <a:pt x="483996" y="50799"/>
                </a:lnTo>
                <a:lnTo>
                  <a:pt x="522096" y="50799"/>
                </a:lnTo>
                <a:lnTo>
                  <a:pt x="547496" y="38099"/>
                </a:lnTo>
                <a:lnTo>
                  <a:pt x="522096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139060" y="3480968"/>
            <a:ext cx="374015" cy="15081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31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𝟎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𝟏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6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𝟐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42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𝟑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19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𝟒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56515">
              <a:lnSpc>
                <a:spcPct val="100000"/>
              </a:lnSpc>
              <a:spcBef>
                <a:spcPts val="42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𝟓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14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𝟔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𝟕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065523" y="4176522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Y[1]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4733" y="4869560"/>
            <a:ext cx="45465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S[2:0]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93898" y="5095494"/>
            <a:ext cx="498475" cy="1468120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800" b="1" spc="-50" dirty="0"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800" b="1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446782" y="5171694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5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190750" y="5120766"/>
            <a:ext cx="297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mbria Math"/>
                <a:cs typeface="Cambria Math"/>
              </a:rPr>
              <a:t>𝐈</a:t>
            </a:r>
            <a:r>
              <a:rPr sz="1000" spc="260" dirty="0">
                <a:latin typeface="Cambria Math"/>
                <a:cs typeface="Cambria Math"/>
              </a:rPr>
              <a:t> </a:t>
            </a:r>
            <a:r>
              <a:rPr sz="1000" spc="-25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446782" y="5350002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446782" y="5526785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46782" y="5726429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446782" y="5907785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446782" y="6098285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5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45257" y="6288785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5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445257" y="6450329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5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5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5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92246" y="5833109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6" y="0"/>
                </a:moveTo>
                <a:lnTo>
                  <a:pt x="471296" y="76199"/>
                </a:lnTo>
                <a:lnTo>
                  <a:pt x="522096" y="50799"/>
                </a:lnTo>
                <a:lnTo>
                  <a:pt x="483996" y="50799"/>
                </a:lnTo>
                <a:lnTo>
                  <a:pt x="483996" y="25399"/>
                </a:lnTo>
                <a:lnTo>
                  <a:pt x="522096" y="25399"/>
                </a:lnTo>
                <a:lnTo>
                  <a:pt x="471296" y="0"/>
                </a:lnTo>
                <a:close/>
              </a:path>
              <a:path w="548004" h="76200">
                <a:moveTo>
                  <a:pt x="471296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6" y="50799"/>
                </a:lnTo>
                <a:lnTo>
                  <a:pt x="471296" y="25399"/>
                </a:lnTo>
                <a:close/>
              </a:path>
              <a:path w="548004" h="76200">
                <a:moveTo>
                  <a:pt x="522096" y="25399"/>
                </a:moveTo>
                <a:lnTo>
                  <a:pt x="483996" y="25399"/>
                </a:lnTo>
                <a:lnTo>
                  <a:pt x="483996" y="50799"/>
                </a:lnTo>
                <a:lnTo>
                  <a:pt x="522096" y="50799"/>
                </a:lnTo>
                <a:lnTo>
                  <a:pt x="547496" y="38099"/>
                </a:lnTo>
                <a:lnTo>
                  <a:pt x="522096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139060" y="5173706"/>
            <a:ext cx="374015" cy="14268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80"/>
              </a:spcBef>
            </a:pPr>
            <a:r>
              <a:rPr sz="700" spc="-50" dirty="0">
                <a:latin typeface="Cambria Math"/>
                <a:cs typeface="Cambria Math"/>
              </a:rPr>
              <a:t>𝟎</a:t>
            </a:r>
            <a:endParaRPr sz="7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7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𝟏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5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𝟐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42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𝟑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18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𝟒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56515">
              <a:lnSpc>
                <a:spcPct val="100000"/>
              </a:lnSpc>
              <a:spcBef>
                <a:spcPts val="42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𝟓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44450">
              <a:lnSpc>
                <a:spcPct val="100000"/>
              </a:lnSpc>
              <a:spcBef>
                <a:spcPts val="14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𝟔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𝟕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65523" y="5787644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Y[0]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64946" y="1629917"/>
            <a:ext cx="2331085" cy="5019675"/>
            <a:chOff x="964946" y="1629917"/>
            <a:chExt cx="2331085" cy="5019675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9450" y="1629917"/>
              <a:ext cx="76200" cy="9728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486662" y="1741169"/>
              <a:ext cx="1783080" cy="0"/>
            </a:xfrm>
            <a:custGeom>
              <a:avLst/>
              <a:gdLst/>
              <a:ahLst/>
              <a:cxnLst/>
              <a:rect l="l" t="t" r="r" b="b"/>
              <a:pathLst>
                <a:path w="1783079">
                  <a:moveTo>
                    <a:pt x="0" y="0"/>
                  </a:moveTo>
                  <a:lnTo>
                    <a:pt x="178282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07258" y="3303269"/>
              <a:ext cx="76200" cy="9728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466850" y="3412997"/>
              <a:ext cx="1783080" cy="0"/>
            </a:xfrm>
            <a:custGeom>
              <a:avLst/>
              <a:gdLst/>
              <a:ahLst/>
              <a:cxnLst/>
              <a:rect l="l" t="t" r="r" b="b"/>
              <a:pathLst>
                <a:path w="1783080">
                  <a:moveTo>
                    <a:pt x="0" y="0"/>
                  </a:moveTo>
                  <a:lnTo>
                    <a:pt x="178282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4878" y="4932426"/>
              <a:ext cx="76200" cy="97281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977646" y="5029961"/>
              <a:ext cx="2280920" cy="13335"/>
            </a:xfrm>
            <a:custGeom>
              <a:avLst/>
              <a:gdLst/>
              <a:ahLst/>
              <a:cxnLst/>
              <a:rect l="l" t="t" r="r" b="b"/>
              <a:pathLst>
                <a:path w="2280920" h="13335">
                  <a:moveTo>
                    <a:pt x="0" y="0"/>
                  </a:moveTo>
                  <a:lnTo>
                    <a:pt x="2280666" y="1333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7258" y="6525005"/>
              <a:ext cx="76200" cy="9721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466850" y="1727453"/>
              <a:ext cx="1783080" cy="4909185"/>
            </a:xfrm>
            <a:custGeom>
              <a:avLst/>
              <a:gdLst/>
              <a:ahLst/>
              <a:cxnLst/>
              <a:rect l="l" t="t" r="r" b="b"/>
              <a:pathLst>
                <a:path w="1783080" h="4909184">
                  <a:moveTo>
                    <a:pt x="0" y="4908804"/>
                  </a:moveTo>
                  <a:lnTo>
                    <a:pt x="1782826" y="4908804"/>
                  </a:lnTo>
                </a:path>
                <a:path w="1783080" h="4909184">
                  <a:moveTo>
                    <a:pt x="7619" y="0"/>
                  </a:moveTo>
                  <a:lnTo>
                    <a:pt x="0" y="490882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091946" y="4918709"/>
              <a:ext cx="168910" cy="178435"/>
            </a:xfrm>
            <a:custGeom>
              <a:avLst/>
              <a:gdLst/>
              <a:ahLst/>
              <a:cxnLst/>
              <a:rect l="l" t="t" r="r" b="b"/>
              <a:pathLst>
                <a:path w="168909" h="178435">
                  <a:moveTo>
                    <a:pt x="168757" y="0"/>
                  </a:moveTo>
                  <a:lnTo>
                    <a:pt x="0" y="178307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164742" y="496773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710689" y="1657350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10" h="178435">
                <a:moveTo>
                  <a:pt x="168783" y="0"/>
                </a:moveTo>
                <a:lnTo>
                  <a:pt x="0" y="17830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1837435" y="166827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655826" y="3338321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10" h="178435">
                <a:moveTo>
                  <a:pt x="168782" y="0"/>
                </a:moveTo>
                <a:lnTo>
                  <a:pt x="0" y="178307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783207" y="334987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602486" y="4962905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10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730120" y="497408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585722" y="6569202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10" h="178434">
                <a:moveTo>
                  <a:pt x="168783" y="0"/>
                </a:moveTo>
                <a:lnTo>
                  <a:pt x="0" y="178316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712722" y="658103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666" rIns="0" bIns="0" rtlCol="0">
            <a:spAutoFit/>
          </a:bodyPr>
          <a:lstStyle/>
          <a:p>
            <a:pPr marL="946150" algn="ctr">
              <a:lnSpc>
                <a:spcPts val="4655"/>
              </a:lnSpc>
              <a:spcBef>
                <a:spcPts val="100"/>
              </a:spcBef>
            </a:pPr>
            <a:r>
              <a:rPr spc="-10" dirty="0"/>
              <a:t>4-</a:t>
            </a:r>
            <a:r>
              <a:rPr dirty="0"/>
              <a:t>bit</a:t>
            </a:r>
            <a:r>
              <a:rPr spc="-75" dirty="0"/>
              <a:t> </a:t>
            </a:r>
            <a:r>
              <a:rPr dirty="0"/>
              <a:t>ALU</a:t>
            </a:r>
            <a:r>
              <a:rPr spc="-70" dirty="0"/>
              <a:t> </a:t>
            </a:r>
            <a:r>
              <a:rPr spc="-10" dirty="0"/>
              <a:t>Circuit</a:t>
            </a:r>
          </a:p>
          <a:p>
            <a:pPr marL="946150" marR="6985" algn="ctr">
              <a:lnSpc>
                <a:spcPts val="3215"/>
              </a:lnSpc>
            </a:pPr>
            <a:r>
              <a:rPr sz="3200" dirty="0"/>
              <a:t>8</a:t>
            </a:r>
            <a:r>
              <a:rPr sz="3200" spc="-35" dirty="0"/>
              <a:t> </a:t>
            </a:r>
            <a:r>
              <a:rPr sz="3200" dirty="0"/>
              <a:t>to</a:t>
            </a:r>
            <a:r>
              <a:rPr sz="3200" spc="-30" dirty="0"/>
              <a:t> </a:t>
            </a:r>
            <a:r>
              <a:rPr sz="3200" dirty="0"/>
              <a:t>1</a:t>
            </a:r>
            <a:r>
              <a:rPr sz="3200" spc="-30" dirty="0"/>
              <a:t> </a:t>
            </a:r>
            <a:r>
              <a:rPr sz="3200" spc="-25" dirty="0"/>
              <a:t>MUX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615945" y="1399794"/>
            <a:ext cx="685800" cy="434530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63089" y="1700022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44524" y="1506982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𝟎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63089" y="22273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63089" y="275310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63089" y="33428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63089" y="388086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63089" y="444474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61566" y="5008626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61566" y="54886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4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4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01746" y="365988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0" y="0"/>
                </a:moveTo>
                <a:lnTo>
                  <a:pt x="677290" y="76200"/>
                </a:lnTo>
                <a:lnTo>
                  <a:pt x="728090" y="50800"/>
                </a:lnTo>
                <a:lnTo>
                  <a:pt x="689990" y="50800"/>
                </a:lnTo>
                <a:lnTo>
                  <a:pt x="689990" y="25400"/>
                </a:lnTo>
                <a:lnTo>
                  <a:pt x="728090" y="25400"/>
                </a:lnTo>
                <a:lnTo>
                  <a:pt x="677290" y="0"/>
                </a:lnTo>
                <a:close/>
              </a:path>
              <a:path w="753745" h="76200">
                <a:moveTo>
                  <a:pt x="67729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0" y="50800"/>
                </a:lnTo>
                <a:lnTo>
                  <a:pt x="677290" y="25400"/>
                </a:lnTo>
                <a:close/>
              </a:path>
              <a:path w="753745" h="76200">
                <a:moveTo>
                  <a:pt x="728090" y="25400"/>
                </a:moveTo>
                <a:lnTo>
                  <a:pt x="689990" y="25400"/>
                </a:lnTo>
                <a:lnTo>
                  <a:pt x="689990" y="50800"/>
                </a:lnTo>
                <a:lnTo>
                  <a:pt x="728090" y="50800"/>
                </a:lnTo>
                <a:lnTo>
                  <a:pt x="753490" y="38100"/>
                </a:lnTo>
                <a:lnTo>
                  <a:pt x="728090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94734" y="3477259"/>
            <a:ext cx="774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Y[3:0]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8123" y="2039239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𝟏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8123" y="2550033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𝟐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123" y="3160267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𝟑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4524" y="3682745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𝟒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0866" y="4292600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𝟓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4524" y="4799203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𝟔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9822" y="5363057"/>
            <a:ext cx="713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𝟕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143250" y="861822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552064" y="549909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28366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55570" y="8633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5525770" y="1702307"/>
          <a:ext cx="5478775" cy="3333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4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4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4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7094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7094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7094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7094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object 27"/>
          <p:cNvSpPr/>
          <p:nvPr/>
        </p:nvSpPr>
        <p:spPr>
          <a:xfrm>
            <a:off x="4598289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143"/>
                </a:lnTo>
                <a:lnTo>
                  <a:pt x="178815" y="9143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43653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143"/>
                </a:lnTo>
                <a:lnTo>
                  <a:pt x="178816" y="9143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089016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143"/>
                </a:lnTo>
                <a:lnTo>
                  <a:pt x="178816" y="9143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927216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143"/>
                </a:lnTo>
                <a:lnTo>
                  <a:pt x="178816" y="9143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1057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143"/>
                </a:lnTo>
                <a:lnTo>
                  <a:pt x="178815" y="9143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254620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143"/>
                </a:lnTo>
                <a:lnTo>
                  <a:pt x="178815" y="9143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743825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143"/>
                </a:lnTo>
                <a:lnTo>
                  <a:pt x="178816" y="9143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582025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143"/>
                </a:lnTo>
                <a:lnTo>
                  <a:pt x="178816" y="9143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0194417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143"/>
                </a:lnTo>
                <a:lnTo>
                  <a:pt x="178815" y="9143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439781" y="5207000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143"/>
                </a:lnTo>
                <a:lnTo>
                  <a:pt x="178816" y="9143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192904" y="5420359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143"/>
                </a:lnTo>
                <a:lnTo>
                  <a:pt x="178816" y="9143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765672" y="5420359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143"/>
                </a:lnTo>
                <a:lnTo>
                  <a:pt x="178815" y="9143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8289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232"/>
                </a:lnTo>
                <a:lnTo>
                  <a:pt x="178815" y="9232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843653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232"/>
                </a:lnTo>
                <a:lnTo>
                  <a:pt x="178816" y="9232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089016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232"/>
                </a:lnTo>
                <a:lnTo>
                  <a:pt x="178816" y="9232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27216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232"/>
                </a:lnTo>
                <a:lnTo>
                  <a:pt x="178816" y="9232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171057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232"/>
                </a:lnTo>
                <a:lnTo>
                  <a:pt x="178815" y="9232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254620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232"/>
                </a:lnTo>
                <a:lnTo>
                  <a:pt x="178815" y="9232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7743825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232"/>
                </a:lnTo>
                <a:lnTo>
                  <a:pt x="178816" y="9232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8582025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232"/>
                </a:lnTo>
                <a:lnTo>
                  <a:pt x="178816" y="9232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0194417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232"/>
                </a:lnTo>
                <a:lnTo>
                  <a:pt x="178815" y="9232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0439781" y="574744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232"/>
                </a:lnTo>
                <a:lnTo>
                  <a:pt x="178816" y="9232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192904" y="596080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6" y="0"/>
                </a:moveTo>
                <a:lnTo>
                  <a:pt x="0" y="0"/>
                </a:lnTo>
                <a:lnTo>
                  <a:pt x="0" y="9232"/>
                </a:lnTo>
                <a:lnTo>
                  <a:pt x="178816" y="9232"/>
                </a:lnTo>
                <a:lnTo>
                  <a:pt x="17881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765672" y="5960808"/>
            <a:ext cx="179070" cy="9525"/>
          </a:xfrm>
          <a:custGeom>
            <a:avLst/>
            <a:gdLst/>
            <a:ahLst/>
            <a:cxnLst/>
            <a:rect l="l" t="t" r="r" b="b"/>
            <a:pathLst>
              <a:path w="179070" h="9525">
                <a:moveTo>
                  <a:pt x="178815" y="0"/>
                </a:moveTo>
                <a:lnTo>
                  <a:pt x="0" y="0"/>
                </a:lnTo>
                <a:lnTo>
                  <a:pt x="0" y="9232"/>
                </a:lnTo>
                <a:lnTo>
                  <a:pt x="178815" y="9232"/>
                </a:lnTo>
                <a:lnTo>
                  <a:pt x="17881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908425" y="5165852"/>
            <a:ext cx="7367270" cy="993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𝐘[𝟑]</a:t>
            </a:r>
            <a:r>
              <a:rPr sz="1400" spc="48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400" spc="95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r>
              <a:rPr sz="14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r>
              <a:rPr sz="14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r>
              <a:rPr sz="1400" spc="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r>
              <a:rPr sz="1400" spc="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409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r>
              <a:rPr sz="14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r>
              <a:rPr sz="14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𝟔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r>
              <a:rPr sz="14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spc="-15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1400" spc="-10" dirty="0">
                <a:solidFill>
                  <a:srgbClr val="FF0000"/>
                </a:solidFill>
                <a:latin typeface="Cambria Math"/>
                <a:cs typeface="Cambria Math"/>
              </a:rPr>
              <a:t>[𝟑]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900"/>
              </a:spcBef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𝐘[𝟐]</a:t>
            </a:r>
            <a:r>
              <a:rPr sz="1400" spc="48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400" spc="95" dirty="0">
                <a:solidFill>
                  <a:srgbClr val="FF0000"/>
                </a:solidFill>
                <a:latin typeface="Cambria Math"/>
                <a:cs typeface="Cambria Math"/>
              </a:rPr>
              <a:t> 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r>
              <a:rPr sz="14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r>
              <a:rPr sz="14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r>
              <a:rPr sz="1400" spc="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6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𝟑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r>
              <a:rPr sz="1400" spc="4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409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𝟒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r>
              <a:rPr sz="1400" spc="2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5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𝟓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r>
              <a:rPr sz="14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7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4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𝟔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r>
              <a:rPr sz="1400" spc="5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+</a:t>
            </a:r>
            <a:r>
              <a:rPr sz="1400" spc="6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𝟐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500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400" dirty="0">
                <a:solidFill>
                  <a:srgbClr val="FF0000"/>
                </a:solidFill>
                <a:latin typeface="Cambria Math"/>
                <a:cs typeface="Cambria Math"/>
              </a:rPr>
              <a:t>.</a:t>
            </a:r>
            <a:r>
              <a:rPr sz="1400" spc="-3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400" spc="-10" dirty="0">
                <a:solidFill>
                  <a:srgbClr val="FF0000"/>
                </a:solidFill>
                <a:latin typeface="Cambria Math"/>
                <a:cs typeface="Cambria Math"/>
              </a:rPr>
              <a:t>𝐈</a:t>
            </a:r>
            <a:r>
              <a:rPr sz="1500" spc="-15" baseline="-16666" dirty="0">
                <a:solidFill>
                  <a:srgbClr val="FF0000"/>
                </a:solidFill>
                <a:latin typeface="Cambria Math"/>
                <a:cs typeface="Cambria Math"/>
              </a:rPr>
              <a:t>𝟕</a:t>
            </a:r>
            <a:r>
              <a:rPr sz="1400" spc="-10" dirty="0">
                <a:solidFill>
                  <a:srgbClr val="FF0000"/>
                </a:solidFill>
                <a:latin typeface="Cambria Math"/>
                <a:cs typeface="Cambria Math"/>
              </a:rPr>
              <a:t>[𝟐]</a:t>
            </a:r>
            <a:endParaRPr sz="1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899" rIns="0" bIns="0" rtlCol="0">
            <a:spAutoFit/>
          </a:bodyPr>
          <a:lstStyle/>
          <a:p>
            <a:pPr marL="877569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4-</a:t>
            </a:r>
            <a:r>
              <a:rPr dirty="0"/>
              <a:t>bit</a:t>
            </a:r>
            <a:r>
              <a:rPr spc="-60" dirty="0"/>
              <a:t> </a:t>
            </a:r>
            <a:r>
              <a:rPr dirty="0"/>
              <a:t>ALU</a:t>
            </a:r>
            <a:r>
              <a:rPr spc="-55" dirty="0"/>
              <a:t> </a:t>
            </a:r>
            <a:r>
              <a:rPr spc="-10" dirty="0"/>
              <a:t>Circuit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041391" y="2030476"/>
          <a:ext cx="6820530" cy="333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1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4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43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Operation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0825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𝟐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7810" algn="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𝟏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5" dirty="0">
                          <a:latin typeface="Cambria Math"/>
                          <a:cs typeface="Cambria Math"/>
                        </a:rPr>
                        <a:t>𝐒</a:t>
                      </a:r>
                      <a:r>
                        <a:rPr sz="1950" spc="-37" baseline="-14957" dirty="0">
                          <a:latin typeface="Cambria Math"/>
                          <a:cs typeface="Cambria Math"/>
                        </a:rPr>
                        <a:t>𝟎</a:t>
                      </a:r>
                      <a:endParaRPr sz="1950" baseline="-14957">
                        <a:latin typeface="Cambria Math"/>
                        <a:cs typeface="Cambria Math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2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𝐘</a:t>
                      </a:r>
                      <a:r>
                        <a:rPr sz="18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𝟎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𝟏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XOR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𝟐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LEFT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𝟑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RIGHT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SHIFT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𝟒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ADD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𝟓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SUB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𝟔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25" dirty="0">
                          <a:latin typeface="Calibri"/>
                          <a:cs typeface="Calibri"/>
                        </a:rPr>
                        <a:t>MUL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305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8003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[3]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[2]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[1]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800" spc="-10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𝐈</a:t>
                      </a:r>
                      <a:r>
                        <a:rPr sz="1950" spc="-15" baseline="-14957" dirty="0">
                          <a:solidFill>
                            <a:srgbClr val="FF0000"/>
                          </a:solidFill>
                          <a:latin typeface="Cambria Math"/>
                          <a:cs typeface="Cambria Math"/>
                        </a:rPr>
                        <a:t>𝟕</a:t>
                      </a:r>
                      <a:r>
                        <a:rPr sz="18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[0]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004053" y="5631891"/>
            <a:ext cx="2011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𝐀𝐃𝐃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𝐬𝐞𝐥</a:t>
            </a:r>
            <a:r>
              <a:rPr sz="1800" spc="8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48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mbria Math"/>
                <a:cs typeface="Cambria Math"/>
              </a:rPr>
              <a:t>𝐒𝐔𝐁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9833" y="5677306"/>
            <a:ext cx="35858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2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𝐋𝐄𝐅𝐓</a:t>
            </a:r>
            <a:r>
              <a:rPr sz="1800" spc="-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mbria Math"/>
                <a:cs typeface="Cambria Math"/>
              </a:rPr>
              <a:t>𝐒𝐇𝐈𝐅𝐓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𝟏</a:t>
            </a:r>
            <a:r>
              <a:rPr sz="1950" spc="419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14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𝟏,</a:t>
            </a:r>
            <a:r>
              <a:rPr sz="1800" spc="-110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950" baseline="-14957" dirty="0">
                <a:solidFill>
                  <a:srgbClr val="FF0000"/>
                </a:solidFill>
                <a:latin typeface="Cambria Math"/>
                <a:cs typeface="Cambria Math"/>
              </a:rPr>
              <a:t>𝟎</a:t>
            </a:r>
            <a:r>
              <a:rPr sz="1950" spc="427" baseline="-14957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𝟎,</a:t>
            </a:r>
            <a:r>
              <a:rPr sz="1800" spc="-9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𝐒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=</a:t>
            </a:r>
            <a:r>
              <a:rPr sz="1800" spc="105" dirty="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sz="1800" dirty="0">
                <a:solidFill>
                  <a:srgbClr val="FF0000"/>
                </a:solidFill>
                <a:latin typeface="Cambria Math"/>
                <a:cs typeface="Cambria Math"/>
              </a:rPr>
              <a:t>𝐑𝐈𝐆𝐇𝐓</a:t>
            </a:r>
            <a:r>
              <a:rPr sz="1800" spc="-10" dirty="0">
                <a:solidFill>
                  <a:srgbClr val="FF0000"/>
                </a:solidFill>
                <a:latin typeface="Cambria Math"/>
                <a:cs typeface="Cambria Math"/>
              </a:rPr>
              <a:t> 𝐒𝐇𝐈𝐅𝐓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31484" y="3733038"/>
            <a:ext cx="3850004" cy="2284730"/>
            <a:chOff x="5531484" y="3733038"/>
            <a:chExt cx="3850004" cy="2284730"/>
          </a:xfrm>
        </p:grpSpPr>
        <p:sp>
          <p:nvSpPr>
            <p:cNvPr id="7" name="object 7"/>
            <p:cNvSpPr/>
            <p:nvPr/>
          </p:nvSpPr>
          <p:spPr>
            <a:xfrm>
              <a:off x="5531485" y="4516373"/>
              <a:ext cx="2171065" cy="1460500"/>
            </a:xfrm>
            <a:custGeom>
              <a:avLst/>
              <a:gdLst/>
              <a:ahLst/>
              <a:cxnLst/>
              <a:rect l="l" t="t" r="r" b="b"/>
              <a:pathLst>
                <a:path w="2171065" h="1460500">
                  <a:moveTo>
                    <a:pt x="2141982" y="0"/>
                  </a:moveTo>
                  <a:lnTo>
                    <a:pt x="2035556" y="2921"/>
                  </a:lnTo>
                  <a:lnTo>
                    <a:pt x="2050567" y="30962"/>
                  </a:lnTo>
                  <a:lnTo>
                    <a:pt x="0" y="1127734"/>
                  </a:lnTo>
                  <a:lnTo>
                    <a:pt x="14986" y="1155738"/>
                  </a:lnTo>
                  <a:lnTo>
                    <a:pt x="2065528" y="58915"/>
                  </a:lnTo>
                  <a:lnTo>
                    <a:pt x="2080514" y="86868"/>
                  </a:lnTo>
                  <a:lnTo>
                    <a:pt x="2125345" y="23495"/>
                  </a:lnTo>
                  <a:lnTo>
                    <a:pt x="2141982" y="0"/>
                  </a:lnTo>
                  <a:close/>
                </a:path>
                <a:path w="2171065" h="1460500">
                  <a:moveTo>
                    <a:pt x="2171065" y="348996"/>
                  </a:moveTo>
                  <a:lnTo>
                    <a:pt x="2064639" y="349631"/>
                  </a:lnTo>
                  <a:lnTo>
                    <a:pt x="2078951" y="377888"/>
                  </a:lnTo>
                  <a:lnTo>
                    <a:pt x="254" y="1431950"/>
                  </a:lnTo>
                  <a:lnTo>
                    <a:pt x="14732" y="1460258"/>
                  </a:lnTo>
                  <a:lnTo>
                    <a:pt x="2093302" y="406209"/>
                  </a:lnTo>
                  <a:lnTo>
                    <a:pt x="2107692" y="434594"/>
                  </a:lnTo>
                  <a:lnTo>
                    <a:pt x="2154974" y="370713"/>
                  </a:lnTo>
                  <a:lnTo>
                    <a:pt x="2171065" y="348996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92518" y="3733037"/>
              <a:ext cx="2146935" cy="2002155"/>
            </a:xfrm>
            <a:custGeom>
              <a:avLst/>
              <a:gdLst/>
              <a:ahLst/>
              <a:cxnLst/>
              <a:rect l="l" t="t" r="r" b="b"/>
              <a:pathLst>
                <a:path w="2146934" h="2002154">
                  <a:moveTo>
                    <a:pt x="1280160" y="1984082"/>
                  </a:moveTo>
                  <a:lnTo>
                    <a:pt x="64541" y="71869"/>
                  </a:lnTo>
                  <a:lnTo>
                    <a:pt x="85712" y="58420"/>
                  </a:lnTo>
                  <a:lnTo>
                    <a:pt x="91313" y="54864"/>
                  </a:lnTo>
                  <a:lnTo>
                    <a:pt x="0" y="0"/>
                  </a:lnTo>
                  <a:lnTo>
                    <a:pt x="10922" y="105918"/>
                  </a:lnTo>
                  <a:lnTo>
                    <a:pt x="37744" y="88887"/>
                  </a:lnTo>
                  <a:lnTo>
                    <a:pt x="1253490" y="2001113"/>
                  </a:lnTo>
                  <a:lnTo>
                    <a:pt x="1280160" y="1984082"/>
                  </a:lnTo>
                  <a:close/>
                </a:path>
                <a:path w="2146934" h="2002154">
                  <a:moveTo>
                    <a:pt x="2146427" y="1983270"/>
                  </a:moveTo>
                  <a:lnTo>
                    <a:pt x="754557" y="67716"/>
                  </a:lnTo>
                  <a:lnTo>
                    <a:pt x="772236" y="54864"/>
                  </a:lnTo>
                  <a:lnTo>
                    <a:pt x="780288" y="49022"/>
                  </a:lnTo>
                  <a:lnTo>
                    <a:pt x="685800" y="0"/>
                  </a:lnTo>
                  <a:lnTo>
                    <a:pt x="703199" y="105029"/>
                  </a:lnTo>
                  <a:lnTo>
                    <a:pt x="728891" y="86360"/>
                  </a:lnTo>
                  <a:lnTo>
                    <a:pt x="2120773" y="2001926"/>
                  </a:lnTo>
                  <a:lnTo>
                    <a:pt x="2146427" y="198327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48322" y="4115561"/>
              <a:ext cx="2232660" cy="1902460"/>
            </a:xfrm>
            <a:custGeom>
              <a:avLst/>
              <a:gdLst/>
              <a:ahLst/>
              <a:cxnLst/>
              <a:rect l="l" t="t" r="r" b="b"/>
              <a:pathLst>
                <a:path w="2232659" h="1902460">
                  <a:moveTo>
                    <a:pt x="1531874" y="1882330"/>
                  </a:moveTo>
                  <a:lnTo>
                    <a:pt x="72034" y="64325"/>
                  </a:lnTo>
                  <a:lnTo>
                    <a:pt x="87439" y="51943"/>
                  </a:lnTo>
                  <a:lnTo>
                    <a:pt x="96774" y="44450"/>
                  </a:lnTo>
                  <a:lnTo>
                    <a:pt x="0" y="0"/>
                  </a:lnTo>
                  <a:lnTo>
                    <a:pt x="22479" y="104140"/>
                  </a:lnTo>
                  <a:lnTo>
                    <a:pt x="47256" y="84239"/>
                  </a:lnTo>
                  <a:lnTo>
                    <a:pt x="1507236" y="1902206"/>
                  </a:lnTo>
                  <a:lnTo>
                    <a:pt x="1531874" y="1882330"/>
                  </a:lnTo>
                  <a:close/>
                </a:path>
                <a:path w="2232659" h="1902460">
                  <a:moveTo>
                    <a:pt x="2232660" y="1882368"/>
                  </a:moveTo>
                  <a:lnTo>
                    <a:pt x="783463" y="64630"/>
                  </a:lnTo>
                  <a:lnTo>
                    <a:pt x="799084" y="52197"/>
                  </a:lnTo>
                  <a:lnTo>
                    <a:pt x="808355" y="44831"/>
                  </a:lnTo>
                  <a:lnTo>
                    <a:pt x="711708" y="0"/>
                  </a:lnTo>
                  <a:lnTo>
                    <a:pt x="733806" y="104140"/>
                  </a:lnTo>
                  <a:lnTo>
                    <a:pt x="758647" y="84378"/>
                  </a:lnTo>
                  <a:lnTo>
                    <a:pt x="2207768" y="1902167"/>
                  </a:lnTo>
                  <a:lnTo>
                    <a:pt x="2232660" y="188236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32482" y="1669542"/>
            <a:ext cx="685800" cy="4343400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9625" y="1968245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1364" y="1775536"/>
            <a:ext cx="7118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7094" dirty="0">
                <a:latin typeface="Cambria Math"/>
                <a:cs typeface="Cambria Math"/>
              </a:rPr>
              <a:t>𝟎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79625" y="2495550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79625" y="3021329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79625" y="3611117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79625" y="4149090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79625" y="471449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78102" y="5278373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4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78102" y="575843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4" h="76200">
                <a:moveTo>
                  <a:pt x="677291" y="0"/>
                </a:moveTo>
                <a:lnTo>
                  <a:pt x="677291" y="76199"/>
                </a:lnTo>
                <a:lnTo>
                  <a:pt x="728091" y="50799"/>
                </a:lnTo>
                <a:lnTo>
                  <a:pt x="689991" y="50799"/>
                </a:lnTo>
                <a:lnTo>
                  <a:pt x="689991" y="25399"/>
                </a:lnTo>
                <a:lnTo>
                  <a:pt x="728091" y="25399"/>
                </a:lnTo>
                <a:lnTo>
                  <a:pt x="677291" y="0"/>
                </a:lnTo>
                <a:close/>
              </a:path>
              <a:path w="753744" h="76200">
                <a:moveTo>
                  <a:pt x="677291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677291" y="50799"/>
                </a:lnTo>
                <a:lnTo>
                  <a:pt x="677291" y="25399"/>
                </a:lnTo>
                <a:close/>
              </a:path>
              <a:path w="753744" h="76200">
                <a:moveTo>
                  <a:pt x="728091" y="25399"/>
                </a:moveTo>
                <a:lnTo>
                  <a:pt x="689991" y="25399"/>
                </a:lnTo>
                <a:lnTo>
                  <a:pt x="689991" y="50799"/>
                </a:lnTo>
                <a:lnTo>
                  <a:pt x="728091" y="50799"/>
                </a:lnTo>
                <a:lnTo>
                  <a:pt x="753491" y="38099"/>
                </a:lnTo>
                <a:lnTo>
                  <a:pt x="728091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18282" y="3929634"/>
            <a:ext cx="753745" cy="76200"/>
          </a:xfrm>
          <a:custGeom>
            <a:avLst/>
            <a:gdLst/>
            <a:ahLst/>
            <a:cxnLst/>
            <a:rect l="l" t="t" r="r" b="b"/>
            <a:pathLst>
              <a:path w="753745" h="76200">
                <a:moveTo>
                  <a:pt x="677291" y="0"/>
                </a:moveTo>
                <a:lnTo>
                  <a:pt x="677291" y="76200"/>
                </a:lnTo>
                <a:lnTo>
                  <a:pt x="728091" y="50800"/>
                </a:lnTo>
                <a:lnTo>
                  <a:pt x="689991" y="50800"/>
                </a:lnTo>
                <a:lnTo>
                  <a:pt x="689991" y="25400"/>
                </a:lnTo>
                <a:lnTo>
                  <a:pt x="728091" y="25400"/>
                </a:lnTo>
                <a:lnTo>
                  <a:pt x="677291" y="0"/>
                </a:lnTo>
                <a:close/>
              </a:path>
              <a:path w="753745" h="76200">
                <a:moveTo>
                  <a:pt x="677291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677291" y="50800"/>
                </a:lnTo>
                <a:lnTo>
                  <a:pt x="677291" y="25400"/>
                </a:lnTo>
                <a:close/>
              </a:path>
              <a:path w="753745" h="76200">
                <a:moveTo>
                  <a:pt x="728091" y="25400"/>
                </a:moveTo>
                <a:lnTo>
                  <a:pt x="689991" y="25400"/>
                </a:lnTo>
                <a:lnTo>
                  <a:pt x="689991" y="50800"/>
                </a:lnTo>
                <a:lnTo>
                  <a:pt x="728091" y="50800"/>
                </a:lnTo>
                <a:lnTo>
                  <a:pt x="753491" y="38100"/>
                </a:lnTo>
                <a:lnTo>
                  <a:pt x="728091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811651" y="3746372"/>
            <a:ext cx="7747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Y[3:0]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54963" y="2308352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𝟏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54963" y="2819146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𝟐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54963" y="3429380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𝟑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1364" y="3951858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𝟒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57707" y="4561713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𝟓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61364" y="5068316"/>
            <a:ext cx="711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𝟔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6663" y="5632196"/>
            <a:ext cx="7137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mbria Math"/>
                <a:cs typeface="Cambria Math"/>
              </a:rPr>
              <a:t>𝐈</a:t>
            </a:r>
            <a:r>
              <a:rPr sz="1950" spc="-15" baseline="-14957" dirty="0">
                <a:latin typeface="Cambria Math"/>
                <a:cs typeface="Cambria Math"/>
              </a:rPr>
              <a:t>𝟕</a:t>
            </a:r>
            <a:r>
              <a:rPr sz="1800" b="1" spc="-10" dirty="0">
                <a:latin typeface="Calibri"/>
                <a:cs typeface="Calibri"/>
              </a:rPr>
              <a:t>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859785" y="1130046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68601" y="819150"/>
            <a:ext cx="855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44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35" dirty="0">
                <a:latin typeface="Cambria Math"/>
                <a:cs typeface="Cambria Math"/>
              </a:rPr>
              <a:t>𝐒</a:t>
            </a:r>
            <a:r>
              <a:rPr sz="1950" spc="-52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644901" y="1133094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73629" y="1133094"/>
            <a:ext cx="76200" cy="530860"/>
          </a:xfrm>
          <a:custGeom>
            <a:avLst/>
            <a:gdLst/>
            <a:ahLst/>
            <a:cxnLst/>
            <a:rect l="l" t="t" r="r" b="b"/>
            <a:pathLst>
              <a:path w="76200" h="530860">
                <a:moveTo>
                  <a:pt x="25400" y="454278"/>
                </a:moveTo>
                <a:lnTo>
                  <a:pt x="0" y="454278"/>
                </a:lnTo>
                <a:lnTo>
                  <a:pt x="38100" y="530478"/>
                </a:lnTo>
                <a:lnTo>
                  <a:pt x="69850" y="466978"/>
                </a:lnTo>
                <a:lnTo>
                  <a:pt x="25400" y="466978"/>
                </a:lnTo>
                <a:lnTo>
                  <a:pt x="25400" y="454278"/>
                </a:lnTo>
                <a:close/>
              </a:path>
              <a:path w="76200" h="530860">
                <a:moveTo>
                  <a:pt x="50800" y="0"/>
                </a:moveTo>
                <a:lnTo>
                  <a:pt x="25400" y="0"/>
                </a:lnTo>
                <a:lnTo>
                  <a:pt x="25400" y="466978"/>
                </a:lnTo>
                <a:lnTo>
                  <a:pt x="50800" y="466978"/>
                </a:lnTo>
                <a:lnTo>
                  <a:pt x="50800" y="0"/>
                </a:lnTo>
                <a:close/>
              </a:path>
              <a:path w="76200" h="530860">
                <a:moveTo>
                  <a:pt x="76200" y="454278"/>
                </a:moveTo>
                <a:lnTo>
                  <a:pt x="50800" y="454278"/>
                </a:lnTo>
                <a:lnTo>
                  <a:pt x="50800" y="466978"/>
                </a:lnTo>
                <a:lnTo>
                  <a:pt x="69850" y="466978"/>
                </a:lnTo>
                <a:lnTo>
                  <a:pt x="76200" y="4542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922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4-</a:t>
            </a:r>
            <a:r>
              <a:rPr dirty="0"/>
              <a:t>bit</a:t>
            </a:r>
            <a:r>
              <a:rPr spc="-65" dirty="0"/>
              <a:t> </a:t>
            </a:r>
            <a:r>
              <a:rPr dirty="0"/>
              <a:t>ALU</a:t>
            </a:r>
            <a:r>
              <a:rPr spc="-60" dirty="0"/>
              <a:t> </a:t>
            </a:r>
            <a:r>
              <a:rPr spc="-10" dirty="0"/>
              <a:t>Circuit</a:t>
            </a:r>
          </a:p>
        </p:txBody>
      </p:sp>
      <p:sp>
        <p:nvSpPr>
          <p:cNvPr id="3" name="object 3"/>
          <p:cNvSpPr/>
          <p:nvPr/>
        </p:nvSpPr>
        <p:spPr>
          <a:xfrm>
            <a:off x="9400793" y="1540002"/>
            <a:ext cx="685800" cy="4345305"/>
          </a:xfrm>
          <a:custGeom>
            <a:avLst/>
            <a:gdLst/>
            <a:ahLst/>
            <a:cxnLst/>
            <a:rect l="l" t="t" r="r" b="b"/>
            <a:pathLst>
              <a:path w="685800" h="4345305">
                <a:moveTo>
                  <a:pt x="0" y="4344924"/>
                </a:moveTo>
                <a:lnTo>
                  <a:pt x="685800" y="4344924"/>
                </a:lnTo>
                <a:lnTo>
                  <a:pt x="685800" y="0"/>
                </a:lnTo>
                <a:lnTo>
                  <a:pt x="0" y="0"/>
                </a:lnTo>
                <a:lnTo>
                  <a:pt x="0" y="4344924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54031" y="1457324"/>
            <a:ext cx="180340" cy="441579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b="1" spc="-50" dirty="0">
                <a:latin typeface="Calibri"/>
                <a:cs typeface="Calibri"/>
              </a:rPr>
              <a:t>0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4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spc="-50" dirty="0"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6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0" dirty="0">
                <a:latin typeface="Calibri"/>
                <a:cs typeface="Calibri"/>
              </a:rPr>
              <a:t>7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46910" y="1002030"/>
            <a:ext cx="8893175" cy="4705350"/>
            <a:chOff x="1946910" y="1002030"/>
            <a:chExt cx="8893175" cy="4705350"/>
          </a:xfrm>
        </p:grpSpPr>
        <p:sp>
          <p:nvSpPr>
            <p:cNvPr id="6" name="object 6"/>
            <p:cNvSpPr/>
            <p:nvPr/>
          </p:nvSpPr>
          <p:spPr>
            <a:xfrm>
              <a:off x="5258562" y="1002029"/>
              <a:ext cx="5581650" cy="4705350"/>
            </a:xfrm>
            <a:custGeom>
              <a:avLst/>
              <a:gdLst/>
              <a:ahLst/>
              <a:cxnLst/>
              <a:rect l="l" t="t" r="r" b="b"/>
              <a:pathLst>
                <a:path w="5581650" h="4705350">
                  <a:moveTo>
                    <a:pt x="4123436" y="3152775"/>
                  </a:moveTo>
                  <a:lnTo>
                    <a:pt x="4098036" y="3140075"/>
                  </a:lnTo>
                  <a:lnTo>
                    <a:pt x="4047236" y="3114675"/>
                  </a:lnTo>
                  <a:lnTo>
                    <a:pt x="4047236" y="3140075"/>
                  </a:lnTo>
                  <a:lnTo>
                    <a:pt x="1059180" y="3138932"/>
                  </a:lnTo>
                  <a:lnTo>
                    <a:pt x="1059180" y="3164332"/>
                  </a:lnTo>
                  <a:lnTo>
                    <a:pt x="4047236" y="3165475"/>
                  </a:lnTo>
                  <a:lnTo>
                    <a:pt x="4047236" y="3190875"/>
                  </a:lnTo>
                  <a:lnTo>
                    <a:pt x="4098036" y="3165475"/>
                  </a:lnTo>
                  <a:lnTo>
                    <a:pt x="4123436" y="3152775"/>
                  </a:lnTo>
                  <a:close/>
                </a:path>
                <a:path w="5581650" h="4705350">
                  <a:moveTo>
                    <a:pt x="4139692" y="4666488"/>
                  </a:moveTo>
                  <a:lnTo>
                    <a:pt x="4114774" y="4654194"/>
                  </a:lnTo>
                  <a:lnTo>
                    <a:pt x="4063365" y="4628781"/>
                  </a:lnTo>
                  <a:lnTo>
                    <a:pt x="4063492" y="4654194"/>
                  </a:lnTo>
                  <a:lnTo>
                    <a:pt x="4445" y="4675187"/>
                  </a:lnTo>
                  <a:lnTo>
                    <a:pt x="4699" y="4700587"/>
                  </a:lnTo>
                  <a:lnTo>
                    <a:pt x="4063619" y="4679594"/>
                  </a:lnTo>
                  <a:lnTo>
                    <a:pt x="4063746" y="4704981"/>
                  </a:lnTo>
                  <a:lnTo>
                    <a:pt x="4113847" y="4679594"/>
                  </a:lnTo>
                  <a:lnTo>
                    <a:pt x="4139692" y="4666488"/>
                  </a:lnTo>
                  <a:close/>
                </a:path>
                <a:path w="5581650" h="4705350">
                  <a:moveTo>
                    <a:pt x="4139692" y="830580"/>
                  </a:moveTo>
                  <a:lnTo>
                    <a:pt x="4114406" y="818057"/>
                  </a:lnTo>
                  <a:lnTo>
                    <a:pt x="4063365" y="792734"/>
                  </a:lnTo>
                  <a:lnTo>
                    <a:pt x="4063441" y="818057"/>
                  </a:lnTo>
                  <a:lnTo>
                    <a:pt x="3236976" y="820547"/>
                  </a:lnTo>
                  <a:lnTo>
                    <a:pt x="3236976" y="845947"/>
                  </a:lnTo>
                  <a:lnTo>
                    <a:pt x="4063530" y="843457"/>
                  </a:lnTo>
                  <a:lnTo>
                    <a:pt x="4063619" y="868934"/>
                  </a:lnTo>
                  <a:lnTo>
                    <a:pt x="4114165" y="843457"/>
                  </a:lnTo>
                  <a:lnTo>
                    <a:pt x="4139692" y="830580"/>
                  </a:lnTo>
                  <a:close/>
                </a:path>
                <a:path w="5581650" h="4705350">
                  <a:moveTo>
                    <a:pt x="4140073" y="1435608"/>
                  </a:moveTo>
                  <a:lnTo>
                    <a:pt x="4114673" y="1422908"/>
                  </a:lnTo>
                  <a:lnTo>
                    <a:pt x="4063873" y="1397508"/>
                  </a:lnTo>
                  <a:lnTo>
                    <a:pt x="4063873" y="1422908"/>
                  </a:lnTo>
                  <a:lnTo>
                    <a:pt x="2167128" y="1422908"/>
                  </a:lnTo>
                  <a:lnTo>
                    <a:pt x="2167128" y="1448308"/>
                  </a:lnTo>
                  <a:lnTo>
                    <a:pt x="4063873" y="1448308"/>
                  </a:lnTo>
                  <a:lnTo>
                    <a:pt x="4063873" y="1473708"/>
                  </a:lnTo>
                  <a:lnTo>
                    <a:pt x="4114673" y="1448308"/>
                  </a:lnTo>
                  <a:lnTo>
                    <a:pt x="4140073" y="1435608"/>
                  </a:lnTo>
                  <a:close/>
                </a:path>
                <a:path w="5581650" h="4705350">
                  <a:moveTo>
                    <a:pt x="4140327" y="4184904"/>
                  </a:moveTo>
                  <a:lnTo>
                    <a:pt x="4114939" y="4172216"/>
                  </a:lnTo>
                  <a:lnTo>
                    <a:pt x="4064127" y="4146804"/>
                  </a:lnTo>
                  <a:lnTo>
                    <a:pt x="4064127" y="4172216"/>
                  </a:lnTo>
                  <a:lnTo>
                    <a:pt x="1077468" y="4173855"/>
                  </a:lnTo>
                  <a:lnTo>
                    <a:pt x="1077468" y="4199267"/>
                  </a:lnTo>
                  <a:lnTo>
                    <a:pt x="4064127" y="4197616"/>
                  </a:lnTo>
                  <a:lnTo>
                    <a:pt x="4064127" y="4223004"/>
                  </a:lnTo>
                  <a:lnTo>
                    <a:pt x="4114901" y="4197616"/>
                  </a:lnTo>
                  <a:lnTo>
                    <a:pt x="4140327" y="4184904"/>
                  </a:lnTo>
                  <a:close/>
                </a:path>
                <a:path w="5581650" h="4705350">
                  <a:moveTo>
                    <a:pt x="4141470" y="3621024"/>
                  </a:moveTo>
                  <a:lnTo>
                    <a:pt x="4116070" y="3608324"/>
                  </a:lnTo>
                  <a:lnTo>
                    <a:pt x="4065270" y="3582924"/>
                  </a:lnTo>
                  <a:lnTo>
                    <a:pt x="4065270" y="3608324"/>
                  </a:lnTo>
                  <a:lnTo>
                    <a:pt x="138684" y="3608324"/>
                  </a:lnTo>
                  <a:lnTo>
                    <a:pt x="138684" y="3633724"/>
                  </a:lnTo>
                  <a:lnTo>
                    <a:pt x="4065270" y="3633724"/>
                  </a:lnTo>
                  <a:lnTo>
                    <a:pt x="4065270" y="3659124"/>
                  </a:lnTo>
                  <a:lnTo>
                    <a:pt x="4116070" y="3633724"/>
                  </a:lnTo>
                  <a:lnTo>
                    <a:pt x="4141470" y="3621024"/>
                  </a:lnTo>
                  <a:close/>
                </a:path>
                <a:path w="5581650" h="4705350">
                  <a:moveTo>
                    <a:pt x="4141978" y="2557272"/>
                  </a:moveTo>
                  <a:lnTo>
                    <a:pt x="4116578" y="2544572"/>
                  </a:lnTo>
                  <a:lnTo>
                    <a:pt x="4065778" y="2519172"/>
                  </a:lnTo>
                  <a:lnTo>
                    <a:pt x="4065778" y="2544572"/>
                  </a:lnTo>
                  <a:lnTo>
                    <a:pt x="0" y="2544572"/>
                  </a:lnTo>
                  <a:lnTo>
                    <a:pt x="0" y="2569972"/>
                  </a:lnTo>
                  <a:lnTo>
                    <a:pt x="4065778" y="2569972"/>
                  </a:lnTo>
                  <a:lnTo>
                    <a:pt x="4065778" y="2595372"/>
                  </a:lnTo>
                  <a:lnTo>
                    <a:pt x="4116578" y="2569972"/>
                  </a:lnTo>
                  <a:lnTo>
                    <a:pt x="4141978" y="2557272"/>
                  </a:lnTo>
                  <a:close/>
                </a:path>
                <a:path w="5581650" h="4705350">
                  <a:moveTo>
                    <a:pt x="4141978" y="1996440"/>
                  </a:moveTo>
                  <a:lnTo>
                    <a:pt x="4116578" y="1983740"/>
                  </a:lnTo>
                  <a:lnTo>
                    <a:pt x="4065778" y="1958340"/>
                  </a:lnTo>
                  <a:lnTo>
                    <a:pt x="4065778" y="1983740"/>
                  </a:lnTo>
                  <a:lnTo>
                    <a:pt x="562356" y="1983740"/>
                  </a:lnTo>
                  <a:lnTo>
                    <a:pt x="562356" y="2009140"/>
                  </a:lnTo>
                  <a:lnTo>
                    <a:pt x="4065778" y="2009140"/>
                  </a:lnTo>
                  <a:lnTo>
                    <a:pt x="4065778" y="2034540"/>
                  </a:lnTo>
                  <a:lnTo>
                    <a:pt x="4116578" y="2009140"/>
                  </a:lnTo>
                  <a:lnTo>
                    <a:pt x="4141978" y="1996440"/>
                  </a:lnTo>
                  <a:close/>
                </a:path>
                <a:path w="5581650" h="4705350">
                  <a:moveTo>
                    <a:pt x="4258056" y="455803"/>
                  </a:moveTo>
                  <a:lnTo>
                    <a:pt x="4232656" y="455803"/>
                  </a:lnTo>
                  <a:lnTo>
                    <a:pt x="4232656" y="1524"/>
                  </a:lnTo>
                  <a:lnTo>
                    <a:pt x="4207256" y="1524"/>
                  </a:lnTo>
                  <a:lnTo>
                    <a:pt x="4207256" y="455803"/>
                  </a:lnTo>
                  <a:lnTo>
                    <a:pt x="4181856" y="455803"/>
                  </a:lnTo>
                  <a:lnTo>
                    <a:pt x="4219956" y="532003"/>
                  </a:lnTo>
                  <a:lnTo>
                    <a:pt x="4251706" y="468503"/>
                  </a:lnTo>
                  <a:lnTo>
                    <a:pt x="4258056" y="455803"/>
                  </a:lnTo>
                  <a:close/>
                </a:path>
                <a:path w="5581650" h="4705350">
                  <a:moveTo>
                    <a:pt x="4501896" y="455803"/>
                  </a:moveTo>
                  <a:lnTo>
                    <a:pt x="4476496" y="455803"/>
                  </a:lnTo>
                  <a:lnTo>
                    <a:pt x="4476496" y="1524"/>
                  </a:lnTo>
                  <a:lnTo>
                    <a:pt x="4451096" y="1524"/>
                  </a:lnTo>
                  <a:lnTo>
                    <a:pt x="4451096" y="455803"/>
                  </a:lnTo>
                  <a:lnTo>
                    <a:pt x="4425696" y="455803"/>
                  </a:lnTo>
                  <a:lnTo>
                    <a:pt x="4463796" y="532003"/>
                  </a:lnTo>
                  <a:lnTo>
                    <a:pt x="4495546" y="468503"/>
                  </a:lnTo>
                  <a:lnTo>
                    <a:pt x="4501896" y="455803"/>
                  </a:lnTo>
                  <a:close/>
                </a:path>
                <a:path w="5581650" h="4705350">
                  <a:moveTo>
                    <a:pt x="4745736" y="454279"/>
                  </a:moveTo>
                  <a:lnTo>
                    <a:pt x="4720336" y="454279"/>
                  </a:lnTo>
                  <a:lnTo>
                    <a:pt x="4720336" y="0"/>
                  </a:lnTo>
                  <a:lnTo>
                    <a:pt x="4694936" y="0"/>
                  </a:lnTo>
                  <a:lnTo>
                    <a:pt x="4694936" y="454279"/>
                  </a:lnTo>
                  <a:lnTo>
                    <a:pt x="4669536" y="454279"/>
                  </a:lnTo>
                  <a:lnTo>
                    <a:pt x="4707636" y="530479"/>
                  </a:lnTo>
                  <a:lnTo>
                    <a:pt x="4739386" y="466979"/>
                  </a:lnTo>
                  <a:lnTo>
                    <a:pt x="4745736" y="454279"/>
                  </a:lnTo>
                  <a:close/>
                </a:path>
                <a:path w="5581650" h="4705350">
                  <a:moveTo>
                    <a:pt x="5581523" y="2836164"/>
                  </a:moveTo>
                  <a:lnTo>
                    <a:pt x="5556123" y="2823464"/>
                  </a:lnTo>
                  <a:lnTo>
                    <a:pt x="5505323" y="2798064"/>
                  </a:lnTo>
                  <a:lnTo>
                    <a:pt x="5505323" y="2823464"/>
                  </a:lnTo>
                  <a:lnTo>
                    <a:pt x="4828032" y="2823464"/>
                  </a:lnTo>
                  <a:lnTo>
                    <a:pt x="4828032" y="2848864"/>
                  </a:lnTo>
                  <a:lnTo>
                    <a:pt x="5505323" y="2848864"/>
                  </a:lnTo>
                  <a:lnTo>
                    <a:pt x="5505323" y="2874264"/>
                  </a:lnTo>
                  <a:lnTo>
                    <a:pt x="5556123" y="2848864"/>
                  </a:lnTo>
                  <a:lnTo>
                    <a:pt x="5581523" y="28361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06106" y="1540002"/>
              <a:ext cx="789940" cy="533400"/>
            </a:xfrm>
            <a:custGeom>
              <a:avLst/>
              <a:gdLst/>
              <a:ahLst/>
              <a:cxnLst/>
              <a:rect l="l" t="t" r="r" b="b"/>
              <a:pathLst>
                <a:path w="789940" h="533400">
                  <a:moveTo>
                    <a:pt x="0" y="533400"/>
                  </a:moveTo>
                  <a:lnTo>
                    <a:pt x="789431" y="533400"/>
                  </a:lnTo>
                  <a:lnTo>
                    <a:pt x="789431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46910" y="1614042"/>
              <a:ext cx="5758815" cy="324485"/>
            </a:xfrm>
            <a:custGeom>
              <a:avLst/>
              <a:gdLst/>
              <a:ahLst/>
              <a:cxnLst/>
              <a:rect l="l" t="t" r="r" b="b"/>
              <a:pathLst>
                <a:path w="5758815" h="324485">
                  <a:moveTo>
                    <a:pt x="5758180" y="286131"/>
                  </a:moveTo>
                  <a:lnTo>
                    <a:pt x="5732602" y="273304"/>
                  </a:lnTo>
                  <a:lnTo>
                    <a:pt x="5681980" y="247904"/>
                  </a:lnTo>
                  <a:lnTo>
                    <a:pt x="5681929" y="273304"/>
                  </a:lnTo>
                  <a:lnTo>
                    <a:pt x="294132" y="268351"/>
                  </a:lnTo>
                  <a:lnTo>
                    <a:pt x="294132" y="293751"/>
                  </a:lnTo>
                  <a:lnTo>
                    <a:pt x="5681891" y="298704"/>
                  </a:lnTo>
                  <a:lnTo>
                    <a:pt x="5681853" y="324104"/>
                  </a:lnTo>
                  <a:lnTo>
                    <a:pt x="5732907" y="298704"/>
                  </a:lnTo>
                  <a:lnTo>
                    <a:pt x="5758180" y="286131"/>
                  </a:lnTo>
                  <a:close/>
                </a:path>
                <a:path w="5758815" h="324485">
                  <a:moveTo>
                    <a:pt x="5758434" y="38227"/>
                  </a:moveTo>
                  <a:lnTo>
                    <a:pt x="5733110" y="25527"/>
                  </a:lnTo>
                  <a:lnTo>
                    <a:pt x="5682234" y="0"/>
                  </a:lnTo>
                  <a:lnTo>
                    <a:pt x="5682183" y="25514"/>
                  </a:lnTo>
                  <a:lnTo>
                    <a:pt x="0" y="16891"/>
                  </a:lnTo>
                  <a:lnTo>
                    <a:pt x="0" y="42291"/>
                  </a:lnTo>
                  <a:lnTo>
                    <a:pt x="5682145" y="50914"/>
                  </a:lnTo>
                  <a:lnTo>
                    <a:pt x="5682107" y="76200"/>
                  </a:lnTo>
                  <a:lnTo>
                    <a:pt x="5732894" y="50927"/>
                  </a:lnTo>
                  <a:lnTo>
                    <a:pt x="5758434" y="382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879963" y="3617721"/>
            <a:ext cx="787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R[3:0]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37293" y="690117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56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36230" y="1690243"/>
            <a:ext cx="36322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946910" y="2181098"/>
            <a:ext cx="5491480" cy="516255"/>
            <a:chOff x="1946910" y="2181098"/>
            <a:chExt cx="5491480" cy="516255"/>
          </a:xfrm>
        </p:grpSpPr>
        <p:sp>
          <p:nvSpPr>
            <p:cNvPr id="13" name="object 13"/>
            <p:cNvSpPr/>
            <p:nvPr/>
          </p:nvSpPr>
          <p:spPr>
            <a:xfrm>
              <a:off x="6643877" y="2193798"/>
              <a:ext cx="782320" cy="490855"/>
            </a:xfrm>
            <a:custGeom>
              <a:avLst/>
              <a:gdLst/>
              <a:ahLst/>
              <a:cxnLst/>
              <a:rect l="l" t="t" r="r" b="b"/>
              <a:pathLst>
                <a:path w="782320" h="490855">
                  <a:moveTo>
                    <a:pt x="0" y="490727"/>
                  </a:moveTo>
                  <a:lnTo>
                    <a:pt x="781812" y="490727"/>
                  </a:lnTo>
                  <a:lnTo>
                    <a:pt x="781812" y="0"/>
                  </a:lnTo>
                  <a:lnTo>
                    <a:pt x="0" y="0"/>
                  </a:lnTo>
                  <a:lnTo>
                    <a:pt x="0" y="490727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46910" y="2260091"/>
              <a:ext cx="4697730" cy="302895"/>
            </a:xfrm>
            <a:custGeom>
              <a:avLst/>
              <a:gdLst/>
              <a:ahLst/>
              <a:cxnLst/>
              <a:rect l="l" t="t" r="r" b="b"/>
              <a:pathLst>
                <a:path w="4697730" h="302894">
                  <a:moveTo>
                    <a:pt x="4697209" y="264414"/>
                  </a:moveTo>
                  <a:lnTo>
                    <a:pt x="4671809" y="251714"/>
                  </a:lnTo>
                  <a:lnTo>
                    <a:pt x="4621009" y="226314"/>
                  </a:lnTo>
                  <a:lnTo>
                    <a:pt x="4621009" y="251714"/>
                  </a:lnTo>
                  <a:lnTo>
                    <a:pt x="294132" y="251714"/>
                  </a:lnTo>
                  <a:lnTo>
                    <a:pt x="294132" y="277114"/>
                  </a:lnTo>
                  <a:lnTo>
                    <a:pt x="4621009" y="277114"/>
                  </a:lnTo>
                  <a:lnTo>
                    <a:pt x="4621009" y="302514"/>
                  </a:lnTo>
                  <a:lnTo>
                    <a:pt x="4671809" y="277114"/>
                  </a:lnTo>
                  <a:lnTo>
                    <a:pt x="4697209" y="264414"/>
                  </a:lnTo>
                  <a:close/>
                </a:path>
                <a:path w="4697730" h="302894">
                  <a:moveTo>
                    <a:pt x="4697463" y="38100"/>
                  </a:moveTo>
                  <a:lnTo>
                    <a:pt x="4672063" y="25400"/>
                  </a:lnTo>
                  <a:lnTo>
                    <a:pt x="4621263" y="0"/>
                  </a:lnTo>
                  <a:lnTo>
                    <a:pt x="4621212" y="25387"/>
                  </a:lnTo>
                  <a:lnTo>
                    <a:pt x="0" y="20066"/>
                  </a:lnTo>
                  <a:lnTo>
                    <a:pt x="0" y="45466"/>
                  </a:lnTo>
                  <a:lnTo>
                    <a:pt x="4621174" y="50787"/>
                  </a:lnTo>
                  <a:lnTo>
                    <a:pt x="4621136" y="76200"/>
                  </a:lnTo>
                  <a:lnTo>
                    <a:pt x="4672025" y="50800"/>
                  </a:lnTo>
                  <a:lnTo>
                    <a:pt x="469746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904735" y="2370582"/>
            <a:ext cx="24637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46782" y="2700782"/>
            <a:ext cx="3886835" cy="499745"/>
            <a:chOff x="1946782" y="2700782"/>
            <a:chExt cx="3886835" cy="499745"/>
          </a:xfrm>
        </p:grpSpPr>
        <p:sp>
          <p:nvSpPr>
            <p:cNvPr id="17" name="object 17"/>
            <p:cNvSpPr/>
            <p:nvPr/>
          </p:nvSpPr>
          <p:spPr>
            <a:xfrm>
              <a:off x="4975097" y="2713482"/>
              <a:ext cx="845819" cy="474345"/>
            </a:xfrm>
            <a:custGeom>
              <a:avLst/>
              <a:gdLst/>
              <a:ahLst/>
              <a:cxnLst/>
              <a:rect l="l" t="t" r="r" b="b"/>
              <a:pathLst>
                <a:path w="845820" h="474344">
                  <a:moveTo>
                    <a:pt x="0" y="473963"/>
                  </a:moveTo>
                  <a:lnTo>
                    <a:pt x="845820" y="473963"/>
                  </a:lnTo>
                  <a:lnTo>
                    <a:pt x="845820" y="0"/>
                  </a:lnTo>
                  <a:lnTo>
                    <a:pt x="0" y="0"/>
                  </a:lnTo>
                  <a:lnTo>
                    <a:pt x="0" y="47396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46783" y="2776600"/>
              <a:ext cx="3027680" cy="328930"/>
            </a:xfrm>
            <a:custGeom>
              <a:avLst/>
              <a:gdLst/>
              <a:ahLst/>
              <a:cxnLst/>
              <a:rect l="l" t="t" r="r" b="b"/>
              <a:pathLst>
                <a:path w="3027679" h="328930">
                  <a:moveTo>
                    <a:pt x="3019806" y="290449"/>
                  </a:moveTo>
                  <a:lnTo>
                    <a:pt x="2994609" y="277901"/>
                  </a:lnTo>
                  <a:lnTo>
                    <a:pt x="2943606" y="252476"/>
                  </a:lnTo>
                  <a:lnTo>
                    <a:pt x="2943644" y="277901"/>
                  </a:lnTo>
                  <a:lnTo>
                    <a:pt x="301879" y="282448"/>
                  </a:lnTo>
                  <a:lnTo>
                    <a:pt x="301879" y="307848"/>
                  </a:lnTo>
                  <a:lnTo>
                    <a:pt x="2943682" y="303301"/>
                  </a:lnTo>
                  <a:lnTo>
                    <a:pt x="2943733" y="328676"/>
                  </a:lnTo>
                  <a:lnTo>
                    <a:pt x="2994228" y="303301"/>
                  </a:lnTo>
                  <a:lnTo>
                    <a:pt x="3019806" y="290449"/>
                  </a:lnTo>
                  <a:close/>
                </a:path>
                <a:path w="3027679" h="328930">
                  <a:moveTo>
                    <a:pt x="3027553" y="37465"/>
                  </a:moveTo>
                  <a:lnTo>
                    <a:pt x="3002864" y="25374"/>
                  </a:lnTo>
                  <a:lnTo>
                    <a:pt x="2951099" y="0"/>
                  </a:lnTo>
                  <a:lnTo>
                    <a:pt x="2951264" y="25374"/>
                  </a:lnTo>
                  <a:lnTo>
                    <a:pt x="0" y="48387"/>
                  </a:lnTo>
                  <a:lnTo>
                    <a:pt x="254" y="73787"/>
                  </a:lnTo>
                  <a:lnTo>
                    <a:pt x="2951429" y="50774"/>
                  </a:lnTo>
                  <a:lnTo>
                    <a:pt x="2951581" y="73787"/>
                  </a:lnTo>
                  <a:lnTo>
                    <a:pt x="2951607" y="76200"/>
                  </a:lnTo>
                  <a:lnTo>
                    <a:pt x="3001454" y="50774"/>
                  </a:lnTo>
                  <a:lnTo>
                    <a:pt x="3027553" y="37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213730" y="2878963"/>
            <a:ext cx="3384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46910" y="3295141"/>
            <a:ext cx="3434079" cy="1762760"/>
            <a:chOff x="1946910" y="3295141"/>
            <a:chExt cx="3434079" cy="1762760"/>
          </a:xfrm>
        </p:grpSpPr>
        <p:sp>
          <p:nvSpPr>
            <p:cNvPr id="21" name="object 21"/>
            <p:cNvSpPr/>
            <p:nvPr/>
          </p:nvSpPr>
          <p:spPr>
            <a:xfrm>
              <a:off x="4296917" y="4412741"/>
              <a:ext cx="1071880" cy="632460"/>
            </a:xfrm>
            <a:custGeom>
              <a:avLst/>
              <a:gdLst/>
              <a:ahLst/>
              <a:cxnLst/>
              <a:rect l="l" t="t" r="r" b="b"/>
              <a:pathLst>
                <a:path w="1071879" h="632460">
                  <a:moveTo>
                    <a:pt x="0" y="632460"/>
                  </a:moveTo>
                  <a:lnTo>
                    <a:pt x="1071372" y="632460"/>
                  </a:lnTo>
                  <a:lnTo>
                    <a:pt x="1071372" y="0"/>
                  </a:lnTo>
                  <a:lnTo>
                    <a:pt x="0" y="0"/>
                  </a:lnTo>
                  <a:lnTo>
                    <a:pt x="0" y="63246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46910" y="4510277"/>
              <a:ext cx="2356485" cy="492759"/>
            </a:xfrm>
            <a:custGeom>
              <a:avLst/>
              <a:gdLst/>
              <a:ahLst/>
              <a:cxnLst/>
              <a:rect l="l" t="t" r="r" b="b"/>
              <a:pathLst>
                <a:path w="2356485" h="492760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6485" h="492760">
                  <a:moveTo>
                    <a:pt x="2355088" y="260604"/>
                  </a:moveTo>
                  <a:lnTo>
                    <a:pt x="2329688" y="247904"/>
                  </a:lnTo>
                  <a:lnTo>
                    <a:pt x="2278888" y="222504"/>
                  </a:lnTo>
                  <a:lnTo>
                    <a:pt x="2278888" y="247904"/>
                  </a:lnTo>
                  <a:lnTo>
                    <a:pt x="294132" y="247904"/>
                  </a:lnTo>
                  <a:lnTo>
                    <a:pt x="294132" y="273304"/>
                  </a:lnTo>
                  <a:lnTo>
                    <a:pt x="2278888" y="273304"/>
                  </a:lnTo>
                  <a:lnTo>
                    <a:pt x="2278888" y="298704"/>
                  </a:lnTo>
                  <a:lnTo>
                    <a:pt x="2329688" y="273304"/>
                  </a:lnTo>
                  <a:lnTo>
                    <a:pt x="2355088" y="260604"/>
                  </a:lnTo>
                  <a:close/>
                </a:path>
                <a:path w="2356485" h="492760">
                  <a:moveTo>
                    <a:pt x="2356231" y="454152"/>
                  </a:moveTo>
                  <a:lnTo>
                    <a:pt x="2330831" y="441452"/>
                  </a:lnTo>
                  <a:lnTo>
                    <a:pt x="2280031" y="416052"/>
                  </a:lnTo>
                  <a:lnTo>
                    <a:pt x="2280031" y="441452"/>
                  </a:lnTo>
                  <a:lnTo>
                    <a:pt x="1877568" y="441452"/>
                  </a:lnTo>
                  <a:lnTo>
                    <a:pt x="1877568" y="466852"/>
                  </a:lnTo>
                  <a:lnTo>
                    <a:pt x="2280031" y="466852"/>
                  </a:lnTo>
                  <a:lnTo>
                    <a:pt x="2280031" y="492252"/>
                  </a:lnTo>
                  <a:lnTo>
                    <a:pt x="2330831" y="466852"/>
                  </a:lnTo>
                  <a:lnTo>
                    <a:pt x="2356231" y="454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60926" y="3307841"/>
              <a:ext cx="897890" cy="512445"/>
            </a:xfrm>
            <a:custGeom>
              <a:avLst/>
              <a:gdLst/>
              <a:ahLst/>
              <a:cxnLst/>
              <a:rect l="l" t="t" r="r" b="b"/>
              <a:pathLst>
                <a:path w="897889" h="512445">
                  <a:moveTo>
                    <a:pt x="0" y="512064"/>
                  </a:moveTo>
                  <a:lnTo>
                    <a:pt x="897636" y="512064"/>
                  </a:lnTo>
                  <a:lnTo>
                    <a:pt x="897636" y="0"/>
                  </a:lnTo>
                  <a:lnTo>
                    <a:pt x="0" y="0"/>
                  </a:lnTo>
                  <a:lnTo>
                    <a:pt x="0" y="512064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46910" y="3395090"/>
              <a:ext cx="2427605" cy="376555"/>
            </a:xfrm>
            <a:custGeom>
              <a:avLst/>
              <a:gdLst/>
              <a:ahLst/>
              <a:cxnLst/>
              <a:rect l="l" t="t" r="r" b="b"/>
              <a:pathLst>
                <a:path w="2427604" h="376554">
                  <a:moveTo>
                    <a:pt x="2413508" y="37719"/>
                  </a:moveTo>
                  <a:lnTo>
                    <a:pt x="2388438" y="25336"/>
                  </a:lnTo>
                  <a:lnTo>
                    <a:pt x="2337181" y="0"/>
                  </a:lnTo>
                  <a:lnTo>
                    <a:pt x="2337257" y="25336"/>
                  </a:lnTo>
                  <a:lnTo>
                    <a:pt x="0" y="36322"/>
                  </a:lnTo>
                  <a:lnTo>
                    <a:pt x="0" y="61722"/>
                  </a:lnTo>
                  <a:lnTo>
                    <a:pt x="2337346" y="50736"/>
                  </a:lnTo>
                  <a:lnTo>
                    <a:pt x="2337435" y="76200"/>
                  </a:lnTo>
                  <a:lnTo>
                    <a:pt x="2387777" y="50736"/>
                  </a:lnTo>
                  <a:lnTo>
                    <a:pt x="2413508" y="37719"/>
                  </a:lnTo>
                  <a:close/>
                </a:path>
                <a:path w="2427604" h="376554">
                  <a:moveTo>
                    <a:pt x="2414778" y="337947"/>
                  </a:moveTo>
                  <a:lnTo>
                    <a:pt x="2389378" y="325247"/>
                  </a:lnTo>
                  <a:lnTo>
                    <a:pt x="2338578" y="299847"/>
                  </a:lnTo>
                  <a:lnTo>
                    <a:pt x="2338578" y="325247"/>
                  </a:lnTo>
                  <a:lnTo>
                    <a:pt x="1877568" y="325247"/>
                  </a:lnTo>
                  <a:lnTo>
                    <a:pt x="1877568" y="350647"/>
                  </a:lnTo>
                  <a:lnTo>
                    <a:pt x="2338578" y="350647"/>
                  </a:lnTo>
                  <a:lnTo>
                    <a:pt x="2338578" y="376047"/>
                  </a:lnTo>
                  <a:lnTo>
                    <a:pt x="2389378" y="350647"/>
                  </a:lnTo>
                  <a:lnTo>
                    <a:pt x="2414778" y="337947"/>
                  </a:lnTo>
                  <a:close/>
                </a:path>
                <a:path w="2427604" h="376554">
                  <a:moveTo>
                    <a:pt x="2427097" y="180848"/>
                  </a:moveTo>
                  <a:lnTo>
                    <a:pt x="2401278" y="167779"/>
                  </a:lnTo>
                  <a:lnTo>
                    <a:pt x="2351151" y="142379"/>
                  </a:lnTo>
                  <a:lnTo>
                    <a:pt x="2351036" y="163715"/>
                  </a:lnTo>
                  <a:lnTo>
                    <a:pt x="2351011" y="167716"/>
                  </a:lnTo>
                  <a:lnTo>
                    <a:pt x="1649095" y="163715"/>
                  </a:lnTo>
                  <a:lnTo>
                    <a:pt x="1648917" y="180848"/>
                  </a:lnTo>
                  <a:lnTo>
                    <a:pt x="1648841" y="189115"/>
                  </a:lnTo>
                  <a:lnTo>
                    <a:pt x="2350884" y="193116"/>
                  </a:lnTo>
                  <a:lnTo>
                    <a:pt x="2363597" y="193179"/>
                  </a:lnTo>
                  <a:lnTo>
                    <a:pt x="2350884" y="193179"/>
                  </a:lnTo>
                  <a:lnTo>
                    <a:pt x="2350770" y="218567"/>
                  </a:lnTo>
                  <a:lnTo>
                    <a:pt x="2402167" y="193179"/>
                  </a:lnTo>
                  <a:lnTo>
                    <a:pt x="2427097" y="1808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341240" y="3369314"/>
            <a:ext cx="714375" cy="44069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245"/>
              </a:spcBef>
            </a:pPr>
            <a:r>
              <a:rPr sz="1575" baseline="-18518" dirty="0">
                <a:latin typeface="Cambria Math"/>
                <a:cs typeface="Cambria Math"/>
              </a:rPr>
              <a:t>𝑺</a:t>
            </a:r>
            <a:r>
              <a:rPr sz="1125" baseline="-40740" dirty="0">
                <a:latin typeface="Cambria Math"/>
                <a:cs typeface="Cambria Math"/>
              </a:rPr>
              <a:t>𝟏</a:t>
            </a:r>
            <a:r>
              <a:rPr sz="1125" spc="254" baseline="-40740" dirty="0">
                <a:latin typeface="Cambria Math"/>
                <a:cs typeface="Cambria Math"/>
              </a:rPr>
              <a:t>  </a:t>
            </a:r>
            <a:r>
              <a:rPr sz="1400" b="1" spc="-2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100" spc="-25" dirty="0">
                <a:latin typeface="Cambria Math"/>
                <a:cs typeface="Cambria Math"/>
              </a:rPr>
              <a:t>𝑺</a:t>
            </a:r>
            <a:r>
              <a:rPr sz="1200" spc="-37" baseline="-17361" dirty="0">
                <a:latin typeface="Cambria Math"/>
                <a:cs typeface="Cambria Math"/>
              </a:rPr>
              <a:t>𝟎</a:t>
            </a:r>
            <a:endParaRPr sz="1200" baseline="-17361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46910" y="5337302"/>
            <a:ext cx="3329304" cy="703580"/>
            <a:chOff x="1946910" y="5337302"/>
            <a:chExt cx="3329304" cy="703580"/>
          </a:xfrm>
        </p:grpSpPr>
        <p:sp>
          <p:nvSpPr>
            <p:cNvPr id="27" name="object 27"/>
            <p:cNvSpPr/>
            <p:nvPr/>
          </p:nvSpPr>
          <p:spPr>
            <a:xfrm>
              <a:off x="4287774" y="5350002"/>
              <a:ext cx="975360" cy="678180"/>
            </a:xfrm>
            <a:custGeom>
              <a:avLst/>
              <a:gdLst/>
              <a:ahLst/>
              <a:cxnLst/>
              <a:rect l="l" t="t" r="r" b="b"/>
              <a:pathLst>
                <a:path w="975360" h="678179">
                  <a:moveTo>
                    <a:pt x="0" y="678180"/>
                  </a:moveTo>
                  <a:lnTo>
                    <a:pt x="975360" y="678180"/>
                  </a:lnTo>
                  <a:lnTo>
                    <a:pt x="975360" y="0"/>
                  </a:lnTo>
                  <a:lnTo>
                    <a:pt x="0" y="0"/>
                  </a:lnTo>
                  <a:lnTo>
                    <a:pt x="0" y="678180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46910" y="5456682"/>
              <a:ext cx="2340610" cy="390525"/>
            </a:xfrm>
            <a:custGeom>
              <a:avLst/>
              <a:gdLst/>
              <a:ahLst/>
              <a:cxnLst/>
              <a:rect l="l" t="t" r="r" b="b"/>
              <a:pathLst>
                <a:path w="2340610" h="390525">
                  <a:moveTo>
                    <a:pt x="2340229" y="352044"/>
                  </a:moveTo>
                  <a:lnTo>
                    <a:pt x="2314829" y="339344"/>
                  </a:lnTo>
                  <a:lnTo>
                    <a:pt x="2264029" y="313944"/>
                  </a:lnTo>
                  <a:lnTo>
                    <a:pt x="2264029" y="339344"/>
                  </a:lnTo>
                  <a:lnTo>
                    <a:pt x="294132" y="339344"/>
                  </a:lnTo>
                  <a:lnTo>
                    <a:pt x="294132" y="364744"/>
                  </a:lnTo>
                  <a:lnTo>
                    <a:pt x="2264029" y="364744"/>
                  </a:lnTo>
                  <a:lnTo>
                    <a:pt x="2264029" y="390144"/>
                  </a:lnTo>
                  <a:lnTo>
                    <a:pt x="2314829" y="364744"/>
                  </a:lnTo>
                  <a:lnTo>
                    <a:pt x="2340229" y="352044"/>
                  </a:lnTo>
                  <a:close/>
                </a:path>
                <a:path w="2340610" h="390525">
                  <a:moveTo>
                    <a:pt x="2340483" y="38100"/>
                  </a:moveTo>
                  <a:lnTo>
                    <a:pt x="2315083" y="25400"/>
                  </a:lnTo>
                  <a:lnTo>
                    <a:pt x="2264283" y="0"/>
                  </a:lnTo>
                  <a:lnTo>
                    <a:pt x="2264283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64283" y="50800"/>
                  </a:lnTo>
                  <a:lnTo>
                    <a:pt x="2264283" y="76200"/>
                  </a:lnTo>
                  <a:lnTo>
                    <a:pt x="2315083" y="50800"/>
                  </a:lnTo>
                  <a:lnTo>
                    <a:pt x="23404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599559" y="5574284"/>
            <a:ext cx="3721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latin typeface="Calibri"/>
                <a:cs typeface="Calibri"/>
              </a:rPr>
              <a:t>MUL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946910" y="1017269"/>
            <a:ext cx="7772400" cy="5125720"/>
          </a:xfrm>
          <a:custGeom>
            <a:avLst/>
            <a:gdLst/>
            <a:ahLst/>
            <a:cxnLst/>
            <a:rect l="l" t="t" r="r" b="b"/>
            <a:pathLst>
              <a:path w="7772400" h="5125720">
                <a:moveTo>
                  <a:pt x="4375404" y="2554224"/>
                </a:moveTo>
                <a:lnTo>
                  <a:pt x="4383913" y="3124580"/>
                </a:lnTo>
              </a:path>
              <a:path w="7772400" h="5125720">
                <a:moveTo>
                  <a:pt x="4384548" y="3601211"/>
                </a:moveTo>
                <a:lnTo>
                  <a:pt x="4393057" y="4171568"/>
                </a:lnTo>
              </a:path>
              <a:path w="7772400" h="5125720">
                <a:moveTo>
                  <a:pt x="0" y="0"/>
                </a:moveTo>
                <a:lnTo>
                  <a:pt x="0" y="5125339"/>
                </a:lnTo>
              </a:path>
              <a:path w="7772400" h="5125720">
                <a:moveTo>
                  <a:pt x="294131" y="0"/>
                </a:moveTo>
                <a:lnTo>
                  <a:pt x="294131" y="5125339"/>
                </a:lnTo>
              </a:path>
              <a:path w="7772400" h="5125720">
                <a:moveTo>
                  <a:pt x="7543800" y="188975"/>
                </a:moveTo>
                <a:lnTo>
                  <a:pt x="1638300" y="188975"/>
                </a:lnTo>
              </a:path>
              <a:path w="7772400" h="5125720">
                <a:moveTo>
                  <a:pt x="1648967" y="181355"/>
                </a:moveTo>
                <a:lnTo>
                  <a:pt x="1648967" y="2561716"/>
                </a:lnTo>
              </a:path>
              <a:path w="7772400" h="5125720">
                <a:moveTo>
                  <a:pt x="7772400" y="333755"/>
                </a:moveTo>
                <a:lnTo>
                  <a:pt x="1866900" y="333755"/>
                </a:lnTo>
              </a:path>
              <a:path w="7772400" h="5125720">
                <a:moveTo>
                  <a:pt x="1877567" y="324612"/>
                </a:moveTo>
                <a:lnTo>
                  <a:pt x="1877567" y="394728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549653" y="711453"/>
            <a:ext cx="1196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A[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3:0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]</a:t>
            </a:r>
            <a:r>
              <a:rPr sz="1400" b="1" spc="2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baseline="3086" dirty="0">
                <a:solidFill>
                  <a:srgbClr val="FF0000"/>
                </a:solidFill>
                <a:latin typeface="Calibri"/>
                <a:cs typeface="Calibri"/>
              </a:rPr>
              <a:t>B[3:0]</a:t>
            </a:r>
            <a:endParaRPr sz="2700" baseline="3086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89505" y="1150366"/>
            <a:ext cx="7882890" cy="4693285"/>
            <a:chOff x="1889505" y="1150366"/>
            <a:chExt cx="7882890" cy="4693285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1595374"/>
              <a:ext cx="111760" cy="889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8209" y="1848358"/>
              <a:ext cx="111759" cy="889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9505" y="2236977"/>
              <a:ext cx="111760" cy="889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8209" y="2471674"/>
              <a:ext cx="111759" cy="889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1029" y="2799333"/>
              <a:ext cx="111759" cy="889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82113" y="3034030"/>
              <a:ext cx="111760" cy="873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9505" y="3399789"/>
              <a:ext cx="111760" cy="889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89505" y="4503166"/>
              <a:ext cx="111760" cy="873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03221" y="5438901"/>
              <a:ext cx="111759" cy="873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82113" y="5754369"/>
              <a:ext cx="111760" cy="889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94305" y="4711954"/>
              <a:ext cx="111760" cy="873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1113" y="1150366"/>
              <a:ext cx="111759" cy="889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0382" y="1296670"/>
              <a:ext cx="111760" cy="8890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838437" y="1753362"/>
              <a:ext cx="168910" cy="178435"/>
            </a:xfrm>
            <a:custGeom>
              <a:avLst/>
              <a:gdLst/>
              <a:ahLst/>
              <a:cxnLst/>
              <a:rect l="l" t="t" r="r" b="b"/>
              <a:pathLst>
                <a:path w="168909" h="178435">
                  <a:moveTo>
                    <a:pt x="168782" y="0"/>
                  </a:moveTo>
                  <a:lnTo>
                    <a:pt x="0" y="178308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314571" y="4523195"/>
            <a:ext cx="852169" cy="52895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680"/>
              </a:spcBef>
            </a:pPr>
            <a:r>
              <a:rPr sz="1400" b="1" spc="-10" dirty="0"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050" spc="-25" dirty="0">
                <a:latin typeface="Cambria Math"/>
                <a:cs typeface="Cambria Math"/>
              </a:rPr>
              <a:t>𝑺𝒆𝒍</a:t>
            </a:r>
            <a:endParaRPr sz="1050">
              <a:latin typeface="Cambria Math"/>
              <a:cs typeface="Cambria Math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911843" y="185940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8838438" y="2358389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8911843" y="246468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8785097" y="2923794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7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8858504" y="3030728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760714" y="3490721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7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8835008" y="359702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785097" y="4048505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8858504" y="415544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734806" y="4537709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3" y="0"/>
                </a:moveTo>
                <a:lnTo>
                  <a:pt x="0" y="178307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818244" y="465353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8719566" y="5084826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8793860" y="519112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719566" y="5569458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20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8793860" y="567700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0281666" y="3733038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7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10356342" y="3839082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837426" y="1559813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6911085" y="166649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063234" y="1817370"/>
            <a:ext cx="397510" cy="759460"/>
          </a:xfrm>
          <a:custGeom>
            <a:avLst/>
            <a:gdLst/>
            <a:ahLst/>
            <a:cxnLst/>
            <a:rect l="l" t="t" r="r" b="b"/>
            <a:pathLst>
              <a:path w="397510" h="759460">
                <a:moveTo>
                  <a:pt x="333375" y="0"/>
                </a:moveTo>
                <a:lnTo>
                  <a:pt x="164591" y="178307"/>
                </a:lnTo>
              </a:path>
              <a:path w="397510" h="759460">
                <a:moveTo>
                  <a:pt x="397382" y="381000"/>
                </a:moveTo>
                <a:lnTo>
                  <a:pt x="228600" y="559307"/>
                </a:lnTo>
              </a:path>
              <a:path w="397510" h="759460">
                <a:moveTo>
                  <a:pt x="168782" y="580643"/>
                </a:moveTo>
                <a:lnTo>
                  <a:pt x="0" y="75895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6137275" y="1873630"/>
            <a:ext cx="370205" cy="87312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495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860"/>
              </a:lnSpc>
              <a:spcBef>
                <a:spcPts val="39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1860"/>
              </a:lnSpc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4385309" y="2701289"/>
            <a:ext cx="397510" cy="454659"/>
          </a:xfrm>
          <a:custGeom>
            <a:avLst/>
            <a:gdLst/>
            <a:ahLst/>
            <a:cxnLst/>
            <a:rect l="l" t="t" r="r" b="b"/>
            <a:pathLst>
              <a:path w="397510" h="454660">
                <a:moveTo>
                  <a:pt x="397382" y="0"/>
                </a:moveTo>
                <a:lnTo>
                  <a:pt x="228600" y="178308"/>
                </a:lnTo>
              </a:path>
              <a:path w="397510" h="454660">
                <a:moveTo>
                  <a:pt x="168782" y="275844"/>
                </a:moveTo>
                <a:lnTo>
                  <a:pt x="0" y="454151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459351" y="2750641"/>
            <a:ext cx="3702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899410" y="3329178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10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971545" y="33784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622042" y="4441697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10" h="178435">
                <a:moveTo>
                  <a:pt x="168782" y="0"/>
                </a:moveTo>
                <a:lnTo>
                  <a:pt x="0" y="178307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2694813" y="4491990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3097529" y="4676394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10" h="178435">
                <a:moveTo>
                  <a:pt x="168782" y="0"/>
                </a:moveTo>
                <a:lnTo>
                  <a:pt x="0" y="178307"/>
                </a:lnTo>
              </a:path>
            </a:pathLst>
          </a:custGeom>
          <a:ln w="253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3170301" y="472605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716529" y="5398770"/>
            <a:ext cx="452755" cy="490855"/>
          </a:xfrm>
          <a:custGeom>
            <a:avLst/>
            <a:gdLst/>
            <a:ahLst/>
            <a:cxnLst/>
            <a:rect l="l" t="t" r="r" b="b"/>
            <a:pathLst>
              <a:path w="452755" h="490854">
                <a:moveTo>
                  <a:pt x="168782" y="0"/>
                </a:moveTo>
                <a:lnTo>
                  <a:pt x="0" y="178307"/>
                </a:lnTo>
              </a:path>
              <a:path w="452755" h="490854">
                <a:moveTo>
                  <a:pt x="452246" y="312419"/>
                </a:moveTo>
                <a:lnTo>
                  <a:pt x="283463" y="490740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3072764" y="57608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972180" y="5221985"/>
            <a:ext cx="5099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0000"/>
                </a:solidFill>
                <a:latin typeface="Calibri"/>
                <a:cs typeface="Calibri"/>
              </a:rPr>
              <a:t>A[1:0]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2445511" y="5371531"/>
            <a:ext cx="500380" cy="66992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R="19685" algn="r">
              <a:lnSpc>
                <a:spcPct val="100000"/>
              </a:lnSpc>
              <a:spcBef>
                <a:spcPts val="705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09"/>
              </a:spcBef>
            </a:pPr>
            <a:r>
              <a:rPr sz="1500" b="1" spc="-10" dirty="0">
                <a:solidFill>
                  <a:srgbClr val="FF0000"/>
                </a:solidFill>
                <a:latin typeface="Calibri"/>
                <a:cs typeface="Calibri"/>
              </a:rPr>
              <a:t>B[1:0]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81" name="object 8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77741" y="3677158"/>
            <a:ext cx="111760" cy="889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3275" y="305815"/>
            <a:ext cx="27971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" dirty="0">
                <a:solidFill>
                  <a:srgbClr val="6F2F9F"/>
                </a:solidFill>
                <a:latin typeface="Calibri"/>
                <a:cs typeface="Calibri"/>
              </a:rPr>
              <a:t>4-</a:t>
            </a:r>
            <a:r>
              <a:rPr sz="3200" b="1" dirty="0">
                <a:solidFill>
                  <a:srgbClr val="6F2F9F"/>
                </a:solidFill>
                <a:latin typeface="Calibri"/>
                <a:cs typeface="Calibri"/>
              </a:rPr>
              <a:t>bit</a:t>
            </a:r>
            <a:r>
              <a:rPr sz="32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6F2F9F"/>
                </a:solidFill>
                <a:latin typeface="Calibri"/>
                <a:cs typeface="Calibri"/>
              </a:rPr>
              <a:t>8</a:t>
            </a:r>
            <a:r>
              <a:rPr sz="32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32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32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6F2F9F"/>
                </a:solidFill>
                <a:latin typeface="Calibri"/>
                <a:cs typeface="Calibri"/>
              </a:rPr>
              <a:t>MUX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93073" y="223265"/>
            <a:ext cx="498475" cy="1407160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sz="800" b="1" spc="-50" dirty="0"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800" b="1" spc="-50" dirty="0"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ts val="869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72250" y="293370"/>
            <a:ext cx="2020570" cy="76200"/>
          </a:xfrm>
          <a:custGeom>
            <a:avLst/>
            <a:gdLst/>
            <a:ahLst/>
            <a:cxnLst/>
            <a:rect l="l" t="t" r="r" b="b"/>
            <a:pathLst>
              <a:path w="2020570" h="76200">
                <a:moveTo>
                  <a:pt x="1944116" y="0"/>
                </a:moveTo>
                <a:lnTo>
                  <a:pt x="1944116" y="76200"/>
                </a:lnTo>
                <a:lnTo>
                  <a:pt x="1994916" y="50800"/>
                </a:lnTo>
                <a:lnTo>
                  <a:pt x="1956816" y="50800"/>
                </a:lnTo>
                <a:lnTo>
                  <a:pt x="1956816" y="25400"/>
                </a:lnTo>
                <a:lnTo>
                  <a:pt x="1994916" y="25400"/>
                </a:lnTo>
                <a:lnTo>
                  <a:pt x="1944116" y="0"/>
                </a:lnTo>
                <a:close/>
              </a:path>
              <a:path w="2020570" h="76200">
                <a:moveTo>
                  <a:pt x="1944116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944116" y="50800"/>
                </a:lnTo>
                <a:lnTo>
                  <a:pt x="1944116" y="25400"/>
                </a:lnTo>
                <a:close/>
              </a:path>
              <a:path w="2020570" h="76200">
                <a:moveTo>
                  <a:pt x="1994916" y="25400"/>
                </a:moveTo>
                <a:lnTo>
                  <a:pt x="1956816" y="25400"/>
                </a:lnTo>
                <a:lnTo>
                  <a:pt x="1956816" y="50800"/>
                </a:lnTo>
                <a:lnTo>
                  <a:pt x="1994916" y="50800"/>
                </a:lnTo>
                <a:lnTo>
                  <a:pt x="2020316" y="38100"/>
                </a:lnTo>
                <a:lnTo>
                  <a:pt x="1994916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83956" y="121665"/>
            <a:ext cx="347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𝟎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045957" y="464058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045957" y="634745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45957" y="825246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45957" y="1000505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45957" y="1183386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44433" y="1366266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44433" y="1521713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091421" y="92887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664700" y="884936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Y[3]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8236" y="403504"/>
            <a:ext cx="374650" cy="126746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204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𝟏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𝟐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35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𝟑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13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𝟒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  <a:p>
            <a:pPr marL="56515">
              <a:lnSpc>
                <a:spcPct val="100000"/>
              </a:lnSpc>
              <a:spcBef>
                <a:spcPts val="35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𝟓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  <a:p>
            <a:pPr marL="45085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𝟔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𝟕</a:t>
            </a:r>
            <a:r>
              <a:rPr sz="1000" spc="-10" dirty="0">
                <a:latin typeface="Cambria Math"/>
                <a:cs typeface="Cambria Math"/>
              </a:rPr>
              <a:t>[𝟑]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93073" y="1821942"/>
            <a:ext cx="498475" cy="1481455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sz="800" b="1" spc="-50" dirty="0"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64630" y="1899666"/>
            <a:ext cx="2028825" cy="76200"/>
          </a:xfrm>
          <a:custGeom>
            <a:avLst/>
            <a:gdLst/>
            <a:ahLst/>
            <a:cxnLst/>
            <a:rect l="l" t="t" r="r" b="b"/>
            <a:pathLst>
              <a:path w="2028825" h="76200">
                <a:moveTo>
                  <a:pt x="1952244" y="0"/>
                </a:moveTo>
                <a:lnTo>
                  <a:pt x="1952244" y="76200"/>
                </a:lnTo>
                <a:lnTo>
                  <a:pt x="2003044" y="50800"/>
                </a:lnTo>
                <a:lnTo>
                  <a:pt x="1964944" y="50800"/>
                </a:lnTo>
                <a:lnTo>
                  <a:pt x="1964944" y="25400"/>
                </a:lnTo>
                <a:lnTo>
                  <a:pt x="2003044" y="25400"/>
                </a:lnTo>
                <a:lnTo>
                  <a:pt x="1952244" y="0"/>
                </a:lnTo>
                <a:close/>
              </a:path>
              <a:path w="2028825" h="76200">
                <a:moveTo>
                  <a:pt x="195224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952244" y="50800"/>
                </a:lnTo>
                <a:lnTo>
                  <a:pt x="1952244" y="25400"/>
                </a:lnTo>
                <a:close/>
              </a:path>
              <a:path w="2028825" h="76200">
                <a:moveTo>
                  <a:pt x="2003044" y="25400"/>
                </a:moveTo>
                <a:lnTo>
                  <a:pt x="1964944" y="25400"/>
                </a:lnTo>
                <a:lnTo>
                  <a:pt x="1964944" y="50800"/>
                </a:lnTo>
                <a:lnTo>
                  <a:pt x="2003044" y="50800"/>
                </a:lnTo>
                <a:lnTo>
                  <a:pt x="2028444" y="38100"/>
                </a:lnTo>
                <a:lnTo>
                  <a:pt x="200304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45957" y="2079498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045957" y="2257805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45957" y="2458973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045957" y="264337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045957" y="2835401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044433" y="3027426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8044433" y="3190494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091421" y="256717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664700" y="2521076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Y[2]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38236" y="2006498"/>
            <a:ext cx="374650" cy="133286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27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𝟏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7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𝟐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44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𝟑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20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𝟒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56515">
              <a:lnSpc>
                <a:spcPct val="100000"/>
              </a:lnSpc>
              <a:spcBef>
                <a:spcPts val="439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𝟓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45085">
              <a:lnSpc>
                <a:spcPct val="100000"/>
              </a:lnSpc>
              <a:spcBef>
                <a:spcPts val="15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𝟔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1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𝟕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93073" y="3483102"/>
            <a:ext cx="498475" cy="1468120"/>
          </a:xfrm>
          <a:prstGeom prst="rect">
            <a:avLst/>
          </a:prstGeom>
          <a:ln w="31750">
            <a:solidFill>
              <a:srgbClr val="000000"/>
            </a:solidFill>
          </a:ln>
        </p:spPr>
        <p:txBody>
          <a:bodyPr vert="horz" wrap="square" lIns="0" tIns="469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sz="800" b="1" spc="-50" dirty="0"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sz="800" b="1" spc="-50" dirty="0"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564630" y="3559302"/>
            <a:ext cx="2028825" cy="76200"/>
          </a:xfrm>
          <a:custGeom>
            <a:avLst/>
            <a:gdLst/>
            <a:ahLst/>
            <a:cxnLst/>
            <a:rect l="l" t="t" r="r" b="b"/>
            <a:pathLst>
              <a:path w="2028825" h="76200">
                <a:moveTo>
                  <a:pt x="1952244" y="0"/>
                </a:moveTo>
                <a:lnTo>
                  <a:pt x="1952244" y="76200"/>
                </a:lnTo>
                <a:lnTo>
                  <a:pt x="2003044" y="50800"/>
                </a:lnTo>
                <a:lnTo>
                  <a:pt x="1964944" y="50800"/>
                </a:lnTo>
                <a:lnTo>
                  <a:pt x="1964944" y="25400"/>
                </a:lnTo>
                <a:lnTo>
                  <a:pt x="2003044" y="25400"/>
                </a:lnTo>
                <a:lnTo>
                  <a:pt x="1952244" y="0"/>
                </a:lnTo>
                <a:close/>
              </a:path>
              <a:path w="2028825" h="76200">
                <a:moveTo>
                  <a:pt x="1952244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1952244" y="50800"/>
                </a:lnTo>
                <a:lnTo>
                  <a:pt x="1952244" y="25400"/>
                </a:lnTo>
                <a:close/>
              </a:path>
              <a:path w="2028825" h="76200">
                <a:moveTo>
                  <a:pt x="2003044" y="25400"/>
                </a:moveTo>
                <a:lnTo>
                  <a:pt x="1964944" y="25400"/>
                </a:lnTo>
                <a:lnTo>
                  <a:pt x="1964944" y="50800"/>
                </a:lnTo>
                <a:lnTo>
                  <a:pt x="2003044" y="50800"/>
                </a:lnTo>
                <a:lnTo>
                  <a:pt x="2028444" y="38100"/>
                </a:lnTo>
                <a:lnTo>
                  <a:pt x="2003044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764144" y="3400425"/>
            <a:ext cx="347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𝟎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045957" y="3737609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8045957" y="3914394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4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8045957" y="4114038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8045957" y="4295394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4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045957" y="4485894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4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044433" y="4676394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4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44433" y="4839461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200"/>
                </a:lnTo>
                <a:lnTo>
                  <a:pt x="522097" y="50800"/>
                </a:lnTo>
                <a:lnTo>
                  <a:pt x="483997" y="50800"/>
                </a:lnTo>
                <a:lnTo>
                  <a:pt x="483997" y="25400"/>
                </a:lnTo>
                <a:lnTo>
                  <a:pt x="522097" y="25400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471297" y="50800"/>
                </a:lnTo>
                <a:lnTo>
                  <a:pt x="471297" y="25400"/>
                </a:lnTo>
                <a:close/>
              </a:path>
              <a:path w="548004" h="76200">
                <a:moveTo>
                  <a:pt x="522097" y="25400"/>
                </a:moveTo>
                <a:lnTo>
                  <a:pt x="483997" y="25400"/>
                </a:lnTo>
                <a:lnTo>
                  <a:pt x="483997" y="50800"/>
                </a:lnTo>
                <a:lnTo>
                  <a:pt x="522097" y="50800"/>
                </a:lnTo>
                <a:lnTo>
                  <a:pt x="547497" y="38100"/>
                </a:lnTo>
                <a:lnTo>
                  <a:pt x="522097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091421" y="4220717"/>
            <a:ext cx="548005" cy="76200"/>
          </a:xfrm>
          <a:custGeom>
            <a:avLst/>
            <a:gdLst/>
            <a:ahLst/>
            <a:cxnLst/>
            <a:rect l="l" t="t" r="r" b="b"/>
            <a:pathLst>
              <a:path w="548004" h="76200">
                <a:moveTo>
                  <a:pt x="471297" y="0"/>
                </a:moveTo>
                <a:lnTo>
                  <a:pt x="471297" y="76199"/>
                </a:lnTo>
                <a:lnTo>
                  <a:pt x="522097" y="50799"/>
                </a:lnTo>
                <a:lnTo>
                  <a:pt x="483997" y="50799"/>
                </a:lnTo>
                <a:lnTo>
                  <a:pt x="483997" y="25399"/>
                </a:lnTo>
                <a:lnTo>
                  <a:pt x="522097" y="25399"/>
                </a:lnTo>
                <a:lnTo>
                  <a:pt x="471297" y="0"/>
                </a:lnTo>
                <a:close/>
              </a:path>
              <a:path w="548004" h="76200">
                <a:moveTo>
                  <a:pt x="471297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471297" y="50799"/>
                </a:lnTo>
                <a:lnTo>
                  <a:pt x="471297" y="25399"/>
                </a:lnTo>
                <a:close/>
              </a:path>
              <a:path w="548004" h="76200">
                <a:moveTo>
                  <a:pt x="522097" y="25399"/>
                </a:moveTo>
                <a:lnTo>
                  <a:pt x="483997" y="25399"/>
                </a:lnTo>
                <a:lnTo>
                  <a:pt x="483997" y="50799"/>
                </a:lnTo>
                <a:lnTo>
                  <a:pt x="522097" y="50799"/>
                </a:lnTo>
                <a:lnTo>
                  <a:pt x="547497" y="38099"/>
                </a:lnTo>
                <a:lnTo>
                  <a:pt x="522097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664700" y="4175505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Y[1]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38236" y="3667023"/>
            <a:ext cx="374650" cy="13208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59690">
              <a:lnSpc>
                <a:spcPct val="100000"/>
              </a:lnSpc>
              <a:spcBef>
                <a:spcPts val="259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𝟏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5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𝟐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42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𝟑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19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𝟒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56515">
              <a:lnSpc>
                <a:spcPct val="100000"/>
              </a:lnSpc>
              <a:spcBef>
                <a:spcPts val="42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𝟓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45085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𝟔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𝟕</a:t>
            </a:r>
            <a:r>
              <a:rPr sz="1000" spc="-10" dirty="0">
                <a:latin typeface="Cambria Math"/>
                <a:cs typeface="Cambria Math"/>
              </a:rPr>
              <a:t>[𝟏]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93589" y="4882641"/>
            <a:ext cx="45465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S[2:0]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8593073" y="5093970"/>
            <a:ext cx="498475" cy="1468120"/>
          </a:xfrm>
          <a:custGeom>
            <a:avLst/>
            <a:gdLst/>
            <a:ahLst/>
            <a:cxnLst/>
            <a:rect l="l" t="t" r="r" b="b"/>
            <a:pathLst>
              <a:path w="498475" h="1468120">
                <a:moveTo>
                  <a:pt x="0" y="1467611"/>
                </a:moveTo>
                <a:lnTo>
                  <a:pt x="498348" y="1467611"/>
                </a:lnTo>
                <a:lnTo>
                  <a:pt x="498348" y="0"/>
                </a:lnTo>
                <a:lnTo>
                  <a:pt x="0" y="0"/>
                </a:lnTo>
                <a:lnTo>
                  <a:pt x="0" y="1467611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8608948" y="5068290"/>
            <a:ext cx="466725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800" b="1" spc="-50" dirty="0">
                <a:latin typeface="Calibri"/>
                <a:cs typeface="Calibri"/>
              </a:rPr>
              <a:t>0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5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6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80"/>
              </a:spcBef>
            </a:pPr>
            <a:r>
              <a:rPr sz="800" b="1" spc="-50" dirty="0"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572250" y="5170170"/>
            <a:ext cx="2020570" cy="76200"/>
          </a:xfrm>
          <a:custGeom>
            <a:avLst/>
            <a:gdLst/>
            <a:ahLst/>
            <a:cxnLst/>
            <a:rect l="l" t="t" r="r" b="b"/>
            <a:pathLst>
              <a:path w="2020570" h="76200">
                <a:moveTo>
                  <a:pt x="1944116" y="0"/>
                </a:moveTo>
                <a:lnTo>
                  <a:pt x="1944116" y="76199"/>
                </a:lnTo>
                <a:lnTo>
                  <a:pt x="1994916" y="50799"/>
                </a:lnTo>
                <a:lnTo>
                  <a:pt x="1956816" y="50799"/>
                </a:lnTo>
                <a:lnTo>
                  <a:pt x="1956816" y="25399"/>
                </a:lnTo>
                <a:lnTo>
                  <a:pt x="1994916" y="25399"/>
                </a:lnTo>
                <a:lnTo>
                  <a:pt x="1944116" y="0"/>
                </a:lnTo>
                <a:close/>
              </a:path>
              <a:path w="2020570" h="76200">
                <a:moveTo>
                  <a:pt x="1944116" y="25399"/>
                </a:moveTo>
                <a:lnTo>
                  <a:pt x="0" y="25399"/>
                </a:lnTo>
                <a:lnTo>
                  <a:pt x="0" y="50799"/>
                </a:lnTo>
                <a:lnTo>
                  <a:pt x="1944116" y="50799"/>
                </a:lnTo>
                <a:lnTo>
                  <a:pt x="1944116" y="25399"/>
                </a:lnTo>
                <a:close/>
              </a:path>
              <a:path w="2020570" h="76200">
                <a:moveTo>
                  <a:pt x="1994916" y="25399"/>
                </a:moveTo>
                <a:lnTo>
                  <a:pt x="1956816" y="25399"/>
                </a:lnTo>
                <a:lnTo>
                  <a:pt x="1956816" y="50799"/>
                </a:lnTo>
                <a:lnTo>
                  <a:pt x="1994916" y="50799"/>
                </a:lnTo>
                <a:lnTo>
                  <a:pt x="2020316" y="38099"/>
                </a:lnTo>
                <a:lnTo>
                  <a:pt x="1994916" y="253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762620" y="5022037"/>
            <a:ext cx="3479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𝟎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044434" y="5348477"/>
            <a:ext cx="1594485" cy="1178560"/>
          </a:xfrm>
          <a:custGeom>
            <a:avLst/>
            <a:gdLst/>
            <a:ahLst/>
            <a:cxnLst/>
            <a:rect l="l" t="t" r="r" b="b"/>
            <a:pathLst>
              <a:path w="1594484" h="1178559">
                <a:moveTo>
                  <a:pt x="547497" y="1139952"/>
                </a:moveTo>
                <a:lnTo>
                  <a:pt x="522097" y="1127252"/>
                </a:lnTo>
                <a:lnTo>
                  <a:pt x="471297" y="1101852"/>
                </a:lnTo>
                <a:lnTo>
                  <a:pt x="471297" y="1127252"/>
                </a:lnTo>
                <a:lnTo>
                  <a:pt x="0" y="1127252"/>
                </a:lnTo>
                <a:lnTo>
                  <a:pt x="0" y="1152652"/>
                </a:lnTo>
                <a:lnTo>
                  <a:pt x="471297" y="1152652"/>
                </a:lnTo>
                <a:lnTo>
                  <a:pt x="471297" y="1178052"/>
                </a:lnTo>
                <a:lnTo>
                  <a:pt x="522097" y="1152652"/>
                </a:lnTo>
                <a:lnTo>
                  <a:pt x="547497" y="1139952"/>
                </a:lnTo>
                <a:close/>
              </a:path>
              <a:path w="1594484" h="1178559">
                <a:moveTo>
                  <a:pt x="547497" y="976884"/>
                </a:moveTo>
                <a:lnTo>
                  <a:pt x="522097" y="964184"/>
                </a:lnTo>
                <a:lnTo>
                  <a:pt x="471297" y="938784"/>
                </a:lnTo>
                <a:lnTo>
                  <a:pt x="471297" y="964184"/>
                </a:lnTo>
                <a:lnTo>
                  <a:pt x="0" y="964184"/>
                </a:lnTo>
                <a:lnTo>
                  <a:pt x="0" y="989584"/>
                </a:lnTo>
                <a:lnTo>
                  <a:pt x="471297" y="989584"/>
                </a:lnTo>
                <a:lnTo>
                  <a:pt x="471297" y="1014984"/>
                </a:lnTo>
                <a:lnTo>
                  <a:pt x="522097" y="989584"/>
                </a:lnTo>
                <a:lnTo>
                  <a:pt x="547497" y="976884"/>
                </a:lnTo>
                <a:close/>
              </a:path>
              <a:path w="1594484" h="1178559">
                <a:moveTo>
                  <a:pt x="549021" y="786384"/>
                </a:moveTo>
                <a:lnTo>
                  <a:pt x="523621" y="773684"/>
                </a:lnTo>
                <a:lnTo>
                  <a:pt x="472821" y="748284"/>
                </a:lnTo>
                <a:lnTo>
                  <a:pt x="472821" y="773684"/>
                </a:lnTo>
                <a:lnTo>
                  <a:pt x="1524" y="773684"/>
                </a:lnTo>
                <a:lnTo>
                  <a:pt x="1524" y="799084"/>
                </a:lnTo>
                <a:lnTo>
                  <a:pt x="472821" y="799084"/>
                </a:lnTo>
                <a:lnTo>
                  <a:pt x="472821" y="824484"/>
                </a:lnTo>
                <a:lnTo>
                  <a:pt x="523621" y="799084"/>
                </a:lnTo>
                <a:lnTo>
                  <a:pt x="549021" y="786384"/>
                </a:lnTo>
                <a:close/>
              </a:path>
              <a:path w="1594484" h="1178559">
                <a:moveTo>
                  <a:pt x="549021" y="595884"/>
                </a:moveTo>
                <a:lnTo>
                  <a:pt x="523621" y="583184"/>
                </a:lnTo>
                <a:lnTo>
                  <a:pt x="472821" y="557784"/>
                </a:lnTo>
                <a:lnTo>
                  <a:pt x="472821" y="583184"/>
                </a:lnTo>
                <a:lnTo>
                  <a:pt x="1524" y="583184"/>
                </a:lnTo>
                <a:lnTo>
                  <a:pt x="1524" y="608584"/>
                </a:lnTo>
                <a:lnTo>
                  <a:pt x="472821" y="608584"/>
                </a:lnTo>
                <a:lnTo>
                  <a:pt x="472821" y="633984"/>
                </a:lnTo>
                <a:lnTo>
                  <a:pt x="523621" y="608584"/>
                </a:lnTo>
                <a:lnTo>
                  <a:pt x="549021" y="595884"/>
                </a:lnTo>
                <a:close/>
              </a:path>
              <a:path w="1594484" h="1178559">
                <a:moveTo>
                  <a:pt x="549021" y="414528"/>
                </a:moveTo>
                <a:lnTo>
                  <a:pt x="523621" y="401828"/>
                </a:lnTo>
                <a:lnTo>
                  <a:pt x="472821" y="376428"/>
                </a:lnTo>
                <a:lnTo>
                  <a:pt x="472821" y="401828"/>
                </a:lnTo>
                <a:lnTo>
                  <a:pt x="1524" y="401828"/>
                </a:lnTo>
                <a:lnTo>
                  <a:pt x="1524" y="427228"/>
                </a:lnTo>
                <a:lnTo>
                  <a:pt x="472821" y="427228"/>
                </a:lnTo>
                <a:lnTo>
                  <a:pt x="472821" y="452628"/>
                </a:lnTo>
                <a:lnTo>
                  <a:pt x="523621" y="427228"/>
                </a:lnTo>
                <a:lnTo>
                  <a:pt x="549021" y="414528"/>
                </a:lnTo>
                <a:close/>
              </a:path>
              <a:path w="1594484" h="1178559">
                <a:moveTo>
                  <a:pt x="549021" y="214884"/>
                </a:moveTo>
                <a:lnTo>
                  <a:pt x="523621" y="202184"/>
                </a:lnTo>
                <a:lnTo>
                  <a:pt x="472821" y="176784"/>
                </a:lnTo>
                <a:lnTo>
                  <a:pt x="472821" y="202184"/>
                </a:lnTo>
                <a:lnTo>
                  <a:pt x="1524" y="202184"/>
                </a:lnTo>
                <a:lnTo>
                  <a:pt x="1524" y="227584"/>
                </a:lnTo>
                <a:lnTo>
                  <a:pt x="472821" y="227584"/>
                </a:lnTo>
                <a:lnTo>
                  <a:pt x="472821" y="252984"/>
                </a:lnTo>
                <a:lnTo>
                  <a:pt x="523621" y="227584"/>
                </a:lnTo>
                <a:lnTo>
                  <a:pt x="549021" y="214884"/>
                </a:lnTo>
                <a:close/>
              </a:path>
              <a:path w="1594484" h="1178559">
                <a:moveTo>
                  <a:pt x="549021" y="38100"/>
                </a:moveTo>
                <a:lnTo>
                  <a:pt x="523621" y="25400"/>
                </a:lnTo>
                <a:lnTo>
                  <a:pt x="472821" y="0"/>
                </a:lnTo>
                <a:lnTo>
                  <a:pt x="472821" y="25400"/>
                </a:lnTo>
                <a:lnTo>
                  <a:pt x="1524" y="25400"/>
                </a:lnTo>
                <a:lnTo>
                  <a:pt x="1524" y="50800"/>
                </a:lnTo>
                <a:lnTo>
                  <a:pt x="472821" y="50800"/>
                </a:lnTo>
                <a:lnTo>
                  <a:pt x="472821" y="76200"/>
                </a:lnTo>
                <a:lnTo>
                  <a:pt x="523621" y="50800"/>
                </a:lnTo>
                <a:lnTo>
                  <a:pt x="549021" y="38100"/>
                </a:lnTo>
                <a:close/>
              </a:path>
              <a:path w="1594484" h="1178559">
                <a:moveTo>
                  <a:pt x="1594485" y="522732"/>
                </a:moveTo>
                <a:lnTo>
                  <a:pt x="1569085" y="510032"/>
                </a:lnTo>
                <a:lnTo>
                  <a:pt x="1518285" y="484632"/>
                </a:lnTo>
                <a:lnTo>
                  <a:pt x="1518285" y="510032"/>
                </a:lnTo>
                <a:lnTo>
                  <a:pt x="1046988" y="510032"/>
                </a:lnTo>
                <a:lnTo>
                  <a:pt x="1046988" y="535432"/>
                </a:lnTo>
                <a:lnTo>
                  <a:pt x="1518285" y="535432"/>
                </a:lnTo>
                <a:lnTo>
                  <a:pt x="1518285" y="560832"/>
                </a:lnTo>
                <a:lnTo>
                  <a:pt x="1569085" y="535432"/>
                </a:lnTo>
                <a:lnTo>
                  <a:pt x="1594485" y="5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9664700" y="5787338"/>
            <a:ext cx="238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20" dirty="0">
                <a:latin typeface="Calibri"/>
                <a:cs typeface="Calibri"/>
              </a:rPr>
              <a:t>Y[0]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85354" y="5299709"/>
            <a:ext cx="297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mbria Math"/>
                <a:cs typeface="Cambria Math"/>
              </a:rPr>
              <a:t>𝐈</a:t>
            </a:r>
            <a:r>
              <a:rPr sz="1000" spc="260" dirty="0">
                <a:latin typeface="Cambria Math"/>
                <a:cs typeface="Cambria Math"/>
              </a:rPr>
              <a:t> </a:t>
            </a:r>
            <a:r>
              <a:rPr sz="1000" spc="-25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738236" y="5359146"/>
            <a:ext cx="374650" cy="12401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130"/>
              </a:spcBef>
            </a:pPr>
            <a:r>
              <a:rPr sz="700" spc="-50" dirty="0">
                <a:latin typeface="Cambria Math"/>
                <a:cs typeface="Cambria Math"/>
              </a:rPr>
              <a:t>𝟏</a:t>
            </a:r>
            <a:endParaRPr sz="7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15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𝟐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64135">
              <a:lnSpc>
                <a:spcPct val="100000"/>
              </a:lnSpc>
              <a:spcBef>
                <a:spcPts val="42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𝟑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59690">
              <a:lnSpc>
                <a:spcPct val="100000"/>
              </a:lnSpc>
              <a:spcBef>
                <a:spcPts val="19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𝟒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56515">
              <a:lnSpc>
                <a:spcPct val="100000"/>
              </a:lnSpc>
              <a:spcBef>
                <a:spcPts val="42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𝟓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45085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𝟔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𝟕</a:t>
            </a:r>
            <a:r>
              <a:rPr sz="1000" spc="-10" dirty="0">
                <a:latin typeface="Cambria Math"/>
                <a:cs typeface="Cambria Math"/>
              </a:rPr>
              <a:t>[𝟎]</a:t>
            </a:r>
            <a:endParaRPr sz="1000">
              <a:latin typeface="Cambria Math"/>
              <a:cs typeface="Cambria Math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533897" y="1629917"/>
            <a:ext cx="3361054" cy="5017770"/>
            <a:chOff x="5533897" y="1629917"/>
            <a:chExt cx="3361054" cy="5017770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18626" y="1629917"/>
              <a:ext cx="76200" cy="9728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085837" y="1739645"/>
              <a:ext cx="1783080" cy="0"/>
            </a:xfrm>
            <a:custGeom>
              <a:avLst/>
              <a:gdLst/>
              <a:ahLst/>
              <a:cxnLst/>
              <a:rect l="l" t="t" r="r" b="b"/>
              <a:pathLst>
                <a:path w="1783079">
                  <a:moveTo>
                    <a:pt x="0" y="0"/>
                  </a:moveTo>
                  <a:lnTo>
                    <a:pt x="178282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6433" y="3301745"/>
              <a:ext cx="76200" cy="9728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7066025" y="3412997"/>
              <a:ext cx="1783080" cy="0"/>
            </a:xfrm>
            <a:custGeom>
              <a:avLst/>
              <a:gdLst/>
              <a:ahLst/>
              <a:cxnLst/>
              <a:rect l="l" t="t" r="r" b="b"/>
              <a:pathLst>
                <a:path w="1783079">
                  <a:moveTo>
                    <a:pt x="0" y="0"/>
                  </a:moveTo>
                  <a:lnTo>
                    <a:pt x="178282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4053" y="4932426"/>
              <a:ext cx="76200" cy="9728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46597" y="5042153"/>
              <a:ext cx="3309620" cy="4445"/>
            </a:xfrm>
            <a:custGeom>
              <a:avLst/>
              <a:gdLst/>
              <a:ahLst/>
              <a:cxnLst/>
              <a:rect l="l" t="t" r="r" b="b"/>
              <a:pathLst>
                <a:path w="3309620" h="4445">
                  <a:moveTo>
                    <a:pt x="0" y="4318"/>
                  </a:moveTo>
                  <a:lnTo>
                    <a:pt x="3309620" y="0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06433" y="6525005"/>
              <a:ext cx="76200" cy="9721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066025" y="1725929"/>
              <a:ext cx="1783080" cy="4909185"/>
            </a:xfrm>
            <a:custGeom>
              <a:avLst/>
              <a:gdLst/>
              <a:ahLst/>
              <a:cxnLst/>
              <a:rect l="l" t="t" r="r" b="b"/>
              <a:pathLst>
                <a:path w="1783079" h="4909184">
                  <a:moveTo>
                    <a:pt x="0" y="4908804"/>
                  </a:moveTo>
                  <a:lnTo>
                    <a:pt x="1782826" y="4908804"/>
                  </a:lnTo>
                </a:path>
                <a:path w="1783079" h="4909184">
                  <a:moveTo>
                    <a:pt x="7620" y="0"/>
                  </a:moveTo>
                  <a:lnTo>
                    <a:pt x="0" y="490882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869685" y="1668017"/>
              <a:ext cx="1651635" cy="1294130"/>
            </a:xfrm>
            <a:custGeom>
              <a:avLst/>
              <a:gdLst/>
              <a:ahLst/>
              <a:cxnLst/>
              <a:rect l="l" t="t" r="r" b="b"/>
              <a:pathLst>
                <a:path w="1651634" h="1294130">
                  <a:moveTo>
                    <a:pt x="168783" y="1115568"/>
                  </a:moveTo>
                  <a:lnTo>
                    <a:pt x="0" y="1293876"/>
                  </a:lnTo>
                </a:path>
                <a:path w="1651634" h="1294130">
                  <a:moveTo>
                    <a:pt x="1651635" y="0"/>
                  </a:moveTo>
                  <a:lnTo>
                    <a:pt x="1482852" y="178308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405751" y="1739645"/>
            <a:ext cx="70675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5"/>
              </a:lnSpc>
              <a:tabLst>
                <a:tab pos="383540" algn="l"/>
              </a:tabLst>
            </a:pPr>
            <a:r>
              <a:rPr sz="2100" b="1" spc="-75" baseline="1984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r>
              <a:rPr sz="2100" b="1" baseline="1984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1000" spc="-10" dirty="0">
                <a:latin typeface="Cambria Math"/>
                <a:cs typeface="Cambria Math"/>
              </a:rPr>
              <a:t>𝐈</a:t>
            </a:r>
            <a:r>
              <a:rPr sz="1050" spc="-15" baseline="-15873" dirty="0">
                <a:latin typeface="Cambria Math"/>
                <a:cs typeface="Cambria Math"/>
              </a:rPr>
              <a:t>𝟎</a:t>
            </a:r>
            <a:r>
              <a:rPr sz="1000" spc="-10" dirty="0">
                <a:latin typeface="Cambria Math"/>
                <a:cs typeface="Cambria Math"/>
              </a:rPr>
              <a:t>[𝟐]</a:t>
            </a:r>
            <a:endParaRPr sz="1000">
              <a:latin typeface="Cambria Math"/>
              <a:cs typeface="Cambria Math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7387590" y="3310890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7460742" y="3352926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7332726" y="4923282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5">
                <a:moveTo>
                  <a:pt x="168782" y="0"/>
                </a:moveTo>
                <a:lnTo>
                  <a:pt x="0" y="178308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7401814" y="4980813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27431" y="1005919"/>
            <a:ext cx="4954905" cy="887730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0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 operation</a:t>
            </a:r>
            <a:r>
              <a:rPr sz="20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4-bit</a:t>
            </a:r>
            <a:r>
              <a:rPr sz="20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8</a:t>
            </a:r>
            <a:r>
              <a:rPr sz="20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0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1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MUX</a:t>
            </a:r>
            <a:r>
              <a:rPr sz="20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will</a:t>
            </a:r>
            <a:r>
              <a:rPr sz="200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be</a:t>
            </a:r>
            <a:r>
              <a:rPr sz="2000" b="1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6F2F9F"/>
                </a:solidFill>
                <a:latin typeface="Calibri"/>
                <a:cs typeface="Calibri"/>
              </a:rPr>
              <a:t>like</a:t>
            </a:r>
            <a:endParaRPr sz="2000">
              <a:latin typeface="Calibri"/>
              <a:cs typeface="Calibri"/>
            </a:endParaRPr>
          </a:p>
          <a:p>
            <a:pPr marL="196850">
              <a:lnSpc>
                <a:spcPct val="100000"/>
              </a:lnSpc>
              <a:spcBef>
                <a:spcPts val="105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A[3:0]</a:t>
            </a:r>
            <a:r>
              <a:rPr sz="1800" b="1" spc="1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B[3:0]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5621273" y="2823210"/>
            <a:ext cx="935990" cy="76200"/>
          </a:xfrm>
          <a:custGeom>
            <a:avLst/>
            <a:gdLst/>
            <a:ahLst/>
            <a:cxnLst/>
            <a:rect l="l" t="t" r="r" b="b"/>
            <a:pathLst>
              <a:path w="935990" h="76200">
                <a:moveTo>
                  <a:pt x="859409" y="0"/>
                </a:moveTo>
                <a:lnTo>
                  <a:pt x="859409" y="76200"/>
                </a:lnTo>
                <a:lnTo>
                  <a:pt x="910208" y="50800"/>
                </a:lnTo>
                <a:lnTo>
                  <a:pt x="872109" y="50800"/>
                </a:lnTo>
                <a:lnTo>
                  <a:pt x="872109" y="25400"/>
                </a:lnTo>
                <a:lnTo>
                  <a:pt x="910208" y="25400"/>
                </a:lnTo>
                <a:lnTo>
                  <a:pt x="859409" y="0"/>
                </a:lnTo>
                <a:close/>
              </a:path>
              <a:path w="935990" h="76200">
                <a:moveTo>
                  <a:pt x="85940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859409" y="50800"/>
                </a:lnTo>
                <a:lnTo>
                  <a:pt x="859409" y="25400"/>
                </a:lnTo>
                <a:close/>
              </a:path>
              <a:path w="935990" h="76200">
                <a:moveTo>
                  <a:pt x="910208" y="25400"/>
                </a:moveTo>
                <a:lnTo>
                  <a:pt x="872109" y="25400"/>
                </a:lnTo>
                <a:lnTo>
                  <a:pt x="872109" y="50800"/>
                </a:lnTo>
                <a:lnTo>
                  <a:pt x="910208" y="50800"/>
                </a:lnTo>
                <a:lnTo>
                  <a:pt x="935608" y="38100"/>
                </a:lnTo>
                <a:lnTo>
                  <a:pt x="910208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7" name="object 67"/>
          <p:cNvGrpSpPr/>
          <p:nvPr/>
        </p:nvGrpSpPr>
        <p:grpSpPr>
          <a:xfrm>
            <a:off x="1025397" y="1898142"/>
            <a:ext cx="3805554" cy="4665980"/>
            <a:chOff x="1025397" y="1898142"/>
            <a:chExt cx="3805554" cy="4665980"/>
          </a:xfrm>
        </p:grpSpPr>
        <p:sp>
          <p:nvSpPr>
            <p:cNvPr id="68" name="object 68"/>
            <p:cNvSpPr/>
            <p:nvPr/>
          </p:nvSpPr>
          <p:spPr>
            <a:xfrm>
              <a:off x="1087323" y="2669285"/>
              <a:ext cx="3743325" cy="323850"/>
            </a:xfrm>
            <a:custGeom>
              <a:avLst/>
              <a:gdLst/>
              <a:ahLst/>
              <a:cxnLst/>
              <a:rect l="l" t="t" r="r" b="b"/>
              <a:pathLst>
                <a:path w="3743325" h="323850">
                  <a:moveTo>
                    <a:pt x="3667163" y="298005"/>
                  </a:moveTo>
                  <a:lnTo>
                    <a:pt x="3667036" y="272605"/>
                  </a:lnTo>
                  <a:lnTo>
                    <a:pt x="0" y="288290"/>
                  </a:lnTo>
                  <a:lnTo>
                    <a:pt x="101" y="313690"/>
                  </a:lnTo>
                  <a:lnTo>
                    <a:pt x="3667163" y="298005"/>
                  </a:lnTo>
                  <a:close/>
                </a:path>
                <a:path w="3743325" h="323850">
                  <a:moveTo>
                    <a:pt x="3742994" y="38100"/>
                  </a:moveTo>
                  <a:lnTo>
                    <a:pt x="3717594" y="25400"/>
                  </a:lnTo>
                  <a:lnTo>
                    <a:pt x="3666794" y="0"/>
                  </a:lnTo>
                  <a:lnTo>
                    <a:pt x="3666794" y="25400"/>
                  </a:lnTo>
                  <a:lnTo>
                    <a:pt x="291134" y="25400"/>
                  </a:lnTo>
                  <a:lnTo>
                    <a:pt x="291134" y="50800"/>
                  </a:lnTo>
                  <a:lnTo>
                    <a:pt x="3666794" y="50800"/>
                  </a:lnTo>
                  <a:lnTo>
                    <a:pt x="3666794" y="76200"/>
                  </a:lnTo>
                  <a:lnTo>
                    <a:pt x="3717594" y="50800"/>
                  </a:lnTo>
                  <a:lnTo>
                    <a:pt x="3742994" y="38100"/>
                  </a:lnTo>
                  <a:close/>
                </a:path>
                <a:path w="3743325" h="323850">
                  <a:moveTo>
                    <a:pt x="3743248" y="284988"/>
                  </a:moveTo>
                  <a:lnTo>
                    <a:pt x="3718166" y="272605"/>
                  </a:lnTo>
                  <a:lnTo>
                    <a:pt x="3666921" y="247269"/>
                  </a:lnTo>
                  <a:lnTo>
                    <a:pt x="3667036" y="272605"/>
                  </a:lnTo>
                  <a:lnTo>
                    <a:pt x="3667125" y="288290"/>
                  </a:lnTo>
                  <a:lnTo>
                    <a:pt x="3667163" y="298005"/>
                  </a:lnTo>
                  <a:lnTo>
                    <a:pt x="3667252" y="313690"/>
                  </a:lnTo>
                  <a:lnTo>
                    <a:pt x="3667302" y="323469"/>
                  </a:lnTo>
                  <a:lnTo>
                    <a:pt x="3717569" y="298005"/>
                  </a:lnTo>
                  <a:lnTo>
                    <a:pt x="3743248" y="2849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87373" y="1898142"/>
              <a:ext cx="294640" cy="4665980"/>
            </a:xfrm>
            <a:custGeom>
              <a:avLst/>
              <a:gdLst/>
              <a:ahLst/>
              <a:cxnLst/>
              <a:rect l="l" t="t" r="r" b="b"/>
              <a:pathLst>
                <a:path w="294640" h="4665980">
                  <a:moveTo>
                    <a:pt x="0" y="0"/>
                  </a:moveTo>
                  <a:lnTo>
                    <a:pt x="0" y="4665789"/>
                  </a:lnTo>
                </a:path>
                <a:path w="294640" h="4665980">
                  <a:moveTo>
                    <a:pt x="294131" y="0"/>
                  </a:moveTo>
                  <a:lnTo>
                    <a:pt x="294131" y="466578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8673" y="2674366"/>
              <a:ext cx="111759" cy="889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5397" y="2916682"/>
              <a:ext cx="111760" cy="88900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4830317" y="2593085"/>
            <a:ext cx="791210" cy="5353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96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5713603" y="2481276"/>
            <a:ext cx="622935" cy="6140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O[3:0]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572250" y="339090"/>
            <a:ext cx="6350" cy="4876800"/>
          </a:xfrm>
          <a:custGeom>
            <a:avLst/>
            <a:gdLst/>
            <a:ahLst/>
            <a:cxnLst/>
            <a:rect l="l" t="t" r="r" b="b"/>
            <a:pathLst>
              <a:path w="6350" h="4876800">
                <a:moveTo>
                  <a:pt x="0" y="0"/>
                </a:moveTo>
                <a:lnTo>
                  <a:pt x="5969" y="487641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552056" y="77215"/>
            <a:ext cx="351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O[3]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596633" y="1688414"/>
            <a:ext cx="3517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O[2]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582282" y="3349878"/>
            <a:ext cx="3517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O[1]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580758" y="5182616"/>
            <a:ext cx="3517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FF0000"/>
                </a:solidFill>
                <a:latin typeface="Calibri"/>
                <a:cs typeface="Calibri"/>
              </a:rPr>
              <a:t>O[0]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7242809" y="6560057"/>
            <a:ext cx="168910" cy="178435"/>
          </a:xfrm>
          <a:custGeom>
            <a:avLst/>
            <a:gdLst/>
            <a:ahLst/>
            <a:cxnLst/>
            <a:rect l="l" t="t" r="r" b="b"/>
            <a:pathLst>
              <a:path w="168909" h="178434">
                <a:moveTo>
                  <a:pt x="168783" y="0"/>
                </a:moveTo>
                <a:lnTo>
                  <a:pt x="0" y="178316"/>
                </a:lnTo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7316851" y="6581952"/>
            <a:ext cx="1162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524" y="1234566"/>
            <a:ext cx="10734040" cy="307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155"/>
              </a:lnSpc>
              <a:spcBef>
                <a:spcPts val="100"/>
              </a:spcBef>
            </a:pPr>
            <a:r>
              <a:rPr sz="5400" b="1" dirty="0">
                <a:solidFill>
                  <a:srgbClr val="6F2F9F"/>
                </a:solidFill>
                <a:latin typeface="Calibri"/>
                <a:cs typeface="Calibri"/>
              </a:rPr>
              <a:t>Home</a:t>
            </a:r>
            <a:r>
              <a:rPr sz="5400" b="1" spc="-20" dirty="0">
                <a:solidFill>
                  <a:srgbClr val="6F2F9F"/>
                </a:solidFill>
                <a:latin typeface="Calibri"/>
                <a:cs typeface="Calibri"/>
              </a:rPr>
              <a:t> Work:</a:t>
            </a:r>
            <a:endParaRPr sz="5400">
              <a:latin typeface="Calibri"/>
              <a:cs typeface="Calibri"/>
            </a:endParaRPr>
          </a:p>
          <a:p>
            <a:pPr marL="12700" marR="5080" indent="-635" algn="ctr">
              <a:lnSpc>
                <a:spcPts val="5830"/>
              </a:lnSpc>
              <a:spcBef>
                <a:spcPts val="409"/>
              </a:spcBef>
              <a:tabLst>
                <a:tab pos="2522220" algn="l"/>
              </a:tabLst>
            </a:pP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Design</a:t>
            </a:r>
            <a:r>
              <a:rPr sz="5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spc="-50" dirty="0">
                <a:solidFill>
                  <a:srgbClr val="6F2F9F"/>
                </a:solidFill>
                <a:latin typeface="Calibri"/>
                <a:cs typeface="Calibri"/>
              </a:rPr>
              <a:t>a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	2-bit</a:t>
            </a:r>
            <a:r>
              <a:rPr sz="5400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ALU</a:t>
            </a:r>
            <a:r>
              <a:rPr sz="5400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that</a:t>
            </a:r>
            <a:r>
              <a:rPr sz="5400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spc="-10" dirty="0">
                <a:solidFill>
                  <a:srgbClr val="6F2F9F"/>
                </a:solidFill>
                <a:latin typeface="Calibri"/>
                <a:cs typeface="Calibri"/>
              </a:rPr>
              <a:t>supports 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following</a:t>
            </a:r>
            <a:r>
              <a:rPr sz="5400" spc="-1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spc="-20" dirty="0">
                <a:solidFill>
                  <a:srgbClr val="6F2F9F"/>
                </a:solidFill>
                <a:latin typeface="Calibri"/>
                <a:cs typeface="Calibri"/>
              </a:rPr>
              <a:t>operations:</a:t>
            </a:r>
            <a:r>
              <a:rPr sz="5400" spc="-2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AND,</a:t>
            </a:r>
            <a:r>
              <a:rPr sz="5400" spc="-1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LEFT</a:t>
            </a:r>
            <a:r>
              <a:rPr sz="5400" spc="-2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spc="90" dirty="0">
                <a:solidFill>
                  <a:srgbClr val="6F2F9F"/>
                </a:solidFill>
                <a:latin typeface="Calibri"/>
                <a:cs typeface="Calibri"/>
              </a:rPr>
              <a:t>S</a:t>
            </a:r>
            <a:r>
              <a:rPr sz="5400" spc="80" dirty="0">
                <a:solidFill>
                  <a:srgbClr val="6F2F9F"/>
                </a:solidFill>
                <a:latin typeface="Calibri"/>
                <a:cs typeface="Calibri"/>
              </a:rPr>
              <a:t>HIF</a:t>
            </a:r>
            <a:r>
              <a:rPr sz="5400" spc="-484" dirty="0">
                <a:solidFill>
                  <a:srgbClr val="6F2F9F"/>
                </a:solidFill>
                <a:latin typeface="Calibri"/>
                <a:cs typeface="Calibri"/>
              </a:rPr>
              <a:t>T</a:t>
            </a:r>
            <a:r>
              <a:rPr sz="5400" spc="85" dirty="0">
                <a:solidFill>
                  <a:srgbClr val="6F2F9F"/>
                </a:solidFill>
                <a:latin typeface="Calibri"/>
                <a:cs typeface="Calibri"/>
              </a:rPr>
              <a:t>,</a:t>
            </a:r>
            <a:r>
              <a:rPr sz="5400" spc="-1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MUL</a:t>
            </a:r>
            <a:r>
              <a:rPr sz="5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dirty="0">
                <a:solidFill>
                  <a:srgbClr val="6F2F9F"/>
                </a:solidFill>
                <a:latin typeface="Calibri"/>
                <a:cs typeface="Calibri"/>
              </a:rPr>
              <a:t>&amp;</a:t>
            </a:r>
            <a:r>
              <a:rPr sz="5400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5400" spc="-20" dirty="0">
                <a:solidFill>
                  <a:srgbClr val="6F2F9F"/>
                </a:solidFill>
                <a:latin typeface="Calibri"/>
                <a:cs typeface="Calibri"/>
              </a:rPr>
              <a:t>SUB.</a:t>
            </a:r>
            <a:endParaRPr sz="5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71064" y="2744216"/>
            <a:ext cx="71361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Calculating</a:t>
            </a:r>
            <a:r>
              <a:rPr spc="-114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FLAG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Values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spc="-100" dirty="0">
                <a:solidFill>
                  <a:srgbClr val="000000"/>
                </a:solidFill>
              </a:rPr>
              <a:t> </a:t>
            </a:r>
            <a:r>
              <a:rPr spc="-25" dirty="0">
                <a:solidFill>
                  <a:srgbClr val="000000"/>
                </a:solidFill>
              </a:rPr>
              <a:t>ALU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73302" y="1679829"/>
            <a:ext cx="10354310" cy="12706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76200">
              <a:lnSpc>
                <a:spcPts val="4650"/>
              </a:lnSpc>
              <a:spcBef>
                <a:spcPts val="675"/>
              </a:spcBef>
            </a:pPr>
            <a:r>
              <a:rPr sz="4300" dirty="0">
                <a:solidFill>
                  <a:srgbClr val="000000"/>
                </a:solidFill>
              </a:rPr>
              <a:t>Question:</a:t>
            </a:r>
            <a:r>
              <a:rPr sz="4300" spc="-110" dirty="0">
                <a:solidFill>
                  <a:srgbClr val="000000"/>
                </a:solidFill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How</a:t>
            </a:r>
            <a:r>
              <a:rPr sz="4300" b="0" spc="-1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sz="4300" b="0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sz="4300" b="0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implement</a:t>
            </a:r>
            <a:r>
              <a:rPr sz="4300" b="0" spc="-10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spc="-10" dirty="0">
                <a:solidFill>
                  <a:srgbClr val="000000"/>
                </a:solidFill>
                <a:latin typeface="Calibri"/>
                <a:cs typeface="Calibri"/>
              </a:rPr>
              <a:t>conditional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branch</a:t>
            </a:r>
            <a:r>
              <a:rPr sz="4300" b="0" spc="-9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spc="-10" dirty="0">
                <a:solidFill>
                  <a:srgbClr val="000000"/>
                </a:solidFill>
                <a:latin typeface="Calibri"/>
                <a:cs typeface="Calibri"/>
              </a:rPr>
              <a:t>instructions</a:t>
            </a:r>
            <a:r>
              <a:rPr sz="4300"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like</a:t>
            </a:r>
            <a:r>
              <a:rPr sz="43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JE,</a:t>
            </a:r>
            <a:r>
              <a:rPr sz="4300"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JNE,</a:t>
            </a:r>
            <a:r>
              <a:rPr sz="43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JG,</a:t>
            </a:r>
            <a:r>
              <a:rPr sz="43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JL,</a:t>
            </a:r>
            <a:r>
              <a:rPr sz="4300" b="0" spc="-1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dirty="0">
                <a:solidFill>
                  <a:srgbClr val="000000"/>
                </a:solidFill>
                <a:latin typeface="Calibri"/>
                <a:cs typeface="Calibri"/>
              </a:rPr>
              <a:t>JLE</a:t>
            </a:r>
            <a:r>
              <a:rPr sz="43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300" b="0" spc="-10" dirty="0">
                <a:solidFill>
                  <a:srgbClr val="000000"/>
                </a:solidFill>
                <a:latin typeface="Calibri"/>
                <a:cs typeface="Calibri"/>
              </a:rPr>
              <a:t>etc.?</a:t>
            </a:r>
            <a:endParaRPr sz="43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8179" y="3384626"/>
            <a:ext cx="10747375" cy="1401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85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Answer: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ts val="3460"/>
              </a:lnSpc>
              <a:spcBef>
                <a:spcPts val="275"/>
              </a:spcBef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1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implement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conditional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instructions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by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using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FLAG</a:t>
            </a:r>
            <a:r>
              <a:rPr sz="3200" spc="-1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values. </a:t>
            </a:r>
            <a:r>
              <a:rPr sz="3200" dirty="0">
                <a:latin typeface="Calibri"/>
                <a:cs typeface="Calibri"/>
              </a:rPr>
              <a:t>Flag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values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are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stored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FLAG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Register.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7432" y="726770"/>
            <a:ext cx="10397490" cy="531177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065" marR="5080" algn="ctr">
              <a:lnSpc>
                <a:spcPts val="3460"/>
              </a:lnSpc>
              <a:spcBef>
                <a:spcPts val="535"/>
              </a:spcBef>
            </a:pPr>
            <a:r>
              <a:rPr sz="3200" dirty="0">
                <a:latin typeface="Calibri"/>
                <a:cs typeface="Calibri"/>
              </a:rPr>
              <a:t>FLAG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register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always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save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previous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instruction.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9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flags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on/off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depending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on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result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previous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instruction.</a:t>
            </a:r>
            <a:endParaRPr sz="3200">
              <a:latin typeface="Calibri"/>
              <a:cs typeface="Calibri"/>
            </a:endParaRPr>
          </a:p>
          <a:p>
            <a:pPr algn="ctr">
              <a:lnSpc>
                <a:spcPts val="3315"/>
              </a:lnSpc>
              <a:spcBef>
                <a:spcPts val="3625"/>
              </a:spcBef>
            </a:pPr>
            <a:r>
              <a:rPr sz="2900" b="1" dirty="0">
                <a:latin typeface="Calibri"/>
                <a:cs typeface="Calibri"/>
              </a:rPr>
              <a:t>We</a:t>
            </a:r>
            <a:r>
              <a:rPr sz="2900" b="1" spc="-5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learned</a:t>
            </a:r>
            <a:r>
              <a:rPr sz="2900" b="1" spc="-6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about</a:t>
            </a:r>
            <a:r>
              <a:rPr sz="2900" b="1" spc="-75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8</a:t>
            </a:r>
            <a:r>
              <a:rPr sz="2900" b="1" spc="-4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flags</a:t>
            </a:r>
            <a:r>
              <a:rPr sz="2900" b="1" spc="-4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in</a:t>
            </a:r>
            <a:r>
              <a:rPr sz="2900" b="1" spc="-6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8086</a:t>
            </a:r>
            <a:r>
              <a:rPr sz="2900" b="1" spc="-45" dirty="0">
                <a:latin typeface="Calibri"/>
                <a:cs typeface="Calibri"/>
              </a:rPr>
              <a:t> </a:t>
            </a:r>
            <a:r>
              <a:rPr sz="2900" b="1" spc="-30" dirty="0">
                <a:latin typeface="Calibri"/>
                <a:cs typeface="Calibri"/>
              </a:rPr>
              <a:t>processor.</a:t>
            </a:r>
            <a:r>
              <a:rPr sz="2900" b="1" spc="-70" dirty="0">
                <a:latin typeface="Calibri"/>
                <a:cs typeface="Calibri"/>
              </a:rPr>
              <a:t> </a:t>
            </a:r>
            <a:r>
              <a:rPr sz="2900" b="1" dirty="0">
                <a:latin typeface="Calibri"/>
                <a:cs typeface="Calibri"/>
              </a:rPr>
              <a:t>They</a:t>
            </a:r>
            <a:r>
              <a:rPr sz="2900" b="1" spc="-70" dirty="0">
                <a:latin typeface="Calibri"/>
                <a:cs typeface="Calibri"/>
              </a:rPr>
              <a:t> </a:t>
            </a:r>
            <a:r>
              <a:rPr sz="2900" b="1" spc="-20" dirty="0">
                <a:latin typeface="Calibri"/>
                <a:cs typeface="Calibri"/>
              </a:rPr>
              <a:t>are:</a:t>
            </a:r>
            <a:endParaRPr sz="2900">
              <a:latin typeface="Calibri"/>
              <a:cs typeface="Calibri"/>
            </a:endParaRPr>
          </a:p>
          <a:p>
            <a:pPr marL="4545965" marR="4535805" indent="-2540" algn="ctr">
              <a:lnSpc>
                <a:spcPts val="3020"/>
              </a:lnSpc>
              <a:spcBef>
                <a:spcPts val="215"/>
              </a:spcBef>
            </a:pPr>
            <a:r>
              <a:rPr sz="2800" dirty="0">
                <a:latin typeface="Calibri"/>
                <a:cs typeface="Calibri"/>
              </a:rPr>
              <a:t>Sign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 </a:t>
            </a:r>
            <a:r>
              <a:rPr sz="2800" dirty="0">
                <a:latin typeface="Calibri"/>
                <a:cs typeface="Calibri"/>
              </a:rPr>
              <a:t>Zero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</a:t>
            </a:r>
            <a:endParaRPr sz="2800">
              <a:latin typeface="Calibri"/>
              <a:cs typeface="Calibri"/>
            </a:endParaRPr>
          </a:p>
          <a:p>
            <a:pPr marL="635" algn="ctr">
              <a:lnSpc>
                <a:spcPts val="2820"/>
              </a:lnSpc>
            </a:pPr>
            <a:r>
              <a:rPr sz="2800" dirty="0">
                <a:latin typeface="Calibri"/>
                <a:cs typeface="Calibri"/>
              </a:rPr>
              <a:t>Auxiliary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</a:t>
            </a:r>
            <a:endParaRPr sz="2800">
              <a:latin typeface="Calibri"/>
              <a:cs typeface="Calibri"/>
            </a:endParaRPr>
          </a:p>
          <a:p>
            <a:pPr marL="4081145" marR="4072254" indent="-635" algn="ctr">
              <a:lnSpc>
                <a:spcPct val="89700"/>
              </a:lnSpc>
              <a:spcBef>
                <a:spcPts val="180"/>
              </a:spcBef>
            </a:pPr>
            <a:r>
              <a:rPr sz="2800" dirty="0">
                <a:latin typeface="Calibri"/>
                <a:cs typeface="Calibri"/>
              </a:rPr>
              <a:t>Parity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 </a:t>
            </a:r>
            <a:r>
              <a:rPr sz="2800" dirty="0">
                <a:latin typeface="Calibri"/>
                <a:cs typeface="Calibri"/>
              </a:rPr>
              <a:t>Carry </a:t>
            </a:r>
            <a:r>
              <a:rPr sz="2800" spc="-20" dirty="0">
                <a:latin typeface="Calibri"/>
                <a:cs typeface="Calibri"/>
              </a:rPr>
              <a:t>Flag </a:t>
            </a:r>
            <a:r>
              <a:rPr sz="2800" dirty="0">
                <a:latin typeface="Calibri"/>
                <a:cs typeface="Calibri"/>
              </a:rPr>
              <a:t>Overflow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 </a:t>
            </a:r>
            <a:r>
              <a:rPr sz="2800" dirty="0">
                <a:latin typeface="Calibri"/>
                <a:cs typeface="Calibri"/>
              </a:rPr>
              <a:t>Directional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 </a:t>
            </a:r>
            <a:r>
              <a:rPr sz="2800" spc="-10" dirty="0">
                <a:latin typeface="Calibri"/>
                <a:cs typeface="Calibri"/>
              </a:rPr>
              <a:t>Interrupt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 </a:t>
            </a:r>
            <a:r>
              <a:rPr sz="2800" spc="-45" dirty="0">
                <a:latin typeface="Calibri"/>
                <a:cs typeface="Calibri"/>
              </a:rPr>
              <a:t>Trap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Flag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24805" y="106807"/>
            <a:ext cx="23425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FLAG</a:t>
            </a:r>
            <a:r>
              <a:rPr sz="3200" spc="-50" dirty="0"/>
              <a:t> </a:t>
            </a:r>
            <a:r>
              <a:rPr sz="3200" spc="-10" dirty="0"/>
              <a:t>Register</a:t>
            </a:r>
            <a:endParaRPr sz="3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3139" y="980008"/>
            <a:ext cx="9686290" cy="2338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0225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Calibri"/>
                <a:cs typeface="Calibri"/>
              </a:rPr>
              <a:t>We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implement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3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flags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our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CPU.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They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are:</a:t>
            </a:r>
            <a:endParaRPr sz="32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2370"/>
              </a:spcBef>
              <a:buAutoNum type="arabicPeriod"/>
              <a:tabLst>
                <a:tab pos="756285" algn="l"/>
              </a:tabLst>
            </a:pPr>
            <a:r>
              <a:rPr sz="2500" b="1" dirty="0">
                <a:latin typeface="Calibri"/>
                <a:cs typeface="Calibri"/>
              </a:rPr>
              <a:t>Carry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Flag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(CF):</a:t>
            </a:r>
            <a:r>
              <a:rPr sz="2500" b="1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will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ON/1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when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result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ADD/SUB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have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carry.</a:t>
            </a:r>
            <a:endParaRPr sz="25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756285" algn="l"/>
              </a:tabLst>
            </a:pPr>
            <a:r>
              <a:rPr sz="2500" b="1" dirty="0">
                <a:latin typeface="Calibri"/>
                <a:cs typeface="Calibri"/>
              </a:rPr>
              <a:t>Sign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Flag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(SF):</a:t>
            </a:r>
            <a:r>
              <a:rPr sz="2500" b="1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will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determine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whether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result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positive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negative.</a:t>
            </a:r>
            <a:endParaRPr sz="2500">
              <a:latin typeface="Calibri"/>
              <a:cs typeface="Calibri"/>
            </a:endParaRPr>
          </a:p>
          <a:p>
            <a:pPr marL="756285" indent="-743585">
              <a:lnSpc>
                <a:spcPct val="100000"/>
              </a:lnSpc>
              <a:spcBef>
                <a:spcPts val="1500"/>
              </a:spcBef>
              <a:buAutoNum type="arabicPeriod"/>
              <a:tabLst>
                <a:tab pos="756285" algn="l"/>
              </a:tabLst>
            </a:pPr>
            <a:r>
              <a:rPr sz="2500" b="1" dirty="0">
                <a:latin typeface="Calibri"/>
                <a:cs typeface="Calibri"/>
              </a:rPr>
              <a:t>Zero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Flag</a:t>
            </a:r>
            <a:r>
              <a:rPr sz="2500" b="1" spc="-6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(ZF):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will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determine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whether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result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is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0.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24805" y="55626"/>
            <a:ext cx="23425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FLAG</a:t>
            </a:r>
            <a:r>
              <a:rPr sz="3200" spc="-50" dirty="0"/>
              <a:t> </a:t>
            </a:r>
            <a:r>
              <a:rPr sz="3200" spc="-10" dirty="0"/>
              <a:t>Register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3230117" y="5208523"/>
            <a:ext cx="62172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Calibri"/>
                <a:cs typeface="Calibri"/>
              </a:rPr>
              <a:t>Flag</a:t>
            </a:r>
            <a:r>
              <a:rPr sz="3200" b="1" spc="-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value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depends</a:t>
            </a:r>
            <a:r>
              <a:rPr sz="3200" b="1" spc="-5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on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Result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of</a:t>
            </a:r>
            <a:r>
              <a:rPr sz="3200" b="1" spc="-40" dirty="0">
                <a:latin typeface="Calibri"/>
                <a:cs typeface="Calibri"/>
              </a:rPr>
              <a:t> </a:t>
            </a:r>
            <a:r>
              <a:rPr sz="3200" b="1" spc="-20" dirty="0">
                <a:latin typeface="Calibri"/>
                <a:cs typeface="Calibri"/>
              </a:rPr>
              <a:t>ALU.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55626"/>
            <a:ext cx="15513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4</a:t>
            </a:r>
            <a:r>
              <a:rPr sz="3200" spc="-10" dirty="0"/>
              <a:t> </a:t>
            </a:r>
            <a:r>
              <a:rPr sz="3200" dirty="0"/>
              <a:t>bit</a:t>
            </a:r>
            <a:r>
              <a:rPr sz="3200" spc="-15" dirty="0"/>
              <a:t> </a:t>
            </a:r>
            <a:r>
              <a:rPr sz="3200" spc="-25" dirty="0"/>
              <a:t>ALU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108818" y="3003880"/>
            <a:ext cx="175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cf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078" y="3969257"/>
            <a:ext cx="3918585" cy="316230"/>
          </a:xfrm>
          <a:custGeom>
            <a:avLst/>
            <a:gdLst/>
            <a:ahLst/>
            <a:cxnLst/>
            <a:rect l="l" t="t" r="r" b="b"/>
            <a:pathLst>
              <a:path w="3918585" h="316229">
                <a:moveTo>
                  <a:pt x="3904869" y="38100"/>
                </a:moveTo>
                <a:lnTo>
                  <a:pt x="3879469" y="25400"/>
                </a:lnTo>
                <a:lnTo>
                  <a:pt x="3828669" y="0"/>
                </a:lnTo>
                <a:lnTo>
                  <a:pt x="3828669" y="25400"/>
                </a:lnTo>
                <a:lnTo>
                  <a:pt x="0" y="25400"/>
                </a:lnTo>
                <a:lnTo>
                  <a:pt x="0" y="50800"/>
                </a:lnTo>
                <a:lnTo>
                  <a:pt x="3828669" y="50800"/>
                </a:lnTo>
                <a:lnTo>
                  <a:pt x="3828669" y="76200"/>
                </a:lnTo>
                <a:lnTo>
                  <a:pt x="3879469" y="50800"/>
                </a:lnTo>
                <a:lnTo>
                  <a:pt x="3904869" y="38100"/>
                </a:lnTo>
                <a:close/>
              </a:path>
              <a:path w="3918585" h="316229">
                <a:moveTo>
                  <a:pt x="3918077" y="277368"/>
                </a:moveTo>
                <a:lnTo>
                  <a:pt x="3893058" y="264972"/>
                </a:lnTo>
                <a:lnTo>
                  <a:pt x="3841750" y="239522"/>
                </a:lnTo>
                <a:lnTo>
                  <a:pt x="3841826" y="264972"/>
                </a:lnTo>
                <a:lnTo>
                  <a:pt x="245325" y="276479"/>
                </a:lnTo>
                <a:lnTo>
                  <a:pt x="245402" y="301879"/>
                </a:lnTo>
                <a:lnTo>
                  <a:pt x="3841915" y="290372"/>
                </a:lnTo>
                <a:lnTo>
                  <a:pt x="3842004" y="315722"/>
                </a:lnTo>
                <a:lnTo>
                  <a:pt x="3892296" y="290372"/>
                </a:lnTo>
                <a:lnTo>
                  <a:pt x="3918077" y="277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0090" y="3868673"/>
            <a:ext cx="1335405" cy="44386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1365"/>
              </a:lnSpc>
            </a:pPr>
            <a:r>
              <a:rPr sz="1200" b="1" dirty="0">
                <a:latin typeface="Calibri"/>
                <a:cs typeface="Calibri"/>
              </a:rPr>
              <a:t>LEFT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480"/>
              </a:spcBef>
            </a:pPr>
            <a:r>
              <a:rPr sz="1200" b="1" spc="-10" dirty="0">
                <a:latin typeface="Calibri"/>
                <a:cs typeface="Calibri"/>
              </a:rPr>
              <a:t>S[1:0]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7718" y="505205"/>
            <a:ext cx="8502015" cy="3824604"/>
            <a:chOff x="537718" y="505205"/>
            <a:chExt cx="8502015" cy="3824604"/>
          </a:xfrm>
        </p:grpSpPr>
        <p:sp>
          <p:nvSpPr>
            <p:cNvPr id="7" name="object 7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55970" y="505205"/>
              <a:ext cx="3183890" cy="3587115"/>
            </a:xfrm>
            <a:custGeom>
              <a:avLst/>
              <a:gdLst/>
              <a:ahLst/>
              <a:cxnLst/>
              <a:rect l="l" t="t" r="r" b="b"/>
              <a:pathLst>
                <a:path w="3183890" h="3587115">
                  <a:moveTo>
                    <a:pt x="2176907" y="3549269"/>
                  </a:moveTo>
                  <a:lnTo>
                    <a:pt x="2151202" y="3536315"/>
                  </a:lnTo>
                  <a:lnTo>
                    <a:pt x="2100834" y="3510915"/>
                  </a:lnTo>
                  <a:lnTo>
                    <a:pt x="2100757" y="3530600"/>
                  </a:lnTo>
                  <a:lnTo>
                    <a:pt x="2100732" y="3536289"/>
                  </a:lnTo>
                  <a:lnTo>
                    <a:pt x="0" y="3530600"/>
                  </a:lnTo>
                  <a:lnTo>
                    <a:pt x="0" y="3556000"/>
                  </a:lnTo>
                  <a:lnTo>
                    <a:pt x="2100656" y="3561689"/>
                  </a:lnTo>
                  <a:lnTo>
                    <a:pt x="2113267" y="3561715"/>
                  </a:lnTo>
                  <a:lnTo>
                    <a:pt x="2100656" y="3561715"/>
                  </a:lnTo>
                  <a:lnTo>
                    <a:pt x="2100580" y="3587115"/>
                  </a:lnTo>
                  <a:lnTo>
                    <a:pt x="2151799" y="3561715"/>
                  </a:lnTo>
                  <a:lnTo>
                    <a:pt x="2176907" y="3549269"/>
                  </a:lnTo>
                  <a:close/>
                </a:path>
                <a:path w="3183890" h="3587115">
                  <a:moveTo>
                    <a:pt x="2665476" y="547751"/>
                  </a:moveTo>
                  <a:lnTo>
                    <a:pt x="2640076" y="547751"/>
                  </a:lnTo>
                  <a:lnTo>
                    <a:pt x="2640076" y="6096"/>
                  </a:lnTo>
                  <a:lnTo>
                    <a:pt x="2614676" y="6096"/>
                  </a:lnTo>
                  <a:lnTo>
                    <a:pt x="2614676" y="547751"/>
                  </a:lnTo>
                  <a:lnTo>
                    <a:pt x="2589276" y="547751"/>
                  </a:lnTo>
                  <a:lnTo>
                    <a:pt x="2627376" y="623951"/>
                  </a:lnTo>
                  <a:lnTo>
                    <a:pt x="2659126" y="560451"/>
                  </a:lnTo>
                  <a:lnTo>
                    <a:pt x="2665476" y="547751"/>
                  </a:lnTo>
                  <a:close/>
                </a:path>
                <a:path w="3183890" h="3587115">
                  <a:moveTo>
                    <a:pt x="2906268" y="541655"/>
                  </a:moveTo>
                  <a:lnTo>
                    <a:pt x="2880868" y="541655"/>
                  </a:lnTo>
                  <a:lnTo>
                    <a:pt x="2880868" y="0"/>
                  </a:lnTo>
                  <a:lnTo>
                    <a:pt x="2855468" y="0"/>
                  </a:lnTo>
                  <a:lnTo>
                    <a:pt x="2855468" y="541655"/>
                  </a:lnTo>
                  <a:lnTo>
                    <a:pt x="2830068" y="541655"/>
                  </a:lnTo>
                  <a:lnTo>
                    <a:pt x="2868168" y="617855"/>
                  </a:lnTo>
                  <a:lnTo>
                    <a:pt x="2899918" y="554355"/>
                  </a:lnTo>
                  <a:lnTo>
                    <a:pt x="2906268" y="541655"/>
                  </a:lnTo>
                  <a:close/>
                </a:path>
                <a:path w="3183890" h="3587115">
                  <a:moveTo>
                    <a:pt x="3183636" y="541655"/>
                  </a:moveTo>
                  <a:lnTo>
                    <a:pt x="3158236" y="541655"/>
                  </a:lnTo>
                  <a:lnTo>
                    <a:pt x="3158236" y="0"/>
                  </a:lnTo>
                  <a:lnTo>
                    <a:pt x="3132836" y="0"/>
                  </a:lnTo>
                  <a:lnTo>
                    <a:pt x="3132836" y="541655"/>
                  </a:lnTo>
                  <a:lnTo>
                    <a:pt x="3107436" y="541655"/>
                  </a:lnTo>
                  <a:lnTo>
                    <a:pt x="3145536" y="617855"/>
                  </a:lnTo>
                  <a:lnTo>
                    <a:pt x="3177286" y="554355"/>
                  </a:lnTo>
                  <a:lnTo>
                    <a:pt x="3183636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5521" y="4205477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73500" y="42283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8461" y="4877561"/>
            <a:ext cx="977265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505"/>
              </a:spcBef>
            </a:pPr>
            <a:r>
              <a:rPr sz="1400" b="1" spc="-25" dirty="0">
                <a:latin typeface="Calibri"/>
                <a:cs typeface="Calibri"/>
              </a:rPr>
              <a:t>NOT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2477" y="4904485"/>
            <a:ext cx="3951604" cy="137160"/>
            <a:chOff x="522477" y="4904485"/>
            <a:chExt cx="3951604" cy="137160"/>
          </a:xfrm>
        </p:grpSpPr>
        <p:sp>
          <p:nvSpPr>
            <p:cNvPr id="14" name="object 14"/>
            <p:cNvSpPr/>
            <p:nvPr/>
          </p:nvSpPr>
          <p:spPr>
            <a:xfrm>
              <a:off x="528828" y="4946141"/>
              <a:ext cx="3945254" cy="76200"/>
            </a:xfrm>
            <a:custGeom>
              <a:avLst/>
              <a:gdLst/>
              <a:ahLst/>
              <a:cxnLst/>
              <a:rect l="l" t="t" r="r" b="b"/>
              <a:pathLst>
                <a:path w="3945254" h="76200">
                  <a:moveTo>
                    <a:pt x="3945255" y="38100"/>
                  </a:moveTo>
                  <a:lnTo>
                    <a:pt x="3919855" y="25400"/>
                  </a:lnTo>
                  <a:lnTo>
                    <a:pt x="3869055" y="0"/>
                  </a:lnTo>
                  <a:lnTo>
                    <a:pt x="3869055" y="25400"/>
                  </a:lnTo>
                  <a:lnTo>
                    <a:pt x="87617" y="25400"/>
                  </a:lnTo>
                  <a:lnTo>
                    <a:pt x="84543" y="23152"/>
                  </a:lnTo>
                  <a:lnTo>
                    <a:pt x="68808" y="17919"/>
                  </a:lnTo>
                  <a:lnTo>
                    <a:pt x="49530" y="16002"/>
                  </a:lnTo>
                  <a:lnTo>
                    <a:pt x="30238" y="17919"/>
                  </a:lnTo>
                  <a:lnTo>
                    <a:pt x="14503" y="23152"/>
                  </a:lnTo>
                  <a:lnTo>
                    <a:pt x="3886" y="30899"/>
                  </a:lnTo>
                  <a:lnTo>
                    <a:pt x="0" y="40386"/>
                  </a:lnTo>
                  <a:lnTo>
                    <a:pt x="3886" y="49885"/>
                  </a:lnTo>
                  <a:lnTo>
                    <a:pt x="14503" y="57632"/>
                  </a:lnTo>
                  <a:lnTo>
                    <a:pt x="30238" y="62865"/>
                  </a:lnTo>
                  <a:lnTo>
                    <a:pt x="49530" y="64770"/>
                  </a:lnTo>
                  <a:lnTo>
                    <a:pt x="68808" y="62865"/>
                  </a:lnTo>
                  <a:lnTo>
                    <a:pt x="84543" y="57632"/>
                  </a:lnTo>
                  <a:lnTo>
                    <a:pt x="93903" y="50800"/>
                  </a:lnTo>
                  <a:lnTo>
                    <a:pt x="3869055" y="50800"/>
                  </a:lnTo>
                  <a:lnTo>
                    <a:pt x="3869055" y="76200"/>
                  </a:lnTo>
                  <a:lnTo>
                    <a:pt x="3919855" y="50800"/>
                  </a:lnTo>
                  <a:lnTo>
                    <a:pt x="394525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8827" y="4962143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68445" y="4917185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09594" y="495007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6075" y="3987038"/>
            <a:ext cx="2607310" cy="1029335"/>
            <a:chOff x="5426075" y="3987038"/>
            <a:chExt cx="2607310" cy="1029335"/>
          </a:xfrm>
        </p:grpSpPr>
        <p:sp>
          <p:nvSpPr>
            <p:cNvPr id="19" name="object 19"/>
            <p:cNvSpPr/>
            <p:nvPr/>
          </p:nvSpPr>
          <p:spPr>
            <a:xfrm>
              <a:off x="5426075" y="4940173"/>
              <a:ext cx="2607310" cy="76200"/>
            </a:xfrm>
            <a:custGeom>
              <a:avLst/>
              <a:gdLst/>
              <a:ahLst/>
              <a:cxnLst/>
              <a:rect l="l" t="t" r="r" b="b"/>
              <a:pathLst>
                <a:path w="2607309" h="76200">
                  <a:moveTo>
                    <a:pt x="2530982" y="0"/>
                  </a:moveTo>
                  <a:lnTo>
                    <a:pt x="2530932" y="10032"/>
                  </a:lnTo>
                  <a:lnTo>
                    <a:pt x="2530855" y="25526"/>
                  </a:lnTo>
                  <a:lnTo>
                    <a:pt x="2530728" y="50926"/>
                  </a:lnTo>
                  <a:lnTo>
                    <a:pt x="2530602" y="76200"/>
                  </a:lnTo>
                  <a:lnTo>
                    <a:pt x="2582001" y="50926"/>
                  </a:lnTo>
                  <a:lnTo>
                    <a:pt x="2543429" y="50926"/>
                  </a:lnTo>
                  <a:lnTo>
                    <a:pt x="2543555" y="25526"/>
                  </a:lnTo>
                  <a:lnTo>
                    <a:pt x="2581281" y="25526"/>
                  </a:lnTo>
                  <a:lnTo>
                    <a:pt x="2530982" y="0"/>
                  </a:lnTo>
                  <a:close/>
                </a:path>
                <a:path w="2607309" h="76200">
                  <a:moveTo>
                    <a:pt x="253" y="10032"/>
                  </a:moveTo>
                  <a:lnTo>
                    <a:pt x="99" y="25526"/>
                  </a:lnTo>
                  <a:lnTo>
                    <a:pt x="0" y="35432"/>
                  </a:lnTo>
                  <a:lnTo>
                    <a:pt x="2543428" y="50926"/>
                  </a:lnTo>
                  <a:lnTo>
                    <a:pt x="2530728" y="50926"/>
                  </a:lnTo>
                  <a:lnTo>
                    <a:pt x="2530855" y="25526"/>
                  </a:lnTo>
                  <a:lnTo>
                    <a:pt x="2543556" y="25526"/>
                  </a:lnTo>
                  <a:lnTo>
                    <a:pt x="253" y="10032"/>
                  </a:lnTo>
                  <a:close/>
                </a:path>
                <a:path w="2607309" h="76200">
                  <a:moveTo>
                    <a:pt x="2581281" y="25526"/>
                  </a:moveTo>
                  <a:lnTo>
                    <a:pt x="2543555" y="25526"/>
                  </a:lnTo>
                  <a:lnTo>
                    <a:pt x="2543429" y="50926"/>
                  </a:lnTo>
                  <a:lnTo>
                    <a:pt x="2582001" y="50926"/>
                  </a:lnTo>
                  <a:lnTo>
                    <a:pt x="2607055" y="38607"/>
                  </a:lnTo>
                  <a:lnTo>
                    <a:pt x="2581281" y="25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87846" y="3999738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17055" y="399841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12941" y="4901946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41897" y="490740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962393" y="1057783"/>
            <a:ext cx="2634615" cy="5672455"/>
            <a:chOff x="6962393" y="1057783"/>
            <a:chExt cx="2634615" cy="5672455"/>
          </a:xfrm>
        </p:grpSpPr>
        <p:sp>
          <p:nvSpPr>
            <p:cNvPr id="25" name="object 25"/>
            <p:cNvSpPr/>
            <p:nvPr/>
          </p:nvSpPr>
          <p:spPr>
            <a:xfrm>
              <a:off x="6962393" y="5324602"/>
              <a:ext cx="1063625" cy="76200"/>
            </a:xfrm>
            <a:custGeom>
              <a:avLst/>
              <a:gdLst/>
              <a:ahLst/>
              <a:cxnLst/>
              <a:rect l="l" t="t" r="r" b="b"/>
              <a:pathLst>
                <a:path w="1063625" h="76200">
                  <a:moveTo>
                    <a:pt x="987044" y="0"/>
                  </a:moveTo>
                  <a:lnTo>
                    <a:pt x="986971" y="21844"/>
                  </a:lnTo>
                  <a:lnTo>
                    <a:pt x="986916" y="38354"/>
                  </a:lnTo>
                  <a:lnTo>
                    <a:pt x="986789" y="76200"/>
                  </a:lnTo>
                  <a:lnTo>
                    <a:pt x="1038016" y="50800"/>
                  </a:lnTo>
                  <a:lnTo>
                    <a:pt x="999616" y="50800"/>
                  </a:lnTo>
                  <a:lnTo>
                    <a:pt x="999616" y="25400"/>
                  </a:lnTo>
                  <a:lnTo>
                    <a:pt x="1037423" y="25400"/>
                  </a:lnTo>
                  <a:lnTo>
                    <a:pt x="987044" y="0"/>
                  </a:lnTo>
                  <a:close/>
                </a:path>
                <a:path w="1063625" h="76200">
                  <a:moveTo>
                    <a:pt x="0" y="21844"/>
                  </a:moveTo>
                  <a:lnTo>
                    <a:pt x="0" y="47244"/>
                  </a:lnTo>
                  <a:lnTo>
                    <a:pt x="999617" y="50800"/>
                  </a:lnTo>
                  <a:lnTo>
                    <a:pt x="986874" y="50800"/>
                  </a:lnTo>
                  <a:lnTo>
                    <a:pt x="986959" y="25400"/>
                  </a:lnTo>
                  <a:lnTo>
                    <a:pt x="999617" y="25400"/>
                  </a:lnTo>
                  <a:lnTo>
                    <a:pt x="0" y="21844"/>
                  </a:lnTo>
                  <a:close/>
                </a:path>
                <a:path w="1063625" h="76200">
                  <a:moveTo>
                    <a:pt x="1037423" y="25400"/>
                  </a:moveTo>
                  <a:lnTo>
                    <a:pt x="999616" y="25400"/>
                  </a:lnTo>
                  <a:lnTo>
                    <a:pt x="999616" y="50800"/>
                  </a:lnTo>
                  <a:lnTo>
                    <a:pt x="1038016" y="50800"/>
                  </a:lnTo>
                  <a:lnTo>
                    <a:pt x="1063116" y="38354"/>
                  </a:lnTo>
                  <a:lnTo>
                    <a:pt x="103742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26985" y="53088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383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1542288" y="0"/>
                  </a:moveTo>
                  <a:lnTo>
                    <a:pt x="0" y="0"/>
                  </a:lnTo>
                  <a:lnTo>
                    <a:pt x="0" y="5640324"/>
                  </a:lnTo>
                  <a:lnTo>
                    <a:pt x="1542288" y="5640324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383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0" y="5640324"/>
                  </a:moveTo>
                  <a:lnTo>
                    <a:pt x="1542288" y="5640324"/>
                  </a:lnTo>
                  <a:lnTo>
                    <a:pt x="1542288" y="0"/>
                  </a:lnTo>
                  <a:lnTo>
                    <a:pt x="0" y="0"/>
                  </a:lnTo>
                  <a:lnTo>
                    <a:pt x="0" y="5640324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25790" y="1046479"/>
            <a:ext cx="1165860" cy="3515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(1)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(2)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(3)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(4)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(5)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(6)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(7)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(8)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6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(9)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93785" y="4613021"/>
            <a:ext cx="1230630" cy="21145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(11)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(12)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(13)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(14)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96106" y="1218564"/>
            <a:ext cx="6172835" cy="2478405"/>
          </a:xfrm>
          <a:custGeom>
            <a:avLst/>
            <a:gdLst/>
            <a:ahLst/>
            <a:cxnLst/>
            <a:rect l="l" t="t" r="r" b="b"/>
            <a:pathLst>
              <a:path w="6172834" h="2478404">
                <a:moveTo>
                  <a:pt x="4065054" y="2452801"/>
                </a:moveTo>
                <a:lnTo>
                  <a:pt x="4064965" y="2427401"/>
                </a:lnTo>
                <a:lnTo>
                  <a:pt x="6096" y="2440559"/>
                </a:lnTo>
                <a:lnTo>
                  <a:pt x="6096" y="2465959"/>
                </a:lnTo>
                <a:lnTo>
                  <a:pt x="4065054" y="2452801"/>
                </a:lnTo>
                <a:close/>
              </a:path>
              <a:path w="6172834" h="2478404">
                <a:moveTo>
                  <a:pt x="4123436" y="1427099"/>
                </a:moveTo>
                <a:lnTo>
                  <a:pt x="4097858" y="1414272"/>
                </a:lnTo>
                <a:lnTo>
                  <a:pt x="4047236" y="1388872"/>
                </a:lnTo>
                <a:lnTo>
                  <a:pt x="4047236" y="1414272"/>
                </a:lnTo>
                <a:lnTo>
                  <a:pt x="1059180" y="1413637"/>
                </a:lnTo>
                <a:lnTo>
                  <a:pt x="1059180" y="1439037"/>
                </a:lnTo>
                <a:lnTo>
                  <a:pt x="4047236" y="1439672"/>
                </a:lnTo>
                <a:lnTo>
                  <a:pt x="4047236" y="1465072"/>
                </a:lnTo>
                <a:lnTo>
                  <a:pt x="4098201" y="1439672"/>
                </a:lnTo>
                <a:lnTo>
                  <a:pt x="4123436" y="1427099"/>
                </a:lnTo>
                <a:close/>
              </a:path>
              <a:path w="6172834" h="2478404">
                <a:moveTo>
                  <a:pt x="4140327" y="2139569"/>
                </a:moveTo>
                <a:lnTo>
                  <a:pt x="4114927" y="2126881"/>
                </a:lnTo>
                <a:lnTo>
                  <a:pt x="4064127" y="2101469"/>
                </a:lnTo>
                <a:lnTo>
                  <a:pt x="4064127" y="2126881"/>
                </a:lnTo>
                <a:lnTo>
                  <a:pt x="1077468" y="2127885"/>
                </a:lnTo>
                <a:lnTo>
                  <a:pt x="1077468" y="2153285"/>
                </a:lnTo>
                <a:lnTo>
                  <a:pt x="4064127" y="2152281"/>
                </a:lnTo>
                <a:lnTo>
                  <a:pt x="4064127" y="2177669"/>
                </a:lnTo>
                <a:lnTo>
                  <a:pt x="4114914" y="2152281"/>
                </a:lnTo>
                <a:lnTo>
                  <a:pt x="4140327" y="2139569"/>
                </a:lnTo>
                <a:close/>
              </a:path>
              <a:path w="6172834" h="2478404">
                <a:moveTo>
                  <a:pt x="4141216" y="2439797"/>
                </a:moveTo>
                <a:lnTo>
                  <a:pt x="4116197" y="2427401"/>
                </a:lnTo>
                <a:lnTo>
                  <a:pt x="4064889" y="2401951"/>
                </a:lnTo>
                <a:lnTo>
                  <a:pt x="4064965" y="2427401"/>
                </a:lnTo>
                <a:lnTo>
                  <a:pt x="4065016" y="2440559"/>
                </a:lnTo>
                <a:lnTo>
                  <a:pt x="4065054" y="2452801"/>
                </a:lnTo>
                <a:lnTo>
                  <a:pt x="4065143" y="2478151"/>
                </a:lnTo>
                <a:lnTo>
                  <a:pt x="4115435" y="2452801"/>
                </a:lnTo>
                <a:lnTo>
                  <a:pt x="4141216" y="2439797"/>
                </a:lnTo>
                <a:close/>
              </a:path>
              <a:path w="6172834" h="2478404">
                <a:moveTo>
                  <a:pt x="4141216" y="37973"/>
                </a:moveTo>
                <a:lnTo>
                  <a:pt x="4116032" y="25425"/>
                </a:lnTo>
                <a:lnTo>
                  <a:pt x="4065016" y="0"/>
                </a:lnTo>
                <a:lnTo>
                  <a:pt x="4065054" y="25425"/>
                </a:lnTo>
                <a:lnTo>
                  <a:pt x="3238500" y="26924"/>
                </a:lnTo>
                <a:lnTo>
                  <a:pt x="3238500" y="52324"/>
                </a:lnTo>
                <a:lnTo>
                  <a:pt x="4065092" y="50825"/>
                </a:lnTo>
                <a:lnTo>
                  <a:pt x="4065143" y="76200"/>
                </a:lnTo>
                <a:lnTo>
                  <a:pt x="4115638" y="50825"/>
                </a:lnTo>
                <a:lnTo>
                  <a:pt x="4141216" y="37973"/>
                </a:lnTo>
                <a:close/>
              </a:path>
              <a:path w="6172834" h="2478404">
                <a:moveTo>
                  <a:pt x="4141597" y="417449"/>
                </a:moveTo>
                <a:lnTo>
                  <a:pt x="4116197" y="404749"/>
                </a:lnTo>
                <a:lnTo>
                  <a:pt x="4065397" y="379349"/>
                </a:lnTo>
                <a:lnTo>
                  <a:pt x="4065397" y="404749"/>
                </a:lnTo>
                <a:lnTo>
                  <a:pt x="2168652" y="404749"/>
                </a:lnTo>
                <a:lnTo>
                  <a:pt x="2168652" y="430149"/>
                </a:lnTo>
                <a:lnTo>
                  <a:pt x="4065397" y="430149"/>
                </a:lnTo>
                <a:lnTo>
                  <a:pt x="4065397" y="455549"/>
                </a:lnTo>
                <a:lnTo>
                  <a:pt x="4116197" y="430149"/>
                </a:lnTo>
                <a:lnTo>
                  <a:pt x="4141597" y="417449"/>
                </a:lnTo>
                <a:close/>
              </a:path>
              <a:path w="6172834" h="2478404">
                <a:moveTo>
                  <a:pt x="4141978" y="1120013"/>
                </a:moveTo>
                <a:lnTo>
                  <a:pt x="4116578" y="1107313"/>
                </a:lnTo>
                <a:lnTo>
                  <a:pt x="4065778" y="1081913"/>
                </a:lnTo>
                <a:lnTo>
                  <a:pt x="4065778" y="1107313"/>
                </a:lnTo>
                <a:lnTo>
                  <a:pt x="0" y="1107313"/>
                </a:lnTo>
                <a:lnTo>
                  <a:pt x="0" y="1132713"/>
                </a:lnTo>
                <a:lnTo>
                  <a:pt x="4065778" y="1132713"/>
                </a:lnTo>
                <a:lnTo>
                  <a:pt x="4065778" y="1158113"/>
                </a:lnTo>
                <a:lnTo>
                  <a:pt x="4116578" y="1132713"/>
                </a:lnTo>
                <a:lnTo>
                  <a:pt x="4141978" y="1120013"/>
                </a:lnTo>
                <a:close/>
              </a:path>
              <a:path w="6172834" h="2478404">
                <a:moveTo>
                  <a:pt x="4141978" y="767969"/>
                </a:moveTo>
                <a:lnTo>
                  <a:pt x="4116578" y="755269"/>
                </a:lnTo>
                <a:lnTo>
                  <a:pt x="4065778" y="729869"/>
                </a:lnTo>
                <a:lnTo>
                  <a:pt x="4065778" y="755269"/>
                </a:lnTo>
                <a:lnTo>
                  <a:pt x="562356" y="755269"/>
                </a:lnTo>
                <a:lnTo>
                  <a:pt x="562356" y="780669"/>
                </a:lnTo>
                <a:lnTo>
                  <a:pt x="4065778" y="780669"/>
                </a:lnTo>
                <a:lnTo>
                  <a:pt x="4065778" y="806069"/>
                </a:lnTo>
                <a:lnTo>
                  <a:pt x="4116578" y="780669"/>
                </a:lnTo>
                <a:lnTo>
                  <a:pt x="4141978" y="767969"/>
                </a:lnTo>
                <a:close/>
              </a:path>
              <a:path w="6172834" h="2478404">
                <a:moveTo>
                  <a:pt x="4142359" y="1786001"/>
                </a:moveTo>
                <a:lnTo>
                  <a:pt x="4116971" y="1773313"/>
                </a:lnTo>
                <a:lnTo>
                  <a:pt x="4066159" y="1747901"/>
                </a:lnTo>
                <a:lnTo>
                  <a:pt x="4066159" y="1773313"/>
                </a:lnTo>
                <a:lnTo>
                  <a:pt x="71628" y="1775968"/>
                </a:lnTo>
                <a:lnTo>
                  <a:pt x="71628" y="1801368"/>
                </a:lnTo>
                <a:lnTo>
                  <a:pt x="4066159" y="1798713"/>
                </a:lnTo>
                <a:lnTo>
                  <a:pt x="4066159" y="1824101"/>
                </a:lnTo>
                <a:lnTo>
                  <a:pt x="4116933" y="1798713"/>
                </a:lnTo>
                <a:lnTo>
                  <a:pt x="4142359" y="1786001"/>
                </a:lnTo>
                <a:close/>
              </a:path>
              <a:path w="6172834" h="2478404">
                <a:moveTo>
                  <a:pt x="6172835" y="1158240"/>
                </a:moveTo>
                <a:lnTo>
                  <a:pt x="6147092" y="1145159"/>
                </a:lnTo>
                <a:lnTo>
                  <a:pt x="6096889" y="1119632"/>
                </a:lnTo>
                <a:lnTo>
                  <a:pt x="6096711" y="1145082"/>
                </a:lnTo>
                <a:lnTo>
                  <a:pt x="5684647" y="1142365"/>
                </a:lnTo>
                <a:lnTo>
                  <a:pt x="5684482" y="1158240"/>
                </a:lnTo>
                <a:lnTo>
                  <a:pt x="5684393" y="1167765"/>
                </a:lnTo>
                <a:lnTo>
                  <a:pt x="6096546" y="1170482"/>
                </a:lnTo>
                <a:lnTo>
                  <a:pt x="6109195" y="1170559"/>
                </a:lnTo>
                <a:lnTo>
                  <a:pt x="6096546" y="1170559"/>
                </a:lnTo>
                <a:lnTo>
                  <a:pt x="6096381" y="1195832"/>
                </a:lnTo>
                <a:lnTo>
                  <a:pt x="6147778" y="1170559"/>
                </a:lnTo>
                <a:lnTo>
                  <a:pt x="6172835" y="1158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056621" y="2244344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R[3:0]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97266" y="118998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950" spc="-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17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5965" y="1106423"/>
            <a:ext cx="5758815" cy="231140"/>
          </a:xfrm>
          <a:custGeom>
            <a:avLst/>
            <a:gdLst/>
            <a:ahLst/>
            <a:cxnLst/>
            <a:rect l="l" t="t" r="r" b="b"/>
            <a:pathLst>
              <a:path w="5758815" h="231140">
                <a:moveTo>
                  <a:pt x="5758192" y="192913"/>
                </a:moveTo>
                <a:lnTo>
                  <a:pt x="5732792" y="180213"/>
                </a:lnTo>
                <a:lnTo>
                  <a:pt x="5681992" y="154813"/>
                </a:lnTo>
                <a:lnTo>
                  <a:pt x="5681954" y="177038"/>
                </a:lnTo>
                <a:lnTo>
                  <a:pt x="5681942" y="180213"/>
                </a:lnTo>
                <a:lnTo>
                  <a:pt x="294157" y="177038"/>
                </a:lnTo>
                <a:lnTo>
                  <a:pt x="294119" y="202438"/>
                </a:lnTo>
                <a:lnTo>
                  <a:pt x="5681904" y="205613"/>
                </a:lnTo>
                <a:lnTo>
                  <a:pt x="5681865" y="231013"/>
                </a:lnTo>
                <a:lnTo>
                  <a:pt x="5732742" y="205613"/>
                </a:lnTo>
                <a:lnTo>
                  <a:pt x="5758192" y="192913"/>
                </a:lnTo>
                <a:close/>
              </a:path>
              <a:path w="5758815" h="231140">
                <a:moveTo>
                  <a:pt x="5758446" y="38227"/>
                </a:moveTo>
                <a:lnTo>
                  <a:pt x="5732869" y="25400"/>
                </a:lnTo>
                <a:lnTo>
                  <a:pt x="5682246" y="0"/>
                </a:lnTo>
                <a:lnTo>
                  <a:pt x="5682196" y="25400"/>
                </a:lnTo>
                <a:lnTo>
                  <a:pt x="25" y="20066"/>
                </a:lnTo>
                <a:lnTo>
                  <a:pt x="0" y="45466"/>
                </a:lnTo>
                <a:lnTo>
                  <a:pt x="5682158" y="50800"/>
                </a:lnTo>
                <a:lnTo>
                  <a:pt x="5682119" y="76200"/>
                </a:lnTo>
                <a:lnTo>
                  <a:pt x="5733173" y="50800"/>
                </a:lnTo>
                <a:lnTo>
                  <a:pt x="5758446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43650" y="1073658"/>
            <a:ext cx="791210" cy="3352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5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85965" y="1509775"/>
            <a:ext cx="4697730" cy="219710"/>
          </a:xfrm>
          <a:custGeom>
            <a:avLst/>
            <a:gdLst/>
            <a:ahLst/>
            <a:cxnLst/>
            <a:rect l="l" t="t" r="r" b="b"/>
            <a:pathLst>
              <a:path w="4697730" h="219710">
                <a:moveTo>
                  <a:pt x="4697234" y="181102"/>
                </a:moveTo>
                <a:lnTo>
                  <a:pt x="4671834" y="168402"/>
                </a:lnTo>
                <a:lnTo>
                  <a:pt x="4621034" y="143002"/>
                </a:lnTo>
                <a:lnTo>
                  <a:pt x="4621034" y="168402"/>
                </a:lnTo>
                <a:lnTo>
                  <a:pt x="294144" y="168402"/>
                </a:lnTo>
                <a:lnTo>
                  <a:pt x="294144" y="193802"/>
                </a:lnTo>
                <a:lnTo>
                  <a:pt x="4621034" y="193802"/>
                </a:lnTo>
                <a:lnTo>
                  <a:pt x="4621034" y="219202"/>
                </a:lnTo>
                <a:lnTo>
                  <a:pt x="4671834" y="193802"/>
                </a:lnTo>
                <a:lnTo>
                  <a:pt x="4697234" y="181102"/>
                </a:lnTo>
                <a:close/>
              </a:path>
              <a:path w="4697730" h="219710">
                <a:moveTo>
                  <a:pt x="4697488" y="38100"/>
                </a:moveTo>
                <a:lnTo>
                  <a:pt x="4672088" y="25400"/>
                </a:lnTo>
                <a:lnTo>
                  <a:pt x="4621288" y="0"/>
                </a:lnTo>
                <a:lnTo>
                  <a:pt x="4621288" y="25400"/>
                </a:lnTo>
                <a:lnTo>
                  <a:pt x="25" y="22098"/>
                </a:lnTo>
                <a:lnTo>
                  <a:pt x="0" y="47498"/>
                </a:lnTo>
                <a:lnTo>
                  <a:pt x="4621288" y="50800"/>
                </a:lnTo>
                <a:lnTo>
                  <a:pt x="4621288" y="76200"/>
                </a:lnTo>
                <a:lnTo>
                  <a:pt x="4672088" y="50800"/>
                </a:lnTo>
                <a:lnTo>
                  <a:pt x="469748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282946" y="1483613"/>
            <a:ext cx="782320" cy="3067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280"/>
              </a:spcBef>
            </a:pP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5914" y="1834514"/>
            <a:ext cx="3027680" cy="233045"/>
          </a:xfrm>
          <a:custGeom>
            <a:avLst/>
            <a:gdLst/>
            <a:ahLst/>
            <a:cxnLst/>
            <a:rect l="l" t="t" r="r" b="b"/>
            <a:pathLst>
              <a:path w="3027679" h="233044">
                <a:moveTo>
                  <a:pt x="3019742" y="194691"/>
                </a:moveTo>
                <a:lnTo>
                  <a:pt x="2994533" y="182143"/>
                </a:lnTo>
                <a:lnTo>
                  <a:pt x="2943542" y="156718"/>
                </a:lnTo>
                <a:lnTo>
                  <a:pt x="2943580" y="182143"/>
                </a:lnTo>
                <a:lnTo>
                  <a:pt x="301802" y="184912"/>
                </a:lnTo>
                <a:lnTo>
                  <a:pt x="301828" y="210312"/>
                </a:lnTo>
                <a:lnTo>
                  <a:pt x="2943618" y="207543"/>
                </a:lnTo>
                <a:lnTo>
                  <a:pt x="2943669" y="232918"/>
                </a:lnTo>
                <a:lnTo>
                  <a:pt x="2994177" y="207543"/>
                </a:lnTo>
                <a:lnTo>
                  <a:pt x="3019742" y="194691"/>
                </a:lnTo>
                <a:close/>
              </a:path>
              <a:path w="3027679" h="233044">
                <a:moveTo>
                  <a:pt x="3027489" y="37719"/>
                </a:moveTo>
                <a:lnTo>
                  <a:pt x="3002419" y="25336"/>
                </a:lnTo>
                <a:lnTo>
                  <a:pt x="2951162" y="0"/>
                </a:lnTo>
                <a:lnTo>
                  <a:pt x="2951276" y="25336"/>
                </a:lnTo>
                <a:lnTo>
                  <a:pt x="0" y="39878"/>
                </a:lnTo>
                <a:lnTo>
                  <a:pt x="50" y="50736"/>
                </a:lnTo>
                <a:lnTo>
                  <a:pt x="127" y="65278"/>
                </a:lnTo>
                <a:lnTo>
                  <a:pt x="2951403" y="50736"/>
                </a:lnTo>
                <a:lnTo>
                  <a:pt x="2951340" y="37719"/>
                </a:lnTo>
                <a:lnTo>
                  <a:pt x="2951353" y="39878"/>
                </a:lnTo>
                <a:lnTo>
                  <a:pt x="2951403" y="50736"/>
                </a:lnTo>
                <a:lnTo>
                  <a:pt x="2951480" y="65278"/>
                </a:lnTo>
                <a:lnTo>
                  <a:pt x="2951543" y="76200"/>
                </a:lnTo>
                <a:lnTo>
                  <a:pt x="3001797" y="50736"/>
                </a:lnTo>
                <a:lnTo>
                  <a:pt x="3027489" y="37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612641" y="1808226"/>
            <a:ext cx="845819" cy="2971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75"/>
              </a:spcBef>
            </a:pPr>
            <a:r>
              <a:rPr sz="1400" b="1" spc="-25" dirty="0"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5977" y="2860801"/>
            <a:ext cx="3434079" cy="420370"/>
            <a:chOff x="585977" y="2860801"/>
            <a:chExt cx="3434079" cy="420370"/>
          </a:xfrm>
        </p:grpSpPr>
        <p:sp>
          <p:nvSpPr>
            <p:cNvPr id="41" name="object 41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1072896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1072896" y="394715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0" y="394715"/>
                  </a:moveTo>
                  <a:lnTo>
                    <a:pt x="1072896" y="394715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5978" y="2919221"/>
              <a:ext cx="2355215" cy="216535"/>
            </a:xfrm>
            <a:custGeom>
              <a:avLst/>
              <a:gdLst/>
              <a:ahLst/>
              <a:cxnLst/>
              <a:rect l="l" t="t" r="r" b="b"/>
              <a:pathLst>
                <a:path w="2355215" h="216535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5215" h="216535">
                  <a:moveTo>
                    <a:pt x="2355088" y="178308"/>
                  </a:moveTo>
                  <a:lnTo>
                    <a:pt x="2329688" y="165608"/>
                  </a:lnTo>
                  <a:lnTo>
                    <a:pt x="2278888" y="140208"/>
                  </a:lnTo>
                  <a:lnTo>
                    <a:pt x="2278888" y="165608"/>
                  </a:lnTo>
                  <a:lnTo>
                    <a:pt x="294132" y="165608"/>
                  </a:lnTo>
                  <a:lnTo>
                    <a:pt x="294132" y="191008"/>
                  </a:lnTo>
                  <a:lnTo>
                    <a:pt x="2278888" y="191008"/>
                  </a:lnTo>
                  <a:lnTo>
                    <a:pt x="2278888" y="216408"/>
                  </a:lnTo>
                  <a:lnTo>
                    <a:pt x="2329688" y="191008"/>
                  </a:lnTo>
                  <a:lnTo>
                    <a:pt x="2355088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82163" y="2947543"/>
            <a:ext cx="722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85939" y="2221483"/>
            <a:ext cx="2430145" cy="1035050"/>
          </a:xfrm>
          <a:custGeom>
            <a:avLst/>
            <a:gdLst/>
            <a:ahLst/>
            <a:cxnLst/>
            <a:rect l="l" t="t" r="r" b="b"/>
            <a:pathLst>
              <a:path w="2430145" h="1035050">
                <a:moveTo>
                  <a:pt x="2354745" y="996442"/>
                </a:moveTo>
                <a:lnTo>
                  <a:pt x="2329345" y="983742"/>
                </a:lnTo>
                <a:lnTo>
                  <a:pt x="2278545" y="958342"/>
                </a:lnTo>
                <a:lnTo>
                  <a:pt x="2278545" y="983742"/>
                </a:lnTo>
                <a:lnTo>
                  <a:pt x="1876082" y="983742"/>
                </a:lnTo>
                <a:lnTo>
                  <a:pt x="1876082" y="1009142"/>
                </a:lnTo>
                <a:lnTo>
                  <a:pt x="2278545" y="1009142"/>
                </a:lnTo>
                <a:lnTo>
                  <a:pt x="2278545" y="1034542"/>
                </a:lnTo>
                <a:lnTo>
                  <a:pt x="2329345" y="1009142"/>
                </a:lnTo>
                <a:lnTo>
                  <a:pt x="2354745" y="996442"/>
                </a:lnTo>
                <a:close/>
              </a:path>
              <a:path w="2430145" h="1035050">
                <a:moveTo>
                  <a:pt x="2413546" y="37846"/>
                </a:moveTo>
                <a:lnTo>
                  <a:pt x="2388260" y="25311"/>
                </a:lnTo>
                <a:lnTo>
                  <a:pt x="2337219" y="0"/>
                </a:lnTo>
                <a:lnTo>
                  <a:pt x="2337295" y="25311"/>
                </a:lnTo>
                <a:lnTo>
                  <a:pt x="0" y="32258"/>
                </a:lnTo>
                <a:lnTo>
                  <a:pt x="76" y="57658"/>
                </a:lnTo>
                <a:lnTo>
                  <a:pt x="2337384" y="50711"/>
                </a:lnTo>
                <a:lnTo>
                  <a:pt x="2337473" y="76200"/>
                </a:lnTo>
                <a:lnTo>
                  <a:pt x="2388019" y="50711"/>
                </a:lnTo>
                <a:lnTo>
                  <a:pt x="2413546" y="37846"/>
                </a:lnTo>
                <a:close/>
              </a:path>
              <a:path w="2430145" h="1035050">
                <a:moveTo>
                  <a:pt x="2429929" y="200914"/>
                </a:moveTo>
                <a:lnTo>
                  <a:pt x="2404732" y="188366"/>
                </a:lnTo>
                <a:lnTo>
                  <a:pt x="2353729" y="162941"/>
                </a:lnTo>
                <a:lnTo>
                  <a:pt x="2353767" y="188366"/>
                </a:lnTo>
                <a:lnTo>
                  <a:pt x="291096" y="191897"/>
                </a:lnTo>
                <a:lnTo>
                  <a:pt x="291147" y="217297"/>
                </a:lnTo>
                <a:lnTo>
                  <a:pt x="2353805" y="213766"/>
                </a:lnTo>
                <a:lnTo>
                  <a:pt x="2353856" y="239141"/>
                </a:lnTo>
                <a:lnTo>
                  <a:pt x="2404351" y="213766"/>
                </a:lnTo>
                <a:lnTo>
                  <a:pt x="2429929" y="20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998470" y="2180082"/>
            <a:ext cx="897890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585"/>
              </a:lnSpc>
            </a:pPr>
            <a:r>
              <a:rPr sz="1400" b="1" dirty="0">
                <a:latin typeface="Calibri"/>
                <a:cs typeface="Calibri"/>
              </a:rPr>
              <a:t>LEFT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29209">
              <a:lnSpc>
                <a:spcPts val="705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85978" y="3512057"/>
            <a:ext cx="2340610" cy="273050"/>
          </a:xfrm>
          <a:custGeom>
            <a:avLst/>
            <a:gdLst/>
            <a:ahLst/>
            <a:cxnLst/>
            <a:rect l="l" t="t" r="r" b="b"/>
            <a:pathLst>
              <a:path w="2340610" h="273050">
                <a:moveTo>
                  <a:pt x="2340229" y="234696"/>
                </a:moveTo>
                <a:lnTo>
                  <a:pt x="2314829" y="221996"/>
                </a:lnTo>
                <a:lnTo>
                  <a:pt x="2264029" y="196596"/>
                </a:lnTo>
                <a:lnTo>
                  <a:pt x="2264029" y="221996"/>
                </a:lnTo>
                <a:lnTo>
                  <a:pt x="294132" y="221996"/>
                </a:lnTo>
                <a:lnTo>
                  <a:pt x="294132" y="247396"/>
                </a:lnTo>
                <a:lnTo>
                  <a:pt x="2264029" y="247396"/>
                </a:lnTo>
                <a:lnTo>
                  <a:pt x="2264029" y="272796"/>
                </a:lnTo>
                <a:lnTo>
                  <a:pt x="2314829" y="247396"/>
                </a:lnTo>
                <a:lnTo>
                  <a:pt x="2340229" y="234696"/>
                </a:lnTo>
                <a:close/>
              </a:path>
              <a:path w="2340610" h="273050">
                <a:moveTo>
                  <a:pt x="2340483" y="38112"/>
                </a:moveTo>
                <a:lnTo>
                  <a:pt x="2315083" y="25412"/>
                </a:lnTo>
                <a:lnTo>
                  <a:pt x="2264283" y="0"/>
                </a:lnTo>
                <a:lnTo>
                  <a:pt x="2264283" y="25412"/>
                </a:lnTo>
                <a:lnTo>
                  <a:pt x="0" y="25412"/>
                </a:lnTo>
                <a:lnTo>
                  <a:pt x="0" y="50812"/>
                </a:lnTo>
                <a:lnTo>
                  <a:pt x="2264283" y="50812"/>
                </a:lnTo>
                <a:lnTo>
                  <a:pt x="2264283" y="76212"/>
                </a:lnTo>
                <a:lnTo>
                  <a:pt x="2315083" y="50812"/>
                </a:lnTo>
                <a:lnTo>
                  <a:pt x="2340483" y="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925317" y="3458717"/>
            <a:ext cx="977265" cy="4254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1400" b="1" spc="-25" dirty="0">
                <a:latin typeface="Calibri"/>
                <a:cs typeface="Calibri"/>
              </a:rPr>
              <a:t>MUL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2930" y="745998"/>
            <a:ext cx="8148955" cy="5608955"/>
          </a:xfrm>
          <a:custGeom>
            <a:avLst/>
            <a:gdLst/>
            <a:ahLst/>
            <a:cxnLst/>
            <a:rect l="l" t="t" r="r" b="b"/>
            <a:pathLst>
              <a:path w="8148955" h="5608955">
                <a:moveTo>
                  <a:pt x="4387596" y="2255519"/>
                </a:moveTo>
                <a:lnTo>
                  <a:pt x="4396105" y="2612643"/>
                </a:lnTo>
              </a:path>
              <a:path w="8148955" h="5608955">
                <a:moveTo>
                  <a:pt x="0" y="10667"/>
                </a:moveTo>
                <a:lnTo>
                  <a:pt x="0" y="5608929"/>
                </a:lnTo>
              </a:path>
              <a:path w="8148955" h="5608955">
                <a:moveTo>
                  <a:pt x="297192" y="0"/>
                </a:moveTo>
                <a:lnTo>
                  <a:pt x="265176" y="5598261"/>
                </a:lnTo>
              </a:path>
              <a:path w="8148955" h="5608955">
                <a:moveTo>
                  <a:pt x="8148955" y="204215"/>
                </a:moveTo>
                <a:lnTo>
                  <a:pt x="1868424" y="210185"/>
                </a:lnTo>
              </a:path>
              <a:path w="8148955" h="5608955">
                <a:moveTo>
                  <a:pt x="1879092" y="204215"/>
                </a:moveTo>
                <a:lnTo>
                  <a:pt x="1879092" y="247243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16839" y="470661"/>
            <a:ext cx="126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A[3:0]</a:t>
            </a:r>
            <a:r>
              <a:rPr sz="1800" b="1" spc="2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baseline="1543" dirty="0">
                <a:solidFill>
                  <a:srgbClr val="FF0000"/>
                </a:solidFill>
                <a:latin typeface="Calibri"/>
                <a:cs typeface="Calibri"/>
              </a:rPr>
              <a:t>B[3:0]</a:t>
            </a:r>
            <a:endParaRPr sz="2700" baseline="1543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27050" y="918717"/>
            <a:ext cx="8253095" cy="2852420"/>
            <a:chOff x="527050" y="918717"/>
            <a:chExt cx="8253095" cy="2852420"/>
          </a:xfrm>
        </p:grpSpPr>
        <p:sp>
          <p:nvSpPr>
            <p:cNvPr id="52" name="object 52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59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71" y="1851"/>
                  </a:lnTo>
                  <a:lnTo>
                    <a:pt x="14525" y="6905"/>
                  </a:lnTo>
                  <a:lnTo>
                    <a:pt x="3899" y="14412"/>
                  </a:lnTo>
                  <a:lnTo>
                    <a:pt x="0" y="23622"/>
                  </a:lnTo>
                  <a:lnTo>
                    <a:pt x="3899" y="32831"/>
                  </a:lnTo>
                  <a:lnTo>
                    <a:pt x="14525" y="40338"/>
                  </a:lnTo>
                  <a:lnTo>
                    <a:pt x="30271" y="45392"/>
                  </a:lnTo>
                  <a:lnTo>
                    <a:pt x="49530" y="47244"/>
                  </a:lnTo>
                  <a:lnTo>
                    <a:pt x="68788" y="45392"/>
                  </a:lnTo>
                  <a:lnTo>
                    <a:pt x="84534" y="40338"/>
                  </a:lnTo>
                  <a:lnTo>
                    <a:pt x="95160" y="32831"/>
                  </a:lnTo>
                  <a:lnTo>
                    <a:pt x="99060" y="23622"/>
                  </a:lnTo>
                  <a:lnTo>
                    <a:pt x="95160" y="14412"/>
                  </a:lnTo>
                  <a:lnTo>
                    <a:pt x="84534" y="6905"/>
                  </a:lnTo>
                  <a:lnTo>
                    <a:pt x="68788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9" y="14412"/>
                  </a:lnTo>
                  <a:lnTo>
                    <a:pt x="14525" y="6905"/>
                  </a:lnTo>
                  <a:lnTo>
                    <a:pt x="30271" y="1851"/>
                  </a:lnTo>
                  <a:lnTo>
                    <a:pt x="49530" y="0"/>
                  </a:lnTo>
                  <a:lnTo>
                    <a:pt x="68788" y="1851"/>
                  </a:lnTo>
                  <a:lnTo>
                    <a:pt x="84534" y="6905"/>
                  </a:lnTo>
                  <a:lnTo>
                    <a:pt x="95160" y="14412"/>
                  </a:lnTo>
                  <a:lnTo>
                    <a:pt x="99060" y="23622"/>
                  </a:lnTo>
                  <a:lnTo>
                    <a:pt x="95160" y="32831"/>
                  </a:lnTo>
                  <a:lnTo>
                    <a:pt x="84534" y="40338"/>
                  </a:lnTo>
                  <a:lnTo>
                    <a:pt x="68788" y="45392"/>
                  </a:lnTo>
                  <a:lnTo>
                    <a:pt x="49530" y="47244"/>
                  </a:lnTo>
                  <a:lnTo>
                    <a:pt x="30271" y="45392"/>
                  </a:lnTo>
                  <a:lnTo>
                    <a:pt x="14525" y="40338"/>
                  </a:lnTo>
                  <a:lnTo>
                    <a:pt x="3899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58633" y="1207769"/>
              <a:ext cx="286385" cy="2501265"/>
            </a:xfrm>
            <a:custGeom>
              <a:avLst/>
              <a:gdLst/>
              <a:ahLst/>
              <a:cxnLst/>
              <a:rect l="l" t="t" r="r" b="b"/>
              <a:pathLst>
                <a:path w="286384" h="2501265">
                  <a:moveTo>
                    <a:pt x="286131" y="0"/>
                  </a:moveTo>
                  <a:lnTo>
                    <a:pt x="117348" y="111632"/>
                  </a:lnTo>
                </a:path>
                <a:path w="286384" h="2501265">
                  <a:moveTo>
                    <a:pt x="286131" y="379475"/>
                  </a:moveTo>
                  <a:lnTo>
                    <a:pt x="117348" y="491108"/>
                  </a:lnTo>
                </a:path>
                <a:path w="286384" h="2501265">
                  <a:moveTo>
                    <a:pt x="232791" y="733043"/>
                  </a:moveTo>
                  <a:lnTo>
                    <a:pt x="64008" y="844676"/>
                  </a:lnTo>
                </a:path>
                <a:path w="286384" h="2501265">
                  <a:moveTo>
                    <a:pt x="209931" y="1088135"/>
                  </a:moveTo>
                  <a:lnTo>
                    <a:pt x="41148" y="1199768"/>
                  </a:lnTo>
                </a:path>
                <a:path w="286384" h="2501265">
                  <a:moveTo>
                    <a:pt x="240411" y="1386839"/>
                  </a:moveTo>
                  <a:lnTo>
                    <a:pt x="71627" y="1498472"/>
                  </a:lnTo>
                </a:path>
                <a:path w="286384" h="2501265">
                  <a:moveTo>
                    <a:pt x="182499" y="1743455"/>
                  </a:moveTo>
                  <a:lnTo>
                    <a:pt x="13716" y="1855089"/>
                  </a:lnTo>
                </a:path>
                <a:path w="286384" h="2501265">
                  <a:moveTo>
                    <a:pt x="168783" y="2084831"/>
                  </a:moveTo>
                  <a:lnTo>
                    <a:pt x="0" y="2196465"/>
                  </a:lnTo>
                </a:path>
                <a:path w="286384" h="2501265">
                  <a:moveTo>
                    <a:pt x="168783" y="2389631"/>
                  </a:moveTo>
                  <a:lnTo>
                    <a:pt x="0" y="2501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962020" y="3112770"/>
            <a:ext cx="1651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Cambria Math"/>
                <a:cs typeface="Cambria Math"/>
              </a:rPr>
              <a:t>𝑺𝒆𝒍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422260" y="1101202"/>
            <a:ext cx="269240" cy="28232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  <a:spcBef>
                <a:spcPts val="9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  <a:spcBef>
                <a:spcPts val="63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6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9672066" y="23111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9708006" y="23150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74970" y="108737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460238" y="932814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865370" y="12473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4907026" y="1240916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379214" y="1482089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418457" y="1495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702302" y="161163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733671" y="164109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219450" y="18158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254121" y="1817877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024377" y="197281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3074670" y="198831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186433" y="221665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1196746" y="206629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535430" y="290550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580769" y="291465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172717" y="30380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193088" y="30572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660398" y="3498341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1673479" y="336054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294638" y="369036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349755" y="371868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92251" y="3344926"/>
            <a:ext cx="315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A[1:0]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05967" y="355955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39267" y="464058"/>
            <a:ext cx="7625080" cy="2422525"/>
            <a:chOff x="639267" y="464058"/>
            <a:chExt cx="7625080" cy="2422525"/>
          </a:xfrm>
        </p:grpSpPr>
        <p:sp>
          <p:nvSpPr>
            <p:cNvPr id="106" name="object 106"/>
            <p:cNvSpPr/>
            <p:nvPr/>
          </p:nvSpPr>
          <p:spPr>
            <a:xfrm>
              <a:off x="821436" y="464057"/>
              <a:ext cx="7442834" cy="1982470"/>
            </a:xfrm>
            <a:custGeom>
              <a:avLst/>
              <a:gdLst/>
              <a:ahLst/>
              <a:cxnLst/>
              <a:rect l="l" t="t" r="r" b="b"/>
              <a:pathLst>
                <a:path w="7442834" h="1982470">
                  <a:moveTo>
                    <a:pt x="99060" y="1958340"/>
                  </a:moveTo>
                  <a:lnTo>
                    <a:pt x="95161" y="1949132"/>
                  </a:lnTo>
                  <a:lnTo>
                    <a:pt x="84543" y="1941626"/>
                  </a:lnTo>
                  <a:lnTo>
                    <a:pt x="68808" y="1936572"/>
                  </a:lnTo>
                  <a:lnTo>
                    <a:pt x="49530" y="1934718"/>
                  </a:lnTo>
                  <a:lnTo>
                    <a:pt x="30238" y="1936572"/>
                  </a:lnTo>
                  <a:lnTo>
                    <a:pt x="14503" y="1941626"/>
                  </a:lnTo>
                  <a:lnTo>
                    <a:pt x="3886" y="1949132"/>
                  </a:lnTo>
                  <a:lnTo>
                    <a:pt x="0" y="1958340"/>
                  </a:lnTo>
                  <a:lnTo>
                    <a:pt x="3886" y="1967560"/>
                  </a:lnTo>
                  <a:lnTo>
                    <a:pt x="14503" y="1975065"/>
                  </a:lnTo>
                  <a:lnTo>
                    <a:pt x="30238" y="1980120"/>
                  </a:lnTo>
                  <a:lnTo>
                    <a:pt x="49530" y="1981962"/>
                  </a:lnTo>
                  <a:lnTo>
                    <a:pt x="68808" y="1980120"/>
                  </a:lnTo>
                  <a:lnTo>
                    <a:pt x="84543" y="1975065"/>
                  </a:lnTo>
                  <a:lnTo>
                    <a:pt x="95161" y="1967560"/>
                  </a:lnTo>
                  <a:lnTo>
                    <a:pt x="99060" y="1958340"/>
                  </a:lnTo>
                  <a:close/>
                </a:path>
                <a:path w="7442834" h="1982470">
                  <a:moveTo>
                    <a:pt x="7442454" y="541655"/>
                  </a:moveTo>
                  <a:lnTo>
                    <a:pt x="7417054" y="541655"/>
                  </a:lnTo>
                  <a:lnTo>
                    <a:pt x="7417054" y="0"/>
                  </a:lnTo>
                  <a:lnTo>
                    <a:pt x="7391654" y="0"/>
                  </a:lnTo>
                  <a:lnTo>
                    <a:pt x="7391654" y="541655"/>
                  </a:lnTo>
                  <a:lnTo>
                    <a:pt x="7366254" y="541655"/>
                  </a:lnTo>
                  <a:lnTo>
                    <a:pt x="7404354" y="617855"/>
                  </a:lnTo>
                  <a:lnTo>
                    <a:pt x="7436104" y="554355"/>
                  </a:lnTo>
                  <a:lnTo>
                    <a:pt x="7442454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1435" y="23987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986027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986027" y="321563"/>
                  </a:lnTo>
                  <a:lnTo>
                    <a:pt x="9860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0" y="321563"/>
                  </a:moveTo>
                  <a:lnTo>
                    <a:pt x="986027" y="321563"/>
                  </a:lnTo>
                  <a:lnTo>
                    <a:pt x="986027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39267" y="2620517"/>
              <a:ext cx="3422650" cy="197485"/>
            </a:xfrm>
            <a:custGeom>
              <a:avLst/>
              <a:gdLst/>
              <a:ahLst/>
              <a:cxnLst/>
              <a:rect l="l" t="t" r="r" b="b"/>
              <a:pathLst>
                <a:path w="3422650" h="197485">
                  <a:moveTo>
                    <a:pt x="3421684" y="38354"/>
                  </a:moveTo>
                  <a:lnTo>
                    <a:pt x="3395980" y="25400"/>
                  </a:lnTo>
                  <a:lnTo>
                    <a:pt x="3345611" y="0"/>
                  </a:lnTo>
                  <a:lnTo>
                    <a:pt x="3345561" y="11684"/>
                  </a:lnTo>
                  <a:lnTo>
                    <a:pt x="3345510" y="25349"/>
                  </a:lnTo>
                  <a:lnTo>
                    <a:pt x="101" y="11684"/>
                  </a:lnTo>
                  <a:lnTo>
                    <a:pt x="0" y="37084"/>
                  </a:lnTo>
                  <a:lnTo>
                    <a:pt x="3345434" y="50749"/>
                  </a:lnTo>
                  <a:lnTo>
                    <a:pt x="3358172" y="50800"/>
                  </a:lnTo>
                  <a:lnTo>
                    <a:pt x="3345434" y="50800"/>
                  </a:lnTo>
                  <a:lnTo>
                    <a:pt x="3345357" y="76200"/>
                  </a:lnTo>
                  <a:lnTo>
                    <a:pt x="3396577" y="50800"/>
                  </a:lnTo>
                  <a:lnTo>
                    <a:pt x="3421684" y="38354"/>
                  </a:lnTo>
                  <a:close/>
                </a:path>
                <a:path w="3422650" h="197485">
                  <a:moveTo>
                    <a:pt x="3422319" y="159004"/>
                  </a:moveTo>
                  <a:lnTo>
                    <a:pt x="3396742" y="146177"/>
                  </a:lnTo>
                  <a:lnTo>
                    <a:pt x="3346119" y="120777"/>
                  </a:lnTo>
                  <a:lnTo>
                    <a:pt x="3346119" y="146164"/>
                  </a:lnTo>
                  <a:lnTo>
                    <a:pt x="288099" y="142748"/>
                  </a:lnTo>
                  <a:lnTo>
                    <a:pt x="288074" y="168148"/>
                  </a:lnTo>
                  <a:lnTo>
                    <a:pt x="3346119" y="171564"/>
                  </a:lnTo>
                  <a:lnTo>
                    <a:pt x="3346119" y="196977"/>
                  </a:lnTo>
                  <a:lnTo>
                    <a:pt x="3397085" y="171577"/>
                  </a:lnTo>
                  <a:lnTo>
                    <a:pt x="3422319" y="159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4040632" y="2532329"/>
            <a:ext cx="981710" cy="323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>
              <a:lnSpc>
                <a:spcPts val="165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RIGHT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36830">
              <a:lnSpc>
                <a:spcPts val="690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533145" y="2613405"/>
            <a:ext cx="400050" cy="1677035"/>
            <a:chOff x="533145" y="2613405"/>
            <a:chExt cx="400050" cy="1677035"/>
          </a:xfrm>
        </p:grpSpPr>
        <p:sp>
          <p:nvSpPr>
            <p:cNvPr id="113" name="object 113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8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8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4546853" y="4403597"/>
            <a:ext cx="1336675" cy="3949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67970">
              <a:lnSpc>
                <a:spcPts val="1395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RIGHT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40005">
              <a:lnSpc>
                <a:spcPts val="1215"/>
              </a:lnSpc>
            </a:pPr>
            <a:r>
              <a:rPr sz="1050" b="1" spc="-10" dirty="0">
                <a:latin typeface="Calibri"/>
                <a:cs typeface="Calibri"/>
              </a:rPr>
              <a:t>S[1:0]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874258" y="4419853"/>
            <a:ext cx="2177415" cy="137160"/>
            <a:chOff x="5874258" y="4419853"/>
            <a:chExt cx="2177415" cy="137160"/>
          </a:xfrm>
        </p:grpSpPr>
        <p:sp>
          <p:nvSpPr>
            <p:cNvPr id="121" name="object 121"/>
            <p:cNvSpPr/>
            <p:nvPr/>
          </p:nvSpPr>
          <p:spPr>
            <a:xfrm>
              <a:off x="5874258" y="4448936"/>
              <a:ext cx="2177415" cy="76200"/>
            </a:xfrm>
            <a:custGeom>
              <a:avLst/>
              <a:gdLst/>
              <a:ahLst/>
              <a:cxnLst/>
              <a:rect l="l" t="t" r="r" b="b"/>
              <a:pathLst>
                <a:path w="2177415" h="76200">
                  <a:moveTo>
                    <a:pt x="2100834" y="0"/>
                  </a:moveTo>
                  <a:lnTo>
                    <a:pt x="2100768" y="19685"/>
                  </a:lnTo>
                  <a:lnTo>
                    <a:pt x="2100706" y="38354"/>
                  </a:lnTo>
                  <a:lnTo>
                    <a:pt x="2100580" y="76200"/>
                  </a:lnTo>
                  <a:lnTo>
                    <a:pt x="2151806" y="50800"/>
                  </a:lnTo>
                  <a:lnTo>
                    <a:pt x="2113280" y="50800"/>
                  </a:lnTo>
                  <a:lnTo>
                    <a:pt x="2113407" y="25400"/>
                  </a:lnTo>
                  <a:lnTo>
                    <a:pt x="2151213" y="25400"/>
                  </a:lnTo>
                  <a:lnTo>
                    <a:pt x="2100834" y="0"/>
                  </a:lnTo>
                  <a:close/>
                </a:path>
                <a:path w="2177415" h="76200">
                  <a:moveTo>
                    <a:pt x="0" y="19685"/>
                  </a:moveTo>
                  <a:lnTo>
                    <a:pt x="0" y="45085"/>
                  </a:lnTo>
                  <a:lnTo>
                    <a:pt x="2113279" y="50800"/>
                  </a:lnTo>
                  <a:lnTo>
                    <a:pt x="2100664" y="50800"/>
                  </a:lnTo>
                  <a:lnTo>
                    <a:pt x="2100749" y="25400"/>
                  </a:lnTo>
                  <a:lnTo>
                    <a:pt x="2113407" y="25400"/>
                  </a:lnTo>
                  <a:lnTo>
                    <a:pt x="0" y="19685"/>
                  </a:lnTo>
                  <a:close/>
                </a:path>
                <a:path w="2177415" h="76200">
                  <a:moveTo>
                    <a:pt x="2151213" y="25400"/>
                  </a:moveTo>
                  <a:lnTo>
                    <a:pt x="2113407" y="25400"/>
                  </a:lnTo>
                  <a:lnTo>
                    <a:pt x="2113280" y="50800"/>
                  </a:lnTo>
                  <a:lnTo>
                    <a:pt x="2151806" y="50800"/>
                  </a:lnTo>
                  <a:lnTo>
                    <a:pt x="2176907" y="38354"/>
                  </a:lnTo>
                  <a:lnTo>
                    <a:pt x="215121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400038" y="4432553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435090" y="44325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37718" y="4458461"/>
            <a:ext cx="7495540" cy="1516380"/>
            <a:chOff x="537718" y="4458461"/>
            <a:chExt cx="7495540" cy="1516380"/>
          </a:xfrm>
        </p:grpSpPr>
        <p:sp>
          <p:nvSpPr>
            <p:cNvPr id="125" name="object 125"/>
            <p:cNvSpPr/>
            <p:nvPr/>
          </p:nvSpPr>
          <p:spPr>
            <a:xfrm>
              <a:off x="544068" y="4458461"/>
              <a:ext cx="4004310" cy="291465"/>
            </a:xfrm>
            <a:custGeom>
              <a:avLst/>
              <a:gdLst/>
              <a:ahLst/>
              <a:cxnLst/>
              <a:rect l="l" t="t" r="r" b="b"/>
              <a:pathLst>
                <a:path w="4004310" h="291464">
                  <a:moveTo>
                    <a:pt x="3990975" y="38100"/>
                  </a:moveTo>
                  <a:lnTo>
                    <a:pt x="3965575" y="25400"/>
                  </a:lnTo>
                  <a:lnTo>
                    <a:pt x="3914775" y="0"/>
                  </a:lnTo>
                  <a:lnTo>
                    <a:pt x="3914775" y="25400"/>
                  </a:lnTo>
                  <a:lnTo>
                    <a:pt x="86106" y="25400"/>
                  </a:lnTo>
                  <a:lnTo>
                    <a:pt x="86106" y="27063"/>
                  </a:lnTo>
                  <a:lnTo>
                    <a:pt x="84543" y="25958"/>
                  </a:lnTo>
                  <a:lnTo>
                    <a:pt x="68808" y="20904"/>
                  </a:lnTo>
                  <a:lnTo>
                    <a:pt x="49530" y="19050"/>
                  </a:lnTo>
                  <a:lnTo>
                    <a:pt x="30238" y="20904"/>
                  </a:lnTo>
                  <a:lnTo>
                    <a:pt x="14503" y="25958"/>
                  </a:lnTo>
                  <a:lnTo>
                    <a:pt x="3886" y="33464"/>
                  </a:lnTo>
                  <a:lnTo>
                    <a:pt x="0" y="42672"/>
                  </a:lnTo>
                  <a:lnTo>
                    <a:pt x="3886" y="51892"/>
                  </a:lnTo>
                  <a:lnTo>
                    <a:pt x="14503" y="59397"/>
                  </a:lnTo>
                  <a:lnTo>
                    <a:pt x="30238" y="64452"/>
                  </a:lnTo>
                  <a:lnTo>
                    <a:pt x="49530" y="66294"/>
                  </a:lnTo>
                  <a:lnTo>
                    <a:pt x="68808" y="64452"/>
                  </a:lnTo>
                  <a:lnTo>
                    <a:pt x="84543" y="59397"/>
                  </a:lnTo>
                  <a:lnTo>
                    <a:pt x="95161" y="51892"/>
                  </a:lnTo>
                  <a:lnTo>
                    <a:pt x="95618" y="50800"/>
                  </a:lnTo>
                  <a:lnTo>
                    <a:pt x="3914775" y="50800"/>
                  </a:lnTo>
                  <a:lnTo>
                    <a:pt x="3914775" y="76200"/>
                  </a:lnTo>
                  <a:lnTo>
                    <a:pt x="3965575" y="50800"/>
                  </a:lnTo>
                  <a:lnTo>
                    <a:pt x="3990975" y="38100"/>
                  </a:lnTo>
                  <a:close/>
                </a:path>
                <a:path w="4004310" h="291464">
                  <a:moveTo>
                    <a:pt x="4004183" y="252984"/>
                  </a:moveTo>
                  <a:lnTo>
                    <a:pt x="3979164" y="240588"/>
                  </a:lnTo>
                  <a:lnTo>
                    <a:pt x="3927856" y="215138"/>
                  </a:lnTo>
                  <a:lnTo>
                    <a:pt x="3927932" y="240588"/>
                  </a:lnTo>
                  <a:lnTo>
                    <a:pt x="331431" y="252095"/>
                  </a:lnTo>
                  <a:lnTo>
                    <a:pt x="331508" y="277495"/>
                  </a:lnTo>
                  <a:lnTo>
                    <a:pt x="3928021" y="265988"/>
                  </a:lnTo>
                  <a:lnTo>
                    <a:pt x="3928110" y="291338"/>
                  </a:lnTo>
                  <a:lnTo>
                    <a:pt x="3978402" y="265988"/>
                  </a:lnTo>
                  <a:lnTo>
                    <a:pt x="4004183" y="252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44068" y="44775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897629" y="5690095"/>
              <a:ext cx="4135120" cy="76200"/>
            </a:xfrm>
            <a:custGeom>
              <a:avLst/>
              <a:gdLst/>
              <a:ahLst/>
              <a:cxnLst/>
              <a:rect l="l" t="t" r="r" b="b"/>
              <a:pathLst>
                <a:path w="4135120" h="76200">
                  <a:moveTo>
                    <a:pt x="4058793" y="0"/>
                  </a:moveTo>
                  <a:lnTo>
                    <a:pt x="4058877" y="25403"/>
                  </a:lnTo>
                  <a:lnTo>
                    <a:pt x="4058921" y="38557"/>
                  </a:lnTo>
                  <a:lnTo>
                    <a:pt x="4059047" y="76200"/>
                  </a:lnTo>
                  <a:lnTo>
                    <a:pt x="4109436" y="50803"/>
                  </a:lnTo>
                  <a:lnTo>
                    <a:pt x="4071747" y="50803"/>
                  </a:lnTo>
                  <a:lnTo>
                    <a:pt x="4071682" y="37858"/>
                  </a:lnTo>
                  <a:lnTo>
                    <a:pt x="4071620" y="25403"/>
                  </a:lnTo>
                  <a:lnTo>
                    <a:pt x="4110008" y="25403"/>
                  </a:lnTo>
                  <a:lnTo>
                    <a:pt x="4058793" y="0"/>
                  </a:lnTo>
                  <a:close/>
                </a:path>
                <a:path w="4135120" h="76200">
                  <a:moveTo>
                    <a:pt x="4058877" y="25403"/>
                  </a:moveTo>
                  <a:lnTo>
                    <a:pt x="0" y="38557"/>
                  </a:lnTo>
                  <a:lnTo>
                    <a:pt x="0" y="63957"/>
                  </a:lnTo>
                  <a:lnTo>
                    <a:pt x="4058962" y="50803"/>
                  </a:lnTo>
                  <a:lnTo>
                    <a:pt x="4058877" y="25403"/>
                  </a:lnTo>
                  <a:close/>
                </a:path>
                <a:path w="4135120" h="76200">
                  <a:moveTo>
                    <a:pt x="4110008" y="25403"/>
                  </a:moveTo>
                  <a:lnTo>
                    <a:pt x="4071620" y="25403"/>
                  </a:lnTo>
                  <a:lnTo>
                    <a:pt x="4071682" y="37858"/>
                  </a:lnTo>
                  <a:lnTo>
                    <a:pt x="4071747" y="50803"/>
                  </a:lnTo>
                  <a:lnTo>
                    <a:pt x="4109436" y="50803"/>
                  </a:lnTo>
                  <a:lnTo>
                    <a:pt x="4135120" y="37858"/>
                  </a:lnTo>
                  <a:lnTo>
                    <a:pt x="4110008" y="25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82930" y="5702045"/>
              <a:ext cx="2340610" cy="273050"/>
            </a:xfrm>
            <a:custGeom>
              <a:avLst/>
              <a:gdLst/>
              <a:ahLst/>
              <a:cxnLst/>
              <a:rect l="l" t="t" r="r" b="b"/>
              <a:pathLst>
                <a:path w="2340610" h="273050">
                  <a:moveTo>
                    <a:pt x="2340229" y="234696"/>
                  </a:moveTo>
                  <a:lnTo>
                    <a:pt x="2314829" y="221996"/>
                  </a:lnTo>
                  <a:lnTo>
                    <a:pt x="2264029" y="196596"/>
                  </a:lnTo>
                  <a:lnTo>
                    <a:pt x="2264029" y="221996"/>
                  </a:lnTo>
                  <a:lnTo>
                    <a:pt x="294132" y="221996"/>
                  </a:lnTo>
                  <a:lnTo>
                    <a:pt x="294132" y="247396"/>
                  </a:lnTo>
                  <a:lnTo>
                    <a:pt x="2264029" y="247396"/>
                  </a:lnTo>
                  <a:lnTo>
                    <a:pt x="2264029" y="272796"/>
                  </a:lnTo>
                  <a:lnTo>
                    <a:pt x="2314829" y="247396"/>
                  </a:lnTo>
                  <a:lnTo>
                    <a:pt x="2340229" y="234696"/>
                  </a:lnTo>
                  <a:close/>
                </a:path>
                <a:path w="2340610" h="273050">
                  <a:moveTo>
                    <a:pt x="2340483" y="38100"/>
                  </a:moveTo>
                  <a:lnTo>
                    <a:pt x="2315083" y="25400"/>
                  </a:lnTo>
                  <a:lnTo>
                    <a:pt x="2264283" y="0"/>
                  </a:lnTo>
                  <a:lnTo>
                    <a:pt x="2264283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64283" y="50800"/>
                  </a:lnTo>
                  <a:lnTo>
                    <a:pt x="2264283" y="76200"/>
                  </a:lnTo>
                  <a:lnTo>
                    <a:pt x="2315083" y="50800"/>
                  </a:lnTo>
                  <a:lnTo>
                    <a:pt x="23404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411986" y="5695289"/>
            <a:ext cx="106045" cy="42608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2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533145" y="4643882"/>
            <a:ext cx="3404235" cy="1381125"/>
            <a:chOff x="533145" y="4643882"/>
            <a:chExt cx="3404235" cy="1381125"/>
          </a:xfrm>
        </p:grpSpPr>
        <p:sp>
          <p:nvSpPr>
            <p:cNvPr id="133" name="object 133"/>
            <p:cNvSpPr/>
            <p:nvPr/>
          </p:nvSpPr>
          <p:spPr>
            <a:xfrm>
              <a:off x="1376934" y="5689854"/>
              <a:ext cx="176530" cy="322580"/>
            </a:xfrm>
            <a:custGeom>
              <a:avLst/>
              <a:gdLst/>
              <a:ahLst/>
              <a:cxnLst/>
              <a:rect l="l" t="t" r="r" b="b"/>
              <a:pathLst>
                <a:path w="176530" h="322579">
                  <a:moveTo>
                    <a:pt x="176403" y="0"/>
                  </a:moveTo>
                  <a:lnTo>
                    <a:pt x="7619" y="111645"/>
                  </a:lnTo>
                </a:path>
                <a:path w="176530" h="322579">
                  <a:moveTo>
                    <a:pt x="168782" y="210312"/>
                  </a:moveTo>
                  <a:lnTo>
                    <a:pt x="0" y="3219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755897" y="4656582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2923794" y="5671565"/>
            <a:ext cx="975360" cy="33401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240"/>
              </a:spcBef>
            </a:pPr>
            <a:r>
              <a:rPr sz="1400" b="1" spc="-25" dirty="0">
                <a:latin typeface="Calibri"/>
                <a:cs typeface="Calibri"/>
              </a:rPr>
              <a:t>DIV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813809" y="4678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3016757" y="39524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3084957" y="397530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2978657" y="443865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3014598" y="44574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976873" y="56672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4903978" y="2957829"/>
            <a:ext cx="2114550" cy="2842895"/>
            <a:chOff x="4903978" y="2957829"/>
            <a:chExt cx="2114550" cy="2842895"/>
          </a:xfrm>
        </p:grpSpPr>
        <p:sp>
          <p:nvSpPr>
            <p:cNvPr id="147" name="object 147"/>
            <p:cNvSpPr/>
            <p:nvPr/>
          </p:nvSpPr>
          <p:spPr>
            <a:xfrm>
              <a:off x="5939790" y="3362705"/>
              <a:ext cx="1020444" cy="2425700"/>
            </a:xfrm>
            <a:custGeom>
              <a:avLst/>
              <a:gdLst/>
              <a:ahLst/>
              <a:cxnLst/>
              <a:rect l="l" t="t" r="r" b="b"/>
              <a:pathLst>
                <a:path w="1020445" h="2425700">
                  <a:moveTo>
                    <a:pt x="168783" y="2313432"/>
                  </a:moveTo>
                  <a:lnTo>
                    <a:pt x="0" y="2425077"/>
                  </a:lnTo>
                </a:path>
                <a:path w="1020445" h="2425700">
                  <a:moveTo>
                    <a:pt x="1004315" y="0"/>
                  </a:moveTo>
                  <a:lnTo>
                    <a:pt x="1019937" y="20002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3978" y="2957829"/>
              <a:ext cx="137668" cy="10718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7558" y="3305301"/>
              <a:ext cx="140716" cy="101092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7032117" y="5097526"/>
            <a:ext cx="820419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CMP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(SUB)</a:t>
            </a:r>
            <a:endParaRPr sz="1400">
              <a:latin typeface="Calibri"/>
              <a:cs typeface="Calibri"/>
            </a:endParaRPr>
          </a:p>
          <a:p>
            <a:pPr marL="151130">
              <a:lnSpc>
                <a:spcPts val="2060"/>
              </a:lnSpc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2636011" y="23976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2526029" y="2355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2081529" y="273837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2020061" y="271348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 txBox="1"/>
          <p:nvPr/>
        </p:nvSpPr>
        <p:spPr>
          <a:xfrm>
            <a:off x="1842897" y="246900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824482" y="2591054"/>
            <a:ext cx="8244205" cy="626745"/>
            <a:chOff x="1824482" y="2591054"/>
            <a:chExt cx="8244205" cy="626745"/>
          </a:xfrm>
        </p:grpSpPr>
        <p:sp>
          <p:nvSpPr>
            <p:cNvPr id="157" name="object 157"/>
            <p:cNvSpPr/>
            <p:nvPr/>
          </p:nvSpPr>
          <p:spPr>
            <a:xfrm>
              <a:off x="1837182" y="26037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998214" y="3141218"/>
              <a:ext cx="6070600" cy="76200"/>
            </a:xfrm>
            <a:custGeom>
              <a:avLst/>
              <a:gdLst/>
              <a:ahLst/>
              <a:cxnLst/>
              <a:rect l="l" t="t" r="r" b="b"/>
              <a:pathLst>
                <a:path w="6070600" h="76200">
                  <a:moveTo>
                    <a:pt x="5994400" y="0"/>
                  </a:moveTo>
                  <a:lnTo>
                    <a:pt x="5994379" y="6096"/>
                  </a:lnTo>
                  <a:lnTo>
                    <a:pt x="5994272" y="38354"/>
                  </a:lnTo>
                  <a:lnTo>
                    <a:pt x="5994145" y="76200"/>
                  </a:lnTo>
                  <a:lnTo>
                    <a:pt x="6045372" y="50800"/>
                  </a:lnTo>
                  <a:lnTo>
                    <a:pt x="6006845" y="50800"/>
                  </a:lnTo>
                  <a:lnTo>
                    <a:pt x="6006972" y="25400"/>
                  </a:lnTo>
                  <a:lnTo>
                    <a:pt x="6044779" y="25400"/>
                  </a:lnTo>
                  <a:lnTo>
                    <a:pt x="5994400" y="0"/>
                  </a:lnTo>
                  <a:close/>
                </a:path>
                <a:path w="6070600" h="76200">
                  <a:moveTo>
                    <a:pt x="0" y="6096"/>
                  </a:moveTo>
                  <a:lnTo>
                    <a:pt x="0" y="31496"/>
                  </a:lnTo>
                  <a:lnTo>
                    <a:pt x="6006845" y="50800"/>
                  </a:lnTo>
                  <a:lnTo>
                    <a:pt x="5994230" y="50800"/>
                  </a:lnTo>
                  <a:lnTo>
                    <a:pt x="5994315" y="25400"/>
                  </a:lnTo>
                  <a:lnTo>
                    <a:pt x="6006973" y="25400"/>
                  </a:lnTo>
                  <a:lnTo>
                    <a:pt x="0" y="6096"/>
                  </a:lnTo>
                  <a:close/>
                </a:path>
                <a:path w="6070600" h="76200">
                  <a:moveTo>
                    <a:pt x="6044779" y="25400"/>
                  </a:moveTo>
                  <a:lnTo>
                    <a:pt x="6006972" y="25400"/>
                  </a:lnTo>
                  <a:lnTo>
                    <a:pt x="6006845" y="50800"/>
                  </a:lnTo>
                  <a:lnTo>
                    <a:pt x="6045372" y="50800"/>
                  </a:lnTo>
                  <a:lnTo>
                    <a:pt x="6070472" y="38354"/>
                  </a:lnTo>
                  <a:lnTo>
                    <a:pt x="604477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917244" y="275272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928522" y="239890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905967" y="423405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912367" y="4696714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899661" y="3081020"/>
            <a:ext cx="673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50" dirty="0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9684257" y="3117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9742678" y="31224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0010647" y="3956050"/>
            <a:ext cx="1758314" cy="88011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 algn="ctr">
              <a:lnSpc>
                <a:spcPts val="2160"/>
              </a:lnSpc>
              <a:spcBef>
                <a:spcPts val="375"/>
              </a:spcBef>
            </a:pPr>
            <a:r>
              <a:rPr sz="2000" b="1" dirty="0">
                <a:latin typeface="Calibri"/>
                <a:cs typeface="Calibri"/>
              </a:rPr>
              <a:t>Carry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Flag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(CF)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35" dirty="0">
                <a:latin typeface="Calibri"/>
                <a:cs typeface="Calibri"/>
              </a:rPr>
              <a:t>is </a:t>
            </a:r>
            <a:r>
              <a:rPr sz="2000" b="1" spc="-10" dirty="0">
                <a:latin typeface="Calibri"/>
                <a:cs typeface="Calibri"/>
              </a:rPr>
              <a:t>already implemented.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55626"/>
            <a:ext cx="15513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4</a:t>
            </a:r>
            <a:r>
              <a:rPr sz="3200" spc="-10" dirty="0"/>
              <a:t> </a:t>
            </a:r>
            <a:r>
              <a:rPr sz="3200" dirty="0"/>
              <a:t>bit</a:t>
            </a:r>
            <a:r>
              <a:rPr sz="3200" spc="-15" dirty="0"/>
              <a:t> </a:t>
            </a:r>
            <a:r>
              <a:rPr sz="3200" spc="-25" dirty="0"/>
              <a:t>ALU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108818" y="3003880"/>
            <a:ext cx="175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cf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078" y="3969257"/>
            <a:ext cx="3918585" cy="316230"/>
          </a:xfrm>
          <a:custGeom>
            <a:avLst/>
            <a:gdLst/>
            <a:ahLst/>
            <a:cxnLst/>
            <a:rect l="l" t="t" r="r" b="b"/>
            <a:pathLst>
              <a:path w="3918585" h="316229">
                <a:moveTo>
                  <a:pt x="3904869" y="38100"/>
                </a:moveTo>
                <a:lnTo>
                  <a:pt x="3879469" y="25400"/>
                </a:lnTo>
                <a:lnTo>
                  <a:pt x="3828669" y="0"/>
                </a:lnTo>
                <a:lnTo>
                  <a:pt x="3828669" y="25400"/>
                </a:lnTo>
                <a:lnTo>
                  <a:pt x="0" y="25400"/>
                </a:lnTo>
                <a:lnTo>
                  <a:pt x="0" y="50800"/>
                </a:lnTo>
                <a:lnTo>
                  <a:pt x="3828669" y="50800"/>
                </a:lnTo>
                <a:lnTo>
                  <a:pt x="3828669" y="76200"/>
                </a:lnTo>
                <a:lnTo>
                  <a:pt x="3879469" y="50800"/>
                </a:lnTo>
                <a:lnTo>
                  <a:pt x="3904869" y="38100"/>
                </a:lnTo>
                <a:close/>
              </a:path>
              <a:path w="3918585" h="316229">
                <a:moveTo>
                  <a:pt x="3918077" y="277368"/>
                </a:moveTo>
                <a:lnTo>
                  <a:pt x="3893058" y="264972"/>
                </a:lnTo>
                <a:lnTo>
                  <a:pt x="3841750" y="239522"/>
                </a:lnTo>
                <a:lnTo>
                  <a:pt x="3841826" y="264972"/>
                </a:lnTo>
                <a:lnTo>
                  <a:pt x="245325" y="276479"/>
                </a:lnTo>
                <a:lnTo>
                  <a:pt x="245402" y="301879"/>
                </a:lnTo>
                <a:lnTo>
                  <a:pt x="3841915" y="290372"/>
                </a:lnTo>
                <a:lnTo>
                  <a:pt x="3842004" y="315722"/>
                </a:lnTo>
                <a:lnTo>
                  <a:pt x="3892296" y="290372"/>
                </a:lnTo>
                <a:lnTo>
                  <a:pt x="3918077" y="277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0090" y="3868673"/>
            <a:ext cx="1335405" cy="44386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1365"/>
              </a:lnSpc>
            </a:pPr>
            <a:r>
              <a:rPr sz="1200" b="1" dirty="0">
                <a:latin typeface="Calibri"/>
                <a:cs typeface="Calibri"/>
              </a:rPr>
              <a:t>LEFT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480"/>
              </a:spcBef>
            </a:pPr>
            <a:r>
              <a:rPr sz="1200" b="1" spc="-10" dirty="0">
                <a:latin typeface="Calibri"/>
                <a:cs typeface="Calibri"/>
              </a:rPr>
              <a:t>S[1:0]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7718" y="505205"/>
            <a:ext cx="8502015" cy="3824604"/>
            <a:chOff x="537718" y="505205"/>
            <a:chExt cx="8502015" cy="3824604"/>
          </a:xfrm>
        </p:grpSpPr>
        <p:sp>
          <p:nvSpPr>
            <p:cNvPr id="7" name="object 7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55970" y="505205"/>
              <a:ext cx="3183890" cy="3587115"/>
            </a:xfrm>
            <a:custGeom>
              <a:avLst/>
              <a:gdLst/>
              <a:ahLst/>
              <a:cxnLst/>
              <a:rect l="l" t="t" r="r" b="b"/>
              <a:pathLst>
                <a:path w="3183890" h="3587115">
                  <a:moveTo>
                    <a:pt x="2176907" y="3549269"/>
                  </a:moveTo>
                  <a:lnTo>
                    <a:pt x="2151202" y="3536315"/>
                  </a:lnTo>
                  <a:lnTo>
                    <a:pt x="2100834" y="3510915"/>
                  </a:lnTo>
                  <a:lnTo>
                    <a:pt x="2100757" y="3530600"/>
                  </a:lnTo>
                  <a:lnTo>
                    <a:pt x="2100732" y="3536289"/>
                  </a:lnTo>
                  <a:lnTo>
                    <a:pt x="0" y="3530600"/>
                  </a:lnTo>
                  <a:lnTo>
                    <a:pt x="0" y="3556000"/>
                  </a:lnTo>
                  <a:lnTo>
                    <a:pt x="2100656" y="3561689"/>
                  </a:lnTo>
                  <a:lnTo>
                    <a:pt x="2113267" y="3561715"/>
                  </a:lnTo>
                  <a:lnTo>
                    <a:pt x="2100656" y="3561715"/>
                  </a:lnTo>
                  <a:lnTo>
                    <a:pt x="2100580" y="3587115"/>
                  </a:lnTo>
                  <a:lnTo>
                    <a:pt x="2151799" y="3561715"/>
                  </a:lnTo>
                  <a:lnTo>
                    <a:pt x="2176907" y="3549269"/>
                  </a:lnTo>
                  <a:close/>
                </a:path>
                <a:path w="3183890" h="3587115">
                  <a:moveTo>
                    <a:pt x="2665476" y="547751"/>
                  </a:moveTo>
                  <a:lnTo>
                    <a:pt x="2640076" y="547751"/>
                  </a:lnTo>
                  <a:lnTo>
                    <a:pt x="2640076" y="6096"/>
                  </a:lnTo>
                  <a:lnTo>
                    <a:pt x="2614676" y="6096"/>
                  </a:lnTo>
                  <a:lnTo>
                    <a:pt x="2614676" y="547751"/>
                  </a:lnTo>
                  <a:lnTo>
                    <a:pt x="2589276" y="547751"/>
                  </a:lnTo>
                  <a:lnTo>
                    <a:pt x="2627376" y="623951"/>
                  </a:lnTo>
                  <a:lnTo>
                    <a:pt x="2659126" y="560451"/>
                  </a:lnTo>
                  <a:lnTo>
                    <a:pt x="2665476" y="547751"/>
                  </a:lnTo>
                  <a:close/>
                </a:path>
                <a:path w="3183890" h="3587115">
                  <a:moveTo>
                    <a:pt x="2906268" y="541655"/>
                  </a:moveTo>
                  <a:lnTo>
                    <a:pt x="2880868" y="541655"/>
                  </a:lnTo>
                  <a:lnTo>
                    <a:pt x="2880868" y="0"/>
                  </a:lnTo>
                  <a:lnTo>
                    <a:pt x="2855468" y="0"/>
                  </a:lnTo>
                  <a:lnTo>
                    <a:pt x="2855468" y="541655"/>
                  </a:lnTo>
                  <a:lnTo>
                    <a:pt x="2830068" y="541655"/>
                  </a:lnTo>
                  <a:lnTo>
                    <a:pt x="2868168" y="617855"/>
                  </a:lnTo>
                  <a:lnTo>
                    <a:pt x="2899918" y="554355"/>
                  </a:lnTo>
                  <a:lnTo>
                    <a:pt x="2906268" y="541655"/>
                  </a:lnTo>
                  <a:close/>
                </a:path>
                <a:path w="3183890" h="3587115">
                  <a:moveTo>
                    <a:pt x="3183636" y="541655"/>
                  </a:moveTo>
                  <a:lnTo>
                    <a:pt x="3158236" y="541655"/>
                  </a:lnTo>
                  <a:lnTo>
                    <a:pt x="3158236" y="0"/>
                  </a:lnTo>
                  <a:lnTo>
                    <a:pt x="3132836" y="0"/>
                  </a:lnTo>
                  <a:lnTo>
                    <a:pt x="3132836" y="541655"/>
                  </a:lnTo>
                  <a:lnTo>
                    <a:pt x="3107436" y="541655"/>
                  </a:lnTo>
                  <a:lnTo>
                    <a:pt x="3145536" y="617855"/>
                  </a:lnTo>
                  <a:lnTo>
                    <a:pt x="3177286" y="554355"/>
                  </a:lnTo>
                  <a:lnTo>
                    <a:pt x="3183636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5521" y="4205477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73500" y="42283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8461" y="4877561"/>
            <a:ext cx="977265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505"/>
              </a:spcBef>
            </a:pPr>
            <a:r>
              <a:rPr sz="1400" b="1" spc="-25" dirty="0">
                <a:latin typeface="Calibri"/>
                <a:cs typeface="Calibri"/>
              </a:rPr>
              <a:t>NOT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2477" y="4904485"/>
            <a:ext cx="3951604" cy="137160"/>
            <a:chOff x="522477" y="4904485"/>
            <a:chExt cx="3951604" cy="137160"/>
          </a:xfrm>
        </p:grpSpPr>
        <p:sp>
          <p:nvSpPr>
            <p:cNvPr id="14" name="object 14"/>
            <p:cNvSpPr/>
            <p:nvPr/>
          </p:nvSpPr>
          <p:spPr>
            <a:xfrm>
              <a:off x="528828" y="4946141"/>
              <a:ext cx="3945254" cy="76200"/>
            </a:xfrm>
            <a:custGeom>
              <a:avLst/>
              <a:gdLst/>
              <a:ahLst/>
              <a:cxnLst/>
              <a:rect l="l" t="t" r="r" b="b"/>
              <a:pathLst>
                <a:path w="3945254" h="76200">
                  <a:moveTo>
                    <a:pt x="3945255" y="38100"/>
                  </a:moveTo>
                  <a:lnTo>
                    <a:pt x="3919855" y="25400"/>
                  </a:lnTo>
                  <a:lnTo>
                    <a:pt x="3869055" y="0"/>
                  </a:lnTo>
                  <a:lnTo>
                    <a:pt x="3869055" y="25400"/>
                  </a:lnTo>
                  <a:lnTo>
                    <a:pt x="87617" y="25400"/>
                  </a:lnTo>
                  <a:lnTo>
                    <a:pt x="84543" y="23152"/>
                  </a:lnTo>
                  <a:lnTo>
                    <a:pt x="68808" y="17919"/>
                  </a:lnTo>
                  <a:lnTo>
                    <a:pt x="49530" y="16002"/>
                  </a:lnTo>
                  <a:lnTo>
                    <a:pt x="30238" y="17919"/>
                  </a:lnTo>
                  <a:lnTo>
                    <a:pt x="14503" y="23152"/>
                  </a:lnTo>
                  <a:lnTo>
                    <a:pt x="3886" y="30899"/>
                  </a:lnTo>
                  <a:lnTo>
                    <a:pt x="0" y="40386"/>
                  </a:lnTo>
                  <a:lnTo>
                    <a:pt x="3886" y="49885"/>
                  </a:lnTo>
                  <a:lnTo>
                    <a:pt x="14503" y="57632"/>
                  </a:lnTo>
                  <a:lnTo>
                    <a:pt x="30238" y="62865"/>
                  </a:lnTo>
                  <a:lnTo>
                    <a:pt x="49530" y="64770"/>
                  </a:lnTo>
                  <a:lnTo>
                    <a:pt x="68808" y="62865"/>
                  </a:lnTo>
                  <a:lnTo>
                    <a:pt x="84543" y="57632"/>
                  </a:lnTo>
                  <a:lnTo>
                    <a:pt x="93903" y="50800"/>
                  </a:lnTo>
                  <a:lnTo>
                    <a:pt x="3869055" y="50800"/>
                  </a:lnTo>
                  <a:lnTo>
                    <a:pt x="3869055" y="76200"/>
                  </a:lnTo>
                  <a:lnTo>
                    <a:pt x="3919855" y="50800"/>
                  </a:lnTo>
                  <a:lnTo>
                    <a:pt x="394525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8827" y="4962143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68445" y="4917185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09594" y="495007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6075" y="3987038"/>
            <a:ext cx="2607310" cy="1029335"/>
            <a:chOff x="5426075" y="3987038"/>
            <a:chExt cx="2607310" cy="1029335"/>
          </a:xfrm>
        </p:grpSpPr>
        <p:sp>
          <p:nvSpPr>
            <p:cNvPr id="19" name="object 19"/>
            <p:cNvSpPr/>
            <p:nvPr/>
          </p:nvSpPr>
          <p:spPr>
            <a:xfrm>
              <a:off x="5426075" y="4940173"/>
              <a:ext cx="2607310" cy="76200"/>
            </a:xfrm>
            <a:custGeom>
              <a:avLst/>
              <a:gdLst/>
              <a:ahLst/>
              <a:cxnLst/>
              <a:rect l="l" t="t" r="r" b="b"/>
              <a:pathLst>
                <a:path w="2607309" h="76200">
                  <a:moveTo>
                    <a:pt x="2530982" y="0"/>
                  </a:moveTo>
                  <a:lnTo>
                    <a:pt x="2530932" y="10032"/>
                  </a:lnTo>
                  <a:lnTo>
                    <a:pt x="2530855" y="25526"/>
                  </a:lnTo>
                  <a:lnTo>
                    <a:pt x="2530728" y="50926"/>
                  </a:lnTo>
                  <a:lnTo>
                    <a:pt x="2530602" y="76200"/>
                  </a:lnTo>
                  <a:lnTo>
                    <a:pt x="2582001" y="50926"/>
                  </a:lnTo>
                  <a:lnTo>
                    <a:pt x="2543429" y="50926"/>
                  </a:lnTo>
                  <a:lnTo>
                    <a:pt x="2543555" y="25526"/>
                  </a:lnTo>
                  <a:lnTo>
                    <a:pt x="2581281" y="25526"/>
                  </a:lnTo>
                  <a:lnTo>
                    <a:pt x="2530982" y="0"/>
                  </a:lnTo>
                  <a:close/>
                </a:path>
                <a:path w="2607309" h="76200">
                  <a:moveTo>
                    <a:pt x="253" y="10032"/>
                  </a:moveTo>
                  <a:lnTo>
                    <a:pt x="99" y="25526"/>
                  </a:lnTo>
                  <a:lnTo>
                    <a:pt x="0" y="35432"/>
                  </a:lnTo>
                  <a:lnTo>
                    <a:pt x="2543428" y="50926"/>
                  </a:lnTo>
                  <a:lnTo>
                    <a:pt x="2530728" y="50926"/>
                  </a:lnTo>
                  <a:lnTo>
                    <a:pt x="2530855" y="25526"/>
                  </a:lnTo>
                  <a:lnTo>
                    <a:pt x="2543556" y="25526"/>
                  </a:lnTo>
                  <a:lnTo>
                    <a:pt x="253" y="10032"/>
                  </a:lnTo>
                  <a:close/>
                </a:path>
                <a:path w="2607309" h="76200">
                  <a:moveTo>
                    <a:pt x="2581281" y="25526"/>
                  </a:moveTo>
                  <a:lnTo>
                    <a:pt x="2543555" y="25526"/>
                  </a:lnTo>
                  <a:lnTo>
                    <a:pt x="2543429" y="50926"/>
                  </a:lnTo>
                  <a:lnTo>
                    <a:pt x="2582001" y="50926"/>
                  </a:lnTo>
                  <a:lnTo>
                    <a:pt x="2607055" y="38607"/>
                  </a:lnTo>
                  <a:lnTo>
                    <a:pt x="2581281" y="25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87846" y="3999738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17055" y="399841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12941" y="4901946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41897" y="490740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962393" y="1057783"/>
            <a:ext cx="2634615" cy="5672455"/>
            <a:chOff x="6962393" y="1057783"/>
            <a:chExt cx="2634615" cy="5672455"/>
          </a:xfrm>
        </p:grpSpPr>
        <p:sp>
          <p:nvSpPr>
            <p:cNvPr id="25" name="object 25"/>
            <p:cNvSpPr/>
            <p:nvPr/>
          </p:nvSpPr>
          <p:spPr>
            <a:xfrm>
              <a:off x="6962393" y="5324602"/>
              <a:ext cx="1063625" cy="76200"/>
            </a:xfrm>
            <a:custGeom>
              <a:avLst/>
              <a:gdLst/>
              <a:ahLst/>
              <a:cxnLst/>
              <a:rect l="l" t="t" r="r" b="b"/>
              <a:pathLst>
                <a:path w="1063625" h="76200">
                  <a:moveTo>
                    <a:pt x="987044" y="0"/>
                  </a:moveTo>
                  <a:lnTo>
                    <a:pt x="986971" y="21844"/>
                  </a:lnTo>
                  <a:lnTo>
                    <a:pt x="986916" y="38354"/>
                  </a:lnTo>
                  <a:lnTo>
                    <a:pt x="986789" y="76200"/>
                  </a:lnTo>
                  <a:lnTo>
                    <a:pt x="1038016" y="50800"/>
                  </a:lnTo>
                  <a:lnTo>
                    <a:pt x="999616" y="50800"/>
                  </a:lnTo>
                  <a:lnTo>
                    <a:pt x="999616" y="25400"/>
                  </a:lnTo>
                  <a:lnTo>
                    <a:pt x="1037423" y="25400"/>
                  </a:lnTo>
                  <a:lnTo>
                    <a:pt x="987044" y="0"/>
                  </a:lnTo>
                  <a:close/>
                </a:path>
                <a:path w="1063625" h="76200">
                  <a:moveTo>
                    <a:pt x="0" y="21844"/>
                  </a:moveTo>
                  <a:lnTo>
                    <a:pt x="0" y="47244"/>
                  </a:lnTo>
                  <a:lnTo>
                    <a:pt x="999617" y="50800"/>
                  </a:lnTo>
                  <a:lnTo>
                    <a:pt x="986874" y="50800"/>
                  </a:lnTo>
                  <a:lnTo>
                    <a:pt x="986959" y="25400"/>
                  </a:lnTo>
                  <a:lnTo>
                    <a:pt x="999617" y="25400"/>
                  </a:lnTo>
                  <a:lnTo>
                    <a:pt x="0" y="21844"/>
                  </a:lnTo>
                  <a:close/>
                </a:path>
                <a:path w="1063625" h="76200">
                  <a:moveTo>
                    <a:pt x="1037423" y="25400"/>
                  </a:moveTo>
                  <a:lnTo>
                    <a:pt x="999616" y="25400"/>
                  </a:lnTo>
                  <a:lnTo>
                    <a:pt x="999616" y="50800"/>
                  </a:lnTo>
                  <a:lnTo>
                    <a:pt x="1038016" y="50800"/>
                  </a:lnTo>
                  <a:lnTo>
                    <a:pt x="1063116" y="38354"/>
                  </a:lnTo>
                  <a:lnTo>
                    <a:pt x="103742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26985" y="53088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383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1542288" y="0"/>
                  </a:moveTo>
                  <a:lnTo>
                    <a:pt x="0" y="0"/>
                  </a:lnTo>
                  <a:lnTo>
                    <a:pt x="0" y="5640324"/>
                  </a:lnTo>
                  <a:lnTo>
                    <a:pt x="1542288" y="5640324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383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0" y="5640324"/>
                  </a:moveTo>
                  <a:lnTo>
                    <a:pt x="1542288" y="5640324"/>
                  </a:lnTo>
                  <a:lnTo>
                    <a:pt x="1542288" y="0"/>
                  </a:lnTo>
                  <a:lnTo>
                    <a:pt x="0" y="0"/>
                  </a:lnTo>
                  <a:lnTo>
                    <a:pt x="0" y="5640324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25790" y="1046479"/>
            <a:ext cx="1165860" cy="3515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(1)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(2)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(3)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(4)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(5)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(6)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(7)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(8)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6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(9)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93785" y="4613021"/>
            <a:ext cx="1230630" cy="21145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(11)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(12)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(13)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(14)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96106" y="1218564"/>
            <a:ext cx="6172835" cy="2478405"/>
          </a:xfrm>
          <a:custGeom>
            <a:avLst/>
            <a:gdLst/>
            <a:ahLst/>
            <a:cxnLst/>
            <a:rect l="l" t="t" r="r" b="b"/>
            <a:pathLst>
              <a:path w="6172834" h="2478404">
                <a:moveTo>
                  <a:pt x="4065054" y="2452801"/>
                </a:moveTo>
                <a:lnTo>
                  <a:pt x="4064965" y="2427401"/>
                </a:lnTo>
                <a:lnTo>
                  <a:pt x="6096" y="2440559"/>
                </a:lnTo>
                <a:lnTo>
                  <a:pt x="6096" y="2465959"/>
                </a:lnTo>
                <a:lnTo>
                  <a:pt x="4065054" y="2452801"/>
                </a:lnTo>
                <a:close/>
              </a:path>
              <a:path w="6172834" h="2478404">
                <a:moveTo>
                  <a:pt x="4123436" y="1427099"/>
                </a:moveTo>
                <a:lnTo>
                  <a:pt x="4097858" y="1414272"/>
                </a:lnTo>
                <a:lnTo>
                  <a:pt x="4047236" y="1388872"/>
                </a:lnTo>
                <a:lnTo>
                  <a:pt x="4047236" y="1414272"/>
                </a:lnTo>
                <a:lnTo>
                  <a:pt x="1059180" y="1413637"/>
                </a:lnTo>
                <a:lnTo>
                  <a:pt x="1059180" y="1439037"/>
                </a:lnTo>
                <a:lnTo>
                  <a:pt x="4047236" y="1439672"/>
                </a:lnTo>
                <a:lnTo>
                  <a:pt x="4047236" y="1465072"/>
                </a:lnTo>
                <a:lnTo>
                  <a:pt x="4098201" y="1439672"/>
                </a:lnTo>
                <a:lnTo>
                  <a:pt x="4123436" y="1427099"/>
                </a:lnTo>
                <a:close/>
              </a:path>
              <a:path w="6172834" h="2478404">
                <a:moveTo>
                  <a:pt x="4140327" y="2139569"/>
                </a:moveTo>
                <a:lnTo>
                  <a:pt x="4114927" y="2126881"/>
                </a:lnTo>
                <a:lnTo>
                  <a:pt x="4064127" y="2101469"/>
                </a:lnTo>
                <a:lnTo>
                  <a:pt x="4064127" y="2126881"/>
                </a:lnTo>
                <a:lnTo>
                  <a:pt x="1077468" y="2127885"/>
                </a:lnTo>
                <a:lnTo>
                  <a:pt x="1077468" y="2153285"/>
                </a:lnTo>
                <a:lnTo>
                  <a:pt x="4064127" y="2152281"/>
                </a:lnTo>
                <a:lnTo>
                  <a:pt x="4064127" y="2177669"/>
                </a:lnTo>
                <a:lnTo>
                  <a:pt x="4114914" y="2152281"/>
                </a:lnTo>
                <a:lnTo>
                  <a:pt x="4140327" y="2139569"/>
                </a:lnTo>
                <a:close/>
              </a:path>
              <a:path w="6172834" h="2478404">
                <a:moveTo>
                  <a:pt x="4141216" y="2439797"/>
                </a:moveTo>
                <a:lnTo>
                  <a:pt x="4116197" y="2427401"/>
                </a:lnTo>
                <a:lnTo>
                  <a:pt x="4064889" y="2401951"/>
                </a:lnTo>
                <a:lnTo>
                  <a:pt x="4064965" y="2427401"/>
                </a:lnTo>
                <a:lnTo>
                  <a:pt x="4065016" y="2440559"/>
                </a:lnTo>
                <a:lnTo>
                  <a:pt x="4065054" y="2452801"/>
                </a:lnTo>
                <a:lnTo>
                  <a:pt x="4065143" y="2478151"/>
                </a:lnTo>
                <a:lnTo>
                  <a:pt x="4115435" y="2452801"/>
                </a:lnTo>
                <a:lnTo>
                  <a:pt x="4141216" y="2439797"/>
                </a:lnTo>
                <a:close/>
              </a:path>
              <a:path w="6172834" h="2478404">
                <a:moveTo>
                  <a:pt x="4141216" y="37973"/>
                </a:moveTo>
                <a:lnTo>
                  <a:pt x="4116032" y="25425"/>
                </a:lnTo>
                <a:lnTo>
                  <a:pt x="4065016" y="0"/>
                </a:lnTo>
                <a:lnTo>
                  <a:pt x="4065054" y="25425"/>
                </a:lnTo>
                <a:lnTo>
                  <a:pt x="3238500" y="26924"/>
                </a:lnTo>
                <a:lnTo>
                  <a:pt x="3238500" y="52324"/>
                </a:lnTo>
                <a:lnTo>
                  <a:pt x="4065092" y="50825"/>
                </a:lnTo>
                <a:lnTo>
                  <a:pt x="4065143" y="76200"/>
                </a:lnTo>
                <a:lnTo>
                  <a:pt x="4115638" y="50825"/>
                </a:lnTo>
                <a:lnTo>
                  <a:pt x="4141216" y="37973"/>
                </a:lnTo>
                <a:close/>
              </a:path>
              <a:path w="6172834" h="2478404">
                <a:moveTo>
                  <a:pt x="4141597" y="417449"/>
                </a:moveTo>
                <a:lnTo>
                  <a:pt x="4116197" y="404749"/>
                </a:lnTo>
                <a:lnTo>
                  <a:pt x="4065397" y="379349"/>
                </a:lnTo>
                <a:lnTo>
                  <a:pt x="4065397" y="404749"/>
                </a:lnTo>
                <a:lnTo>
                  <a:pt x="2168652" y="404749"/>
                </a:lnTo>
                <a:lnTo>
                  <a:pt x="2168652" y="430149"/>
                </a:lnTo>
                <a:lnTo>
                  <a:pt x="4065397" y="430149"/>
                </a:lnTo>
                <a:lnTo>
                  <a:pt x="4065397" y="455549"/>
                </a:lnTo>
                <a:lnTo>
                  <a:pt x="4116197" y="430149"/>
                </a:lnTo>
                <a:lnTo>
                  <a:pt x="4141597" y="417449"/>
                </a:lnTo>
                <a:close/>
              </a:path>
              <a:path w="6172834" h="2478404">
                <a:moveTo>
                  <a:pt x="4141978" y="1120013"/>
                </a:moveTo>
                <a:lnTo>
                  <a:pt x="4116578" y="1107313"/>
                </a:lnTo>
                <a:lnTo>
                  <a:pt x="4065778" y="1081913"/>
                </a:lnTo>
                <a:lnTo>
                  <a:pt x="4065778" y="1107313"/>
                </a:lnTo>
                <a:lnTo>
                  <a:pt x="0" y="1107313"/>
                </a:lnTo>
                <a:lnTo>
                  <a:pt x="0" y="1132713"/>
                </a:lnTo>
                <a:lnTo>
                  <a:pt x="4065778" y="1132713"/>
                </a:lnTo>
                <a:lnTo>
                  <a:pt x="4065778" y="1158113"/>
                </a:lnTo>
                <a:lnTo>
                  <a:pt x="4116578" y="1132713"/>
                </a:lnTo>
                <a:lnTo>
                  <a:pt x="4141978" y="1120013"/>
                </a:lnTo>
                <a:close/>
              </a:path>
              <a:path w="6172834" h="2478404">
                <a:moveTo>
                  <a:pt x="4141978" y="767969"/>
                </a:moveTo>
                <a:lnTo>
                  <a:pt x="4116578" y="755269"/>
                </a:lnTo>
                <a:lnTo>
                  <a:pt x="4065778" y="729869"/>
                </a:lnTo>
                <a:lnTo>
                  <a:pt x="4065778" y="755269"/>
                </a:lnTo>
                <a:lnTo>
                  <a:pt x="562356" y="755269"/>
                </a:lnTo>
                <a:lnTo>
                  <a:pt x="562356" y="780669"/>
                </a:lnTo>
                <a:lnTo>
                  <a:pt x="4065778" y="780669"/>
                </a:lnTo>
                <a:lnTo>
                  <a:pt x="4065778" y="806069"/>
                </a:lnTo>
                <a:lnTo>
                  <a:pt x="4116578" y="780669"/>
                </a:lnTo>
                <a:lnTo>
                  <a:pt x="4141978" y="767969"/>
                </a:lnTo>
                <a:close/>
              </a:path>
              <a:path w="6172834" h="2478404">
                <a:moveTo>
                  <a:pt x="4142359" y="1786001"/>
                </a:moveTo>
                <a:lnTo>
                  <a:pt x="4116971" y="1773313"/>
                </a:lnTo>
                <a:lnTo>
                  <a:pt x="4066159" y="1747901"/>
                </a:lnTo>
                <a:lnTo>
                  <a:pt x="4066159" y="1773313"/>
                </a:lnTo>
                <a:lnTo>
                  <a:pt x="71628" y="1775968"/>
                </a:lnTo>
                <a:lnTo>
                  <a:pt x="71628" y="1801368"/>
                </a:lnTo>
                <a:lnTo>
                  <a:pt x="4066159" y="1798713"/>
                </a:lnTo>
                <a:lnTo>
                  <a:pt x="4066159" y="1824101"/>
                </a:lnTo>
                <a:lnTo>
                  <a:pt x="4116933" y="1798713"/>
                </a:lnTo>
                <a:lnTo>
                  <a:pt x="4142359" y="1786001"/>
                </a:lnTo>
                <a:close/>
              </a:path>
              <a:path w="6172834" h="2478404">
                <a:moveTo>
                  <a:pt x="6172835" y="1158240"/>
                </a:moveTo>
                <a:lnTo>
                  <a:pt x="6147092" y="1145159"/>
                </a:lnTo>
                <a:lnTo>
                  <a:pt x="6096889" y="1119632"/>
                </a:lnTo>
                <a:lnTo>
                  <a:pt x="6096711" y="1145082"/>
                </a:lnTo>
                <a:lnTo>
                  <a:pt x="5684647" y="1142365"/>
                </a:lnTo>
                <a:lnTo>
                  <a:pt x="5684482" y="1158240"/>
                </a:lnTo>
                <a:lnTo>
                  <a:pt x="5684393" y="1167765"/>
                </a:lnTo>
                <a:lnTo>
                  <a:pt x="6096546" y="1170482"/>
                </a:lnTo>
                <a:lnTo>
                  <a:pt x="6109195" y="1170559"/>
                </a:lnTo>
                <a:lnTo>
                  <a:pt x="6096546" y="1170559"/>
                </a:lnTo>
                <a:lnTo>
                  <a:pt x="6096381" y="1195832"/>
                </a:lnTo>
                <a:lnTo>
                  <a:pt x="6147778" y="1170559"/>
                </a:lnTo>
                <a:lnTo>
                  <a:pt x="6172835" y="1158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056621" y="2244344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R[3:0]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97266" y="118998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950" spc="-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17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5965" y="1106423"/>
            <a:ext cx="5758815" cy="231140"/>
          </a:xfrm>
          <a:custGeom>
            <a:avLst/>
            <a:gdLst/>
            <a:ahLst/>
            <a:cxnLst/>
            <a:rect l="l" t="t" r="r" b="b"/>
            <a:pathLst>
              <a:path w="5758815" h="231140">
                <a:moveTo>
                  <a:pt x="5758192" y="192913"/>
                </a:moveTo>
                <a:lnTo>
                  <a:pt x="5732792" y="180213"/>
                </a:lnTo>
                <a:lnTo>
                  <a:pt x="5681992" y="154813"/>
                </a:lnTo>
                <a:lnTo>
                  <a:pt x="5681954" y="177038"/>
                </a:lnTo>
                <a:lnTo>
                  <a:pt x="5681942" y="180213"/>
                </a:lnTo>
                <a:lnTo>
                  <a:pt x="294157" y="177038"/>
                </a:lnTo>
                <a:lnTo>
                  <a:pt x="294119" y="202438"/>
                </a:lnTo>
                <a:lnTo>
                  <a:pt x="5681904" y="205613"/>
                </a:lnTo>
                <a:lnTo>
                  <a:pt x="5681865" y="231013"/>
                </a:lnTo>
                <a:lnTo>
                  <a:pt x="5732742" y="205613"/>
                </a:lnTo>
                <a:lnTo>
                  <a:pt x="5758192" y="192913"/>
                </a:lnTo>
                <a:close/>
              </a:path>
              <a:path w="5758815" h="231140">
                <a:moveTo>
                  <a:pt x="5758446" y="38227"/>
                </a:moveTo>
                <a:lnTo>
                  <a:pt x="5732869" y="25400"/>
                </a:lnTo>
                <a:lnTo>
                  <a:pt x="5682246" y="0"/>
                </a:lnTo>
                <a:lnTo>
                  <a:pt x="5682196" y="25400"/>
                </a:lnTo>
                <a:lnTo>
                  <a:pt x="25" y="20066"/>
                </a:lnTo>
                <a:lnTo>
                  <a:pt x="0" y="45466"/>
                </a:lnTo>
                <a:lnTo>
                  <a:pt x="5682158" y="50800"/>
                </a:lnTo>
                <a:lnTo>
                  <a:pt x="5682119" y="76200"/>
                </a:lnTo>
                <a:lnTo>
                  <a:pt x="5733173" y="50800"/>
                </a:lnTo>
                <a:lnTo>
                  <a:pt x="5758446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43650" y="1073658"/>
            <a:ext cx="791210" cy="3352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5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85965" y="1509775"/>
            <a:ext cx="4697730" cy="219710"/>
          </a:xfrm>
          <a:custGeom>
            <a:avLst/>
            <a:gdLst/>
            <a:ahLst/>
            <a:cxnLst/>
            <a:rect l="l" t="t" r="r" b="b"/>
            <a:pathLst>
              <a:path w="4697730" h="219710">
                <a:moveTo>
                  <a:pt x="4697234" y="181102"/>
                </a:moveTo>
                <a:lnTo>
                  <a:pt x="4671834" y="168402"/>
                </a:lnTo>
                <a:lnTo>
                  <a:pt x="4621034" y="143002"/>
                </a:lnTo>
                <a:lnTo>
                  <a:pt x="4621034" y="168402"/>
                </a:lnTo>
                <a:lnTo>
                  <a:pt x="294144" y="168402"/>
                </a:lnTo>
                <a:lnTo>
                  <a:pt x="294144" y="193802"/>
                </a:lnTo>
                <a:lnTo>
                  <a:pt x="4621034" y="193802"/>
                </a:lnTo>
                <a:lnTo>
                  <a:pt x="4621034" y="219202"/>
                </a:lnTo>
                <a:lnTo>
                  <a:pt x="4671834" y="193802"/>
                </a:lnTo>
                <a:lnTo>
                  <a:pt x="4697234" y="181102"/>
                </a:lnTo>
                <a:close/>
              </a:path>
              <a:path w="4697730" h="219710">
                <a:moveTo>
                  <a:pt x="4697488" y="38100"/>
                </a:moveTo>
                <a:lnTo>
                  <a:pt x="4672088" y="25400"/>
                </a:lnTo>
                <a:lnTo>
                  <a:pt x="4621288" y="0"/>
                </a:lnTo>
                <a:lnTo>
                  <a:pt x="4621288" y="25400"/>
                </a:lnTo>
                <a:lnTo>
                  <a:pt x="25" y="22098"/>
                </a:lnTo>
                <a:lnTo>
                  <a:pt x="0" y="47498"/>
                </a:lnTo>
                <a:lnTo>
                  <a:pt x="4621288" y="50800"/>
                </a:lnTo>
                <a:lnTo>
                  <a:pt x="4621288" y="76200"/>
                </a:lnTo>
                <a:lnTo>
                  <a:pt x="4672088" y="50800"/>
                </a:lnTo>
                <a:lnTo>
                  <a:pt x="469748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282946" y="1483613"/>
            <a:ext cx="782320" cy="3067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280"/>
              </a:spcBef>
            </a:pP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5914" y="1834514"/>
            <a:ext cx="3027680" cy="233045"/>
          </a:xfrm>
          <a:custGeom>
            <a:avLst/>
            <a:gdLst/>
            <a:ahLst/>
            <a:cxnLst/>
            <a:rect l="l" t="t" r="r" b="b"/>
            <a:pathLst>
              <a:path w="3027679" h="233044">
                <a:moveTo>
                  <a:pt x="3019742" y="194691"/>
                </a:moveTo>
                <a:lnTo>
                  <a:pt x="2994533" y="182143"/>
                </a:lnTo>
                <a:lnTo>
                  <a:pt x="2943542" y="156718"/>
                </a:lnTo>
                <a:lnTo>
                  <a:pt x="2943580" y="182143"/>
                </a:lnTo>
                <a:lnTo>
                  <a:pt x="301802" y="184912"/>
                </a:lnTo>
                <a:lnTo>
                  <a:pt x="301828" y="210312"/>
                </a:lnTo>
                <a:lnTo>
                  <a:pt x="2943618" y="207543"/>
                </a:lnTo>
                <a:lnTo>
                  <a:pt x="2943669" y="232918"/>
                </a:lnTo>
                <a:lnTo>
                  <a:pt x="2994177" y="207543"/>
                </a:lnTo>
                <a:lnTo>
                  <a:pt x="3019742" y="194691"/>
                </a:lnTo>
                <a:close/>
              </a:path>
              <a:path w="3027679" h="233044">
                <a:moveTo>
                  <a:pt x="3027489" y="37719"/>
                </a:moveTo>
                <a:lnTo>
                  <a:pt x="3002419" y="25336"/>
                </a:lnTo>
                <a:lnTo>
                  <a:pt x="2951162" y="0"/>
                </a:lnTo>
                <a:lnTo>
                  <a:pt x="2951276" y="25336"/>
                </a:lnTo>
                <a:lnTo>
                  <a:pt x="0" y="39878"/>
                </a:lnTo>
                <a:lnTo>
                  <a:pt x="50" y="50736"/>
                </a:lnTo>
                <a:lnTo>
                  <a:pt x="127" y="65278"/>
                </a:lnTo>
                <a:lnTo>
                  <a:pt x="2951403" y="50736"/>
                </a:lnTo>
                <a:lnTo>
                  <a:pt x="2951340" y="37719"/>
                </a:lnTo>
                <a:lnTo>
                  <a:pt x="2951353" y="39878"/>
                </a:lnTo>
                <a:lnTo>
                  <a:pt x="2951403" y="50736"/>
                </a:lnTo>
                <a:lnTo>
                  <a:pt x="2951480" y="65278"/>
                </a:lnTo>
                <a:lnTo>
                  <a:pt x="2951543" y="76200"/>
                </a:lnTo>
                <a:lnTo>
                  <a:pt x="3001797" y="50736"/>
                </a:lnTo>
                <a:lnTo>
                  <a:pt x="3027489" y="37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612641" y="1808226"/>
            <a:ext cx="845819" cy="2971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75"/>
              </a:spcBef>
            </a:pPr>
            <a:r>
              <a:rPr sz="1400" b="1" spc="-25" dirty="0"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5977" y="2860801"/>
            <a:ext cx="3434079" cy="420370"/>
            <a:chOff x="585977" y="2860801"/>
            <a:chExt cx="3434079" cy="420370"/>
          </a:xfrm>
        </p:grpSpPr>
        <p:sp>
          <p:nvSpPr>
            <p:cNvPr id="41" name="object 41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1072896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1072896" y="394715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0" y="394715"/>
                  </a:moveTo>
                  <a:lnTo>
                    <a:pt x="1072896" y="394715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5978" y="2919221"/>
              <a:ext cx="2355215" cy="216535"/>
            </a:xfrm>
            <a:custGeom>
              <a:avLst/>
              <a:gdLst/>
              <a:ahLst/>
              <a:cxnLst/>
              <a:rect l="l" t="t" r="r" b="b"/>
              <a:pathLst>
                <a:path w="2355215" h="216535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5215" h="216535">
                  <a:moveTo>
                    <a:pt x="2355088" y="178308"/>
                  </a:moveTo>
                  <a:lnTo>
                    <a:pt x="2329688" y="165608"/>
                  </a:lnTo>
                  <a:lnTo>
                    <a:pt x="2278888" y="140208"/>
                  </a:lnTo>
                  <a:lnTo>
                    <a:pt x="2278888" y="165608"/>
                  </a:lnTo>
                  <a:lnTo>
                    <a:pt x="294132" y="165608"/>
                  </a:lnTo>
                  <a:lnTo>
                    <a:pt x="294132" y="191008"/>
                  </a:lnTo>
                  <a:lnTo>
                    <a:pt x="2278888" y="191008"/>
                  </a:lnTo>
                  <a:lnTo>
                    <a:pt x="2278888" y="216408"/>
                  </a:lnTo>
                  <a:lnTo>
                    <a:pt x="2329688" y="191008"/>
                  </a:lnTo>
                  <a:lnTo>
                    <a:pt x="2355088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82163" y="2947543"/>
            <a:ext cx="722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85939" y="2221483"/>
            <a:ext cx="2430145" cy="1035050"/>
          </a:xfrm>
          <a:custGeom>
            <a:avLst/>
            <a:gdLst/>
            <a:ahLst/>
            <a:cxnLst/>
            <a:rect l="l" t="t" r="r" b="b"/>
            <a:pathLst>
              <a:path w="2430145" h="1035050">
                <a:moveTo>
                  <a:pt x="2354745" y="996442"/>
                </a:moveTo>
                <a:lnTo>
                  <a:pt x="2329345" y="983742"/>
                </a:lnTo>
                <a:lnTo>
                  <a:pt x="2278545" y="958342"/>
                </a:lnTo>
                <a:lnTo>
                  <a:pt x="2278545" y="983742"/>
                </a:lnTo>
                <a:lnTo>
                  <a:pt x="1876082" y="983742"/>
                </a:lnTo>
                <a:lnTo>
                  <a:pt x="1876082" y="1009142"/>
                </a:lnTo>
                <a:lnTo>
                  <a:pt x="2278545" y="1009142"/>
                </a:lnTo>
                <a:lnTo>
                  <a:pt x="2278545" y="1034542"/>
                </a:lnTo>
                <a:lnTo>
                  <a:pt x="2329345" y="1009142"/>
                </a:lnTo>
                <a:lnTo>
                  <a:pt x="2354745" y="996442"/>
                </a:lnTo>
                <a:close/>
              </a:path>
              <a:path w="2430145" h="1035050">
                <a:moveTo>
                  <a:pt x="2413546" y="37846"/>
                </a:moveTo>
                <a:lnTo>
                  <a:pt x="2388260" y="25311"/>
                </a:lnTo>
                <a:lnTo>
                  <a:pt x="2337219" y="0"/>
                </a:lnTo>
                <a:lnTo>
                  <a:pt x="2337295" y="25311"/>
                </a:lnTo>
                <a:lnTo>
                  <a:pt x="0" y="32258"/>
                </a:lnTo>
                <a:lnTo>
                  <a:pt x="76" y="57658"/>
                </a:lnTo>
                <a:lnTo>
                  <a:pt x="2337384" y="50711"/>
                </a:lnTo>
                <a:lnTo>
                  <a:pt x="2337473" y="76200"/>
                </a:lnTo>
                <a:lnTo>
                  <a:pt x="2388019" y="50711"/>
                </a:lnTo>
                <a:lnTo>
                  <a:pt x="2413546" y="37846"/>
                </a:lnTo>
                <a:close/>
              </a:path>
              <a:path w="2430145" h="1035050">
                <a:moveTo>
                  <a:pt x="2429929" y="200914"/>
                </a:moveTo>
                <a:lnTo>
                  <a:pt x="2404732" y="188366"/>
                </a:lnTo>
                <a:lnTo>
                  <a:pt x="2353729" y="162941"/>
                </a:lnTo>
                <a:lnTo>
                  <a:pt x="2353767" y="188366"/>
                </a:lnTo>
                <a:lnTo>
                  <a:pt x="291096" y="191897"/>
                </a:lnTo>
                <a:lnTo>
                  <a:pt x="291147" y="217297"/>
                </a:lnTo>
                <a:lnTo>
                  <a:pt x="2353805" y="213766"/>
                </a:lnTo>
                <a:lnTo>
                  <a:pt x="2353856" y="239141"/>
                </a:lnTo>
                <a:lnTo>
                  <a:pt x="2404351" y="213766"/>
                </a:lnTo>
                <a:lnTo>
                  <a:pt x="2429929" y="20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998470" y="2180082"/>
            <a:ext cx="897890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585"/>
              </a:lnSpc>
            </a:pPr>
            <a:r>
              <a:rPr sz="1400" b="1" dirty="0">
                <a:latin typeface="Calibri"/>
                <a:cs typeface="Calibri"/>
              </a:rPr>
              <a:t>LEFT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29209">
              <a:lnSpc>
                <a:spcPts val="705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85978" y="3512057"/>
            <a:ext cx="2340610" cy="273050"/>
          </a:xfrm>
          <a:custGeom>
            <a:avLst/>
            <a:gdLst/>
            <a:ahLst/>
            <a:cxnLst/>
            <a:rect l="l" t="t" r="r" b="b"/>
            <a:pathLst>
              <a:path w="2340610" h="273050">
                <a:moveTo>
                  <a:pt x="2340229" y="234696"/>
                </a:moveTo>
                <a:lnTo>
                  <a:pt x="2314829" y="221996"/>
                </a:lnTo>
                <a:lnTo>
                  <a:pt x="2264029" y="196596"/>
                </a:lnTo>
                <a:lnTo>
                  <a:pt x="2264029" y="221996"/>
                </a:lnTo>
                <a:lnTo>
                  <a:pt x="294132" y="221996"/>
                </a:lnTo>
                <a:lnTo>
                  <a:pt x="294132" y="247396"/>
                </a:lnTo>
                <a:lnTo>
                  <a:pt x="2264029" y="247396"/>
                </a:lnTo>
                <a:lnTo>
                  <a:pt x="2264029" y="272796"/>
                </a:lnTo>
                <a:lnTo>
                  <a:pt x="2314829" y="247396"/>
                </a:lnTo>
                <a:lnTo>
                  <a:pt x="2340229" y="234696"/>
                </a:lnTo>
                <a:close/>
              </a:path>
              <a:path w="2340610" h="273050">
                <a:moveTo>
                  <a:pt x="2340483" y="38112"/>
                </a:moveTo>
                <a:lnTo>
                  <a:pt x="2315083" y="25412"/>
                </a:lnTo>
                <a:lnTo>
                  <a:pt x="2264283" y="0"/>
                </a:lnTo>
                <a:lnTo>
                  <a:pt x="2264283" y="25412"/>
                </a:lnTo>
                <a:lnTo>
                  <a:pt x="0" y="25412"/>
                </a:lnTo>
                <a:lnTo>
                  <a:pt x="0" y="50812"/>
                </a:lnTo>
                <a:lnTo>
                  <a:pt x="2264283" y="50812"/>
                </a:lnTo>
                <a:lnTo>
                  <a:pt x="2264283" y="76212"/>
                </a:lnTo>
                <a:lnTo>
                  <a:pt x="2315083" y="50812"/>
                </a:lnTo>
                <a:lnTo>
                  <a:pt x="2340483" y="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925317" y="3458717"/>
            <a:ext cx="977265" cy="4254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1400" b="1" spc="-25" dirty="0">
                <a:latin typeface="Calibri"/>
                <a:cs typeface="Calibri"/>
              </a:rPr>
              <a:t>MUL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2930" y="745998"/>
            <a:ext cx="8148955" cy="5608955"/>
          </a:xfrm>
          <a:custGeom>
            <a:avLst/>
            <a:gdLst/>
            <a:ahLst/>
            <a:cxnLst/>
            <a:rect l="l" t="t" r="r" b="b"/>
            <a:pathLst>
              <a:path w="8148955" h="5608955">
                <a:moveTo>
                  <a:pt x="4387596" y="2255519"/>
                </a:moveTo>
                <a:lnTo>
                  <a:pt x="4396105" y="2612643"/>
                </a:lnTo>
              </a:path>
              <a:path w="8148955" h="5608955">
                <a:moveTo>
                  <a:pt x="0" y="10667"/>
                </a:moveTo>
                <a:lnTo>
                  <a:pt x="0" y="5608929"/>
                </a:lnTo>
              </a:path>
              <a:path w="8148955" h="5608955">
                <a:moveTo>
                  <a:pt x="297192" y="0"/>
                </a:moveTo>
                <a:lnTo>
                  <a:pt x="265176" y="5598261"/>
                </a:lnTo>
              </a:path>
              <a:path w="8148955" h="5608955">
                <a:moveTo>
                  <a:pt x="8148955" y="204215"/>
                </a:moveTo>
                <a:lnTo>
                  <a:pt x="1868424" y="210185"/>
                </a:lnTo>
              </a:path>
              <a:path w="8148955" h="5608955">
                <a:moveTo>
                  <a:pt x="1879092" y="204215"/>
                </a:moveTo>
                <a:lnTo>
                  <a:pt x="1879092" y="247243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16839" y="470661"/>
            <a:ext cx="126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A[3:0]</a:t>
            </a:r>
            <a:r>
              <a:rPr sz="1800" b="1" spc="2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baseline="1543" dirty="0">
                <a:solidFill>
                  <a:srgbClr val="FF0000"/>
                </a:solidFill>
                <a:latin typeface="Calibri"/>
                <a:cs typeface="Calibri"/>
              </a:rPr>
              <a:t>B[3:0]</a:t>
            </a:r>
            <a:endParaRPr sz="2700" baseline="1543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27050" y="918717"/>
            <a:ext cx="8253095" cy="2852420"/>
            <a:chOff x="527050" y="918717"/>
            <a:chExt cx="8253095" cy="2852420"/>
          </a:xfrm>
        </p:grpSpPr>
        <p:sp>
          <p:nvSpPr>
            <p:cNvPr id="52" name="object 52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59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71" y="1851"/>
                  </a:lnTo>
                  <a:lnTo>
                    <a:pt x="14525" y="6905"/>
                  </a:lnTo>
                  <a:lnTo>
                    <a:pt x="3899" y="14412"/>
                  </a:lnTo>
                  <a:lnTo>
                    <a:pt x="0" y="23622"/>
                  </a:lnTo>
                  <a:lnTo>
                    <a:pt x="3899" y="32831"/>
                  </a:lnTo>
                  <a:lnTo>
                    <a:pt x="14525" y="40338"/>
                  </a:lnTo>
                  <a:lnTo>
                    <a:pt x="30271" y="45392"/>
                  </a:lnTo>
                  <a:lnTo>
                    <a:pt x="49530" y="47244"/>
                  </a:lnTo>
                  <a:lnTo>
                    <a:pt x="68788" y="45392"/>
                  </a:lnTo>
                  <a:lnTo>
                    <a:pt x="84534" y="40338"/>
                  </a:lnTo>
                  <a:lnTo>
                    <a:pt x="95160" y="32831"/>
                  </a:lnTo>
                  <a:lnTo>
                    <a:pt x="99060" y="23622"/>
                  </a:lnTo>
                  <a:lnTo>
                    <a:pt x="95160" y="14412"/>
                  </a:lnTo>
                  <a:lnTo>
                    <a:pt x="84534" y="6905"/>
                  </a:lnTo>
                  <a:lnTo>
                    <a:pt x="68788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9" y="14412"/>
                  </a:lnTo>
                  <a:lnTo>
                    <a:pt x="14525" y="6905"/>
                  </a:lnTo>
                  <a:lnTo>
                    <a:pt x="30271" y="1851"/>
                  </a:lnTo>
                  <a:lnTo>
                    <a:pt x="49530" y="0"/>
                  </a:lnTo>
                  <a:lnTo>
                    <a:pt x="68788" y="1851"/>
                  </a:lnTo>
                  <a:lnTo>
                    <a:pt x="84534" y="6905"/>
                  </a:lnTo>
                  <a:lnTo>
                    <a:pt x="95160" y="14412"/>
                  </a:lnTo>
                  <a:lnTo>
                    <a:pt x="99060" y="23622"/>
                  </a:lnTo>
                  <a:lnTo>
                    <a:pt x="95160" y="32831"/>
                  </a:lnTo>
                  <a:lnTo>
                    <a:pt x="84534" y="40338"/>
                  </a:lnTo>
                  <a:lnTo>
                    <a:pt x="68788" y="45392"/>
                  </a:lnTo>
                  <a:lnTo>
                    <a:pt x="49530" y="47244"/>
                  </a:lnTo>
                  <a:lnTo>
                    <a:pt x="30271" y="45392"/>
                  </a:lnTo>
                  <a:lnTo>
                    <a:pt x="14525" y="40338"/>
                  </a:lnTo>
                  <a:lnTo>
                    <a:pt x="3899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58633" y="1207769"/>
              <a:ext cx="286385" cy="2501265"/>
            </a:xfrm>
            <a:custGeom>
              <a:avLst/>
              <a:gdLst/>
              <a:ahLst/>
              <a:cxnLst/>
              <a:rect l="l" t="t" r="r" b="b"/>
              <a:pathLst>
                <a:path w="286384" h="2501265">
                  <a:moveTo>
                    <a:pt x="286131" y="0"/>
                  </a:moveTo>
                  <a:lnTo>
                    <a:pt x="117348" y="111632"/>
                  </a:lnTo>
                </a:path>
                <a:path w="286384" h="2501265">
                  <a:moveTo>
                    <a:pt x="286131" y="379475"/>
                  </a:moveTo>
                  <a:lnTo>
                    <a:pt x="117348" y="491108"/>
                  </a:lnTo>
                </a:path>
                <a:path w="286384" h="2501265">
                  <a:moveTo>
                    <a:pt x="232791" y="733043"/>
                  </a:moveTo>
                  <a:lnTo>
                    <a:pt x="64008" y="844676"/>
                  </a:lnTo>
                </a:path>
                <a:path w="286384" h="2501265">
                  <a:moveTo>
                    <a:pt x="209931" y="1088135"/>
                  </a:moveTo>
                  <a:lnTo>
                    <a:pt x="41148" y="1199768"/>
                  </a:lnTo>
                </a:path>
                <a:path w="286384" h="2501265">
                  <a:moveTo>
                    <a:pt x="240411" y="1386839"/>
                  </a:moveTo>
                  <a:lnTo>
                    <a:pt x="71627" y="1498472"/>
                  </a:lnTo>
                </a:path>
                <a:path w="286384" h="2501265">
                  <a:moveTo>
                    <a:pt x="182499" y="1743455"/>
                  </a:moveTo>
                  <a:lnTo>
                    <a:pt x="13716" y="1855089"/>
                  </a:lnTo>
                </a:path>
                <a:path w="286384" h="2501265">
                  <a:moveTo>
                    <a:pt x="168783" y="2084831"/>
                  </a:moveTo>
                  <a:lnTo>
                    <a:pt x="0" y="2196465"/>
                  </a:lnTo>
                </a:path>
                <a:path w="286384" h="2501265">
                  <a:moveTo>
                    <a:pt x="168783" y="2389631"/>
                  </a:moveTo>
                  <a:lnTo>
                    <a:pt x="0" y="2501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962020" y="3112770"/>
            <a:ext cx="1651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Cambria Math"/>
                <a:cs typeface="Cambria Math"/>
              </a:rPr>
              <a:t>𝑺𝒆𝒍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422260" y="1101202"/>
            <a:ext cx="269240" cy="28232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  <a:spcBef>
                <a:spcPts val="9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  <a:spcBef>
                <a:spcPts val="63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6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9672066" y="23111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9708006" y="23150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74970" y="108737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460238" y="932814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865370" y="12473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4907026" y="1240916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379214" y="1482089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418457" y="1495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702302" y="161163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733671" y="164109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219450" y="18158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254121" y="1817877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024377" y="197281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3074670" y="198831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186433" y="221665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1196746" y="206629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535430" y="290550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580769" y="291465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172717" y="30380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193088" y="30572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660398" y="3498341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1673479" y="336054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294638" y="369036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349755" y="371868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92251" y="3344926"/>
            <a:ext cx="315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A[1:0]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05967" y="355955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39267" y="464058"/>
            <a:ext cx="7625080" cy="2422525"/>
            <a:chOff x="639267" y="464058"/>
            <a:chExt cx="7625080" cy="2422525"/>
          </a:xfrm>
        </p:grpSpPr>
        <p:sp>
          <p:nvSpPr>
            <p:cNvPr id="106" name="object 106"/>
            <p:cNvSpPr/>
            <p:nvPr/>
          </p:nvSpPr>
          <p:spPr>
            <a:xfrm>
              <a:off x="821436" y="464057"/>
              <a:ext cx="7442834" cy="1982470"/>
            </a:xfrm>
            <a:custGeom>
              <a:avLst/>
              <a:gdLst/>
              <a:ahLst/>
              <a:cxnLst/>
              <a:rect l="l" t="t" r="r" b="b"/>
              <a:pathLst>
                <a:path w="7442834" h="1982470">
                  <a:moveTo>
                    <a:pt x="99060" y="1958340"/>
                  </a:moveTo>
                  <a:lnTo>
                    <a:pt x="95161" y="1949132"/>
                  </a:lnTo>
                  <a:lnTo>
                    <a:pt x="84543" y="1941626"/>
                  </a:lnTo>
                  <a:lnTo>
                    <a:pt x="68808" y="1936572"/>
                  </a:lnTo>
                  <a:lnTo>
                    <a:pt x="49530" y="1934718"/>
                  </a:lnTo>
                  <a:lnTo>
                    <a:pt x="30238" y="1936572"/>
                  </a:lnTo>
                  <a:lnTo>
                    <a:pt x="14503" y="1941626"/>
                  </a:lnTo>
                  <a:lnTo>
                    <a:pt x="3886" y="1949132"/>
                  </a:lnTo>
                  <a:lnTo>
                    <a:pt x="0" y="1958340"/>
                  </a:lnTo>
                  <a:lnTo>
                    <a:pt x="3886" y="1967560"/>
                  </a:lnTo>
                  <a:lnTo>
                    <a:pt x="14503" y="1975065"/>
                  </a:lnTo>
                  <a:lnTo>
                    <a:pt x="30238" y="1980120"/>
                  </a:lnTo>
                  <a:lnTo>
                    <a:pt x="49530" y="1981962"/>
                  </a:lnTo>
                  <a:lnTo>
                    <a:pt x="68808" y="1980120"/>
                  </a:lnTo>
                  <a:lnTo>
                    <a:pt x="84543" y="1975065"/>
                  </a:lnTo>
                  <a:lnTo>
                    <a:pt x="95161" y="1967560"/>
                  </a:lnTo>
                  <a:lnTo>
                    <a:pt x="99060" y="1958340"/>
                  </a:lnTo>
                  <a:close/>
                </a:path>
                <a:path w="7442834" h="1982470">
                  <a:moveTo>
                    <a:pt x="7442454" y="541655"/>
                  </a:moveTo>
                  <a:lnTo>
                    <a:pt x="7417054" y="541655"/>
                  </a:lnTo>
                  <a:lnTo>
                    <a:pt x="7417054" y="0"/>
                  </a:lnTo>
                  <a:lnTo>
                    <a:pt x="7391654" y="0"/>
                  </a:lnTo>
                  <a:lnTo>
                    <a:pt x="7391654" y="541655"/>
                  </a:lnTo>
                  <a:lnTo>
                    <a:pt x="7366254" y="541655"/>
                  </a:lnTo>
                  <a:lnTo>
                    <a:pt x="7404354" y="617855"/>
                  </a:lnTo>
                  <a:lnTo>
                    <a:pt x="7436104" y="554355"/>
                  </a:lnTo>
                  <a:lnTo>
                    <a:pt x="7442454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1435" y="23987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986027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986027" y="321563"/>
                  </a:lnTo>
                  <a:lnTo>
                    <a:pt x="9860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0" y="321563"/>
                  </a:moveTo>
                  <a:lnTo>
                    <a:pt x="986027" y="321563"/>
                  </a:lnTo>
                  <a:lnTo>
                    <a:pt x="986027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39267" y="2620517"/>
              <a:ext cx="3422650" cy="197485"/>
            </a:xfrm>
            <a:custGeom>
              <a:avLst/>
              <a:gdLst/>
              <a:ahLst/>
              <a:cxnLst/>
              <a:rect l="l" t="t" r="r" b="b"/>
              <a:pathLst>
                <a:path w="3422650" h="197485">
                  <a:moveTo>
                    <a:pt x="3421684" y="38354"/>
                  </a:moveTo>
                  <a:lnTo>
                    <a:pt x="3395980" y="25400"/>
                  </a:lnTo>
                  <a:lnTo>
                    <a:pt x="3345611" y="0"/>
                  </a:lnTo>
                  <a:lnTo>
                    <a:pt x="3345561" y="11684"/>
                  </a:lnTo>
                  <a:lnTo>
                    <a:pt x="3345510" y="25349"/>
                  </a:lnTo>
                  <a:lnTo>
                    <a:pt x="101" y="11684"/>
                  </a:lnTo>
                  <a:lnTo>
                    <a:pt x="0" y="37084"/>
                  </a:lnTo>
                  <a:lnTo>
                    <a:pt x="3345434" y="50749"/>
                  </a:lnTo>
                  <a:lnTo>
                    <a:pt x="3358172" y="50800"/>
                  </a:lnTo>
                  <a:lnTo>
                    <a:pt x="3345434" y="50800"/>
                  </a:lnTo>
                  <a:lnTo>
                    <a:pt x="3345357" y="76200"/>
                  </a:lnTo>
                  <a:lnTo>
                    <a:pt x="3396577" y="50800"/>
                  </a:lnTo>
                  <a:lnTo>
                    <a:pt x="3421684" y="38354"/>
                  </a:lnTo>
                  <a:close/>
                </a:path>
                <a:path w="3422650" h="197485">
                  <a:moveTo>
                    <a:pt x="3422319" y="159004"/>
                  </a:moveTo>
                  <a:lnTo>
                    <a:pt x="3396742" y="146177"/>
                  </a:lnTo>
                  <a:lnTo>
                    <a:pt x="3346119" y="120777"/>
                  </a:lnTo>
                  <a:lnTo>
                    <a:pt x="3346119" y="146164"/>
                  </a:lnTo>
                  <a:lnTo>
                    <a:pt x="288099" y="142748"/>
                  </a:lnTo>
                  <a:lnTo>
                    <a:pt x="288074" y="168148"/>
                  </a:lnTo>
                  <a:lnTo>
                    <a:pt x="3346119" y="171564"/>
                  </a:lnTo>
                  <a:lnTo>
                    <a:pt x="3346119" y="196977"/>
                  </a:lnTo>
                  <a:lnTo>
                    <a:pt x="3397085" y="171577"/>
                  </a:lnTo>
                  <a:lnTo>
                    <a:pt x="3422319" y="159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4040632" y="2532329"/>
            <a:ext cx="981710" cy="323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>
              <a:lnSpc>
                <a:spcPts val="165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RIGHT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36830">
              <a:lnSpc>
                <a:spcPts val="690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533145" y="2613405"/>
            <a:ext cx="400050" cy="1677035"/>
            <a:chOff x="533145" y="2613405"/>
            <a:chExt cx="400050" cy="1677035"/>
          </a:xfrm>
        </p:grpSpPr>
        <p:sp>
          <p:nvSpPr>
            <p:cNvPr id="113" name="object 113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8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8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4546853" y="4403597"/>
            <a:ext cx="1336675" cy="3949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67970">
              <a:lnSpc>
                <a:spcPts val="1395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RIGHT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40005">
              <a:lnSpc>
                <a:spcPts val="1215"/>
              </a:lnSpc>
            </a:pPr>
            <a:r>
              <a:rPr sz="1050" b="1" spc="-10" dirty="0">
                <a:latin typeface="Calibri"/>
                <a:cs typeface="Calibri"/>
              </a:rPr>
              <a:t>S[1:0]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874258" y="4419853"/>
            <a:ext cx="2177415" cy="137160"/>
            <a:chOff x="5874258" y="4419853"/>
            <a:chExt cx="2177415" cy="137160"/>
          </a:xfrm>
        </p:grpSpPr>
        <p:sp>
          <p:nvSpPr>
            <p:cNvPr id="121" name="object 121"/>
            <p:cNvSpPr/>
            <p:nvPr/>
          </p:nvSpPr>
          <p:spPr>
            <a:xfrm>
              <a:off x="5874258" y="4448936"/>
              <a:ext cx="2177415" cy="76200"/>
            </a:xfrm>
            <a:custGeom>
              <a:avLst/>
              <a:gdLst/>
              <a:ahLst/>
              <a:cxnLst/>
              <a:rect l="l" t="t" r="r" b="b"/>
              <a:pathLst>
                <a:path w="2177415" h="76200">
                  <a:moveTo>
                    <a:pt x="2100834" y="0"/>
                  </a:moveTo>
                  <a:lnTo>
                    <a:pt x="2100768" y="19685"/>
                  </a:lnTo>
                  <a:lnTo>
                    <a:pt x="2100706" y="38354"/>
                  </a:lnTo>
                  <a:lnTo>
                    <a:pt x="2100580" y="76200"/>
                  </a:lnTo>
                  <a:lnTo>
                    <a:pt x="2151806" y="50800"/>
                  </a:lnTo>
                  <a:lnTo>
                    <a:pt x="2113280" y="50800"/>
                  </a:lnTo>
                  <a:lnTo>
                    <a:pt x="2113407" y="25400"/>
                  </a:lnTo>
                  <a:lnTo>
                    <a:pt x="2151213" y="25400"/>
                  </a:lnTo>
                  <a:lnTo>
                    <a:pt x="2100834" y="0"/>
                  </a:lnTo>
                  <a:close/>
                </a:path>
                <a:path w="2177415" h="76200">
                  <a:moveTo>
                    <a:pt x="0" y="19685"/>
                  </a:moveTo>
                  <a:lnTo>
                    <a:pt x="0" y="45085"/>
                  </a:lnTo>
                  <a:lnTo>
                    <a:pt x="2113279" y="50800"/>
                  </a:lnTo>
                  <a:lnTo>
                    <a:pt x="2100664" y="50800"/>
                  </a:lnTo>
                  <a:lnTo>
                    <a:pt x="2100749" y="25400"/>
                  </a:lnTo>
                  <a:lnTo>
                    <a:pt x="2113407" y="25400"/>
                  </a:lnTo>
                  <a:lnTo>
                    <a:pt x="0" y="19685"/>
                  </a:lnTo>
                  <a:close/>
                </a:path>
                <a:path w="2177415" h="76200">
                  <a:moveTo>
                    <a:pt x="2151213" y="25400"/>
                  </a:moveTo>
                  <a:lnTo>
                    <a:pt x="2113407" y="25400"/>
                  </a:lnTo>
                  <a:lnTo>
                    <a:pt x="2113280" y="50800"/>
                  </a:lnTo>
                  <a:lnTo>
                    <a:pt x="2151806" y="50800"/>
                  </a:lnTo>
                  <a:lnTo>
                    <a:pt x="2176907" y="38354"/>
                  </a:lnTo>
                  <a:lnTo>
                    <a:pt x="215121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400038" y="4432553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435090" y="44325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37718" y="4458461"/>
            <a:ext cx="7495540" cy="1516380"/>
            <a:chOff x="537718" y="4458461"/>
            <a:chExt cx="7495540" cy="1516380"/>
          </a:xfrm>
        </p:grpSpPr>
        <p:sp>
          <p:nvSpPr>
            <p:cNvPr id="125" name="object 125"/>
            <p:cNvSpPr/>
            <p:nvPr/>
          </p:nvSpPr>
          <p:spPr>
            <a:xfrm>
              <a:off x="544068" y="4458461"/>
              <a:ext cx="4004310" cy="291465"/>
            </a:xfrm>
            <a:custGeom>
              <a:avLst/>
              <a:gdLst/>
              <a:ahLst/>
              <a:cxnLst/>
              <a:rect l="l" t="t" r="r" b="b"/>
              <a:pathLst>
                <a:path w="4004310" h="291464">
                  <a:moveTo>
                    <a:pt x="3990975" y="38100"/>
                  </a:moveTo>
                  <a:lnTo>
                    <a:pt x="3965575" y="25400"/>
                  </a:lnTo>
                  <a:lnTo>
                    <a:pt x="3914775" y="0"/>
                  </a:lnTo>
                  <a:lnTo>
                    <a:pt x="3914775" y="25400"/>
                  </a:lnTo>
                  <a:lnTo>
                    <a:pt x="86106" y="25400"/>
                  </a:lnTo>
                  <a:lnTo>
                    <a:pt x="86106" y="27063"/>
                  </a:lnTo>
                  <a:lnTo>
                    <a:pt x="84543" y="25958"/>
                  </a:lnTo>
                  <a:lnTo>
                    <a:pt x="68808" y="20904"/>
                  </a:lnTo>
                  <a:lnTo>
                    <a:pt x="49530" y="19050"/>
                  </a:lnTo>
                  <a:lnTo>
                    <a:pt x="30238" y="20904"/>
                  </a:lnTo>
                  <a:lnTo>
                    <a:pt x="14503" y="25958"/>
                  </a:lnTo>
                  <a:lnTo>
                    <a:pt x="3886" y="33464"/>
                  </a:lnTo>
                  <a:lnTo>
                    <a:pt x="0" y="42672"/>
                  </a:lnTo>
                  <a:lnTo>
                    <a:pt x="3886" y="51892"/>
                  </a:lnTo>
                  <a:lnTo>
                    <a:pt x="14503" y="59397"/>
                  </a:lnTo>
                  <a:lnTo>
                    <a:pt x="30238" y="64452"/>
                  </a:lnTo>
                  <a:lnTo>
                    <a:pt x="49530" y="66294"/>
                  </a:lnTo>
                  <a:lnTo>
                    <a:pt x="68808" y="64452"/>
                  </a:lnTo>
                  <a:lnTo>
                    <a:pt x="84543" y="59397"/>
                  </a:lnTo>
                  <a:lnTo>
                    <a:pt x="95161" y="51892"/>
                  </a:lnTo>
                  <a:lnTo>
                    <a:pt x="95618" y="50800"/>
                  </a:lnTo>
                  <a:lnTo>
                    <a:pt x="3914775" y="50800"/>
                  </a:lnTo>
                  <a:lnTo>
                    <a:pt x="3914775" y="76200"/>
                  </a:lnTo>
                  <a:lnTo>
                    <a:pt x="3965575" y="50800"/>
                  </a:lnTo>
                  <a:lnTo>
                    <a:pt x="3990975" y="38100"/>
                  </a:lnTo>
                  <a:close/>
                </a:path>
                <a:path w="4004310" h="291464">
                  <a:moveTo>
                    <a:pt x="4004183" y="252984"/>
                  </a:moveTo>
                  <a:lnTo>
                    <a:pt x="3979164" y="240588"/>
                  </a:lnTo>
                  <a:lnTo>
                    <a:pt x="3927856" y="215138"/>
                  </a:lnTo>
                  <a:lnTo>
                    <a:pt x="3927932" y="240588"/>
                  </a:lnTo>
                  <a:lnTo>
                    <a:pt x="331431" y="252095"/>
                  </a:lnTo>
                  <a:lnTo>
                    <a:pt x="331508" y="277495"/>
                  </a:lnTo>
                  <a:lnTo>
                    <a:pt x="3928021" y="265988"/>
                  </a:lnTo>
                  <a:lnTo>
                    <a:pt x="3928110" y="291338"/>
                  </a:lnTo>
                  <a:lnTo>
                    <a:pt x="3978402" y="265988"/>
                  </a:lnTo>
                  <a:lnTo>
                    <a:pt x="4004183" y="252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44068" y="44775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897629" y="5690095"/>
              <a:ext cx="4135120" cy="76200"/>
            </a:xfrm>
            <a:custGeom>
              <a:avLst/>
              <a:gdLst/>
              <a:ahLst/>
              <a:cxnLst/>
              <a:rect l="l" t="t" r="r" b="b"/>
              <a:pathLst>
                <a:path w="4135120" h="76200">
                  <a:moveTo>
                    <a:pt x="4058793" y="0"/>
                  </a:moveTo>
                  <a:lnTo>
                    <a:pt x="4058877" y="25403"/>
                  </a:lnTo>
                  <a:lnTo>
                    <a:pt x="4058921" y="38557"/>
                  </a:lnTo>
                  <a:lnTo>
                    <a:pt x="4059047" y="76200"/>
                  </a:lnTo>
                  <a:lnTo>
                    <a:pt x="4109436" y="50803"/>
                  </a:lnTo>
                  <a:lnTo>
                    <a:pt x="4071747" y="50803"/>
                  </a:lnTo>
                  <a:lnTo>
                    <a:pt x="4071682" y="37858"/>
                  </a:lnTo>
                  <a:lnTo>
                    <a:pt x="4071620" y="25403"/>
                  </a:lnTo>
                  <a:lnTo>
                    <a:pt x="4110008" y="25403"/>
                  </a:lnTo>
                  <a:lnTo>
                    <a:pt x="4058793" y="0"/>
                  </a:lnTo>
                  <a:close/>
                </a:path>
                <a:path w="4135120" h="76200">
                  <a:moveTo>
                    <a:pt x="4058877" y="25403"/>
                  </a:moveTo>
                  <a:lnTo>
                    <a:pt x="0" y="38557"/>
                  </a:lnTo>
                  <a:lnTo>
                    <a:pt x="0" y="63957"/>
                  </a:lnTo>
                  <a:lnTo>
                    <a:pt x="4058962" y="50803"/>
                  </a:lnTo>
                  <a:lnTo>
                    <a:pt x="4058877" y="25403"/>
                  </a:lnTo>
                  <a:close/>
                </a:path>
                <a:path w="4135120" h="76200">
                  <a:moveTo>
                    <a:pt x="4110008" y="25403"/>
                  </a:moveTo>
                  <a:lnTo>
                    <a:pt x="4071620" y="25403"/>
                  </a:lnTo>
                  <a:lnTo>
                    <a:pt x="4071682" y="37858"/>
                  </a:lnTo>
                  <a:lnTo>
                    <a:pt x="4071747" y="50803"/>
                  </a:lnTo>
                  <a:lnTo>
                    <a:pt x="4109436" y="50803"/>
                  </a:lnTo>
                  <a:lnTo>
                    <a:pt x="4135120" y="37858"/>
                  </a:lnTo>
                  <a:lnTo>
                    <a:pt x="4110008" y="25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82930" y="5702045"/>
              <a:ext cx="2340610" cy="273050"/>
            </a:xfrm>
            <a:custGeom>
              <a:avLst/>
              <a:gdLst/>
              <a:ahLst/>
              <a:cxnLst/>
              <a:rect l="l" t="t" r="r" b="b"/>
              <a:pathLst>
                <a:path w="2340610" h="273050">
                  <a:moveTo>
                    <a:pt x="2340229" y="234696"/>
                  </a:moveTo>
                  <a:lnTo>
                    <a:pt x="2314829" y="221996"/>
                  </a:lnTo>
                  <a:lnTo>
                    <a:pt x="2264029" y="196596"/>
                  </a:lnTo>
                  <a:lnTo>
                    <a:pt x="2264029" y="221996"/>
                  </a:lnTo>
                  <a:lnTo>
                    <a:pt x="294132" y="221996"/>
                  </a:lnTo>
                  <a:lnTo>
                    <a:pt x="294132" y="247396"/>
                  </a:lnTo>
                  <a:lnTo>
                    <a:pt x="2264029" y="247396"/>
                  </a:lnTo>
                  <a:lnTo>
                    <a:pt x="2264029" y="272796"/>
                  </a:lnTo>
                  <a:lnTo>
                    <a:pt x="2314829" y="247396"/>
                  </a:lnTo>
                  <a:lnTo>
                    <a:pt x="2340229" y="234696"/>
                  </a:lnTo>
                  <a:close/>
                </a:path>
                <a:path w="2340610" h="273050">
                  <a:moveTo>
                    <a:pt x="2340483" y="38100"/>
                  </a:moveTo>
                  <a:lnTo>
                    <a:pt x="2315083" y="25400"/>
                  </a:lnTo>
                  <a:lnTo>
                    <a:pt x="2264283" y="0"/>
                  </a:lnTo>
                  <a:lnTo>
                    <a:pt x="2264283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64283" y="50800"/>
                  </a:lnTo>
                  <a:lnTo>
                    <a:pt x="2264283" y="76200"/>
                  </a:lnTo>
                  <a:lnTo>
                    <a:pt x="2315083" y="50800"/>
                  </a:lnTo>
                  <a:lnTo>
                    <a:pt x="23404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411986" y="5695289"/>
            <a:ext cx="106045" cy="42608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2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533145" y="4643882"/>
            <a:ext cx="3404235" cy="1381125"/>
            <a:chOff x="533145" y="4643882"/>
            <a:chExt cx="3404235" cy="1381125"/>
          </a:xfrm>
        </p:grpSpPr>
        <p:sp>
          <p:nvSpPr>
            <p:cNvPr id="133" name="object 133"/>
            <p:cNvSpPr/>
            <p:nvPr/>
          </p:nvSpPr>
          <p:spPr>
            <a:xfrm>
              <a:off x="1376934" y="5689854"/>
              <a:ext cx="176530" cy="322580"/>
            </a:xfrm>
            <a:custGeom>
              <a:avLst/>
              <a:gdLst/>
              <a:ahLst/>
              <a:cxnLst/>
              <a:rect l="l" t="t" r="r" b="b"/>
              <a:pathLst>
                <a:path w="176530" h="322579">
                  <a:moveTo>
                    <a:pt x="176403" y="0"/>
                  </a:moveTo>
                  <a:lnTo>
                    <a:pt x="7619" y="111645"/>
                  </a:lnTo>
                </a:path>
                <a:path w="176530" h="322579">
                  <a:moveTo>
                    <a:pt x="168782" y="210312"/>
                  </a:moveTo>
                  <a:lnTo>
                    <a:pt x="0" y="3219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755897" y="4656582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2923794" y="5671565"/>
            <a:ext cx="975360" cy="33401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240"/>
              </a:spcBef>
            </a:pPr>
            <a:r>
              <a:rPr sz="1400" b="1" spc="-25" dirty="0">
                <a:latin typeface="Calibri"/>
                <a:cs typeface="Calibri"/>
              </a:rPr>
              <a:t>DIV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813809" y="4678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3016757" y="39524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3084957" y="397530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2978657" y="443865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3014598" y="44574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976873" y="56672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4903978" y="2957829"/>
            <a:ext cx="2114550" cy="2842895"/>
            <a:chOff x="4903978" y="2957829"/>
            <a:chExt cx="2114550" cy="2842895"/>
          </a:xfrm>
        </p:grpSpPr>
        <p:sp>
          <p:nvSpPr>
            <p:cNvPr id="147" name="object 147"/>
            <p:cNvSpPr/>
            <p:nvPr/>
          </p:nvSpPr>
          <p:spPr>
            <a:xfrm>
              <a:off x="5939790" y="3362705"/>
              <a:ext cx="1020444" cy="2425700"/>
            </a:xfrm>
            <a:custGeom>
              <a:avLst/>
              <a:gdLst/>
              <a:ahLst/>
              <a:cxnLst/>
              <a:rect l="l" t="t" r="r" b="b"/>
              <a:pathLst>
                <a:path w="1020445" h="2425700">
                  <a:moveTo>
                    <a:pt x="168783" y="2313432"/>
                  </a:moveTo>
                  <a:lnTo>
                    <a:pt x="0" y="2425077"/>
                  </a:lnTo>
                </a:path>
                <a:path w="1020445" h="2425700">
                  <a:moveTo>
                    <a:pt x="1004315" y="0"/>
                  </a:moveTo>
                  <a:lnTo>
                    <a:pt x="1019937" y="20002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3978" y="2957829"/>
              <a:ext cx="137668" cy="10718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7558" y="3305301"/>
              <a:ext cx="140716" cy="101092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7032117" y="5097526"/>
            <a:ext cx="820419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CMP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(SUB)</a:t>
            </a:r>
            <a:endParaRPr sz="1400">
              <a:latin typeface="Calibri"/>
              <a:cs typeface="Calibri"/>
            </a:endParaRPr>
          </a:p>
          <a:p>
            <a:pPr marL="151130">
              <a:lnSpc>
                <a:spcPts val="2060"/>
              </a:lnSpc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2636011" y="23976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2526029" y="2355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2081529" y="273837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2020061" y="271348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 txBox="1"/>
          <p:nvPr/>
        </p:nvSpPr>
        <p:spPr>
          <a:xfrm>
            <a:off x="1842897" y="246900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824482" y="2591054"/>
            <a:ext cx="8244205" cy="626745"/>
            <a:chOff x="1824482" y="2591054"/>
            <a:chExt cx="8244205" cy="626745"/>
          </a:xfrm>
        </p:grpSpPr>
        <p:sp>
          <p:nvSpPr>
            <p:cNvPr id="157" name="object 157"/>
            <p:cNvSpPr/>
            <p:nvPr/>
          </p:nvSpPr>
          <p:spPr>
            <a:xfrm>
              <a:off x="1837182" y="26037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998214" y="3141218"/>
              <a:ext cx="6070600" cy="76200"/>
            </a:xfrm>
            <a:custGeom>
              <a:avLst/>
              <a:gdLst/>
              <a:ahLst/>
              <a:cxnLst/>
              <a:rect l="l" t="t" r="r" b="b"/>
              <a:pathLst>
                <a:path w="6070600" h="76200">
                  <a:moveTo>
                    <a:pt x="5994400" y="0"/>
                  </a:moveTo>
                  <a:lnTo>
                    <a:pt x="5994379" y="6096"/>
                  </a:lnTo>
                  <a:lnTo>
                    <a:pt x="5994272" y="38354"/>
                  </a:lnTo>
                  <a:lnTo>
                    <a:pt x="5994145" y="76200"/>
                  </a:lnTo>
                  <a:lnTo>
                    <a:pt x="6045372" y="50800"/>
                  </a:lnTo>
                  <a:lnTo>
                    <a:pt x="6006845" y="50800"/>
                  </a:lnTo>
                  <a:lnTo>
                    <a:pt x="6006972" y="25400"/>
                  </a:lnTo>
                  <a:lnTo>
                    <a:pt x="6044779" y="25400"/>
                  </a:lnTo>
                  <a:lnTo>
                    <a:pt x="5994400" y="0"/>
                  </a:lnTo>
                  <a:close/>
                </a:path>
                <a:path w="6070600" h="76200">
                  <a:moveTo>
                    <a:pt x="0" y="6096"/>
                  </a:moveTo>
                  <a:lnTo>
                    <a:pt x="0" y="31496"/>
                  </a:lnTo>
                  <a:lnTo>
                    <a:pt x="6006845" y="50800"/>
                  </a:lnTo>
                  <a:lnTo>
                    <a:pt x="5994230" y="50800"/>
                  </a:lnTo>
                  <a:lnTo>
                    <a:pt x="5994315" y="25400"/>
                  </a:lnTo>
                  <a:lnTo>
                    <a:pt x="6006973" y="25400"/>
                  </a:lnTo>
                  <a:lnTo>
                    <a:pt x="0" y="6096"/>
                  </a:lnTo>
                  <a:close/>
                </a:path>
                <a:path w="6070600" h="76200">
                  <a:moveTo>
                    <a:pt x="6044779" y="25400"/>
                  </a:moveTo>
                  <a:lnTo>
                    <a:pt x="6006972" y="25400"/>
                  </a:lnTo>
                  <a:lnTo>
                    <a:pt x="6006845" y="50800"/>
                  </a:lnTo>
                  <a:lnTo>
                    <a:pt x="6045372" y="50800"/>
                  </a:lnTo>
                  <a:lnTo>
                    <a:pt x="6070472" y="38354"/>
                  </a:lnTo>
                  <a:lnTo>
                    <a:pt x="604477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917244" y="275272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928522" y="239890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905967" y="423405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912367" y="4696714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899661" y="3081020"/>
            <a:ext cx="673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50" dirty="0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9684257" y="3117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9742678" y="31224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10169397" y="3651630"/>
            <a:ext cx="142367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86995" marR="5080" indent="-74930">
              <a:lnSpc>
                <a:spcPts val="2590"/>
              </a:lnSpc>
              <a:spcBef>
                <a:spcPts val="425"/>
              </a:spcBef>
            </a:pPr>
            <a:r>
              <a:rPr sz="2400" b="1" dirty="0">
                <a:latin typeface="Calibri"/>
                <a:cs typeface="Calibri"/>
              </a:rPr>
              <a:t>How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about </a:t>
            </a:r>
            <a:r>
              <a:rPr sz="2400" b="1" dirty="0">
                <a:latin typeface="Calibri"/>
                <a:cs typeface="Calibri"/>
              </a:rPr>
              <a:t>Sign </a:t>
            </a:r>
            <a:r>
              <a:rPr sz="2400" b="1" spc="-10" dirty="0">
                <a:latin typeface="Calibri"/>
                <a:cs typeface="Calibri"/>
              </a:rPr>
              <a:t>Flag?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9895458" y="4747971"/>
            <a:ext cx="2038350" cy="115443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-635" algn="ctr">
              <a:lnSpc>
                <a:spcPct val="90000"/>
              </a:lnSpc>
              <a:spcBef>
                <a:spcPts val="345"/>
              </a:spcBef>
            </a:pPr>
            <a:r>
              <a:rPr sz="2000" dirty="0">
                <a:latin typeface="Calibri"/>
                <a:cs typeface="Calibri"/>
              </a:rPr>
              <a:t>MSB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 </a:t>
            </a:r>
            <a:r>
              <a:rPr sz="2000" dirty="0">
                <a:latin typeface="Calibri"/>
                <a:cs typeface="Calibri"/>
              </a:rPr>
              <a:t>determine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whether </a:t>
            </a:r>
            <a:r>
              <a:rPr sz="2000" dirty="0">
                <a:latin typeface="Calibri"/>
                <a:cs typeface="Calibri"/>
              </a:rPr>
              <a:t>number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positive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negative.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55626"/>
            <a:ext cx="15513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4</a:t>
            </a:r>
            <a:r>
              <a:rPr sz="3200" spc="-10" dirty="0"/>
              <a:t> </a:t>
            </a:r>
            <a:r>
              <a:rPr sz="3200" dirty="0"/>
              <a:t>bit</a:t>
            </a:r>
            <a:r>
              <a:rPr sz="3200" spc="-15" dirty="0"/>
              <a:t> </a:t>
            </a:r>
            <a:r>
              <a:rPr sz="3200" spc="-25" dirty="0"/>
              <a:t>ALU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0108818" y="2544556"/>
            <a:ext cx="175895" cy="72834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cf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4078" y="3969257"/>
            <a:ext cx="3918585" cy="316230"/>
          </a:xfrm>
          <a:custGeom>
            <a:avLst/>
            <a:gdLst/>
            <a:ahLst/>
            <a:cxnLst/>
            <a:rect l="l" t="t" r="r" b="b"/>
            <a:pathLst>
              <a:path w="3918585" h="316229">
                <a:moveTo>
                  <a:pt x="3904869" y="38100"/>
                </a:moveTo>
                <a:lnTo>
                  <a:pt x="3879469" y="25400"/>
                </a:lnTo>
                <a:lnTo>
                  <a:pt x="3828669" y="0"/>
                </a:lnTo>
                <a:lnTo>
                  <a:pt x="3828669" y="25400"/>
                </a:lnTo>
                <a:lnTo>
                  <a:pt x="0" y="25400"/>
                </a:lnTo>
                <a:lnTo>
                  <a:pt x="0" y="50800"/>
                </a:lnTo>
                <a:lnTo>
                  <a:pt x="3828669" y="50800"/>
                </a:lnTo>
                <a:lnTo>
                  <a:pt x="3828669" y="76200"/>
                </a:lnTo>
                <a:lnTo>
                  <a:pt x="3879469" y="50800"/>
                </a:lnTo>
                <a:lnTo>
                  <a:pt x="3904869" y="38100"/>
                </a:lnTo>
                <a:close/>
              </a:path>
              <a:path w="3918585" h="316229">
                <a:moveTo>
                  <a:pt x="3918077" y="277368"/>
                </a:moveTo>
                <a:lnTo>
                  <a:pt x="3893058" y="264972"/>
                </a:lnTo>
                <a:lnTo>
                  <a:pt x="3841750" y="239522"/>
                </a:lnTo>
                <a:lnTo>
                  <a:pt x="3841826" y="264972"/>
                </a:lnTo>
                <a:lnTo>
                  <a:pt x="245325" y="276479"/>
                </a:lnTo>
                <a:lnTo>
                  <a:pt x="245402" y="301879"/>
                </a:lnTo>
                <a:lnTo>
                  <a:pt x="3841915" y="290372"/>
                </a:lnTo>
                <a:lnTo>
                  <a:pt x="3842004" y="315722"/>
                </a:lnTo>
                <a:lnTo>
                  <a:pt x="3892296" y="290372"/>
                </a:lnTo>
                <a:lnTo>
                  <a:pt x="3918077" y="277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30090" y="3868673"/>
            <a:ext cx="1335405" cy="44386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1365"/>
              </a:lnSpc>
            </a:pPr>
            <a:r>
              <a:rPr sz="1200" b="1" dirty="0">
                <a:latin typeface="Calibri"/>
                <a:cs typeface="Calibri"/>
              </a:rPr>
              <a:t>LEFT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480"/>
              </a:spcBef>
            </a:pPr>
            <a:r>
              <a:rPr sz="1200" b="1" spc="-10" dirty="0">
                <a:latin typeface="Calibri"/>
                <a:cs typeface="Calibri"/>
              </a:rPr>
              <a:t>S[1:0]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7718" y="505205"/>
            <a:ext cx="8502015" cy="3824604"/>
            <a:chOff x="537718" y="505205"/>
            <a:chExt cx="8502015" cy="3824604"/>
          </a:xfrm>
        </p:grpSpPr>
        <p:sp>
          <p:nvSpPr>
            <p:cNvPr id="7" name="object 7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55970" y="505205"/>
              <a:ext cx="3183890" cy="3587115"/>
            </a:xfrm>
            <a:custGeom>
              <a:avLst/>
              <a:gdLst/>
              <a:ahLst/>
              <a:cxnLst/>
              <a:rect l="l" t="t" r="r" b="b"/>
              <a:pathLst>
                <a:path w="3183890" h="3587115">
                  <a:moveTo>
                    <a:pt x="2176907" y="3549269"/>
                  </a:moveTo>
                  <a:lnTo>
                    <a:pt x="2151202" y="3536315"/>
                  </a:lnTo>
                  <a:lnTo>
                    <a:pt x="2100834" y="3510915"/>
                  </a:lnTo>
                  <a:lnTo>
                    <a:pt x="2100757" y="3530600"/>
                  </a:lnTo>
                  <a:lnTo>
                    <a:pt x="2100732" y="3536289"/>
                  </a:lnTo>
                  <a:lnTo>
                    <a:pt x="0" y="3530600"/>
                  </a:lnTo>
                  <a:lnTo>
                    <a:pt x="0" y="3556000"/>
                  </a:lnTo>
                  <a:lnTo>
                    <a:pt x="2100656" y="3561689"/>
                  </a:lnTo>
                  <a:lnTo>
                    <a:pt x="2113267" y="3561715"/>
                  </a:lnTo>
                  <a:lnTo>
                    <a:pt x="2100656" y="3561715"/>
                  </a:lnTo>
                  <a:lnTo>
                    <a:pt x="2100580" y="3587115"/>
                  </a:lnTo>
                  <a:lnTo>
                    <a:pt x="2151799" y="3561715"/>
                  </a:lnTo>
                  <a:lnTo>
                    <a:pt x="2176907" y="3549269"/>
                  </a:lnTo>
                  <a:close/>
                </a:path>
                <a:path w="3183890" h="3587115">
                  <a:moveTo>
                    <a:pt x="2665476" y="547751"/>
                  </a:moveTo>
                  <a:lnTo>
                    <a:pt x="2640076" y="547751"/>
                  </a:lnTo>
                  <a:lnTo>
                    <a:pt x="2640076" y="6096"/>
                  </a:lnTo>
                  <a:lnTo>
                    <a:pt x="2614676" y="6096"/>
                  </a:lnTo>
                  <a:lnTo>
                    <a:pt x="2614676" y="547751"/>
                  </a:lnTo>
                  <a:lnTo>
                    <a:pt x="2589276" y="547751"/>
                  </a:lnTo>
                  <a:lnTo>
                    <a:pt x="2627376" y="623951"/>
                  </a:lnTo>
                  <a:lnTo>
                    <a:pt x="2659126" y="560451"/>
                  </a:lnTo>
                  <a:lnTo>
                    <a:pt x="2665476" y="547751"/>
                  </a:lnTo>
                  <a:close/>
                </a:path>
                <a:path w="3183890" h="3587115">
                  <a:moveTo>
                    <a:pt x="2906268" y="541655"/>
                  </a:moveTo>
                  <a:lnTo>
                    <a:pt x="2880868" y="541655"/>
                  </a:lnTo>
                  <a:lnTo>
                    <a:pt x="2880868" y="0"/>
                  </a:lnTo>
                  <a:lnTo>
                    <a:pt x="2855468" y="0"/>
                  </a:lnTo>
                  <a:lnTo>
                    <a:pt x="2855468" y="541655"/>
                  </a:lnTo>
                  <a:lnTo>
                    <a:pt x="2830068" y="541655"/>
                  </a:lnTo>
                  <a:lnTo>
                    <a:pt x="2868168" y="617855"/>
                  </a:lnTo>
                  <a:lnTo>
                    <a:pt x="2899918" y="554355"/>
                  </a:lnTo>
                  <a:lnTo>
                    <a:pt x="2906268" y="541655"/>
                  </a:lnTo>
                  <a:close/>
                </a:path>
                <a:path w="3183890" h="3587115">
                  <a:moveTo>
                    <a:pt x="3183636" y="541655"/>
                  </a:moveTo>
                  <a:lnTo>
                    <a:pt x="3158236" y="541655"/>
                  </a:lnTo>
                  <a:lnTo>
                    <a:pt x="3158236" y="0"/>
                  </a:lnTo>
                  <a:lnTo>
                    <a:pt x="3132836" y="0"/>
                  </a:lnTo>
                  <a:lnTo>
                    <a:pt x="3132836" y="541655"/>
                  </a:lnTo>
                  <a:lnTo>
                    <a:pt x="3107436" y="541655"/>
                  </a:lnTo>
                  <a:lnTo>
                    <a:pt x="3145536" y="617855"/>
                  </a:lnTo>
                  <a:lnTo>
                    <a:pt x="3177286" y="554355"/>
                  </a:lnTo>
                  <a:lnTo>
                    <a:pt x="3183636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5521" y="4205477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73500" y="42283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8461" y="4877561"/>
            <a:ext cx="977265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505"/>
              </a:spcBef>
            </a:pPr>
            <a:r>
              <a:rPr sz="1400" b="1" spc="-25" dirty="0">
                <a:latin typeface="Calibri"/>
                <a:cs typeface="Calibri"/>
              </a:rPr>
              <a:t>NOT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2477" y="4904485"/>
            <a:ext cx="3951604" cy="137160"/>
            <a:chOff x="522477" y="4904485"/>
            <a:chExt cx="3951604" cy="137160"/>
          </a:xfrm>
        </p:grpSpPr>
        <p:sp>
          <p:nvSpPr>
            <p:cNvPr id="14" name="object 14"/>
            <p:cNvSpPr/>
            <p:nvPr/>
          </p:nvSpPr>
          <p:spPr>
            <a:xfrm>
              <a:off x="528828" y="4946141"/>
              <a:ext cx="3945254" cy="76200"/>
            </a:xfrm>
            <a:custGeom>
              <a:avLst/>
              <a:gdLst/>
              <a:ahLst/>
              <a:cxnLst/>
              <a:rect l="l" t="t" r="r" b="b"/>
              <a:pathLst>
                <a:path w="3945254" h="76200">
                  <a:moveTo>
                    <a:pt x="3945255" y="38100"/>
                  </a:moveTo>
                  <a:lnTo>
                    <a:pt x="3919855" y="25400"/>
                  </a:lnTo>
                  <a:lnTo>
                    <a:pt x="3869055" y="0"/>
                  </a:lnTo>
                  <a:lnTo>
                    <a:pt x="3869055" y="25400"/>
                  </a:lnTo>
                  <a:lnTo>
                    <a:pt x="87617" y="25400"/>
                  </a:lnTo>
                  <a:lnTo>
                    <a:pt x="84543" y="23152"/>
                  </a:lnTo>
                  <a:lnTo>
                    <a:pt x="68808" y="17919"/>
                  </a:lnTo>
                  <a:lnTo>
                    <a:pt x="49530" y="16002"/>
                  </a:lnTo>
                  <a:lnTo>
                    <a:pt x="30238" y="17919"/>
                  </a:lnTo>
                  <a:lnTo>
                    <a:pt x="14503" y="23152"/>
                  </a:lnTo>
                  <a:lnTo>
                    <a:pt x="3886" y="30899"/>
                  </a:lnTo>
                  <a:lnTo>
                    <a:pt x="0" y="40386"/>
                  </a:lnTo>
                  <a:lnTo>
                    <a:pt x="3886" y="49885"/>
                  </a:lnTo>
                  <a:lnTo>
                    <a:pt x="14503" y="57632"/>
                  </a:lnTo>
                  <a:lnTo>
                    <a:pt x="30238" y="62865"/>
                  </a:lnTo>
                  <a:lnTo>
                    <a:pt x="49530" y="64770"/>
                  </a:lnTo>
                  <a:lnTo>
                    <a:pt x="68808" y="62865"/>
                  </a:lnTo>
                  <a:lnTo>
                    <a:pt x="84543" y="57632"/>
                  </a:lnTo>
                  <a:lnTo>
                    <a:pt x="93903" y="50800"/>
                  </a:lnTo>
                  <a:lnTo>
                    <a:pt x="3869055" y="50800"/>
                  </a:lnTo>
                  <a:lnTo>
                    <a:pt x="3869055" y="76200"/>
                  </a:lnTo>
                  <a:lnTo>
                    <a:pt x="3919855" y="50800"/>
                  </a:lnTo>
                  <a:lnTo>
                    <a:pt x="394525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8827" y="4962143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68445" y="4917185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09594" y="495007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26075" y="3987038"/>
            <a:ext cx="2607310" cy="1029335"/>
            <a:chOff x="5426075" y="3987038"/>
            <a:chExt cx="2607310" cy="1029335"/>
          </a:xfrm>
        </p:grpSpPr>
        <p:sp>
          <p:nvSpPr>
            <p:cNvPr id="19" name="object 19"/>
            <p:cNvSpPr/>
            <p:nvPr/>
          </p:nvSpPr>
          <p:spPr>
            <a:xfrm>
              <a:off x="5426075" y="4940173"/>
              <a:ext cx="2607310" cy="76200"/>
            </a:xfrm>
            <a:custGeom>
              <a:avLst/>
              <a:gdLst/>
              <a:ahLst/>
              <a:cxnLst/>
              <a:rect l="l" t="t" r="r" b="b"/>
              <a:pathLst>
                <a:path w="2607309" h="76200">
                  <a:moveTo>
                    <a:pt x="2530982" y="0"/>
                  </a:moveTo>
                  <a:lnTo>
                    <a:pt x="2530932" y="10032"/>
                  </a:lnTo>
                  <a:lnTo>
                    <a:pt x="2530855" y="25526"/>
                  </a:lnTo>
                  <a:lnTo>
                    <a:pt x="2530728" y="50926"/>
                  </a:lnTo>
                  <a:lnTo>
                    <a:pt x="2530602" y="76200"/>
                  </a:lnTo>
                  <a:lnTo>
                    <a:pt x="2582001" y="50926"/>
                  </a:lnTo>
                  <a:lnTo>
                    <a:pt x="2543429" y="50926"/>
                  </a:lnTo>
                  <a:lnTo>
                    <a:pt x="2543555" y="25526"/>
                  </a:lnTo>
                  <a:lnTo>
                    <a:pt x="2581281" y="25526"/>
                  </a:lnTo>
                  <a:lnTo>
                    <a:pt x="2530982" y="0"/>
                  </a:lnTo>
                  <a:close/>
                </a:path>
                <a:path w="2607309" h="76200">
                  <a:moveTo>
                    <a:pt x="253" y="10032"/>
                  </a:moveTo>
                  <a:lnTo>
                    <a:pt x="99" y="25526"/>
                  </a:lnTo>
                  <a:lnTo>
                    <a:pt x="0" y="35432"/>
                  </a:lnTo>
                  <a:lnTo>
                    <a:pt x="2543428" y="50926"/>
                  </a:lnTo>
                  <a:lnTo>
                    <a:pt x="2530728" y="50926"/>
                  </a:lnTo>
                  <a:lnTo>
                    <a:pt x="2530855" y="25526"/>
                  </a:lnTo>
                  <a:lnTo>
                    <a:pt x="2543556" y="25526"/>
                  </a:lnTo>
                  <a:lnTo>
                    <a:pt x="253" y="10032"/>
                  </a:lnTo>
                  <a:close/>
                </a:path>
                <a:path w="2607309" h="76200">
                  <a:moveTo>
                    <a:pt x="2581281" y="25526"/>
                  </a:moveTo>
                  <a:lnTo>
                    <a:pt x="2543555" y="25526"/>
                  </a:lnTo>
                  <a:lnTo>
                    <a:pt x="2543429" y="50926"/>
                  </a:lnTo>
                  <a:lnTo>
                    <a:pt x="2582001" y="50926"/>
                  </a:lnTo>
                  <a:lnTo>
                    <a:pt x="2607055" y="38607"/>
                  </a:lnTo>
                  <a:lnTo>
                    <a:pt x="2581281" y="25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87846" y="3999738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417055" y="399841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012941" y="4901946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041897" y="490740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962393" y="1057783"/>
            <a:ext cx="2634615" cy="5672455"/>
            <a:chOff x="6962393" y="1057783"/>
            <a:chExt cx="2634615" cy="5672455"/>
          </a:xfrm>
        </p:grpSpPr>
        <p:sp>
          <p:nvSpPr>
            <p:cNvPr id="25" name="object 25"/>
            <p:cNvSpPr/>
            <p:nvPr/>
          </p:nvSpPr>
          <p:spPr>
            <a:xfrm>
              <a:off x="6962393" y="5324602"/>
              <a:ext cx="1063625" cy="76200"/>
            </a:xfrm>
            <a:custGeom>
              <a:avLst/>
              <a:gdLst/>
              <a:ahLst/>
              <a:cxnLst/>
              <a:rect l="l" t="t" r="r" b="b"/>
              <a:pathLst>
                <a:path w="1063625" h="76200">
                  <a:moveTo>
                    <a:pt x="987044" y="0"/>
                  </a:moveTo>
                  <a:lnTo>
                    <a:pt x="986971" y="21844"/>
                  </a:lnTo>
                  <a:lnTo>
                    <a:pt x="986916" y="38354"/>
                  </a:lnTo>
                  <a:lnTo>
                    <a:pt x="986789" y="76200"/>
                  </a:lnTo>
                  <a:lnTo>
                    <a:pt x="1038016" y="50800"/>
                  </a:lnTo>
                  <a:lnTo>
                    <a:pt x="999616" y="50800"/>
                  </a:lnTo>
                  <a:lnTo>
                    <a:pt x="999616" y="25400"/>
                  </a:lnTo>
                  <a:lnTo>
                    <a:pt x="1037423" y="25400"/>
                  </a:lnTo>
                  <a:lnTo>
                    <a:pt x="987044" y="0"/>
                  </a:lnTo>
                  <a:close/>
                </a:path>
                <a:path w="1063625" h="76200">
                  <a:moveTo>
                    <a:pt x="0" y="21844"/>
                  </a:moveTo>
                  <a:lnTo>
                    <a:pt x="0" y="47244"/>
                  </a:lnTo>
                  <a:lnTo>
                    <a:pt x="999617" y="50800"/>
                  </a:lnTo>
                  <a:lnTo>
                    <a:pt x="986874" y="50800"/>
                  </a:lnTo>
                  <a:lnTo>
                    <a:pt x="986959" y="25400"/>
                  </a:lnTo>
                  <a:lnTo>
                    <a:pt x="999617" y="25400"/>
                  </a:lnTo>
                  <a:lnTo>
                    <a:pt x="0" y="21844"/>
                  </a:lnTo>
                  <a:close/>
                </a:path>
                <a:path w="1063625" h="76200">
                  <a:moveTo>
                    <a:pt x="1037423" y="25400"/>
                  </a:moveTo>
                  <a:lnTo>
                    <a:pt x="999616" y="25400"/>
                  </a:lnTo>
                  <a:lnTo>
                    <a:pt x="999616" y="50800"/>
                  </a:lnTo>
                  <a:lnTo>
                    <a:pt x="1038016" y="50800"/>
                  </a:lnTo>
                  <a:lnTo>
                    <a:pt x="1063116" y="38354"/>
                  </a:lnTo>
                  <a:lnTo>
                    <a:pt x="103742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26985" y="53088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383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1542288" y="0"/>
                  </a:moveTo>
                  <a:lnTo>
                    <a:pt x="0" y="0"/>
                  </a:lnTo>
                  <a:lnTo>
                    <a:pt x="0" y="5640324"/>
                  </a:lnTo>
                  <a:lnTo>
                    <a:pt x="1542288" y="5640324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383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0" y="5640324"/>
                  </a:moveTo>
                  <a:lnTo>
                    <a:pt x="1542288" y="5640324"/>
                  </a:lnTo>
                  <a:lnTo>
                    <a:pt x="1542288" y="0"/>
                  </a:lnTo>
                  <a:lnTo>
                    <a:pt x="0" y="0"/>
                  </a:lnTo>
                  <a:lnTo>
                    <a:pt x="0" y="5640324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225790" y="1046479"/>
            <a:ext cx="1165860" cy="3515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(1)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(2)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(3)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(4)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(5)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(6)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(7)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(8)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6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(9)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93785" y="4613021"/>
            <a:ext cx="1230630" cy="21145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(11)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(12)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(13)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(14)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96106" y="1218564"/>
            <a:ext cx="6172835" cy="2478405"/>
          </a:xfrm>
          <a:custGeom>
            <a:avLst/>
            <a:gdLst/>
            <a:ahLst/>
            <a:cxnLst/>
            <a:rect l="l" t="t" r="r" b="b"/>
            <a:pathLst>
              <a:path w="6172834" h="2478404">
                <a:moveTo>
                  <a:pt x="4065054" y="2452801"/>
                </a:moveTo>
                <a:lnTo>
                  <a:pt x="4064965" y="2427401"/>
                </a:lnTo>
                <a:lnTo>
                  <a:pt x="6096" y="2440559"/>
                </a:lnTo>
                <a:lnTo>
                  <a:pt x="6096" y="2465959"/>
                </a:lnTo>
                <a:lnTo>
                  <a:pt x="4065054" y="2452801"/>
                </a:lnTo>
                <a:close/>
              </a:path>
              <a:path w="6172834" h="2478404">
                <a:moveTo>
                  <a:pt x="4123436" y="1427099"/>
                </a:moveTo>
                <a:lnTo>
                  <a:pt x="4097858" y="1414272"/>
                </a:lnTo>
                <a:lnTo>
                  <a:pt x="4047236" y="1388872"/>
                </a:lnTo>
                <a:lnTo>
                  <a:pt x="4047236" y="1414272"/>
                </a:lnTo>
                <a:lnTo>
                  <a:pt x="1059180" y="1413637"/>
                </a:lnTo>
                <a:lnTo>
                  <a:pt x="1059180" y="1439037"/>
                </a:lnTo>
                <a:lnTo>
                  <a:pt x="4047236" y="1439672"/>
                </a:lnTo>
                <a:lnTo>
                  <a:pt x="4047236" y="1465072"/>
                </a:lnTo>
                <a:lnTo>
                  <a:pt x="4098201" y="1439672"/>
                </a:lnTo>
                <a:lnTo>
                  <a:pt x="4123436" y="1427099"/>
                </a:lnTo>
                <a:close/>
              </a:path>
              <a:path w="6172834" h="2478404">
                <a:moveTo>
                  <a:pt x="4140327" y="2139569"/>
                </a:moveTo>
                <a:lnTo>
                  <a:pt x="4114927" y="2126881"/>
                </a:lnTo>
                <a:lnTo>
                  <a:pt x="4064127" y="2101469"/>
                </a:lnTo>
                <a:lnTo>
                  <a:pt x="4064127" y="2126881"/>
                </a:lnTo>
                <a:lnTo>
                  <a:pt x="1077468" y="2127885"/>
                </a:lnTo>
                <a:lnTo>
                  <a:pt x="1077468" y="2153285"/>
                </a:lnTo>
                <a:lnTo>
                  <a:pt x="4064127" y="2152281"/>
                </a:lnTo>
                <a:lnTo>
                  <a:pt x="4064127" y="2177669"/>
                </a:lnTo>
                <a:lnTo>
                  <a:pt x="4114914" y="2152281"/>
                </a:lnTo>
                <a:lnTo>
                  <a:pt x="4140327" y="2139569"/>
                </a:lnTo>
                <a:close/>
              </a:path>
              <a:path w="6172834" h="2478404">
                <a:moveTo>
                  <a:pt x="4141216" y="2439797"/>
                </a:moveTo>
                <a:lnTo>
                  <a:pt x="4116197" y="2427401"/>
                </a:lnTo>
                <a:lnTo>
                  <a:pt x="4064889" y="2401951"/>
                </a:lnTo>
                <a:lnTo>
                  <a:pt x="4064965" y="2427401"/>
                </a:lnTo>
                <a:lnTo>
                  <a:pt x="4065016" y="2440559"/>
                </a:lnTo>
                <a:lnTo>
                  <a:pt x="4065054" y="2452801"/>
                </a:lnTo>
                <a:lnTo>
                  <a:pt x="4065143" y="2478151"/>
                </a:lnTo>
                <a:lnTo>
                  <a:pt x="4115435" y="2452801"/>
                </a:lnTo>
                <a:lnTo>
                  <a:pt x="4141216" y="2439797"/>
                </a:lnTo>
                <a:close/>
              </a:path>
              <a:path w="6172834" h="2478404">
                <a:moveTo>
                  <a:pt x="4141216" y="37973"/>
                </a:moveTo>
                <a:lnTo>
                  <a:pt x="4116032" y="25425"/>
                </a:lnTo>
                <a:lnTo>
                  <a:pt x="4065016" y="0"/>
                </a:lnTo>
                <a:lnTo>
                  <a:pt x="4065054" y="25425"/>
                </a:lnTo>
                <a:lnTo>
                  <a:pt x="3238500" y="26924"/>
                </a:lnTo>
                <a:lnTo>
                  <a:pt x="3238500" y="52324"/>
                </a:lnTo>
                <a:lnTo>
                  <a:pt x="4065092" y="50825"/>
                </a:lnTo>
                <a:lnTo>
                  <a:pt x="4065143" y="76200"/>
                </a:lnTo>
                <a:lnTo>
                  <a:pt x="4115638" y="50825"/>
                </a:lnTo>
                <a:lnTo>
                  <a:pt x="4141216" y="37973"/>
                </a:lnTo>
                <a:close/>
              </a:path>
              <a:path w="6172834" h="2478404">
                <a:moveTo>
                  <a:pt x="4141597" y="417449"/>
                </a:moveTo>
                <a:lnTo>
                  <a:pt x="4116197" y="404749"/>
                </a:lnTo>
                <a:lnTo>
                  <a:pt x="4065397" y="379349"/>
                </a:lnTo>
                <a:lnTo>
                  <a:pt x="4065397" y="404749"/>
                </a:lnTo>
                <a:lnTo>
                  <a:pt x="2168652" y="404749"/>
                </a:lnTo>
                <a:lnTo>
                  <a:pt x="2168652" y="430149"/>
                </a:lnTo>
                <a:lnTo>
                  <a:pt x="4065397" y="430149"/>
                </a:lnTo>
                <a:lnTo>
                  <a:pt x="4065397" y="455549"/>
                </a:lnTo>
                <a:lnTo>
                  <a:pt x="4116197" y="430149"/>
                </a:lnTo>
                <a:lnTo>
                  <a:pt x="4141597" y="417449"/>
                </a:lnTo>
                <a:close/>
              </a:path>
              <a:path w="6172834" h="2478404">
                <a:moveTo>
                  <a:pt x="4141978" y="1120013"/>
                </a:moveTo>
                <a:lnTo>
                  <a:pt x="4116578" y="1107313"/>
                </a:lnTo>
                <a:lnTo>
                  <a:pt x="4065778" y="1081913"/>
                </a:lnTo>
                <a:lnTo>
                  <a:pt x="4065778" y="1107313"/>
                </a:lnTo>
                <a:lnTo>
                  <a:pt x="0" y="1107313"/>
                </a:lnTo>
                <a:lnTo>
                  <a:pt x="0" y="1132713"/>
                </a:lnTo>
                <a:lnTo>
                  <a:pt x="4065778" y="1132713"/>
                </a:lnTo>
                <a:lnTo>
                  <a:pt x="4065778" y="1158113"/>
                </a:lnTo>
                <a:lnTo>
                  <a:pt x="4116578" y="1132713"/>
                </a:lnTo>
                <a:lnTo>
                  <a:pt x="4141978" y="1120013"/>
                </a:lnTo>
                <a:close/>
              </a:path>
              <a:path w="6172834" h="2478404">
                <a:moveTo>
                  <a:pt x="4141978" y="767969"/>
                </a:moveTo>
                <a:lnTo>
                  <a:pt x="4116578" y="755269"/>
                </a:lnTo>
                <a:lnTo>
                  <a:pt x="4065778" y="729869"/>
                </a:lnTo>
                <a:lnTo>
                  <a:pt x="4065778" y="755269"/>
                </a:lnTo>
                <a:lnTo>
                  <a:pt x="562356" y="755269"/>
                </a:lnTo>
                <a:lnTo>
                  <a:pt x="562356" y="780669"/>
                </a:lnTo>
                <a:lnTo>
                  <a:pt x="4065778" y="780669"/>
                </a:lnTo>
                <a:lnTo>
                  <a:pt x="4065778" y="806069"/>
                </a:lnTo>
                <a:lnTo>
                  <a:pt x="4116578" y="780669"/>
                </a:lnTo>
                <a:lnTo>
                  <a:pt x="4141978" y="767969"/>
                </a:lnTo>
                <a:close/>
              </a:path>
              <a:path w="6172834" h="2478404">
                <a:moveTo>
                  <a:pt x="4142359" y="1786001"/>
                </a:moveTo>
                <a:lnTo>
                  <a:pt x="4116971" y="1773313"/>
                </a:lnTo>
                <a:lnTo>
                  <a:pt x="4066159" y="1747901"/>
                </a:lnTo>
                <a:lnTo>
                  <a:pt x="4066159" y="1773313"/>
                </a:lnTo>
                <a:lnTo>
                  <a:pt x="71628" y="1775968"/>
                </a:lnTo>
                <a:lnTo>
                  <a:pt x="71628" y="1801368"/>
                </a:lnTo>
                <a:lnTo>
                  <a:pt x="4066159" y="1798713"/>
                </a:lnTo>
                <a:lnTo>
                  <a:pt x="4066159" y="1824101"/>
                </a:lnTo>
                <a:lnTo>
                  <a:pt x="4116933" y="1798713"/>
                </a:lnTo>
                <a:lnTo>
                  <a:pt x="4142359" y="1786001"/>
                </a:lnTo>
                <a:close/>
              </a:path>
              <a:path w="6172834" h="2478404">
                <a:moveTo>
                  <a:pt x="6172835" y="1158240"/>
                </a:moveTo>
                <a:lnTo>
                  <a:pt x="6147092" y="1145159"/>
                </a:lnTo>
                <a:lnTo>
                  <a:pt x="6096889" y="1119632"/>
                </a:lnTo>
                <a:lnTo>
                  <a:pt x="6096711" y="1145082"/>
                </a:lnTo>
                <a:lnTo>
                  <a:pt x="5684647" y="1142365"/>
                </a:lnTo>
                <a:lnTo>
                  <a:pt x="5684482" y="1158240"/>
                </a:lnTo>
                <a:lnTo>
                  <a:pt x="5684393" y="1167765"/>
                </a:lnTo>
                <a:lnTo>
                  <a:pt x="6096546" y="1170482"/>
                </a:lnTo>
                <a:lnTo>
                  <a:pt x="6109195" y="1170559"/>
                </a:lnTo>
                <a:lnTo>
                  <a:pt x="6096546" y="1170559"/>
                </a:lnTo>
                <a:lnTo>
                  <a:pt x="6096381" y="1195832"/>
                </a:lnTo>
                <a:lnTo>
                  <a:pt x="6147778" y="1170559"/>
                </a:lnTo>
                <a:lnTo>
                  <a:pt x="6172835" y="1158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056621" y="2244344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R[3:0]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97266" y="118998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950" spc="-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17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5965" y="1106423"/>
            <a:ext cx="5758815" cy="231140"/>
          </a:xfrm>
          <a:custGeom>
            <a:avLst/>
            <a:gdLst/>
            <a:ahLst/>
            <a:cxnLst/>
            <a:rect l="l" t="t" r="r" b="b"/>
            <a:pathLst>
              <a:path w="5758815" h="231140">
                <a:moveTo>
                  <a:pt x="5758192" y="192913"/>
                </a:moveTo>
                <a:lnTo>
                  <a:pt x="5732792" y="180213"/>
                </a:lnTo>
                <a:lnTo>
                  <a:pt x="5681992" y="154813"/>
                </a:lnTo>
                <a:lnTo>
                  <a:pt x="5681954" y="177038"/>
                </a:lnTo>
                <a:lnTo>
                  <a:pt x="5681942" y="180213"/>
                </a:lnTo>
                <a:lnTo>
                  <a:pt x="294157" y="177038"/>
                </a:lnTo>
                <a:lnTo>
                  <a:pt x="294119" y="202438"/>
                </a:lnTo>
                <a:lnTo>
                  <a:pt x="5681904" y="205613"/>
                </a:lnTo>
                <a:lnTo>
                  <a:pt x="5681865" y="231013"/>
                </a:lnTo>
                <a:lnTo>
                  <a:pt x="5732742" y="205613"/>
                </a:lnTo>
                <a:lnTo>
                  <a:pt x="5758192" y="192913"/>
                </a:lnTo>
                <a:close/>
              </a:path>
              <a:path w="5758815" h="231140">
                <a:moveTo>
                  <a:pt x="5758446" y="38227"/>
                </a:moveTo>
                <a:lnTo>
                  <a:pt x="5732869" y="25400"/>
                </a:lnTo>
                <a:lnTo>
                  <a:pt x="5682246" y="0"/>
                </a:lnTo>
                <a:lnTo>
                  <a:pt x="5682196" y="25400"/>
                </a:lnTo>
                <a:lnTo>
                  <a:pt x="25" y="20066"/>
                </a:lnTo>
                <a:lnTo>
                  <a:pt x="0" y="45466"/>
                </a:lnTo>
                <a:lnTo>
                  <a:pt x="5682158" y="50800"/>
                </a:lnTo>
                <a:lnTo>
                  <a:pt x="5682119" y="76200"/>
                </a:lnTo>
                <a:lnTo>
                  <a:pt x="5733173" y="50800"/>
                </a:lnTo>
                <a:lnTo>
                  <a:pt x="5758446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43650" y="1073658"/>
            <a:ext cx="791210" cy="3352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5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85965" y="1509775"/>
            <a:ext cx="4697730" cy="219710"/>
          </a:xfrm>
          <a:custGeom>
            <a:avLst/>
            <a:gdLst/>
            <a:ahLst/>
            <a:cxnLst/>
            <a:rect l="l" t="t" r="r" b="b"/>
            <a:pathLst>
              <a:path w="4697730" h="219710">
                <a:moveTo>
                  <a:pt x="4697234" y="181102"/>
                </a:moveTo>
                <a:lnTo>
                  <a:pt x="4671834" y="168402"/>
                </a:lnTo>
                <a:lnTo>
                  <a:pt x="4621034" y="143002"/>
                </a:lnTo>
                <a:lnTo>
                  <a:pt x="4621034" y="168402"/>
                </a:lnTo>
                <a:lnTo>
                  <a:pt x="294144" y="168402"/>
                </a:lnTo>
                <a:lnTo>
                  <a:pt x="294144" y="193802"/>
                </a:lnTo>
                <a:lnTo>
                  <a:pt x="4621034" y="193802"/>
                </a:lnTo>
                <a:lnTo>
                  <a:pt x="4621034" y="219202"/>
                </a:lnTo>
                <a:lnTo>
                  <a:pt x="4671834" y="193802"/>
                </a:lnTo>
                <a:lnTo>
                  <a:pt x="4697234" y="181102"/>
                </a:lnTo>
                <a:close/>
              </a:path>
              <a:path w="4697730" h="219710">
                <a:moveTo>
                  <a:pt x="4697488" y="38100"/>
                </a:moveTo>
                <a:lnTo>
                  <a:pt x="4672088" y="25400"/>
                </a:lnTo>
                <a:lnTo>
                  <a:pt x="4621288" y="0"/>
                </a:lnTo>
                <a:lnTo>
                  <a:pt x="4621288" y="25400"/>
                </a:lnTo>
                <a:lnTo>
                  <a:pt x="25" y="22098"/>
                </a:lnTo>
                <a:lnTo>
                  <a:pt x="0" y="47498"/>
                </a:lnTo>
                <a:lnTo>
                  <a:pt x="4621288" y="50800"/>
                </a:lnTo>
                <a:lnTo>
                  <a:pt x="4621288" y="76200"/>
                </a:lnTo>
                <a:lnTo>
                  <a:pt x="4672088" y="50800"/>
                </a:lnTo>
                <a:lnTo>
                  <a:pt x="469748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282946" y="1483613"/>
            <a:ext cx="782320" cy="3067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280"/>
              </a:spcBef>
            </a:pP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5914" y="1834514"/>
            <a:ext cx="3027680" cy="233045"/>
          </a:xfrm>
          <a:custGeom>
            <a:avLst/>
            <a:gdLst/>
            <a:ahLst/>
            <a:cxnLst/>
            <a:rect l="l" t="t" r="r" b="b"/>
            <a:pathLst>
              <a:path w="3027679" h="233044">
                <a:moveTo>
                  <a:pt x="3019742" y="194691"/>
                </a:moveTo>
                <a:lnTo>
                  <a:pt x="2994533" y="182143"/>
                </a:lnTo>
                <a:lnTo>
                  <a:pt x="2943542" y="156718"/>
                </a:lnTo>
                <a:lnTo>
                  <a:pt x="2943580" y="182143"/>
                </a:lnTo>
                <a:lnTo>
                  <a:pt x="301802" y="184912"/>
                </a:lnTo>
                <a:lnTo>
                  <a:pt x="301828" y="210312"/>
                </a:lnTo>
                <a:lnTo>
                  <a:pt x="2943618" y="207543"/>
                </a:lnTo>
                <a:lnTo>
                  <a:pt x="2943669" y="232918"/>
                </a:lnTo>
                <a:lnTo>
                  <a:pt x="2994177" y="207543"/>
                </a:lnTo>
                <a:lnTo>
                  <a:pt x="3019742" y="194691"/>
                </a:lnTo>
                <a:close/>
              </a:path>
              <a:path w="3027679" h="233044">
                <a:moveTo>
                  <a:pt x="3027489" y="37719"/>
                </a:moveTo>
                <a:lnTo>
                  <a:pt x="3002419" y="25336"/>
                </a:lnTo>
                <a:lnTo>
                  <a:pt x="2951162" y="0"/>
                </a:lnTo>
                <a:lnTo>
                  <a:pt x="2951276" y="25336"/>
                </a:lnTo>
                <a:lnTo>
                  <a:pt x="0" y="39878"/>
                </a:lnTo>
                <a:lnTo>
                  <a:pt x="50" y="50736"/>
                </a:lnTo>
                <a:lnTo>
                  <a:pt x="127" y="65278"/>
                </a:lnTo>
                <a:lnTo>
                  <a:pt x="2951403" y="50736"/>
                </a:lnTo>
                <a:lnTo>
                  <a:pt x="2951340" y="37719"/>
                </a:lnTo>
                <a:lnTo>
                  <a:pt x="2951353" y="39878"/>
                </a:lnTo>
                <a:lnTo>
                  <a:pt x="2951403" y="50736"/>
                </a:lnTo>
                <a:lnTo>
                  <a:pt x="2951480" y="65278"/>
                </a:lnTo>
                <a:lnTo>
                  <a:pt x="2951543" y="76200"/>
                </a:lnTo>
                <a:lnTo>
                  <a:pt x="3001797" y="50736"/>
                </a:lnTo>
                <a:lnTo>
                  <a:pt x="3027489" y="37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612641" y="1808226"/>
            <a:ext cx="845819" cy="2971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75"/>
              </a:spcBef>
            </a:pPr>
            <a:r>
              <a:rPr sz="1400" b="1" spc="-25" dirty="0"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5977" y="2860801"/>
            <a:ext cx="3434079" cy="420370"/>
            <a:chOff x="585977" y="2860801"/>
            <a:chExt cx="3434079" cy="420370"/>
          </a:xfrm>
        </p:grpSpPr>
        <p:sp>
          <p:nvSpPr>
            <p:cNvPr id="41" name="object 41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1072896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1072896" y="394715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0" y="394715"/>
                  </a:moveTo>
                  <a:lnTo>
                    <a:pt x="1072896" y="394715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5978" y="2919221"/>
              <a:ext cx="2355215" cy="216535"/>
            </a:xfrm>
            <a:custGeom>
              <a:avLst/>
              <a:gdLst/>
              <a:ahLst/>
              <a:cxnLst/>
              <a:rect l="l" t="t" r="r" b="b"/>
              <a:pathLst>
                <a:path w="2355215" h="216535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5215" h="216535">
                  <a:moveTo>
                    <a:pt x="2355088" y="178308"/>
                  </a:moveTo>
                  <a:lnTo>
                    <a:pt x="2329688" y="165608"/>
                  </a:lnTo>
                  <a:lnTo>
                    <a:pt x="2278888" y="140208"/>
                  </a:lnTo>
                  <a:lnTo>
                    <a:pt x="2278888" y="165608"/>
                  </a:lnTo>
                  <a:lnTo>
                    <a:pt x="294132" y="165608"/>
                  </a:lnTo>
                  <a:lnTo>
                    <a:pt x="294132" y="191008"/>
                  </a:lnTo>
                  <a:lnTo>
                    <a:pt x="2278888" y="191008"/>
                  </a:lnTo>
                  <a:lnTo>
                    <a:pt x="2278888" y="216408"/>
                  </a:lnTo>
                  <a:lnTo>
                    <a:pt x="2329688" y="191008"/>
                  </a:lnTo>
                  <a:lnTo>
                    <a:pt x="2355088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82163" y="2947543"/>
            <a:ext cx="722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85939" y="2221483"/>
            <a:ext cx="2430145" cy="1035050"/>
          </a:xfrm>
          <a:custGeom>
            <a:avLst/>
            <a:gdLst/>
            <a:ahLst/>
            <a:cxnLst/>
            <a:rect l="l" t="t" r="r" b="b"/>
            <a:pathLst>
              <a:path w="2430145" h="1035050">
                <a:moveTo>
                  <a:pt x="2354745" y="996442"/>
                </a:moveTo>
                <a:lnTo>
                  <a:pt x="2329345" y="983742"/>
                </a:lnTo>
                <a:lnTo>
                  <a:pt x="2278545" y="958342"/>
                </a:lnTo>
                <a:lnTo>
                  <a:pt x="2278545" y="983742"/>
                </a:lnTo>
                <a:lnTo>
                  <a:pt x="1876082" y="983742"/>
                </a:lnTo>
                <a:lnTo>
                  <a:pt x="1876082" y="1009142"/>
                </a:lnTo>
                <a:lnTo>
                  <a:pt x="2278545" y="1009142"/>
                </a:lnTo>
                <a:lnTo>
                  <a:pt x="2278545" y="1034542"/>
                </a:lnTo>
                <a:lnTo>
                  <a:pt x="2329345" y="1009142"/>
                </a:lnTo>
                <a:lnTo>
                  <a:pt x="2354745" y="996442"/>
                </a:lnTo>
                <a:close/>
              </a:path>
              <a:path w="2430145" h="1035050">
                <a:moveTo>
                  <a:pt x="2413546" y="37846"/>
                </a:moveTo>
                <a:lnTo>
                  <a:pt x="2388260" y="25311"/>
                </a:lnTo>
                <a:lnTo>
                  <a:pt x="2337219" y="0"/>
                </a:lnTo>
                <a:lnTo>
                  <a:pt x="2337295" y="25311"/>
                </a:lnTo>
                <a:lnTo>
                  <a:pt x="0" y="32258"/>
                </a:lnTo>
                <a:lnTo>
                  <a:pt x="76" y="57658"/>
                </a:lnTo>
                <a:lnTo>
                  <a:pt x="2337384" y="50711"/>
                </a:lnTo>
                <a:lnTo>
                  <a:pt x="2337473" y="76200"/>
                </a:lnTo>
                <a:lnTo>
                  <a:pt x="2388019" y="50711"/>
                </a:lnTo>
                <a:lnTo>
                  <a:pt x="2413546" y="37846"/>
                </a:lnTo>
                <a:close/>
              </a:path>
              <a:path w="2430145" h="1035050">
                <a:moveTo>
                  <a:pt x="2429929" y="200914"/>
                </a:moveTo>
                <a:lnTo>
                  <a:pt x="2404732" y="188366"/>
                </a:lnTo>
                <a:lnTo>
                  <a:pt x="2353729" y="162941"/>
                </a:lnTo>
                <a:lnTo>
                  <a:pt x="2353767" y="188366"/>
                </a:lnTo>
                <a:lnTo>
                  <a:pt x="291096" y="191897"/>
                </a:lnTo>
                <a:lnTo>
                  <a:pt x="291147" y="217297"/>
                </a:lnTo>
                <a:lnTo>
                  <a:pt x="2353805" y="213766"/>
                </a:lnTo>
                <a:lnTo>
                  <a:pt x="2353856" y="239141"/>
                </a:lnTo>
                <a:lnTo>
                  <a:pt x="2404351" y="213766"/>
                </a:lnTo>
                <a:lnTo>
                  <a:pt x="2429929" y="20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998470" y="2180082"/>
            <a:ext cx="897890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585"/>
              </a:lnSpc>
            </a:pPr>
            <a:r>
              <a:rPr sz="1400" b="1" dirty="0">
                <a:latin typeface="Calibri"/>
                <a:cs typeface="Calibri"/>
              </a:rPr>
              <a:t>LEFT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29209">
              <a:lnSpc>
                <a:spcPts val="705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85978" y="3512057"/>
            <a:ext cx="2340610" cy="273050"/>
          </a:xfrm>
          <a:custGeom>
            <a:avLst/>
            <a:gdLst/>
            <a:ahLst/>
            <a:cxnLst/>
            <a:rect l="l" t="t" r="r" b="b"/>
            <a:pathLst>
              <a:path w="2340610" h="273050">
                <a:moveTo>
                  <a:pt x="2340229" y="234696"/>
                </a:moveTo>
                <a:lnTo>
                  <a:pt x="2314829" y="221996"/>
                </a:lnTo>
                <a:lnTo>
                  <a:pt x="2264029" y="196596"/>
                </a:lnTo>
                <a:lnTo>
                  <a:pt x="2264029" y="221996"/>
                </a:lnTo>
                <a:lnTo>
                  <a:pt x="294132" y="221996"/>
                </a:lnTo>
                <a:lnTo>
                  <a:pt x="294132" y="247396"/>
                </a:lnTo>
                <a:lnTo>
                  <a:pt x="2264029" y="247396"/>
                </a:lnTo>
                <a:lnTo>
                  <a:pt x="2264029" y="272796"/>
                </a:lnTo>
                <a:lnTo>
                  <a:pt x="2314829" y="247396"/>
                </a:lnTo>
                <a:lnTo>
                  <a:pt x="2340229" y="234696"/>
                </a:lnTo>
                <a:close/>
              </a:path>
              <a:path w="2340610" h="273050">
                <a:moveTo>
                  <a:pt x="2340483" y="38112"/>
                </a:moveTo>
                <a:lnTo>
                  <a:pt x="2315083" y="25412"/>
                </a:lnTo>
                <a:lnTo>
                  <a:pt x="2264283" y="0"/>
                </a:lnTo>
                <a:lnTo>
                  <a:pt x="2264283" y="25412"/>
                </a:lnTo>
                <a:lnTo>
                  <a:pt x="0" y="25412"/>
                </a:lnTo>
                <a:lnTo>
                  <a:pt x="0" y="50812"/>
                </a:lnTo>
                <a:lnTo>
                  <a:pt x="2264283" y="50812"/>
                </a:lnTo>
                <a:lnTo>
                  <a:pt x="2264283" y="76212"/>
                </a:lnTo>
                <a:lnTo>
                  <a:pt x="2315083" y="50812"/>
                </a:lnTo>
                <a:lnTo>
                  <a:pt x="2340483" y="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925317" y="3458717"/>
            <a:ext cx="977265" cy="4254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1400" b="1" spc="-25" dirty="0">
                <a:latin typeface="Calibri"/>
                <a:cs typeface="Calibri"/>
              </a:rPr>
              <a:t>MUL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2930" y="745998"/>
            <a:ext cx="8148955" cy="5608955"/>
          </a:xfrm>
          <a:custGeom>
            <a:avLst/>
            <a:gdLst/>
            <a:ahLst/>
            <a:cxnLst/>
            <a:rect l="l" t="t" r="r" b="b"/>
            <a:pathLst>
              <a:path w="8148955" h="5608955">
                <a:moveTo>
                  <a:pt x="4387596" y="2255519"/>
                </a:moveTo>
                <a:lnTo>
                  <a:pt x="4396105" y="2612643"/>
                </a:lnTo>
              </a:path>
              <a:path w="8148955" h="5608955">
                <a:moveTo>
                  <a:pt x="0" y="10667"/>
                </a:moveTo>
                <a:lnTo>
                  <a:pt x="0" y="5608929"/>
                </a:lnTo>
              </a:path>
              <a:path w="8148955" h="5608955">
                <a:moveTo>
                  <a:pt x="297192" y="0"/>
                </a:moveTo>
                <a:lnTo>
                  <a:pt x="265176" y="5598261"/>
                </a:lnTo>
              </a:path>
              <a:path w="8148955" h="5608955">
                <a:moveTo>
                  <a:pt x="8148955" y="204215"/>
                </a:moveTo>
                <a:lnTo>
                  <a:pt x="1868424" y="210185"/>
                </a:lnTo>
              </a:path>
              <a:path w="8148955" h="5608955">
                <a:moveTo>
                  <a:pt x="1879092" y="204215"/>
                </a:moveTo>
                <a:lnTo>
                  <a:pt x="1879092" y="247243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16839" y="470661"/>
            <a:ext cx="126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A[3:0]</a:t>
            </a:r>
            <a:r>
              <a:rPr sz="1800" b="1" spc="2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baseline="1543" dirty="0">
                <a:solidFill>
                  <a:srgbClr val="FF0000"/>
                </a:solidFill>
                <a:latin typeface="Calibri"/>
                <a:cs typeface="Calibri"/>
              </a:rPr>
              <a:t>B[3:0]</a:t>
            </a:r>
            <a:endParaRPr sz="2700" baseline="1543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27050" y="918717"/>
            <a:ext cx="8253095" cy="2852420"/>
            <a:chOff x="527050" y="918717"/>
            <a:chExt cx="8253095" cy="2852420"/>
          </a:xfrm>
        </p:grpSpPr>
        <p:sp>
          <p:nvSpPr>
            <p:cNvPr id="52" name="object 52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59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71" y="1851"/>
                  </a:lnTo>
                  <a:lnTo>
                    <a:pt x="14525" y="6905"/>
                  </a:lnTo>
                  <a:lnTo>
                    <a:pt x="3899" y="14412"/>
                  </a:lnTo>
                  <a:lnTo>
                    <a:pt x="0" y="23622"/>
                  </a:lnTo>
                  <a:lnTo>
                    <a:pt x="3899" y="32831"/>
                  </a:lnTo>
                  <a:lnTo>
                    <a:pt x="14525" y="40338"/>
                  </a:lnTo>
                  <a:lnTo>
                    <a:pt x="30271" y="45392"/>
                  </a:lnTo>
                  <a:lnTo>
                    <a:pt x="49530" y="47244"/>
                  </a:lnTo>
                  <a:lnTo>
                    <a:pt x="68788" y="45392"/>
                  </a:lnTo>
                  <a:lnTo>
                    <a:pt x="84534" y="40338"/>
                  </a:lnTo>
                  <a:lnTo>
                    <a:pt x="95160" y="32831"/>
                  </a:lnTo>
                  <a:lnTo>
                    <a:pt x="99060" y="23622"/>
                  </a:lnTo>
                  <a:lnTo>
                    <a:pt x="95160" y="14412"/>
                  </a:lnTo>
                  <a:lnTo>
                    <a:pt x="84534" y="6905"/>
                  </a:lnTo>
                  <a:lnTo>
                    <a:pt x="68788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9" y="14412"/>
                  </a:lnTo>
                  <a:lnTo>
                    <a:pt x="14525" y="6905"/>
                  </a:lnTo>
                  <a:lnTo>
                    <a:pt x="30271" y="1851"/>
                  </a:lnTo>
                  <a:lnTo>
                    <a:pt x="49530" y="0"/>
                  </a:lnTo>
                  <a:lnTo>
                    <a:pt x="68788" y="1851"/>
                  </a:lnTo>
                  <a:lnTo>
                    <a:pt x="84534" y="6905"/>
                  </a:lnTo>
                  <a:lnTo>
                    <a:pt x="95160" y="14412"/>
                  </a:lnTo>
                  <a:lnTo>
                    <a:pt x="99060" y="23622"/>
                  </a:lnTo>
                  <a:lnTo>
                    <a:pt x="95160" y="32831"/>
                  </a:lnTo>
                  <a:lnTo>
                    <a:pt x="84534" y="40338"/>
                  </a:lnTo>
                  <a:lnTo>
                    <a:pt x="68788" y="45392"/>
                  </a:lnTo>
                  <a:lnTo>
                    <a:pt x="49530" y="47244"/>
                  </a:lnTo>
                  <a:lnTo>
                    <a:pt x="30271" y="45392"/>
                  </a:lnTo>
                  <a:lnTo>
                    <a:pt x="14525" y="40338"/>
                  </a:lnTo>
                  <a:lnTo>
                    <a:pt x="3899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58633" y="1207769"/>
              <a:ext cx="286385" cy="2501265"/>
            </a:xfrm>
            <a:custGeom>
              <a:avLst/>
              <a:gdLst/>
              <a:ahLst/>
              <a:cxnLst/>
              <a:rect l="l" t="t" r="r" b="b"/>
              <a:pathLst>
                <a:path w="286384" h="2501265">
                  <a:moveTo>
                    <a:pt x="286131" y="0"/>
                  </a:moveTo>
                  <a:lnTo>
                    <a:pt x="117348" y="111632"/>
                  </a:lnTo>
                </a:path>
                <a:path w="286384" h="2501265">
                  <a:moveTo>
                    <a:pt x="286131" y="379475"/>
                  </a:moveTo>
                  <a:lnTo>
                    <a:pt x="117348" y="491108"/>
                  </a:lnTo>
                </a:path>
                <a:path w="286384" h="2501265">
                  <a:moveTo>
                    <a:pt x="232791" y="733043"/>
                  </a:moveTo>
                  <a:lnTo>
                    <a:pt x="64008" y="844676"/>
                  </a:lnTo>
                </a:path>
                <a:path w="286384" h="2501265">
                  <a:moveTo>
                    <a:pt x="209931" y="1088135"/>
                  </a:moveTo>
                  <a:lnTo>
                    <a:pt x="41148" y="1199768"/>
                  </a:lnTo>
                </a:path>
                <a:path w="286384" h="2501265">
                  <a:moveTo>
                    <a:pt x="240411" y="1386839"/>
                  </a:moveTo>
                  <a:lnTo>
                    <a:pt x="71627" y="1498472"/>
                  </a:lnTo>
                </a:path>
                <a:path w="286384" h="2501265">
                  <a:moveTo>
                    <a:pt x="182499" y="1743455"/>
                  </a:moveTo>
                  <a:lnTo>
                    <a:pt x="13716" y="1855089"/>
                  </a:lnTo>
                </a:path>
                <a:path w="286384" h="2501265">
                  <a:moveTo>
                    <a:pt x="168783" y="2084831"/>
                  </a:moveTo>
                  <a:lnTo>
                    <a:pt x="0" y="2196465"/>
                  </a:lnTo>
                </a:path>
                <a:path w="286384" h="2501265">
                  <a:moveTo>
                    <a:pt x="168783" y="2389631"/>
                  </a:moveTo>
                  <a:lnTo>
                    <a:pt x="0" y="2501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962020" y="3112770"/>
            <a:ext cx="1651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Cambria Math"/>
                <a:cs typeface="Cambria Math"/>
              </a:rPr>
              <a:t>𝑺𝒆𝒍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422260" y="1101202"/>
            <a:ext cx="269240" cy="28232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  <a:spcBef>
                <a:spcPts val="9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  <a:spcBef>
                <a:spcPts val="63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6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9672066" y="23111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9708006" y="23150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74970" y="108737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460238" y="932814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865370" y="12473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4907026" y="1240916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379214" y="1482089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418457" y="1495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702302" y="161163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733671" y="164109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219450" y="18158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254121" y="1817877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024377" y="197281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3074670" y="198831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186433" y="221665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1196746" y="206629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535430" y="290550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580769" y="291465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172717" y="30380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193088" y="30572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660398" y="3498341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1673479" y="336054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294638" y="369036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349755" y="371868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92251" y="3344926"/>
            <a:ext cx="315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A[1:0]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05967" y="355955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39267" y="464058"/>
            <a:ext cx="7625080" cy="2422525"/>
            <a:chOff x="639267" y="464058"/>
            <a:chExt cx="7625080" cy="2422525"/>
          </a:xfrm>
        </p:grpSpPr>
        <p:sp>
          <p:nvSpPr>
            <p:cNvPr id="106" name="object 106"/>
            <p:cNvSpPr/>
            <p:nvPr/>
          </p:nvSpPr>
          <p:spPr>
            <a:xfrm>
              <a:off x="821436" y="464057"/>
              <a:ext cx="7442834" cy="1982470"/>
            </a:xfrm>
            <a:custGeom>
              <a:avLst/>
              <a:gdLst/>
              <a:ahLst/>
              <a:cxnLst/>
              <a:rect l="l" t="t" r="r" b="b"/>
              <a:pathLst>
                <a:path w="7442834" h="1982470">
                  <a:moveTo>
                    <a:pt x="99060" y="1958340"/>
                  </a:moveTo>
                  <a:lnTo>
                    <a:pt x="95161" y="1949132"/>
                  </a:lnTo>
                  <a:lnTo>
                    <a:pt x="84543" y="1941626"/>
                  </a:lnTo>
                  <a:lnTo>
                    <a:pt x="68808" y="1936572"/>
                  </a:lnTo>
                  <a:lnTo>
                    <a:pt x="49530" y="1934718"/>
                  </a:lnTo>
                  <a:lnTo>
                    <a:pt x="30238" y="1936572"/>
                  </a:lnTo>
                  <a:lnTo>
                    <a:pt x="14503" y="1941626"/>
                  </a:lnTo>
                  <a:lnTo>
                    <a:pt x="3886" y="1949132"/>
                  </a:lnTo>
                  <a:lnTo>
                    <a:pt x="0" y="1958340"/>
                  </a:lnTo>
                  <a:lnTo>
                    <a:pt x="3886" y="1967560"/>
                  </a:lnTo>
                  <a:lnTo>
                    <a:pt x="14503" y="1975065"/>
                  </a:lnTo>
                  <a:lnTo>
                    <a:pt x="30238" y="1980120"/>
                  </a:lnTo>
                  <a:lnTo>
                    <a:pt x="49530" y="1981962"/>
                  </a:lnTo>
                  <a:lnTo>
                    <a:pt x="68808" y="1980120"/>
                  </a:lnTo>
                  <a:lnTo>
                    <a:pt x="84543" y="1975065"/>
                  </a:lnTo>
                  <a:lnTo>
                    <a:pt x="95161" y="1967560"/>
                  </a:lnTo>
                  <a:lnTo>
                    <a:pt x="99060" y="1958340"/>
                  </a:lnTo>
                  <a:close/>
                </a:path>
                <a:path w="7442834" h="1982470">
                  <a:moveTo>
                    <a:pt x="7442454" y="541655"/>
                  </a:moveTo>
                  <a:lnTo>
                    <a:pt x="7417054" y="541655"/>
                  </a:lnTo>
                  <a:lnTo>
                    <a:pt x="7417054" y="0"/>
                  </a:lnTo>
                  <a:lnTo>
                    <a:pt x="7391654" y="0"/>
                  </a:lnTo>
                  <a:lnTo>
                    <a:pt x="7391654" y="541655"/>
                  </a:lnTo>
                  <a:lnTo>
                    <a:pt x="7366254" y="541655"/>
                  </a:lnTo>
                  <a:lnTo>
                    <a:pt x="7404354" y="617855"/>
                  </a:lnTo>
                  <a:lnTo>
                    <a:pt x="7436104" y="554355"/>
                  </a:lnTo>
                  <a:lnTo>
                    <a:pt x="7442454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1435" y="23987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986027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986027" y="321563"/>
                  </a:lnTo>
                  <a:lnTo>
                    <a:pt x="9860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0" y="321563"/>
                  </a:moveTo>
                  <a:lnTo>
                    <a:pt x="986027" y="321563"/>
                  </a:lnTo>
                  <a:lnTo>
                    <a:pt x="986027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39267" y="2620517"/>
              <a:ext cx="3422650" cy="197485"/>
            </a:xfrm>
            <a:custGeom>
              <a:avLst/>
              <a:gdLst/>
              <a:ahLst/>
              <a:cxnLst/>
              <a:rect l="l" t="t" r="r" b="b"/>
              <a:pathLst>
                <a:path w="3422650" h="197485">
                  <a:moveTo>
                    <a:pt x="3421684" y="38354"/>
                  </a:moveTo>
                  <a:lnTo>
                    <a:pt x="3395980" y="25400"/>
                  </a:lnTo>
                  <a:lnTo>
                    <a:pt x="3345611" y="0"/>
                  </a:lnTo>
                  <a:lnTo>
                    <a:pt x="3345561" y="11684"/>
                  </a:lnTo>
                  <a:lnTo>
                    <a:pt x="3345510" y="25349"/>
                  </a:lnTo>
                  <a:lnTo>
                    <a:pt x="101" y="11684"/>
                  </a:lnTo>
                  <a:lnTo>
                    <a:pt x="0" y="37084"/>
                  </a:lnTo>
                  <a:lnTo>
                    <a:pt x="3345434" y="50749"/>
                  </a:lnTo>
                  <a:lnTo>
                    <a:pt x="3358172" y="50800"/>
                  </a:lnTo>
                  <a:lnTo>
                    <a:pt x="3345434" y="50800"/>
                  </a:lnTo>
                  <a:lnTo>
                    <a:pt x="3345357" y="76200"/>
                  </a:lnTo>
                  <a:lnTo>
                    <a:pt x="3396577" y="50800"/>
                  </a:lnTo>
                  <a:lnTo>
                    <a:pt x="3421684" y="38354"/>
                  </a:lnTo>
                  <a:close/>
                </a:path>
                <a:path w="3422650" h="197485">
                  <a:moveTo>
                    <a:pt x="3422319" y="159004"/>
                  </a:moveTo>
                  <a:lnTo>
                    <a:pt x="3396742" y="146177"/>
                  </a:lnTo>
                  <a:lnTo>
                    <a:pt x="3346119" y="120777"/>
                  </a:lnTo>
                  <a:lnTo>
                    <a:pt x="3346119" y="146164"/>
                  </a:lnTo>
                  <a:lnTo>
                    <a:pt x="288099" y="142748"/>
                  </a:lnTo>
                  <a:lnTo>
                    <a:pt x="288074" y="168148"/>
                  </a:lnTo>
                  <a:lnTo>
                    <a:pt x="3346119" y="171564"/>
                  </a:lnTo>
                  <a:lnTo>
                    <a:pt x="3346119" y="196977"/>
                  </a:lnTo>
                  <a:lnTo>
                    <a:pt x="3397085" y="171577"/>
                  </a:lnTo>
                  <a:lnTo>
                    <a:pt x="3422319" y="159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4040632" y="2532329"/>
            <a:ext cx="981710" cy="323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>
              <a:lnSpc>
                <a:spcPts val="165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RIGHT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36830">
              <a:lnSpc>
                <a:spcPts val="690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533145" y="2613405"/>
            <a:ext cx="400050" cy="1677035"/>
            <a:chOff x="533145" y="2613405"/>
            <a:chExt cx="400050" cy="1677035"/>
          </a:xfrm>
        </p:grpSpPr>
        <p:sp>
          <p:nvSpPr>
            <p:cNvPr id="113" name="object 113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8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8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4546853" y="4403597"/>
            <a:ext cx="1336675" cy="3949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67970">
              <a:lnSpc>
                <a:spcPts val="1395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RIGHT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40005">
              <a:lnSpc>
                <a:spcPts val="1215"/>
              </a:lnSpc>
            </a:pPr>
            <a:r>
              <a:rPr sz="1050" b="1" spc="-10" dirty="0">
                <a:latin typeface="Calibri"/>
                <a:cs typeface="Calibri"/>
              </a:rPr>
              <a:t>S[1:0]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874258" y="4419853"/>
            <a:ext cx="2177415" cy="137160"/>
            <a:chOff x="5874258" y="4419853"/>
            <a:chExt cx="2177415" cy="137160"/>
          </a:xfrm>
        </p:grpSpPr>
        <p:sp>
          <p:nvSpPr>
            <p:cNvPr id="121" name="object 121"/>
            <p:cNvSpPr/>
            <p:nvPr/>
          </p:nvSpPr>
          <p:spPr>
            <a:xfrm>
              <a:off x="5874258" y="4448936"/>
              <a:ext cx="2177415" cy="76200"/>
            </a:xfrm>
            <a:custGeom>
              <a:avLst/>
              <a:gdLst/>
              <a:ahLst/>
              <a:cxnLst/>
              <a:rect l="l" t="t" r="r" b="b"/>
              <a:pathLst>
                <a:path w="2177415" h="76200">
                  <a:moveTo>
                    <a:pt x="2100834" y="0"/>
                  </a:moveTo>
                  <a:lnTo>
                    <a:pt x="2100768" y="19685"/>
                  </a:lnTo>
                  <a:lnTo>
                    <a:pt x="2100706" y="38354"/>
                  </a:lnTo>
                  <a:lnTo>
                    <a:pt x="2100580" y="76200"/>
                  </a:lnTo>
                  <a:lnTo>
                    <a:pt x="2151806" y="50800"/>
                  </a:lnTo>
                  <a:lnTo>
                    <a:pt x="2113280" y="50800"/>
                  </a:lnTo>
                  <a:lnTo>
                    <a:pt x="2113407" y="25400"/>
                  </a:lnTo>
                  <a:lnTo>
                    <a:pt x="2151213" y="25400"/>
                  </a:lnTo>
                  <a:lnTo>
                    <a:pt x="2100834" y="0"/>
                  </a:lnTo>
                  <a:close/>
                </a:path>
                <a:path w="2177415" h="76200">
                  <a:moveTo>
                    <a:pt x="0" y="19685"/>
                  </a:moveTo>
                  <a:lnTo>
                    <a:pt x="0" y="45085"/>
                  </a:lnTo>
                  <a:lnTo>
                    <a:pt x="2113279" y="50800"/>
                  </a:lnTo>
                  <a:lnTo>
                    <a:pt x="2100664" y="50800"/>
                  </a:lnTo>
                  <a:lnTo>
                    <a:pt x="2100749" y="25400"/>
                  </a:lnTo>
                  <a:lnTo>
                    <a:pt x="2113407" y="25400"/>
                  </a:lnTo>
                  <a:lnTo>
                    <a:pt x="0" y="19685"/>
                  </a:lnTo>
                  <a:close/>
                </a:path>
                <a:path w="2177415" h="76200">
                  <a:moveTo>
                    <a:pt x="2151213" y="25400"/>
                  </a:moveTo>
                  <a:lnTo>
                    <a:pt x="2113407" y="25400"/>
                  </a:lnTo>
                  <a:lnTo>
                    <a:pt x="2113280" y="50800"/>
                  </a:lnTo>
                  <a:lnTo>
                    <a:pt x="2151806" y="50800"/>
                  </a:lnTo>
                  <a:lnTo>
                    <a:pt x="2176907" y="38354"/>
                  </a:lnTo>
                  <a:lnTo>
                    <a:pt x="215121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400038" y="4432553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435090" y="44325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37718" y="4458461"/>
            <a:ext cx="7495540" cy="1516380"/>
            <a:chOff x="537718" y="4458461"/>
            <a:chExt cx="7495540" cy="1516380"/>
          </a:xfrm>
        </p:grpSpPr>
        <p:sp>
          <p:nvSpPr>
            <p:cNvPr id="125" name="object 125"/>
            <p:cNvSpPr/>
            <p:nvPr/>
          </p:nvSpPr>
          <p:spPr>
            <a:xfrm>
              <a:off x="544068" y="4458461"/>
              <a:ext cx="4004310" cy="291465"/>
            </a:xfrm>
            <a:custGeom>
              <a:avLst/>
              <a:gdLst/>
              <a:ahLst/>
              <a:cxnLst/>
              <a:rect l="l" t="t" r="r" b="b"/>
              <a:pathLst>
                <a:path w="4004310" h="291464">
                  <a:moveTo>
                    <a:pt x="3990975" y="38100"/>
                  </a:moveTo>
                  <a:lnTo>
                    <a:pt x="3965575" y="25400"/>
                  </a:lnTo>
                  <a:lnTo>
                    <a:pt x="3914775" y="0"/>
                  </a:lnTo>
                  <a:lnTo>
                    <a:pt x="3914775" y="25400"/>
                  </a:lnTo>
                  <a:lnTo>
                    <a:pt x="86106" y="25400"/>
                  </a:lnTo>
                  <a:lnTo>
                    <a:pt x="86106" y="27063"/>
                  </a:lnTo>
                  <a:lnTo>
                    <a:pt x="84543" y="25958"/>
                  </a:lnTo>
                  <a:lnTo>
                    <a:pt x="68808" y="20904"/>
                  </a:lnTo>
                  <a:lnTo>
                    <a:pt x="49530" y="19050"/>
                  </a:lnTo>
                  <a:lnTo>
                    <a:pt x="30238" y="20904"/>
                  </a:lnTo>
                  <a:lnTo>
                    <a:pt x="14503" y="25958"/>
                  </a:lnTo>
                  <a:lnTo>
                    <a:pt x="3886" y="33464"/>
                  </a:lnTo>
                  <a:lnTo>
                    <a:pt x="0" y="42672"/>
                  </a:lnTo>
                  <a:lnTo>
                    <a:pt x="3886" y="51892"/>
                  </a:lnTo>
                  <a:lnTo>
                    <a:pt x="14503" y="59397"/>
                  </a:lnTo>
                  <a:lnTo>
                    <a:pt x="30238" y="64452"/>
                  </a:lnTo>
                  <a:lnTo>
                    <a:pt x="49530" y="66294"/>
                  </a:lnTo>
                  <a:lnTo>
                    <a:pt x="68808" y="64452"/>
                  </a:lnTo>
                  <a:lnTo>
                    <a:pt x="84543" y="59397"/>
                  </a:lnTo>
                  <a:lnTo>
                    <a:pt x="95161" y="51892"/>
                  </a:lnTo>
                  <a:lnTo>
                    <a:pt x="95618" y="50800"/>
                  </a:lnTo>
                  <a:lnTo>
                    <a:pt x="3914775" y="50800"/>
                  </a:lnTo>
                  <a:lnTo>
                    <a:pt x="3914775" y="76200"/>
                  </a:lnTo>
                  <a:lnTo>
                    <a:pt x="3965575" y="50800"/>
                  </a:lnTo>
                  <a:lnTo>
                    <a:pt x="3990975" y="38100"/>
                  </a:lnTo>
                  <a:close/>
                </a:path>
                <a:path w="4004310" h="291464">
                  <a:moveTo>
                    <a:pt x="4004183" y="252984"/>
                  </a:moveTo>
                  <a:lnTo>
                    <a:pt x="3979164" y="240588"/>
                  </a:lnTo>
                  <a:lnTo>
                    <a:pt x="3927856" y="215138"/>
                  </a:lnTo>
                  <a:lnTo>
                    <a:pt x="3927932" y="240588"/>
                  </a:lnTo>
                  <a:lnTo>
                    <a:pt x="331431" y="252095"/>
                  </a:lnTo>
                  <a:lnTo>
                    <a:pt x="331508" y="277495"/>
                  </a:lnTo>
                  <a:lnTo>
                    <a:pt x="3928021" y="265988"/>
                  </a:lnTo>
                  <a:lnTo>
                    <a:pt x="3928110" y="291338"/>
                  </a:lnTo>
                  <a:lnTo>
                    <a:pt x="3978402" y="265988"/>
                  </a:lnTo>
                  <a:lnTo>
                    <a:pt x="4004183" y="252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44068" y="44775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897629" y="5690095"/>
              <a:ext cx="4135120" cy="76200"/>
            </a:xfrm>
            <a:custGeom>
              <a:avLst/>
              <a:gdLst/>
              <a:ahLst/>
              <a:cxnLst/>
              <a:rect l="l" t="t" r="r" b="b"/>
              <a:pathLst>
                <a:path w="4135120" h="76200">
                  <a:moveTo>
                    <a:pt x="4058793" y="0"/>
                  </a:moveTo>
                  <a:lnTo>
                    <a:pt x="4058877" y="25403"/>
                  </a:lnTo>
                  <a:lnTo>
                    <a:pt x="4058921" y="38557"/>
                  </a:lnTo>
                  <a:lnTo>
                    <a:pt x="4059047" y="76200"/>
                  </a:lnTo>
                  <a:lnTo>
                    <a:pt x="4109436" y="50803"/>
                  </a:lnTo>
                  <a:lnTo>
                    <a:pt x="4071747" y="50803"/>
                  </a:lnTo>
                  <a:lnTo>
                    <a:pt x="4071682" y="37858"/>
                  </a:lnTo>
                  <a:lnTo>
                    <a:pt x="4071620" y="25403"/>
                  </a:lnTo>
                  <a:lnTo>
                    <a:pt x="4110008" y="25403"/>
                  </a:lnTo>
                  <a:lnTo>
                    <a:pt x="4058793" y="0"/>
                  </a:lnTo>
                  <a:close/>
                </a:path>
                <a:path w="4135120" h="76200">
                  <a:moveTo>
                    <a:pt x="4058877" y="25403"/>
                  </a:moveTo>
                  <a:lnTo>
                    <a:pt x="0" y="38557"/>
                  </a:lnTo>
                  <a:lnTo>
                    <a:pt x="0" y="63957"/>
                  </a:lnTo>
                  <a:lnTo>
                    <a:pt x="4058962" y="50803"/>
                  </a:lnTo>
                  <a:lnTo>
                    <a:pt x="4058877" y="25403"/>
                  </a:lnTo>
                  <a:close/>
                </a:path>
                <a:path w="4135120" h="76200">
                  <a:moveTo>
                    <a:pt x="4110008" y="25403"/>
                  </a:moveTo>
                  <a:lnTo>
                    <a:pt x="4071620" y="25403"/>
                  </a:lnTo>
                  <a:lnTo>
                    <a:pt x="4071682" y="37858"/>
                  </a:lnTo>
                  <a:lnTo>
                    <a:pt x="4071747" y="50803"/>
                  </a:lnTo>
                  <a:lnTo>
                    <a:pt x="4109436" y="50803"/>
                  </a:lnTo>
                  <a:lnTo>
                    <a:pt x="4135120" y="37858"/>
                  </a:lnTo>
                  <a:lnTo>
                    <a:pt x="4110008" y="25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82930" y="5702045"/>
              <a:ext cx="2340610" cy="273050"/>
            </a:xfrm>
            <a:custGeom>
              <a:avLst/>
              <a:gdLst/>
              <a:ahLst/>
              <a:cxnLst/>
              <a:rect l="l" t="t" r="r" b="b"/>
              <a:pathLst>
                <a:path w="2340610" h="273050">
                  <a:moveTo>
                    <a:pt x="2340229" y="234696"/>
                  </a:moveTo>
                  <a:lnTo>
                    <a:pt x="2314829" y="221996"/>
                  </a:lnTo>
                  <a:lnTo>
                    <a:pt x="2264029" y="196596"/>
                  </a:lnTo>
                  <a:lnTo>
                    <a:pt x="2264029" y="221996"/>
                  </a:lnTo>
                  <a:lnTo>
                    <a:pt x="294132" y="221996"/>
                  </a:lnTo>
                  <a:lnTo>
                    <a:pt x="294132" y="247396"/>
                  </a:lnTo>
                  <a:lnTo>
                    <a:pt x="2264029" y="247396"/>
                  </a:lnTo>
                  <a:lnTo>
                    <a:pt x="2264029" y="272796"/>
                  </a:lnTo>
                  <a:lnTo>
                    <a:pt x="2314829" y="247396"/>
                  </a:lnTo>
                  <a:lnTo>
                    <a:pt x="2340229" y="234696"/>
                  </a:lnTo>
                  <a:close/>
                </a:path>
                <a:path w="2340610" h="273050">
                  <a:moveTo>
                    <a:pt x="2340483" y="38100"/>
                  </a:moveTo>
                  <a:lnTo>
                    <a:pt x="2315083" y="25400"/>
                  </a:lnTo>
                  <a:lnTo>
                    <a:pt x="2264283" y="0"/>
                  </a:lnTo>
                  <a:lnTo>
                    <a:pt x="2264283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64283" y="50800"/>
                  </a:lnTo>
                  <a:lnTo>
                    <a:pt x="2264283" y="76200"/>
                  </a:lnTo>
                  <a:lnTo>
                    <a:pt x="2315083" y="50800"/>
                  </a:lnTo>
                  <a:lnTo>
                    <a:pt x="23404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411986" y="5695289"/>
            <a:ext cx="106045" cy="42608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2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533145" y="4643882"/>
            <a:ext cx="3404235" cy="1381125"/>
            <a:chOff x="533145" y="4643882"/>
            <a:chExt cx="3404235" cy="1381125"/>
          </a:xfrm>
        </p:grpSpPr>
        <p:sp>
          <p:nvSpPr>
            <p:cNvPr id="133" name="object 133"/>
            <p:cNvSpPr/>
            <p:nvPr/>
          </p:nvSpPr>
          <p:spPr>
            <a:xfrm>
              <a:off x="1376934" y="5689854"/>
              <a:ext cx="176530" cy="322580"/>
            </a:xfrm>
            <a:custGeom>
              <a:avLst/>
              <a:gdLst/>
              <a:ahLst/>
              <a:cxnLst/>
              <a:rect l="l" t="t" r="r" b="b"/>
              <a:pathLst>
                <a:path w="176530" h="322579">
                  <a:moveTo>
                    <a:pt x="176403" y="0"/>
                  </a:moveTo>
                  <a:lnTo>
                    <a:pt x="7619" y="111645"/>
                  </a:lnTo>
                </a:path>
                <a:path w="176530" h="322579">
                  <a:moveTo>
                    <a:pt x="168782" y="210312"/>
                  </a:moveTo>
                  <a:lnTo>
                    <a:pt x="0" y="3219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755897" y="4656582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2923794" y="5671565"/>
            <a:ext cx="975360" cy="33401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240"/>
              </a:spcBef>
            </a:pPr>
            <a:r>
              <a:rPr sz="1400" b="1" spc="-25" dirty="0">
                <a:latin typeface="Calibri"/>
                <a:cs typeface="Calibri"/>
              </a:rPr>
              <a:t>DIV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813809" y="4678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3016757" y="39524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3084957" y="397530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2978657" y="443865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3014598" y="44574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976873" y="56672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4903978" y="2957829"/>
            <a:ext cx="2114550" cy="2842895"/>
            <a:chOff x="4903978" y="2957829"/>
            <a:chExt cx="2114550" cy="2842895"/>
          </a:xfrm>
        </p:grpSpPr>
        <p:sp>
          <p:nvSpPr>
            <p:cNvPr id="147" name="object 147"/>
            <p:cNvSpPr/>
            <p:nvPr/>
          </p:nvSpPr>
          <p:spPr>
            <a:xfrm>
              <a:off x="5939790" y="3362705"/>
              <a:ext cx="1020444" cy="2425700"/>
            </a:xfrm>
            <a:custGeom>
              <a:avLst/>
              <a:gdLst/>
              <a:ahLst/>
              <a:cxnLst/>
              <a:rect l="l" t="t" r="r" b="b"/>
              <a:pathLst>
                <a:path w="1020445" h="2425700">
                  <a:moveTo>
                    <a:pt x="168783" y="2313432"/>
                  </a:moveTo>
                  <a:lnTo>
                    <a:pt x="0" y="2425077"/>
                  </a:lnTo>
                </a:path>
                <a:path w="1020445" h="2425700">
                  <a:moveTo>
                    <a:pt x="1004315" y="0"/>
                  </a:moveTo>
                  <a:lnTo>
                    <a:pt x="1019937" y="20002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03978" y="2957829"/>
              <a:ext cx="137668" cy="10718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77558" y="3305301"/>
              <a:ext cx="140716" cy="101092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7032117" y="5097526"/>
            <a:ext cx="820419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CMP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(SUB)</a:t>
            </a:r>
            <a:endParaRPr sz="1400">
              <a:latin typeface="Calibri"/>
              <a:cs typeface="Calibri"/>
            </a:endParaRPr>
          </a:p>
          <a:p>
            <a:pPr marL="151130">
              <a:lnSpc>
                <a:spcPts val="2060"/>
              </a:lnSpc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2636011" y="23976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2526029" y="2355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2081529" y="273837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2020061" y="271348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 txBox="1"/>
          <p:nvPr/>
        </p:nvSpPr>
        <p:spPr>
          <a:xfrm>
            <a:off x="1842897" y="246900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824482" y="2591054"/>
            <a:ext cx="8244205" cy="626745"/>
            <a:chOff x="1824482" y="2591054"/>
            <a:chExt cx="8244205" cy="626745"/>
          </a:xfrm>
        </p:grpSpPr>
        <p:sp>
          <p:nvSpPr>
            <p:cNvPr id="157" name="object 157"/>
            <p:cNvSpPr/>
            <p:nvPr/>
          </p:nvSpPr>
          <p:spPr>
            <a:xfrm>
              <a:off x="1837182" y="26037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998214" y="3141218"/>
              <a:ext cx="6070600" cy="76200"/>
            </a:xfrm>
            <a:custGeom>
              <a:avLst/>
              <a:gdLst/>
              <a:ahLst/>
              <a:cxnLst/>
              <a:rect l="l" t="t" r="r" b="b"/>
              <a:pathLst>
                <a:path w="6070600" h="76200">
                  <a:moveTo>
                    <a:pt x="5994400" y="0"/>
                  </a:moveTo>
                  <a:lnTo>
                    <a:pt x="5994379" y="6096"/>
                  </a:lnTo>
                  <a:lnTo>
                    <a:pt x="5994272" y="38354"/>
                  </a:lnTo>
                  <a:lnTo>
                    <a:pt x="5994145" y="76200"/>
                  </a:lnTo>
                  <a:lnTo>
                    <a:pt x="6045372" y="50800"/>
                  </a:lnTo>
                  <a:lnTo>
                    <a:pt x="6006845" y="50800"/>
                  </a:lnTo>
                  <a:lnTo>
                    <a:pt x="6006972" y="25400"/>
                  </a:lnTo>
                  <a:lnTo>
                    <a:pt x="6044779" y="25400"/>
                  </a:lnTo>
                  <a:lnTo>
                    <a:pt x="5994400" y="0"/>
                  </a:lnTo>
                  <a:close/>
                </a:path>
                <a:path w="6070600" h="76200">
                  <a:moveTo>
                    <a:pt x="0" y="6096"/>
                  </a:moveTo>
                  <a:lnTo>
                    <a:pt x="0" y="31496"/>
                  </a:lnTo>
                  <a:lnTo>
                    <a:pt x="6006845" y="50800"/>
                  </a:lnTo>
                  <a:lnTo>
                    <a:pt x="5994230" y="50800"/>
                  </a:lnTo>
                  <a:lnTo>
                    <a:pt x="5994315" y="25400"/>
                  </a:lnTo>
                  <a:lnTo>
                    <a:pt x="6006973" y="25400"/>
                  </a:lnTo>
                  <a:lnTo>
                    <a:pt x="0" y="6096"/>
                  </a:lnTo>
                  <a:close/>
                </a:path>
                <a:path w="6070600" h="76200">
                  <a:moveTo>
                    <a:pt x="6044779" y="25400"/>
                  </a:moveTo>
                  <a:lnTo>
                    <a:pt x="6006972" y="25400"/>
                  </a:lnTo>
                  <a:lnTo>
                    <a:pt x="6006845" y="50800"/>
                  </a:lnTo>
                  <a:lnTo>
                    <a:pt x="6045372" y="50800"/>
                  </a:lnTo>
                  <a:lnTo>
                    <a:pt x="6070472" y="38354"/>
                  </a:lnTo>
                  <a:lnTo>
                    <a:pt x="604477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917244" y="275272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928522" y="239890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905967" y="423405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912367" y="4696714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899661" y="3081020"/>
            <a:ext cx="673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50" dirty="0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9684257" y="3117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9742678" y="31224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9915397" y="2351785"/>
            <a:ext cx="140335" cy="517525"/>
            <a:chOff x="9915397" y="2351785"/>
            <a:chExt cx="140335" cy="517525"/>
          </a:xfrm>
        </p:grpSpPr>
        <p:sp>
          <p:nvSpPr>
            <p:cNvPr id="167" name="object 167"/>
            <p:cNvSpPr/>
            <p:nvPr/>
          </p:nvSpPr>
          <p:spPr>
            <a:xfrm>
              <a:off x="9928097" y="2364485"/>
              <a:ext cx="1270" cy="477520"/>
            </a:xfrm>
            <a:custGeom>
              <a:avLst/>
              <a:gdLst/>
              <a:ahLst/>
              <a:cxnLst/>
              <a:rect l="l" t="t" r="r" b="b"/>
              <a:pathLst>
                <a:path w="1270" h="477519">
                  <a:moveTo>
                    <a:pt x="0" y="0"/>
                  </a:moveTo>
                  <a:lnTo>
                    <a:pt x="1016" y="477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18953" y="2792729"/>
              <a:ext cx="136651" cy="76200"/>
            </a:xfrm>
            <a:prstGeom prst="rect">
              <a:avLst/>
            </a:prstGeom>
          </p:spPr>
        </p:pic>
      </p:grpSp>
      <p:sp>
        <p:nvSpPr>
          <p:cNvPr id="169" name="object 169"/>
          <p:cNvSpPr txBox="1"/>
          <p:nvPr/>
        </p:nvSpPr>
        <p:spPr>
          <a:xfrm>
            <a:off x="9773157" y="3807333"/>
            <a:ext cx="2105660" cy="212788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80975" marR="224790" algn="ctr">
              <a:lnSpc>
                <a:spcPts val="2160"/>
              </a:lnSpc>
              <a:spcBef>
                <a:spcPts val="375"/>
              </a:spcBef>
            </a:pPr>
            <a:r>
              <a:rPr sz="2000" b="1" dirty="0">
                <a:latin typeface="Calibri"/>
                <a:cs typeface="Calibri"/>
              </a:rPr>
              <a:t>How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about</a:t>
            </a:r>
            <a:r>
              <a:rPr sz="2000" b="1" spc="-20" dirty="0">
                <a:latin typeface="Calibri"/>
                <a:cs typeface="Calibri"/>
              </a:rPr>
              <a:t> Zero </a:t>
            </a:r>
            <a:r>
              <a:rPr sz="2000" b="1" spc="-10" dirty="0">
                <a:latin typeface="Calibri"/>
                <a:cs typeface="Calibri"/>
              </a:rPr>
              <a:t>Flag?</a:t>
            </a:r>
            <a:endParaRPr sz="2000">
              <a:latin typeface="Calibri"/>
              <a:cs typeface="Calibri"/>
            </a:endParaRPr>
          </a:p>
          <a:p>
            <a:pPr marL="12700" marR="5080" indent="1905" algn="ctr">
              <a:lnSpc>
                <a:spcPct val="90000"/>
              </a:lnSpc>
              <a:spcBef>
                <a:spcPts val="1150"/>
              </a:spcBef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 is </a:t>
            </a:r>
            <a:r>
              <a:rPr sz="2000" dirty="0">
                <a:latin typeface="Calibri"/>
                <a:cs typeface="Calibri"/>
              </a:rPr>
              <a:t>NORed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together,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Zero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Flag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value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all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bits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0.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24077" y="1169607"/>
            <a:ext cx="11083290" cy="3115945"/>
            <a:chOff x="624077" y="1169607"/>
            <a:chExt cx="11083290" cy="3115945"/>
          </a:xfrm>
        </p:grpSpPr>
        <p:pic>
          <p:nvPicPr>
            <p:cNvPr id="3" name="object 3" descr="Image result for Or ga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33896" y="1169607"/>
              <a:ext cx="1373471" cy="111217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24078" y="3969257"/>
              <a:ext cx="3918585" cy="316230"/>
            </a:xfrm>
            <a:custGeom>
              <a:avLst/>
              <a:gdLst/>
              <a:ahLst/>
              <a:cxnLst/>
              <a:rect l="l" t="t" r="r" b="b"/>
              <a:pathLst>
                <a:path w="3918585" h="316229">
                  <a:moveTo>
                    <a:pt x="3904869" y="38100"/>
                  </a:moveTo>
                  <a:lnTo>
                    <a:pt x="3879469" y="25400"/>
                  </a:lnTo>
                  <a:lnTo>
                    <a:pt x="3828669" y="0"/>
                  </a:lnTo>
                  <a:lnTo>
                    <a:pt x="3828669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3828669" y="50800"/>
                  </a:lnTo>
                  <a:lnTo>
                    <a:pt x="3828669" y="76200"/>
                  </a:lnTo>
                  <a:lnTo>
                    <a:pt x="3879469" y="50800"/>
                  </a:lnTo>
                  <a:lnTo>
                    <a:pt x="3904869" y="38100"/>
                  </a:lnTo>
                  <a:close/>
                </a:path>
                <a:path w="3918585" h="316229">
                  <a:moveTo>
                    <a:pt x="3918077" y="277368"/>
                  </a:moveTo>
                  <a:lnTo>
                    <a:pt x="3893058" y="264972"/>
                  </a:lnTo>
                  <a:lnTo>
                    <a:pt x="3841750" y="239522"/>
                  </a:lnTo>
                  <a:lnTo>
                    <a:pt x="3841826" y="264972"/>
                  </a:lnTo>
                  <a:lnTo>
                    <a:pt x="245325" y="276479"/>
                  </a:lnTo>
                  <a:lnTo>
                    <a:pt x="245402" y="301879"/>
                  </a:lnTo>
                  <a:lnTo>
                    <a:pt x="3841915" y="290372"/>
                  </a:lnTo>
                  <a:lnTo>
                    <a:pt x="3842004" y="315722"/>
                  </a:lnTo>
                  <a:lnTo>
                    <a:pt x="3892296" y="290372"/>
                  </a:lnTo>
                  <a:lnTo>
                    <a:pt x="3918077" y="2773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821685" y="84201"/>
            <a:ext cx="51562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FLAG</a:t>
            </a:r>
            <a:r>
              <a:rPr sz="3200" spc="-105" dirty="0"/>
              <a:t> </a:t>
            </a:r>
            <a:r>
              <a:rPr sz="3200" dirty="0"/>
              <a:t>Register</a:t>
            </a:r>
            <a:r>
              <a:rPr sz="3200" spc="-114" dirty="0"/>
              <a:t> </a:t>
            </a:r>
            <a:r>
              <a:rPr sz="3200" spc="-10" dirty="0"/>
              <a:t>Implementation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4530090" y="3868673"/>
            <a:ext cx="1335405" cy="44386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1365"/>
              </a:lnSpc>
            </a:pPr>
            <a:r>
              <a:rPr sz="1200" b="1" dirty="0">
                <a:latin typeface="Calibri"/>
                <a:cs typeface="Calibri"/>
              </a:rPr>
              <a:t>LEFT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480"/>
              </a:spcBef>
            </a:pPr>
            <a:r>
              <a:rPr sz="1200" b="1" spc="-10" dirty="0">
                <a:latin typeface="Calibri"/>
                <a:cs typeface="Calibri"/>
              </a:rPr>
              <a:t>S[1:0]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63406" y="505205"/>
            <a:ext cx="76200" cy="617855"/>
          </a:xfrm>
          <a:custGeom>
            <a:avLst/>
            <a:gdLst/>
            <a:ahLst/>
            <a:cxnLst/>
            <a:rect l="l" t="t" r="r" b="b"/>
            <a:pathLst>
              <a:path w="76200" h="617855">
                <a:moveTo>
                  <a:pt x="25400" y="541655"/>
                </a:moveTo>
                <a:lnTo>
                  <a:pt x="0" y="541655"/>
                </a:lnTo>
                <a:lnTo>
                  <a:pt x="38100" y="617855"/>
                </a:lnTo>
                <a:lnTo>
                  <a:pt x="69850" y="554355"/>
                </a:lnTo>
                <a:lnTo>
                  <a:pt x="25400" y="554355"/>
                </a:lnTo>
                <a:lnTo>
                  <a:pt x="25400" y="541655"/>
                </a:lnTo>
                <a:close/>
              </a:path>
              <a:path w="76200" h="617855">
                <a:moveTo>
                  <a:pt x="50800" y="0"/>
                </a:moveTo>
                <a:lnTo>
                  <a:pt x="25400" y="0"/>
                </a:lnTo>
                <a:lnTo>
                  <a:pt x="25400" y="554355"/>
                </a:lnTo>
                <a:lnTo>
                  <a:pt x="50800" y="554355"/>
                </a:lnTo>
                <a:lnTo>
                  <a:pt x="50800" y="0"/>
                </a:lnTo>
                <a:close/>
              </a:path>
              <a:path w="76200" h="617855">
                <a:moveTo>
                  <a:pt x="76200" y="541655"/>
                </a:moveTo>
                <a:lnTo>
                  <a:pt x="50800" y="541655"/>
                </a:lnTo>
                <a:lnTo>
                  <a:pt x="50800" y="554355"/>
                </a:lnTo>
                <a:lnTo>
                  <a:pt x="69850" y="554355"/>
                </a:lnTo>
                <a:lnTo>
                  <a:pt x="76200" y="5416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537718" y="505205"/>
            <a:ext cx="8224520" cy="3824604"/>
            <a:chOff x="537718" y="505205"/>
            <a:chExt cx="8224520" cy="3824604"/>
          </a:xfrm>
        </p:grpSpPr>
        <p:sp>
          <p:nvSpPr>
            <p:cNvPr id="9" name="object 9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40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55970" y="505205"/>
              <a:ext cx="2906395" cy="3587115"/>
            </a:xfrm>
            <a:custGeom>
              <a:avLst/>
              <a:gdLst/>
              <a:ahLst/>
              <a:cxnLst/>
              <a:rect l="l" t="t" r="r" b="b"/>
              <a:pathLst>
                <a:path w="2906395" h="3587115">
                  <a:moveTo>
                    <a:pt x="2176907" y="3549269"/>
                  </a:moveTo>
                  <a:lnTo>
                    <a:pt x="2151202" y="3536315"/>
                  </a:lnTo>
                  <a:lnTo>
                    <a:pt x="2100834" y="3510915"/>
                  </a:lnTo>
                  <a:lnTo>
                    <a:pt x="2100757" y="3530600"/>
                  </a:lnTo>
                  <a:lnTo>
                    <a:pt x="2100732" y="3536289"/>
                  </a:lnTo>
                  <a:lnTo>
                    <a:pt x="0" y="3530600"/>
                  </a:lnTo>
                  <a:lnTo>
                    <a:pt x="0" y="3556000"/>
                  </a:lnTo>
                  <a:lnTo>
                    <a:pt x="2100656" y="3561689"/>
                  </a:lnTo>
                  <a:lnTo>
                    <a:pt x="2113267" y="3561715"/>
                  </a:lnTo>
                  <a:lnTo>
                    <a:pt x="2100656" y="3561715"/>
                  </a:lnTo>
                  <a:lnTo>
                    <a:pt x="2100580" y="3587115"/>
                  </a:lnTo>
                  <a:lnTo>
                    <a:pt x="2151799" y="3561715"/>
                  </a:lnTo>
                  <a:lnTo>
                    <a:pt x="2176907" y="3549269"/>
                  </a:lnTo>
                  <a:close/>
                </a:path>
                <a:path w="2906395" h="3587115">
                  <a:moveTo>
                    <a:pt x="2665476" y="547751"/>
                  </a:moveTo>
                  <a:lnTo>
                    <a:pt x="2640076" y="547751"/>
                  </a:lnTo>
                  <a:lnTo>
                    <a:pt x="2640076" y="6096"/>
                  </a:lnTo>
                  <a:lnTo>
                    <a:pt x="2614676" y="6096"/>
                  </a:lnTo>
                  <a:lnTo>
                    <a:pt x="2614676" y="547751"/>
                  </a:lnTo>
                  <a:lnTo>
                    <a:pt x="2589276" y="547751"/>
                  </a:lnTo>
                  <a:lnTo>
                    <a:pt x="2627376" y="623951"/>
                  </a:lnTo>
                  <a:lnTo>
                    <a:pt x="2659126" y="560451"/>
                  </a:lnTo>
                  <a:lnTo>
                    <a:pt x="2665476" y="547751"/>
                  </a:lnTo>
                  <a:close/>
                </a:path>
                <a:path w="2906395" h="3587115">
                  <a:moveTo>
                    <a:pt x="2906268" y="541655"/>
                  </a:moveTo>
                  <a:lnTo>
                    <a:pt x="2880868" y="541655"/>
                  </a:lnTo>
                  <a:lnTo>
                    <a:pt x="2880868" y="0"/>
                  </a:lnTo>
                  <a:lnTo>
                    <a:pt x="2855468" y="0"/>
                  </a:lnTo>
                  <a:lnTo>
                    <a:pt x="2855468" y="541655"/>
                  </a:lnTo>
                  <a:lnTo>
                    <a:pt x="2830068" y="541655"/>
                  </a:lnTo>
                  <a:lnTo>
                    <a:pt x="2868168" y="617855"/>
                  </a:lnTo>
                  <a:lnTo>
                    <a:pt x="2899918" y="554355"/>
                  </a:lnTo>
                  <a:lnTo>
                    <a:pt x="2906268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95521" y="4205477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73500" y="42283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58461" y="4877561"/>
            <a:ext cx="977265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505"/>
              </a:spcBef>
            </a:pPr>
            <a:r>
              <a:rPr sz="1400" b="1" spc="-25" dirty="0">
                <a:latin typeface="Calibri"/>
                <a:cs typeface="Calibri"/>
              </a:rPr>
              <a:t>NOT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2477" y="4904485"/>
            <a:ext cx="3951604" cy="137160"/>
            <a:chOff x="522477" y="4904485"/>
            <a:chExt cx="3951604" cy="137160"/>
          </a:xfrm>
        </p:grpSpPr>
        <p:sp>
          <p:nvSpPr>
            <p:cNvPr id="16" name="object 16"/>
            <p:cNvSpPr/>
            <p:nvPr/>
          </p:nvSpPr>
          <p:spPr>
            <a:xfrm>
              <a:off x="528828" y="4946141"/>
              <a:ext cx="3945254" cy="76200"/>
            </a:xfrm>
            <a:custGeom>
              <a:avLst/>
              <a:gdLst/>
              <a:ahLst/>
              <a:cxnLst/>
              <a:rect l="l" t="t" r="r" b="b"/>
              <a:pathLst>
                <a:path w="3945254" h="76200">
                  <a:moveTo>
                    <a:pt x="3945255" y="38100"/>
                  </a:moveTo>
                  <a:lnTo>
                    <a:pt x="3919855" y="25400"/>
                  </a:lnTo>
                  <a:lnTo>
                    <a:pt x="3869055" y="0"/>
                  </a:lnTo>
                  <a:lnTo>
                    <a:pt x="3869055" y="25400"/>
                  </a:lnTo>
                  <a:lnTo>
                    <a:pt x="87617" y="25400"/>
                  </a:lnTo>
                  <a:lnTo>
                    <a:pt x="84543" y="23152"/>
                  </a:lnTo>
                  <a:lnTo>
                    <a:pt x="68808" y="17919"/>
                  </a:lnTo>
                  <a:lnTo>
                    <a:pt x="49530" y="16002"/>
                  </a:lnTo>
                  <a:lnTo>
                    <a:pt x="30238" y="17919"/>
                  </a:lnTo>
                  <a:lnTo>
                    <a:pt x="14503" y="23152"/>
                  </a:lnTo>
                  <a:lnTo>
                    <a:pt x="3886" y="30899"/>
                  </a:lnTo>
                  <a:lnTo>
                    <a:pt x="0" y="40386"/>
                  </a:lnTo>
                  <a:lnTo>
                    <a:pt x="3886" y="49885"/>
                  </a:lnTo>
                  <a:lnTo>
                    <a:pt x="14503" y="57632"/>
                  </a:lnTo>
                  <a:lnTo>
                    <a:pt x="30238" y="62865"/>
                  </a:lnTo>
                  <a:lnTo>
                    <a:pt x="49530" y="64770"/>
                  </a:lnTo>
                  <a:lnTo>
                    <a:pt x="68808" y="62865"/>
                  </a:lnTo>
                  <a:lnTo>
                    <a:pt x="84543" y="57632"/>
                  </a:lnTo>
                  <a:lnTo>
                    <a:pt x="93903" y="50800"/>
                  </a:lnTo>
                  <a:lnTo>
                    <a:pt x="3869055" y="50800"/>
                  </a:lnTo>
                  <a:lnTo>
                    <a:pt x="3869055" y="76200"/>
                  </a:lnTo>
                  <a:lnTo>
                    <a:pt x="3919855" y="50800"/>
                  </a:lnTo>
                  <a:lnTo>
                    <a:pt x="394525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8827" y="4962143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68445" y="4917185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09594" y="495007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426075" y="3987038"/>
            <a:ext cx="2607310" cy="1029335"/>
            <a:chOff x="5426075" y="3987038"/>
            <a:chExt cx="2607310" cy="1029335"/>
          </a:xfrm>
        </p:grpSpPr>
        <p:sp>
          <p:nvSpPr>
            <p:cNvPr id="21" name="object 21"/>
            <p:cNvSpPr/>
            <p:nvPr/>
          </p:nvSpPr>
          <p:spPr>
            <a:xfrm>
              <a:off x="5426075" y="4940173"/>
              <a:ext cx="2607310" cy="76200"/>
            </a:xfrm>
            <a:custGeom>
              <a:avLst/>
              <a:gdLst/>
              <a:ahLst/>
              <a:cxnLst/>
              <a:rect l="l" t="t" r="r" b="b"/>
              <a:pathLst>
                <a:path w="2607309" h="76200">
                  <a:moveTo>
                    <a:pt x="2530982" y="0"/>
                  </a:moveTo>
                  <a:lnTo>
                    <a:pt x="2530932" y="10032"/>
                  </a:lnTo>
                  <a:lnTo>
                    <a:pt x="2530855" y="25526"/>
                  </a:lnTo>
                  <a:lnTo>
                    <a:pt x="2530728" y="50926"/>
                  </a:lnTo>
                  <a:lnTo>
                    <a:pt x="2530602" y="76200"/>
                  </a:lnTo>
                  <a:lnTo>
                    <a:pt x="2582001" y="50926"/>
                  </a:lnTo>
                  <a:lnTo>
                    <a:pt x="2543429" y="50926"/>
                  </a:lnTo>
                  <a:lnTo>
                    <a:pt x="2543555" y="25526"/>
                  </a:lnTo>
                  <a:lnTo>
                    <a:pt x="2581281" y="25526"/>
                  </a:lnTo>
                  <a:lnTo>
                    <a:pt x="2530982" y="0"/>
                  </a:lnTo>
                  <a:close/>
                </a:path>
                <a:path w="2607309" h="76200">
                  <a:moveTo>
                    <a:pt x="253" y="10032"/>
                  </a:moveTo>
                  <a:lnTo>
                    <a:pt x="99" y="25526"/>
                  </a:lnTo>
                  <a:lnTo>
                    <a:pt x="0" y="35432"/>
                  </a:lnTo>
                  <a:lnTo>
                    <a:pt x="2543428" y="50926"/>
                  </a:lnTo>
                  <a:lnTo>
                    <a:pt x="2530728" y="50926"/>
                  </a:lnTo>
                  <a:lnTo>
                    <a:pt x="2530855" y="25526"/>
                  </a:lnTo>
                  <a:lnTo>
                    <a:pt x="2543556" y="25526"/>
                  </a:lnTo>
                  <a:lnTo>
                    <a:pt x="253" y="10032"/>
                  </a:lnTo>
                  <a:close/>
                </a:path>
                <a:path w="2607309" h="76200">
                  <a:moveTo>
                    <a:pt x="2581281" y="25526"/>
                  </a:moveTo>
                  <a:lnTo>
                    <a:pt x="2543555" y="25526"/>
                  </a:lnTo>
                  <a:lnTo>
                    <a:pt x="2543429" y="50926"/>
                  </a:lnTo>
                  <a:lnTo>
                    <a:pt x="2582001" y="50926"/>
                  </a:lnTo>
                  <a:lnTo>
                    <a:pt x="2607055" y="38607"/>
                  </a:lnTo>
                  <a:lnTo>
                    <a:pt x="2581281" y="25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87846" y="3999738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17055" y="399841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012941" y="4901946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041897" y="490740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62393" y="1073658"/>
            <a:ext cx="2618740" cy="5640705"/>
            <a:chOff x="6962393" y="1073658"/>
            <a:chExt cx="2618740" cy="5640705"/>
          </a:xfrm>
        </p:grpSpPr>
        <p:sp>
          <p:nvSpPr>
            <p:cNvPr id="27" name="object 27"/>
            <p:cNvSpPr/>
            <p:nvPr/>
          </p:nvSpPr>
          <p:spPr>
            <a:xfrm>
              <a:off x="6962393" y="5324602"/>
              <a:ext cx="1063625" cy="76200"/>
            </a:xfrm>
            <a:custGeom>
              <a:avLst/>
              <a:gdLst/>
              <a:ahLst/>
              <a:cxnLst/>
              <a:rect l="l" t="t" r="r" b="b"/>
              <a:pathLst>
                <a:path w="1063625" h="76200">
                  <a:moveTo>
                    <a:pt x="987044" y="0"/>
                  </a:moveTo>
                  <a:lnTo>
                    <a:pt x="986971" y="21844"/>
                  </a:lnTo>
                  <a:lnTo>
                    <a:pt x="986916" y="38354"/>
                  </a:lnTo>
                  <a:lnTo>
                    <a:pt x="986789" y="76200"/>
                  </a:lnTo>
                  <a:lnTo>
                    <a:pt x="1038016" y="50800"/>
                  </a:lnTo>
                  <a:lnTo>
                    <a:pt x="999616" y="50800"/>
                  </a:lnTo>
                  <a:lnTo>
                    <a:pt x="999616" y="25400"/>
                  </a:lnTo>
                  <a:lnTo>
                    <a:pt x="1037423" y="25400"/>
                  </a:lnTo>
                  <a:lnTo>
                    <a:pt x="987044" y="0"/>
                  </a:lnTo>
                  <a:close/>
                </a:path>
                <a:path w="1063625" h="76200">
                  <a:moveTo>
                    <a:pt x="0" y="21844"/>
                  </a:moveTo>
                  <a:lnTo>
                    <a:pt x="0" y="47244"/>
                  </a:lnTo>
                  <a:lnTo>
                    <a:pt x="999617" y="50800"/>
                  </a:lnTo>
                  <a:lnTo>
                    <a:pt x="986874" y="50800"/>
                  </a:lnTo>
                  <a:lnTo>
                    <a:pt x="986959" y="25400"/>
                  </a:lnTo>
                  <a:lnTo>
                    <a:pt x="999617" y="25400"/>
                  </a:lnTo>
                  <a:lnTo>
                    <a:pt x="0" y="21844"/>
                  </a:lnTo>
                  <a:close/>
                </a:path>
                <a:path w="1063625" h="76200">
                  <a:moveTo>
                    <a:pt x="1037423" y="25400"/>
                  </a:moveTo>
                  <a:lnTo>
                    <a:pt x="999616" y="25400"/>
                  </a:lnTo>
                  <a:lnTo>
                    <a:pt x="999616" y="50800"/>
                  </a:lnTo>
                  <a:lnTo>
                    <a:pt x="1038016" y="50800"/>
                  </a:lnTo>
                  <a:lnTo>
                    <a:pt x="1063116" y="38354"/>
                  </a:lnTo>
                  <a:lnTo>
                    <a:pt x="103742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26985" y="53088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0383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1542288" y="0"/>
                  </a:moveTo>
                  <a:lnTo>
                    <a:pt x="0" y="0"/>
                  </a:lnTo>
                  <a:lnTo>
                    <a:pt x="0" y="5640324"/>
                  </a:lnTo>
                  <a:lnTo>
                    <a:pt x="1542288" y="5640324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8022463" y="953198"/>
          <a:ext cx="1650364" cy="5756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00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L w="381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b="1" spc="40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(0)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61594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4064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b="1" spc="40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(5)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R="15875" algn="r">
                        <a:lnSpc>
                          <a:spcPts val="213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13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ts val="213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ts val="213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(6)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7660">
                <a:tc>
                  <a:txBody>
                    <a:bodyPr/>
                    <a:lstStyle/>
                    <a:p>
                      <a:pPr marR="15240" algn="r">
                        <a:lnSpc>
                          <a:spcPts val="201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01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ts val="2010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ts val="201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(7)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(8)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R="15875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240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R="14604" algn="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/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(9)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239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239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(10)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7239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(11)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(12)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R="7366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(13)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143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74295" algn="r">
                        <a:lnSpc>
                          <a:spcPts val="1889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889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889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889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8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(14)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marR="73660" algn="r">
                        <a:lnSpc>
                          <a:spcPts val="1785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785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2390" algn="r">
                        <a:lnSpc>
                          <a:spcPts val="1785"/>
                        </a:lnSpc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>
                        <a:lnSpc>
                          <a:spcPts val="1785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(15)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3896106" y="1218564"/>
            <a:ext cx="6172835" cy="2478405"/>
          </a:xfrm>
          <a:custGeom>
            <a:avLst/>
            <a:gdLst/>
            <a:ahLst/>
            <a:cxnLst/>
            <a:rect l="l" t="t" r="r" b="b"/>
            <a:pathLst>
              <a:path w="6172834" h="2478404">
                <a:moveTo>
                  <a:pt x="4065054" y="2452801"/>
                </a:moveTo>
                <a:lnTo>
                  <a:pt x="4064965" y="2427401"/>
                </a:lnTo>
                <a:lnTo>
                  <a:pt x="6096" y="2440559"/>
                </a:lnTo>
                <a:lnTo>
                  <a:pt x="6096" y="2465959"/>
                </a:lnTo>
                <a:lnTo>
                  <a:pt x="4065054" y="2452801"/>
                </a:lnTo>
                <a:close/>
              </a:path>
              <a:path w="6172834" h="2478404">
                <a:moveTo>
                  <a:pt x="4123436" y="1427099"/>
                </a:moveTo>
                <a:lnTo>
                  <a:pt x="4097858" y="1414272"/>
                </a:lnTo>
                <a:lnTo>
                  <a:pt x="4047236" y="1388872"/>
                </a:lnTo>
                <a:lnTo>
                  <a:pt x="4047236" y="1414272"/>
                </a:lnTo>
                <a:lnTo>
                  <a:pt x="1059180" y="1413637"/>
                </a:lnTo>
                <a:lnTo>
                  <a:pt x="1059180" y="1439037"/>
                </a:lnTo>
                <a:lnTo>
                  <a:pt x="4047236" y="1439672"/>
                </a:lnTo>
                <a:lnTo>
                  <a:pt x="4047236" y="1465072"/>
                </a:lnTo>
                <a:lnTo>
                  <a:pt x="4098201" y="1439672"/>
                </a:lnTo>
                <a:lnTo>
                  <a:pt x="4123436" y="1427099"/>
                </a:lnTo>
                <a:close/>
              </a:path>
              <a:path w="6172834" h="2478404">
                <a:moveTo>
                  <a:pt x="4140327" y="2139569"/>
                </a:moveTo>
                <a:lnTo>
                  <a:pt x="4114927" y="2126881"/>
                </a:lnTo>
                <a:lnTo>
                  <a:pt x="4064127" y="2101469"/>
                </a:lnTo>
                <a:lnTo>
                  <a:pt x="4064127" y="2126881"/>
                </a:lnTo>
                <a:lnTo>
                  <a:pt x="1077468" y="2127885"/>
                </a:lnTo>
                <a:lnTo>
                  <a:pt x="1077468" y="2153285"/>
                </a:lnTo>
                <a:lnTo>
                  <a:pt x="4064127" y="2152281"/>
                </a:lnTo>
                <a:lnTo>
                  <a:pt x="4064127" y="2177669"/>
                </a:lnTo>
                <a:lnTo>
                  <a:pt x="4114914" y="2152281"/>
                </a:lnTo>
                <a:lnTo>
                  <a:pt x="4140327" y="2139569"/>
                </a:lnTo>
                <a:close/>
              </a:path>
              <a:path w="6172834" h="2478404">
                <a:moveTo>
                  <a:pt x="4141216" y="2439797"/>
                </a:moveTo>
                <a:lnTo>
                  <a:pt x="4116197" y="2427401"/>
                </a:lnTo>
                <a:lnTo>
                  <a:pt x="4064889" y="2401951"/>
                </a:lnTo>
                <a:lnTo>
                  <a:pt x="4064965" y="2427401"/>
                </a:lnTo>
                <a:lnTo>
                  <a:pt x="4065016" y="2440559"/>
                </a:lnTo>
                <a:lnTo>
                  <a:pt x="4065054" y="2452801"/>
                </a:lnTo>
                <a:lnTo>
                  <a:pt x="4065143" y="2478151"/>
                </a:lnTo>
                <a:lnTo>
                  <a:pt x="4115435" y="2452801"/>
                </a:lnTo>
                <a:lnTo>
                  <a:pt x="4141216" y="2439797"/>
                </a:lnTo>
                <a:close/>
              </a:path>
              <a:path w="6172834" h="2478404">
                <a:moveTo>
                  <a:pt x="4141216" y="37973"/>
                </a:moveTo>
                <a:lnTo>
                  <a:pt x="4116032" y="25425"/>
                </a:lnTo>
                <a:lnTo>
                  <a:pt x="4065016" y="0"/>
                </a:lnTo>
                <a:lnTo>
                  <a:pt x="4065054" y="25425"/>
                </a:lnTo>
                <a:lnTo>
                  <a:pt x="3238500" y="26924"/>
                </a:lnTo>
                <a:lnTo>
                  <a:pt x="3238500" y="52324"/>
                </a:lnTo>
                <a:lnTo>
                  <a:pt x="4065092" y="50825"/>
                </a:lnTo>
                <a:lnTo>
                  <a:pt x="4065143" y="76200"/>
                </a:lnTo>
                <a:lnTo>
                  <a:pt x="4115638" y="50825"/>
                </a:lnTo>
                <a:lnTo>
                  <a:pt x="4141216" y="37973"/>
                </a:lnTo>
                <a:close/>
              </a:path>
              <a:path w="6172834" h="2478404">
                <a:moveTo>
                  <a:pt x="4141597" y="417449"/>
                </a:moveTo>
                <a:lnTo>
                  <a:pt x="4116197" y="404749"/>
                </a:lnTo>
                <a:lnTo>
                  <a:pt x="4065397" y="379349"/>
                </a:lnTo>
                <a:lnTo>
                  <a:pt x="4065397" y="404749"/>
                </a:lnTo>
                <a:lnTo>
                  <a:pt x="2168652" y="404749"/>
                </a:lnTo>
                <a:lnTo>
                  <a:pt x="2168652" y="430149"/>
                </a:lnTo>
                <a:lnTo>
                  <a:pt x="4065397" y="430149"/>
                </a:lnTo>
                <a:lnTo>
                  <a:pt x="4065397" y="455549"/>
                </a:lnTo>
                <a:lnTo>
                  <a:pt x="4116197" y="430149"/>
                </a:lnTo>
                <a:lnTo>
                  <a:pt x="4141597" y="417449"/>
                </a:lnTo>
                <a:close/>
              </a:path>
              <a:path w="6172834" h="2478404">
                <a:moveTo>
                  <a:pt x="4141978" y="1120013"/>
                </a:moveTo>
                <a:lnTo>
                  <a:pt x="4116578" y="1107313"/>
                </a:lnTo>
                <a:lnTo>
                  <a:pt x="4065778" y="1081913"/>
                </a:lnTo>
                <a:lnTo>
                  <a:pt x="4065778" y="1107313"/>
                </a:lnTo>
                <a:lnTo>
                  <a:pt x="0" y="1107313"/>
                </a:lnTo>
                <a:lnTo>
                  <a:pt x="0" y="1132713"/>
                </a:lnTo>
                <a:lnTo>
                  <a:pt x="4065778" y="1132713"/>
                </a:lnTo>
                <a:lnTo>
                  <a:pt x="4065778" y="1158113"/>
                </a:lnTo>
                <a:lnTo>
                  <a:pt x="4116578" y="1132713"/>
                </a:lnTo>
                <a:lnTo>
                  <a:pt x="4141978" y="1120013"/>
                </a:lnTo>
                <a:close/>
              </a:path>
              <a:path w="6172834" h="2478404">
                <a:moveTo>
                  <a:pt x="4141978" y="767969"/>
                </a:moveTo>
                <a:lnTo>
                  <a:pt x="4116578" y="755269"/>
                </a:lnTo>
                <a:lnTo>
                  <a:pt x="4065778" y="729869"/>
                </a:lnTo>
                <a:lnTo>
                  <a:pt x="4065778" y="755269"/>
                </a:lnTo>
                <a:lnTo>
                  <a:pt x="562356" y="755269"/>
                </a:lnTo>
                <a:lnTo>
                  <a:pt x="562356" y="780669"/>
                </a:lnTo>
                <a:lnTo>
                  <a:pt x="4065778" y="780669"/>
                </a:lnTo>
                <a:lnTo>
                  <a:pt x="4065778" y="806069"/>
                </a:lnTo>
                <a:lnTo>
                  <a:pt x="4116578" y="780669"/>
                </a:lnTo>
                <a:lnTo>
                  <a:pt x="4141978" y="767969"/>
                </a:lnTo>
                <a:close/>
              </a:path>
              <a:path w="6172834" h="2478404">
                <a:moveTo>
                  <a:pt x="4142359" y="1786001"/>
                </a:moveTo>
                <a:lnTo>
                  <a:pt x="4116971" y="1773313"/>
                </a:lnTo>
                <a:lnTo>
                  <a:pt x="4066159" y="1747901"/>
                </a:lnTo>
                <a:lnTo>
                  <a:pt x="4066159" y="1773313"/>
                </a:lnTo>
                <a:lnTo>
                  <a:pt x="71628" y="1775968"/>
                </a:lnTo>
                <a:lnTo>
                  <a:pt x="71628" y="1801368"/>
                </a:lnTo>
                <a:lnTo>
                  <a:pt x="4066159" y="1798713"/>
                </a:lnTo>
                <a:lnTo>
                  <a:pt x="4066159" y="1824101"/>
                </a:lnTo>
                <a:lnTo>
                  <a:pt x="4116933" y="1798713"/>
                </a:lnTo>
                <a:lnTo>
                  <a:pt x="4142359" y="1786001"/>
                </a:lnTo>
                <a:close/>
              </a:path>
              <a:path w="6172834" h="2478404">
                <a:moveTo>
                  <a:pt x="6172835" y="1158240"/>
                </a:moveTo>
                <a:lnTo>
                  <a:pt x="6147092" y="1145159"/>
                </a:lnTo>
                <a:lnTo>
                  <a:pt x="6096889" y="1119632"/>
                </a:lnTo>
                <a:lnTo>
                  <a:pt x="6096711" y="1145082"/>
                </a:lnTo>
                <a:lnTo>
                  <a:pt x="5684647" y="1142365"/>
                </a:lnTo>
                <a:lnTo>
                  <a:pt x="5684482" y="1158240"/>
                </a:lnTo>
                <a:lnTo>
                  <a:pt x="5684393" y="1167765"/>
                </a:lnTo>
                <a:lnTo>
                  <a:pt x="6096546" y="1170482"/>
                </a:lnTo>
                <a:lnTo>
                  <a:pt x="6109195" y="1170559"/>
                </a:lnTo>
                <a:lnTo>
                  <a:pt x="6096546" y="1170559"/>
                </a:lnTo>
                <a:lnTo>
                  <a:pt x="6096381" y="1195832"/>
                </a:lnTo>
                <a:lnTo>
                  <a:pt x="6147778" y="1170559"/>
                </a:lnTo>
                <a:lnTo>
                  <a:pt x="6172835" y="1158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0056621" y="2244344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R[3:0]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97266" y="118998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950" spc="-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17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85965" y="1106423"/>
            <a:ext cx="5758815" cy="231140"/>
          </a:xfrm>
          <a:custGeom>
            <a:avLst/>
            <a:gdLst/>
            <a:ahLst/>
            <a:cxnLst/>
            <a:rect l="l" t="t" r="r" b="b"/>
            <a:pathLst>
              <a:path w="5758815" h="231140">
                <a:moveTo>
                  <a:pt x="5758192" y="192913"/>
                </a:moveTo>
                <a:lnTo>
                  <a:pt x="5732792" y="180213"/>
                </a:lnTo>
                <a:lnTo>
                  <a:pt x="5681992" y="154813"/>
                </a:lnTo>
                <a:lnTo>
                  <a:pt x="5681954" y="177038"/>
                </a:lnTo>
                <a:lnTo>
                  <a:pt x="5681942" y="180213"/>
                </a:lnTo>
                <a:lnTo>
                  <a:pt x="294157" y="177038"/>
                </a:lnTo>
                <a:lnTo>
                  <a:pt x="294119" y="202438"/>
                </a:lnTo>
                <a:lnTo>
                  <a:pt x="5681904" y="205613"/>
                </a:lnTo>
                <a:lnTo>
                  <a:pt x="5681865" y="231013"/>
                </a:lnTo>
                <a:lnTo>
                  <a:pt x="5732742" y="205613"/>
                </a:lnTo>
                <a:lnTo>
                  <a:pt x="5758192" y="192913"/>
                </a:lnTo>
                <a:close/>
              </a:path>
              <a:path w="5758815" h="231140">
                <a:moveTo>
                  <a:pt x="5758446" y="38227"/>
                </a:moveTo>
                <a:lnTo>
                  <a:pt x="5732869" y="25400"/>
                </a:lnTo>
                <a:lnTo>
                  <a:pt x="5682246" y="0"/>
                </a:lnTo>
                <a:lnTo>
                  <a:pt x="5682196" y="25400"/>
                </a:lnTo>
                <a:lnTo>
                  <a:pt x="25" y="20066"/>
                </a:lnTo>
                <a:lnTo>
                  <a:pt x="0" y="45466"/>
                </a:lnTo>
                <a:lnTo>
                  <a:pt x="5682158" y="50800"/>
                </a:lnTo>
                <a:lnTo>
                  <a:pt x="5682119" y="76200"/>
                </a:lnTo>
                <a:lnTo>
                  <a:pt x="5733173" y="50800"/>
                </a:lnTo>
                <a:lnTo>
                  <a:pt x="5758446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343650" y="1073658"/>
            <a:ext cx="791210" cy="3352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5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85965" y="1509775"/>
            <a:ext cx="4697730" cy="219710"/>
          </a:xfrm>
          <a:custGeom>
            <a:avLst/>
            <a:gdLst/>
            <a:ahLst/>
            <a:cxnLst/>
            <a:rect l="l" t="t" r="r" b="b"/>
            <a:pathLst>
              <a:path w="4697730" h="219710">
                <a:moveTo>
                  <a:pt x="4697234" y="181102"/>
                </a:moveTo>
                <a:lnTo>
                  <a:pt x="4671834" y="168402"/>
                </a:lnTo>
                <a:lnTo>
                  <a:pt x="4621034" y="143002"/>
                </a:lnTo>
                <a:lnTo>
                  <a:pt x="4621034" y="168402"/>
                </a:lnTo>
                <a:lnTo>
                  <a:pt x="294144" y="168402"/>
                </a:lnTo>
                <a:lnTo>
                  <a:pt x="294144" y="193802"/>
                </a:lnTo>
                <a:lnTo>
                  <a:pt x="4621034" y="193802"/>
                </a:lnTo>
                <a:lnTo>
                  <a:pt x="4621034" y="219202"/>
                </a:lnTo>
                <a:lnTo>
                  <a:pt x="4671834" y="193802"/>
                </a:lnTo>
                <a:lnTo>
                  <a:pt x="4697234" y="181102"/>
                </a:lnTo>
                <a:close/>
              </a:path>
              <a:path w="4697730" h="219710">
                <a:moveTo>
                  <a:pt x="4697488" y="38100"/>
                </a:moveTo>
                <a:lnTo>
                  <a:pt x="4672088" y="25400"/>
                </a:lnTo>
                <a:lnTo>
                  <a:pt x="4621288" y="0"/>
                </a:lnTo>
                <a:lnTo>
                  <a:pt x="4621288" y="25400"/>
                </a:lnTo>
                <a:lnTo>
                  <a:pt x="25" y="22098"/>
                </a:lnTo>
                <a:lnTo>
                  <a:pt x="0" y="47498"/>
                </a:lnTo>
                <a:lnTo>
                  <a:pt x="4621288" y="50800"/>
                </a:lnTo>
                <a:lnTo>
                  <a:pt x="4621288" y="76200"/>
                </a:lnTo>
                <a:lnTo>
                  <a:pt x="4672088" y="50800"/>
                </a:lnTo>
                <a:lnTo>
                  <a:pt x="469748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282946" y="1483613"/>
            <a:ext cx="782320" cy="3067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280"/>
              </a:spcBef>
            </a:pP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85914" y="1834514"/>
            <a:ext cx="3027680" cy="233045"/>
          </a:xfrm>
          <a:custGeom>
            <a:avLst/>
            <a:gdLst/>
            <a:ahLst/>
            <a:cxnLst/>
            <a:rect l="l" t="t" r="r" b="b"/>
            <a:pathLst>
              <a:path w="3027679" h="233044">
                <a:moveTo>
                  <a:pt x="3019742" y="194691"/>
                </a:moveTo>
                <a:lnTo>
                  <a:pt x="2994533" y="182143"/>
                </a:lnTo>
                <a:lnTo>
                  <a:pt x="2943542" y="156718"/>
                </a:lnTo>
                <a:lnTo>
                  <a:pt x="2943580" y="182143"/>
                </a:lnTo>
                <a:lnTo>
                  <a:pt x="301802" y="184912"/>
                </a:lnTo>
                <a:lnTo>
                  <a:pt x="301828" y="210312"/>
                </a:lnTo>
                <a:lnTo>
                  <a:pt x="2943618" y="207543"/>
                </a:lnTo>
                <a:lnTo>
                  <a:pt x="2943669" y="232918"/>
                </a:lnTo>
                <a:lnTo>
                  <a:pt x="2994177" y="207543"/>
                </a:lnTo>
                <a:lnTo>
                  <a:pt x="3019742" y="194691"/>
                </a:lnTo>
                <a:close/>
              </a:path>
              <a:path w="3027679" h="233044">
                <a:moveTo>
                  <a:pt x="3027489" y="37719"/>
                </a:moveTo>
                <a:lnTo>
                  <a:pt x="3002419" y="25336"/>
                </a:lnTo>
                <a:lnTo>
                  <a:pt x="2951162" y="0"/>
                </a:lnTo>
                <a:lnTo>
                  <a:pt x="2951276" y="25336"/>
                </a:lnTo>
                <a:lnTo>
                  <a:pt x="0" y="39878"/>
                </a:lnTo>
                <a:lnTo>
                  <a:pt x="50" y="50736"/>
                </a:lnTo>
                <a:lnTo>
                  <a:pt x="127" y="65278"/>
                </a:lnTo>
                <a:lnTo>
                  <a:pt x="2951403" y="50736"/>
                </a:lnTo>
                <a:lnTo>
                  <a:pt x="2951340" y="37719"/>
                </a:lnTo>
                <a:lnTo>
                  <a:pt x="2951353" y="39878"/>
                </a:lnTo>
                <a:lnTo>
                  <a:pt x="2951403" y="50736"/>
                </a:lnTo>
                <a:lnTo>
                  <a:pt x="2951480" y="65278"/>
                </a:lnTo>
                <a:lnTo>
                  <a:pt x="2951543" y="76200"/>
                </a:lnTo>
                <a:lnTo>
                  <a:pt x="3001797" y="50736"/>
                </a:lnTo>
                <a:lnTo>
                  <a:pt x="3027489" y="37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612641" y="1808226"/>
            <a:ext cx="845819" cy="2971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75"/>
              </a:spcBef>
            </a:pPr>
            <a:r>
              <a:rPr sz="1400" b="1" spc="-25" dirty="0"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85977" y="2860801"/>
            <a:ext cx="3434079" cy="420370"/>
            <a:chOff x="585977" y="2860801"/>
            <a:chExt cx="3434079" cy="420370"/>
          </a:xfrm>
        </p:grpSpPr>
        <p:sp>
          <p:nvSpPr>
            <p:cNvPr id="41" name="object 41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1072896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1072896" y="394715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344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0" y="394715"/>
                  </a:moveTo>
                  <a:lnTo>
                    <a:pt x="1072896" y="394715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5978" y="2919221"/>
              <a:ext cx="2355215" cy="216535"/>
            </a:xfrm>
            <a:custGeom>
              <a:avLst/>
              <a:gdLst/>
              <a:ahLst/>
              <a:cxnLst/>
              <a:rect l="l" t="t" r="r" b="b"/>
              <a:pathLst>
                <a:path w="2355215" h="216535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5215" h="216535">
                  <a:moveTo>
                    <a:pt x="2355088" y="178308"/>
                  </a:moveTo>
                  <a:lnTo>
                    <a:pt x="2329688" y="165608"/>
                  </a:lnTo>
                  <a:lnTo>
                    <a:pt x="2278888" y="140208"/>
                  </a:lnTo>
                  <a:lnTo>
                    <a:pt x="2278888" y="165608"/>
                  </a:lnTo>
                  <a:lnTo>
                    <a:pt x="294132" y="165608"/>
                  </a:lnTo>
                  <a:lnTo>
                    <a:pt x="294132" y="191008"/>
                  </a:lnTo>
                  <a:lnTo>
                    <a:pt x="2278888" y="191008"/>
                  </a:lnTo>
                  <a:lnTo>
                    <a:pt x="2278888" y="216408"/>
                  </a:lnTo>
                  <a:lnTo>
                    <a:pt x="2329688" y="191008"/>
                  </a:lnTo>
                  <a:lnTo>
                    <a:pt x="2355088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82163" y="2947543"/>
            <a:ext cx="722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85939" y="2221483"/>
            <a:ext cx="2430145" cy="1035050"/>
          </a:xfrm>
          <a:custGeom>
            <a:avLst/>
            <a:gdLst/>
            <a:ahLst/>
            <a:cxnLst/>
            <a:rect l="l" t="t" r="r" b="b"/>
            <a:pathLst>
              <a:path w="2430145" h="1035050">
                <a:moveTo>
                  <a:pt x="2354745" y="996442"/>
                </a:moveTo>
                <a:lnTo>
                  <a:pt x="2329345" y="983742"/>
                </a:lnTo>
                <a:lnTo>
                  <a:pt x="2278545" y="958342"/>
                </a:lnTo>
                <a:lnTo>
                  <a:pt x="2278545" y="983742"/>
                </a:lnTo>
                <a:lnTo>
                  <a:pt x="1876082" y="983742"/>
                </a:lnTo>
                <a:lnTo>
                  <a:pt x="1876082" y="1009142"/>
                </a:lnTo>
                <a:lnTo>
                  <a:pt x="2278545" y="1009142"/>
                </a:lnTo>
                <a:lnTo>
                  <a:pt x="2278545" y="1034542"/>
                </a:lnTo>
                <a:lnTo>
                  <a:pt x="2329345" y="1009142"/>
                </a:lnTo>
                <a:lnTo>
                  <a:pt x="2354745" y="996442"/>
                </a:lnTo>
                <a:close/>
              </a:path>
              <a:path w="2430145" h="1035050">
                <a:moveTo>
                  <a:pt x="2413546" y="37846"/>
                </a:moveTo>
                <a:lnTo>
                  <a:pt x="2388260" y="25311"/>
                </a:lnTo>
                <a:lnTo>
                  <a:pt x="2337219" y="0"/>
                </a:lnTo>
                <a:lnTo>
                  <a:pt x="2337295" y="25311"/>
                </a:lnTo>
                <a:lnTo>
                  <a:pt x="0" y="32258"/>
                </a:lnTo>
                <a:lnTo>
                  <a:pt x="76" y="57658"/>
                </a:lnTo>
                <a:lnTo>
                  <a:pt x="2337384" y="50711"/>
                </a:lnTo>
                <a:lnTo>
                  <a:pt x="2337473" y="76200"/>
                </a:lnTo>
                <a:lnTo>
                  <a:pt x="2388019" y="50711"/>
                </a:lnTo>
                <a:lnTo>
                  <a:pt x="2413546" y="37846"/>
                </a:lnTo>
                <a:close/>
              </a:path>
              <a:path w="2430145" h="1035050">
                <a:moveTo>
                  <a:pt x="2429929" y="200914"/>
                </a:moveTo>
                <a:lnTo>
                  <a:pt x="2404732" y="188366"/>
                </a:lnTo>
                <a:lnTo>
                  <a:pt x="2353729" y="162941"/>
                </a:lnTo>
                <a:lnTo>
                  <a:pt x="2353767" y="188366"/>
                </a:lnTo>
                <a:lnTo>
                  <a:pt x="291096" y="191897"/>
                </a:lnTo>
                <a:lnTo>
                  <a:pt x="291147" y="217297"/>
                </a:lnTo>
                <a:lnTo>
                  <a:pt x="2353805" y="213766"/>
                </a:lnTo>
                <a:lnTo>
                  <a:pt x="2353856" y="239141"/>
                </a:lnTo>
                <a:lnTo>
                  <a:pt x="2404351" y="213766"/>
                </a:lnTo>
                <a:lnTo>
                  <a:pt x="2429929" y="20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2998470" y="2180082"/>
            <a:ext cx="897890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585"/>
              </a:lnSpc>
            </a:pPr>
            <a:r>
              <a:rPr sz="1400" b="1" dirty="0">
                <a:latin typeface="Calibri"/>
                <a:cs typeface="Calibri"/>
              </a:rPr>
              <a:t>LEFT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29209">
              <a:lnSpc>
                <a:spcPts val="705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85978" y="3512057"/>
            <a:ext cx="2340610" cy="273050"/>
          </a:xfrm>
          <a:custGeom>
            <a:avLst/>
            <a:gdLst/>
            <a:ahLst/>
            <a:cxnLst/>
            <a:rect l="l" t="t" r="r" b="b"/>
            <a:pathLst>
              <a:path w="2340610" h="273050">
                <a:moveTo>
                  <a:pt x="2340229" y="234696"/>
                </a:moveTo>
                <a:lnTo>
                  <a:pt x="2314829" y="221996"/>
                </a:lnTo>
                <a:lnTo>
                  <a:pt x="2264029" y="196596"/>
                </a:lnTo>
                <a:lnTo>
                  <a:pt x="2264029" y="221996"/>
                </a:lnTo>
                <a:lnTo>
                  <a:pt x="294132" y="221996"/>
                </a:lnTo>
                <a:lnTo>
                  <a:pt x="294132" y="247396"/>
                </a:lnTo>
                <a:lnTo>
                  <a:pt x="2264029" y="247396"/>
                </a:lnTo>
                <a:lnTo>
                  <a:pt x="2264029" y="272796"/>
                </a:lnTo>
                <a:lnTo>
                  <a:pt x="2314829" y="247396"/>
                </a:lnTo>
                <a:lnTo>
                  <a:pt x="2340229" y="234696"/>
                </a:lnTo>
                <a:close/>
              </a:path>
              <a:path w="2340610" h="273050">
                <a:moveTo>
                  <a:pt x="2340483" y="38112"/>
                </a:moveTo>
                <a:lnTo>
                  <a:pt x="2315083" y="25412"/>
                </a:lnTo>
                <a:lnTo>
                  <a:pt x="2264283" y="0"/>
                </a:lnTo>
                <a:lnTo>
                  <a:pt x="2264283" y="25412"/>
                </a:lnTo>
                <a:lnTo>
                  <a:pt x="0" y="25412"/>
                </a:lnTo>
                <a:lnTo>
                  <a:pt x="0" y="50812"/>
                </a:lnTo>
                <a:lnTo>
                  <a:pt x="2264283" y="50812"/>
                </a:lnTo>
                <a:lnTo>
                  <a:pt x="2264283" y="76212"/>
                </a:lnTo>
                <a:lnTo>
                  <a:pt x="2315083" y="50812"/>
                </a:lnTo>
                <a:lnTo>
                  <a:pt x="2340483" y="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2925317" y="3458717"/>
            <a:ext cx="977265" cy="4254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1400" b="1" spc="-25" dirty="0">
                <a:latin typeface="Calibri"/>
                <a:cs typeface="Calibri"/>
              </a:rPr>
              <a:t>MUL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82930" y="745998"/>
            <a:ext cx="8148955" cy="5608955"/>
          </a:xfrm>
          <a:custGeom>
            <a:avLst/>
            <a:gdLst/>
            <a:ahLst/>
            <a:cxnLst/>
            <a:rect l="l" t="t" r="r" b="b"/>
            <a:pathLst>
              <a:path w="8148955" h="5608955">
                <a:moveTo>
                  <a:pt x="4387596" y="2255519"/>
                </a:moveTo>
                <a:lnTo>
                  <a:pt x="4396105" y="2612643"/>
                </a:lnTo>
              </a:path>
              <a:path w="8148955" h="5608955">
                <a:moveTo>
                  <a:pt x="0" y="10667"/>
                </a:moveTo>
                <a:lnTo>
                  <a:pt x="0" y="5608929"/>
                </a:lnTo>
              </a:path>
              <a:path w="8148955" h="5608955">
                <a:moveTo>
                  <a:pt x="297192" y="0"/>
                </a:moveTo>
                <a:lnTo>
                  <a:pt x="265176" y="5598261"/>
                </a:lnTo>
              </a:path>
              <a:path w="8148955" h="5608955">
                <a:moveTo>
                  <a:pt x="8148955" y="204215"/>
                </a:moveTo>
                <a:lnTo>
                  <a:pt x="1868424" y="210185"/>
                </a:lnTo>
              </a:path>
              <a:path w="8148955" h="5608955">
                <a:moveTo>
                  <a:pt x="1879092" y="204215"/>
                </a:moveTo>
                <a:lnTo>
                  <a:pt x="1879092" y="247243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16839" y="470661"/>
            <a:ext cx="126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A[3:0]</a:t>
            </a:r>
            <a:r>
              <a:rPr sz="1800" b="1" spc="2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baseline="1543" dirty="0">
                <a:solidFill>
                  <a:srgbClr val="FF0000"/>
                </a:solidFill>
                <a:latin typeface="Calibri"/>
                <a:cs typeface="Calibri"/>
              </a:rPr>
              <a:t>B[3:0]</a:t>
            </a:r>
            <a:endParaRPr sz="2700" baseline="1543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27050" y="918717"/>
            <a:ext cx="8253095" cy="2852420"/>
            <a:chOff x="527050" y="918717"/>
            <a:chExt cx="8253095" cy="2852420"/>
          </a:xfrm>
        </p:grpSpPr>
        <p:sp>
          <p:nvSpPr>
            <p:cNvPr id="52" name="object 52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334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21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59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334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321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364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260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334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334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349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275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8382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71" y="1851"/>
                  </a:lnTo>
                  <a:lnTo>
                    <a:pt x="14525" y="6905"/>
                  </a:lnTo>
                  <a:lnTo>
                    <a:pt x="3899" y="14412"/>
                  </a:lnTo>
                  <a:lnTo>
                    <a:pt x="0" y="23622"/>
                  </a:lnTo>
                  <a:lnTo>
                    <a:pt x="3899" y="32831"/>
                  </a:lnTo>
                  <a:lnTo>
                    <a:pt x="14525" y="40338"/>
                  </a:lnTo>
                  <a:lnTo>
                    <a:pt x="30271" y="45392"/>
                  </a:lnTo>
                  <a:lnTo>
                    <a:pt x="49530" y="47244"/>
                  </a:lnTo>
                  <a:lnTo>
                    <a:pt x="68788" y="45392"/>
                  </a:lnTo>
                  <a:lnTo>
                    <a:pt x="84534" y="40338"/>
                  </a:lnTo>
                  <a:lnTo>
                    <a:pt x="95160" y="32831"/>
                  </a:lnTo>
                  <a:lnTo>
                    <a:pt x="99060" y="23622"/>
                  </a:lnTo>
                  <a:lnTo>
                    <a:pt x="95160" y="14412"/>
                  </a:lnTo>
                  <a:lnTo>
                    <a:pt x="84534" y="6905"/>
                  </a:lnTo>
                  <a:lnTo>
                    <a:pt x="68788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6746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9" y="14412"/>
                  </a:lnTo>
                  <a:lnTo>
                    <a:pt x="14525" y="6905"/>
                  </a:lnTo>
                  <a:lnTo>
                    <a:pt x="30271" y="1851"/>
                  </a:lnTo>
                  <a:lnTo>
                    <a:pt x="49530" y="0"/>
                  </a:lnTo>
                  <a:lnTo>
                    <a:pt x="68788" y="1851"/>
                  </a:lnTo>
                  <a:lnTo>
                    <a:pt x="84534" y="6905"/>
                  </a:lnTo>
                  <a:lnTo>
                    <a:pt x="95160" y="14412"/>
                  </a:lnTo>
                  <a:lnTo>
                    <a:pt x="99060" y="23622"/>
                  </a:lnTo>
                  <a:lnTo>
                    <a:pt x="95160" y="32831"/>
                  </a:lnTo>
                  <a:lnTo>
                    <a:pt x="84534" y="40338"/>
                  </a:lnTo>
                  <a:lnTo>
                    <a:pt x="68788" y="45392"/>
                  </a:lnTo>
                  <a:lnTo>
                    <a:pt x="49530" y="47244"/>
                  </a:lnTo>
                  <a:lnTo>
                    <a:pt x="30271" y="45392"/>
                  </a:lnTo>
                  <a:lnTo>
                    <a:pt x="14525" y="40338"/>
                  </a:lnTo>
                  <a:lnTo>
                    <a:pt x="3899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358633" y="1207769"/>
              <a:ext cx="286385" cy="2501265"/>
            </a:xfrm>
            <a:custGeom>
              <a:avLst/>
              <a:gdLst/>
              <a:ahLst/>
              <a:cxnLst/>
              <a:rect l="l" t="t" r="r" b="b"/>
              <a:pathLst>
                <a:path w="286384" h="2501265">
                  <a:moveTo>
                    <a:pt x="286131" y="0"/>
                  </a:moveTo>
                  <a:lnTo>
                    <a:pt x="117348" y="111632"/>
                  </a:lnTo>
                </a:path>
                <a:path w="286384" h="2501265">
                  <a:moveTo>
                    <a:pt x="286131" y="379475"/>
                  </a:moveTo>
                  <a:lnTo>
                    <a:pt x="117348" y="491108"/>
                  </a:lnTo>
                </a:path>
                <a:path w="286384" h="2501265">
                  <a:moveTo>
                    <a:pt x="232791" y="733043"/>
                  </a:moveTo>
                  <a:lnTo>
                    <a:pt x="64008" y="844676"/>
                  </a:lnTo>
                </a:path>
                <a:path w="286384" h="2501265">
                  <a:moveTo>
                    <a:pt x="209931" y="1088135"/>
                  </a:moveTo>
                  <a:lnTo>
                    <a:pt x="41148" y="1199768"/>
                  </a:lnTo>
                </a:path>
                <a:path w="286384" h="2501265">
                  <a:moveTo>
                    <a:pt x="240411" y="1386839"/>
                  </a:moveTo>
                  <a:lnTo>
                    <a:pt x="71627" y="1498472"/>
                  </a:lnTo>
                </a:path>
                <a:path w="286384" h="2501265">
                  <a:moveTo>
                    <a:pt x="182499" y="1743455"/>
                  </a:moveTo>
                  <a:lnTo>
                    <a:pt x="13716" y="1855089"/>
                  </a:lnTo>
                </a:path>
                <a:path w="286384" h="2501265">
                  <a:moveTo>
                    <a:pt x="168783" y="2084831"/>
                  </a:moveTo>
                  <a:lnTo>
                    <a:pt x="0" y="2196465"/>
                  </a:lnTo>
                </a:path>
                <a:path w="286384" h="2501265">
                  <a:moveTo>
                    <a:pt x="168783" y="2389631"/>
                  </a:moveTo>
                  <a:lnTo>
                    <a:pt x="0" y="2501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962020" y="3112770"/>
            <a:ext cx="1651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Cambria Math"/>
                <a:cs typeface="Cambria Math"/>
              </a:rPr>
              <a:t>𝑺𝒆𝒍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7422260" y="1101202"/>
            <a:ext cx="269240" cy="28232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  <a:spcBef>
                <a:spcPts val="9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  <a:spcBef>
                <a:spcPts val="63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6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9672066" y="23111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9708006" y="23150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474970" y="108737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5460238" y="932814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4865370" y="12473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4907026" y="1240916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4379214" y="1482089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418457" y="1495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702302" y="161163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4733671" y="164109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219450" y="18158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254121" y="1817877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3024377" y="197281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3074670" y="198831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1186433" y="221665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1196746" y="206629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1535430" y="290550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580769" y="291465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1172717" y="30380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193088" y="30572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660398" y="3498341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1673479" y="336054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294638" y="369036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349755" y="371868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92251" y="3344926"/>
            <a:ext cx="315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A[1:0]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905967" y="355955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39267" y="464058"/>
            <a:ext cx="7625080" cy="2422525"/>
            <a:chOff x="639267" y="464058"/>
            <a:chExt cx="7625080" cy="2422525"/>
          </a:xfrm>
        </p:grpSpPr>
        <p:sp>
          <p:nvSpPr>
            <p:cNvPr id="106" name="object 106"/>
            <p:cNvSpPr/>
            <p:nvPr/>
          </p:nvSpPr>
          <p:spPr>
            <a:xfrm>
              <a:off x="821436" y="464057"/>
              <a:ext cx="7442834" cy="1982470"/>
            </a:xfrm>
            <a:custGeom>
              <a:avLst/>
              <a:gdLst/>
              <a:ahLst/>
              <a:cxnLst/>
              <a:rect l="l" t="t" r="r" b="b"/>
              <a:pathLst>
                <a:path w="7442834" h="1982470">
                  <a:moveTo>
                    <a:pt x="99060" y="1958340"/>
                  </a:moveTo>
                  <a:lnTo>
                    <a:pt x="95161" y="1949132"/>
                  </a:lnTo>
                  <a:lnTo>
                    <a:pt x="84543" y="1941626"/>
                  </a:lnTo>
                  <a:lnTo>
                    <a:pt x="68808" y="1936572"/>
                  </a:lnTo>
                  <a:lnTo>
                    <a:pt x="49530" y="1934718"/>
                  </a:lnTo>
                  <a:lnTo>
                    <a:pt x="30238" y="1936572"/>
                  </a:lnTo>
                  <a:lnTo>
                    <a:pt x="14503" y="1941626"/>
                  </a:lnTo>
                  <a:lnTo>
                    <a:pt x="3886" y="1949132"/>
                  </a:lnTo>
                  <a:lnTo>
                    <a:pt x="0" y="1958340"/>
                  </a:lnTo>
                  <a:lnTo>
                    <a:pt x="3886" y="1967560"/>
                  </a:lnTo>
                  <a:lnTo>
                    <a:pt x="14503" y="1975065"/>
                  </a:lnTo>
                  <a:lnTo>
                    <a:pt x="30238" y="1980120"/>
                  </a:lnTo>
                  <a:lnTo>
                    <a:pt x="49530" y="1981962"/>
                  </a:lnTo>
                  <a:lnTo>
                    <a:pt x="68808" y="1980120"/>
                  </a:lnTo>
                  <a:lnTo>
                    <a:pt x="84543" y="1975065"/>
                  </a:lnTo>
                  <a:lnTo>
                    <a:pt x="95161" y="1967560"/>
                  </a:lnTo>
                  <a:lnTo>
                    <a:pt x="99060" y="1958340"/>
                  </a:lnTo>
                  <a:close/>
                </a:path>
                <a:path w="7442834" h="1982470">
                  <a:moveTo>
                    <a:pt x="7442454" y="541655"/>
                  </a:moveTo>
                  <a:lnTo>
                    <a:pt x="7417054" y="541655"/>
                  </a:lnTo>
                  <a:lnTo>
                    <a:pt x="7417054" y="0"/>
                  </a:lnTo>
                  <a:lnTo>
                    <a:pt x="7391654" y="0"/>
                  </a:lnTo>
                  <a:lnTo>
                    <a:pt x="7391654" y="541655"/>
                  </a:lnTo>
                  <a:lnTo>
                    <a:pt x="7366254" y="541655"/>
                  </a:lnTo>
                  <a:lnTo>
                    <a:pt x="7404354" y="617855"/>
                  </a:lnTo>
                  <a:lnTo>
                    <a:pt x="7436104" y="554355"/>
                  </a:lnTo>
                  <a:lnTo>
                    <a:pt x="7442454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821435" y="23987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986027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986027" y="321563"/>
                  </a:lnTo>
                  <a:lnTo>
                    <a:pt x="9860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0485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0" y="321563"/>
                  </a:moveTo>
                  <a:lnTo>
                    <a:pt x="986027" y="321563"/>
                  </a:lnTo>
                  <a:lnTo>
                    <a:pt x="986027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39267" y="2620517"/>
              <a:ext cx="3422650" cy="197485"/>
            </a:xfrm>
            <a:custGeom>
              <a:avLst/>
              <a:gdLst/>
              <a:ahLst/>
              <a:cxnLst/>
              <a:rect l="l" t="t" r="r" b="b"/>
              <a:pathLst>
                <a:path w="3422650" h="197485">
                  <a:moveTo>
                    <a:pt x="3421684" y="38354"/>
                  </a:moveTo>
                  <a:lnTo>
                    <a:pt x="3395980" y="25400"/>
                  </a:lnTo>
                  <a:lnTo>
                    <a:pt x="3345611" y="0"/>
                  </a:lnTo>
                  <a:lnTo>
                    <a:pt x="3345561" y="11684"/>
                  </a:lnTo>
                  <a:lnTo>
                    <a:pt x="3345510" y="25349"/>
                  </a:lnTo>
                  <a:lnTo>
                    <a:pt x="101" y="11684"/>
                  </a:lnTo>
                  <a:lnTo>
                    <a:pt x="0" y="37084"/>
                  </a:lnTo>
                  <a:lnTo>
                    <a:pt x="3345434" y="50749"/>
                  </a:lnTo>
                  <a:lnTo>
                    <a:pt x="3358172" y="50800"/>
                  </a:lnTo>
                  <a:lnTo>
                    <a:pt x="3345434" y="50800"/>
                  </a:lnTo>
                  <a:lnTo>
                    <a:pt x="3345357" y="76200"/>
                  </a:lnTo>
                  <a:lnTo>
                    <a:pt x="3396577" y="50800"/>
                  </a:lnTo>
                  <a:lnTo>
                    <a:pt x="3421684" y="38354"/>
                  </a:lnTo>
                  <a:close/>
                </a:path>
                <a:path w="3422650" h="197485">
                  <a:moveTo>
                    <a:pt x="3422319" y="159004"/>
                  </a:moveTo>
                  <a:lnTo>
                    <a:pt x="3396742" y="146177"/>
                  </a:lnTo>
                  <a:lnTo>
                    <a:pt x="3346119" y="120777"/>
                  </a:lnTo>
                  <a:lnTo>
                    <a:pt x="3346119" y="146164"/>
                  </a:lnTo>
                  <a:lnTo>
                    <a:pt x="288099" y="142748"/>
                  </a:lnTo>
                  <a:lnTo>
                    <a:pt x="288074" y="168148"/>
                  </a:lnTo>
                  <a:lnTo>
                    <a:pt x="3346119" y="171564"/>
                  </a:lnTo>
                  <a:lnTo>
                    <a:pt x="3346119" y="196977"/>
                  </a:lnTo>
                  <a:lnTo>
                    <a:pt x="3397085" y="171577"/>
                  </a:lnTo>
                  <a:lnTo>
                    <a:pt x="3422319" y="159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4040632" y="2532329"/>
            <a:ext cx="981710" cy="323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>
              <a:lnSpc>
                <a:spcPts val="165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RIGHT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36830">
              <a:lnSpc>
                <a:spcPts val="690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533145" y="2613405"/>
            <a:ext cx="400050" cy="1677035"/>
            <a:chOff x="533145" y="2613405"/>
            <a:chExt cx="400050" cy="1677035"/>
          </a:xfrm>
        </p:grpSpPr>
        <p:sp>
          <p:nvSpPr>
            <p:cNvPr id="113" name="object 113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8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5394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8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8275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8061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4546853" y="4403597"/>
            <a:ext cx="1336675" cy="3949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67970">
              <a:lnSpc>
                <a:spcPts val="1395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RIGHT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40005">
              <a:lnSpc>
                <a:spcPts val="1215"/>
              </a:lnSpc>
            </a:pPr>
            <a:r>
              <a:rPr sz="1050" b="1" spc="-10" dirty="0">
                <a:latin typeface="Calibri"/>
                <a:cs typeface="Calibri"/>
              </a:rPr>
              <a:t>S[1:0]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874258" y="4419853"/>
            <a:ext cx="2177415" cy="137160"/>
            <a:chOff x="5874258" y="4419853"/>
            <a:chExt cx="2177415" cy="137160"/>
          </a:xfrm>
        </p:grpSpPr>
        <p:sp>
          <p:nvSpPr>
            <p:cNvPr id="121" name="object 121"/>
            <p:cNvSpPr/>
            <p:nvPr/>
          </p:nvSpPr>
          <p:spPr>
            <a:xfrm>
              <a:off x="5874258" y="4448936"/>
              <a:ext cx="2177415" cy="76200"/>
            </a:xfrm>
            <a:custGeom>
              <a:avLst/>
              <a:gdLst/>
              <a:ahLst/>
              <a:cxnLst/>
              <a:rect l="l" t="t" r="r" b="b"/>
              <a:pathLst>
                <a:path w="2177415" h="76200">
                  <a:moveTo>
                    <a:pt x="2100834" y="0"/>
                  </a:moveTo>
                  <a:lnTo>
                    <a:pt x="2100768" y="19685"/>
                  </a:lnTo>
                  <a:lnTo>
                    <a:pt x="2100706" y="38354"/>
                  </a:lnTo>
                  <a:lnTo>
                    <a:pt x="2100580" y="76200"/>
                  </a:lnTo>
                  <a:lnTo>
                    <a:pt x="2151806" y="50800"/>
                  </a:lnTo>
                  <a:lnTo>
                    <a:pt x="2113280" y="50800"/>
                  </a:lnTo>
                  <a:lnTo>
                    <a:pt x="2113407" y="25400"/>
                  </a:lnTo>
                  <a:lnTo>
                    <a:pt x="2151213" y="25400"/>
                  </a:lnTo>
                  <a:lnTo>
                    <a:pt x="2100834" y="0"/>
                  </a:lnTo>
                  <a:close/>
                </a:path>
                <a:path w="2177415" h="76200">
                  <a:moveTo>
                    <a:pt x="0" y="19685"/>
                  </a:moveTo>
                  <a:lnTo>
                    <a:pt x="0" y="45085"/>
                  </a:lnTo>
                  <a:lnTo>
                    <a:pt x="2113279" y="50800"/>
                  </a:lnTo>
                  <a:lnTo>
                    <a:pt x="2100664" y="50800"/>
                  </a:lnTo>
                  <a:lnTo>
                    <a:pt x="2100749" y="25400"/>
                  </a:lnTo>
                  <a:lnTo>
                    <a:pt x="2113407" y="25400"/>
                  </a:lnTo>
                  <a:lnTo>
                    <a:pt x="0" y="19685"/>
                  </a:lnTo>
                  <a:close/>
                </a:path>
                <a:path w="2177415" h="76200">
                  <a:moveTo>
                    <a:pt x="2151213" y="25400"/>
                  </a:moveTo>
                  <a:lnTo>
                    <a:pt x="2113407" y="25400"/>
                  </a:lnTo>
                  <a:lnTo>
                    <a:pt x="2113280" y="50800"/>
                  </a:lnTo>
                  <a:lnTo>
                    <a:pt x="2151806" y="50800"/>
                  </a:lnTo>
                  <a:lnTo>
                    <a:pt x="2176907" y="38354"/>
                  </a:lnTo>
                  <a:lnTo>
                    <a:pt x="215121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400038" y="4432553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6435090" y="44325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537718" y="4458461"/>
            <a:ext cx="7495540" cy="1516380"/>
            <a:chOff x="537718" y="4458461"/>
            <a:chExt cx="7495540" cy="1516380"/>
          </a:xfrm>
        </p:grpSpPr>
        <p:sp>
          <p:nvSpPr>
            <p:cNvPr id="125" name="object 125"/>
            <p:cNvSpPr/>
            <p:nvPr/>
          </p:nvSpPr>
          <p:spPr>
            <a:xfrm>
              <a:off x="544068" y="4458461"/>
              <a:ext cx="4004310" cy="291465"/>
            </a:xfrm>
            <a:custGeom>
              <a:avLst/>
              <a:gdLst/>
              <a:ahLst/>
              <a:cxnLst/>
              <a:rect l="l" t="t" r="r" b="b"/>
              <a:pathLst>
                <a:path w="4004310" h="291464">
                  <a:moveTo>
                    <a:pt x="3990975" y="38100"/>
                  </a:moveTo>
                  <a:lnTo>
                    <a:pt x="3965575" y="25400"/>
                  </a:lnTo>
                  <a:lnTo>
                    <a:pt x="3914775" y="0"/>
                  </a:lnTo>
                  <a:lnTo>
                    <a:pt x="3914775" y="25400"/>
                  </a:lnTo>
                  <a:lnTo>
                    <a:pt x="86106" y="25400"/>
                  </a:lnTo>
                  <a:lnTo>
                    <a:pt x="86106" y="27063"/>
                  </a:lnTo>
                  <a:lnTo>
                    <a:pt x="84543" y="25958"/>
                  </a:lnTo>
                  <a:lnTo>
                    <a:pt x="68808" y="20904"/>
                  </a:lnTo>
                  <a:lnTo>
                    <a:pt x="49530" y="19050"/>
                  </a:lnTo>
                  <a:lnTo>
                    <a:pt x="30238" y="20904"/>
                  </a:lnTo>
                  <a:lnTo>
                    <a:pt x="14503" y="25958"/>
                  </a:lnTo>
                  <a:lnTo>
                    <a:pt x="3886" y="33464"/>
                  </a:lnTo>
                  <a:lnTo>
                    <a:pt x="0" y="42672"/>
                  </a:lnTo>
                  <a:lnTo>
                    <a:pt x="3886" y="51892"/>
                  </a:lnTo>
                  <a:lnTo>
                    <a:pt x="14503" y="59397"/>
                  </a:lnTo>
                  <a:lnTo>
                    <a:pt x="30238" y="64452"/>
                  </a:lnTo>
                  <a:lnTo>
                    <a:pt x="49530" y="66294"/>
                  </a:lnTo>
                  <a:lnTo>
                    <a:pt x="68808" y="64452"/>
                  </a:lnTo>
                  <a:lnTo>
                    <a:pt x="84543" y="59397"/>
                  </a:lnTo>
                  <a:lnTo>
                    <a:pt x="95161" y="51892"/>
                  </a:lnTo>
                  <a:lnTo>
                    <a:pt x="95618" y="50800"/>
                  </a:lnTo>
                  <a:lnTo>
                    <a:pt x="3914775" y="50800"/>
                  </a:lnTo>
                  <a:lnTo>
                    <a:pt x="3914775" y="76200"/>
                  </a:lnTo>
                  <a:lnTo>
                    <a:pt x="3965575" y="50800"/>
                  </a:lnTo>
                  <a:lnTo>
                    <a:pt x="3990975" y="38100"/>
                  </a:lnTo>
                  <a:close/>
                </a:path>
                <a:path w="4004310" h="291464">
                  <a:moveTo>
                    <a:pt x="4004183" y="252984"/>
                  </a:moveTo>
                  <a:lnTo>
                    <a:pt x="3979164" y="240588"/>
                  </a:lnTo>
                  <a:lnTo>
                    <a:pt x="3927856" y="215138"/>
                  </a:lnTo>
                  <a:lnTo>
                    <a:pt x="3927932" y="240588"/>
                  </a:lnTo>
                  <a:lnTo>
                    <a:pt x="331431" y="252095"/>
                  </a:lnTo>
                  <a:lnTo>
                    <a:pt x="331508" y="277495"/>
                  </a:lnTo>
                  <a:lnTo>
                    <a:pt x="3928021" y="265988"/>
                  </a:lnTo>
                  <a:lnTo>
                    <a:pt x="3928110" y="291338"/>
                  </a:lnTo>
                  <a:lnTo>
                    <a:pt x="3978402" y="265988"/>
                  </a:lnTo>
                  <a:lnTo>
                    <a:pt x="4004183" y="252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544068" y="44775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8061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897629" y="5690095"/>
              <a:ext cx="4135120" cy="76200"/>
            </a:xfrm>
            <a:custGeom>
              <a:avLst/>
              <a:gdLst/>
              <a:ahLst/>
              <a:cxnLst/>
              <a:rect l="l" t="t" r="r" b="b"/>
              <a:pathLst>
                <a:path w="4135120" h="76200">
                  <a:moveTo>
                    <a:pt x="4058793" y="0"/>
                  </a:moveTo>
                  <a:lnTo>
                    <a:pt x="4058877" y="25403"/>
                  </a:lnTo>
                  <a:lnTo>
                    <a:pt x="4058921" y="38557"/>
                  </a:lnTo>
                  <a:lnTo>
                    <a:pt x="4059047" y="76200"/>
                  </a:lnTo>
                  <a:lnTo>
                    <a:pt x="4109436" y="50803"/>
                  </a:lnTo>
                  <a:lnTo>
                    <a:pt x="4071747" y="50803"/>
                  </a:lnTo>
                  <a:lnTo>
                    <a:pt x="4071682" y="37858"/>
                  </a:lnTo>
                  <a:lnTo>
                    <a:pt x="4071620" y="25403"/>
                  </a:lnTo>
                  <a:lnTo>
                    <a:pt x="4110008" y="25403"/>
                  </a:lnTo>
                  <a:lnTo>
                    <a:pt x="4058793" y="0"/>
                  </a:lnTo>
                  <a:close/>
                </a:path>
                <a:path w="4135120" h="76200">
                  <a:moveTo>
                    <a:pt x="4058877" y="25403"/>
                  </a:moveTo>
                  <a:lnTo>
                    <a:pt x="0" y="38557"/>
                  </a:lnTo>
                  <a:lnTo>
                    <a:pt x="0" y="63957"/>
                  </a:lnTo>
                  <a:lnTo>
                    <a:pt x="4058962" y="50803"/>
                  </a:lnTo>
                  <a:lnTo>
                    <a:pt x="4058877" y="25403"/>
                  </a:lnTo>
                  <a:close/>
                </a:path>
                <a:path w="4135120" h="76200">
                  <a:moveTo>
                    <a:pt x="4110008" y="25403"/>
                  </a:moveTo>
                  <a:lnTo>
                    <a:pt x="4071620" y="25403"/>
                  </a:lnTo>
                  <a:lnTo>
                    <a:pt x="4071682" y="37858"/>
                  </a:lnTo>
                  <a:lnTo>
                    <a:pt x="4071747" y="50803"/>
                  </a:lnTo>
                  <a:lnTo>
                    <a:pt x="4109436" y="50803"/>
                  </a:lnTo>
                  <a:lnTo>
                    <a:pt x="4135120" y="37858"/>
                  </a:lnTo>
                  <a:lnTo>
                    <a:pt x="4110008" y="25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582930" y="5702045"/>
              <a:ext cx="2340610" cy="273050"/>
            </a:xfrm>
            <a:custGeom>
              <a:avLst/>
              <a:gdLst/>
              <a:ahLst/>
              <a:cxnLst/>
              <a:rect l="l" t="t" r="r" b="b"/>
              <a:pathLst>
                <a:path w="2340610" h="273050">
                  <a:moveTo>
                    <a:pt x="2340229" y="234696"/>
                  </a:moveTo>
                  <a:lnTo>
                    <a:pt x="2314829" y="221996"/>
                  </a:lnTo>
                  <a:lnTo>
                    <a:pt x="2264029" y="196596"/>
                  </a:lnTo>
                  <a:lnTo>
                    <a:pt x="2264029" y="221996"/>
                  </a:lnTo>
                  <a:lnTo>
                    <a:pt x="294132" y="221996"/>
                  </a:lnTo>
                  <a:lnTo>
                    <a:pt x="294132" y="247396"/>
                  </a:lnTo>
                  <a:lnTo>
                    <a:pt x="2264029" y="247396"/>
                  </a:lnTo>
                  <a:lnTo>
                    <a:pt x="2264029" y="272796"/>
                  </a:lnTo>
                  <a:lnTo>
                    <a:pt x="2314829" y="247396"/>
                  </a:lnTo>
                  <a:lnTo>
                    <a:pt x="2340229" y="234696"/>
                  </a:lnTo>
                  <a:close/>
                </a:path>
                <a:path w="2340610" h="273050">
                  <a:moveTo>
                    <a:pt x="2340483" y="38100"/>
                  </a:moveTo>
                  <a:lnTo>
                    <a:pt x="2315083" y="25400"/>
                  </a:lnTo>
                  <a:lnTo>
                    <a:pt x="2264283" y="0"/>
                  </a:lnTo>
                  <a:lnTo>
                    <a:pt x="2264283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64283" y="50800"/>
                  </a:lnTo>
                  <a:lnTo>
                    <a:pt x="2264283" y="76200"/>
                  </a:lnTo>
                  <a:lnTo>
                    <a:pt x="2315083" y="50800"/>
                  </a:lnTo>
                  <a:lnTo>
                    <a:pt x="23404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411986" y="5695289"/>
            <a:ext cx="106045" cy="42608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2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533145" y="4643882"/>
            <a:ext cx="3404235" cy="1381125"/>
            <a:chOff x="533145" y="4643882"/>
            <a:chExt cx="3404235" cy="1381125"/>
          </a:xfrm>
        </p:grpSpPr>
        <p:sp>
          <p:nvSpPr>
            <p:cNvPr id="133" name="object 133"/>
            <p:cNvSpPr/>
            <p:nvPr/>
          </p:nvSpPr>
          <p:spPr>
            <a:xfrm>
              <a:off x="1376934" y="5689854"/>
              <a:ext cx="176530" cy="322580"/>
            </a:xfrm>
            <a:custGeom>
              <a:avLst/>
              <a:gdLst/>
              <a:ahLst/>
              <a:cxnLst/>
              <a:rect l="l" t="t" r="r" b="b"/>
              <a:pathLst>
                <a:path w="176530" h="322579">
                  <a:moveTo>
                    <a:pt x="176403" y="0"/>
                  </a:moveTo>
                  <a:lnTo>
                    <a:pt x="7619" y="111645"/>
                  </a:lnTo>
                </a:path>
                <a:path w="176530" h="322579">
                  <a:moveTo>
                    <a:pt x="168782" y="210312"/>
                  </a:moveTo>
                  <a:lnTo>
                    <a:pt x="0" y="3219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5394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8016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3755897" y="4656582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2923794" y="5671565"/>
            <a:ext cx="975360" cy="33401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240"/>
              </a:spcBef>
            </a:pPr>
            <a:r>
              <a:rPr sz="1400" b="1" spc="-25" dirty="0">
                <a:latin typeface="Calibri"/>
                <a:cs typeface="Calibri"/>
              </a:rPr>
              <a:t>DIV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3813809" y="4678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1" name="object 141"/>
          <p:cNvSpPr/>
          <p:nvPr/>
        </p:nvSpPr>
        <p:spPr>
          <a:xfrm>
            <a:off x="3016757" y="39524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 txBox="1"/>
          <p:nvPr/>
        </p:nvSpPr>
        <p:spPr>
          <a:xfrm>
            <a:off x="3084957" y="397530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3" name="object 143"/>
          <p:cNvSpPr/>
          <p:nvPr/>
        </p:nvSpPr>
        <p:spPr>
          <a:xfrm>
            <a:off x="2978657" y="443865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 txBox="1"/>
          <p:nvPr/>
        </p:nvSpPr>
        <p:spPr>
          <a:xfrm>
            <a:off x="3014598" y="44574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976873" y="56672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4903978" y="2957829"/>
            <a:ext cx="2114550" cy="2842895"/>
            <a:chOff x="4903978" y="2957829"/>
            <a:chExt cx="2114550" cy="2842895"/>
          </a:xfrm>
        </p:grpSpPr>
        <p:sp>
          <p:nvSpPr>
            <p:cNvPr id="147" name="object 147"/>
            <p:cNvSpPr/>
            <p:nvPr/>
          </p:nvSpPr>
          <p:spPr>
            <a:xfrm>
              <a:off x="5939790" y="3362705"/>
              <a:ext cx="1020444" cy="2425700"/>
            </a:xfrm>
            <a:custGeom>
              <a:avLst/>
              <a:gdLst/>
              <a:ahLst/>
              <a:cxnLst/>
              <a:rect l="l" t="t" r="r" b="b"/>
              <a:pathLst>
                <a:path w="1020445" h="2425700">
                  <a:moveTo>
                    <a:pt x="168783" y="2313432"/>
                  </a:moveTo>
                  <a:lnTo>
                    <a:pt x="0" y="2425077"/>
                  </a:lnTo>
                </a:path>
                <a:path w="1020445" h="2425700">
                  <a:moveTo>
                    <a:pt x="1004315" y="0"/>
                  </a:moveTo>
                  <a:lnTo>
                    <a:pt x="1019937" y="20002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3978" y="2957829"/>
              <a:ext cx="137668" cy="107187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7558" y="3305301"/>
              <a:ext cx="140716" cy="101092"/>
            </a:xfrm>
            <a:prstGeom prst="rect">
              <a:avLst/>
            </a:prstGeom>
          </p:spPr>
        </p:pic>
      </p:grpSp>
      <p:sp>
        <p:nvSpPr>
          <p:cNvPr id="150" name="object 150"/>
          <p:cNvSpPr txBox="1"/>
          <p:nvPr/>
        </p:nvSpPr>
        <p:spPr>
          <a:xfrm>
            <a:off x="7032117" y="5097526"/>
            <a:ext cx="820419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CMP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(SUB)</a:t>
            </a:r>
            <a:endParaRPr sz="1400">
              <a:latin typeface="Calibri"/>
              <a:cs typeface="Calibri"/>
            </a:endParaRPr>
          </a:p>
          <a:p>
            <a:pPr marL="151130">
              <a:lnSpc>
                <a:spcPts val="2060"/>
              </a:lnSpc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2636011" y="23976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2526029" y="2355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 txBox="1"/>
          <p:nvPr/>
        </p:nvSpPr>
        <p:spPr>
          <a:xfrm>
            <a:off x="2081529" y="273837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4" name="object 154"/>
          <p:cNvSpPr/>
          <p:nvPr/>
        </p:nvSpPr>
        <p:spPr>
          <a:xfrm>
            <a:off x="2020061" y="271348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 txBox="1"/>
          <p:nvPr/>
        </p:nvSpPr>
        <p:spPr>
          <a:xfrm>
            <a:off x="1842897" y="246900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1824482" y="2591054"/>
            <a:ext cx="8244205" cy="626745"/>
            <a:chOff x="1824482" y="2591054"/>
            <a:chExt cx="8244205" cy="626745"/>
          </a:xfrm>
        </p:grpSpPr>
        <p:sp>
          <p:nvSpPr>
            <p:cNvPr id="157" name="object 157"/>
            <p:cNvSpPr/>
            <p:nvPr/>
          </p:nvSpPr>
          <p:spPr>
            <a:xfrm>
              <a:off x="1837182" y="26037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3998214" y="3141218"/>
              <a:ext cx="6070600" cy="76200"/>
            </a:xfrm>
            <a:custGeom>
              <a:avLst/>
              <a:gdLst/>
              <a:ahLst/>
              <a:cxnLst/>
              <a:rect l="l" t="t" r="r" b="b"/>
              <a:pathLst>
                <a:path w="6070600" h="76200">
                  <a:moveTo>
                    <a:pt x="5994400" y="0"/>
                  </a:moveTo>
                  <a:lnTo>
                    <a:pt x="5994379" y="6096"/>
                  </a:lnTo>
                  <a:lnTo>
                    <a:pt x="5994272" y="38354"/>
                  </a:lnTo>
                  <a:lnTo>
                    <a:pt x="5994145" y="76200"/>
                  </a:lnTo>
                  <a:lnTo>
                    <a:pt x="6045372" y="50800"/>
                  </a:lnTo>
                  <a:lnTo>
                    <a:pt x="6006845" y="50800"/>
                  </a:lnTo>
                  <a:lnTo>
                    <a:pt x="6006972" y="25400"/>
                  </a:lnTo>
                  <a:lnTo>
                    <a:pt x="6044779" y="25400"/>
                  </a:lnTo>
                  <a:lnTo>
                    <a:pt x="5994400" y="0"/>
                  </a:lnTo>
                  <a:close/>
                </a:path>
                <a:path w="6070600" h="76200">
                  <a:moveTo>
                    <a:pt x="0" y="6096"/>
                  </a:moveTo>
                  <a:lnTo>
                    <a:pt x="0" y="31496"/>
                  </a:lnTo>
                  <a:lnTo>
                    <a:pt x="6006845" y="50800"/>
                  </a:lnTo>
                  <a:lnTo>
                    <a:pt x="5994230" y="50800"/>
                  </a:lnTo>
                  <a:lnTo>
                    <a:pt x="5994315" y="25400"/>
                  </a:lnTo>
                  <a:lnTo>
                    <a:pt x="6006973" y="25400"/>
                  </a:lnTo>
                  <a:lnTo>
                    <a:pt x="0" y="6096"/>
                  </a:lnTo>
                  <a:close/>
                </a:path>
                <a:path w="6070600" h="76200">
                  <a:moveTo>
                    <a:pt x="6044779" y="25400"/>
                  </a:moveTo>
                  <a:lnTo>
                    <a:pt x="6006972" y="25400"/>
                  </a:lnTo>
                  <a:lnTo>
                    <a:pt x="6006845" y="50800"/>
                  </a:lnTo>
                  <a:lnTo>
                    <a:pt x="6045372" y="50800"/>
                  </a:lnTo>
                  <a:lnTo>
                    <a:pt x="6070472" y="38354"/>
                  </a:lnTo>
                  <a:lnTo>
                    <a:pt x="604477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917244" y="275272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928522" y="239890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905967" y="423405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912367" y="4696714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3899661" y="3081020"/>
            <a:ext cx="673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50" dirty="0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4" name="object 164"/>
          <p:cNvSpPr/>
          <p:nvPr/>
        </p:nvSpPr>
        <p:spPr>
          <a:xfrm>
            <a:off x="9684257" y="3117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9742678" y="31224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6" name="object 166"/>
          <p:cNvGrpSpPr/>
          <p:nvPr/>
        </p:nvGrpSpPr>
        <p:grpSpPr>
          <a:xfrm>
            <a:off x="9904730" y="1368552"/>
            <a:ext cx="738505" cy="1500505"/>
            <a:chOff x="9904730" y="1368552"/>
            <a:chExt cx="738505" cy="1500505"/>
          </a:xfrm>
        </p:grpSpPr>
        <p:sp>
          <p:nvSpPr>
            <p:cNvPr id="167" name="object 167"/>
            <p:cNvSpPr/>
            <p:nvPr/>
          </p:nvSpPr>
          <p:spPr>
            <a:xfrm>
              <a:off x="9928098" y="2364486"/>
              <a:ext cx="1270" cy="477520"/>
            </a:xfrm>
            <a:custGeom>
              <a:avLst/>
              <a:gdLst/>
              <a:ahLst/>
              <a:cxnLst/>
              <a:rect l="l" t="t" r="r" b="b"/>
              <a:pathLst>
                <a:path w="1270" h="477519">
                  <a:moveTo>
                    <a:pt x="0" y="0"/>
                  </a:moveTo>
                  <a:lnTo>
                    <a:pt x="1016" y="477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18954" y="2792730"/>
              <a:ext cx="136651" cy="76200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9917430" y="1404366"/>
              <a:ext cx="11430" cy="993775"/>
            </a:xfrm>
            <a:custGeom>
              <a:avLst/>
              <a:gdLst/>
              <a:ahLst/>
              <a:cxnLst/>
              <a:rect l="l" t="t" r="r" b="b"/>
              <a:pathLst>
                <a:path w="11429" h="993775">
                  <a:moveTo>
                    <a:pt x="0" y="0"/>
                  </a:moveTo>
                  <a:lnTo>
                    <a:pt x="11049" y="99352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9927971" y="1368551"/>
              <a:ext cx="715010" cy="326390"/>
            </a:xfrm>
            <a:custGeom>
              <a:avLst/>
              <a:gdLst/>
              <a:ahLst/>
              <a:cxnLst/>
              <a:rect l="l" t="t" r="r" b="b"/>
              <a:pathLst>
                <a:path w="715009" h="326389">
                  <a:moveTo>
                    <a:pt x="684022" y="37338"/>
                  </a:moveTo>
                  <a:lnTo>
                    <a:pt x="659269" y="25273"/>
                  </a:lnTo>
                  <a:lnTo>
                    <a:pt x="607441" y="0"/>
                  </a:lnTo>
                  <a:lnTo>
                    <a:pt x="607682" y="25273"/>
                  </a:lnTo>
                  <a:lnTo>
                    <a:pt x="607695" y="25412"/>
                  </a:lnTo>
                  <a:lnTo>
                    <a:pt x="0" y="31877"/>
                  </a:lnTo>
                  <a:lnTo>
                    <a:pt x="177" y="50673"/>
                  </a:lnTo>
                  <a:lnTo>
                    <a:pt x="254" y="57277"/>
                  </a:lnTo>
                  <a:lnTo>
                    <a:pt x="607949" y="50812"/>
                  </a:lnTo>
                  <a:lnTo>
                    <a:pt x="608203" y="76200"/>
                  </a:lnTo>
                  <a:lnTo>
                    <a:pt x="684022" y="37338"/>
                  </a:lnTo>
                  <a:close/>
                </a:path>
                <a:path w="715009" h="326389">
                  <a:moveTo>
                    <a:pt x="715010" y="287274"/>
                  </a:moveTo>
                  <a:lnTo>
                    <a:pt x="690575" y="275463"/>
                  </a:lnTo>
                  <a:lnTo>
                    <a:pt x="638302" y="250190"/>
                  </a:lnTo>
                  <a:lnTo>
                    <a:pt x="638632" y="275463"/>
                  </a:lnTo>
                  <a:lnTo>
                    <a:pt x="638632" y="275640"/>
                  </a:lnTo>
                  <a:lnTo>
                    <a:pt x="3048" y="283972"/>
                  </a:lnTo>
                  <a:lnTo>
                    <a:pt x="3213" y="300863"/>
                  </a:lnTo>
                  <a:lnTo>
                    <a:pt x="3302" y="309372"/>
                  </a:lnTo>
                  <a:lnTo>
                    <a:pt x="638975" y="301040"/>
                  </a:lnTo>
                  <a:lnTo>
                    <a:pt x="638784" y="287274"/>
                  </a:lnTo>
                  <a:lnTo>
                    <a:pt x="638975" y="300863"/>
                  </a:lnTo>
                  <a:lnTo>
                    <a:pt x="638975" y="301040"/>
                  </a:lnTo>
                  <a:lnTo>
                    <a:pt x="639318" y="326390"/>
                  </a:lnTo>
                  <a:lnTo>
                    <a:pt x="715010" y="2872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1" name="object 171"/>
          <p:cNvSpPr txBox="1"/>
          <p:nvPr/>
        </p:nvSpPr>
        <p:spPr>
          <a:xfrm>
            <a:off x="10108818" y="2544556"/>
            <a:ext cx="175895" cy="72834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cf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9935336" y="1219022"/>
            <a:ext cx="20256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R[3]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9945751" y="1512188"/>
            <a:ext cx="20193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R[2]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9931018" y="1838198"/>
            <a:ext cx="712470" cy="76200"/>
          </a:xfrm>
          <a:custGeom>
            <a:avLst/>
            <a:gdLst/>
            <a:ahLst/>
            <a:cxnLst/>
            <a:rect l="l" t="t" r="r" b="b"/>
            <a:pathLst>
              <a:path w="712470" h="76200">
                <a:moveTo>
                  <a:pt x="687531" y="25273"/>
                </a:moveTo>
                <a:lnTo>
                  <a:pt x="648207" y="25273"/>
                </a:lnTo>
                <a:lnTo>
                  <a:pt x="648588" y="50673"/>
                </a:lnTo>
                <a:lnTo>
                  <a:pt x="635931" y="50839"/>
                </a:lnTo>
                <a:lnTo>
                  <a:pt x="636270" y="76200"/>
                </a:lnTo>
                <a:lnTo>
                  <a:pt x="711961" y="37084"/>
                </a:lnTo>
                <a:lnTo>
                  <a:pt x="687531" y="25273"/>
                </a:lnTo>
                <a:close/>
              </a:path>
              <a:path w="712470" h="76200">
                <a:moveTo>
                  <a:pt x="635593" y="25438"/>
                </a:moveTo>
                <a:lnTo>
                  <a:pt x="0" y="33781"/>
                </a:lnTo>
                <a:lnTo>
                  <a:pt x="168" y="50673"/>
                </a:lnTo>
                <a:lnTo>
                  <a:pt x="253" y="59181"/>
                </a:lnTo>
                <a:lnTo>
                  <a:pt x="635931" y="50839"/>
                </a:lnTo>
                <a:lnTo>
                  <a:pt x="635748" y="37084"/>
                </a:lnTo>
                <a:lnTo>
                  <a:pt x="635704" y="33781"/>
                </a:lnTo>
                <a:lnTo>
                  <a:pt x="635593" y="25438"/>
                </a:lnTo>
                <a:close/>
              </a:path>
              <a:path w="712470" h="76200">
                <a:moveTo>
                  <a:pt x="648207" y="25273"/>
                </a:moveTo>
                <a:lnTo>
                  <a:pt x="635593" y="25438"/>
                </a:lnTo>
                <a:lnTo>
                  <a:pt x="635929" y="50673"/>
                </a:lnTo>
                <a:lnTo>
                  <a:pt x="635931" y="50839"/>
                </a:lnTo>
                <a:lnTo>
                  <a:pt x="648588" y="50673"/>
                </a:lnTo>
                <a:lnTo>
                  <a:pt x="648385" y="37084"/>
                </a:lnTo>
                <a:lnTo>
                  <a:pt x="648335" y="33781"/>
                </a:lnTo>
                <a:lnTo>
                  <a:pt x="648210" y="25438"/>
                </a:lnTo>
                <a:lnTo>
                  <a:pt x="648207" y="25273"/>
                </a:lnTo>
                <a:close/>
              </a:path>
              <a:path w="712470" h="76200">
                <a:moveTo>
                  <a:pt x="635253" y="0"/>
                </a:moveTo>
                <a:lnTo>
                  <a:pt x="635590" y="25273"/>
                </a:lnTo>
                <a:lnTo>
                  <a:pt x="635593" y="25438"/>
                </a:lnTo>
                <a:lnTo>
                  <a:pt x="648207" y="25273"/>
                </a:lnTo>
                <a:lnTo>
                  <a:pt x="687531" y="25273"/>
                </a:lnTo>
                <a:lnTo>
                  <a:pt x="63525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 txBox="1"/>
          <p:nvPr/>
        </p:nvSpPr>
        <p:spPr>
          <a:xfrm>
            <a:off x="9945751" y="1731391"/>
            <a:ext cx="20193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R[1]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9934067" y="2037460"/>
            <a:ext cx="678180" cy="76200"/>
          </a:xfrm>
          <a:custGeom>
            <a:avLst/>
            <a:gdLst/>
            <a:ahLst/>
            <a:cxnLst/>
            <a:rect l="l" t="t" r="r" b="b"/>
            <a:pathLst>
              <a:path w="678179" h="76200">
                <a:moveTo>
                  <a:pt x="601599" y="0"/>
                </a:moveTo>
                <a:lnTo>
                  <a:pt x="602233" y="76200"/>
                </a:lnTo>
                <a:lnTo>
                  <a:pt x="651989" y="50780"/>
                </a:lnTo>
                <a:lnTo>
                  <a:pt x="614681" y="50780"/>
                </a:lnTo>
                <a:lnTo>
                  <a:pt x="614547" y="37464"/>
                </a:lnTo>
                <a:lnTo>
                  <a:pt x="614427" y="25379"/>
                </a:lnTo>
                <a:lnTo>
                  <a:pt x="653391" y="25379"/>
                </a:lnTo>
                <a:lnTo>
                  <a:pt x="601599" y="0"/>
                </a:lnTo>
                <a:close/>
              </a:path>
              <a:path w="678179" h="76200">
                <a:moveTo>
                  <a:pt x="601810" y="25379"/>
                </a:moveTo>
                <a:lnTo>
                  <a:pt x="0" y="30479"/>
                </a:lnTo>
                <a:lnTo>
                  <a:pt x="203" y="50780"/>
                </a:lnTo>
                <a:lnTo>
                  <a:pt x="253" y="55879"/>
                </a:lnTo>
                <a:lnTo>
                  <a:pt x="602022" y="50780"/>
                </a:lnTo>
                <a:lnTo>
                  <a:pt x="601911" y="37464"/>
                </a:lnTo>
                <a:lnTo>
                  <a:pt x="601810" y="25379"/>
                </a:lnTo>
                <a:close/>
              </a:path>
              <a:path w="678179" h="76200">
                <a:moveTo>
                  <a:pt x="653391" y="25379"/>
                </a:moveTo>
                <a:lnTo>
                  <a:pt x="614427" y="25379"/>
                </a:lnTo>
                <a:lnTo>
                  <a:pt x="614681" y="50780"/>
                </a:lnTo>
                <a:lnTo>
                  <a:pt x="651989" y="50780"/>
                </a:lnTo>
                <a:lnTo>
                  <a:pt x="678052" y="37464"/>
                </a:lnTo>
                <a:lnTo>
                  <a:pt x="653391" y="253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9947909" y="1928241"/>
            <a:ext cx="20193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R[0]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9885426" y="4439539"/>
            <a:ext cx="2066925" cy="8794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50190" marR="120014" indent="-120650">
              <a:lnSpc>
                <a:spcPts val="2160"/>
              </a:lnSpc>
              <a:spcBef>
                <a:spcPts val="375"/>
              </a:spcBef>
            </a:pPr>
            <a:r>
              <a:rPr sz="2000" b="1" dirty="0">
                <a:latin typeface="Calibri"/>
                <a:cs typeface="Calibri"/>
              </a:rPr>
              <a:t>We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need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store </a:t>
            </a:r>
            <a:r>
              <a:rPr sz="2000" b="1" dirty="0">
                <a:latin typeface="Calibri"/>
                <a:cs typeface="Calibri"/>
              </a:rPr>
              <a:t>these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flags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6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2000" b="1" spc="-10" dirty="0">
                <a:latin typeface="Calibri"/>
                <a:cs typeface="Calibri"/>
              </a:rPr>
              <a:t>3-</a:t>
            </a:r>
            <a:r>
              <a:rPr sz="2000" b="1" dirty="0">
                <a:latin typeface="Calibri"/>
                <a:cs typeface="Calibri"/>
              </a:rPr>
              <a:t>bit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FLAG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Register.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79" name="object 17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355578" y="1678177"/>
            <a:ext cx="352425" cy="156463"/>
          </a:xfrm>
          <a:prstGeom prst="rect">
            <a:avLst/>
          </a:prstGeom>
        </p:spPr>
      </p:pic>
      <p:sp>
        <p:nvSpPr>
          <p:cNvPr id="180" name="object 180"/>
          <p:cNvSpPr txBox="1"/>
          <p:nvPr/>
        </p:nvSpPr>
        <p:spPr>
          <a:xfrm>
            <a:off x="11715368" y="1592325"/>
            <a:ext cx="167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zf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21046" y="55626"/>
            <a:ext cx="155130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4</a:t>
            </a:r>
            <a:r>
              <a:rPr sz="3200" spc="-10" dirty="0"/>
              <a:t> </a:t>
            </a:r>
            <a:r>
              <a:rPr sz="3200" dirty="0"/>
              <a:t>bit</a:t>
            </a:r>
            <a:r>
              <a:rPr sz="3200" spc="-15" dirty="0"/>
              <a:t> </a:t>
            </a:r>
            <a:r>
              <a:rPr sz="3200" spc="-25" dirty="0"/>
              <a:t>ALU</a:t>
            </a:r>
            <a:endParaRPr sz="3200"/>
          </a:p>
        </p:txBody>
      </p:sp>
      <p:pic>
        <p:nvPicPr>
          <p:cNvPr id="3" name="object 3" descr="Image result for Or gat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7196" y="1169607"/>
            <a:ext cx="847023" cy="11121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14584" y="4113403"/>
            <a:ext cx="175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cf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7878" y="3969257"/>
            <a:ext cx="3918585" cy="316230"/>
          </a:xfrm>
          <a:custGeom>
            <a:avLst/>
            <a:gdLst/>
            <a:ahLst/>
            <a:cxnLst/>
            <a:rect l="l" t="t" r="r" b="b"/>
            <a:pathLst>
              <a:path w="3918585" h="316229">
                <a:moveTo>
                  <a:pt x="3904869" y="38100"/>
                </a:moveTo>
                <a:lnTo>
                  <a:pt x="3879469" y="25400"/>
                </a:lnTo>
                <a:lnTo>
                  <a:pt x="3828669" y="0"/>
                </a:lnTo>
                <a:lnTo>
                  <a:pt x="3828669" y="25400"/>
                </a:lnTo>
                <a:lnTo>
                  <a:pt x="0" y="25400"/>
                </a:lnTo>
                <a:lnTo>
                  <a:pt x="0" y="50800"/>
                </a:lnTo>
                <a:lnTo>
                  <a:pt x="3828669" y="50800"/>
                </a:lnTo>
                <a:lnTo>
                  <a:pt x="3828669" y="76200"/>
                </a:lnTo>
                <a:lnTo>
                  <a:pt x="3879469" y="50800"/>
                </a:lnTo>
                <a:lnTo>
                  <a:pt x="3904869" y="38100"/>
                </a:lnTo>
                <a:close/>
              </a:path>
              <a:path w="3918585" h="316229">
                <a:moveTo>
                  <a:pt x="3918077" y="277368"/>
                </a:moveTo>
                <a:lnTo>
                  <a:pt x="3893058" y="264972"/>
                </a:lnTo>
                <a:lnTo>
                  <a:pt x="3841750" y="239522"/>
                </a:lnTo>
                <a:lnTo>
                  <a:pt x="3841826" y="264972"/>
                </a:lnTo>
                <a:lnTo>
                  <a:pt x="245325" y="276479"/>
                </a:lnTo>
                <a:lnTo>
                  <a:pt x="245402" y="301879"/>
                </a:lnTo>
                <a:lnTo>
                  <a:pt x="3841915" y="290372"/>
                </a:lnTo>
                <a:lnTo>
                  <a:pt x="3842004" y="315722"/>
                </a:lnTo>
                <a:lnTo>
                  <a:pt x="3892296" y="290372"/>
                </a:lnTo>
                <a:lnTo>
                  <a:pt x="3918077" y="2773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453890" y="3868673"/>
            <a:ext cx="1335405" cy="44386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2415">
              <a:lnSpc>
                <a:spcPts val="1365"/>
              </a:lnSpc>
            </a:pPr>
            <a:r>
              <a:rPr sz="1200" b="1" dirty="0">
                <a:latin typeface="Calibri"/>
                <a:cs typeface="Calibri"/>
              </a:rPr>
              <a:t>LEFT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480"/>
              </a:spcBef>
            </a:pPr>
            <a:r>
              <a:rPr sz="1200" b="1" spc="-10" dirty="0">
                <a:latin typeface="Calibri"/>
                <a:cs typeface="Calibri"/>
              </a:rPr>
              <a:t>S[1:0]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61518" y="505205"/>
            <a:ext cx="8502015" cy="3824604"/>
            <a:chOff x="461518" y="505205"/>
            <a:chExt cx="8502015" cy="3824604"/>
          </a:xfrm>
        </p:grpSpPr>
        <p:sp>
          <p:nvSpPr>
            <p:cNvPr id="8" name="object 8"/>
            <p:cNvSpPr/>
            <p:nvPr/>
          </p:nvSpPr>
          <p:spPr>
            <a:xfrm>
              <a:off x="4678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7868" y="39822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79770" y="505205"/>
              <a:ext cx="3183890" cy="3587115"/>
            </a:xfrm>
            <a:custGeom>
              <a:avLst/>
              <a:gdLst/>
              <a:ahLst/>
              <a:cxnLst/>
              <a:rect l="l" t="t" r="r" b="b"/>
              <a:pathLst>
                <a:path w="3183890" h="3587115">
                  <a:moveTo>
                    <a:pt x="2176907" y="3549269"/>
                  </a:moveTo>
                  <a:lnTo>
                    <a:pt x="2151202" y="3536315"/>
                  </a:lnTo>
                  <a:lnTo>
                    <a:pt x="2100834" y="3510915"/>
                  </a:lnTo>
                  <a:lnTo>
                    <a:pt x="2100757" y="3530600"/>
                  </a:lnTo>
                  <a:lnTo>
                    <a:pt x="2100732" y="3536289"/>
                  </a:lnTo>
                  <a:lnTo>
                    <a:pt x="0" y="3530600"/>
                  </a:lnTo>
                  <a:lnTo>
                    <a:pt x="0" y="3556000"/>
                  </a:lnTo>
                  <a:lnTo>
                    <a:pt x="2100656" y="3561689"/>
                  </a:lnTo>
                  <a:lnTo>
                    <a:pt x="2113267" y="3561715"/>
                  </a:lnTo>
                  <a:lnTo>
                    <a:pt x="2100656" y="3561715"/>
                  </a:lnTo>
                  <a:lnTo>
                    <a:pt x="2100580" y="3587115"/>
                  </a:lnTo>
                  <a:lnTo>
                    <a:pt x="2151799" y="3561715"/>
                  </a:lnTo>
                  <a:lnTo>
                    <a:pt x="2176907" y="3549269"/>
                  </a:lnTo>
                  <a:close/>
                </a:path>
                <a:path w="3183890" h="3587115">
                  <a:moveTo>
                    <a:pt x="2665476" y="547751"/>
                  </a:moveTo>
                  <a:lnTo>
                    <a:pt x="2640076" y="547751"/>
                  </a:lnTo>
                  <a:lnTo>
                    <a:pt x="2640076" y="6096"/>
                  </a:lnTo>
                  <a:lnTo>
                    <a:pt x="2614676" y="6096"/>
                  </a:lnTo>
                  <a:lnTo>
                    <a:pt x="2614676" y="547751"/>
                  </a:lnTo>
                  <a:lnTo>
                    <a:pt x="2589276" y="547751"/>
                  </a:lnTo>
                  <a:lnTo>
                    <a:pt x="2627376" y="623951"/>
                  </a:lnTo>
                  <a:lnTo>
                    <a:pt x="2659126" y="560451"/>
                  </a:lnTo>
                  <a:lnTo>
                    <a:pt x="2665476" y="547751"/>
                  </a:lnTo>
                  <a:close/>
                </a:path>
                <a:path w="3183890" h="3587115">
                  <a:moveTo>
                    <a:pt x="2906268" y="541655"/>
                  </a:moveTo>
                  <a:lnTo>
                    <a:pt x="2880868" y="541655"/>
                  </a:lnTo>
                  <a:lnTo>
                    <a:pt x="2880868" y="0"/>
                  </a:lnTo>
                  <a:lnTo>
                    <a:pt x="2855468" y="0"/>
                  </a:lnTo>
                  <a:lnTo>
                    <a:pt x="2855468" y="541655"/>
                  </a:lnTo>
                  <a:lnTo>
                    <a:pt x="2830068" y="541655"/>
                  </a:lnTo>
                  <a:lnTo>
                    <a:pt x="2868168" y="617855"/>
                  </a:lnTo>
                  <a:lnTo>
                    <a:pt x="2899918" y="554355"/>
                  </a:lnTo>
                  <a:lnTo>
                    <a:pt x="2906268" y="541655"/>
                  </a:lnTo>
                  <a:close/>
                </a:path>
                <a:path w="3183890" h="3587115">
                  <a:moveTo>
                    <a:pt x="3183636" y="541655"/>
                  </a:moveTo>
                  <a:lnTo>
                    <a:pt x="3158236" y="541655"/>
                  </a:lnTo>
                  <a:lnTo>
                    <a:pt x="3158236" y="0"/>
                  </a:lnTo>
                  <a:lnTo>
                    <a:pt x="3132836" y="0"/>
                  </a:lnTo>
                  <a:lnTo>
                    <a:pt x="3132836" y="541655"/>
                  </a:lnTo>
                  <a:lnTo>
                    <a:pt x="3107436" y="541655"/>
                  </a:lnTo>
                  <a:lnTo>
                    <a:pt x="3145536" y="617855"/>
                  </a:lnTo>
                  <a:lnTo>
                    <a:pt x="3177286" y="554355"/>
                  </a:lnTo>
                  <a:lnTo>
                    <a:pt x="3183636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19321" y="4205477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97300" y="422833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2261" y="4877561"/>
            <a:ext cx="977265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64135" rIns="0" bIns="0" rtlCol="0">
            <a:spAutoFit/>
          </a:bodyPr>
          <a:lstStyle/>
          <a:p>
            <a:pPr marL="325120">
              <a:lnSpc>
                <a:spcPct val="100000"/>
              </a:lnSpc>
              <a:spcBef>
                <a:spcPts val="505"/>
              </a:spcBef>
            </a:pPr>
            <a:r>
              <a:rPr sz="1400" b="1" spc="-25" dirty="0">
                <a:latin typeface="Calibri"/>
                <a:cs typeface="Calibri"/>
              </a:rPr>
              <a:t>NOT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46277" y="4904485"/>
            <a:ext cx="3951604" cy="137160"/>
            <a:chOff x="446277" y="4904485"/>
            <a:chExt cx="3951604" cy="137160"/>
          </a:xfrm>
        </p:grpSpPr>
        <p:sp>
          <p:nvSpPr>
            <p:cNvPr id="15" name="object 15"/>
            <p:cNvSpPr/>
            <p:nvPr/>
          </p:nvSpPr>
          <p:spPr>
            <a:xfrm>
              <a:off x="452628" y="4946141"/>
              <a:ext cx="3945254" cy="76200"/>
            </a:xfrm>
            <a:custGeom>
              <a:avLst/>
              <a:gdLst/>
              <a:ahLst/>
              <a:cxnLst/>
              <a:rect l="l" t="t" r="r" b="b"/>
              <a:pathLst>
                <a:path w="3945254" h="76200">
                  <a:moveTo>
                    <a:pt x="3945255" y="38100"/>
                  </a:moveTo>
                  <a:lnTo>
                    <a:pt x="3919855" y="25400"/>
                  </a:lnTo>
                  <a:lnTo>
                    <a:pt x="3869055" y="0"/>
                  </a:lnTo>
                  <a:lnTo>
                    <a:pt x="3869055" y="25400"/>
                  </a:lnTo>
                  <a:lnTo>
                    <a:pt x="87617" y="25400"/>
                  </a:lnTo>
                  <a:lnTo>
                    <a:pt x="84543" y="23152"/>
                  </a:lnTo>
                  <a:lnTo>
                    <a:pt x="68808" y="17919"/>
                  </a:lnTo>
                  <a:lnTo>
                    <a:pt x="49530" y="16002"/>
                  </a:lnTo>
                  <a:lnTo>
                    <a:pt x="30238" y="17919"/>
                  </a:lnTo>
                  <a:lnTo>
                    <a:pt x="14503" y="23152"/>
                  </a:lnTo>
                  <a:lnTo>
                    <a:pt x="3886" y="30899"/>
                  </a:lnTo>
                  <a:lnTo>
                    <a:pt x="0" y="40386"/>
                  </a:lnTo>
                  <a:lnTo>
                    <a:pt x="3886" y="49885"/>
                  </a:lnTo>
                  <a:lnTo>
                    <a:pt x="14503" y="57632"/>
                  </a:lnTo>
                  <a:lnTo>
                    <a:pt x="30238" y="62865"/>
                  </a:lnTo>
                  <a:lnTo>
                    <a:pt x="49530" y="64770"/>
                  </a:lnTo>
                  <a:lnTo>
                    <a:pt x="68808" y="62865"/>
                  </a:lnTo>
                  <a:lnTo>
                    <a:pt x="84543" y="57632"/>
                  </a:lnTo>
                  <a:lnTo>
                    <a:pt x="93903" y="50800"/>
                  </a:lnTo>
                  <a:lnTo>
                    <a:pt x="3869055" y="50800"/>
                  </a:lnTo>
                  <a:lnTo>
                    <a:pt x="3869055" y="76200"/>
                  </a:lnTo>
                  <a:lnTo>
                    <a:pt x="3919855" y="50800"/>
                  </a:lnTo>
                  <a:lnTo>
                    <a:pt x="3945255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2627" y="4962143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92245" y="4917185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533394" y="4950079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49875" y="3987038"/>
            <a:ext cx="2607310" cy="1029335"/>
            <a:chOff x="5349875" y="3987038"/>
            <a:chExt cx="2607310" cy="1029335"/>
          </a:xfrm>
        </p:grpSpPr>
        <p:sp>
          <p:nvSpPr>
            <p:cNvPr id="20" name="object 20"/>
            <p:cNvSpPr/>
            <p:nvPr/>
          </p:nvSpPr>
          <p:spPr>
            <a:xfrm>
              <a:off x="5349875" y="4940173"/>
              <a:ext cx="2607310" cy="76200"/>
            </a:xfrm>
            <a:custGeom>
              <a:avLst/>
              <a:gdLst/>
              <a:ahLst/>
              <a:cxnLst/>
              <a:rect l="l" t="t" r="r" b="b"/>
              <a:pathLst>
                <a:path w="2607309" h="76200">
                  <a:moveTo>
                    <a:pt x="2530982" y="0"/>
                  </a:moveTo>
                  <a:lnTo>
                    <a:pt x="2530932" y="10032"/>
                  </a:lnTo>
                  <a:lnTo>
                    <a:pt x="2530855" y="25526"/>
                  </a:lnTo>
                  <a:lnTo>
                    <a:pt x="2530728" y="50926"/>
                  </a:lnTo>
                  <a:lnTo>
                    <a:pt x="2530602" y="76200"/>
                  </a:lnTo>
                  <a:lnTo>
                    <a:pt x="2582001" y="50926"/>
                  </a:lnTo>
                  <a:lnTo>
                    <a:pt x="2543429" y="50926"/>
                  </a:lnTo>
                  <a:lnTo>
                    <a:pt x="2543555" y="25526"/>
                  </a:lnTo>
                  <a:lnTo>
                    <a:pt x="2581281" y="25526"/>
                  </a:lnTo>
                  <a:lnTo>
                    <a:pt x="2530982" y="0"/>
                  </a:lnTo>
                  <a:close/>
                </a:path>
                <a:path w="2607309" h="76200">
                  <a:moveTo>
                    <a:pt x="253" y="10032"/>
                  </a:moveTo>
                  <a:lnTo>
                    <a:pt x="99" y="25526"/>
                  </a:lnTo>
                  <a:lnTo>
                    <a:pt x="0" y="35432"/>
                  </a:lnTo>
                  <a:lnTo>
                    <a:pt x="2543428" y="50926"/>
                  </a:lnTo>
                  <a:lnTo>
                    <a:pt x="2530728" y="50926"/>
                  </a:lnTo>
                  <a:lnTo>
                    <a:pt x="2530855" y="25526"/>
                  </a:lnTo>
                  <a:lnTo>
                    <a:pt x="2543556" y="25526"/>
                  </a:lnTo>
                  <a:lnTo>
                    <a:pt x="253" y="10032"/>
                  </a:lnTo>
                  <a:close/>
                </a:path>
                <a:path w="2607309" h="76200">
                  <a:moveTo>
                    <a:pt x="2581281" y="25526"/>
                  </a:moveTo>
                  <a:lnTo>
                    <a:pt x="2543555" y="25526"/>
                  </a:lnTo>
                  <a:lnTo>
                    <a:pt x="2543429" y="50926"/>
                  </a:lnTo>
                  <a:lnTo>
                    <a:pt x="2582001" y="50926"/>
                  </a:lnTo>
                  <a:lnTo>
                    <a:pt x="2607055" y="38607"/>
                  </a:lnTo>
                  <a:lnTo>
                    <a:pt x="2581281" y="255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11646" y="3999738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2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340855" y="3998417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936741" y="4901946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965697" y="490740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886193" y="1057783"/>
            <a:ext cx="2634615" cy="5672455"/>
            <a:chOff x="6886193" y="1057783"/>
            <a:chExt cx="2634615" cy="5672455"/>
          </a:xfrm>
        </p:grpSpPr>
        <p:sp>
          <p:nvSpPr>
            <p:cNvPr id="26" name="object 26"/>
            <p:cNvSpPr/>
            <p:nvPr/>
          </p:nvSpPr>
          <p:spPr>
            <a:xfrm>
              <a:off x="6886193" y="5324602"/>
              <a:ext cx="1063625" cy="76200"/>
            </a:xfrm>
            <a:custGeom>
              <a:avLst/>
              <a:gdLst/>
              <a:ahLst/>
              <a:cxnLst/>
              <a:rect l="l" t="t" r="r" b="b"/>
              <a:pathLst>
                <a:path w="1063625" h="76200">
                  <a:moveTo>
                    <a:pt x="987044" y="0"/>
                  </a:moveTo>
                  <a:lnTo>
                    <a:pt x="986971" y="21844"/>
                  </a:lnTo>
                  <a:lnTo>
                    <a:pt x="986916" y="38354"/>
                  </a:lnTo>
                  <a:lnTo>
                    <a:pt x="986789" y="76200"/>
                  </a:lnTo>
                  <a:lnTo>
                    <a:pt x="1038016" y="50800"/>
                  </a:lnTo>
                  <a:lnTo>
                    <a:pt x="999616" y="50800"/>
                  </a:lnTo>
                  <a:lnTo>
                    <a:pt x="999616" y="25400"/>
                  </a:lnTo>
                  <a:lnTo>
                    <a:pt x="1037423" y="25400"/>
                  </a:lnTo>
                  <a:lnTo>
                    <a:pt x="987044" y="0"/>
                  </a:lnTo>
                  <a:close/>
                </a:path>
                <a:path w="1063625" h="76200">
                  <a:moveTo>
                    <a:pt x="0" y="21844"/>
                  </a:moveTo>
                  <a:lnTo>
                    <a:pt x="0" y="47244"/>
                  </a:lnTo>
                  <a:lnTo>
                    <a:pt x="999617" y="50800"/>
                  </a:lnTo>
                  <a:lnTo>
                    <a:pt x="986874" y="50800"/>
                  </a:lnTo>
                  <a:lnTo>
                    <a:pt x="986959" y="25400"/>
                  </a:lnTo>
                  <a:lnTo>
                    <a:pt x="999617" y="25400"/>
                  </a:lnTo>
                  <a:lnTo>
                    <a:pt x="0" y="21844"/>
                  </a:lnTo>
                  <a:close/>
                </a:path>
                <a:path w="1063625" h="76200">
                  <a:moveTo>
                    <a:pt x="1037423" y="25400"/>
                  </a:moveTo>
                  <a:lnTo>
                    <a:pt x="999616" y="25400"/>
                  </a:lnTo>
                  <a:lnTo>
                    <a:pt x="999616" y="50800"/>
                  </a:lnTo>
                  <a:lnTo>
                    <a:pt x="1038016" y="50800"/>
                  </a:lnTo>
                  <a:lnTo>
                    <a:pt x="1063116" y="38354"/>
                  </a:lnTo>
                  <a:lnTo>
                    <a:pt x="103742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050785" y="53088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09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9621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1542288" y="0"/>
                  </a:moveTo>
                  <a:lnTo>
                    <a:pt x="0" y="0"/>
                  </a:lnTo>
                  <a:lnTo>
                    <a:pt x="0" y="5640324"/>
                  </a:lnTo>
                  <a:lnTo>
                    <a:pt x="1542288" y="5640324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962137" y="1073658"/>
              <a:ext cx="1542415" cy="5640705"/>
            </a:xfrm>
            <a:custGeom>
              <a:avLst/>
              <a:gdLst/>
              <a:ahLst/>
              <a:cxnLst/>
              <a:rect l="l" t="t" r="r" b="b"/>
              <a:pathLst>
                <a:path w="1542415" h="5640705">
                  <a:moveTo>
                    <a:pt x="0" y="5640324"/>
                  </a:moveTo>
                  <a:lnTo>
                    <a:pt x="1542288" y="5640324"/>
                  </a:lnTo>
                  <a:lnTo>
                    <a:pt x="1542288" y="0"/>
                  </a:lnTo>
                  <a:lnTo>
                    <a:pt x="0" y="0"/>
                  </a:lnTo>
                  <a:lnTo>
                    <a:pt x="0" y="5640324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149590" y="1046479"/>
            <a:ext cx="1165860" cy="35159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(1)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(2)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(3)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(4)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(5)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(6)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240"/>
              </a:spcBef>
            </a:pP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(7)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(8)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96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(9)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17585" y="4613021"/>
            <a:ext cx="1230630" cy="211455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(10)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(11)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(12)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(13)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0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(14)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9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4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1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(15)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819906" y="1218564"/>
            <a:ext cx="6172835" cy="2478405"/>
          </a:xfrm>
          <a:custGeom>
            <a:avLst/>
            <a:gdLst/>
            <a:ahLst/>
            <a:cxnLst/>
            <a:rect l="l" t="t" r="r" b="b"/>
            <a:pathLst>
              <a:path w="6172834" h="2478404">
                <a:moveTo>
                  <a:pt x="4065054" y="2452801"/>
                </a:moveTo>
                <a:lnTo>
                  <a:pt x="4064965" y="2427401"/>
                </a:lnTo>
                <a:lnTo>
                  <a:pt x="6096" y="2440559"/>
                </a:lnTo>
                <a:lnTo>
                  <a:pt x="6096" y="2465959"/>
                </a:lnTo>
                <a:lnTo>
                  <a:pt x="4065054" y="2452801"/>
                </a:lnTo>
                <a:close/>
              </a:path>
              <a:path w="6172834" h="2478404">
                <a:moveTo>
                  <a:pt x="4123436" y="1427099"/>
                </a:moveTo>
                <a:lnTo>
                  <a:pt x="4097858" y="1414272"/>
                </a:lnTo>
                <a:lnTo>
                  <a:pt x="4047236" y="1388872"/>
                </a:lnTo>
                <a:lnTo>
                  <a:pt x="4047236" y="1414272"/>
                </a:lnTo>
                <a:lnTo>
                  <a:pt x="1059180" y="1413637"/>
                </a:lnTo>
                <a:lnTo>
                  <a:pt x="1059180" y="1439037"/>
                </a:lnTo>
                <a:lnTo>
                  <a:pt x="4047236" y="1439672"/>
                </a:lnTo>
                <a:lnTo>
                  <a:pt x="4047236" y="1465072"/>
                </a:lnTo>
                <a:lnTo>
                  <a:pt x="4098201" y="1439672"/>
                </a:lnTo>
                <a:lnTo>
                  <a:pt x="4123436" y="1427099"/>
                </a:lnTo>
                <a:close/>
              </a:path>
              <a:path w="6172834" h="2478404">
                <a:moveTo>
                  <a:pt x="4140327" y="2139569"/>
                </a:moveTo>
                <a:lnTo>
                  <a:pt x="4114927" y="2126881"/>
                </a:lnTo>
                <a:lnTo>
                  <a:pt x="4064127" y="2101469"/>
                </a:lnTo>
                <a:lnTo>
                  <a:pt x="4064127" y="2126881"/>
                </a:lnTo>
                <a:lnTo>
                  <a:pt x="1077468" y="2127885"/>
                </a:lnTo>
                <a:lnTo>
                  <a:pt x="1077468" y="2153285"/>
                </a:lnTo>
                <a:lnTo>
                  <a:pt x="4064127" y="2152281"/>
                </a:lnTo>
                <a:lnTo>
                  <a:pt x="4064127" y="2177669"/>
                </a:lnTo>
                <a:lnTo>
                  <a:pt x="4114914" y="2152281"/>
                </a:lnTo>
                <a:lnTo>
                  <a:pt x="4140327" y="2139569"/>
                </a:lnTo>
                <a:close/>
              </a:path>
              <a:path w="6172834" h="2478404">
                <a:moveTo>
                  <a:pt x="4141216" y="2439797"/>
                </a:moveTo>
                <a:lnTo>
                  <a:pt x="4116197" y="2427401"/>
                </a:lnTo>
                <a:lnTo>
                  <a:pt x="4064889" y="2401951"/>
                </a:lnTo>
                <a:lnTo>
                  <a:pt x="4064965" y="2427401"/>
                </a:lnTo>
                <a:lnTo>
                  <a:pt x="4065016" y="2440559"/>
                </a:lnTo>
                <a:lnTo>
                  <a:pt x="4065054" y="2452801"/>
                </a:lnTo>
                <a:lnTo>
                  <a:pt x="4065143" y="2478151"/>
                </a:lnTo>
                <a:lnTo>
                  <a:pt x="4115435" y="2452801"/>
                </a:lnTo>
                <a:lnTo>
                  <a:pt x="4141216" y="2439797"/>
                </a:lnTo>
                <a:close/>
              </a:path>
              <a:path w="6172834" h="2478404">
                <a:moveTo>
                  <a:pt x="4141216" y="37973"/>
                </a:moveTo>
                <a:lnTo>
                  <a:pt x="4116032" y="25425"/>
                </a:lnTo>
                <a:lnTo>
                  <a:pt x="4065016" y="0"/>
                </a:lnTo>
                <a:lnTo>
                  <a:pt x="4065054" y="25425"/>
                </a:lnTo>
                <a:lnTo>
                  <a:pt x="3238500" y="26924"/>
                </a:lnTo>
                <a:lnTo>
                  <a:pt x="3238500" y="52324"/>
                </a:lnTo>
                <a:lnTo>
                  <a:pt x="4065092" y="50825"/>
                </a:lnTo>
                <a:lnTo>
                  <a:pt x="4065143" y="76200"/>
                </a:lnTo>
                <a:lnTo>
                  <a:pt x="4115638" y="50825"/>
                </a:lnTo>
                <a:lnTo>
                  <a:pt x="4141216" y="37973"/>
                </a:lnTo>
                <a:close/>
              </a:path>
              <a:path w="6172834" h="2478404">
                <a:moveTo>
                  <a:pt x="4141597" y="417449"/>
                </a:moveTo>
                <a:lnTo>
                  <a:pt x="4116197" y="404749"/>
                </a:lnTo>
                <a:lnTo>
                  <a:pt x="4065397" y="379349"/>
                </a:lnTo>
                <a:lnTo>
                  <a:pt x="4065397" y="404749"/>
                </a:lnTo>
                <a:lnTo>
                  <a:pt x="2168652" y="404749"/>
                </a:lnTo>
                <a:lnTo>
                  <a:pt x="2168652" y="430149"/>
                </a:lnTo>
                <a:lnTo>
                  <a:pt x="4065397" y="430149"/>
                </a:lnTo>
                <a:lnTo>
                  <a:pt x="4065397" y="455549"/>
                </a:lnTo>
                <a:lnTo>
                  <a:pt x="4116197" y="430149"/>
                </a:lnTo>
                <a:lnTo>
                  <a:pt x="4141597" y="417449"/>
                </a:lnTo>
                <a:close/>
              </a:path>
              <a:path w="6172834" h="2478404">
                <a:moveTo>
                  <a:pt x="4141978" y="1120013"/>
                </a:moveTo>
                <a:lnTo>
                  <a:pt x="4116578" y="1107313"/>
                </a:lnTo>
                <a:lnTo>
                  <a:pt x="4065778" y="1081913"/>
                </a:lnTo>
                <a:lnTo>
                  <a:pt x="4065778" y="1107313"/>
                </a:lnTo>
                <a:lnTo>
                  <a:pt x="0" y="1107313"/>
                </a:lnTo>
                <a:lnTo>
                  <a:pt x="0" y="1132713"/>
                </a:lnTo>
                <a:lnTo>
                  <a:pt x="4065778" y="1132713"/>
                </a:lnTo>
                <a:lnTo>
                  <a:pt x="4065778" y="1158113"/>
                </a:lnTo>
                <a:lnTo>
                  <a:pt x="4116578" y="1132713"/>
                </a:lnTo>
                <a:lnTo>
                  <a:pt x="4141978" y="1120013"/>
                </a:lnTo>
                <a:close/>
              </a:path>
              <a:path w="6172834" h="2478404">
                <a:moveTo>
                  <a:pt x="4141978" y="767969"/>
                </a:moveTo>
                <a:lnTo>
                  <a:pt x="4116578" y="755269"/>
                </a:lnTo>
                <a:lnTo>
                  <a:pt x="4065778" y="729869"/>
                </a:lnTo>
                <a:lnTo>
                  <a:pt x="4065778" y="755269"/>
                </a:lnTo>
                <a:lnTo>
                  <a:pt x="562356" y="755269"/>
                </a:lnTo>
                <a:lnTo>
                  <a:pt x="562356" y="780669"/>
                </a:lnTo>
                <a:lnTo>
                  <a:pt x="4065778" y="780669"/>
                </a:lnTo>
                <a:lnTo>
                  <a:pt x="4065778" y="806069"/>
                </a:lnTo>
                <a:lnTo>
                  <a:pt x="4116578" y="780669"/>
                </a:lnTo>
                <a:lnTo>
                  <a:pt x="4141978" y="767969"/>
                </a:lnTo>
                <a:close/>
              </a:path>
              <a:path w="6172834" h="2478404">
                <a:moveTo>
                  <a:pt x="4142359" y="1786001"/>
                </a:moveTo>
                <a:lnTo>
                  <a:pt x="4116971" y="1773313"/>
                </a:lnTo>
                <a:lnTo>
                  <a:pt x="4066159" y="1747901"/>
                </a:lnTo>
                <a:lnTo>
                  <a:pt x="4066159" y="1773313"/>
                </a:lnTo>
                <a:lnTo>
                  <a:pt x="71628" y="1775968"/>
                </a:lnTo>
                <a:lnTo>
                  <a:pt x="71628" y="1801368"/>
                </a:lnTo>
                <a:lnTo>
                  <a:pt x="4066159" y="1798713"/>
                </a:lnTo>
                <a:lnTo>
                  <a:pt x="4066159" y="1824101"/>
                </a:lnTo>
                <a:lnTo>
                  <a:pt x="4116933" y="1798713"/>
                </a:lnTo>
                <a:lnTo>
                  <a:pt x="4142359" y="1786001"/>
                </a:lnTo>
                <a:close/>
              </a:path>
              <a:path w="6172834" h="2478404">
                <a:moveTo>
                  <a:pt x="6172835" y="1158240"/>
                </a:moveTo>
                <a:lnTo>
                  <a:pt x="6147092" y="1145159"/>
                </a:lnTo>
                <a:lnTo>
                  <a:pt x="6096889" y="1119632"/>
                </a:lnTo>
                <a:lnTo>
                  <a:pt x="6096711" y="1145082"/>
                </a:lnTo>
                <a:lnTo>
                  <a:pt x="5684647" y="1142365"/>
                </a:lnTo>
                <a:lnTo>
                  <a:pt x="5684482" y="1158240"/>
                </a:lnTo>
                <a:lnTo>
                  <a:pt x="5684393" y="1167765"/>
                </a:lnTo>
                <a:lnTo>
                  <a:pt x="6096546" y="1170482"/>
                </a:lnTo>
                <a:lnTo>
                  <a:pt x="6109195" y="1170559"/>
                </a:lnTo>
                <a:lnTo>
                  <a:pt x="6096546" y="1170559"/>
                </a:lnTo>
                <a:lnTo>
                  <a:pt x="6096381" y="1195832"/>
                </a:lnTo>
                <a:lnTo>
                  <a:pt x="6147778" y="1170559"/>
                </a:lnTo>
                <a:lnTo>
                  <a:pt x="6172835" y="11582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9980421" y="2244344"/>
            <a:ext cx="4711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R[3:0]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21066" y="118998"/>
            <a:ext cx="1073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𝟑</a:t>
            </a:r>
            <a:r>
              <a:rPr sz="1950" spc="-8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𝟐</a:t>
            </a:r>
            <a:r>
              <a:rPr sz="1950" spc="-52" baseline="-14957" dirty="0">
                <a:latin typeface="Cambria Math"/>
                <a:cs typeface="Cambria Math"/>
              </a:rPr>
              <a:t> </a:t>
            </a:r>
            <a:r>
              <a:rPr sz="1800" dirty="0">
                <a:latin typeface="Cambria Math"/>
                <a:cs typeface="Cambria Math"/>
              </a:rPr>
              <a:t>𝐒</a:t>
            </a:r>
            <a:r>
              <a:rPr sz="1950" baseline="-14957" dirty="0">
                <a:latin typeface="Cambria Math"/>
                <a:cs typeface="Cambria Math"/>
              </a:rPr>
              <a:t>𝟏</a:t>
            </a:r>
            <a:r>
              <a:rPr sz="1950" spc="179" baseline="-14957" dirty="0">
                <a:latin typeface="Cambria Math"/>
                <a:cs typeface="Cambria Math"/>
              </a:rPr>
              <a:t> </a:t>
            </a:r>
            <a:r>
              <a:rPr sz="1800" spc="-25" dirty="0">
                <a:latin typeface="Cambria Math"/>
                <a:cs typeface="Cambria Math"/>
              </a:rPr>
              <a:t>𝐒</a:t>
            </a:r>
            <a:r>
              <a:rPr sz="1950" spc="-37" baseline="-14957" dirty="0">
                <a:latin typeface="Cambria Math"/>
                <a:cs typeface="Cambria Math"/>
              </a:rPr>
              <a:t>𝟎</a:t>
            </a:r>
            <a:endParaRPr sz="1950" baseline="-14957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09765" y="1106423"/>
            <a:ext cx="5758815" cy="231140"/>
          </a:xfrm>
          <a:custGeom>
            <a:avLst/>
            <a:gdLst/>
            <a:ahLst/>
            <a:cxnLst/>
            <a:rect l="l" t="t" r="r" b="b"/>
            <a:pathLst>
              <a:path w="5758815" h="231140">
                <a:moveTo>
                  <a:pt x="5758192" y="192913"/>
                </a:moveTo>
                <a:lnTo>
                  <a:pt x="5732792" y="180213"/>
                </a:lnTo>
                <a:lnTo>
                  <a:pt x="5681992" y="154813"/>
                </a:lnTo>
                <a:lnTo>
                  <a:pt x="5681954" y="177038"/>
                </a:lnTo>
                <a:lnTo>
                  <a:pt x="5681942" y="180213"/>
                </a:lnTo>
                <a:lnTo>
                  <a:pt x="294157" y="177038"/>
                </a:lnTo>
                <a:lnTo>
                  <a:pt x="294119" y="202438"/>
                </a:lnTo>
                <a:lnTo>
                  <a:pt x="5681904" y="205613"/>
                </a:lnTo>
                <a:lnTo>
                  <a:pt x="5681865" y="231013"/>
                </a:lnTo>
                <a:lnTo>
                  <a:pt x="5732742" y="205613"/>
                </a:lnTo>
                <a:lnTo>
                  <a:pt x="5758192" y="192913"/>
                </a:lnTo>
                <a:close/>
              </a:path>
              <a:path w="5758815" h="231140">
                <a:moveTo>
                  <a:pt x="5758446" y="38227"/>
                </a:moveTo>
                <a:lnTo>
                  <a:pt x="5732869" y="25400"/>
                </a:lnTo>
                <a:lnTo>
                  <a:pt x="5682246" y="0"/>
                </a:lnTo>
                <a:lnTo>
                  <a:pt x="5682196" y="25400"/>
                </a:lnTo>
                <a:lnTo>
                  <a:pt x="25" y="20066"/>
                </a:lnTo>
                <a:lnTo>
                  <a:pt x="0" y="45466"/>
                </a:lnTo>
                <a:lnTo>
                  <a:pt x="5682158" y="50800"/>
                </a:lnTo>
                <a:lnTo>
                  <a:pt x="5682119" y="76200"/>
                </a:lnTo>
                <a:lnTo>
                  <a:pt x="5733173" y="50800"/>
                </a:lnTo>
                <a:lnTo>
                  <a:pt x="5758446" y="382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267450" y="1073658"/>
            <a:ext cx="791210" cy="3352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9685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155"/>
              </a:spcBef>
            </a:pPr>
            <a:r>
              <a:rPr sz="1400" b="1" spc="-25" dirty="0">
                <a:latin typeface="Calibri"/>
                <a:cs typeface="Calibri"/>
              </a:rPr>
              <a:t>AND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09765" y="1509775"/>
            <a:ext cx="4697730" cy="219710"/>
          </a:xfrm>
          <a:custGeom>
            <a:avLst/>
            <a:gdLst/>
            <a:ahLst/>
            <a:cxnLst/>
            <a:rect l="l" t="t" r="r" b="b"/>
            <a:pathLst>
              <a:path w="4697730" h="219710">
                <a:moveTo>
                  <a:pt x="4697234" y="181102"/>
                </a:moveTo>
                <a:lnTo>
                  <a:pt x="4671834" y="168402"/>
                </a:lnTo>
                <a:lnTo>
                  <a:pt x="4621034" y="143002"/>
                </a:lnTo>
                <a:lnTo>
                  <a:pt x="4621034" y="168402"/>
                </a:lnTo>
                <a:lnTo>
                  <a:pt x="294144" y="168402"/>
                </a:lnTo>
                <a:lnTo>
                  <a:pt x="294144" y="193802"/>
                </a:lnTo>
                <a:lnTo>
                  <a:pt x="4621034" y="193802"/>
                </a:lnTo>
                <a:lnTo>
                  <a:pt x="4621034" y="219202"/>
                </a:lnTo>
                <a:lnTo>
                  <a:pt x="4671834" y="193802"/>
                </a:lnTo>
                <a:lnTo>
                  <a:pt x="4697234" y="181102"/>
                </a:lnTo>
                <a:close/>
              </a:path>
              <a:path w="4697730" h="219710">
                <a:moveTo>
                  <a:pt x="4697488" y="38100"/>
                </a:moveTo>
                <a:lnTo>
                  <a:pt x="4672088" y="25400"/>
                </a:lnTo>
                <a:lnTo>
                  <a:pt x="4621288" y="0"/>
                </a:lnTo>
                <a:lnTo>
                  <a:pt x="4621288" y="25400"/>
                </a:lnTo>
                <a:lnTo>
                  <a:pt x="25" y="22098"/>
                </a:lnTo>
                <a:lnTo>
                  <a:pt x="0" y="47498"/>
                </a:lnTo>
                <a:lnTo>
                  <a:pt x="4621288" y="50800"/>
                </a:lnTo>
                <a:lnTo>
                  <a:pt x="4621288" y="76200"/>
                </a:lnTo>
                <a:lnTo>
                  <a:pt x="4672088" y="50800"/>
                </a:lnTo>
                <a:lnTo>
                  <a:pt x="469748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206746" y="1483613"/>
            <a:ext cx="782320" cy="30670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R="8890" algn="ctr">
              <a:lnSpc>
                <a:spcPct val="100000"/>
              </a:lnSpc>
              <a:spcBef>
                <a:spcPts val="280"/>
              </a:spcBef>
            </a:pPr>
            <a:r>
              <a:rPr sz="1400" b="1" spc="-25" dirty="0">
                <a:latin typeface="Calibri"/>
                <a:cs typeface="Calibri"/>
              </a:rPr>
              <a:t>OR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09714" y="1834514"/>
            <a:ext cx="3027680" cy="233045"/>
          </a:xfrm>
          <a:custGeom>
            <a:avLst/>
            <a:gdLst/>
            <a:ahLst/>
            <a:cxnLst/>
            <a:rect l="l" t="t" r="r" b="b"/>
            <a:pathLst>
              <a:path w="3027679" h="233044">
                <a:moveTo>
                  <a:pt x="3019742" y="194691"/>
                </a:moveTo>
                <a:lnTo>
                  <a:pt x="2994533" y="182143"/>
                </a:lnTo>
                <a:lnTo>
                  <a:pt x="2943542" y="156718"/>
                </a:lnTo>
                <a:lnTo>
                  <a:pt x="2943580" y="182143"/>
                </a:lnTo>
                <a:lnTo>
                  <a:pt x="301802" y="184912"/>
                </a:lnTo>
                <a:lnTo>
                  <a:pt x="301828" y="210312"/>
                </a:lnTo>
                <a:lnTo>
                  <a:pt x="2943618" y="207543"/>
                </a:lnTo>
                <a:lnTo>
                  <a:pt x="2943669" y="232918"/>
                </a:lnTo>
                <a:lnTo>
                  <a:pt x="2994177" y="207543"/>
                </a:lnTo>
                <a:lnTo>
                  <a:pt x="3019742" y="194691"/>
                </a:lnTo>
                <a:close/>
              </a:path>
              <a:path w="3027679" h="233044">
                <a:moveTo>
                  <a:pt x="3027489" y="37719"/>
                </a:moveTo>
                <a:lnTo>
                  <a:pt x="3002419" y="25336"/>
                </a:lnTo>
                <a:lnTo>
                  <a:pt x="2951162" y="0"/>
                </a:lnTo>
                <a:lnTo>
                  <a:pt x="2951276" y="25336"/>
                </a:lnTo>
                <a:lnTo>
                  <a:pt x="0" y="39878"/>
                </a:lnTo>
                <a:lnTo>
                  <a:pt x="50" y="50736"/>
                </a:lnTo>
                <a:lnTo>
                  <a:pt x="127" y="65278"/>
                </a:lnTo>
                <a:lnTo>
                  <a:pt x="2951403" y="50736"/>
                </a:lnTo>
                <a:lnTo>
                  <a:pt x="2951340" y="37719"/>
                </a:lnTo>
                <a:lnTo>
                  <a:pt x="2951353" y="39878"/>
                </a:lnTo>
                <a:lnTo>
                  <a:pt x="2951403" y="50736"/>
                </a:lnTo>
                <a:lnTo>
                  <a:pt x="2951480" y="65278"/>
                </a:lnTo>
                <a:lnTo>
                  <a:pt x="2951543" y="76200"/>
                </a:lnTo>
                <a:lnTo>
                  <a:pt x="3001797" y="50736"/>
                </a:lnTo>
                <a:lnTo>
                  <a:pt x="3027489" y="377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536441" y="1808226"/>
            <a:ext cx="845819" cy="29718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250825">
              <a:lnSpc>
                <a:spcPct val="100000"/>
              </a:lnSpc>
              <a:spcBef>
                <a:spcPts val="175"/>
              </a:spcBef>
            </a:pPr>
            <a:r>
              <a:rPr sz="1400" b="1" spc="-25" dirty="0">
                <a:latin typeface="Calibri"/>
                <a:cs typeface="Calibri"/>
              </a:rPr>
              <a:t>XOR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509777" y="2860801"/>
            <a:ext cx="3434079" cy="420370"/>
            <a:chOff x="509777" y="2860801"/>
            <a:chExt cx="3434079" cy="420370"/>
          </a:xfrm>
        </p:grpSpPr>
        <p:sp>
          <p:nvSpPr>
            <p:cNvPr id="42" name="object 42"/>
            <p:cNvSpPr/>
            <p:nvPr/>
          </p:nvSpPr>
          <p:spPr>
            <a:xfrm>
              <a:off x="28582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1072896" y="0"/>
                  </a:moveTo>
                  <a:lnTo>
                    <a:pt x="0" y="0"/>
                  </a:lnTo>
                  <a:lnTo>
                    <a:pt x="0" y="394715"/>
                  </a:lnTo>
                  <a:lnTo>
                    <a:pt x="1072896" y="394715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58261" y="2873501"/>
              <a:ext cx="1073150" cy="394970"/>
            </a:xfrm>
            <a:custGeom>
              <a:avLst/>
              <a:gdLst/>
              <a:ahLst/>
              <a:cxnLst/>
              <a:rect l="l" t="t" r="r" b="b"/>
              <a:pathLst>
                <a:path w="1073150" h="394970">
                  <a:moveTo>
                    <a:pt x="0" y="394715"/>
                  </a:moveTo>
                  <a:lnTo>
                    <a:pt x="1072896" y="394715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39471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09778" y="2919221"/>
              <a:ext cx="2355215" cy="216535"/>
            </a:xfrm>
            <a:custGeom>
              <a:avLst/>
              <a:gdLst/>
              <a:ahLst/>
              <a:cxnLst/>
              <a:rect l="l" t="t" r="r" b="b"/>
              <a:pathLst>
                <a:path w="2355215" h="216535">
                  <a:moveTo>
                    <a:pt x="2349246" y="38100"/>
                  </a:moveTo>
                  <a:lnTo>
                    <a:pt x="2323846" y="25400"/>
                  </a:lnTo>
                  <a:lnTo>
                    <a:pt x="2273046" y="0"/>
                  </a:lnTo>
                  <a:lnTo>
                    <a:pt x="227304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73046" y="50800"/>
                  </a:lnTo>
                  <a:lnTo>
                    <a:pt x="2273046" y="76200"/>
                  </a:lnTo>
                  <a:lnTo>
                    <a:pt x="2323846" y="50800"/>
                  </a:lnTo>
                  <a:lnTo>
                    <a:pt x="2349246" y="38100"/>
                  </a:lnTo>
                  <a:close/>
                </a:path>
                <a:path w="2355215" h="216535">
                  <a:moveTo>
                    <a:pt x="2355088" y="178308"/>
                  </a:moveTo>
                  <a:lnTo>
                    <a:pt x="2329688" y="165608"/>
                  </a:lnTo>
                  <a:lnTo>
                    <a:pt x="2278888" y="140208"/>
                  </a:lnTo>
                  <a:lnTo>
                    <a:pt x="2278888" y="165608"/>
                  </a:lnTo>
                  <a:lnTo>
                    <a:pt x="294132" y="165608"/>
                  </a:lnTo>
                  <a:lnTo>
                    <a:pt x="294132" y="191008"/>
                  </a:lnTo>
                  <a:lnTo>
                    <a:pt x="2278888" y="191008"/>
                  </a:lnTo>
                  <a:lnTo>
                    <a:pt x="2278888" y="216408"/>
                  </a:lnTo>
                  <a:lnTo>
                    <a:pt x="2329688" y="191008"/>
                  </a:lnTo>
                  <a:lnTo>
                    <a:pt x="2355088" y="1783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005963" y="2947543"/>
            <a:ext cx="7226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ADD/SUB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509739" y="2221483"/>
            <a:ext cx="2430145" cy="1035050"/>
          </a:xfrm>
          <a:custGeom>
            <a:avLst/>
            <a:gdLst/>
            <a:ahLst/>
            <a:cxnLst/>
            <a:rect l="l" t="t" r="r" b="b"/>
            <a:pathLst>
              <a:path w="2430145" h="1035050">
                <a:moveTo>
                  <a:pt x="2354745" y="996442"/>
                </a:moveTo>
                <a:lnTo>
                  <a:pt x="2329345" y="983742"/>
                </a:lnTo>
                <a:lnTo>
                  <a:pt x="2278545" y="958342"/>
                </a:lnTo>
                <a:lnTo>
                  <a:pt x="2278545" y="983742"/>
                </a:lnTo>
                <a:lnTo>
                  <a:pt x="1876082" y="983742"/>
                </a:lnTo>
                <a:lnTo>
                  <a:pt x="1876082" y="1009142"/>
                </a:lnTo>
                <a:lnTo>
                  <a:pt x="2278545" y="1009142"/>
                </a:lnTo>
                <a:lnTo>
                  <a:pt x="2278545" y="1034542"/>
                </a:lnTo>
                <a:lnTo>
                  <a:pt x="2329345" y="1009142"/>
                </a:lnTo>
                <a:lnTo>
                  <a:pt x="2354745" y="996442"/>
                </a:lnTo>
                <a:close/>
              </a:path>
              <a:path w="2430145" h="1035050">
                <a:moveTo>
                  <a:pt x="2413546" y="37846"/>
                </a:moveTo>
                <a:lnTo>
                  <a:pt x="2388260" y="25311"/>
                </a:lnTo>
                <a:lnTo>
                  <a:pt x="2337219" y="0"/>
                </a:lnTo>
                <a:lnTo>
                  <a:pt x="2337295" y="25311"/>
                </a:lnTo>
                <a:lnTo>
                  <a:pt x="0" y="32258"/>
                </a:lnTo>
                <a:lnTo>
                  <a:pt x="76" y="57658"/>
                </a:lnTo>
                <a:lnTo>
                  <a:pt x="2337384" y="50711"/>
                </a:lnTo>
                <a:lnTo>
                  <a:pt x="2337473" y="76200"/>
                </a:lnTo>
                <a:lnTo>
                  <a:pt x="2388019" y="50711"/>
                </a:lnTo>
                <a:lnTo>
                  <a:pt x="2413546" y="37846"/>
                </a:lnTo>
                <a:close/>
              </a:path>
              <a:path w="2430145" h="1035050">
                <a:moveTo>
                  <a:pt x="2429929" y="200914"/>
                </a:moveTo>
                <a:lnTo>
                  <a:pt x="2404732" y="188366"/>
                </a:lnTo>
                <a:lnTo>
                  <a:pt x="2353729" y="162941"/>
                </a:lnTo>
                <a:lnTo>
                  <a:pt x="2353767" y="188366"/>
                </a:lnTo>
                <a:lnTo>
                  <a:pt x="291096" y="191897"/>
                </a:lnTo>
                <a:lnTo>
                  <a:pt x="291147" y="217297"/>
                </a:lnTo>
                <a:lnTo>
                  <a:pt x="2353805" y="213766"/>
                </a:lnTo>
                <a:lnTo>
                  <a:pt x="2353856" y="239141"/>
                </a:lnTo>
                <a:lnTo>
                  <a:pt x="2404351" y="213766"/>
                </a:lnTo>
                <a:lnTo>
                  <a:pt x="2429929" y="200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922270" y="2180082"/>
            <a:ext cx="897890" cy="321945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5085">
              <a:lnSpc>
                <a:spcPts val="1585"/>
              </a:lnSpc>
            </a:pPr>
            <a:r>
              <a:rPr sz="1400" b="1" dirty="0">
                <a:latin typeface="Calibri"/>
                <a:cs typeface="Calibri"/>
              </a:rPr>
              <a:t>LEFT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29209">
              <a:lnSpc>
                <a:spcPts val="705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509778" y="3512057"/>
            <a:ext cx="2340610" cy="273050"/>
          </a:xfrm>
          <a:custGeom>
            <a:avLst/>
            <a:gdLst/>
            <a:ahLst/>
            <a:cxnLst/>
            <a:rect l="l" t="t" r="r" b="b"/>
            <a:pathLst>
              <a:path w="2340610" h="273050">
                <a:moveTo>
                  <a:pt x="2340229" y="234696"/>
                </a:moveTo>
                <a:lnTo>
                  <a:pt x="2314829" y="221996"/>
                </a:lnTo>
                <a:lnTo>
                  <a:pt x="2264029" y="196596"/>
                </a:lnTo>
                <a:lnTo>
                  <a:pt x="2264029" y="221996"/>
                </a:lnTo>
                <a:lnTo>
                  <a:pt x="294132" y="221996"/>
                </a:lnTo>
                <a:lnTo>
                  <a:pt x="294132" y="247396"/>
                </a:lnTo>
                <a:lnTo>
                  <a:pt x="2264029" y="247396"/>
                </a:lnTo>
                <a:lnTo>
                  <a:pt x="2264029" y="272796"/>
                </a:lnTo>
                <a:lnTo>
                  <a:pt x="2314829" y="247396"/>
                </a:lnTo>
                <a:lnTo>
                  <a:pt x="2340229" y="234696"/>
                </a:lnTo>
                <a:close/>
              </a:path>
              <a:path w="2340610" h="273050">
                <a:moveTo>
                  <a:pt x="2340483" y="38112"/>
                </a:moveTo>
                <a:lnTo>
                  <a:pt x="2315083" y="25412"/>
                </a:lnTo>
                <a:lnTo>
                  <a:pt x="2264283" y="0"/>
                </a:lnTo>
                <a:lnTo>
                  <a:pt x="2264283" y="25412"/>
                </a:lnTo>
                <a:lnTo>
                  <a:pt x="0" y="25412"/>
                </a:lnTo>
                <a:lnTo>
                  <a:pt x="0" y="50812"/>
                </a:lnTo>
                <a:lnTo>
                  <a:pt x="2264283" y="50812"/>
                </a:lnTo>
                <a:lnTo>
                  <a:pt x="2264283" y="76212"/>
                </a:lnTo>
                <a:lnTo>
                  <a:pt x="2315083" y="50812"/>
                </a:lnTo>
                <a:lnTo>
                  <a:pt x="2340483" y="381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849117" y="3458717"/>
            <a:ext cx="977265" cy="42545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1400" b="1" spc="-25" dirty="0">
                <a:latin typeface="Calibri"/>
                <a:cs typeface="Calibri"/>
              </a:rPr>
              <a:t>MUL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06730" y="745998"/>
            <a:ext cx="8148955" cy="5608955"/>
          </a:xfrm>
          <a:custGeom>
            <a:avLst/>
            <a:gdLst/>
            <a:ahLst/>
            <a:cxnLst/>
            <a:rect l="l" t="t" r="r" b="b"/>
            <a:pathLst>
              <a:path w="8148955" h="5608955">
                <a:moveTo>
                  <a:pt x="4387596" y="2255519"/>
                </a:moveTo>
                <a:lnTo>
                  <a:pt x="4396105" y="2612643"/>
                </a:lnTo>
              </a:path>
              <a:path w="8148955" h="5608955">
                <a:moveTo>
                  <a:pt x="0" y="10667"/>
                </a:moveTo>
                <a:lnTo>
                  <a:pt x="0" y="5608929"/>
                </a:lnTo>
              </a:path>
              <a:path w="8148955" h="5608955">
                <a:moveTo>
                  <a:pt x="297192" y="0"/>
                </a:moveTo>
                <a:lnTo>
                  <a:pt x="265176" y="5598261"/>
                </a:lnTo>
              </a:path>
              <a:path w="8148955" h="5608955">
                <a:moveTo>
                  <a:pt x="8148955" y="204215"/>
                </a:moveTo>
                <a:lnTo>
                  <a:pt x="1868424" y="210185"/>
                </a:lnTo>
              </a:path>
              <a:path w="8148955" h="5608955">
                <a:moveTo>
                  <a:pt x="1879092" y="204215"/>
                </a:moveTo>
                <a:lnTo>
                  <a:pt x="1879092" y="2472436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40640" y="470661"/>
            <a:ext cx="1267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A[3:0]</a:t>
            </a:r>
            <a:r>
              <a:rPr sz="1800" b="1" spc="2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700" b="1" spc="-15" baseline="1543" dirty="0">
                <a:solidFill>
                  <a:srgbClr val="FF0000"/>
                </a:solidFill>
                <a:latin typeface="Calibri"/>
                <a:cs typeface="Calibri"/>
              </a:rPr>
              <a:t>B[3:0]</a:t>
            </a:r>
            <a:endParaRPr sz="2700" baseline="1543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50850" y="918717"/>
            <a:ext cx="8253095" cy="2852420"/>
            <a:chOff x="450850" y="918717"/>
            <a:chExt cx="8253095" cy="2852420"/>
          </a:xfrm>
        </p:grpSpPr>
        <p:sp>
          <p:nvSpPr>
            <p:cNvPr id="53" name="object 53"/>
            <p:cNvSpPr/>
            <p:nvPr/>
          </p:nvSpPr>
          <p:spPr>
            <a:xfrm>
              <a:off x="4572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57200" y="111251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559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55904" y="1271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572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29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29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59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57200" y="1513331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29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59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29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59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55904" y="166115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4602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60248" y="1866900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498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749808" y="20132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572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57200" y="224180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572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57200" y="29321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587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58724" y="3518916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513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751331" y="371703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7620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29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2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29" y="47244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2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762000" y="3063239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5984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71" y="1851"/>
                  </a:lnTo>
                  <a:lnTo>
                    <a:pt x="14525" y="6905"/>
                  </a:lnTo>
                  <a:lnTo>
                    <a:pt x="3899" y="14412"/>
                  </a:lnTo>
                  <a:lnTo>
                    <a:pt x="0" y="23622"/>
                  </a:lnTo>
                  <a:lnTo>
                    <a:pt x="3899" y="32831"/>
                  </a:lnTo>
                  <a:lnTo>
                    <a:pt x="14525" y="40338"/>
                  </a:lnTo>
                  <a:lnTo>
                    <a:pt x="30271" y="45392"/>
                  </a:lnTo>
                  <a:lnTo>
                    <a:pt x="49530" y="47244"/>
                  </a:lnTo>
                  <a:lnTo>
                    <a:pt x="68788" y="45392"/>
                  </a:lnTo>
                  <a:lnTo>
                    <a:pt x="84534" y="40338"/>
                  </a:lnTo>
                  <a:lnTo>
                    <a:pt x="95160" y="32831"/>
                  </a:lnTo>
                  <a:lnTo>
                    <a:pt x="99060" y="23622"/>
                  </a:lnTo>
                  <a:lnTo>
                    <a:pt x="95160" y="14412"/>
                  </a:lnTo>
                  <a:lnTo>
                    <a:pt x="84534" y="6905"/>
                  </a:lnTo>
                  <a:lnTo>
                    <a:pt x="68788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8598407" y="925067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9" y="14412"/>
                  </a:lnTo>
                  <a:lnTo>
                    <a:pt x="14525" y="6905"/>
                  </a:lnTo>
                  <a:lnTo>
                    <a:pt x="30271" y="1851"/>
                  </a:lnTo>
                  <a:lnTo>
                    <a:pt x="49530" y="0"/>
                  </a:lnTo>
                  <a:lnTo>
                    <a:pt x="68788" y="1851"/>
                  </a:lnTo>
                  <a:lnTo>
                    <a:pt x="84534" y="6905"/>
                  </a:lnTo>
                  <a:lnTo>
                    <a:pt x="95160" y="14412"/>
                  </a:lnTo>
                  <a:lnTo>
                    <a:pt x="99060" y="23622"/>
                  </a:lnTo>
                  <a:lnTo>
                    <a:pt x="95160" y="32831"/>
                  </a:lnTo>
                  <a:lnTo>
                    <a:pt x="84534" y="40338"/>
                  </a:lnTo>
                  <a:lnTo>
                    <a:pt x="68788" y="45392"/>
                  </a:lnTo>
                  <a:lnTo>
                    <a:pt x="49530" y="47244"/>
                  </a:lnTo>
                  <a:lnTo>
                    <a:pt x="30271" y="45392"/>
                  </a:lnTo>
                  <a:lnTo>
                    <a:pt x="14525" y="40338"/>
                  </a:lnTo>
                  <a:lnTo>
                    <a:pt x="3899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282433" y="1207769"/>
              <a:ext cx="286385" cy="2501265"/>
            </a:xfrm>
            <a:custGeom>
              <a:avLst/>
              <a:gdLst/>
              <a:ahLst/>
              <a:cxnLst/>
              <a:rect l="l" t="t" r="r" b="b"/>
              <a:pathLst>
                <a:path w="286384" h="2501265">
                  <a:moveTo>
                    <a:pt x="286131" y="0"/>
                  </a:moveTo>
                  <a:lnTo>
                    <a:pt x="117348" y="111632"/>
                  </a:lnTo>
                </a:path>
                <a:path w="286384" h="2501265">
                  <a:moveTo>
                    <a:pt x="286131" y="379475"/>
                  </a:moveTo>
                  <a:lnTo>
                    <a:pt x="117348" y="491108"/>
                  </a:lnTo>
                </a:path>
                <a:path w="286384" h="2501265">
                  <a:moveTo>
                    <a:pt x="232791" y="733043"/>
                  </a:moveTo>
                  <a:lnTo>
                    <a:pt x="64008" y="844676"/>
                  </a:lnTo>
                </a:path>
                <a:path w="286384" h="2501265">
                  <a:moveTo>
                    <a:pt x="209931" y="1088135"/>
                  </a:moveTo>
                  <a:lnTo>
                    <a:pt x="41148" y="1199768"/>
                  </a:lnTo>
                </a:path>
                <a:path w="286384" h="2501265">
                  <a:moveTo>
                    <a:pt x="240411" y="1386839"/>
                  </a:moveTo>
                  <a:lnTo>
                    <a:pt x="71627" y="1498472"/>
                  </a:lnTo>
                </a:path>
                <a:path w="286384" h="2501265">
                  <a:moveTo>
                    <a:pt x="182499" y="1743455"/>
                  </a:moveTo>
                  <a:lnTo>
                    <a:pt x="13716" y="1855089"/>
                  </a:lnTo>
                </a:path>
                <a:path w="286384" h="2501265">
                  <a:moveTo>
                    <a:pt x="168783" y="2084831"/>
                  </a:moveTo>
                  <a:lnTo>
                    <a:pt x="0" y="2196465"/>
                  </a:lnTo>
                </a:path>
                <a:path w="286384" h="2501265">
                  <a:moveTo>
                    <a:pt x="168783" y="2389631"/>
                  </a:moveTo>
                  <a:lnTo>
                    <a:pt x="0" y="2501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885820" y="3112770"/>
            <a:ext cx="16510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latin typeface="Cambria Math"/>
                <a:cs typeface="Cambria Math"/>
              </a:rPr>
              <a:t>𝑺𝒆𝒍</a:t>
            </a:r>
            <a:endParaRPr sz="800">
              <a:latin typeface="Cambria Math"/>
              <a:cs typeface="Cambria Math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346060" y="1101202"/>
            <a:ext cx="269240" cy="282321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10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39700">
              <a:lnSpc>
                <a:spcPct val="100000"/>
              </a:lnSpc>
              <a:spcBef>
                <a:spcPts val="9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86360">
              <a:lnSpc>
                <a:spcPct val="100000"/>
              </a:lnSpc>
              <a:spcBef>
                <a:spcPts val="48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62865">
              <a:lnSpc>
                <a:spcPct val="100000"/>
              </a:lnSpc>
              <a:spcBef>
                <a:spcPts val="63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75565">
              <a:lnSpc>
                <a:spcPct val="100000"/>
              </a:lnSpc>
              <a:spcBef>
                <a:spcPts val="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21590">
              <a:lnSpc>
                <a:spcPct val="100000"/>
              </a:lnSpc>
              <a:spcBef>
                <a:spcPts val="62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9595866" y="23111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9631806" y="23150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5398770" y="108737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5384038" y="932814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4789170" y="12473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4830826" y="1240916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4303014" y="1482089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59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4342257" y="1495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4626102" y="161163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 txBox="1"/>
          <p:nvPr/>
        </p:nvSpPr>
        <p:spPr>
          <a:xfrm>
            <a:off x="4657471" y="1641094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3143250" y="181584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3177920" y="1817877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50" dirty="0"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2948177" y="197281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2998470" y="1988312"/>
            <a:ext cx="9652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1110233" y="2216657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1120546" y="206629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1459230" y="290550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1504569" y="2914650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1096517" y="30380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57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1116888" y="30572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1584197" y="3498341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1597278" y="336054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1218438" y="3690365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1273555" y="3718686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16051" y="3344926"/>
            <a:ext cx="3155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A[1:0]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29767" y="355955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563067" y="464058"/>
            <a:ext cx="7625080" cy="2422525"/>
            <a:chOff x="563067" y="464058"/>
            <a:chExt cx="7625080" cy="2422525"/>
          </a:xfrm>
        </p:grpSpPr>
        <p:sp>
          <p:nvSpPr>
            <p:cNvPr id="107" name="object 107"/>
            <p:cNvSpPr/>
            <p:nvPr/>
          </p:nvSpPr>
          <p:spPr>
            <a:xfrm>
              <a:off x="745236" y="464057"/>
              <a:ext cx="7442834" cy="1982470"/>
            </a:xfrm>
            <a:custGeom>
              <a:avLst/>
              <a:gdLst/>
              <a:ahLst/>
              <a:cxnLst/>
              <a:rect l="l" t="t" r="r" b="b"/>
              <a:pathLst>
                <a:path w="7442834" h="1982470">
                  <a:moveTo>
                    <a:pt x="99060" y="1958340"/>
                  </a:moveTo>
                  <a:lnTo>
                    <a:pt x="95161" y="1949132"/>
                  </a:lnTo>
                  <a:lnTo>
                    <a:pt x="84543" y="1941626"/>
                  </a:lnTo>
                  <a:lnTo>
                    <a:pt x="68808" y="1936572"/>
                  </a:lnTo>
                  <a:lnTo>
                    <a:pt x="49530" y="1934718"/>
                  </a:lnTo>
                  <a:lnTo>
                    <a:pt x="30238" y="1936572"/>
                  </a:lnTo>
                  <a:lnTo>
                    <a:pt x="14503" y="1941626"/>
                  </a:lnTo>
                  <a:lnTo>
                    <a:pt x="3886" y="1949132"/>
                  </a:lnTo>
                  <a:lnTo>
                    <a:pt x="0" y="1958340"/>
                  </a:lnTo>
                  <a:lnTo>
                    <a:pt x="3886" y="1967560"/>
                  </a:lnTo>
                  <a:lnTo>
                    <a:pt x="14503" y="1975065"/>
                  </a:lnTo>
                  <a:lnTo>
                    <a:pt x="30238" y="1980120"/>
                  </a:lnTo>
                  <a:lnTo>
                    <a:pt x="49530" y="1981962"/>
                  </a:lnTo>
                  <a:lnTo>
                    <a:pt x="68808" y="1980120"/>
                  </a:lnTo>
                  <a:lnTo>
                    <a:pt x="84543" y="1975065"/>
                  </a:lnTo>
                  <a:lnTo>
                    <a:pt x="95161" y="1967560"/>
                  </a:lnTo>
                  <a:lnTo>
                    <a:pt x="99060" y="1958340"/>
                  </a:lnTo>
                  <a:close/>
                </a:path>
                <a:path w="7442834" h="1982470">
                  <a:moveTo>
                    <a:pt x="7442454" y="541655"/>
                  </a:moveTo>
                  <a:lnTo>
                    <a:pt x="7417054" y="541655"/>
                  </a:lnTo>
                  <a:lnTo>
                    <a:pt x="7417054" y="0"/>
                  </a:lnTo>
                  <a:lnTo>
                    <a:pt x="7391654" y="0"/>
                  </a:lnTo>
                  <a:lnTo>
                    <a:pt x="7391654" y="541655"/>
                  </a:lnTo>
                  <a:lnTo>
                    <a:pt x="7366254" y="541655"/>
                  </a:lnTo>
                  <a:lnTo>
                    <a:pt x="7404354" y="617855"/>
                  </a:lnTo>
                  <a:lnTo>
                    <a:pt x="7436104" y="554355"/>
                  </a:lnTo>
                  <a:lnTo>
                    <a:pt x="7442454" y="5416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45235" y="239877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2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2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4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9723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986027" y="0"/>
                  </a:moveTo>
                  <a:lnTo>
                    <a:pt x="0" y="0"/>
                  </a:lnTo>
                  <a:lnTo>
                    <a:pt x="0" y="321563"/>
                  </a:lnTo>
                  <a:lnTo>
                    <a:pt x="986027" y="321563"/>
                  </a:lnTo>
                  <a:lnTo>
                    <a:pt x="9860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972305" y="2551937"/>
              <a:ext cx="986155" cy="321945"/>
            </a:xfrm>
            <a:custGeom>
              <a:avLst/>
              <a:gdLst/>
              <a:ahLst/>
              <a:cxnLst/>
              <a:rect l="l" t="t" r="r" b="b"/>
              <a:pathLst>
                <a:path w="986154" h="321944">
                  <a:moveTo>
                    <a:pt x="0" y="321563"/>
                  </a:moveTo>
                  <a:lnTo>
                    <a:pt x="986027" y="321563"/>
                  </a:lnTo>
                  <a:lnTo>
                    <a:pt x="986027" y="0"/>
                  </a:lnTo>
                  <a:lnTo>
                    <a:pt x="0" y="0"/>
                  </a:lnTo>
                  <a:lnTo>
                    <a:pt x="0" y="32156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563067" y="2620517"/>
              <a:ext cx="3422650" cy="197485"/>
            </a:xfrm>
            <a:custGeom>
              <a:avLst/>
              <a:gdLst/>
              <a:ahLst/>
              <a:cxnLst/>
              <a:rect l="l" t="t" r="r" b="b"/>
              <a:pathLst>
                <a:path w="3422650" h="197485">
                  <a:moveTo>
                    <a:pt x="3421684" y="38354"/>
                  </a:moveTo>
                  <a:lnTo>
                    <a:pt x="3395980" y="25400"/>
                  </a:lnTo>
                  <a:lnTo>
                    <a:pt x="3345611" y="0"/>
                  </a:lnTo>
                  <a:lnTo>
                    <a:pt x="3345561" y="11684"/>
                  </a:lnTo>
                  <a:lnTo>
                    <a:pt x="3345510" y="25349"/>
                  </a:lnTo>
                  <a:lnTo>
                    <a:pt x="101" y="11684"/>
                  </a:lnTo>
                  <a:lnTo>
                    <a:pt x="0" y="37084"/>
                  </a:lnTo>
                  <a:lnTo>
                    <a:pt x="3345434" y="50749"/>
                  </a:lnTo>
                  <a:lnTo>
                    <a:pt x="3358172" y="50800"/>
                  </a:lnTo>
                  <a:lnTo>
                    <a:pt x="3345434" y="50800"/>
                  </a:lnTo>
                  <a:lnTo>
                    <a:pt x="3345357" y="76200"/>
                  </a:lnTo>
                  <a:lnTo>
                    <a:pt x="3396577" y="50800"/>
                  </a:lnTo>
                  <a:lnTo>
                    <a:pt x="3421684" y="38354"/>
                  </a:lnTo>
                  <a:close/>
                </a:path>
                <a:path w="3422650" h="197485">
                  <a:moveTo>
                    <a:pt x="3422319" y="159004"/>
                  </a:moveTo>
                  <a:lnTo>
                    <a:pt x="3396742" y="146177"/>
                  </a:lnTo>
                  <a:lnTo>
                    <a:pt x="3346119" y="120777"/>
                  </a:lnTo>
                  <a:lnTo>
                    <a:pt x="3346119" y="146164"/>
                  </a:lnTo>
                  <a:lnTo>
                    <a:pt x="288099" y="142748"/>
                  </a:lnTo>
                  <a:lnTo>
                    <a:pt x="288074" y="168148"/>
                  </a:lnTo>
                  <a:lnTo>
                    <a:pt x="3346119" y="171564"/>
                  </a:lnTo>
                  <a:lnTo>
                    <a:pt x="3346119" y="196977"/>
                  </a:lnTo>
                  <a:lnTo>
                    <a:pt x="3397085" y="171577"/>
                  </a:lnTo>
                  <a:lnTo>
                    <a:pt x="3422319" y="159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112"/>
          <p:cNvSpPr txBox="1"/>
          <p:nvPr/>
        </p:nvSpPr>
        <p:spPr>
          <a:xfrm>
            <a:off x="3964432" y="2532329"/>
            <a:ext cx="981710" cy="323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">
              <a:lnSpc>
                <a:spcPts val="1650"/>
              </a:lnSpc>
              <a:spcBef>
                <a:spcPts val="105"/>
              </a:spcBef>
            </a:pPr>
            <a:r>
              <a:rPr sz="1400" b="1" dirty="0">
                <a:latin typeface="Calibri"/>
                <a:cs typeface="Calibri"/>
              </a:rPr>
              <a:t>RIGHT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SHIFT</a:t>
            </a:r>
            <a:endParaRPr sz="1400">
              <a:latin typeface="Calibri"/>
              <a:cs typeface="Calibri"/>
            </a:endParaRPr>
          </a:p>
          <a:p>
            <a:pPr marL="36830">
              <a:lnSpc>
                <a:spcPts val="690"/>
              </a:lnSpc>
            </a:pPr>
            <a:r>
              <a:rPr sz="600" b="1" spc="-10" dirty="0">
                <a:latin typeface="Calibri"/>
                <a:cs typeface="Calibri"/>
              </a:rPr>
              <a:t>S[1:0]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456945" y="2613405"/>
            <a:ext cx="400050" cy="1677035"/>
            <a:chOff x="456945" y="2613405"/>
            <a:chExt cx="400050" cy="1677035"/>
          </a:xfrm>
        </p:grpSpPr>
        <p:sp>
          <p:nvSpPr>
            <p:cNvPr id="114" name="object 114"/>
            <p:cNvSpPr/>
            <p:nvPr/>
          </p:nvSpPr>
          <p:spPr>
            <a:xfrm>
              <a:off x="4632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8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63295" y="261975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4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8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7513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59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751331" y="2752343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7299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3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3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729995" y="4235195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3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3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3"/>
                  </a:lnTo>
                  <a:close/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4470653" y="4403597"/>
            <a:ext cx="1336675" cy="39497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67970">
              <a:lnSpc>
                <a:spcPts val="1395"/>
              </a:lnSpc>
              <a:spcBef>
                <a:spcPts val="125"/>
              </a:spcBef>
            </a:pPr>
            <a:r>
              <a:rPr sz="1200" b="1" dirty="0">
                <a:latin typeface="Calibri"/>
                <a:cs typeface="Calibri"/>
              </a:rPr>
              <a:t>RIGHT</a:t>
            </a:r>
            <a:r>
              <a:rPr sz="1200" b="1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ROTATE</a:t>
            </a:r>
            <a:endParaRPr sz="1200">
              <a:latin typeface="Calibri"/>
              <a:cs typeface="Calibri"/>
            </a:endParaRPr>
          </a:p>
          <a:p>
            <a:pPr marL="40005">
              <a:lnSpc>
                <a:spcPts val="1215"/>
              </a:lnSpc>
            </a:pPr>
            <a:r>
              <a:rPr sz="1050" b="1" spc="-10" dirty="0">
                <a:latin typeface="Calibri"/>
                <a:cs typeface="Calibri"/>
              </a:rPr>
              <a:t>S[1:0]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5798058" y="4419853"/>
            <a:ext cx="2177415" cy="137160"/>
            <a:chOff x="5798058" y="4419853"/>
            <a:chExt cx="2177415" cy="137160"/>
          </a:xfrm>
        </p:grpSpPr>
        <p:sp>
          <p:nvSpPr>
            <p:cNvPr id="122" name="object 122"/>
            <p:cNvSpPr/>
            <p:nvPr/>
          </p:nvSpPr>
          <p:spPr>
            <a:xfrm>
              <a:off x="5798058" y="4448936"/>
              <a:ext cx="2177415" cy="76200"/>
            </a:xfrm>
            <a:custGeom>
              <a:avLst/>
              <a:gdLst/>
              <a:ahLst/>
              <a:cxnLst/>
              <a:rect l="l" t="t" r="r" b="b"/>
              <a:pathLst>
                <a:path w="2177415" h="76200">
                  <a:moveTo>
                    <a:pt x="2100834" y="0"/>
                  </a:moveTo>
                  <a:lnTo>
                    <a:pt x="2100768" y="19685"/>
                  </a:lnTo>
                  <a:lnTo>
                    <a:pt x="2100706" y="38354"/>
                  </a:lnTo>
                  <a:lnTo>
                    <a:pt x="2100580" y="76200"/>
                  </a:lnTo>
                  <a:lnTo>
                    <a:pt x="2151806" y="50800"/>
                  </a:lnTo>
                  <a:lnTo>
                    <a:pt x="2113280" y="50800"/>
                  </a:lnTo>
                  <a:lnTo>
                    <a:pt x="2113407" y="25400"/>
                  </a:lnTo>
                  <a:lnTo>
                    <a:pt x="2151213" y="25400"/>
                  </a:lnTo>
                  <a:lnTo>
                    <a:pt x="2100834" y="0"/>
                  </a:lnTo>
                  <a:close/>
                </a:path>
                <a:path w="2177415" h="76200">
                  <a:moveTo>
                    <a:pt x="0" y="19685"/>
                  </a:moveTo>
                  <a:lnTo>
                    <a:pt x="0" y="45085"/>
                  </a:lnTo>
                  <a:lnTo>
                    <a:pt x="2113279" y="50800"/>
                  </a:lnTo>
                  <a:lnTo>
                    <a:pt x="2100664" y="50800"/>
                  </a:lnTo>
                  <a:lnTo>
                    <a:pt x="2100749" y="25400"/>
                  </a:lnTo>
                  <a:lnTo>
                    <a:pt x="2113407" y="25400"/>
                  </a:lnTo>
                  <a:lnTo>
                    <a:pt x="0" y="19685"/>
                  </a:lnTo>
                  <a:close/>
                </a:path>
                <a:path w="2177415" h="76200">
                  <a:moveTo>
                    <a:pt x="2151213" y="25400"/>
                  </a:moveTo>
                  <a:lnTo>
                    <a:pt x="2113407" y="25400"/>
                  </a:lnTo>
                  <a:lnTo>
                    <a:pt x="2113280" y="50800"/>
                  </a:lnTo>
                  <a:lnTo>
                    <a:pt x="2151806" y="50800"/>
                  </a:lnTo>
                  <a:lnTo>
                    <a:pt x="2176907" y="38354"/>
                  </a:lnTo>
                  <a:lnTo>
                    <a:pt x="2151213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323838" y="4432553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3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6358890" y="443255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461518" y="4458461"/>
            <a:ext cx="7495540" cy="1516380"/>
            <a:chOff x="461518" y="4458461"/>
            <a:chExt cx="7495540" cy="1516380"/>
          </a:xfrm>
        </p:grpSpPr>
        <p:sp>
          <p:nvSpPr>
            <p:cNvPr id="126" name="object 126"/>
            <p:cNvSpPr/>
            <p:nvPr/>
          </p:nvSpPr>
          <p:spPr>
            <a:xfrm>
              <a:off x="467868" y="4458461"/>
              <a:ext cx="4004310" cy="291465"/>
            </a:xfrm>
            <a:custGeom>
              <a:avLst/>
              <a:gdLst/>
              <a:ahLst/>
              <a:cxnLst/>
              <a:rect l="l" t="t" r="r" b="b"/>
              <a:pathLst>
                <a:path w="4004310" h="291464">
                  <a:moveTo>
                    <a:pt x="3990975" y="38100"/>
                  </a:moveTo>
                  <a:lnTo>
                    <a:pt x="3965575" y="25400"/>
                  </a:lnTo>
                  <a:lnTo>
                    <a:pt x="3914775" y="0"/>
                  </a:lnTo>
                  <a:lnTo>
                    <a:pt x="3914775" y="25400"/>
                  </a:lnTo>
                  <a:lnTo>
                    <a:pt x="86106" y="25400"/>
                  </a:lnTo>
                  <a:lnTo>
                    <a:pt x="86106" y="27063"/>
                  </a:lnTo>
                  <a:lnTo>
                    <a:pt x="84543" y="25958"/>
                  </a:lnTo>
                  <a:lnTo>
                    <a:pt x="68808" y="20904"/>
                  </a:lnTo>
                  <a:lnTo>
                    <a:pt x="49530" y="19050"/>
                  </a:lnTo>
                  <a:lnTo>
                    <a:pt x="30238" y="20904"/>
                  </a:lnTo>
                  <a:lnTo>
                    <a:pt x="14503" y="25958"/>
                  </a:lnTo>
                  <a:lnTo>
                    <a:pt x="3886" y="33464"/>
                  </a:lnTo>
                  <a:lnTo>
                    <a:pt x="0" y="42672"/>
                  </a:lnTo>
                  <a:lnTo>
                    <a:pt x="3886" y="51892"/>
                  </a:lnTo>
                  <a:lnTo>
                    <a:pt x="14503" y="59397"/>
                  </a:lnTo>
                  <a:lnTo>
                    <a:pt x="30238" y="64452"/>
                  </a:lnTo>
                  <a:lnTo>
                    <a:pt x="49530" y="66294"/>
                  </a:lnTo>
                  <a:lnTo>
                    <a:pt x="68808" y="64452"/>
                  </a:lnTo>
                  <a:lnTo>
                    <a:pt x="84543" y="59397"/>
                  </a:lnTo>
                  <a:lnTo>
                    <a:pt x="95161" y="51892"/>
                  </a:lnTo>
                  <a:lnTo>
                    <a:pt x="95618" y="50800"/>
                  </a:lnTo>
                  <a:lnTo>
                    <a:pt x="3914775" y="50800"/>
                  </a:lnTo>
                  <a:lnTo>
                    <a:pt x="3914775" y="76200"/>
                  </a:lnTo>
                  <a:lnTo>
                    <a:pt x="3965575" y="50800"/>
                  </a:lnTo>
                  <a:lnTo>
                    <a:pt x="3990975" y="38100"/>
                  </a:lnTo>
                  <a:close/>
                </a:path>
                <a:path w="4004310" h="291464">
                  <a:moveTo>
                    <a:pt x="4004183" y="252984"/>
                  </a:moveTo>
                  <a:lnTo>
                    <a:pt x="3979164" y="240588"/>
                  </a:lnTo>
                  <a:lnTo>
                    <a:pt x="3927856" y="215138"/>
                  </a:lnTo>
                  <a:lnTo>
                    <a:pt x="3927932" y="240588"/>
                  </a:lnTo>
                  <a:lnTo>
                    <a:pt x="331431" y="252095"/>
                  </a:lnTo>
                  <a:lnTo>
                    <a:pt x="331508" y="277495"/>
                  </a:lnTo>
                  <a:lnTo>
                    <a:pt x="3928021" y="265988"/>
                  </a:lnTo>
                  <a:lnTo>
                    <a:pt x="3928110" y="291338"/>
                  </a:lnTo>
                  <a:lnTo>
                    <a:pt x="3978402" y="265988"/>
                  </a:lnTo>
                  <a:lnTo>
                    <a:pt x="4004183" y="252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67868" y="4477511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29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59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29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299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49530" y="0"/>
                  </a:moveTo>
                  <a:lnTo>
                    <a:pt x="30250" y="1851"/>
                  </a:lnTo>
                  <a:lnTo>
                    <a:pt x="14506" y="6905"/>
                  </a:lnTo>
                  <a:lnTo>
                    <a:pt x="3892" y="14412"/>
                  </a:lnTo>
                  <a:lnTo>
                    <a:pt x="0" y="23621"/>
                  </a:lnTo>
                  <a:lnTo>
                    <a:pt x="3892" y="32831"/>
                  </a:lnTo>
                  <a:lnTo>
                    <a:pt x="14506" y="40338"/>
                  </a:lnTo>
                  <a:lnTo>
                    <a:pt x="30250" y="45392"/>
                  </a:lnTo>
                  <a:lnTo>
                    <a:pt x="49530" y="47243"/>
                  </a:lnTo>
                  <a:lnTo>
                    <a:pt x="68809" y="45392"/>
                  </a:lnTo>
                  <a:lnTo>
                    <a:pt x="84553" y="40338"/>
                  </a:lnTo>
                  <a:lnTo>
                    <a:pt x="95167" y="32831"/>
                  </a:lnTo>
                  <a:lnTo>
                    <a:pt x="99060" y="23621"/>
                  </a:lnTo>
                  <a:lnTo>
                    <a:pt x="95167" y="14412"/>
                  </a:lnTo>
                  <a:lnTo>
                    <a:pt x="84553" y="6905"/>
                  </a:lnTo>
                  <a:lnTo>
                    <a:pt x="68809" y="1851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729995" y="4700015"/>
              <a:ext cx="99060" cy="47625"/>
            </a:xfrm>
            <a:custGeom>
              <a:avLst/>
              <a:gdLst/>
              <a:ahLst/>
              <a:cxnLst/>
              <a:rect l="l" t="t" r="r" b="b"/>
              <a:pathLst>
                <a:path w="99059" h="47625">
                  <a:moveTo>
                    <a:pt x="0" y="23621"/>
                  </a:moveTo>
                  <a:lnTo>
                    <a:pt x="3892" y="14412"/>
                  </a:lnTo>
                  <a:lnTo>
                    <a:pt x="14506" y="6905"/>
                  </a:lnTo>
                  <a:lnTo>
                    <a:pt x="30250" y="1851"/>
                  </a:lnTo>
                  <a:lnTo>
                    <a:pt x="49530" y="0"/>
                  </a:lnTo>
                  <a:lnTo>
                    <a:pt x="68809" y="1851"/>
                  </a:lnTo>
                  <a:lnTo>
                    <a:pt x="84553" y="6905"/>
                  </a:lnTo>
                  <a:lnTo>
                    <a:pt x="95167" y="14412"/>
                  </a:lnTo>
                  <a:lnTo>
                    <a:pt x="99060" y="23621"/>
                  </a:lnTo>
                  <a:lnTo>
                    <a:pt x="95167" y="32831"/>
                  </a:lnTo>
                  <a:lnTo>
                    <a:pt x="84553" y="40338"/>
                  </a:lnTo>
                  <a:lnTo>
                    <a:pt x="68809" y="45392"/>
                  </a:lnTo>
                  <a:lnTo>
                    <a:pt x="49530" y="47243"/>
                  </a:lnTo>
                  <a:lnTo>
                    <a:pt x="30250" y="45392"/>
                  </a:lnTo>
                  <a:lnTo>
                    <a:pt x="14506" y="40338"/>
                  </a:lnTo>
                  <a:lnTo>
                    <a:pt x="3892" y="32831"/>
                  </a:lnTo>
                  <a:lnTo>
                    <a:pt x="0" y="2362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3821429" y="5690095"/>
              <a:ext cx="4135120" cy="76200"/>
            </a:xfrm>
            <a:custGeom>
              <a:avLst/>
              <a:gdLst/>
              <a:ahLst/>
              <a:cxnLst/>
              <a:rect l="l" t="t" r="r" b="b"/>
              <a:pathLst>
                <a:path w="4135120" h="76200">
                  <a:moveTo>
                    <a:pt x="4058793" y="0"/>
                  </a:moveTo>
                  <a:lnTo>
                    <a:pt x="4058877" y="25403"/>
                  </a:lnTo>
                  <a:lnTo>
                    <a:pt x="4058921" y="38557"/>
                  </a:lnTo>
                  <a:lnTo>
                    <a:pt x="4059047" y="76200"/>
                  </a:lnTo>
                  <a:lnTo>
                    <a:pt x="4109436" y="50803"/>
                  </a:lnTo>
                  <a:lnTo>
                    <a:pt x="4071747" y="50803"/>
                  </a:lnTo>
                  <a:lnTo>
                    <a:pt x="4071682" y="37858"/>
                  </a:lnTo>
                  <a:lnTo>
                    <a:pt x="4071620" y="25403"/>
                  </a:lnTo>
                  <a:lnTo>
                    <a:pt x="4110008" y="25403"/>
                  </a:lnTo>
                  <a:lnTo>
                    <a:pt x="4058793" y="0"/>
                  </a:lnTo>
                  <a:close/>
                </a:path>
                <a:path w="4135120" h="76200">
                  <a:moveTo>
                    <a:pt x="4058877" y="25403"/>
                  </a:moveTo>
                  <a:lnTo>
                    <a:pt x="0" y="38557"/>
                  </a:lnTo>
                  <a:lnTo>
                    <a:pt x="0" y="63957"/>
                  </a:lnTo>
                  <a:lnTo>
                    <a:pt x="4058962" y="50803"/>
                  </a:lnTo>
                  <a:lnTo>
                    <a:pt x="4058877" y="25403"/>
                  </a:lnTo>
                  <a:close/>
                </a:path>
                <a:path w="4135120" h="76200">
                  <a:moveTo>
                    <a:pt x="4110008" y="25403"/>
                  </a:moveTo>
                  <a:lnTo>
                    <a:pt x="4071620" y="25403"/>
                  </a:lnTo>
                  <a:lnTo>
                    <a:pt x="4071682" y="37858"/>
                  </a:lnTo>
                  <a:lnTo>
                    <a:pt x="4071747" y="50803"/>
                  </a:lnTo>
                  <a:lnTo>
                    <a:pt x="4109436" y="50803"/>
                  </a:lnTo>
                  <a:lnTo>
                    <a:pt x="4135120" y="37858"/>
                  </a:lnTo>
                  <a:lnTo>
                    <a:pt x="4110008" y="25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506730" y="5702045"/>
              <a:ext cx="2340610" cy="273050"/>
            </a:xfrm>
            <a:custGeom>
              <a:avLst/>
              <a:gdLst/>
              <a:ahLst/>
              <a:cxnLst/>
              <a:rect l="l" t="t" r="r" b="b"/>
              <a:pathLst>
                <a:path w="2340610" h="273050">
                  <a:moveTo>
                    <a:pt x="2340229" y="234696"/>
                  </a:moveTo>
                  <a:lnTo>
                    <a:pt x="2314829" y="221996"/>
                  </a:lnTo>
                  <a:lnTo>
                    <a:pt x="2264029" y="196596"/>
                  </a:lnTo>
                  <a:lnTo>
                    <a:pt x="2264029" y="221996"/>
                  </a:lnTo>
                  <a:lnTo>
                    <a:pt x="294132" y="221996"/>
                  </a:lnTo>
                  <a:lnTo>
                    <a:pt x="294132" y="247396"/>
                  </a:lnTo>
                  <a:lnTo>
                    <a:pt x="2264029" y="247396"/>
                  </a:lnTo>
                  <a:lnTo>
                    <a:pt x="2264029" y="272796"/>
                  </a:lnTo>
                  <a:lnTo>
                    <a:pt x="2314829" y="247396"/>
                  </a:lnTo>
                  <a:lnTo>
                    <a:pt x="2340229" y="234696"/>
                  </a:lnTo>
                  <a:close/>
                </a:path>
                <a:path w="2340610" h="273050">
                  <a:moveTo>
                    <a:pt x="2340483" y="38100"/>
                  </a:moveTo>
                  <a:lnTo>
                    <a:pt x="2315083" y="25400"/>
                  </a:lnTo>
                  <a:lnTo>
                    <a:pt x="2264283" y="0"/>
                  </a:lnTo>
                  <a:lnTo>
                    <a:pt x="2264283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2264283" y="50800"/>
                  </a:lnTo>
                  <a:lnTo>
                    <a:pt x="2264283" y="76200"/>
                  </a:lnTo>
                  <a:lnTo>
                    <a:pt x="2315083" y="50800"/>
                  </a:lnTo>
                  <a:lnTo>
                    <a:pt x="2340483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1335786" y="5695289"/>
            <a:ext cx="106045" cy="426084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2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456945" y="4643882"/>
            <a:ext cx="3404235" cy="1381125"/>
            <a:chOff x="456945" y="4643882"/>
            <a:chExt cx="3404235" cy="1381125"/>
          </a:xfrm>
        </p:grpSpPr>
        <p:sp>
          <p:nvSpPr>
            <p:cNvPr id="134" name="object 134"/>
            <p:cNvSpPr/>
            <p:nvPr/>
          </p:nvSpPr>
          <p:spPr>
            <a:xfrm>
              <a:off x="1300734" y="5689854"/>
              <a:ext cx="176530" cy="322580"/>
            </a:xfrm>
            <a:custGeom>
              <a:avLst/>
              <a:gdLst/>
              <a:ahLst/>
              <a:cxnLst/>
              <a:rect l="l" t="t" r="r" b="b"/>
              <a:pathLst>
                <a:path w="176530" h="322579">
                  <a:moveTo>
                    <a:pt x="176403" y="0"/>
                  </a:moveTo>
                  <a:lnTo>
                    <a:pt x="7619" y="111645"/>
                  </a:lnTo>
                </a:path>
                <a:path w="176530" h="322579">
                  <a:moveTo>
                    <a:pt x="168782" y="210312"/>
                  </a:moveTo>
                  <a:lnTo>
                    <a:pt x="0" y="32195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4632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463295" y="57165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254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49530" y="0"/>
                  </a:moveTo>
                  <a:lnTo>
                    <a:pt x="30250" y="1916"/>
                  </a:lnTo>
                  <a:lnTo>
                    <a:pt x="14506" y="7143"/>
                  </a:lnTo>
                  <a:lnTo>
                    <a:pt x="3892" y="14894"/>
                  </a:lnTo>
                  <a:lnTo>
                    <a:pt x="0" y="24384"/>
                  </a:lnTo>
                  <a:lnTo>
                    <a:pt x="3892" y="33873"/>
                  </a:lnTo>
                  <a:lnTo>
                    <a:pt x="14506" y="41624"/>
                  </a:lnTo>
                  <a:lnTo>
                    <a:pt x="30250" y="46851"/>
                  </a:lnTo>
                  <a:lnTo>
                    <a:pt x="49530" y="48767"/>
                  </a:lnTo>
                  <a:lnTo>
                    <a:pt x="68809" y="46851"/>
                  </a:lnTo>
                  <a:lnTo>
                    <a:pt x="84553" y="41624"/>
                  </a:lnTo>
                  <a:lnTo>
                    <a:pt x="95167" y="33873"/>
                  </a:lnTo>
                  <a:lnTo>
                    <a:pt x="99060" y="24384"/>
                  </a:lnTo>
                  <a:lnTo>
                    <a:pt x="95167" y="14894"/>
                  </a:lnTo>
                  <a:lnTo>
                    <a:pt x="84553" y="7143"/>
                  </a:lnTo>
                  <a:lnTo>
                    <a:pt x="68809" y="1916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25423" y="5907024"/>
              <a:ext cx="99060" cy="48895"/>
            </a:xfrm>
            <a:custGeom>
              <a:avLst/>
              <a:gdLst/>
              <a:ahLst/>
              <a:cxnLst/>
              <a:rect l="l" t="t" r="r" b="b"/>
              <a:pathLst>
                <a:path w="99059" h="48895">
                  <a:moveTo>
                    <a:pt x="0" y="24384"/>
                  </a:moveTo>
                  <a:lnTo>
                    <a:pt x="3892" y="14894"/>
                  </a:lnTo>
                  <a:lnTo>
                    <a:pt x="14506" y="7143"/>
                  </a:lnTo>
                  <a:lnTo>
                    <a:pt x="30250" y="1916"/>
                  </a:lnTo>
                  <a:lnTo>
                    <a:pt x="49530" y="0"/>
                  </a:lnTo>
                  <a:lnTo>
                    <a:pt x="68809" y="1916"/>
                  </a:lnTo>
                  <a:lnTo>
                    <a:pt x="84553" y="7143"/>
                  </a:lnTo>
                  <a:lnTo>
                    <a:pt x="95167" y="14894"/>
                  </a:lnTo>
                  <a:lnTo>
                    <a:pt x="99060" y="24384"/>
                  </a:lnTo>
                  <a:lnTo>
                    <a:pt x="95167" y="33873"/>
                  </a:lnTo>
                  <a:lnTo>
                    <a:pt x="84553" y="41624"/>
                  </a:lnTo>
                  <a:lnTo>
                    <a:pt x="68809" y="46851"/>
                  </a:lnTo>
                  <a:lnTo>
                    <a:pt x="49530" y="48767"/>
                  </a:lnTo>
                  <a:lnTo>
                    <a:pt x="30250" y="46851"/>
                  </a:lnTo>
                  <a:lnTo>
                    <a:pt x="14506" y="41624"/>
                  </a:lnTo>
                  <a:lnTo>
                    <a:pt x="3892" y="33873"/>
                  </a:lnTo>
                  <a:lnTo>
                    <a:pt x="0" y="2438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3679697" y="4656582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2847594" y="5671565"/>
            <a:ext cx="975360" cy="334010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13970" algn="ctr">
              <a:lnSpc>
                <a:spcPct val="100000"/>
              </a:lnSpc>
              <a:spcBef>
                <a:spcPts val="240"/>
              </a:spcBef>
            </a:pPr>
            <a:r>
              <a:rPr sz="1400" b="1" spc="-25" dirty="0">
                <a:latin typeface="Calibri"/>
                <a:cs typeface="Calibri"/>
              </a:rPr>
              <a:t>DIV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3737609" y="4678171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2" name="object 142"/>
          <p:cNvSpPr/>
          <p:nvPr/>
        </p:nvSpPr>
        <p:spPr>
          <a:xfrm>
            <a:off x="2940557" y="3952494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 txBox="1"/>
          <p:nvPr/>
        </p:nvSpPr>
        <p:spPr>
          <a:xfrm>
            <a:off x="3008757" y="3975303"/>
            <a:ext cx="1028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4" name="object 144"/>
          <p:cNvSpPr/>
          <p:nvPr/>
        </p:nvSpPr>
        <p:spPr>
          <a:xfrm>
            <a:off x="2902457" y="4438650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3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 txBox="1"/>
          <p:nvPr/>
        </p:nvSpPr>
        <p:spPr>
          <a:xfrm>
            <a:off x="2938398" y="4457445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5900673" y="56672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7" name="object 147"/>
          <p:cNvGrpSpPr/>
          <p:nvPr/>
        </p:nvGrpSpPr>
        <p:grpSpPr>
          <a:xfrm>
            <a:off x="4827778" y="2957829"/>
            <a:ext cx="2114550" cy="2842895"/>
            <a:chOff x="4827778" y="2957829"/>
            <a:chExt cx="2114550" cy="2842895"/>
          </a:xfrm>
        </p:grpSpPr>
        <p:sp>
          <p:nvSpPr>
            <p:cNvPr id="148" name="object 148"/>
            <p:cNvSpPr/>
            <p:nvPr/>
          </p:nvSpPr>
          <p:spPr>
            <a:xfrm>
              <a:off x="5863590" y="3362705"/>
              <a:ext cx="1020444" cy="2425700"/>
            </a:xfrm>
            <a:custGeom>
              <a:avLst/>
              <a:gdLst/>
              <a:ahLst/>
              <a:cxnLst/>
              <a:rect l="l" t="t" r="r" b="b"/>
              <a:pathLst>
                <a:path w="1020445" h="2425700">
                  <a:moveTo>
                    <a:pt x="168783" y="2313432"/>
                  </a:moveTo>
                  <a:lnTo>
                    <a:pt x="0" y="2425077"/>
                  </a:lnTo>
                </a:path>
                <a:path w="1020445" h="2425700">
                  <a:moveTo>
                    <a:pt x="1004315" y="0"/>
                  </a:moveTo>
                  <a:lnTo>
                    <a:pt x="1019937" y="200025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27778" y="2957829"/>
              <a:ext cx="137668" cy="107187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01358" y="3305301"/>
              <a:ext cx="140716" cy="101092"/>
            </a:xfrm>
            <a:prstGeom prst="rect">
              <a:avLst/>
            </a:prstGeom>
          </p:spPr>
        </p:pic>
      </p:grpSp>
      <p:sp>
        <p:nvSpPr>
          <p:cNvPr id="151" name="object 151"/>
          <p:cNvSpPr txBox="1"/>
          <p:nvPr/>
        </p:nvSpPr>
        <p:spPr>
          <a:xfrm>
            <a:off x="6955663" y="5097526"/>
            <a:ext cx="820419" cy="48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58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CMP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(SUB)</a:t>
            </a:r>
            <a:endParaRPr sz="1400">
              <a:latin typeface="Calibri"/>
              <a:cs typeface="Calibri"/>
            </a:endParaRPr>
          </a:p>
          <a:p>
            <a:pPr marL="151130">
              <a:lnSpc>
                <a:spcPts val="2060"/>
              </a:lnSpc>
            </a:pPr>
            <a:r>
              <a:rPr sz="1800" b="1" spc="-50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2559811" y="239763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2449829" y="2355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 txBox="1"/>
          <p:nvPr/>
        </p:nvSpPr>
        <p:spPr>
          <a:xfrm>
            <a:off x="2005329" y="273837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5" name="object 155"/>
          <p:cNvSpPr/>
          <p:nvPr/>
        </p:nvSpPr>
        <p:spPr>
          <a:xfrm>
            <a:off x="1943861" y="271348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10" h="111760">
                <a:moveTo>
                  <a:pt x="168782" y="0"/>
                </a:moveTo>
                <a:lnTo>
                  <a:pt x="0" y="111632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 txBox="1"/>
          <p:nvPr/>
        </p:nvSpPr>
        <p:spPr>
          <a:xfrm>
            <a:off x="1766697" y="2469007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latin typeface="Calibri"/>
                <a:cs typeface="Calibri"/>
              </a:rPr>
              <a:t>4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57" name="object 157"/>
          <p:cNvGrpSpPr/>
          <p:nvPr/>
        </p:nvGrpSpPr>
        <p:grpSpPr>
          <a:xfrm>
            <a:off x="1748282" y="2591054"/>
            <a:ext cx="8244205" cy="626745"/>
            <a:chOff x="1748282" y="2591054"/>
            <a:chExt cx="8244205" cy="626745"/>
          </a:xfrm>
        </p:grpSpPr>
        <p:sp>
          <p:nvSpPr>
            <p:cNvPr id="158" name="object 158"/>
            <p:cNvSpPr/>
            <p:nvPr/>
          </p:nvSpPr>
          <p:spPr>
            <a:xfrm>
              <a:off x="1760982" y="2603754"/>
              <a:ext cx="168910" cy="111760"/>
            </a:xfrm>
            <a:custGeom>
              <a:avLst/>
              <a:gdLst/>
              <a:ahLst/>
              <a:cxnLst/>
              <a:rect l="l" t="t" r="r" b="b"/>
              <a:pathLst>
                <a:path w="168910" h="111760">
                  <a:moveTo>
                    <a:pt x="168782" y="0"/>
                  </a:moveTo>
                  <a:lnTo>
                    <a:pt x="0" y="1116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3922014" y="3141218"/>
              <a:ext cx="6070600" cy="76200"/>
            </a:xfrm>
            <a:custGeom>
              <a:avLst/>
              <a:gdLst/>
              <a:ahLst/>
              <a:cxnLst/>
              <a:rect l="l" t="t" r="r" b="b"/>
              <a:pathLst>
                <a:path w="6070600" h="76200">
                  <a:moveTo>
                    <a:pt x="5994400" y="0"/>
                  </a:moveTo>
                  <a:lnTo>
                    <a:pt x="5994379" y="6096"/>
                  </a:lnTo>
                  <a:lnTo>
                    <a:pt x="5994272" y="38354"/>
                  </a:lnTo>
                  <a:lnTo>
                    <a:pt x="5994145" y="76200"/>
                  </a:lnTo>
                  <a:lnTo>
                    <a:pt x="6045372" y="50800"/>
                  </a:lnTo>
                  <a:lnTo>
                    <a:pt x="6006845" y="50800"/>
                  </a:lnTo>
                  <a:lnTo>
                    <a:pt x="6006972" y="25400"/>
                  </a:lnTo>
                  <a:lnTo>
                    <a:pt x="6044779" y="25400"/>
                  </a:lnTo>
                  <a:lnTo>
                    <a:pt x="5994400" y="0"/>
                  </a:lnTo>
                  <a:close/>
                </a:path>
                <a:path w="6070600" h="76200">
                  <a:moveTo>
                    <a:pt x="0" y="6096"/>
                  </a:moveTo>
                  <a:lnTo>
                    <a:pt x="0" y="31496"/>
                  </a:lnTo>
                  <a:lnTo>
                    <a:pt x="6006845" y="50800"/>
                  </a:lnTo>
                  <a:lnTo>
                    <a:pt x="5994230" y="50800"/>
                  </a:lnTo>
                  <a:lnTo>
                    <a:pt x="5994315" y="25400"/>
                  </a:lnTo>
                  <a:lnTo>
                    <a:pt x="6006973" y="25400"/>
                  </a:lnTo>
                  <a:lnTo>
                    <a:pt x="0" y="6096"/>
                  </a:lnTo>
                  <a:close/>
                </a:path>
                <a:path w="6070600" h="76200">
                  <a:moveTo>
                    <a:pt x="6044779" y="25400"/>
                  </a:moveTo>
                  <a:lnTo>
                    <a:pt x="6006972" y="25400"/>
                  </a:lnTo>
                  <a:lnTo>
                    <a:pt x="6006845" y="50800"/>
                  </a:lnTo>
                  <a:lnTo>
                    <a:pt x="6045372" y="50800"/>
                  </a:lnTo>
                  <a:lnTo>
                    <a:pt x="6070472" y="38354"/>
                  </a:lnTo>
                  <a:lnTo>
                    <a:pt x="6044779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0" name="object 160"/>
          <p:cNvSpPr txBox="1"/>
          <p:nvPr/>
        </p:nvSpPr>
        <p:spPr>
          <a:xfrm>
            <a:off x="841044" y="2752725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852322" y="239890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829767" y="4234053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836167" y="4696714"/>
            <a:ext cx="3111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latin typeface="Calibri"/>
                <a:cs typeface="Calibri"/>
              </a:rPr>
              <a:t>B[1:0]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3823461" y="3081020"/>
            <a:ext cx="6731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-50" dirty="0">
                <a:latin typeface="Calibri"/>
                <a:cs typeface="Calibri"/>
              </a:rPr>
              <a:t>C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5" name="object 165"/>
          <p:cNvSpPr/>
          <p:nvPr/>
        </p:nvSpPr>
        <p:spPr>
          <a:xfrm>
            <a:off x="9608057" y="3117342"/>
            <a:ext cx="168910" cy="111760"/>
          </a:xfrm>
          <a:custGeom>
            <a:avLst/>
            <a:gdLst/>
            <a:ahLst/>
            <a:cxnLst/>
            <a:rect l="l" t="t" r="r" b="b"/>
            <a:pathLst>
              <a:path w="168909" h="111760">
                <a:moveTo>
                  <a:pt x="168783" y="0"/>
                </a:moveTo>
                <a:lnTo>
                  <a:pt x="0" y="11163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 txBox="1"/>
          <p:nvPr/>
        </p:nvSpPr>
        <p:spPr>
          <a:xfrm>
            <a:off x="9666478" y="3122421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9839197" y="2351785"/>
            <a:ext cx="532130" cy="517525"/>
            <a:chOff x="9839197" y="2351785"/>
            <a:chExt cx="532130" cy="517525"/>
          </a:xfrm>
        </p:grpSpPr>
        <p:sp>
          <p:nvSpPr>
            <p:cNvPr id="168" name="object 168"/>
            <p:cNvSpPr/>
            <p:nvPr/>
          </p:nvSpPr>
          <p:spPr>
            <a:xfrm>
              <a:off x="9851897" y="2364485"/>
              <a:ext cx="1270" cy="477520"/>
            </a:xfrm>
            <a:custGeom>
              <a:avLst/>
              <a:gdLst/>
              <a:ahLst/>
              <a:cxnLst/>
              <a:rect l="l" t="t" r="r" b="b"/>
              <a:pathLst>
                <a:path w="1270" h="477519">
                  <a:moveTo>
                    <a:pt x="0" y="0"/>
                  </a:moveTo>
                  <a:lnTo>
                    <a:pt x="1016" y="47726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9842753" y="2792729"/>
              <a:ext cx="528320" cy="76200"/>
            </a:xfrm>
            <a:custGeom>
              <a:avLst/>
              <a:gdLst/>
              <a:ahLst/>
              <a:cxnLst/>
              <a:rect l="l" t="t" r="r" b="b"/>
              <a:pathLst>
                <a:path w="528320" h="76200">
                  <a:moveTo>
                    <a:pt x="452120" y="0"/>
                  </a:moveTo>
                  <a:lnTo>
                    <a:pt x="452120" y="76200"/>
                  </a:lnTo>
                  <a:lnTo>
                    <a:pt x="502920" y="50800"/>
                  </a:lnTo>
                  <a:lnTo>
                    <a:pt x="464820" y="50800"/>
                  </a:lnTo>
                  <a:lnTo>
                    <a:pt x="464820" y="25400"/>
                  </a:lnTo>
                  <a:lnTo>
                    <a:pt x="502920" y="25400"/>
                  </a:lnTo>
                  <a:lnTo>
                    <a:pt x="452120" y="0"/>
                  </a:lnTo>
                  <a:close/>
                </a:path>
                <a:path w="528320" h="76200">
                  <a:moveTo>
                    <a:pt x="45212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452120" y="50800"/>
                  </a:lnTo>
                  <a:lnTo>
                    <a:pt x="452120" y="25400"/>
                  </a:lnTo>
                  <a:close/>
                </a:path>
                <a:path w="528320" h="76200">
                  <a:moveTo>
                    <a:pt x="502920" y="25400"/>
                  </a:moveTo>
                  <a:lnTo>
                    <a:pt x="464820" y="25400"/>
                  </a:lnTo>
                  <a:lnTo>
                    <a:pt x="464820" y="50800"/>
                  </a:lnTo>
                  <a:lnTo>
                    <a:pt x="502920" y="50800"/>
                  </a:lnTo>
                  <a:lnTo>
                    <a:pt x="528320" y="38100"/>
                  </a:lnTo>
                  <a:lnTo>
                    <a:pt x="502920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0" name="object 170"/>
          <p:cNvSpPr txBox="1"/>
          <p:nvPr/>
        </p:nvSpPr>
        <p:spPr>
          <a:xfrm>
            <a:off x="10158476" y="2564383"/>
            <a:ext cx="1670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sf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71" name="object 171"/>
          <p:cNvGrpSpPr/>
          <p:nvPr/>
        </p:nvGrpSpPr>
        <p:grpSpPr>
          <a:xfrm>
            <a:off x="9828530" y="1370330"/>
            <a:ext cx="425450" cy="1040765"/>
            <a:chOff x="9828530" y="1370330"/>
            <a:chExt cx="425450" cy="1040765"/>
          </a:xfrm>
        </p:grpSpPr>
        <p:sp>
          <p:nvSpPr>
            <p:cNvPr id="172" name="object 172"/>
            <p:cNvSpPr/>
            <p:nvPr/>
          </p:nvSpPr>
          <p:spPr>
            <a:xfrm>
              <a:off x="9841230" y="1404366"/>
              <a:ext cx="11430" cy="993775"/>
            </a:xfrm>
            <a:custGeom>
              <a:avLst/>
              <a:gdLst/>
              <a:ahLst/>
              <a:cxnLst/>
              <a:rect l="l" t="t" r="r" b="b"/>
              <a:pathLst>
                <a:path w="11429" h="993775">
                  <a:moveTo>
                    <a:pt x="0" y="0"/>
                  </a:moveTo>
                  <a:lnTo>
                    <a:pt x="11049" y="993521"/>
                  </a:lnTo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9851771" y="1370329"/>
              <a:ext cx="402590" cy="330835"/>
            </a:xfrm>
            <a:custGeom>
              <a:avLst/>
              <a:gdLst/>
              <a:ahLst/>
              <a:cxnLst/>
              <a:rect l="l" t="t" r="r" b="b"/>
              <a:pathLst>
                <a:path w="402590" h="330835">
                  <a:moveTo>
                    <a:pt x="380111" y="37084"/>
                  </a:moveTo>
                  <a:lnTo>
                    <a:pt x="355676" y="25273"/>
                  </a:lnTo>
                  <a:lnTo>
                    <a:pt x="303403" y="0"/>
                  </a:lnTo>
                  <a:lnTo>
                    <a:pt x="303733" y="25273"/>
                  </a:lnTo>
                  <a:lnTo>
                    <a:pt x="303733" y="25450"/>
                  </a:lnTo>
                  <a:lnTo>
                    <a:pt x="0" y="29591"/>
                  </a:lnTo>
                  <a:lnTo>
                    <a:pt x="203" y="50673"/>
                  </a:lnTo>
                  <a:lnTo>
                    <a:pt x="254" y="54991"/>
                  </a:lnTo>
                  <a:lnTo>
                    <a:pt x="304076" y="50850"/>
                  </a:lnTo>
                  <a:lnTo>
                    <a:pt x="303885" y="37084"/>
                  </a:lnTo>
                  <a:lnTo>
                    <a:pt x="304076" y="50673"/>
                  </a:lnTo>
                  <a:lnTo>
                    <a:pt x="304076" y="50850"/>
                  </a:lnTo>
                  <a:lnTo>
                    <a:pt x="304419" y="76200"/>
                  </a:lnTo>
                  <a:lnTo>
                    <a:pt x="380111" y="37084"/>
                  </a:lnTo>
                  <a:close/>
                </a:path>
                <a:path w="402590" h="330835">
                  <a:moveTo>
                    <a:pt x="402209" y="291592"/>
                  </a:moveTo>
                  <a:lnTo>
                    <a:pt x="377761" y="279641"/>
                  </a:lnTo>
                  <a:lnTo>
                    <a:pt x="325628" y="254127"/>
                  </a:lnTo>
                  <a:lnTo>
                    <a:pt x="325882" y="279641"/>
                  </a:lnTo>
                  <a:lnTo>
                    <a:pt x="3048" y="282448"/>
                  </a:lnTo>
                  <a:lnTo>
                    <a:pt x="3263" y="305041"/>
                  </a:lnTo>
                  <a:lnTo>
                    <a:pt x="3302" y="307848"/>
                  </a:lnTo>
                  <a:lnTo>
                    <a:pt x="326136" y="305041"/>
                  </a:lnTo>
                  <a:lnTo>
                    <a:pt x="326390" y="330327"/>
                  </a:lnTo>
                  <a:lnTo>
                    <a:pt x="375881" y="305041"/>
                  </a:lnTo>
                  <a:lnTo>
                    <a:pt x="402209" y="2915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9859136" y="1219022"/>
            <a:ext cx="20256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R[3]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9869551" y="1512188"/>
            <a:ext cx="20193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R[2]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6" name="object 176"/>
          <p:cNvSpPr/>
          <p:nvPr/>
        </p:nvSpPr>
        <p:spPr>
          <a:xfrm>
            <a:off x="9854945" y="1846326"/>
            <a:ext cx="399415" cy="76200"/>
          </a:xfrm>
          <a:custGeom>
            <a:avLst/>
            <a:gdLst/>
            <a:ahLst/>
            <a:cxnLst/>
            <a:rect l="l" t="t" r="r" b="b"/>
            <a:pathLst>
              <a:path w="399415" h="76200">
                <a:moveTo>
                  <a:pt x="322833" y="0"/>
                </a:moveTo>
                <a:lnTo>
                  <a:pt x="322833" y="76200"/>
                </a:lnTo>
                <a:lnTo>
                  <a:pt x="373633" y="50800"/>
                </a:lnTo>
                <a:lnTo>
                  <a:pt x="335533" y="50800"/>
                </a:lnTo>
                <a:lnTo>
                  <a:pt x="335533" y="25400"/>
                </a:lnTo>
                <a:lnTo>
                  <a:pt x="373633" y="25400"/>
                </a:lnTo>
                <a:lnTo>
                  <a:pt x="322833" y="0"/>
                </a:lnTo>
                <a:close/>
              </a:path>
              <a:path w="399415" h="76200">
                <a:moveTo>
                  <a:pt x="322833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322833" y="50800"/>
                </a:lnTo>
                <a:lnTo>
                  <a:pt x="322833" y="25400"/>
                </a:lnTo>
                <a:close/>
              </a:path>
              <a:path w="399415" h="76200">
                <a:moveTo>
                  <a:pt x="373633" y="25400"/>
                </a:moveTo>
                <a:lnTo>
                  <a:pt x="335533" y="25400"/>
                </a:lnTo>
                <a:lnTo>
                  <a:pt x="335533" y="50800"/>
                </a:lnTo>
                <a:lnTo>
                  <a:pt x="373633" y="50800"/>
                </a:lnTo>
                <a:lnTo>
                  <a:pt x="399033" y="38100"/>
                </a:lnTo>
                <a:lnTo>
                  <a:pt x="373633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 txBox="1"/>
          <p:nvPr/>
        </p:nvSpPr>
        <p:spPr>
          <a:xfrm>
            <a:off x="9869551" y="1731391"/>
            <a:ext cx="20193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R[1]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9857740" y="2037969"/>
            <a:ext cx="374650" cy="76200"/>
          </a:xfrm>
          <a:custGeom>
            <a:avLst/>
            <a:gdLst/>
            <a:ahLst/>
            <a:cxnLst/>
            <a:rect l="l" t="t" r="r" b="b"/>
            <a:pathLst>
              <a:path w="374650" h="76200">
                <a:moveTo>
                  <a:pt x="350017" y="25272"/>
                </a:moveTo>
                <a:lnTo>
                  <a:pt x="310641" y="25272"/>
                </a:lnTo>
                <a:lnTo>
                  <a:pt x="311023" y="50672"/>
                </a:lnTo>
                <a:lnTo>
                  <a:pt x="298323" y="50865"/>
                </a:lnTo>
                <a:lnTo>
                  <a:pt x="298703" y="76200"/>
                </a:lnTo>
                <a:lnTo>
                  <a:pt x="374268" y="36956"/>
                </a:lnTo>
                <a:lnTo>
                  <a:pt x="350017" y="25272"/>
                </a:lnTo>
                <a:close/>
              </a:path>
              <a:path w="374650" h="76200">
                <a:moveTo>
                  <a:pt x="297942" y="25465"/>
                </a:moveTo>
                <a:lnTo>
                  <a:pt x="0" y="29971"/>
                </a:lnTo>
                <a:lnTo>
                  <a:pt x="310" y="50672"/>
                </a:lnTo>
                <a:lnTo>
                  <a:pt x="380" y="55371"/>
                </a:lnTo>
                <a:lnTo>
                  <a:pt x="298323" y="50865"/>
                </a:lnTo>
                <a:lnTo>
                  <a:pt x="298115" y="36956"/>
                </a:lnTo>
                <a:lnTo>
                  <a:pt x="298010" y="29971"/>
                </a:lnTo>
                <a:lnTo>
                  <a:pt x="297942" y="25465"/>
                </a:lnTo>
                <a:close/>
              </a:path>
              <a:path w="374650" h="76200">
                <a:moveTo>
                  <a:pt x="310641" y="25272"/>
                </a:moveTo>
                <a:lnTo>
                  <a:pt x="297942" y="25465"/>
                </a:lnTo>
                <a:lnTo>
                  <a:pt x="298321" y="50672"/>
                </a:lnTo>
                <a:lnTo>
                  <a:pt x="298323" y="50865"/>
                </a:lnTo>
                <a:lnTo>
                  <a:pt x="311023" y="50672"/>
                </a:lnTo>
                <a:lnTo>
                  <a:pt x="310817" y="36956"/>
                </a:lnTo>
                <a:lnTo>
                  <a:pt x="310712" y="29971"/>
                </a:lnTo>
                <a:lnTo>
                  <a:pt x="310641" y="25272"/>
                </a:lnTo>
                <a:close/>
              </a:path>
              <a:path w="374650" h="76200">
                <a:moveTo>
                  <a:pt x="297560" y="0"/>
                </a:moveTo>
                <a:lnTo>
                  <a:pt x="297940" y="25272"/>
                </a:lnTo>
                <a:lnTo>
                  <a:pt x="297942" y="25465"/>
                </a:lnTo>
                <a:lnTo>
                  <a:pt x="310641" y="25272"/>
                </a:lnTo>
                <a:lnTo>
                  <a:pt x="350017" y="25272"/>
                </a:lnTo>
                <a:lnTo>
                  <a:pt x="2975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 txBox="1"/>
          <p:nvPr/>
        </p:nvSpPr>
        <p:spPr>
          <a:xfrm>
            <a:off x="9871709" y="1928241"/>
            <a:ext cx="201930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b="1" spc="-20" dirty="0">
                <a:solidFill>
                  <a:srgbClr val="FF0000"/>
                </a:solidFill>
                <a:latin typeface="Calibri"/>
                <a:cs typeface="Calibri"/>
              </a:rPr>
              <a:t>R[0]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11024361" y="1575257"/>
            <a:ext cx="167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zf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1" name="object 181"/>
          <p:cNvSpPr/>
          <p:nvPr/>
        </p:nvSpPr>
        <p:spPr>
          <a:xfrm>
            <a:off x="11646407" y="4666488"/>
            <a:ext cx="142240" cy="203200"/>
          </a:xfrm>
          <a:custGeom>
            <a:avLst/>
            <a:gdLst/>
            <a:ahLst/>
            <a:cxnLst/>
            <a:rect l="l" t="t" r="r" b="b"/>
            <a:pathLst>
              <a:path w="142240" h="203200">
                <a:moveTo>
                  <a:pt x="141731" y="0"/>
                </a:moveTo>
                <a:lnTo>
                  <a:pt x="0" y="0"/>
                </a:lnTo>
                <a:lnTo>
                  <a:pt x="0" y="202692"/>
                </a:lnTo>
                <a:lnTo>
                  <a:pt x="141731" y="202692"/>
                </a:lnTo>
                <a:lnTo>
                  <a:pt x="14173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2" name="object 182"/>
          <p:cNvGrpSpPr/>
          <p:nvPr/>
        </p:nvGrpSpPr>
        <p:grpSpPr>
          <a:xfrm>
            <a:off x="9968738" y="1731517"/>
            <a:ext cx="1903730" cy="3304540"/>
            <a:chOff x="9968738" y="1731517"/>
            <a:chExt cx="1903730" cy="3304540"/>
          </a:xfrm>
        </p:grpSpPr>
        <p:pic>
          <p:nvPicPr>
            <p:cNvPr id="183" name="object 183" descr="https://upload.wikimedia.org/wikipedia/commons/thumb/e/e3/Transparent_Latch_Symbol.svg/800px-Transparent_Latch_Symbol.svg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40084" y="2261615"/>
              <a:ext cx="744778" cy="722376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11190732" y="2712719"/>
              <a:ext cx="614680" cy="203200"/>
            </a:xfrm>
            <a:custGeom>
              <a:avLst/>
              <a:gdLst/>
              <a:ahLst/>
              <a:cxnLst/>
              <a:rect l="l" t="t" r="r" b="b"/>
              <a:pathLst>
                <a:path w="614679" h="203200">
                  <a:moveTo>
                    <a:pt x="115824" y="30480"/>
                  </a:moveTo>
                  <a:lnTo>
                    <a:pt x="0" y="30480"/>
                  </a:lnTo>
                  <a:lnTo>
                    <a:pt x="0" y="137160"/>
                  </a:lnTo>
                  <a:lnTo>
                    <a:pt x="115824" y="137160"/>
                  </a:lnTo>
                  <a:lnTo>
                    <a:pt x="115824" y="30480"/>
                  </a:lnTo>
                  <a:close/>
                </a:path>
                <a:path w="614679" h="203200">
                  <a:moveTo>
                    <a:pt x="614172" y="0"/>
                  </a:moveTo>
                  <a:lnTo>
                    <a:pt x="472440" y="0"/>
                  </a:lnTo>
                  <a:lnTo>
                    <a:pt x="472440" y="202692"/>
                  </a:lnTo>
                  <a:lnTo>
                    <a:pt x="614172" y="202692"/>
                  </a:lnTo>
                  <a:lnTo>
                    <a:pt x="6141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11061191" y="2199131"/>
              <a:ext cx="675640" cy="876300"/>
            </a:xfrm>
            <a:custGeom>
              <a:avLst/>
              <a:gdLst/>
              <a:ahLst/>
              <a:cxnLst/>
              <a:rect l="l" t="t" r="r" b="b"/>
              <a:pathLst>
                <a:path w="675640" h="876300">
                  <a:moveTo>
                    <a:pt x="0" y="876300"/>
                  </a:moveTo>
                  <a:lnTo>
                    <a:pt x="675131" y="876300"/>
                  </a:lnTo>
                  <a:lnTo>
                    <a:pt x="675131" y="0"/>
                  </a:lnTo>
                  <a:lnTo>
                    <a:pt x="0" y="0"/>
                  </a:lnTo>
                  <a:lnTo>
                    <a:pt x="0" y="8763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11475720" y="2660903"/>
              <a:ext cx="151130" cy="219710"/>
            </a:xfrm>
            <a:custGeom>
              <a:avLst/>
              <a:gdLst/>
              <a:ahLst/>
              <a:cxnLst/>
              <a:rect l="l" t="t" r="r" b="b"/>
              <a:pathLst>
                <a:path w="151129" h="219710">
                  <a:moveTo>
                    <a:pt x="150875" y="0"/>
                  </a:moveTo>
                  <a:lnTo>
                    <a:pt x="0" y="0"/>
                  </a:lnTo>
                  <a:lnTo>
                    <a:pt x="0" y="219456"/>
                  </a:lnTo>
                  <a:lnTo>
                    <a:pt x="150875" y="219456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99470" y="2401061"/>
              <a:ext cx="192150" cy="76200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10897362" y="2765297"/>
              <a:ext cx="294640" cy="76200"/>
            </a:xfrm>
            <a:custGeom>
              <a:avLst/>
              <a:gdLst/>
              <a:ahLst/>
              <a:cxnLst/>
              <a:rect l="l" t="t" r="r" b="b"/>
              <a:pathLst>
                <a:path w="294640" h="76200">
                  <a:moveTo>
                    <a:pt x="218440" y="0"/>
                  </a:moveTo>
                  <a:lnTo>
                    <a:pt x="218440" y="76200"/>
                  </a:lnTo>
                  <a:lnTo>
                    <a:pt x="269240" y="50800"/>
                  </a:lnTo>
                  <a:lnTo>
                    <a:pt x="231140" y="50800"/>
                  </a:lnTo>
                  <a:lnTo>
                    <a:pt x="231140" y="25400"/>
                  </a:lnTo>
                  <a:lnTo>
                    <a:pt x="269240" y="25400"/>
                  </a:lnTo>
                  <a:lnTo>
                    <a:pt x="218440" y="0"/>
                  </a:lnTo>
                  <a:close/>
                </a:path>
                <a:path w="294640" h="76200">
                  <a:moveTo>
                    <a:pt x="218440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18440" y="50800"/>
                  </a:lnTo>
                  <a:lnTo>
                    <a:pt x="218440" y="25400"/>
                  </a:lnTo>
                  <a:close/>
                </a:path>
                <a:path w="294640" h="76200">
                  <a:moveTo>
                    <a:pt x="269240" y="25400"/>
                  </a:moveTo>
                  <a:lnTo>
                    <a:pt x="231140" y="25400"/>
                  </a:lnTo>
                  <a:lnTo>
                    <a:pt x="231140" y="50800"/>
                  </a:lnTo>
                  <a:lnTo>
                    <a:pt x="269240" y="50800"/>
                  </a:lnTo>
                  <a:lnTo>
                    <a:pt x="294640" y="38100"/>
                  </a:lnTo>
                  <a:lnTo>
                    <a:pt x="269240" y="254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65205" y="2690240"/>
              <a:ext cx="169925" cy="240030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63933" y="2401061"/>
              <a:ext cx="207264" cy="76200"/>
            </a:xfrm>
            <a:prstGeom prst="rect">
              <a:avLst/>
            </a:prstGeom>
          </p:spPr>
        </p:pic>
        <p:pic>
          <p:nvPicPr>
            <p:cNvPr id="191" name="object 191" descr="https://upload.wikimedia.org/wikipedia/commons/thumb/e/e3/Transparent_Latch_Symbol.svg/800px-Transparent_Latch_Symbol.svg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24768" y="3241695"/>
              <a:ext cx="743407" cy="723604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11175492" y="3694175"/>
              <a:ext cx="614680" cy="203200"/>
            </a:xfrm>
            <a:custGeom>
              <a:avLst/>
              <a:gdLst/>
              <a:ahLst/>
              <a:cxnLst/>
              <a:rect l="l" t="t" r="r" b="b"/>
              <a:pathLst>
                <a:path w="614679" h="203200">
                  <a:moveTo>
                    <a:pt x="114300" y="28956"/>
                  </a:moveTo>
                  <a:lnTo>
                    <a:pt x="0" y="28956"/>
                  </a:lnTo>
                  <a:lnTo>
                    <a:pt x="0" y="137160"/>
                  </a:lnTo>
                  <a:lnTo>
                    <a:pt x="114300" y="137160"/>
                  </a:lnTo>
                  <a:lnTo>
                    <a:pt x="114300" y="28956"/>
                  </a:lnTo>
                  <a:close/>
                </a:path>
                <a:path w="614679" h="203200">
                  <a:moveTo>
                    <a:pt x="614159" y="0"/>
                  </a:moveTo>
                  <a:lnTo>
                    <a:pt x="472440" y="0"/>
                  </a:lnTo>
                  <a:lnTo>
                    <a:pt x="472440" y="202692"/>
                  </a:lnTo>
                  <a:lnTo>
                    <a:pt x="614159" y="202692"/>
                  </a:lnTo>
                  <a:lnTo>
                    <a:pt x="614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1044427" y="3180587"/>
              <a:ext cx="676910" cy="876300"/>
            </a:xfrm>
            <a:custGeom>
              <a:avLst/>
              <a:gdLst/>
              <a:ahLst/>
              <a:cxnLst/>
              <a:rect l="l" t="t" r="r" b="b"/>
              <a:pathLst>
                <a:path w="676909" h="876300">
                  <a:moveTo>
                    <a:pt x="0" y="876300"/>
                  </a:moveTo>
                  <a:lnTo>
                    <a:pt x="676655" y="876300"/>
                  </a:lnTo>
                  <a:lnTo>
                    <a:pt x="676655" y="0"/>
                  </a:lnTo>
                  <a:lnTo>
                    <a:pt x="0" y="0"/>
                  </a:lnTo>
                  <a:lnTo>
                    <a:pt x="0" y="8763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11458955" y="3640835"/>
              <a:ext cx="151130" cy="220979"/>
            </a:xfrm>
            <a:custGeom>
              <a:avLst/>
              <a:gdLst/>
              <a:ahLst/>
              <a:cxnLst/>
              <a:rect l="l" t="t" r="r" b="b"/>
              <a:pathLst>
                <a:path w="151129" h="220979">
                  <a:moveTo>
                    <a:pt x="150875" y="0"/>
                  </a:moveTo>
                  <a:lnTo>
                    <a:pt x="0" y="0"/>
                  </a:lnTo>
                  <a:lnTo>
                    <a:pt x="0" y="220980"/>
                  </a:lnTo>
                  <a:lnTo>
                    <a:pt x="150875" y="220980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0371582" y="3382517"/>
              <a:ext cx="804545" cy="441325"/>
            </a:xfrm>
            <a:custGeom>
              <a:avLst/>
              <a:gdLst/>
              <a:ahLst/>
              <a:cxnLst/>
              <a:rect l="l" t="t" r="r" b="b"/>
              <a:pathLst>
                <a:path w="804545" h="441325">
                  <a:moveTo>
                    <a:pt x="803656" y="38100"/>
                  </a:moveTo>
                  <a:lnTo>
                    <a:pt x="778256" y="25400"/>
                  </a:lnTo>
                  <a:lnTo>
                    <a:pt x="727456" y="0"/>
                  </a:lnTo>
                  <a:lnTo>
                    <a:pt x="727456" y="25400"/>
                  </a:lnTo>
                  <a:lnTo>
                    <a:pt x="0" y="25400"/>
                  </a:lnTo>
                  <a:lnTo>
                    <a:pt x="0" y="50800"/>
                  </a:lnTo>
                  <a:lnTo>
                    <a:pt x="727456" y="50800"/>
                  </a:lnTo>
                  <a:lnTo>
                    <a:pt x="727456" y="76200"/>
                  </a:lnTo>
                  <a:lnTo>
                    <a:pt x="778256" y="50800"/>
                  </a:lnTo>
                  <a:lnTo>
                    <a:pt x="803656" y="38100"/>
                  </a:lnTo>
                  <a:close/>
                </a:path>
                <a:path w="804545" h="441325">
                  <a:moveTo>
                    <a:pt x="804164" y="402336"/>
                  </a:moveTo>
                  <a:lnTo>
                    <a:pt x="779462" y="390258"/>
                  </a:lnTo>
                  <a:lnTo>
                    <a:pt x="727583" y="364871"/>
                  </a:lnTo>
                  <a:lnTo>
                    <a:pt x="727824" y="390258"/>
                  </a:lnTo>
                  <a:lnTo>
                    <a:pt x="525653" y="392049"/>
                  </a:lnTo>
                  <a:lnTo>
                    <a:pt x="525881" y="415658"/>
                  </a:lnTo>
                  <a:lnTo>
                    <a:pt x="525907" y="417449"/>
                  </a:lnTo>
                  <a:lnTo>
                    <a:pt x="728078" y="415658"/>
                  </a:lnTo>
                  <a:lnTo>
                    <a:pt x="728345" y="441071"/>
                  </a:lnTo>
                  <a:lnTo>
                    <a:pt x="778078" y="415658"/>
                  </a:lnTo>
                  <a:lnTo>
                    <a:pt x="804164" y="4023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148441" y="3670172"/>
              <a:ext cx="171450" cy="240029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48694" y="3382517"/>
              <a:ext cx="223520" cy="76200"/>
            </a:xfrm>
            <a:prstGeom prst="rect">
              <a:avLst/>
            </a:prstGeom>
          </p:spPr>
        </p:pic>
        <p:pic>
          <p:nvPicPr>
            <p:cNvPr id="198" name="object 198" descr="https://upload.wikimedia.org/wikipedia/commons/thumb/e/e3/Transparent_Latch_Symbol.svg/800px-Transparent_Latch_Symbol.svg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23320" y="4215383"/>
              <a:ext cx="744778" cy="722376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11173968" y="4696967"/>
              <a:ext cx="116205" cy="106680"/>
            </a:xfrm>
            <a:custGeom>
              <a:avLst/>
              <a:gdLst/>
              <a:ahLst/>
              <a:cxnLst/>
              <a:rect l="l" t="t" r="r" b="b"/>
              <a:pathLst>
                <a:path w="116204" h="106679">
                  <a:moveTo>
                    <a:pt x="115824" y="0"/>
                  </a:moveTo>
                  <a:lnTo>
                    <a:pt x="0" y="0"/>
                  </a:lnTo>
                  <a:lnTo>
                    <a:pt x="0" y="106679"/>
                  </a:lnTo>
                  <a:lnTo>
                    <a:pt x="115824" y="106679"/>
                  </a:lnTo>
                  <a:lnTo>
                    <a:pt x="1158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1044427" y="4154423"/>
              <a:ext cx="675640" cy="875030"/>
            </a:xfrm>
            <a:custGeom>
              <a:avLst/>
              <a:gdLst/>
              <a:ahLst/>
              <a:cxnLst/>
              <a:rect l="l" t="t" r="r" b="b"/>
              <a:pathLst>
                <a:path w="675640" h="875029">
                  <a:moveTo>
                    <a:pt x="0" y="874776"/>
                  </a:moveTo>
                  <a:lnTo>
                    <a:pt x="675131" y="874776"/>
                  </a:lnTo>
                  <a:lnTo>
                    <a:pt x="675131" y="0"/>
                  </a:lnTo>
                  <a:lnTo>
                    <a:pt x="0" y="0"/>
                  </a:lnTo>
                  <a:lnTo>
                    <a:pt x="0" y="87477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1458955" y="4614672"/>
              <a:ext cx="151130" cy="219710"/>
            </a:xfrm>
            <a:custGeom>
              <a:avLst/>
              <a:gdLst/>
              <a:ahLst/>
              <a:cxnLst/>
              <a:rect l="l" t="t" r="r" b="b"/>
              <a:pathLst>
                <a:path w="151129" h="219710">
                  <a:moveTo>
                    <a:pt x="150875" y="0"/>
                  </a:moveTo>
                  <a:lnTo>
                    <a:pt x="0" y="0"/>
                  </a:lnTo>
                  <a:lnTo>
                    <a:pt x="0" y="219455"/>
                  </a:lnTo>
                  <a:lnTo>
                    <a:pt x="150875" y="219455"/>
                  </a:lnTo>
                  <a:lnTo>
                    <a:pt x="1508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9969119" y="4355464"/>
              <a:ext cx="1206500" cy="440690"/>
            </a:xfrm>
            <a:custGeom>
              <a:avLst/>
              <a:gdLst/>
              <a:ahLst/>
              <a:cxnLst/>
              <a:rect l="l" t="t" r="r" b="b"/>
              <a:pathLst>
                <a:path w="1206500" h="440689">
                  <a:moveTo>
                    <a:pt x="1205484" y="402590"/>
                  </a:moveTo>
                  <a:lnTo>
                    <a:pt x="1179741" y="389509"/>
                  </a:lnTo>
                  <a:lnTo>
                    <a:pt x="1129538" y="363982"/>
                  </a:lnTo>
                  <a:lnTo>
                    <a:pt x="1129360" y="389432"/>
                  </a:lnTo>
                  <a:lnTo>
                    <a:pt x="847598" y="387477"/>
                  </a:lnTo>
                  <a:lnTo>
                    <a:pt x="847445" y="402590"/>
                  </a:lnTo>
                  <a:lnTo>
                    <a:pt x="847344" y="412877"/>
                  </a:lnTo>
                  <a:lnTo>
                    <a:pt x="1129195" y="414832"/>
                  </a:lnTo>
                  <a:lnTo>
                    <a:pt x="1141857" y="414909"/>
                  </a:lnTo>
                  <a:lnTo>
                    <a:pt x="1129195" y="414909"/>
                  </a:lnTo>
                  <a:lnTo>
                    <a:pt x="1129030" y="440182"/>
                  </a:lnTo>
                  <a:lnTo>
                    <a:pt x="1180426" y="414909"/>
                  </a:lnTo>
                  <a:lnTo>
                    <a:pt x="1205484" y="402590"/>
                  </a:lnTo>
                  <a:close/>
                </a:path>
                <a:path w="1206500" h="440689">
                  <a:moveTo>
                    <a:pt x="1205992" y="37465"/>
                  </a:moveTo>
                  <a:lnTo>
                    <a:pt x="1181277" y="25387"/>
                  </a:lnTo>
                  <a:lnTo>
                    <a:pt x="1129411" y="0"/>
                  </a:lnTo>
                  <a:lnTo>
                    <a:pt x="1129614" y="25387"/>
                  </a:lnTo>
                  <a:lnTo>
                    <a:pt x="0" y="34417"/>
                  </a:lnTo>
                  <a:lnTo>
                    <a:pt x="152" y="50787"/>
                  </a:lnTo>
                  <a:lnTo>
                    <a:pt x="254" y="59817"/>
                  </a:lnTo>
                  <a:lnTo>
                    <a:pt x="1129830" y="50787"/>
                  </a:lnTo>
                  <a:lnTo>
                    <a:pt x="1130046" y="76200"/>
                  </a:lnTo>
                  <a:lnTo>
                    <a:pt x="1179893" y="50787"/>
                  </a:lnTo>
                  <a:lnTo>
                    <a:pt x="1205992" y="374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48441" y="4644008"/>
              <a:ext cx="169925" cy="240030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647170" y="4354829"/>
              <a:ext cx="197357" cy="76200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9981438" y="1744217"/>
              <a:ext cx="1015365" cy="3002280"/>
            </a:xfrm>
            <a:custGeom>
              <a:avLst/>
              <a:gdLst/>
              <a:ahLst/>
              <a:cxnLst/>
              <a:rect l="l" t="t" r="r" b="b"/>
              <a:pathLst>
                <a:path w="1015365" h="3002279">
                  <a:moveTo>
                    <a:pt x="915923" y="1046988"/>
                  </a:moveTo>
                  <a:lnTo>
                    <a:pt x="921638" y="3002280"/>
                  </a:lnTo>
                </a:path>
                <a:path w="1015365" h="3002279">
                  <a:moveTo>
                    <a:pt x="1005839" y="4572"/>
                  </a:moveTo>
                  <a:lnTo>
                    <a:pt x="1015237" y="703199"/>
                  </a:lnTo>
                </a:path>
                <a:path w="1015365" h="3002279">
                  <a:moveTo>
                    <a:pt x="713231" y="0"/>
                  </a:moveTo>
                  <a:lnTo>
                    <a:pt x="1014983" y="0"/>
                  </a:lnTo>
                </a:path>
                <a:path w="1015365" h="3002279">
                  <a:moveTo>
                    <a:pt x="377951" y="1069848"/>
                  </a:moveTo>
                  <a:lnTo>
                    <a:pt x="381126" y="1686179"/>
                  </a:lnTo>
                </a:path>
                <a:path w="1015365" h="3002279">
                  <a:moveTo>
                    <a:pt x="0" y="1434084"/>
                  </a:moveTo>
                  <a:lnTo>
                    <a:pt x="0" y="265950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6" name="object 206"/>
          <p:cNvSpPr txBox="1"/>
          <p:nvPr/>
        </p:nvSpPr>
        <p:spPr>
          <a:xfrm>
            <a:off x="11859894" y="2285492"/>
            <a:ext cx="2482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dzf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1859894" y="3274313"/>
            <a:ext cx="2482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dsf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1841606" y="4242053"/>
            <a:ext cx="25272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solidFill>
                  <a:srgbClr val="FF0000"/>
                </a:solidFill>
                <a:latin typeface="Calibri"/>
                <a:cs typeface="Calibri"/>
              </a:rPr>
              <a:t>dcf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10534015" y="4594605"/>
            <a:ext cx="2578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clk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0" name="object 210"/>
          <p:cNvSpPr txBox="1"/>
          <p:nvPr/>
        </p:nvSpPr>
        <p:spPr>
          <a:xfrm>
            <a:off x="10391902" y="5053076"/>
            <a:ext cx="1739264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220" marR="354965" indent="34163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3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bit </a:t>
            </a:r>
            <a:r>
              <a:rPr sz="1400" b="1" dirty="0">
                <a:latin typeface="Calibri"/>
                <a:cs typeface="Calibri"/>
              </a:rPr>
              <a:t>FLAG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Register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(without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selection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line)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11" name="object 21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695685" y="1673605"/>
            <a:ext cx="263652" cy="15646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9436" y="48260"/>
            <a:ext cx="2912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Example:</a:t>
            </a:r>
            <a:r>
              <a:rPr sz="4000" spc="-22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84502" y="577824"/>
            <a:ext cx="8918575" cy="11188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000" b="1" dirty="0">
                <a:latin typeface="Calibri"/>
                <a:cs typeface="Calibri"/>
              </a:rPr>
              <a:t>Question: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4-bit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supports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RIGHT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70" dirty="0">
                <a:latin typeface="Calibri"/>
                <a:cs typeface="Calibri"/>
              </a:rPr>
              <a:t>ROTATE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(Unsigned)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000" b="1" spc="-10" dirty="0">
                <a:latin typeface="Calibri"/>
                <a:cs typeface="Calibri"/>
              </a:rPr>
              <a:t>Answer: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4-bit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RIGHT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70" dirty="0">
                <a:latin typeface="Calibri"/>
                <a:cs typeface="Calibri"/>
              </a:rPr>
              <a:t>ROTATE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Circuit: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68030" y="3181857"/>
            <a:ext cx="659130" cy="494665"/>
            <a:chOff x="8368030" y="3181857"/>
            <a:chExt cx="659130" cy="494665"/>
          </a:xfrm>
        </p:grpSpPr>
        <p:sp>
          <p:nvSpPr>
            <p:cNvPr id="5" name="object 5"/>
            <p:cNvSpPr/>
            <p:nvPr/>
          </p:nvSpPr>
          <p:spPr>
            <a:xfrm>
              <a:off x="8374380" y="3188207"/>
              <a:ext cx="646430" cy="481965"/>
            </a:xfrm>
            <a:custGeom>
              <a:avLst/>
              <a:gdLst/>
              <a:ahLst/>
              <a:cxnLst/>
              <a:rect l="l" t="t" r="r" b="b"/>
              <a:pathLst>
                <a:path w="646429" h="481964">
                  <a:moveTo>
                    <a:pt x="405384" y="0"/>
                  </a:moveTo>
                  <a:lnTo>
                    <a:pt x="405384" y="120395"/>
                  </a:lnTo>
                  <a:lnTo>
                    <a:pt x="0" y="120395"/>
                  </a:lnTo>
                  <a:lnTo>
                    <a:pt x="0" y="361188"/>
                  </a:lnTo>
                  <a:lnTo>
                    <a:pt x="405384" y="361188"/>
                  </a:lnTo>
                  <a:lnTo>
                    <a:pt x="405384" y="481583"/>
                  </a:lnTo>
                  <a:lnTo>
                    <a:pt x="646176" y="240791"/>
                  </a:lnTo>
                  <a:lnTo>
                    <a:pt x="4053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74380" y="3188207"/>
              <a:ext cx="646430" cy="481965"/>
            </a:xfrm>
            <a:custGeom>
              <a:avLst/>
              <a:gdLst/>
              <a:ahLst/>
              <a:cxnLst/>
              <a:rect l="l" t="t" r="r" b="b"/>
              <a:pathLst>
                <a:path w="646429" h="481964">
                  <a:moveTo>
                    <a:pt x="0" y="120395"/>
                  </a:moveTo>
                  <a:lnTo>
                    <a:pt x="405384" y="120395"/>
                  </a:lnTo>
                  <a:lnTo>
                    <a:pt x="405384" y="0"/>
                  </a:lnTo>
                  <a:lnTo>
                    <a:pt x="646176" y="240791"/>
                  </a:lnTo>
                  <a:lnTo>
                    <a:pt x="405384" y="481583"/>
                  </a:lnTo>
                  <a:lnTo>
                    <a:pt x="405384" y="361188"/>
                  </a:lnTo>
                  <a:lnTo>
                    <a:pt x="0" y="361188"/>
                  </a:lnTo>
                  <a:lnTo>
                    <a:pt x="0" y="12039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650094" y="4151833"/>
            <a:ext cx="17919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RIGHT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5" dirty="0">
                <a:latin typeface="Calibri"/>
                <a:cs typeface="Calibri"/>
              </a:rPr>
              <a:t>ROTATE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Chip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591" y="1903531"/>
            <a:ext cx="7964351" cy="336792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86671" y="2741381"/>
            <a:ext cx="2718816" cy="135053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337305" y="5030546"/>
            <a:ext cx="3187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RIGHT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65" dirty="0">
                <a:latin typeface="Calibri"/>
                <a:cs typeface="Calibri"/>
              </a:rPr>
              <a:t>ROTATE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Circuit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6629" y="3316351"/>
            <a:ext cx="9575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4-to-</a:t>
            </a:r>
            <a:r>
              <a:rPr sz="1600" b="1" spc="-50" dirty="0">
                <a:solidFill>
                  <a:srgbClr val="FF0000"/>
                </a:solidFill>
                <a:latin typeface="Calibri"/>
                <a:cs typeface="Calibri"/>
              </a:rPr>
              <a:t>1 </a:t>
            </a: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9436" y="48260"/>
            <a:ext cx="2912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Example:</a:t>
            </a:r>
            <a:r>
              <a:rPr sz="4000" spc="-22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84502" y="764539"/>
            <a:ext cx="2962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4-</a:t>
            </a:r>
            <a:r>
              <a:rPr sz="2000" b="1" dirty="0">
                <a:latin typeface="Calibri"/>
                <a:cs typeface="Calibri"/>
              </a:rPr>
              <a:t>bit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DIV (Unsigned)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Circuit: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75003" y="1469136"/>
            <a:ext cx="7469505" cy="3919854"/>
            <a:chOff x="1175003" y="1469136"/>
            <a:chExt cx="7469505" cy="3919854"/>
          </a:xfrm>
        </p:grpSpPr>
        <p:sp>
          <p:nvSpPr>
            <p:cNvPr id="5" name="object 5"/>
            <p:cNvSpPr/>
            <p:nvPr/>
          </p:nvSpPr>
          <p:spPr>
            <a:xfrm>
              <a:off x="7993380" y="3188208"/>
              <a:ext cx="645160" cy="481965"/>
            </a:xfrm>
            <a:custGeom>
              <a:avLst/>
              <a:gdLst/>
              <a:ahLst/>
              <a:cxnLst/>
              <a:rect l="l" t="t" r="r" b="b"/>
              <a:pathLst>
                <a:path w="645159" h="481964">
                  <a:moveTo>
                    <a:pt x="403860" y="0"/>
                  </a:moveTo>
                  <a:lnTo>
                    <a:pt x="403860" y="120395"/>
                  </a:lnTo>
                  <a:lnTo>
                    <a:pt x="0" y="120395"/>
                  </a:lnTo>
                  <a:lnTo>
                    <a:pt x="0" y="361188"/>
                  </a:lnTo>
                  <a:lnTo>
                    <a:pt x="403860" y="361188"/>
                  </a:lnTo>
                  <a:lnTo>
                    <a:pt x="403860" y="481583"/>
                  </a:lnTo>
                  <a:lnTo>
                    <a:pt x="644651" y="240791"/>
                  </a:lnTo>
                  <a:lnTo>
                    <a:pt x="4038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93380" y="3188208"/>
              <a:ext cx="645160" cy="481965"/>
            </a:xfrm>
            <a:custGeom>
              <a:avLst/>
              <a:gdLst/>
              <a:ahLst/>
              <a:cxnLst/>
              <a:rect l="l" t="t" r="r" b="b"/>
              <a:pathLst>
                <a:path w="645159" h="481964">
                  <a:moveTo>
                    <a:pt x="0" y="120395"/>
                  </a:moveTo>
                  <a:lnTo>
                    <a:pt x="403860" y="120395"/>
                  </a:lnTo>
                  <a:lnTo>
                    <a:pt x="403860" y="0"/>
                  </a:lnTo>
                  <a:lnTo>
                    <a:pt x="644651" y="240791"/>
                  </a:lnTo>
                  <a:lnTo>
                    <a:pt x="403860" y="481583"/>
                  </a:lnTo>
                  <a:lnTo>
                    <a:pt x="403860" y="361188"/>
                  </a:lnTo>
                  <a:lnTo>
                    <a:pt x="0" y="361188"/>
                  </a:lnTo>
                  <a:lnTo>
                    <a:pt x="0" y="120395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5003" y="1469136"/>
              <a:ext cx="6818376" cy="39197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465691" y="4151833"/>
            <a:ext cx="2162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Full</a:t>
            </a:r>
            <a:r>
              <a:rPr sz="1800" spc="-10" dirty="0">
                <a:latin typeface="Calibri"/>
                <a:cs typeface="Calibri"/>
              </a:rPr>
              <a:t> Adder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20" dirty="0">
                <a:latin typeface="Calibri"/>
                <a:cs typeface="Calibri"/>
              </a:rPr>
              <a:t>Chip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80714" y="5544413"/>
            <a:ext cx="2809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Circuit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8092" y="2404872"/>
            <a:ext cx="2468879" cy="156819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9436" y="48260"/>
            <a:ext cx="2912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Example:</a:t>
            </a:r>
            <a:r>
              <a:rPr sz="4000" spc="-22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84502" y="764539"/>
            <a:ext cx="29629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4-</a:t>
            </a:r>
            <a:r>
              <a:rPr sz="2000" b="1" dirty="0">
                <a:latin typeface="Calibri"/>
                <a:cs typeface="Calibri"/>
              </a:rPr>
              <a:t>bit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DIV (Unsigned)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Circuit: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4514" y="4222242"/>
            <a:ext cx="18446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543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M </a:t>
            </a:r>
            <a:r>
              <a:rPr sz="1800" dirty="0">
                <a:latin typeface="Calibri"/>
                <a:cs typeface="Calibri"/>
              </a:rPr>
              <a:t>(Divider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Block)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Chip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77792" y="6166205"/>
            <a:ext cx="2717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(Divider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Block)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708287" y="1397670"/>
            <a:ext cx="5134610" cy="4625340"/>
            <a:chOff x="2708287" y="1397670"/>
            <a:chExt cx="5134610" cy="46253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08287" y="1397670"/>
              <a:ext cx="4672322" cy="46251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90232" y="3139439"/>
              <a:ext cx="646430" cy="481965"/>
            </a:xfrm>
            <a:custGeom>
              <a:avLst/>
              <a:gdLst/>
              <a:ahLst/>
              <a:cxnLst/>
              <a:rect l="l" t="t" r="r" b="b"/>
              <a:pathLst>
                <a:path w="646429" h="481964">
                  <a:moveTo>
                    <a:pt x="405384" y="0"/>
                  </a:moveTo>
                  <a:lnTo>
                    <a:pt x="405384" y="120396"/>
                  </a:lnTo>
                  <a:lnTo>
                    <a:pt x="0" y="120396"/>
                  </a:lnTo>
                  <a:lnTo>
                    <a:pt x="0" y="361188"/>
                  </a:lnTo>
                  <a:lnTo>
                    <a:pt x="405384" y="361188"/>
                  </a:lnTo>
                  <a:lnTo>
                    <a:pt x="405384" y="481584"/>
                  </a:lnTo>
                  <a:lnTo>
                    <a:pt x="646176" y="240792"/>
                  </a:lnTo>
                  <a:lnTo>
                    <a:pt x="4053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90232" y="3139439"/>
              <a:ext cx="646430" cy="481965"/>
            </a:xfrm>
            <a:custGeom>
              <a:avLst/>
              <a:gdLst/>
              <a:ahLst/>
              <a:cxnLst/>
              <a:rect l="l" t="t" r="r" b="b"/>
              <a:pathLst>
                <a:path w="646429" h="481964">
                  <a:moveTo>
                    <a:pt x="0" y="120396"/>
                  </a:moveTo>
                  <a:lnTo>
                    <a:pt x="405384" y="120396"/>
                  </a:lnTo>
                  <a:lnTo>
                    <a:pt x="405384" y="0"/>
                  </a:lnTo>
                  <a:lnTo>
                    <a:pt x="646176" y="240792"/>
                  </a:lnTo>
                  <a:lnTo>
                    <a:pt x="405384" y="481584"/>
                  </a:lnTo>
                  <a:lnTo>
                    <a:pt x="405384" y="361188"/>
                  </a:lnTo>
                  <a:lnTo>
                    <a:pt x="0" y="361188"/>
                  </a:lnTo>
                  <a:lnTo>
                    <a:pt x="0" y="12039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26195" y="2130551"/>
            <a:ext cx="2353650" cy="20726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9436" y="48260"/>
            <a:ext cx="2912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Example:</a:t>
            </a:r>
            <a:r>
              <a:rPr sz="4000" spc="-22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84502" y="564641"/>
            <a:ext cx="2961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4-bit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DIV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(Unsigned)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Circuit: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4055" y="970800"/>
            <a:ext cx="7057610" cy="55397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697095" y="6391757"/>
            <a:ext cx="27990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Unsigned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Divider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9436" y="48260"/>
            <a:ext cx="2912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Example:</a:t>
            </a:r>
            <a:r>
              <a:rPr sz="4000" spc="-22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84502" y="564641"/>
            <a:ext cx="29616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4-bit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DIV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(Unsigned)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Circuit: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62398" y="3455289"/>
            <a:ext cx="3267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Unsigned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Divider</a:t>
            </a:r>
            <a:r>
              <a:rPr sz="1800" spc="-20" dirty="0">
                <a:latin typeface="Calibri"/>
                <a:cs typeface="Calibri"/>
              </a:rPr>
              <a:t> Chip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4755" y="1299213"/>
            <a:ext cx="3142488" cy="194346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9436" y="48260"/>
            <a:ext cx="29121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Example:</a:t>
            </a:r>
            <a:r>
              <a:rPr sz="4000" spc="-220" dirty="0"/>
              <a:t> </a:t>
            </a:r>
            <a:r>
              <a:rPr sz="4000" spc="-25" dirty="0"/>
              <a:t>ALU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84502" y="564641"/>
            <a:ext cx="18008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libri"/>
                <a:cs typeface="Calibri"/>
              </a:rPr>
              <a:t>4-bit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ALU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Circuit: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87602" y="4540757"/>
            <a:ext cx="3003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01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Circuit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supports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RIGHT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65" dirty="0">
                <a:latin typeface="Calibri"/>
                <a:cs typeface="Calibri"/>
              </a:rPr>
              <a:t>ROTATE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DIV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54502" y="1246660"/>
            <a:ext cx="9101455" cy="3343910"/>
            <a:chOff x="1554502" y="1246660"/>
            <a:chExt cx="9101455" cy="33439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4502" y="1246660"/>
              <a:ext cx="9101288" cy="304184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238999" y="3938016"/>
              <a:ext cx="481965" cy="646430"/>
            </a:xfrm>
            <a:custGeom>
              <a:avLst/>
              <a:gdLst/>
              <a:ahLst/>
              <a:cxnLst/>
              <a:rect l="l" t="t" r="r" b="b"/>
              <a:pathLst>
                <a:path w="481965" h="646429">
                  <a:moveTo>
                    <a:pt x="361188" y="0"/>
                  </a:moveTo>
                  <a:lnTo>
                    <a:pt x="120396" y="0"/>
                  </a:lnTo>
                  <a:lnTo>
                    <a:pt x="120396" y="405383"/>
                  </a:lnTo>
                  <a:lnTo>
                    <a:pt x="0" y="405383"/>
                  </a:lnTo>
                  <a:lnTo>
                    <a:pt x="240792" y="646175"/>
                  </a:lnTo>
                  <a:lnTo>
                    <a:pt x="481583" y="405383"/>
                  </a:lnTo>
                  <a:lnTo>
                    <a:pt x="361188" y="405383"/>
                  </a:lnTo>
                  <a:lnTo>
                    <a:pt x="3611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8999" y="3938016"/>
              <a:ext cx="481965" cy="646430"/>
            </a:xfrm>
            <a:custGeom>
              <a:avLst/>
              <a:gdLst/>
              <a:ahLst/>
              <a:cxnLst/>
              <a:rect l="l" t="t" r="r" b="b"/>
              <a:pathLst>
                <a:path w="481965" h="646429">
                  <a:moveTo>
                    <a:pt x="361188" y="0"/>
                  </a:moveTo>
                  <a:lnTo>
                    <a:pt x="361188" y="405383"/>
                  </a:lnTo>
                  <a:lnTo>
                    <a:pt x="481583" y="405383"/>
                  </a:lnTo>
                  <a:lnTo>
                    <a:pt x="240792" y="646175"/>
                  </a:lnTo>
                  <a:lnTo>
                    <a:pt x="0" y="405383"/>
                  </a:lnTo>
                  <a:lnTo>
                    <a:pt x="120396" y="405383"/>
                  </a:lnTo>
                  <a:lnTo>
                    <a:pt x="120396" y="0"/>
                  </a:lnTo>
                  <a:lnTo>
                    <a:pt x="361188" y="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8351" y="4639815"/>
            <a:ext cx="3414402" cy="176603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369297" y="5185664"/>
            <a:ext cx="1583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079" marR="5080" indent="-2470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Figure: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4-</a:t>
            </a:r>
            <a:r>
              <a:rPr sz="1800" dirty="0">
                <a:latin typeface="Calibri"/>
                <a:cs typeface="Calibri"/>
              </a:rPr>
              <a:t>bit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ALU </a:t>
            </a:r>
            <a:r>
              <a:rPr sz="1800" dirty="0">
                <a:latin typeface="Calibri"/>
                <a:cs typeface="Calibri"/>
              </a:rPr>
              <a:t>Circuit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Chip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5338" y="2369311"/>
            <a:ext cx="9575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5080" indent="-25654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4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bit</a:t>
            </a:r>
            <a:r>
              <a:rPr sz="16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alibri"/>
                <a:cs typeface="Calibri"/>
              </a:rPr>
              <a:t>2-to-</a:t>
            </a:r>
            <a:r>
              <a:rPr sz="1600" b="1" spc="-50" dirty="0">
                <a:solidFill>
                  <a:srgbClr val="FF0000"/>
                </a:solidFill>
                <a:latin typeface="Calibri"/>
                <a:cs typeface="Calibri"/>
              </a:rPr>
              <a:t>1 </a:t>
            </a:r>
            <a:r>
              <a:rPr sz="1600" b="1" spc="-25" dirty="0">
                <a:solidFill>
                  <a:srgbClr val="FF0000"/>
                </a:solidFill>
                <a:latin typeface="Calibri"/>
                <a:cs typeface="Calibri"/>
              </a:rPr>
              <a:t>MUX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36641" y="187832"/>
            <a:ext cx="1918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/>
              <a:t>Exercises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94003" y="740738"/>
            <a:ext cx="10702925" cy="5683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96545">
              <a:lnSpc>
                <a:spcPct val="106700"/>
              </a:lnSpc>
              <a:spcBef>
                <a:spcPts val="95"/>
              </a:spcBef>
              <a:buAutoNum type="arabicPeriod"/>
              <a:tabLst>
                <a:tab pos="309245" algn="l"/>
              </a:tabLst>
            </a:pPr>
            <a:r>
              <a:rPr sz="2400" spc="-10" dirty="0">
                <a:latin typeface="Calibri"/>
                <a:cs typeface="Calibri"/>
              </a:rPr>
              <a:t>Draw/Design/Implement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10" dirty="0">
                <a:latin typeface="Calibri"/>
                <a:cs typeface="Calibri"/>
              </a:rPr>
              <a:t> 1-bit/2-bit/3-bit/4-bit/5-</a:t>
            </a:r>
            <a:r>
              <a:rPr sz="2400" dirty="0">
                <a:latin typeface="Calibri"/>
                <a:cs typeface="Calibri"/>
              </a:rPr>
              <a:t>bit ALU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supports</a:t>
            </a:r>
            <a:r>
              <a:rPr sz="2400" spc="-10" dirty="0">
                <a:latin typeface="Calibri"/>
                <a:cs typeface="Calibri"/>
              </a:rPr>
              <a:t> following operations: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spcBef>
                <a:spcPts val="965"/>
              </a:spcBef>
              <a:buAutoNum type="romanLcPeriod"/>
              <a:tabLst>
                <a:tab pos="812800" algn="l"/>
              </a:tabLst>
            </a:pPr>
            <a:r>
              <a:rPr sz="2400" dirty="0">
                <a:latin typeface="Calibri"/>
                <a:cs typeface="Calibri"/>
              </a:rPr>
              <a:t>ADD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09625" lvl="1" indent="-339725">
              <a:lnSpc>
                <a:spcPct val="100000"/>
              </a:lnSpc>
              <a:buAutoNum type="romanLcPeriod"/>
              <a:tabLst>
                <a:tab pos="809625" algn="l"/>
              </a:tabLst>
            </a:pPr>
            <a:r>
              <a:rPr sz="2400" dirty="0">
                <a:latin typeface="Calibri"/>
                <a:cs typeface="Calibri"/>
              </a:rPr>
              <a:t>SUB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buAutoNum type="romanLcPeriod"/>
              <a:tabLst>
                <a:tab pos="810260" algn="l"/>
              </a:tabLst>
            </a:pPr>
            <a:r>
              <a:rPr sz="2400" dirty="0">
                <a:latin typeface="Calibri"/>
                <a:cs typeface="Calibri"/>
              </a:rPr>
              <a:t>MUL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buAutoNum type="romanLcPeriod"/>
              <a:tabLst>
                <a:tab pos="810260" algn="l"/>
              </a:tabLst>
            </a:pPr>
            <a:r>
              <a:rPr sz="2400" dirty="0">
                <a:latin typeface="Calibri"/>
                <a:cs typeface="Calibri"/>
              </a:rPr>
              <a:t>DIV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buAutoNum type="romanLcPeriod"/>
              <a:tabLst>
                <a:tab pos="812800" algn="l"/>
              </a:tabLst>
            </a:pPr>
            <a:r>
              <a:rPr sz="2400" dirty="0">
                <a:latin typeface="Calibri"/>
                <a:cs typeface="Calibri"/>
              </a:rPr>
              <a:t>LEFT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SHIFT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buAutoNum type="romanLcPeriod"/>
              <a:tabLst>
                <a:tab pos="810260" algn="l"/>
              </a:tabLst>
            </a:pP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SHIFT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21690" lvl="1" indent="-367030">
              <a:lnSpc>
                <a:spcPct val="100000"/>
              </a:lnSpc>
              <a:spcBef>
                <a:spcPts val="5"/>
              </a:spcBef>
              <a:buAutoNum type="romanLcPeriod"/>
              <a:tabLst>
                <a:tab pos="821690" algn="l"/>
              </a:tabLst>
            </a:pPr>
            <a:r>
              <a:rPr sz="2400" dirty="0">
                <a:latin typeface="Calibri"/>
                <a:cs typeface="Calibri"/>
              </a:rPr>
              <a:t>LEFT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ROTATE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90905" lvl="1" indent="-436880">
              <a:lnSpc>
                <a:spcPct val="100000"/>
              </a:lnSpc>
              <a:buAutoNum type="romanLcPeriod"/>
              <a:tabLst>
                <a:tab pos="890905" algn="l"/>
              </a:tabLst>
            </a:pP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80" dirty="0">
                <a:latin typeface="Calibri"/>
                <a:cs typeface="Calibri"/>
              </a:rPr>
              <a:t>ROTATE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buAutoNum type="romanLcPeriod"/>
              <a:tabLst>
                <a:tab pos="810260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12800" lvl="1" indent="-342900">
              <a:lnSpc>
                <a:spcPct val="100000"/>
              </a:lnSpc>
              <a:buAutoNum type="romanLcPeriod"/>
              <a:tabLst>
                <a:tab pos="812800" algn="l"/>
              </a:tabLst>
            </a:pPr>
            <a:r>
              <a:rPr sz="2400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buAutoNum type="romanLcPeriod"/>
              <a:tabLst>
                <a:tab pos="810260" algn="l"/>
              </a:tabLst>
            </a:pPr>
            <a:r>
              <a:rPr sz="2400" dirty="0">
                <a:latin typeface="Calibri"/>
                <a:cs typeface="Calibri"/>
              </a:rPr>
              <a:t>XOR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</a:t>
            </a:r>
            <a:endParaRPr sz="2400">
              <a:latin typeface="Calibri"/>
              <a:cs typeface="Calibri"/>
            </a:endParaRPr>
          </a:p>
          <a:p>
            <a:pPr marL="469900" marR="9152255" lvl="1" indent="-15240">
              <a:lnSpc>
                <a:spcPct val="100000"/>
              </a:lnSpc>
              <a:buAutoNum type="romanLcPeriod"/>
              <a:tabLst>
                <a:tab pos="815340" algn="l"/>
              </a:tabLst>
            </a:pPr>
            <a:r>
              <a:rPr sz="2400" dirty="0">
                <a:latin typeface="Calibri"/>
                <a:cs typeface="Calibri"/>
              </a:rPr>
              <a:t>	NOT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/ </a:t>
            </a:r>
            <a:r>
              <a:rPr sz="2400" spc="-10" dirty="0">
                <a:latin typeface="Calibri"/>
                <a:cs typeface="Calibri"/>
              </a:rPr>
              <a:t>xiii.CMP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089653" y="1725295"/>
            <a:ext cx="40138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solidFill>
                  <a:srgbClr val="000000"/>
                </a:solidFill>
                <a:latin typeface="Calibri"/>
                <a:cs typeface="Calibri"/>
              </a:rPr>
              <a:t>Thank</a:t>
            </a:r>
            <a:r>
              <a:rPr sz="6000" b="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000" b="0" spc="-85" dirty="0">
                <a:solidFill>
                  <a:srgbClr val="000000"/>
                </a:solidFill>
                <a:latin typeface="Calibri"/>
                <a:cs typeface="Calibri"/>
              </a:rPr>
              <a:t>You</a:t>
            </a:r>
            <a:r>
              <a:rPr sz="6000" b="0" spc="-114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6000" b="0" spc="-50" dirty="0">
                <a:solidFill>
                  <a:srgbClr val="000000"/>
                </a:solidFill>
                <a:latin typeface="Wingdings"/>
                <a:cs typeface="Wingdings"/>
              </a:rPr>
              <a:t></a:t>
            </a:r>
            <a:endParaRPr sz="600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4C64532606B24FAB5D656F866C042E" ma:contentTypeVersion="7" ma:contentTypeDescription="Create a new document." ma:contentTypeScope="" ma:versionID="e09d2cf455fbf8f69db67da1420b95fc">
  <xsd:schema xmlns:xsd="http://www.w3.org/2001/XMLSchema" xmlns:xs="http://www.w3.org/2001/XMLSchema" xmlns:p="http://schemas.microsoft.com/office/2006/metadata/properties" xmlns:ns2="f8536b80-1d83-40b8-bf9c-7fc7a3b1d835" targetNamespace="http://schemas.microsoft.com/office/2006/metadata/properties" ma:root="true" ma:fieldsID="2669715d9414c83cbf40c50fdf684965" ns2:_="">
    <xsd:import namespace="f8536b80-1d83-40b8-bf9c-7fc7a3b1d8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536b80-1d83-40b8-bf9c-7fc7a3b1d8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B27172E-0A5A-41BA-B426-EE27CE840C8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7CC22-21E9-45D3-B7A4-E41930DCC8F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BA65EF-F6FC-4CC1-8DC7-23E8BE9595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536b80-1d83-40b8-bf9c-7fc7a3b1d8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5451</Words>
  <Application>Microsoft Office PowerPoint</Application>
  <PresentationFormat>Widescreen</PresentationFormat>
  <Paragraphs>1965</Paragraphs>
  <Slides>73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4" baseType="lpstr">
      <vt:lpstr>Office Theme</vt:lpstr>
      <vt:lpstr>ALU Design Example (1-bit &amp; 4-bit)</vt:lpstr>
      <vt:lpstr>ALU in CPU</vt:lpstr>
      <vt:lpstr>ALU in CPU</vt:lpstr>
      <vt:lpstr>ALU Basics</vt:lpstr>
      <vt:lpstr>ALU</vt:lpstr>
      <vt:lpstr>Functions of ALU</vt:lpstr>
      <vt:lpstr>Functions of ALU</vt:lpstr>
      <vt:lpstr>Functions of ALU</vt:lpstr>
      <vt:lpstr>FPU</vt:lpstr>
      <vt:lpstr>Example 1: 1-bit ALU design</vt:lpstr>
      <vt:lpstr>1-bit AND gate</vt:lpstr>
      <vt:lpstr>1-bit OR gate</vt:lpstr>
      <vt:lpstr>1-bit XOR gate</vt:lpstr>
      <vt:lpstr>1-bit Adder</vt:lpstr>
      <vt:lpstr>1-bit Subtractor</vt:lpstr>
      <vt:lpstr>1-bit Adder (Modified)</vt:lpstr>
      <vt:lpstr>1-bit Adder/Subtractor</vt:lpstr>
      <vt:lpstr>1-bit Multiplier</vt:lpstr>
      <vt:lpstr>1-bit Shifter</vt:lpstr>
      <vt:lpstr>1-bit Shifter</vt:lpstr>
      <vt:lpstr>1-bit Shifter A</vt:lpstr>
      <vt:lpstr>All the circuits so far</vt:lpstr>
      <vt:lpstr>ALU Circuit</vt:lpstr>
      <vt:lpstr>1-bit CPU</vt:lpstr>
      <vt:lpstr>ALU Circuit</vt:lpstr>
      <vt:lpstr>1-bit ALU Circuit</vt:lpstr>
      <vt:lpstr>1-bit ALU Circuit</vt:lpstr>
      <vt:lpstr>1-bit ALU Circuit 8 to 1 MUX</vt:lpstr>
      <vt:lpstr>1-bit ALU Circuit</vt:lpstr>
      <vt:lpstr>1-bit ALU Circuit</vt:lpstr>
      <vt:lpstr>1-bit ALU Circuit</vt:lpstr>
      <vt:lpstr>1-bit ALU Circuit</vt:lpstr>
      <vt:lpstr>1-bit ALU Circuit</vt:lpstr>
      <vt:lpstr>1-bit ALU Circuit</vt:lpstr>
      <vt:lpstr>1-bit ALU Circuit</vt:lpstr>
      <vt:lpstr>1-bit ALU Circuit</vt:lpstr>
      <vt:lpstr>1-bit ALU Circuit</vt:lpstr>
      <vt:lpstr>Example 2: 4-bit ALU design</vt:lpstr>
      <vt:lpstr>4-bit AND gate</vt:lpstr>
      <vt:lpstr>4-bit OR gate</vt:lpstr>
      <vt:lpstr>4-bit OR gate</vt:lpstr>
      <vt:lpstr>2-bit Adder/Subtractor</vt:lpstr>
      <vt:lpstr>4-bit Unsigned Multiplier</vt:lpstr>
      <vt:lpstr>4-bit Unsigned Multiplier</vt:lpstr>
      <vt:lpstr>4-bit Shifter</vt:lpstr>
      <vt:lpstr>4-bit Shifter</vt:lpstr>
      <vt:lpstr>All the circuits so far</vt:lpstr>
      <vt:lpstr>4-bit ALU Circuit</vt:lpstr>
      <vt:lpstr>4-bit ALU Circuit 8 to 1 MUX</vt:lpstr>
      <vt:lpstr>4-bit ALU Circuit 8 to 1 MUX</vt:lpstr>
      <vt:lpstr>4-bit ALU Circuit 4-bit 8 to 1 MUX</vt:lpstr>
      <vt:lpstr>4-bit ALU Circuit 8 to 1 MUX</vt:lpstr>
      <vt:lpstr>4-bit ALU Circuit</vt:lpstr>
      <vt:lpstr>4-bit ALU Circuit</vt:lpstr>
      <vt:lpstr>PowerPoint Presentation</vt:lpstr>
      <vt:lpstr>PowerPoint Presentation</vt:lpstr>
      <vt:lpstr>Calculating FLAG Values in ALU</vt:lpstr>
      <vt:lpstr>Question: How can we implement conditional branch instructions like JE, JNE, JG, JL, JLE etc.?</vt:lpstr>
      <vt:lpstr>FLAG Register</vt:lpstr>
      <vt:lpstr>FLAG Register</vt:lpstr>
      <vt:lpstr>4 bit ALU</vt:lpstr>
      <vt:lpstr>4 bit ALU</vt:lpstr>
      <vt:lpstr>4 bit ALU</vt:lpstr>
      <vt:lpstr>FLAG Register Implementation</vt:lpstr>
      <vt:lpstr>4 bit ALU</vt:lpstr>
      <vt:lpstr>Example: ALU</vt:lpstr>
      <vt:lpstr>Example: ALU</vt:lpstr>
      <vt:lpstr>Example: ALU</vt:lpstr>
      <vt:lpstr>Example: ALU</vt:lpstr>
      <vt:lpstr>Example: ALU</vt:lpstr>
      <vt:lpstr>Example: ALU</vt:lpstr>
      <vt:lpstr>Exercises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 - ALU Design Example (1-bit &amp; 4-bit)</dc:title>
  <dc:creator>Nahin</dc:creator>
  <cp:lastModifiedBy>Protik</cp:lastModifiedBy>
  <cp:revision>5</cp:revision>
  <dcterms:created xsi:type="dcterms:W3CDTF">2025-11-09T05:00:15Z</dcterms:created>
  <dcterms:modified xsi:type="dcterms:W3CDTF">2026-05-17T15:41:55Z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2025-11-09T00:00:00Z</vt:filetime>
  </property>
  <property fmtid="{D5CDD505-2E9C-101B-9397-08002B2CF9AE}" pid="5" name="Producer">
    <vt:lpwstr>Microsoft® PowerPoint® 2019</vt:lpwstr>
  </property>
  <property fmtid="{D5CDD505-2E9C-101B-9397-08002B2CF9AE}" pid="6" name="ContentTypeId">
    <vt:lpwstr>0x010100DA4C64532606B24FAB5D656F866C042E</vt:lpwstr>
  </property>
</Properties>
</file>