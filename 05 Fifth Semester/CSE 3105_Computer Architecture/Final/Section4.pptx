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1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27432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Computer architecture and Organization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I/O Organization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429000"/>
            <a:ext cx="7772400" cy="1504504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/>
              <a:t>M. </a:t>
            </a:r>
            <a:r>
              <a:rPr lang="en-US" sz="4000" dirty="0" err="1"/>
              <a:t>Khademul</a:t>
            </a:r>
            <a:r>
              <a:rPr lang="en-US" sz="4000" dirty="0"/>
              <a:t> Islam, PhD</a:t>
            </a:r>
            <a:br>
              <a:rPr lang="en-US" dirty="0"/>
            </a:br>
            <a:r>
              <a:rPr lang="en-US" sz="2200" dirty="0"/>
              <a:t>Professor, Dept. of CSE, </a:t>
            </a:r>
            <a:r>
              <a:rPr lang="en-US" sz="2200" dirty="0" err="1"/>
              <a:t>Rajshahi</a:t>
            </a:r>
            <a:r>
              <a:rPr lang="en-US" sz="2200" dirty="0"/>
              <a:t> University, Bangladesh</a:t>
            </a:r>
            <a:br>
              <a:rPr lang="en-US" sz="2200" dirty="0"/>
            </a:br>
            <a:r>
              <a:rPr lang="en-US" sz="2200" dirty="0"/>
              <a:t>Email: khademul.cse@ru.ac.bd, </a:t>
            </a:r>
            <a:r>
              <a:rPr lang="en-US" sz="2200" dirty="0" err="1"/>
              <a:t>tel</a:t>
            </a:r>
            <a:r>
              <a:rPr lang="en-US" sz="2200" dirty="0"/>
              <a:t>: +88-01727-786600</a:t>
            </a:r>
            <a:br>
              <a:rPr lang="en-US" sz="2200" dirty="0"/>
            </a:br>
            <a:r>
              <a:rPr lang="en-US" sz="2200" dirty="0"/>
              <a:t>web: www.ru.ac.bd/cse/~mki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Peripheral devices</a:t>
            </a:r>
            <a:endParaRPr lang="en-US" dirty="0"/>
          </a:p>
          <a:p>
            <a:r>
              <a:rPr lang="en-US" dirty="0"/>
              <a:t>The input or output devices attached to the computer are also called peripherals. </a:t>
            </a:r>
          </a:p>
          <a:p>
            <a:r>
              <a:rPr lang="en-US" dirty="0"/>
              <a:t>Among the most common peripherals are keyboards, display units and printers</a:t>
            </a:r>
          </a:p>
          <a:p>
            <a:r>
              <a:rPr lang="en-US" dirty="0"/>
              <a:t>The peripherals that provide auxiliary storage for the system are magnetic disks and tapes.</a:t>
            </a:r>
          </a:p>
          <a:p>
            <a:r>
              <a:rPr lang="en-US" dirty="0"/>
              <a:t>The devices that are under the direct control of computer are said to be connected online.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I/O Interface</a:t>
            </a:r>
            <a:endParaRPr lang="en-US" dirty="0"/>
          </a:p>
          <a:p>
            <a:r>
              <a:rPr lang="en-US" dirty="0"/>
              <a:t>Provides the method for transferring information between internal computing unit and external I/O devices. </a:t>
            </a:r>
          </a:p>
          <a:p>
            <a:pPr>
              <a:buNone/>
            </a:pPr>
            <a:r>
              <a:rPr lang="en-US" b="1" dirty="0"/>
              <a:t>Interface</a:t>
            </a:r>
            <a:endParaRPr lang="en-US" dirty="0"/>
          </a:p>
          <a:p>
            <a:r>
              <a:rPr lang="en-US" dirty="0"/>
              <a:t>I/O interface requires the following things:</a:t>
            </a:r>
          </a:p>
          <a:p>
            <a:pPr lvl="1"/>
            <a:r>
              <a:rPr lang="en-US" dirty="0"/>
              <a:t>Special hardware components between the CPU and peripherals</a:t>
            </a:r>
          </a:p>
          <a:p>
            <a:pPr lvl="1"/>
            <a:r>
              <a:rPr lang="en-US" dirty="0"/>
              <a:t>Supervise and synchronize all input and output transfers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I/O Bus and Interface Modules</a:t>
            </a:r>
            <a:endParaRPr lang="en-US" dirty="0"/>
          </a:p>
          <a:p>
            <a:r>
              <a:rPr lang="en-US" sz="2000" dirty="0"/>
              <a:t>The interface of I/O with CPU is performed by different I/O bus lines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Data lines, Address lines, Control lines: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743200"/>
            <a:ext cx="7891572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Interface Modules:</a:t>
            </a:r>
            <a:endParaRPr lang="en-US" dirty="0"/>
          </a:p>
          <a:p>
            <a:r>
              <a:rPr lang="en-US" dirty="0"/>
              <a:t>	SCSI (Small Computer System Interface)</a:t>
            </a:r>
          </a:p>
          <a:p>
            <a:r>
              <a:rPr lang="en-US" dirty="0"/>
              <a:t>	IDE (Integrated Device Electronics)</a:t>
            </a:r>
          </a:p>
          <a:p>
            <a:r>
              <a:rPr lang="en-US" dirty="0"/>
              <a:t>	RS-232</a:t>
            </a:r>
          </a:p>
          <a:p>
            <a:r>
              <a:rPr lang="en-US" dirty="0"/>
              <a:t>	USB (Universal Serial Bus)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I/O versus Memory Bus</a:t>
            </a:r>
            <a:endParaRPr lang="en-US" dirty="0"/>
          </a:p>
          <a:p>
            <a:r>
              <a:rPr lang="en-US" dirty="0"/>
              <a:t>Computer buses are used to communicate with memory and I/O.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i="1" dirty="0"/>
              <a:t>Three ways to make such communication:</a:t>
            </a:r>
          </a:p>
          <a:p>
            <a:r>
              <a:rPr lang="en-US" dirty="0"/>
              <a:t>Use two separate buses, one for memory and the other for I/O</a:t>
            </a:r>
          </a:p>
          <a:p>
            <a:r>
              <a:rPr lang="en-US" dirty="0"/>
              <a:t>Use one common bus for both memory and I/O but have separate control lines for each</a:t>
            </a:r>
          </a:p>
          <a:p>
            <a:r>
              <a:rPr lang="en-US" dirty="0"/>
              <a:t>Use one common bus for memory and I/O with common control lines 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Synchronous Data Transfer</a:t>
            </a:r>
          </a:p>
          <a:p>
            <a:r>
              <a:rPr lang="en-US" dirty="0"/>
              <a:t>All data transfers occur simultaneously during</a:t>
            </a:r>
          </a:p>
          <a:p>
            <a:pPr>
              <a:buNone/>
            </a:pPr>
            <a:r>
              <a:rPr lang="en-US" dirty="0"/>
              <a:t>	the occurrence of a clock pulse</a:t>
            </a:r>
          </a:p>
          <a:p>
            <a:r>
              <a:rPr lang="en-US" dirty="0"/>
              <a:t>Registers in the interface share a common</a:t>
            </a:r>
          </a:p>
          <a:p>
            <a:pPr>
              <a:buNone/>
            </a:pPr>
            <a:r>
              <a:rPr lang="en-US" dirty="0"/>
              <a:t>	clock with CPU registers</a:t>
            </a:r>
          </a:p>
          <a:p>
            <a:pPr>
              <a:buNone/>
            </a:pPr>
            <a:r>
              <a:rPr lang="en-US" b="1" dirty="0"/>
              <a:t>Asynchronous Data Transfer</a:t>
            </a:r>
          </a:p>
          <a:p>
            <a:r>
              <a:rPr lang="en-US" dirty="0"/>
              <a:t>Internal timing in each unit (</a:t>
            </a:r>
            <a:r>
              <a:rPr lang="en-US" i="1" dirty="0"/>
              <a:t>CPU and Interface)</a:t>
            </a:r>
          </a:p>
          <a:p>
            <a:pPr>
              <a:buNone/>
            </a:pPr>
            <a:r>
              <a:rPr lang="en-US" dirty="0"/>
              <a:t>	is independent</a:t>
            </a:r>
          </a:p>
          <a:p>
            <a:r>
              <a:rPr lang="en-US" dirty="0"/>
              <a:t>Each unit uses its own private clock for internal</a:t>
            </a:r>
          </a:p>
          <a:p>
            <a:pPr>
              <a:buNone/>
            </a:pPr>
            <a:r>
              <a:rPr lang="en-US" dirty="0"/>
              <a:t>	registers</a:t>
            </a:r>
            <a:endParaRPr lang="en-US" sz="20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Strobe</a:t>
            </a:r>
            <a:r>
              <a:rPr lang="en-US" dirty="0"/>
              <a:t> : Control signal to indicate the time at which data is being transmitted</a:t>
            </a:r>
          </a:p>
          <a:p>
            <a:pPr lvl="1"/>
            <a:r>
              <a:rPr lang="en-US" dirty="0"/>
              <a:t>Source-initiated strobe</a:t>
            </a:r>
            <a:endParaRPr lang="en-US" b="1" i="1" dirty="0"/>
          </a:p>
          <a:p>
            <a:pPr lvl="1"/>
            <a:r>
              <a:rPr lang="en-US" dirty="0"/>
              <a:t>Destination-initiated strobe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3124200"/>
            <a:ext cx="8915400" cy="3397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Handshake: Agreement between two units</a:t>
            </a:r>
          </a:p>
          <a:p>
            <a:pPr lvl="1"/>
            <a:r>
              <a:rPr lang="en-US" dirty="0"/>
              <a:t>Source-initiated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1" y="2286000"/>
            <a:ext cx="4495800" cy="1432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057400"/>
            <a:ext cx="4205287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00200" y="3733800"/>
            <a:ext cx="1600200" cy="306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4165212"/>
            <a:ext cx="5256262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7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00200" y="6553620"/>
            <a:ext cx="1919287" cy="30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Destination initiated handshake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981200"/>
            <a:ext cx="4205287" cy="152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6325" y="1905000"/>
            <a:ext cx="4181475" cy="2386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3787849"/>
            <a:ext cx="4876800" cy="307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Asynchronous Data Transfer</a:t>
            </a:r>
          </a:p>
          <a:p>
            <a:r>
              <a:rPr lang="en-US" dirty="0"/>
              <a:t>Special bits are inserted at both ends of the character code</a:t>
            </a:r>
          </a:p>
          <a:p>
            <a:r>
              <a:rPr lang="en-US" dirty="0"/>
              <a:t>Each character consists of three parts :</a:t>
            </a:r>
          </a:p>
          <a:p>
            <a:r>
              <a:rPr lang="en-US" dirty="0"/>
              <a:t>start bit : always “0”, indicate the beginning of a character</a:t>
            </a:r>
          </a:p>
          <a:p>
            <a:r>
              <a:rPr lang="en-US" dirty="0"/>
              <a:t>character bits : data</a:t>
            </a:r>
          </a:p>
          <a:p>
            <a:r>
              <a:rPr lang="en-US" dirty="0"/>
              <a:t>stop bit : always “1”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Asynchronous transmission rules</a:t>
            </a:r>
          </a:p>
          <a:p>
            <a:pPr lvl="1"/>
            <a:r>
              <a:rPr lang="en-US" dirty="0"/>
              <a:t>(1) When a character is not being sent, the line is kept in the 1-state</a:t>
            </a:r>
          </a:p>
          <a:p>
            <a:pPr lvl="1"/>
            <a:r>
              <a:rPr lang="en-US" dirty="0"/>
              <a:t>(2) The initiation is detected from the start bit, which is always “0”</a:t>
            </a:r>
          </a:p>
          <a:p>
            <a:pPr lvl="1"/>
            <a:r>
              <a:rPr lang="en-US" dirty="0"/>
              <a:t>(3) The character always follow the start bit</a:t>
            </a:r>
          </a:p>
          <a:p>
            <a:pPr lvl="1"/>
            <a:r>
              <a:rPr lang="en-US" dirty="0"/>
              <a:t>(4) A stop bit is detected when the line returns to the 1-state for at least one bit time</a:t>
            </a:r>
          </a:p>
          <a:p>
            <a:pPr lvl="1"/>
            <a:r>
              <a:rPr lang="en-US" dirty="0"/>
              <a:t>UART (Universal Asynchronous Receiver): 8250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876800"/>
            <a:ext cx="8442411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Modes of Transfer</a:t>
            </a:r>
          </a:p>
          <a:p>
            <a:pPr>
              <a:buNone/>
            </a:pPr>
            <a:r>
              <a:rPr lang="en-US" dirty="0"/>
              <a:t>Data transfer to and from peripherals</a:t>
            </a:r>
          </a:p>
          <a:p>
            <a:r>
              <a:rPr lang="en-US" dirty="0"/>
              <a:t>1) Programmed I/O</a:t>
            </a:r>
            <a:endParaRPr lang="en-US" i="1" dirty="0"/>
          </a:p>
          <a:p>
            <a:r>
              <a:rPr lang="en-US" dirty="0"/>
              <a:t>2) Interrupt-initiated I/O</a:t>
            </a:r>
            <a:endParaRPr lang="en-US" i="1" dirty="0"/>
          </a:p>
          <a:p>
            <a:r>
              <a:rPr lang="en-US" dirty="0"/>
              <a:t>3) Direct Memory Access (</a:t>
            </a:r>
            <a:r>
              <a:rPr lang="en-US" b="1" dirty="0"/>
              <a:t>DMA)</a:t>
            </a:r>
            <a:endParaRPr lang="en-US" b="1" i="1" dirty="0"/>
          </a:p>
          <a:p>
            <a:r>
              <a:rPr lang="en-US" dirty="0"/>
              <a:t>4) I/O Processor (</a:t>
            </a:r>
            <a:r>
              <a:rPr lang="en-US" b="1" dirty="0"/>
              <a:t>IOP)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Example of Programmed I/O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81200"/>
            <a:ext cx="8393533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Interrupt-initiated I/O</a:t>
            </a:r>
          </a:p>
          <a:p>
            <a:r>
              <a:rPr lang="en-US" dirty="0"/>
              <a:t>1) Non-vectored : fixed branch address</a:t>
            </a:r>
          </a:p>
          <a:p>
            <a:r>
              <a:rPr lang="en-US" dirty="0"/>
              <a:t>2) Vectored : interrupt source supplies the branch address</a:t>
            </a:r>
          </a:p>
          <a:p>
            <a:pPr>
              <a:buNone/>
            </a:pPr>
            <a:r>
              <a:rPr lang="en-US" b="1" dirty="0"/>
              <a:t>Priority Interrupt</a:t>
            </a:r>
          </a:p>
          <a:p>
            <a:r>
              <a:rPr lang="en-US" dirty="0"/>
              <a:t>Identify the source of the interrupts from simultaneous several sources</a:t>
            </a:r>
          </a:p>
          <a:p>
            <a:r>
              <a:rPr lang="en-US" dirty="0"/>
              <a:t>Determine which one is to be serviced first from simultaneous multiple requests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Software Polling</a:t>
            </a:r>
          </a:p>
          <a:p>
            <a:r>
              <a:rPr lang="en-US" dirty="0"/>
              <a:t>Identify the highest-priority source by software means</a:t>
            </a:r>
          </a:p>
          <a:p>
            <a:r>
              <a:rPr lang="en-US" dirty="0"/>
              <a:t>Polls the interrupt sources in sequence</a:t>
            </a:r>
          </a:p>
          <a:p>
            <a:r>
              <a:rPr lang="en-US" dirty="0"/>
              <a:t>The highest-priority source is tested first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Hardware priority interrupt</a:t>
            </a:r>
            <a:endParaRPr lang="ko-KR" altLang="en-US" b="1" dirty="0"/>
          </a:p>
          <a:p>
            <a:r>
              <a:rPr lang="en-US" dirty="0"/>
              <a:t>Daisy-Chaining, parallel priority</a:t>
            </a:r>
          </a:p>
          <a:p>
            <a:pPr lvl="1"/>
            <a:r>
              <a:rPr lang="en-US" dirty="0"/>
              <a:t>Daisy -chaining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819400"/>
            <a:ext cx="8797012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step of DC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0" y="1219200"/>
            <a:ext cx="533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(1) No interrupt request</a:t>
            </a:r>
          </a:p>
          <a:p>
            <a:r>
              <a:rPr lang="en-US" dirty="0"/>
              <a:t>(2) Invalid : interrupt request, but no </a:t>
            </a:r>
            <a:r>
              <a:rPr lang="en-US" dirty="0" err="1"/>
              <a:t>ack</a:t>
            </a:r>
            <a:br>
              <a:rPr lang="en-US" dirty="0"/>
            </a:br>
            <a:r>
              <a:rPr lang="en-US" dirty="0"/>
              <a:t>(3) No interrupt request: Pass to other device</a:t>
            </a:r>
            <a:endParaRPr lang="en-US" i="1" dirty="0"/>
          </a:p>
          <a:p>
            <a:r>
              <a:rPr lang="en-US" dirty="0"/>
              <a:t>(4) Interrupt request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362200"/>
            <a:ext cx="8840821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Parallel Priority</a:t>
            </a:r>
          </a:p>
          <a:p>
            <a:r>
              <a:rPr lang="en-US" dirty="0"/>
              <a:t>Priority Encoder</a:t>
            </a:r>
            <a:endParaRPr lang="en-US" altLang="ko-KR" dirty="0"/>
          </a:p>
          <a:p>
            <a:pPr>
              <a:buNone/>
            </a:pPr>
            <a:r>
              <a:rPr lang="en-US" dirty="0"/>
              <a:t>Parallel Priority :</a:t>
            </a:r>
          </a:p>
          <a:p>
            <a:pPr lvl="1"/>
            <a:r>
              <a:rPr lang="en-US" dirty="0"/>
              <a:t>Interrupt Enable F/F (</a:t>
            </a:r>
            <a:r>
              <a:rPr lang="en-US" b="1" dirty="0"/>
              <a:t>IEN): </a:t>
            </a:r>
            <a:br>
              <a:rPr lang="en-US" b="1" dirty="0"/>
            </a:br>
            <a:r>
              <a:rPr lang="en-US" dirty="0"/>
              <a:t>set or cleared by program</a:t>
            </a:r>
          </a:p>
          <a:p>
            <a:pPr lvl="1"/>
            <a:r>
              <a:rPr lang="en-US" dirty="0"/>
              <a:t>Interrupt Status F/F (</a:t>
            </a:r>
            <a:r>
              <a:rPr lang="en-US" b="1" dirty="0"/>
              <a:t>IST):</a:t>
            </a:r>
            <a:br>
              <a:rPr lang="en-US" b="1" dirty="0"/>
            </a:br>
            <a:r>
              <a:rPr lang="en-US" dirty="0"/>
              <a:t>set or cleared by output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295400"/>
            <a:ext cx="4191000" cy="5591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Interrupt Cycle</a:t>
            </a:r>
          </a:p>
          <a:p>
            <a:r>
              <a:rPr lang="en-US" sz="2400" dirty="0"/>
              <a:t>At the end of each instruction cycle, CPU</a:t>
            </a:r>
          </a:p>
          <a:p>
            <a:pPr>
              <a:buNone/>
            </a:pPr>
            <a:r>
              <a:rPr lang="en-US" sz="2400" dirty="0"/>
              <a:t>	checks IEN (Int. Enable) and IST (Int. Status)</a:t>
            </a:r>
          </a:p>
          <a:p>
            <a:r>
              <a:rPr lang="en-US" sz="2400" dirty="0"/>
              <a:t>if both IEN and IST equal to “1”</a:t>
            </a:r>
          </a:p>
          <a:p>
            <a:r>
              <a:rPr lang="en-US" sz="2400" dirty="0"/>
              <a:t>CPU goes to an Interrupt Cycle</a:t>
            </a:r>
          </a:p>
          <a:p>
            <a:pPr lvl="1"/>
            <a:r>
              <a:rPr lang="en-US" sz="2000" dirty="0"/>
              <a:t>Sequence of micro-operation during Interrupt cycle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990536"/>
            <a:ext cx="7745529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Direct Memory Access (DMA)</a:t>
            </a:r>
          </a:p>
          <a:p>
            <a:r>
              <a:rPr lang="en-US" sz="2400" dirty="0"/>
              <a:t>DMA controller takes over the buses to manage the transfer directly between the I/O device and memory</a:t>
            </a:r>
          </a:p>
          <a:p>
            <a:r>
              <a:rPr lang="en-US" sz="2400" dirty="0"/>
              <a:t>Transfer Modes</a:t>
            </a:r>
          </a:p>
          <a:p>
            <a:pPr lvl="1"/>
            <a:r>
              <a:rPr lang="en-US" sz="2000" dirty="0"/>
              <a:t>Burst transfer : Block</a:t>
            </a:r>
            <a:endParaRPr lang="ko-KR" altLang="en-US" sz="2000" dirty="0"/>
          </a:p>
          <a:p>
            <a:pPr lvl="1"/>
            <a:r>
              <a:rPr lang="en-US" sz="2000" dirty="0"/>
              <a:t>Cycle stealing transfer : Word</a:t>
            </a:r>
          </a:p>
          <a:p>
            <a:endParaRPr lang="ko-KR" altLang="en-US" sz="2400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65" y="3886200"/>
            <a:ext cx="850582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/>
              <a:t>DMA Controller (</a:t>
            </a:r>
            <a:r>
              <a:rPr lang="it-IT" b="1" dirty="0"/>
              <a:t>Intel 8237 DMAC</a:t>
            </a:r>
            <a:r>
              <a:rPr lang="en-US" b="1" dirty="0"/>
              <a:t>) Initialization Process</a:t>
            </a:r>
          </a:p>
          <a:p>
            <a:r>
              <a:rPr lang="en-US" sz="2600" dirty="0"/>
              <a:t>1) Set Address register: memory address for read/write</a:t>
            </a:r>
          </a:p>
          <a:p>
            <a:r>
              <a:rPr lang="en-US" sz="2600" dirty="0"/>
              <a:t>2) Set Word count register: the number of words to transfer</a:t>
            </a:r>
          </a:p>
          <a:p>
            <a:r>
              <a:rPr lang="en-US" sz="2600" dirty="0"/>
              <a:t>3) Set transfer mode :</a:t>
            </a:r>
          </a:p>
          <a:p>
            <a:pPr lvl="1"/>
            <a:r>
              <a:rPr lang="en-US" sz="2100" dirty="0"/>
              <a:t>read/write,</a:t>
            </a:r>
          </a:p>
          <a:p>
            <a:pPr lvl="1"/>
            <a:r>
              <a:rPr lang="en-US" sz="2100" dirty="0"/>
              <a:t>burst/cycle stealing,</a:t>
            </a:r>
          </a:p>
          <a:p>
            <a:pPr lvl="1"/>
            <a:r>
              <a:rPr lang="en-US" sz="2100" dirty="0"/>
              <a:t>I/O to I/O,</a:t>
            </a:r>
          </a:p>
          <a:p>
            <a:pPr lvl="1"/>
            <a:r>
              <a:rPr lang="en-US" sz="2100" dirty="0"/>
              <a:t>I/O to Memory,</a:t>
            </a:r>
          </a:p>
          <a:p>
            <a:pPr lvl="1"/>
            <a:r>
              <a:rPr lang="en-US" sz="2100" dirty="0"/>
              <a:t>Memory to Memory</a:t>
            </a:r>
          </a:p>
          <a:p>
            <a:pPr lvl="1"/>
            <a:r>
              <a:rPr lang="en-US" sz="2100" dirty="0"/>
              <a:t>Memory search</a:t>
            </a:r>
          </a:p>
          <a:p>
            <a:pPr lvl="1"/>
            <a:r>
              <a:rPr lang="en-US" sz="2100" dirty="0"/>
              <a:t>I/O search</a:t>
            </a:r>
          </a:p>
          <a:p>
            <a:r>
              <a:rPr lang="en-US" sz="2600" dirty="0"/>
              <a:t>4) DMA transfer start : </a:t>
            </a:r>
            <a:r>
              <a:rPr lang="en-US" sz="2600" i="1" dirty="0"/>
              <a:t>next section</a:t>
            </a:r>
          </a:p>
          <a:p>
            <a:r>
              <a:rPr lang="en-US" sz="2600" dirty="0"/>
              <a:t>5) EOT (End of Transfer): Interrupt</a:t>
            </a:r>
            <a:endParaRPr lang="ko-KR" altLang="en-US" sz="2300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19199"/>
            <a:ext cx="7772400" cy="529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DMA Transfer (I/O to Memory)</a:t>
            </a:r>
          </a:p>
          <a:p>
            <a:r>
              <a:rPr lang="pt-BR" dirty="0"/>
              <a:t>1) I/O Device sends a DMA request</a:t>
            </a:r>
          </a:p>
          <a:p>
            <a:r>
              <a:rPr lang="en-US" dirty="0"/>
              <a:t>2) DMAC activates the </a:t>
            </a:r>
            <a:r>
              <a:rPr lang="en-US" b="1" dirty="0"/>
              <a:t>BR line</a:t>
            </a:r>
          </a:p>
          <a:p>
            <a:r>
              <a:rPr lang="en-US" dirty="0"/>
              <a:t>3) CPU responds with </a:t>
            </a:r>
            <a:r>
              <a:rPr lang="en-US" b="1" dirty="0"/>
              <a:t>BG line</a:t>
            </a:r>
          </a:p>
          <a:p>
            <a:r>
              <a:rPr lang="en-US" dirty="0"/>
              <a:t>4) DMAC sends a DMA acknowledge to the I/O device</a:t>
            </a:r>
          </a:p>
          <a:p>
            <a:r>
              <a:rPr lang="en-US" dirty="0"/>
              <a:t>5) I/O device puts a word in data bus (</a:t>
            </a:r>
            <a:r>
              <a:rPr lang="en-US" i="1" dirty="0"/>
              <a:t>memory write)</a:t>
            </a:r>
          </a:p>
          <a:p>
            <a:r>
              <a:rPr lang="en-US" dirty="0"/>
              <a:t>6) DMAC write a data to the address specified by </a:t>
            </a:r>
            <a:r>
              <a:rPr lang="en-US" b="1" dirty="0"/>
              <a:t>AR</a:t>
            </a:r>
          </a:p>
          <a:p>
            <a:r>
              <a:rPr lang="en-US" dirty="0"/>
              <a:t>7) Decrement Word count register</a:t>
            </a:r>
          </a:p>
          <a:p>
            <a:r>
              <a:rPr lang="en-US" dirty="0"/>
              <a:t>8) Word count register = 0 (</a:t>
            </a:r>
            <a:r>
              <a:rPr lang="en-US" altLang="ko-KR" dirty="0"/>
              <a:t>EOT interrupt)</a:t>
            </a:r>
            <a:endParaRPr lang="ko-KR" altLang="en-US" dirty="0"/>
          </a:p>
          <a:p>
            <a:r>
              <a:rPr lang="en-US" dirty="0"/>
              <a:t>9) Word count register ≠ 0 </a:t>
            </a:r>
            <a:r>
              <a:rPr lang="en-US" altLang="ko-KR" dirty="0"/>
              <a:t>(</a:t>
            </a:r>
            <a:r>
              <a:rPr lang="en-US" dirty="0"/>
              <a:t>DMAC checks the DMA request from I/O device)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19200"/>
            <a:ext cx="7772400" cy="551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Input-Output Processor (IOP)</a:t>
            </a:r>
          </a:p>
          <a:p>
            <a:r>
              <a:rPr lang="en-US" sz="2400" dirty="0"/>
              <a:t>Communicate directly with all I/O devices</a:t>
            </a:r>
          </a:p>
          <a:p>
            <a:r>
              <a:rPr lang="en-US" sz="2400" dirty="0"/>
              <a:t>Fetch and execute its own instruction</a:t>
            </a:r>
          </a:p>
          <a:p>
            <a:pPr lvl="1"/>
            <a:r>
              <a:rPr lang="en-US" sz="2000" dirty="0"/>
              <a:t>IOP instructions are designed for I/O transfer</a:t>
            </a:r>
          </a:p>
          <a:p>
            <a:pPr lvl="1"/>
            <a:r>
              <a:rPr lang="en-US" sz="2000" dirty="0"/>
              <a:t>DMAC must be set up entirely by the CPU</a:t>
            </a:r>
          </a:p>
          <a:p>
            <a:r>
              <a:rPr lang="en-US" sz="2400" dirty="0"/>
              <a:t>Designed to handle the details of I/O processing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962400"/>
            <a:ext cx="7543800" cy="2667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Intel 8089 IOP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Organization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7850" y="838200"/>
            <a:ext cx="348615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286000"/>
            <a:ext cx="6400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40164-16FD-8DD0-F6A9-96C597DA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A11BA-5BF8-B12D-5CBA-89AA86191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arbitration is required to decide which device gets control of the bus when multiple devices request it at the same time. 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need?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conflicts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devices drive the bus at the same time, data will be corrupted.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Arbitration ensures that only one master uses the bus at a time.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system stability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multiple masters try to access the bus simultaneously, the system may hang.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fair access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devices should get a fair chance to use the bus.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 that requests first or has higher priority gets access.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2FF01-5A2F-4AEF-B6BF-B05A3933D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 Arbitration</a:t>
            </a:r>
          </a:p>
        </p:txBody>
      </p:sp>
    </p:spTree>
    <p:extLst>
      <p:ext uri="{BB962C8B-B14F-4D97-AF65-F5344CB8AC3E}">
        <p14:creationId xmlns:p14="http://schemas.microsoft.com/office/powerpoint/2010/main" val="7709094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62866-CA38-BF61-1F80-4C9DC4EC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23D3A-1366-1C21-FB25-FF0A2048C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need?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control priority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devices (e.g., DMA controller) need higher priority.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handle parallel requests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many devices request the bus at the same time, the arbitration algorithm decides who will get access.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1048F-5B55-A5EF-7498-95CB5E27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 Arbitration</a:t>
            </a:r>
          </a:p>
        </p:txBody>
      </p:sp>
    </p:spTree>
    <p:extLst>
      <p:ext uri="{BB962C8B-B14F-4D97-AF65-F5344CB8AC3E}">
        <p14:creationId xmlns:p14="http://schemas.microsoft.com/office/powerpoint/2010/main" val="2181018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7C4D0-AF45-AAEC-7336-F170B1B4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C71C5-B2EB-837B-3E37-7B950732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Arbitration Techniques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Daisy Chaining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Request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841592-6526-C975-3AAF-53E13649F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 Arbitration</a:t>
            </a:r>
          </a:p>
        </p:txBody>
      </p:sp>
    </p:spTree>
    <p:extLst>
      <p:ext uri="{BB962C8B-B14F-4D97-AF65-F5344CB8AC3E}">
        <p14:creationId xmlns:p14="http://schemas.microsoft.com/office/powerpoint/2010/main" val="3388909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7AD99-9846-736A-838E-88EBBF37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C2303-FBBD-FCEA-C2F0-F557DBFE3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Daisy Chaining</a:t>
            </a:r>
          </a:p>
          <a:p>
            <a:pPr marL="109728" indent="0"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96485-A942-1B86-2FA0-B4788E4A3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 Arbitration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DEE94D-171E-07AB-5B85-E010CD47E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" y="1953609"/>
            <a:ext cx="82296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3628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A6C4C-9D56-B30F-CC56-71CC8DA5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B908-1B26-6657-CC95-865B6248F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Daisy Chaining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design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add more devices anywhere along the chain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Disadvantages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is fixed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Lower-priority devices may face starvation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increases in long chains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one device fails then the entire system will stop working. 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47430-526A-8EB2-6D85-5DC26CF7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 Arbitration</a:t>
            </a:r>
          </a:p>
        </p:txBody>
      </p:sp>
    </p:spTree>
    <p:extLst>
      <p:ext uri="{BB962C8B-B14F-4D97-AF65-F5344CB8AC3E}">
        <p14:creationId xmlns:p14="http://schemas.microsoft.com/office/powerpoint/2010/main" val="3665281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44E0F-A074-4C96-D205-AC3D9D74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74505-69DC-C74B-DD36-44CA51670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Polling</a:t>
            </a:r>
          </a:p>
          <a:p>
            <a:pPr marL="109728" indent="0"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5E9A6-E283-F69A-8217-37645C24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 Arbitration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99ECC-A98A-39A3-8C6A-999AB36F8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2162486"/>
            <a:ext cx="6858000" cy="28667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E957D3-EE04-A8B5-DC1C-64CAEA082AC0}"/>
              </a:ext>
            </a:extLst>
          </p:cNvPr>
          <p:cNvSpPr txBox="1"/>
          <p:nvPr/>
        </p:nvSpPr>
        <p:spPr>
          <a:xfrm>
            <a:off x="1295400" y="5257800"/>
            <a:ext cx="6858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this, the controller is used to generate the address for the master(unique priority), the number of address lines required depends on the number of masters 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connected in the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693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5D2E-FF8A-7B2D-5367-2AD6164E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2042B-BDF2-00C0-364A-D9139AB25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Polling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Advantages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does not favor any particular device and processor.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is also quite simple.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one device fails then the entire system will not stop working.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starvation problem.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Disadvantages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bus masters is difficult as increases the number of address lines of the circuit.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21418-49A1-A979-7879-674C8B0E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 Arbitration</a:t>
            </a:r>
          </a:p>
        </p:txBody>
      </p:sp>
    </p:spTree>
    <p:extLst>
      <p:ext uri="{BB962C8B-B14F-4D97-AF65-F5344CB8AC3E}">
        <p14:creationId xmlns:p14="http://schemas.microsoft.com/office/powerpoint/2010/main" val="96986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2CA57-8CC5-501E-5465-9DE8E133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629C3-AB16-4BCB-230D-01119CF32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Independent Request</a:t>
            </a:r>
          </a:p>
          <a:p>
            <a:pPr marL="109728" indent="0"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19CF3-5A12-9739-B524-1BDEBCB6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 Arbitration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9BF19-F7C6-49B3-4959-6B97779989E3}"/>
              </a:ext>
            </a:extLst>
          </p:cNvPr>
          <p:cNvSpPr txBox="1"/>
          <p:nvPr/>
        </p:nvSpPr>
        <p:spPr>
          <a:xfrm>
            <a:off x="1295400" y="5257800"/>
            <a:ext cx="685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built-in priority decoder within the controller selects the highest priority request and asserts the corresponding bus grant </a:t>
            </a:r>
            <a:r>
              <a:rPr lang="en-US" dirty="0" err="1"/>
              <a:t>signal.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Nunito" pitchFamily="2" charset="0"/>
              </a:rPr>
              <a:t>connecd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 in the system.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B5A59-DBA2-A3F6-16E9-5305C46C6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133601"/>
            <a:ext cx="6172200" cy="295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188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0D1C0-0F75-B19D-8769-20CBE17E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EB156-A928-4438-FD70-C7283D8F1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Independent Request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Advantages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control is easy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generates a fast response.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starvation problem.</a:t>
            </a:r>
          </a:p>
          <a:p>
            <a:pPr marL="393192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Disadvantages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cost is high as a large no. of control lines is required.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F8BAB-F8FB-26D2-06A9-194A8687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 Arbitration</a:t>
            </a:r>
          </a:p>
        </p:txBody>
      </p:sp>
    </p:spTree>
    <p:extLst>
      <p:ext uri="{BB962C8B-B14F-4D97-AF65-F5344CB8AC3E}">
        <p14:creationId xmlns:p14="http://schemas.microsoft.com/office/powerpoint/2010/main" val="2325989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C64532606B24FAB5D656F866C042E" ma:contentTypeVersion="7" ma:contentTypeDescription="Create a new document." ma:contentTypeScope="" ma:versionID="e09d2cf455fbf8f69db67da1420b95fc">
  <xsd:schema xmlns:xsd="http://www.w3.org/2001/XMLSchema" xmlns:xs="http://www.w3.org/2001/XMLSchema" xmlns:p="http://schemas.microsoft.com/office/2006/metadata/properties" xmlns:ns2="f8536b80-1d83-40b8-bf9c-7fc7a3b1d835" targetNamespace="http://schemas.microsoft.com/office/2006/metadata/properties" ma:root="true" ma:fieldsID="2669715d9414c83cbf40c50fdf684965" ns2:_="">
    <xsd:import namespace="f8536b80-1d83-40b8-bf9c-7fc7a3b1d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36b80-1d83-40b8-bf9c-7fc7a3b1d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27D55D-3FDA-4ED8-B5E3-A5C6021AA668}"/>
</file>

<file path=customXml/itemProps2.xml><?xml version="1.0" encoding="utf-8"?>
<ds:datastoreItem xmlns:ds="http://schemas.openxmlformats.org/officeDocument/2006/customXml" ds:itemID="{9346614B-965F-4CC0-A4C7-0EABA2A4DD56}"/>
</file>

<file path=customXml/itemProps3.xml><?xml version="1.0" encoding="utf-8"?>
<ds:datastoreItem xmlns:ds="http://schemas.openxmlformats.org/officeDocument/2006/customXml" ds:itemID="{ACCBC706-C107-4E97-91B1-3A24CE32760E}"/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713</TotalTime>
  <Words>1510</Words>
  <Application>Microsoft Office PowerPoint</Application>
  <PresentationFormat>On-screen Show (4:3)</PresentationFormat>
  <Paragraphs>209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Lucida Sans Unicode</vt:lpstr>
      <vt:lpstr>Nunito</vt:lpstr>
      <vt:lpstr>Times New Roman</vt:lpstr>
      <vt:lpstr>Verdana</vt:lpstr>
      <vt:lpstr>Wingdings</vt:lpstr>
      <vt:lpstr>Wingdings 2</vt:lpstr>
      <vt:lpstr>Wingdings 3</vt:lpstr>
      <vt:lpstr>Concourse</vt:lpstr>
      <vt:lpstr>Computer architecture and Organization  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I/O Organization</vt:lpstr>
      <vt:lpstr>Bus Arbitration</vt:lpstr>
      <vt:lpstr>Bus Arbitration</vt:lpstr>
      <vt:lpstr>Bus Arbitration</vt:lpstr>
      <vt:lpstr>Bus Arbitration</vt:lpstr>
      <vt:lpstr>Bus Arbitration</vt:lpstr>
      <vt:lpstr>Bus Arbitration</vt:lpstr>
      <vt:lpstr>Bus Arbitration</vt:lpstr>
      <vt:lpstr>Bus Arbitration</vt:lpstr>
      <vt:lpstr>Bus Arbitration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and Organization  Introduction</dc:title>
  <dc:creator>Khadam</dc:creator>
  <cp:lastModifiedBy>Protik Chakroborty</cp:lastModifiedBy>
  <cp:revision>81</cp:revision>
  <dcterms:created xsi:type="dcterms:W3CDTF">2012-10-13T14:30:17Z</dcterms:created>
  <dcterms:modified xsi:type="dcterms:W3CDTF">2025-11-27T18:45:57Z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0x010100DA4C64532606B24FAB5D656F866C042E</vt:lpwstr>
  </property>
</Properties>
</file>