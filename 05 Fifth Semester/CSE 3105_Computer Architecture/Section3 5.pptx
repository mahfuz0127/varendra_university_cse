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7" r:id="rId11"/>
    <p:sldId id="296" r:id="rId12"/>
    <p:sldId id="298" r:id="rId13"/>
    <p:sldId id="299" r:id="rId14"/>
    <p:sldId id="300" r:id="rId15"/>
    <p:sldId id="301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ABF3EEB-61C0-4FAC-BA99-3020254D2E4D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CD1D430-2E8D-4314-A47C-901C3709018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27432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Computer architecture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3600" dirty="0"/>
              <a:t>Processing Unit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central processing unit (CPU) </a:t>
            </a:r>
            <a:r>
              <a:rPr lang="en-US" dirty="0"/>
              <a:t>of a computer is the main unit that dictates the rest of the computer organization</a:t>
            </a:r>
          </a:p>
          <a:p>
            <a:r>
              <a:rPr lang="en-US" i="1" dirty="0"/>
              <a:t>Register set</a:t>
            </a:r>
            <a:r>
              <a:rPr lang="en-US" dirty="0"/>
              <a:t>: Stores intermediate data during the execution of instructions;</a:t>
            </a:r>
          </a:p>
          <a:p>
            <a:r>
              <a:rPr lang="en-US" i="1" dirty="0"/>
              <a:t>Arithmetic logic unit (ALU)</a:t>
            </a:r>
            <a:r>
              <a:rPr lang="en-US" dirty="0"/>
              <a:t>: Performs the required micro-operations for executing the instructions;</a:t>
            </a:r>
          </a:p>
          <a:p>
            <a:r>
              <a:rPr lang="en-US" i="1" dirty="0"/>
              <a:t>Control unit</a:t>
            </a:r>
            <a:r>
              <a:rPr lang="en-US" dirty="0"/>
              <a:t>: supervises the transfer of information among the registers and instructs the ALU as to which operation to perform by generating control signals.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800" b="1" dirty="0"/>
              <a:t>Functions of CPU</a:t>
            </a:r>
            <a:endParaRPr lang="en-US" sz="2400" dirty="0"/>
          </a:p>
          <a:p>
            <a:pPr lvl="0"/>
            <a:r>
              <a:rPr lang="en-US" sz="2800" dirty="0"/>
              <a:t>Central Processing Unit = “brain of computer”</a:t>
            </a:r>
            <a:endParaRPr lang="en-US" sz="2400" dirty="0"/>
          </a:p>
          <a:p>
            <a:pPr lvl="0"/>
            <a:r>
              <a:rPr lang="en-US" sz="2800" dirty="0"/>
              <a:t>Executes programs by:</a:t>
            </a:r>
            <a:endParaRPr lang="en-US" sz="2400" dirty="0"/>
          </a:p>
          <a:p>
            <a:pPr lvl="1"/>
            <a:r>
              <a:rPr lang="en-US" sz="2400" dirty="0"/>
              <a:t>Fetching and decoding the next instruction from memory</a:t>
            </a:r>
            <a:endParaRPr lang="en-US" sz="2000" dirty="0"/>
          </a:p>
          <a:p>
            <a:pPr lvl="1"/>
            <a:r>
              <a:rPr lang="en-US" sz="2400" dirty="0"/>
              <a:t>Execute it</a:t>
            </a:r>
            <a:endParaRPr lang="en-US" sz="2000" dirty="0"/>
          </a:p>
          <a:p>
            <a:pPr lvl="0"/>
            <a:r>
              <a:rPr lang="en-US" sz="2800" dirty="0"/>
              <a:t>Consists of:</a:t>
            </a:r>
            <a:endParaRPr lang="en-US" sz="2400" dirty="0"/>
          </a:p>
          <a:p>
            <a:pPr lvl="1"/>
            <a:r>
              <a:rPr lang="en-US" sz="2400" dirty="0"/>
              <a:t>Control Unit</a:t>
            </a:r>
            <a:endParaRPr lang="en-US" sz="2000" dirty="0"/>
          </a:p>
          <a:p>
            <a:pPr lvl="1"/>
            <a:r>
              <a:rPr lang="en-US" sz="2400" dirty="0"/>
              <a:t>Arithmetic Logic Unit (ALU)</a:t>
            </a:r>
            <a:endParaRPr lang="en-US" sz="2000" dirty="0"/>
          </a:p>
          <a:p>
            <a:pPr lvl="1"/>
            <a:r>
              <a:rPr lang="en-US" sz="2400" dirty="0"/>
              <a:t>Registers (high-speed memory)</a:t>
            </a:r>
            <a:endParaRPr lang="en-US" sz="2000" dirty="0"/>
          </a:p>
          <a:p>
            <a:pPr lvl="2"/>
            <a:r>
              <a:rPr lang="en-US" sz="2400" dirty="0"/>
              <a:t>Program Counter (PC)</a:t>
            </a:r>
            <a:endParaRPr lang="en-US" sz="2000" dirty="0"/>
          </a:p>
          <a:p>
            <a:pPr lvl="2"/>
            <a:r>
              <a:rPr lang="en-US" sz="2400" dirty="0"/>
              <a:t>Instruction Register (IR)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Functions of CPU</a:t>
            </a:r>
            <a:endParaRPr lang="en-US" sz="24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endParaRPr lang="en-US" sz="2800" dirty="0"/>
          </a:p>
          <a:p>
            <a:pPr algn="ctr">
              <a:buNone/>
            </a:pPr>
            <a:r>
              <a:rPr lang="en-US" sz="2800" dirty="0"/>
              <a:t>BUS connection with CPU</a:t>
            </a:r>
          </a:p>
          <a:p>
            <a:pPr lvl="2"/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2050" name="Picture 2" descr="闒粀闀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2057400"/>
            <a:ext cx="8478124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General register organization</a:t>
            </a:r>
            <a:endParaRPr lang="en-US" sz="2800" dirty="0"/>
          </a:p>
          <a:p>
            <a:r>
              <a:rPr lang="en-US" sz="2800" dirty="0"/>
              <a:t>CPU must have some working space (fast access and close to CPU) </a:t>
            </a:r>
          </a:p>
          <a:p>
            <a:r>
              <a:rPr lang="en-US" sz="2800" dirty="0"/>
              <a:t>This space is efficiently used to store intermediate values  </a:t>
            </a:r>
          </a:p>
          <a:p>
            <a:r>
              <a:rPr lang="en-US" sz="2800" dirty="0"/>
              <a:t>The most convenient way to communicate registers is trough common bus system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457200" y="1151208"/>
          <a:ext cx="8001000" cy="526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Bitmap Image" r:id="rId3" imgW="5609524" imgH="5191850" progId="PBrush">
                  <p:embed/>
                </p:oleObj>
              </mc:Choice>
              <mc:Fallback>
                <p:oleObj name="Bitmap Image" r:id="rId3" imgW="5609524" imgH="5191850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51208"/>
                        <a:ext cx="8001000" cy="52695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48400" y="60960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Register organization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Selection of operation</a:t>
            </a:r>
          </a:p>
          <a:p>
            <a:r>
              <a:rPr lang="en-US" sz="2800" dirty="0"/>
              <a:t>An operation is selected by the ALU operation selector (OPR).</a:t>
            </a:r>
          </a:p>
          <a:p>
            <a:r>
              <a:rPr lang="en-US" sz="2800" dirty="0"/>
              <a:t>The result of a micro-operation is directed to a destination register selected by a decoder (SELD).  </a:t>
            </a:r>
          </a:p>
          <a:p>
            <a:r>
              <a:rPr lang="en-US" sz="2800" dirty="0"/>
              <a:t>Control word: The 14 binary selection inputs (3 bits for SELA, 3 for SELB, 3 for SELD, and 5 for OPR)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81328"/>
            <a:ext cx="87630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dirty="0"/>
              <a:t>Format of the control word:</a:t>
            </a:r>
          </a:p>
          <a:p>
            <a:pPr>
              <a:buNone/>
            </a:pPr>
            <a:r>
              <a:rPr lang="en-US" sz="2800" dirty="0"/>
              <a:t>  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Example: R1</a:t>
            </a:r>
            <a:r>
              <a:rPr lang="en-US" sz="2800" dirty="0">
                <a:sym typeface="Wingdings"/>
              </a:rPr>
              <a:t></a:t>
            </a:r>
            <a:r>
              <a:rPr lang="en-US" sz="2800" dirty="0"/>
              <a:t>R2+R3 (01001100110010); 10010 for +</a:t>
            </a:r>
          </a:p>
          <a:p>
            <a:r>
              <a:rPr lang="en-US" sz="2800" dirty="0"/>
              <a:t>1) MUX A selector (</a:t>
            </a:r>
            <a:r>
              <a:rPr lang="en-US" sz="2800" b="1" dirty="0"/>
              <a:t>SELA</a:t>
            </a:r>
            <a:r>
              <a:rPr lang="en-US" sz="2800" dirty="0"/>
              <a:t>): to place the content of R2 into BUS A</a:t>
            </a:r>
          </a:p>
          <a:p>
            <a:r>
              <a:rPr lang="en-US" sz="2800" dirty="0"/>
              <a:t>2) MUX B selector (</a:t>
            </a:r>
            <a:r>
              <a:rPr lang="en-US" sz="2800" b="1" dirty="0"/>
              <a:t>SELB</a:t>
            </a:r>
            <a:r>
              <a:rPr lang="en-US" sz="2800" dirty="0"/>
              <a:t>): to place the content of R3 into BUS B </a:t>
            </a:r>
          </a:p>
          <a:p>
            <a:r>
              <a:rPr lang="en-US" sz="2800" dirty="0"/>
              <a:t>3) ALU operation selector (</a:t>
            </a:r>
            <a:r>
              <a:rPr lang="en-US" sz="2800" b="1" dirty="0"/>
              <a:t>OPR</a:t>
            </a:r>
            <a:r>
              <a:rPr lang="en-US" sz="2800" dirty="0"/>
              <a:t>): to provide the arithmetic addition R2 + R3</a:t>
            </a:r>
          </a:p>
          <a:p>
            <a:r>
              <a:rPr lang="en-US" sz="2800" dirty="0"/>
              <a:t>4) Decoder selector (</a:t>
            </a:r>
            <a:r>
              <a:rPr lang="en-US" sz="2800" b="1" dirty="0"/>
              <a:t>SELD</a:t>
            </a:r>
            <a:r>
              <a:rPr lang="en-US" sz="2800" dirty="0"/>
              <a:t>): to transfer the content of the output bus into R1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graphicFrame>
        <p:nvGraphicFramePr>
          <p:cNvPr id="4098" name="Object 7"/>
          <p:cNvGraphicFramePr>
            <a:graphicFrameLocks noChangeAspect="1"/>
          </p:cNvGraphicFramePr>
          <p:nvPr/>
        </p:nvGraphicFramePr>
        <p:xfrm>
          <a:off x="762000" y="1828800"/>
          <a:ext cx="5981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Bitmap Image" r:id="rId3" imgW="4277322" imgH="600159" progId="PBrush">
                  <p:embed/>
                </p:oleObj>
              </mc:Choice>
              <mc:Fallback>
                <p:oleObj name="Bitmap Image" r:id="rId3" imgW="4277322" imgH="600159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828800"/>
                        <a:ext cx="59817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800" b="1" dirty="0"/>
              <a:t>Pipelining</a:t>
            </a:r>
            <a:endParaRPr lang="en-US" sz="2800" dirty="0"/>
          </a:p>
          <a:p>
            <a:pPr lvl="0"/>
            <a:r>
              <a:rPr lang="en-US" sz="2800" dirty="0"/>
              <a:t>Decomposing a sequential process into </a:t>
            </a:r>
            <a:r>
              <a:rPr lang="en-US" sz="2800" dirty="0" err="1"/>
              <a:t>suboperations</a:t>
            </a:r>
            <a:endParaRPr lang="en-US" sz="2800" dirty="0"/>
          </a:p>
          <a:p>
            <a:pPr lvl="0"/>
            <a:r>
              <a:rPr lang="en-US" sz="2800" dirty="0"/>
              <a:t>Each </a:t>
            </a:r>
            <a:r>
              <a:rPr lang="en-US" sz="2800" dirty="0" err="1"/>
              <a:t>subprocess</a:t>
            </a:r>
            <a:r>
              <a:rPr lang="en-US" sz="2800" dirty="0"/>
              <a:t> is executed in a special dedicated segment concurrently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Example:</a:t>
            </a:r>
          </a:p>
          <a:p>
            <a:r>
              <a:rPr lang="en-US" sz="2800" dirty="0"/>
              <a:t>Multiply and Add Operation: </a:t>
            </a:r>
            <a:br>
              <a:rPr lang="en-US" sz="2800" dirty="0"/>
            </a:br>
            <a:r>
              <a:rPr lang="en-US" sz="2800" dirty="0"/>
              <a:t>A</a:t>
            </a:r>
            <a:r>
              <a:rPr lang="en-US" sz="2800" baseline="-25000" dirty="0"/>
              <a:t>i</a:t>
            </a:r>
            <a:r>
              <a:rPr lang="en-US" sz="2800" dirty="0"/>
              <a:t>*</a:t>
            </a:r>
            <a:r>
              <a:rPr lang="en-US" sz="2800" dirty="0" err="1"/>
              <a:t>B</a:t>
            </a:r>
            <a:r>
              <a:rPr lang="en-US" sz="2800" baseline="-25000" dirty="0" err="1"/>
              <a:t>i</a:t>
            </a:r>
            <a:r>
              <a:rPr lang="en-US" sz="2800" dirty="0" err="1"/>
              <a:t>+C</a:t>
            </a:r>
            <a:r>
              <a:rPr lang="en-US" sz="2800" baseline="-25000" dirty="0" err="1"/>
              <a:t>i</a:t>
            </a:r>
            <a:r>
              <a:rPr lang="en-US" sz="2800" dirty="0"/>
              <a:t> ( for </a:t>
            </a:r>
            <a:r>
              <a:rPr lang="en-US" sz="2800" dirty="0" err="1"/>
              <a:t>i</a:t>
            </a:r>
            <a:r>
              <a:rPr lang="en-US" sz="2800" dirty="0"/>
              <a:t> = 1, 2, …, 7 )</a:t>
            </a:r>
          </a:p>
          <a:p>
            <a:r>
              <a:rPr lang="en-US" sz="2800" dirty="0"/>
              <a:t>3 </a:t>
            </a:r>
            <a:r>
              <a:rPr lang="en-US" sz="2800" dirty="0" err="1"/>
              <a:t>Suboperation</a:t>
            </a:r>
            <a:r>
              <a:rPr lang="en-US" sz="2800" dirty="0"/>
              <a:t> Segment</a:t>
            </a:r>
          </a:p>
          <a:p>
            <a:pPr lvl="1"/>
            <a:r>
              <a:rPr lang="en-US" sz="2400" dirty="0"/>
              <a:t>1): R1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 Ai, R2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 Bi; Input Ai and Bi</a:t>
            </a:r>
          </a:p>
          <a:p>
            <a:pPr lvl="1"/>
            <a:r>
              <a:rPr lang="en-US" sz="2400" dirty="0"/>
              <a:t>2): R3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 R1*R2, R4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 </a:t>
            </a:r>
            <a:r>
              <a:rPr lang="en-US" sz="2400" dirty="0" err="1"/>
              <a:t>Ci</a:t>
            </a:r>
            <a:r>
              <a:rPr lang="en-US" sz="2400" dirty="0"/>
              <a:t>; Multiply and input </a:t>
            </a:r>
            <a:r>
              <a:rPr lang="en-US" sz="2400" dirty="0" err="1"/>
              <a:t>Ci</a:t>
            </a:r>
            <a:endParaRPr lang="en-US" sz="2400" dirty="0"/>
          </a:p>
          <a:p>
            <a:pPr lvl="1"/>
            <a:r>
              <a:rPr lang="en-US" sz="2400" dirty="0"/>
              <a:t>3): R5 </a:t>
            </a:r>
            <a:r>
              <a:rPr lang="en-US" sz="2400" dirty="0">
                <a:sym typeface="Wingdings"/>
              </a:rPr>
              <a:t></a:t>
            </a:r>
            <a:r>
              <a:rPr lang="en-US" sz="2400" dirty="0"/>
              <a:t> R3+R4; Add </a:t>
            </a:r>
            <a:r>
              <a:rPr lang="en-US" sz="2400" dirty="0" err="1"/>
              <a:t>Ci</a:t>
            </a: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Pipelining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143000"/>
            <a:ext cx="6394105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General consideration of pipelining</a:t>
            </a:r>
            <a:endParaRPr lang="en-US" sz="2400" dirty="0"/>
          </a:p>
          <a:p>
            <a:pPr lvl="1"/>
            <a:r>
              <a:rPr lang="en-US" sz="2000" dirty="0"/>
              <a:t>Operation is decomposed into a number of </a:t>
            </a:r>
            <a:r>
              <a:rPr lang="en-US" sz="2000" dirty="0" err="1"/>
              <a:t>suboperations</a:t>
            </a:r>
            <a:endParaRPr lang="en-US" sz="2000" dirty="0"/>
          </a:p>
          <a:p>
            <a:pPr lvl="1"/>
            <a:r>
              <a:rPr lang="en-US" sz="2000" dirty="0"/>
              <a:t>The technique is efficient when the same task is repeated for different data sets</a:t>
            </a:r>
          </a:p>
          <a:p>
            <a:r>
              <a:rPr lang="en-US" sz="2400" dirty="0"/>
              <a:t>The general structure of four-segment pipelining is shown in following figure: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733800"/>
            <a:ext cx="8382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General consideration of pipelining</a:t>
            </a:r>
            <a:endParaRPr lang="en-US" sz="2400" dirty="0"/>
          </a:p>
          <a:p>
            <a:pPr lvl="0"/>
            <a:r>
              <a:rPr lang="en-US" sz="2800" dirty="0"/>
              <a:t>Each operation pass through all of four segments</a:t>
            </a:r>
          </a:p>
          <a:p>
            <a:pPr lvl="0"/>
            <a:r>
              <a:rPr lang="en-US" sz="2800" dirty="0"/>
              <a:t>Section Si performs the </a:t>
            </a:r>
            <a:r>
              <a:rPr lang="en-US" sz="2800" dirty="0" err="1"/>
              <a:t>suboperation</a:t>
            </a:r>
            <a:r>
              <a:rPr lang="en-US" sz="2800" dirty="0"/>
              <a:t> and </a:t>
            </a:r>
            <a:r>
              <a:rPr lang="en-US" sz="2800" dirty="0" err="1"/>
              <a:t>Ri</a:t>
            </a:r>
            <a:r>
              <a:rPr lang="en-US" sz="2800" dirty="0"/>
              <a:t> holds the temporary results</a:t>
            </a:r>
          </a:p>
          <a:p>
            <a:pPr lvl="0"/>
            <a:r>
              <a:rPr lang="en-US" sz="2800" dirty="0"/>
              <a:t>Common clock is used to transfer the data from </a:t>
            </a:r>
            <a:r>
              <a:rPr lang="en-US" sz="2800" dirty="0" err="1"/>
              <a:t>Ri</a:t>
            </a: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Space-time representation</a:t>
            </a:r>
          </a:p>
          <a:p>
            <a:pPr lvl="0"/>
            <a:r>
              <a:rPr lang="en-US" sz="2400" dirty="0"/>
              <a:t>Pipeline can be represented as space-time diagram</a:t>
            </a:r>
          </a:p>
          <a:p>
            <a:pPr lvl="0"/>
            <a:r>
              <a:rPr lang="en-US" sz="2400" dirty="0"/>
              <a:t>Shows the segment utilization as a function of time</a:t>
            </a:r>
          </a:p>
          <a:p>
            <a:pPr lvl="1"/>
            <a:r>
              <a:rPr lang="en-US" sz="2000" dirty="0"/>
              <a:t>The space-time representation of a four-segment pipelining system: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184" y="3505200"/>
            <a:ext cx="824921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The diagram shows six tasks T1 through T6 executed in four segments</a:t>
            </a:r>
          </a:p>
          <a:p>
            <a:pPr lvl="0"/>
            <a:r>
              <a:rPr lang="en-US" sz="2400" dirty="0"/>
              <a:t>The speedup of pipeline system over </a:t>
            </a:r>
            <a:r>
              <a:rPr lang="en-US" sz="2400" dirty="0" err="1"/>
              <a:t>nonpipeline</a:t>
            </a:r>
            <a:r>
              <a:rPr lang="en-US" sz="2400" dirty="0"/>
              <a:t> is defined as –</a:t>
            </a:r>
          </a:p>
          <a:p>
            <a:endParaRPr lang="en-US" sz="2800" dirty="0"/>
          </a:p>
          <a:p>
            <a:r>
              <a:rPr lang="en-US" sz="2800" dirty="0"/>
              <a:t>where</a:t>
            </a:r>
          </a:p>
          <a:p>
            <a:pPr lvl="3"/>
            <a:r>
              <a:rPr lang="en-US" sz="2000" dirty="0"/>
              <a:t>n : </a:t>
            </a:r>
            <a:r>
              <a:rPr lang="en-US" sz="2000" i="1" dirty="0"/>
              <a:t>task number</a:t>
            </a:r>
            <a:r>
              <a:rPr lang="en-US" sz="2000" dirty="0"/>
              <a:t> (6)</a:t>
            </a:r>
          </a:p>
          <a:p>
            <a:pPr lvl="3"/>
            <a:r>
              <a:rPr lang="en-US" sz="2000" dirty="0" err="1"/>
              <a:t>t</a:t>
            </a:r>
            <a:r>
              <a:rPr lang="en-US" sz="2000" baseline="-25000" dirty="0" err="1"/>
              <a:t>p</a:t>
            </a:r>
            <a:r>
              <a:rPr lang="en-US" sz="2000" dirty="0"/>
              <a:t> : </a:t>
            </a:r>
            <a:r>
              <a:rPr lang="en-US" sz="2000" i="1" dirty="0"/>
              <a:t>clock cycle time</a:t>
            </a:r>
            <a:r>
              <a:rPr lang="en-US" sz="2000" dirty="0"/>
              <a:t> </a:t>
            </a:r>
          </a:p>
          <a:p>
            <a:pPr lvl="3"/>
            <a:r>
              <a:rPr lang="en-US" sz="2000" dirty="0" err="1"/>
              <a:t>t</a:t>
            </a:r>
            <a:r>
              <a:rPr lang="en-US" sz="2000" baseline="-25000" dirty="0" err="1"/>
              <a:t>n</a:t>
            </a:r>
            <a:r>
              <a:rPr lang="en-US" sz="2000" dirty="0"/>
              <a:t> : </a:t>
            </a:r>
            <a:r>
              <a:rPr lang="en-US" sz="2000" i="1" dirty="0"/>
              <a:t>time to complete each task in </a:t>
            </a:r>
            <a:r>
              <a:rPr lang="en-US" sz="2000" i="1" dirty="0" err="1"/>
              <a:t>nonpipeline</a:t>
            </a:r>
            <a:r>
              <a:rPr lang="en-US" sz="2000" dirty="0"/>
              <a:t>(4t</a:t>
            </a:r>
            <a:r>
              <a:rPr lang="en-US" sz="2000" baseline="-25000" dirty="0"/>
              <a:t>p</a:t>
            </a:r>
            <a:r>
              <a:rPr lang="en-US" sz="2000" dirty="0"/>
              <a:t>)</a:t>
            </a:r>
          </a:p>
          <a:p>
            <a:pPr lvl="3"/>
            <a:r>
              <a:rPr lang="en-US" sz="2000" dirty="0"/>
              <a:t>k : </a:t>
            </a:r>
            <a:r>
              <a:rPr lang="en-US" sz="2000" i="1" dirty="0"/>
              <a:t>segment number</a:t>
            </a:r>
            <a:r>
              <a:rPr lang="en-US" sz="2000" dirty="0"/>
              <a:t> (4)</a:t>
            </a:r>
            <a:endParaRPr lang="en-US" sz="2800" dirty="0"/>
          </a:p>
          <a:p>
            <a:pPr lvl="1"/>
            <a:r>
              <a:rPr lang="en-US" sz="2400" dirty="0"/>
              <a:t>hence, S = </a:t>
            </a:r>
            <a:r>
              <a:rPr lang="en-US" sz="2400" dirty="0" err="1"/>
              <a:t>n•t</a:t>
            </a:r>
            <a:r>
              <a:rPr lang="en-US" sz="2400" baseline="-25000" dirty="0" err="1"/>
              <a:t>n</a:t>
            </a:r>
            <a:r>
              <a:rPr lang="en-US" sz="2400" dirty="0"/>
              <a:t>/( k + n - 1 )•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r>
              <a:rPr lang="en-US" sz="2400" dirty="0"/>
              <a:t> = 6•4t</a:t>
            </a:r>
            <a:r>
              <a:rPr lang="en-US" sz="2400" baseline="-25000" dirty="0"/>
              <a:t>p</a:t>
            </a:r>
            <a:r>
              <a:rPr lang="en-US" sz="2400" dirty="0"/>
              <a:t>/(4+6-1)•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= 24 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r>
              <a:rPr lang="en-US" sz="2400" dirty="0"/>
              <a:t> / 9 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r>
              <a:rPr lang="en-US" sz="2400" dirty="0"/>
              <a:t> = 2.67</a:t>
            </a:r>
          </a:p>
          <a:p>
            <a:pPr lvl="1"/>
            <a:r>
              <a:rPr lang="en-US" sz="2400" dirty="0"/>
              <a:t> If n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</a:t>
            </a:r>
            <a:r>
              <a:rPr lang="en-US" sz="2400" dirty="0"/>
              <a:t>; S=</a:t>
            </a:r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/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endParaRPr lang="en-US" sz="2400" dirty="0"/>
          </a:p>
          <a:p>
            <a:pPr lvl="1"/>
            <a:r>
              <a:rPr lang="en-US" sz="2400" dirty="0"/>
              <a:t>So, </a:t>
            </a:r>
            <a:r>
              <a:rPr lang="en-US" sz="2400" dirty="0" err="1"/>
              <a:t>Nonpipline</a:t>
            </a:r>
            <a:r>
              <a:rPr lang="en-US" sz="2400" dirty="0"/>
              <a:t> (</a:t>
            </a:r>
            <a:r>
              <a:rPr lang="en-US" sz="2400" dirty="0" err="1"/>
              <a:t>t</a:t>
            </a:r>
            <a:r>
              <a:rPr lang="en-US" sz="2400" baseline="-25000" dirty="0" err="1"/>
              <a:t>n</a:t>
            </a:r>
            <a:r>
              <a:rPr lang="en-US" sz="2400" dirty="0"/>
              <a:t>)=Pipeline (k.t</a:t>
            </a:r>
            <a:r>
              <a:rPr lang="en-US" sz="2400" baseline="-25000" dirty="0"/>
              <a:t>p</a:t>
            </a:r>
            <a:r>
              <a:rPr lang="en-US" sz="2400" dirty="0"/>
              <a:t>) </a:t>
            </a:r>
            <a:r>
              <a:rPr lang="en-US" sz="2400" dirty="0">
                <a:sym typeface="Wingdings"/>
              </a:rPr>
              <a:t></a:t>
            </a:r>
            <a:r>
              <a:rPr lang="en-US" sz="2400" dirty="0"/>
              <a:t> S=k.t</a:t>
            </a:r>
            <a:r>
              <a:rPr lang="en-US" sz="2400" baseline="-25000" dirty="0"/>
              <a:t>p</a:t>
            </a:r>
            <a:r>
              <a:rPr lang="en-US" sz="2400" dirty="0"/>
              <a:t>/</a:t>
            </a:r>
            <a:r>
              <a:rPr lang="en-US" sz="2400" dirty="0" err="1"/>
              <a:t>t</a:t>
            </a:r>
            <a:r>
              <a:rPr lang="en-US" sz="2400" baseline="-25000" dirty="0" err="1"/>
              <a:t>p</a:t>
            </a:r>
            <a:r>
              <a:rPr lang="en-US" sz="2400" dirty="0"/>
              <a:t>=k</a:t>
            </a:r>
          </a:p>
          <a:p>
            <a:pPr lvl="0"/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399" y="2438400"/>
            <a:ext cx="3101009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Instruction Pipeline</a:t>
            </a:r>
            <a:endParaRPr lang="en-US" sz="2400" dirty="0"/>
          </a:p>
          <a:p>
            <a:r>
              <a:rPr lang="en-US" sz="2400" dirty="0"/>
              <a:t>The computer needs to process each instruction with the following sequence of steps:</a:t>
            </a:r>
          </a:p>
          <a:p>
            <a:pPr lvl="1"/>
            <a:r>
              <a:rPr lang="en-US" sz="2400" dirty="0"/>
              <a:t>1) Fetch the instruction from memory</a:t>
            </a:r>
          </a:p>
          <a:p>
            <a:pPr lvl="1"/>
            <a:r>
              <a:rPr lang="en-US" sz="2400" dirty="0"/>
              <a:t>2) Decode the instruction</a:t>
            </a:r>
          </a:p>
          <a:p>
            <a:pPr lvl="1"/>
            <a:r>
              <a:rPr lang="en-US" sz="2400" dirty="0"/>
              <a:t>3) Calculate the effective address</a:t>
            </a:r>
          </a:p>
          <a:p>
            <a:pPr lvl="1"/>
            <a:r>
              <a:rPr lang="en-US" sz="2400" dirty="0"/>
              <a:t>4) Fetch the operands from memory</a:t>
            </a:r>
          </a:p>
          <a:p>
            <a:pPr lvl="1"/>
            <a:r>
              <a:rPr lang="en-US" sz="2400" dirty="0"/>
              <a:t>5) Execute the instruction</a:t>
            </a:r>
          </a:p>
          <a:p>
            <a:pPr lvl="1"/>
            <a:r>
              <a:rPr lang="en-US" sz="2400" dirty="0"/>
              <a:t>6) Store the result in the proper place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i="1" dirty="0"/>
              <a:t>Example</a:t>
            </a:r>
            <a:r>
              <a:rPr lang="en-US" sz="2000" dirty="0"/>
              <a:t>: Four-segment Instruction Pipeline</a:t>
            </a:r>
          </a:p>
          <a:p>
            <a:r>
              <a:rPr lang="en-US" sz="2000" dirty="0"/>
              <a:t>The above six steps can be performed with the following Four-segment CPU pipeline:</a:t>
            </a:r>
            <a:r>
              <a:rPr lang="en-US" sz="2000" b="1" i="1" dirty="0"/>
              <a:t>	</a:t>
            </a:r>
            <a:endParaRPr lang="en-US" sz="2000" dirty="0"/>
          </a:p>
          <a:p>
            <a:r>
              <a:rPr lang="en-US" sz="2000" dirty="0"/>
              <a:t>1) </a:t>
            </a:r>
            <a:r>
              <a:rPr lang="en-US" sz="2000" b="1" dirty="0"/>
              <a:t>FI</a:t>
            </a:r>
            <a:r>
              <a:rPr lang="en-US" sz="2000" dirty="0"/>
              <a:t>: Instruction Fetch</a:t>
            </a:r>
          </a:p>
          <a:p>
            <a:r>
              <a:rPr lang="en-US" sz="2000" dirty="0"/>
              <a:t>2) </a:t>
            </a:r>
            <a:r>
              <a:rPr lang="en-US" sz="2000" b="1" dirty="0"/>
              <a:t>DA</a:t>
            </a:r>
            <a:r>
              <a:rPr lang="en-US" sz="2000" dirty="0"/>
              <a:t>: Decode Instruction &amp; calculate EA</a:t>
            </a:r>
          </a:p>
          <a:p>
            <a:r>
              <a:rPr lang="en-US" sz="2000" dirty="0"/>
              <a:t>3) </a:t>
            </a:r>
            <a:r>
              <a:rPr lang="en-US" sz="2000" b="1" dirty="0"/>
              <a:t>FO</a:t>
            </a:r>
            <a:r>
              <a:rPr lang="en-US" sz="2000" dirty="0"/>
              <a:t>: Operand Fetch</a:t>
            </a:r>
          </a:p>
          <a:p>
            <a:r>
              <a:rPr lang="en-US" sz="2000" dirty="0"/>
              <a:t>4) </a:t>
            </a:r>
            <a:r>
              <a:rPr lang="en-US" sz="2000" b="1" dirty="0"/>
              <a:t>EX</a:t>
            </a:r>
            <a:r>
              <a:rPr lang="en-US" sz="2000" dirty="0"/>
              <a:t>: Execution</a:t>
            </a:r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Processing Unit</a:t>
            </a:r>
          </a:p>
        </p:txBody>
      </p:sp>
      <p:pic>
        <p:nvPicPr>
          <p:cNvPr id="10242" name="Picture 2" descr="闒粀闀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199" y="3962400"/>
            <a:ext cx="6477001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438864-B85C-4A2C-87BF-A84EE409C4DA}"/>
</file>

<file path=customXml/itemProps2.xml><?xml version="1.0" encoding="utf-8"?>
<ds:datastoreItem xmlns:ds="http://schemas.openxmlformats.org/officeDocument/2006/customXml" ds:itemID="{3658D869-DB8F-4DF8-B47B-39CEB5A1B085}"/>
</file>

<file path=customXml/itemProps3.xml><?xml version="1.0" encoding="utf-8"?>
<ds:datastoreItem xmlns:ds="http://schemas.openxmlformats.org/officeDocument/2006/customXml" ds:itemID="{7A689CA5-E548-470A-9DCB-6AD1819240A5}"/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690</TotalTime>
  <Words>535</Words>
  <Application>Microsoft Office PowerPoint</Application>
  <PresentationFormat>On-screen Show (4:3)</PresentationFormat>
  <Paragraphs>106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Lucida Sans Unicode</vt:lpstr>
      <vt:lpstr>Symbol</vt:lpstr>
      <vt:lpstr>Verdana</vt:lpstr>
      <vt:lpstr>Wingdings</vt:lpstr>
      <vt:lpstr>Wingdings 2</vt:lpstr>
      <vt:lpstr>Wingdings 3</vt:lpstr>
      <vt:lpstr>Concourse</vt:lpstr>
      <vt:lpstr>Bitmap Image</vt:lpstr>
      <vt:lpstr>Computer architecture  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  <vt:lpstr>Processing Unit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architecture and Organization  Introduction</dc:title>
  <dc:creator>Khadam</dc:creator>
  <cp:lastModifiedBy>DELL</cp:lastModifiedBy>
  <cp:revision>58</cp:revision>
  <dcterms:created xsi:type="dcterms:W3CDTF">2012-10-13T14:30:17Z</dcterms:created>
  <dcterms:modified xsi:type="dcterms:W3CDTF">2025-08-27T05:20:27Z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2024-09-26T14:16:27Z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740a77a5-71a7-4a26-9daa-1544ddf790a1</vt:lpwstr>
  </property>
  <property fmtid="{D5CDD505-2E9C-101B-9397-08002B2CF9AE}" pid="7" name="MSIP_Label_defa4170-0d19-0005-0004-bc88714345d2_ActionId">
    <vt:lpwstr>e94b70a8-2e47-49bf-af96-bb50bd7b9cc7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0x010100DA4C64532606B24FAB5D656F866C042E</vt:lpwstr>
  </property>
</Properties>
</file>