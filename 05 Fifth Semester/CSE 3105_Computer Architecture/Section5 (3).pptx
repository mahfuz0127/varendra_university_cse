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59" r:id="rId8"/>
    <p:sldId id="261" r:id="rId9"/>
    <p:sldId id="260" r:id="rId10"/>
    <p:sldId id="263" r:id="rId11"/>
    <p:sldId id="264" r:id="rId12"/>
    <p:sldId id="265" r:id="rId13"/>
    <p:sldId id="266" r:id="rId14"/>
    <p:sldId id="267" r:id="rId15"/>
    <p:sldId id="262" r:id="rId16"/>
    <p:sldId id="268" r:id="rId17"/>
    <p:sldId id="269" r:id="rId18"/>
    <p:sldId id="270" r:id="rId19"/>
    <p:sldId id="271" r:id="rId20"/>
    <p:sldId id="275" r:id="rId21"/>
    <p:sldId id="276" r:id="rId22"/>
    <p:sldId id="278" r:id="rId23"/>
    <p:sldId id="279" r:id="rId24"/>
    <p:sldId id="280" r:id="rId25"/>
    <p:sldId id="277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72" r:id="rId34"/>
    <p:sldId id="273" r:id="rId35"/>
    <p:sldId id="274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B63FAE-96B5-6ABE-75EF-F45BD9B426EF}" v="1" dt="2025-12-01T12:00:17.4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MONIR AHMMED" userId="S::232311192@vu.edu.bd::bf22f1f5-1847-44c0-9477-651f7edfe863" providerId="AD" clId="Web-{E9B63FAE-96B5-6ABE-75EF-F45BD9B426EF}"/>
    <pc:docChg chg="modSld">
      <pc:chgData name="MD. MONIR AHMMED" userId="S::232311192@vu.edu.bd::bf22f1f5-1847-44c0-9477-651f7edfe863" providerId="AD" clId="Web-{E9B63FAE-96B5-6ABE-75EF-F45BD9B426EF}" dt="2025-12-01T12:00:17.421" v="0" actId="1076"/>
      <pc:docMkLst>
        <pc:docMk/>
      </pc:docMkLst>
      <pc:sldChg chg="modSp">
        <pc:chgData name="MD. MONIR AHMMED" userId="S::232311192@vu.edu.bd::bf22f1f5-1847-44c0-9477-651f7edfe863" providerId="AD" clId="Web-{E9B63FAE-96B5-6ABE-75EF-F45BD9B426EF}" dt="2025-12-01T12:00:17.421" v="0" actId="1076"/>
        <pc:sldMkLst>
          <pc:docMk/>
          <pc:sldMk cId="1012316790" sldId="277"/>
        </pc:sldMkLst>
        <pc:picChg chg="mod">
          <ac:chgData name="MD. MONIR AHMMED" userId="S::232311192@vu.edu.bd::bf22f1f5-1847-44c0-9477-651f7edfe863" providerId="AD" clId="Web-{E9B63FAE-96B5-6ABE-75EF-F45BD9B426EF}" dt="2025-12-01T12:00:17.421" v="0" actId="1076"/>
          <ac:picMkLst>
            <pc:docMk/>
            <pc:sldMk cId="1012316790" sldId="277"/>
            <ac:picMk id="5" creationId="{AAA44008-3FBD-8C1D-47CD-08BC6ED975F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3ABF3EEB-61C0-4FAC-BA99-3020254D2E4D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27432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Computer architecture and Organization</a:t>
            </a:r>
            <a:br>
              <a:rPr lang="en-US" dirty="0"/>
            </a:br>
            <a:br>
              <a:rPr lang="en-US" dirty="0"/>
            </a:br>
            <a:r>
              <a:rPr lang="en-US" sz="3600" dirty="0"/>
              <a:t>Memory Organization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Memory Hierarchy</a:t>
            </a:r>
            <a:endParaRPr lang="en-US" dirty="0"/>
          </a:p>
          <a:p>
            <a:pPr lvl="1"/>
            <a:r>
              <a:rPr lang="en-US" dirty="0"/>
              <a:t>Arrangement of different types of memories based on accessibility in computer system</a:t>
            </a:r>
          </a:p>
          <a:p>
            <a:pPr lvl="1"/>
            <a:r>
              <a:rPr lang="en-US" sz="2400" dirty="0"/>
              <a:t>Main Memory: memory unit that communicates directly with the CPU (RAM)</a:t>
            </a:r>
          </a:p>
          <a:p>
            <a:pPr lvl="1"/>
            <a:r>
              <a:rPr lang="en-US" sz="2400" dirty="0"/>
              <a:t>Auxiliary Memory: device that provide backup storage (Disk Drives)</a:t>
            </a:r>
          </a:p>
          <a:p>
            <a:pPr lvl="1"/>
            <a:r>
              <a:rPr lang="en-US" sz="2400" dirty="0"/>
              <a:t>Cache Memory: special very-high-speed memory to increase the processing speed</a:t>
            </a:r>
            <a:endParaRPr lang="en-US" sz="1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Memory Hierarchy</a:t>
            </a:r>
            <a:endParaRPr lang="en-US" dirty="0"/>
          </a:p>
          <a:p>
            <a:pPr lvl="0"/>
            <a:r>
              <a:rPr lang="en-US" sz="2400" dirty="0"/>
              <a:t>Order according to speed: Cache&gt;Main Memory&gt;Auxiliary memory</a:t>
            </a:r>
          </a:p>
          <a:p>
            <a:pPr lvl="0"/>
            <a:r>
              <a:rPr lang="en-US" sz="2400" dirty="0"/>
              <a:t>Order according to size: Cache&lt;Main memory&lt;Auxiliary memory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505200"/>
            <a:ext cx="6172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Main Memory</a:t>
            </a:r>
            <a:endParaRPr lang="en-US" dirty="0"/>
          </a:p>
          <a:p>
            <a:r>
              <a:rPr lang="en-US" dirty="0"/>
              <a:t>Main memory is the only one directly accessible to the CPU. </a:t>
            </a:r>
          </a:p>
          <a:p>
            <a:pPr lvl="0"/>
            <a:r>
              <a:rPr lang="en-US" dirty="0"/>
              <a:t>The CPU continuously reads instructions stored there and executes them as required. </a:t>
            </a:r>
          </a:p>
          <a:p>
            <a:pPr lvl="0"/>
            <a:r>
              <a:rPr lang="en-US" dirty="0"/>
              <a:t>Any data actively operated on is also stored there in uniform manner. </a:t>
            </a:r>
          </a:p>
          <a:p>
            <a:pPr lvl="0"/>
            <a:r>
              <a:rPr lang="en-US" dirty="0"/>
              <a:t>RAM (Random access memory) and ROM (Read only memory) are treated as main memory.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b="1" dirty="0"/>
              <a:t>ROM</a:t>
            </a:r>
            <a:endParaRPr lang="en-US" dirty="0"/>
          </a:p>
          <a:p>
            <a:pPr lvl="0"/>
            <a:r>
              <a:rPr lang="en-GB" sz="2400" dirty="0"/>
              <a:t>Stores a program that helps start up the computer </a:t>
            </a:r>
            <a:endParaRPr lang="en-US" sz="2400" dirty="0"/>
          </a:p>
          <a:p>
            <a:pPr lvl="0"/>
            <a:r>
              <a:rPr lang="en-GB" sz="2400" dirty="0"/>
              <a:t>ROM is non-volatile (holds programs and data even after power off)</a:t>
            </a:r>
            <a:endParaRPr lang="en-US" sz="2400" dirty="0"/>
          </a:p>
          <a:p>
            <a:pPr lvl="0"/>
            <a:r>
              <a:rPr lang="en-GB" sz="2400" dirty="0"/>
              <a:t>ROM is also direct access but only read</a:t>
            </a:r>
            <a:endParaRPr lang="en-US" sz="2400" dirty="0"/>
          </a:p>
          <a:p>
            <a:pPr lvl="0"/>
            <a:r>
              <a:rPr lang="en-GB" sz="2400" dirty="0"/>
              <a:t>The contents of ROM are fixed at the time of manufacture  (a typical ROM chip)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4495800"/>
            <a:ext cx="56896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RAM </a:t>
            </a:r>
            <a:endParaRPr lang="en-US" dirty="0"/>
          </a:p>
          <a:p>
            <a:pPr lvl="0"/>
            <a:r>
              <a:rPr lang="en-GB" dirty="0"/>
              <a:t>Its purpose is to temporarily hold programs and data for processing. </a:t>
            </a:r>
            <a:endParaRPr lang="en-US" dirty="0"/>
          </a:p>
          <a:p>
            <a:pPr lvl="0"/>
            <a:r>
              <a:rPr lang="en-GB" dirty="0"/>
              <a:t>Described as being volatile (all data are lost when power off)</a:t>
            </a:r>
            <a:endParaRPr lang="en-US" dirty="0"/>
          </a:p>
          <a:p>
            <a:pPr lvl="0"/>
            <a:r>
              <a:rPr lang="en-GB" dirty="0"/>
              <a:t>It is direct access as it can be both written to or read from in any order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Types of RAM</a:t>
            </a:r>
            <a:endParaRPr lang="en-US" dirty="0"/>
          </a:p>
          <a:p>
            <a:r>
              <a:rPr lang="en-US" sz="2000" dirty="0"/>
              <a:t>Dynamic RAM (DRAM) </a:t>
            </a:r>
          </a:p>
          <a:p>
            <a:r>
              <a:rPr lang="en-US" sz="2000" dirty="0"/>
              <a:t>The RAM which requires the stored information to be periodically re-written, or refreshed, otherwise it would vanish.</a:t>
            </a:r>
          </a:p>
          <a:p>
            <a:r>
              <a:rPr lang="en-US" sz="2000" dirty="0"/>
              <a:t>Static RAM (SRAM)</a:t>
            </a:r>
          </a:p>
          <a:p>
            <a:r>
              <a:rPr lang="en-US" sz="2000" dirty="0"/>
              <a:t>The RAM which never needs to be refreshed as long as power is applied. (It loses its content if power is removed).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4038600"/>
            <a:ext cx="8077200" cy="2076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Memory address map</a:t>
            </a:r>
            <a:endParaRPr lang="en-US" dirty="0"/>
          </a:p>
          <a:p>
            <a:r>
              <a:rPr lang="en-US" dirty="0"/>
              <a:t>Memory Address Map is a representation of assigned address space for each chip</a:t>
            </a:r>
          </a:p>
          <a:p>
            <a:pPr lvl="0"/>
            <a:r>
              <a:rPr lang="en-US" dirty="0"/>
              <a:t>Assume that a computer system needs 512 bytes of RAM and 512 bytes of ROM</a:t>
            </a:r>
          </a:p>
          <a:p>
            <a:pPr lvl="0"/>
            <a:r>
              <a:rPr lang="en-US" dirty="0"/>
              <a:t>The RAM have 128 byte and need seven address lines, where the ROM have 512 bytes and need 9 address lines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Memory address map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pic>
        <p:nvPicPr>
          <p:cNvPr id="11266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057400"/>
            <a:ext cx="8079253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Memory Connection with CPU</a:t>
            </a:r>
            <a:endParaRPr lang="en-US" dirty="0"/>
          </a:p>
          <a:p>
            <a:pPr lvl="0"/>
            <a:r>
              <a:rPr lang="en-US" dirty="0"/>
              <a:t>The hexadecimal address assigns a range of hexadecimal equivalent address for each chip </a:t>
            </a:r>
          </a:p>
          <a:p>
            <a:pPr lvl="0"/>
            <a:r>
              <a:rPr lang="en-US" dirty="0"/>
              <a:t>Line 8 and 9 represent four distinct binary combination to specify which RAM we chose </a:t>
            </a:r>
          </a:p>
          <a:p>
            <a:pPr lvl="0"/>
            <a:r>
              <a:rPr lang="en-US" dirty="0"/>
              <a:t>When line 10 is 0, CPU selects a RAM. And when it’s 1, it selects the ROM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 vert="vert270">
            <a:normAutofit/>
          </a:bodyPr>
          <a:lstStyle/>
          <a:p>
            <a:pPr>
              <a:buNone/>
            </a:pPr>
            <a:r>
              <a:rPr lang="en-US" b="1" dirty="0"/>
              <a:t>Memory Connection with CPU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1" y="1143000"/>
            <a:ext cx="7620000" cy="568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599" y="1600200"/>
            <a:ext cx="5816259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Bootstrap Loader</a:t>
            </a:r>
          </a:p>
          <a:p>
            <a:r>
              <a:rPr lang="en-US" sz="2400" dirty="0"/>
              <a:t>A program whose </a:t>
            </a:r>
            <a:br>
              <a:rPr lang="en-US" sz="2400" dirty="0"/>
            </a:br>
            <a:r>
              <a:rPr lang="en-US" sz="2400" dirty="0"/>
              <a:t>function is to start </a:t>
            </a:r>
            <a:br>
              <a:rPr lang="en-US" sz="2400" dirty="0"/>
            </a:br>
            <a:r>
              <a:rPr lang="en-US" sz="2400" dirty="0"/>
              <a:t>the computer </a:t>
            </a:r>
            <a:br>
              <a:rPr lang="en-US" sz="2400" dirty="0"/>
            </a:br>
            <a:r>
              <a:rPr lang="en-US" sz="2400" dirty="0"/>
              <a:t>software operating </a:t>
            </a:r>
            <a:br>
              <a:rPr lang="en-US" sz="2400" dirty="0"/>
            </a:br>
            <a:r>
              <a:rPr lang="en-US" sz="2400" dirty="0"/>
              <a:t>when power is </a:t>
            </a:r>
            <a:br>
              <a:rPr lang="en-US" sz="2400" dirty="0"/>
            </a:br>
            <a:r>
              <a:rPr lang="en-US" sz="2400" dirty="0"/>
              <a:t>turned 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Cache memory</a:t>
            </a:r>
            <a:endParaRPr lang="en-US" dirty="0"/>
          </a:p>
          <a:p>
            <a:pPr lvl="0"/>
            <a:r>
              <a:rPr lang="en-GB" dirty="0"/>
              <a:t>Small amount of faster memory (SRAM) to speed up computer</a:t>
            </a:r>
            <a:endParaRPr lang="en-US" dirty="0"/>
          </a:p>
          <a:p>
            <a:pPr lvl="0"/>
            <a:r>
              <a:rPr lang="en-GB" dirty="0"/>
              <a:t>Level 1 cache is built within the CPU (internal)</a:t>
            </a:r>
            <a:endParaRPr lang="en-US" dirty="0"/>
          </a:p>
          <a:p>
            <a:pPr lvl="0"/>
            <a:r>
              <a:rPr lang="en-GB" dirty="0"/>
              <a:t>Level 2 cache may be on chip or nearby (external)</a:t>
            </a:r>
            <a:endParaRPr lang="en-US" dirty="0"/>
          </a:p>
          <a:p>
            <a:pPr lvl="0"/>
            <a:r>
              <a:rPr lang="en-GB" dirty="0"/>
              <a:t>Faster for CPU to access than main memory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b="1" dirty="0"/>
              <a:t>Cache performance</a:t>
            </a:r>
          </a:p>
          <a:p>
            <a:r>
              <a:rPr lang="en-GB" dirty="0"/>
              <a:t>Defined as </a:t>
            </a:r>
            <a:r>
              <a:rPr lang="en-GB" i="1" dirty="0"/>
              <a:t>hit ratio</a:t>
            </a:r>
            <a:r>
              <a:rPr lang="en-GB" dirty="0"/>
              <a:t> </a:t>
            </a:r>
          </a:p>
          <a:p>
            <a:r>
              <a:rPr lang="en-GB" dirty="0"/>
              <a:t>When the CPU refers to memory and finds the word in cache, it is called </a:t>
            </a:r>
            <a:r>
              <a:rPr lang="en-GB" i="1" dirty="0"/>
              <a:t>hit</a:t>
            </a:r>
            <a:r>
              <a:rPr lang="en-GB" dirty="0"/>
              <a:t>; </a:t>
            </a:r>
          </a:p>
          <a:p>
            <a:r>
              <a:rPr lang="en-GB" dirty="0"/>
              <a:t>If the word is not found in cache it counts </a:t>
            </a:r>
            <a:r>
              <a:rPr lang="en-GB" i="1" dirty="0"/>
              <a:t>miss</a:t>
            </a:r>
            <a:r>
              <a:rPr lang="en-GB" dirty="0"/>
              <a:t>.</a:t>
            </a:r>
            <a:endParaRPr lang="en-US" dirty="0"/>
          </a:p>
          <a:p>
            <a:r>
              <a:rPr lang="en-GB" dirty="0"/>
              <a:t>The hit ratio is defined as:  </a:t>
            </a:r>
            <a:br>
              <a:rPr lang="en-GB" dirty="0"/>
            </a:br>
            <a:r>
              <a:rPr lang="en-GB" i="1" dirty="0"/>
              <a:t>hit ratio</a:t>
            </a:r>
            <a:r>
              <a:rPr lang="en-GB" dirty="0"/>
              <a:t>=</a:t>
            </a:r>
            <a:r>
              <a:rPr lang="en-GB" i="1" dirty="0"/>
              <a:t>hit</a:t>
            </a:r>
            <a:r>
              <a:rPr lang="en-GB" dirty="0"/>
              <a:t>/(</a:t>
            </a:r>
            <a:r>
              <a:rPr lang="en-GB" i="1" dirty="0" err="1"/>
              <a:t>hit</a:t>
            </a:r>
            <a:r>
              <a:rPr lang="en-GB" dirty="0" err="1"/>
              <a:t>+</a:t>
            </a:r>
            <a:r>
              <a:rPr lang="en-GB" i="1" dirty="0" err="1"/>
              <a:t>miss</a:t>
            </a:r>
            <a:r>
              <a:rPr lang="en-GB" dirty="0"/>
              <a:t>).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b="1" dirty="0"/>
              <a:t>Factors of Cache performance</a:t>
            </a:r>
          </a:p>
          <a:p>
            <a:r>
              <a:rPr lang="en-US" dirty="0"/>
              <a:t>Cache size</a:t>
            </a:r>
          </a:p>
          <a:p>
            <a:r>
              <a:rPr lang="en-US" dirty="0"/>
              <a:t>Mapping method: associative, direct, set-associative</a:t>
            </a:r>
          </a:p>
          <a:p>
            <a:r>
              <a:rPr lang="en-US" dirty="0"/>
              <a:t>Replace algorithm: LRU, LFU, FIFO</a:t>
            </a:r>
          </a:p>
          <a:p>
            <a:r>
              <a:rPr lang="en-US" dirty="0"/>
              <a:t>Write policy: write-through, write-back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Cache Replacement Algorithm</a:t>
            </a:r>
            <a:endParaRPr lang="ko-KR" altLang="en-US" b="1" dirty="0"/>
          </a:p>
          <a:p>
            <a:r>
              <a:rPr lang="en-US" sz="2400" dirty="0"/>
              <a:t>LRU (Least Recently Used)</a:t>
            </a:r>
            <a:endParaRPr lang="ko-KR" altLang="en-US" sz="2400" dirty="0"/>
          </a:p>
          <a:p>
            <a:r>
              <a:rPr lang="en-US" sz="2400" dirty="0"/>
              <a:t>LFU (Least Frequently Used)</a:t>
            </a:r>
            <a:endParaRPr lang="ko-KR" altLang="en-US" sz="2400" dirty="0"/>
          </a:p>
          <a:p>
            <a:r>
              <a:rPr lang="en-US" sz="2400" dirty="0"/>
              <a:t>FIFO (First-In First-Out) </a:t>
            </a:r>
          </a:p>
          <a:p>
            <a:pPr>
              <a:buNone/>
            </a:pPr>
            <a:r>
              <a:rPr lang="en-US" sz="2400" b="1" dirty="0"/>
              <a:t>Writing to Cache</a:t>
            </a:r>
          </a:p>
          <a:p>
            <a:r>
              <a:rPr lang="en-US" sz="2400" dirty="0"/>
              <a:t>Write-through: Cache write </a:t>
            </a:r>
            <a:r>
              <a:rPr lang="en-US" altLang="ko-KR" sz="2400" dirty="0"/>
              <a:t>and </a:t>
            </a:r>
            <a:r>
              <a:rPr lang="en-US" sz="2400" dirty="0"/>
              <a:t>main memory</a:t>
            </a:r>
            <a:endParaRPr lang="en-US" altLang="ko-KR" sz="2400" dirty="0"/>
          </a:p>
          <a:p>
            <a:r>
              <a:rPr lang="en-US" altLang="ko-KR" sz="2400" dirty="0"/>
              <a:t>Write-back: Cache write and set flag to indicate the last writing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1053E-27E9-C782-4D67-E7ECFED95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906CB-8E30-4D6F-D0BD-24A300837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Consider the page reference string of size 12: 1, 2, 3, 4, 5, 1, 3,1, 6, 3, 2, 3 with frame size 4(i.e. maximum 4 pages in a frame).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0A045E-BF23-573C-10F7-79C24ED3F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First-In First-Out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1568C6-4361-1086-E88D-6CFEB9D7B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09800"/>
            <a:ext cx="8686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13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0B6D-E71A-6A7C-2AE7-A984445C2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A67E2-A207-6940-CE88-CE0C173BF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b="1" dirty="0"/>
              <a:t>Total Page Fault = 9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Page Fault ratio = total miss/total possible cases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Page Fault ratio = 9/12</a:t>
            </a: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CE7979-587B-B0A9-ED59-5FE56ADAF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First-In First-Out</a:t>
            </a:r>
          </a:p>
        </p:txBody>
      </p:sp>
    </p:spTree>
    <p:extLst>
      <p:ext uri="{BB962C8B-B14F-4D97-AF65-F5344CB8AC3E}">
        <p14:creationId xmlns:p14="http://schemas.microsoft.com/office/powerpoint/2010/main" val="1565673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95288-CEE5-F424-9036-100F9E36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AF187-FF45-969B-DA14-3EAD5C25E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Consider the page reference string of size 12: 1, 2, 3, 4, 5, 1, 3,1, 6, 3, 2, 3 with frame size 4(i.e. maximum 4 pages in a frame).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84A6B7-2214-53F3-B708-8F0F75C1E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Recently Used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2C3A46-2775-919A-282E-F82C7FF73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" y="2209800"/>
            <a:ext cx="8439150" cy="379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42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E4408-C171-829C-3405-3C829115C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AD1C6-F652-5A75-1FC4-1E9CB9BE9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Consider the page reference string of size 12: 1, 2, 3, 4, 5, 1, 3,1, 6, 3, 2, 3 with frame size 4(i.e. maximum 4 pages in a frame).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486769-A792-76C5-30B7-A8BE0BFD7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Recently Used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1968B2-905B-F19D-E527-5CB29BDE8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86000"/>
            <a:ext cx="82677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04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C6915-3BF1-110B-D3BF-3BACCB358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11239-80CB-C2B8-2F0C-9F52F0AB5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Consider the page reference string of size 12: 1, 2, 3, 4, 5, 1, 3,1, 6, 3, 2, 3 with frame size 4(i.e. maximum 4 pages in a frame).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A0C34-ACA5-3C43-4004-99B8AC0DA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4400" dirty="0"/>
              <a:t>Least Recently Used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C9FED7-55A8-6FB8-523B-339DB4FF2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32" y="2925907"/>
            <a:ext cx="82296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36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41F2A-E23D-2450-902C-433EA472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A44008-3FBD-8C1D-47CD-08BC6ED97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21199"/>
            <a:ext cx="8534400" cy="35846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994937-7853-BD26-E129-87E3FD26B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Recently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316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667AE-2946-87B1-1771-DEE50F3BD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F9775-9F6A-8077-B648-71470E0F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Recently Used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6C4817-F22F-7287-E5B2-61EC52761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4525963"/>
          </a:xfrm>
        </p:spPr>
        <p:txBody>
          <a:bodyPr/>
          <a:lstStyle/>
          <a:p>
            <a:pPr>
              <a:buNone/>
            </a:pPr>
            <a:r>
              <a:rPr lang="en-US" sz="2400" b="1" dirty="0"/>
              <a:t>Total Page Fault = 8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Page Fault ratio = total miss/total possible cases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Page Fault ratio = 8/12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062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D7B71-09FF-82F4-0009-FDDCFB7C1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E8E4E-F7F0-FC70-505D-5377115E4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Frequently Used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70EB2-1AC9-B457-4CB1-82E6A9222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452596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Consider the page reference string of size 10: 3,5,6,6,1,1,4,2,3,4 with frame size 3(i.e. maximum 3 pages in a frame).</a:t>
            </a:r>
          </a:p>
          <a:p>
            <a:pPr>
              <a:buNone/>
            </a:pPr>
            <a:endParaRPr lang="en-US" sz="2400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FCE5CD-F468-ADAA-400A-0AABA060F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353087"/>
              </p:ext>
            </p:extLst>
          </p:nvPr>
        </p:nvGraphicFramePr>
        <p:xfrm>
          <a:off x="1524000" y="2743200"/>
          <a:ext cx="6096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4050520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6642503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263782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5538446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9255879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5743813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3150721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195327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770594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97643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57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65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91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913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879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7B4BA9-E05C-0C92-6AE4-14D30004F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834737"/>
              </p:ext>
            </p:extLst>
          </p:nvPr>
        </p:nvGraphicFramePr>
        <p:xfrm>
          <a:off x="1600201" y="489712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145356086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9402452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83908929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0477361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00828887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9551952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34464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59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 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478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603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CE6F3-7BEC-98F8-F1BF-7EBA09BED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FA7AF-3149-E34D-838B-5D11AEDB0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Frequently Used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18506-51BD-4CC4-6E48-DE6C9B24E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452596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Consider the page reference string of size 10: 3,5,6,6,1,1,4,2,3,4 with frame size 3(i.e. maximum 3 pages in a frame).</a:t>
            </a:r>
          </a:p>
          <a:p>
            <a:pPr>
              <a:buNone/>
            </a:pPr>
            <a:endParaRPr lang="en-US" sz="2400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7E9C78-3701-B2FD-FC4B-355432E78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934857"/>
              </p:ext>
            </p:extLst>
          </p:nvPr>
        </p:nvGraphicFramePr>
        <p:xfrm>
          <a:off x="1524000" y="2743200"/>
          <a:ext cx="6096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4050520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6642503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263782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5538446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9255879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5743813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3150721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195327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770594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97643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57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65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91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913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879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34EAB7-6FC7-07CB-C110-5F7DC8C25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236556"/>
              </p:ext>
            </p:extLst>
          </p:nvPr>
        </p:nvGraphicFramePr>
        <p:xfrm>
          <a:off x="1600201" y="489712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145356086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9402452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83908929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0477361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00828887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9551952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34464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59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478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211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A1B40-5269-5DB8-4A7C-95EDB9700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E5860-2379-8F60-494D-1F723CD50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Frequently Used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1593E-4A6E-FA81-B9DC-B482A0AFC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452596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Consider the page reference string of size 10: 3,5,6,6,1,1,4,2,3,4 with frame size 3(i.e. maximum 3 pages in a frame).</a:t>
            </a:r>
          </a:p>
          <a:p>
            <a:pPr>
              <a:buNone/>
            </a:pPr>
            <a:endParaRPr lang="en-US" sz="2400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07428C-006F-C11B-B7FA-D309F40E5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020277"/>
              </p:ext>
            </p:extLst>
          </p:nvPr>
        </p:nvGraphicFramePr>
        <p:xfrm>
          <a:off x="1524000" y="2743200"/>
          <a:ext cx="6096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4050520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6642503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263782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5538446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9255879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5743813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3150721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195327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770594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97643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57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65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91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913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879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AA3F12-8D7E-4D7C-F68F-1E5918CCB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836764"/>
              </p:ext>
            </p:extLst>
          </p:nvPr>
        </p:nvGraphicFramePr>
        <p:xfrm>
          <a:off x="1066800" y="4897120"/>
          <a:ext cx="70104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486">
                  <a:extLst>
                    <a:ext uri="{9D8B030D-6E8A-4147-A177-3AD203B41FA5}">
                      <a16:colId xmlns:a16="http://schemas.microsoft.com/office/drawing/2014/main" val="1453560860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294024520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839089294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1704773619"/>
                    </a:ext>
                  </a:extLst>
                </a:gridCol>
                <a:gridCol w="718455">
                  <a:extLst>
                    <a:ext uri="{9D8B030D-6E8A-4147-A177-3AD203B41FA5}">
                      <a16:colId xmlns:a16="http://schemas.microsoft.com/office/drawing/2014/main" val="1008288879"/>
                    </a:ext>
                  </a:extLst>
                </a:gridCol>
                <a:gridCol w="1284517">
                  <a:extLst>
                    <a:ext uri="{9D8B030D-6E8A-4147-A177-3AD203B41FA5}">
                      <a16:colId xmlns:a16="http://schemas.microsoft.com/office/drawing/2014/main" val="295519520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134464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59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0/1-&gt;0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0-&gt;1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478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73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91897-EF21-FA9B-0F68-C2CB9F3D0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C653-2404-4E4C-5156-1DDC3AB9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Frequently Used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28CE9F-750D-D92A-2F36-2787C49D0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452596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Consider the page reference string of size 10: 3,5,6,6,1,1,4,2,3,4 with frame size 3(i.e. maximum 3 pages in a frame).</a:t>
            </a:r>
          </a:p>
          <a:p>
            <a:pPr>
              <a:buNone/>
            </a:pPr>
            <a:endParaRPr lang="en-US" sz="2400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279B60-15EE-5E8D-1EE7-27A227C17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136999"/>
              </p:ext>
            </p:extLst>
          </p:nvPr>
        </p:nvGraphicFramePr>
        <p:xfrm>
          <a:off x="1524000" y="2743200"/>
          <a:ext cx="6096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4050520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6642503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263782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5538446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9255879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5743813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3150721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195327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770594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97643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57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65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91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913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879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07BE31-CE09-1EEB-D70C-6F90F79945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502985"/>
              </p:ext>
            </p:extLst>
          </p:nvPr>
        </p:nvGraphicFramePr>
        <p:xfrm>
          <a:off x="1066800" y="4897120"/>
          <a:ext cx="70104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486">
                  <a:extLst>
                    <a:ext uri="{9D8B030D-6E8A-4147-A177-3AD203B41FA5}">
                      <a16:colId xmlns:a16="http://schemas.microsoft.com/office/drawing/2014/main" val="1453560860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294024520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839089294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1704773619"/>
                    </a:ext>
                  </a:extLst>
                </a:gridCol>
                <a:gridCol w="718455">
                  <a:extLst>
                    <a:ext uri="{9D8B030D-6E8A-4147-A177-3AD203B41FA5}">
                      <a16:colId xmlns:a16="http://schemas.microsoft.com/office/drawing/2014/main" val="1008288879"/>
                    </a:ext>
                  </a:extLst>
                </a:gridCol>
                <a:gridCol w="1284517">
                  <a:extLst>
                    <a:ext uri="{9D8B030D-6E8A-4147-A177-3AD203B41FA5}">
                      <a16:colId xmlns:a16="http://schemas.microsoft.com/office/drawing/2014/main" val="295519520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134464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59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1-&gt;0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478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7465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F558D-2459-B681-ED2E-8819ACAB4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7721-6D56-2067-AC6C-E0217D2C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Frequently Used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52499-39E8-E52F-B387-92A71E454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452596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Consider the page reference string of size 10: 3,5,6,6,1,1,4,2,3,4 with frame size 3(i.e. maximum 3 pages in a frame).</a:t>
            </a:r>
          </a:p>
          <a:p>
            <a:pPr>
              <a:buNone/>
            </a:pPr>
            <a:endParaRPr lang="en-US" sz="2400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5ACB05-F12A-0DAE-9964-1E5E835A5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155201"/>
              </p:ext>
            </p:extLst>
          </p:nvPr>
        </p:nvGraphicFramePr>
        <p:xfrm>
          <a:off x="1524000" y="2743200"/>
          <a:ext cx="6096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4050520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6642503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263782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5538446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9255879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5743813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3150721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195327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770594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97643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57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65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91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913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879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1B1EC7D-9DD1-BE6B-AA64-57BE1821F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105416"/>
              </p:ext>
            </p:extLst>
          </p:nvPr>
        </p:nvGraphicFramePr>
        <p:xfrm>
          <a:off x="1066800" y="4897120"/>
          <a:ext cx="70104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486">
                  <a:extLst>
                    <a:ext uri="{9D8B030D-6E8A-4147-A177-3AD203B41FA5}">
                      <a16:colId xmlns:a16="http://schemas.microsoft.com/office/drawing/2014/main" val="1453560860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294024520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839089294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1704773619"/>
                    </a:ext>
                  </a:extLst>
                </a:gridCol>
                <a:gridCol w="718455">
                  <a:extLst>
                    <a:ext uri="{9D8B030D-6E8A-4147-A177-3AD203B41FA5}">
                      <a16:colId xmlns:a16="http://schemas.microsoft.com/office/drawing/2014/main" val="1008288879"/>
                    </a:ext>
                  </a:extLst>
                </a:gridCol>
                <a:gridCol w="1284517">
                  <a:extLst>
                    <a:ext uri="{9D8B030D-6E8A-4147-A177-3AD203B41FA5}">
                      <a16:colId xmlns:a16="http://schemas.microsoft.com/office/drawing/2014/main" val="295519520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134464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59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1-&gt;0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478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00831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0DCC5-1272-63BE-9ED0-CA05382BB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9A41-4602-9245-EDDE-EEC6C24B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Frequently Used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D25A2-9801-9AE5-1FC7-FE1982EB3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4525963"/>
          </a:xfrm>
        </p:spPr>
        <p:txBody>
          <a:bodyPr/>
          <a:lstStyle/>
          <a:p>
            <a:pPr>
              <a:buNone/>
            </a:pPr>
            <a:r>
              <a:rPr lang="en-US" sz="2400" b="1" dirty="0"/>
              <a:t>Total Page Fault = 8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Page Fault ratio = total miss/total possible cases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Page Fault ratio = 8/10</a:t>
            </a: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418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Secondary Storage</a:t>
            </a:r>
            <a:endParaRPr lang="en-US" dirty="0"/>
          </a:p>
          <a:p>
            <a:r>
              <a:rPr lang="en-US" dirty="0"/>
              <a:t>Secondary storage (auxiliary storage) is not directly accessible by the CPU. </a:t>
            </a:r>
          </a:p>
          <a:p>
            <a:pPr lvl="0"/>
            <a:r>
              <a:rPr lang="en-US" dirty="0"/>
              <a:t>The computer usually uses its I/O channels to access secondary storage</a:t>
            </a:r>
          </a:p>
          <a:p>
            <a:pPr lvl="0"/>
            <a:r>
              <a:rPr lang="en-US" dirty="0"/>
              <a:t>Transfers the desired data using intermediate area in primary storage. </a:t>
            </a:r>
          </a:p>
          <a:p>
            <a:pPr lvl="0"/>
            <a:r>
              <a:rPr lang="en-US" dirty="0"/>
              <a:t>Secondary storage does not lose data when the device is powered off - non-volatile.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Virtual Memory</a:t>
            </a:r>
            <a:endParaRPr lang="en-US" dirty="0"/>
          </a:p>
          <a:p>
            <a:pPr lvl="0"/>
            <a:r>
              <a:rPr lang="en-GB" dirty="0"/>
              <a:t>Uses backing storage e.g. hard disk as a temporary location for programs and data where insufficient RAM available</a:t>
            </a:r>
            <a:endParaRPr lang="en-US" dirty="0"/>
          </a:p>
          <a:p>
            <a:pPr lvl="0"/>
            <a:r>
              <a:rPr lang="en-GB" dirty="0"/>
              <a:t>Swaps programs and data between the hard-disk and RAM as the CPU requires them for processing</a:t>
            </a:r>
            <a:endParaRPr lang="en-US" dirty="0"/>
          </a:p>
          <a:p>
            <a:pPr lvl="0"/>
            <a:r>
              <a:rPr lang="en-GB" dirty="0"/>
              <a:t>A cheap method of running large or many programs on a computer system</a:t>
            </a:r>
            <a:endParaRPr lang="en-US" dirty="0"/>
          </a:p>
          <a:p>
            <a:pPr lvl="0"/>
            <a:r>
              <a:rPr lang="en-GB" dirty="0"/>
              <a:t>Cost is speed: the CPU can access RAM in nanoseconds but hard-disk in milliseconds</a:t>
            </a:r>
            <a:endParaRPr lang="en-US" dirty="0"/>
          </a:p>
          <a:p>
            <a:pPr lvl="0"/>
            <a:r>
              <a:rPr lang="en-GB" dirty="0"/>
              <a:t>Virtual memory is much slower than RAM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Memory Management</a:t>
            </a:r>
            <a:endParaRPr lang="en-US" dirty="0"/>
          </a:p>
          <a:p>
            <a:r>
              <a:rPr lang="en-US" dirty="0"/>
              <a:t>Collection of hardware and software for managing the various programs residing in memory. </a:t>
            </a:r>
          </a:p>
          <a:p>
            <a:r>
              <a:rPr lang="en-US" dirty="0"/>
              <a:t>The basic components of a memory management unit are:</a:t>
            </a:r>
          </a:p>
          <a:p>
            <a:pPr lvl="1"/>
            <a:r>
              <a:rPr lang="en-US" dirty="0"/>
              <a:t>A facility for dynamic storage relocation that maps logical memory references into physical memory addresses</a:t>
            </a:r>
          </a:p>
          <a:p>
            <a:pPr lvl="1"/>
            <a:r>
              <a:rPr lang="en-US" dirty="0"/>
              <a:t>A provision for sharing common programs stored in memory by different users</a:t>
            </a:r>
          </a:p>
          <a:p>
            <a:pPr lvl="1"/>
            <a:r>
              <a:rPr lang="en-US" dirty="0"/>
              <a:t>Protection of information against unauthorized access between users and preventing users from changing operating systems functions.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4C64532606B24FAB5D656F866C042E" ma:contentTypeVersion="7" ma:contentTypeDescription="Create a new document." ma:contentTypeScope="" ma:versionID="e09d2cf455fbf8f69db67da1420b95fc">
  <xsd:schema xmlns:xsd="http://www.w3.org/2001/XMLSchema" xmlns:xs="http://www.w3.org/2001/XMLSchema" xmlns:p="http://schemas.microsoft.com/office/2006/metadata/properties" xmlns:ns2="f8536b80-1d83-40b8-bf9c-7fc7a3b1d835" targetNamespace="http://schemas.microsoft.com/office/2006/metadata/properties" ma:root="true" ma:fieldsID="2669715d9414c83cbf40c50fdf684965" ns2:_="">
    <xsd:import namespace="f8536b80-1d83-40b8-bf9c-7fc7a3b1d8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536b80-1d83-40b8-bf9c-7fc7a3b1d8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81729D-52DD-47BF-9B28-3411CBDA3F9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332CC7F-70BA-43C4-9DB8-CC21F45AAAB3}"/>
</file>

<file path=customXml/itemProps3.xml><?xml version="1.0" encoding="utf-8"?>
<ds:datastoreItem xmlns:ds="http://schemas.openxmlformats.org/officeDocument/2006/customXml" ds:itemID="{BAF9C3AE-341C-4F9F-8708-F1AD16F56FF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903</TotalTime>
  <Words>1513</Words>
  <Application>Microsoft Office PowerPoint</Application>
  <PresentationFormat>On-screen Show (4:3)</PresentationFormat>
  <Paragraphs>392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Lucida Sans Unicode</vt:lpstr>
      <vt:lpstr>Verdana</vt:lpstr>
      <vt:lpstr>Wingdings 2</vt:lpstr>
      <vt:lpstr>Wingdings 3</vt:lpstr>
      <vt:lpstr>Concourse</vt:lpstr>
      <vt:lpstr>Computer architecture and Organization  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First-In First-Out</vt:lpstr>
      <vt:lpstr>First-In First-Out</vt:lpstr>
      <vt:lpstr>Least Recently Used</vt:lpstr>
      <vt:lpstr>Least Recently Used</vt:lpstr>
      <vt:lpstr>Least Recently Used</vt:lpstr>
      <vt:lpstr>Least Recently Used</vt:lpstr>
      <vt:lpstr>Least Recently Used</vt:lpstr>
      <vt:lpstr>Least Frequently Used</vt:lpstr>
      <vt:lpstr>Least Frequently Used</vt:lpstr>
      <vt:lpstr>Least Frequently Used</vt:lpstr>
      <vt:lpstr>Least Frequently Used</vt:lpstr>
      <vt:lpstr>Least Frequently Used</vt:lpstr>
      <vt:lpstr>Least Frequently Used</vt:lpstr>
      <vt:lpstr>Memory Organization</vt:lpstr>
      <vt:lpstr>Memory Organization</vt:lpstr>
      <vt:lpstr>Memory Organization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 and Organization  Introduction</dc:title>
  <dc:creator>Khadam</dc:creator>
  <cp:lastModifiedBy>Protik Chakroborty</cp:lastModifiedBy>
  <cp:revision>100</cp:revision>
  <dcterms:created xsi:type="dcterms:W3CDTF">2012-10-13T14:30:17Z</dcterms:created>
  <dcterms:modified xsi:type="dcterms:W3CDTF">2026-02-05T16:36:07Z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2024-11-10T07:24:31Z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740a77a5-71a7-4a26-9daa-1544ddf790a1</vt:lpwstr>
  </property>
  <property fmtid="{D5CDD505-2E9C-101B-9397-08002B2CF9AE}" pid="7" name="MSIP_Label_defa4170-0d19-0005-0004-bc88714345d2_ActionId">
    <vt:lpwstr>9d281043-7b61-4cf2-b6d8-82cd19385b3e</vt:lpwstr>
  </property>
  <property fmtid="{D5CDD505-2E9C-101B-9397-08002B2CF9AE}" pid="8" name="MSIP_Label_defa4170-0d19-0005-0004-bc88714345d2_ContentBits">
    <vt:lpwstr>0</vt:lpwstr>
  </property>
  <property fmtid="{D5CDD505-2E9C-101B-9397-08002B2CF9AE}" pid="9" name="ContentTypeId">
    <vt:lpwstr>0x010100DA4C64532606B24FAB5D656F866C042E</vt:lpwstr>
  </property>
</Properties>
</file>