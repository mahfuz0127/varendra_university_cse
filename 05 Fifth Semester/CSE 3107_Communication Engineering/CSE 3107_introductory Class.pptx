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76" r:id="rId9"/>
    <p:sldId id="277" r:id="rId10"/>
    <p:sldId id="278" r:id="rId11"/>
    <p:sldId id="279" r:id="rId12"/>
    <p:sldId id="280" r:id="rId13"/>
    <p:sldId id="263" r:id="rId14"/>
    <p:sldId id="264" r:id="rId15"/>
    <p:sldId id="267" r:id="rId16"/>
    <p:sldId id="269" r:id="rId17"/>
    <p:sldId id="274" r:id="rId18"/>
    <p:sldId id="271" r:id="rId19"/>
    <p:sldId id="275" r:id="rId20"/>
    <p:sldId id="270" r:id="rId21"/>
    <p:sldId id="28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E7DB07-23FD-4F53-A2C8-C2528F25A825}"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199666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E7DB07-23FD-4F53-A2C8-C2528F25A825}"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4066058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E7DB07-23FD-4F53-A2C8-C2528F25A825}"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3333659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E7DB07-23FD-4F53-A2C8-C2528F25A825}"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4117544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E7DB07-23FD-4F53-A2C8-C2528F25A825}"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989230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E7DB07-23FD-4F53-A2C8-C2528F25A825}"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552115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7DB07-23FD-4F53-A2C8-C2528F25A825}"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2541784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E7DB07-23FD-4F53-A2C8-C2528F25A825}"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3494719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E7DB07-23FD-4F53-A2C8-C2528F25A825}"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2274298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E7DB07-23FD-4F53-A2C8-C2528F25A825}"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2137176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E7DB07-23FD-4F53-A2C8-C2528F25A825}"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01E05B-68A4-454E-B828-5DF9BF3CAECE}" type="slidenum">
              <a:rPr lang="en-US" smtClean="0"/>
              <a:t>‹#›</a:t>
            </a:fld>
            <a:endParaRPr lang="en-US"/>
          </a:p>
        </p:txBody>
      </p:sp>
    </p:spTree>
    <p:extLst>
      <p:ext uri="{BB962C8B-B14F-4D97-AF65-F5344CB8AC3E}">
        <p14:creationId xmlns:p14="http://schemas.microsoft.com/office/powerpoint/2010/main" val="2542973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7DB07-23FD-4F53-A2C8-C2528F25A825}" type="datetimeFigureOut">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01E05B-68A4-454E-B828-5DF9BF3CAECE}" type="slidenum">
              <a:rPr lang="en-US" smtClean="0"/>
              <a:t>‹#›</a:t>
            </a:fld>
            <a:endParaRPr lang="en-US"/>
          </a:p>
        </p:txBody>
      </p:sp>
    </p:spTree>
    <p:extLst>
      <p:ext uri="{BB962C8B-B14F-4D97-AF65-F5344CB8AC3E}">
        <p14:creationId xmlns:p14="http://schemas.microsoft.com/office/powerpoint/2010/main" val="18622316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hyperlink" Target="mailto:arifa_ice@ru.ac.bd" TargetMode="Externa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5.jpeg" /><Relationship Id="rId1" Type="http://schemas.openxmlformats.org/officeDocument/2006/relationships/slideLayout" Target="../slideLayouts/slideLayout2.xml" /><Relationship Id="rId4" Type="http://schemas.openxmlformats.org/officeDocument/2006/relationships/image" Target="../media/image7.png" /></Relationships>
</file>

<file path=ppt/slides/_rels/slide13.xml.rels><?xml version="1.0" encoding="UTF-8" standalone="yes"?>
<Relationships xmlns="http://schemas.openxmlformats.org/package/2006/relationships"><Relationship Id="rId3" Type="http://schemas.openxmlformats.org/officeDocument/2006/relationships/image" Target="../media/image8.emf" /><Relationship Id="rId2" Type="http://schemas.openxmlformats.org/officeDocument/2006/relationships/package" Target="../embeddings/Microsoft_Word_Document.docx"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2E1BA-91DB-3B80-DAF9-9EAF00C16571}"/>
              </a:ext>
            </a:extLst>
          </p:cNvPr>
          <p:cNvSpPr>
            <a:spLocks noGrp="1"/>
          </p:cNvSpPr>
          <p:nvPr>
            <p:ph type="ctrTitle"/>
          </p:nvPr>
        </p:nvSpPr>
        <p:spPr/>
        <p:txBody>
          <a:bodyPr/>
          <a:lstStyle/>
          <a:p>
            <a:r>
              <a:rPr lang="en-US" dirty="0"/>
              <a:t>CSE 3107</a:t>
            </a:r>
            <a:br>
              <a:rPr lang="en-US" dirty="0"/>
            </a:br>
            <a:r>
              <a:rPr lang="en-US" dirty="0"/>
              <a:t>Communication Engineering</a:t>
            </a:r>
          </a:p>
        </p:txBody>
      </p:sp>
      <p:sp>
        <p:nvSpPr>
          <p:cNvPr id="3" name="Subtitle 2">
            <a:extLst>
              <a:ext uri="{FF2B5EF4-FFF2-40B4-BE49-F238E27FC236}">
                <a16:creationId xmlns:a16="http://schemas.microsoft.com/office/drawing/2014/main" id="{455EBDD1-2BC9-4176-BB6D-DD76E40B6670}"/>
              </a:ext>
            </a:extLst>
          </p:cNvPr>
          <p:cNvSpPr>
            <a:spLocks noGrp="1"/>
          </p:cNvSpPr>
          <p:nvPr>
            <p:ph type="subTitle" idx="1"/>
          </p:nvPr>
        </p:nvSpPr>
        <p:spPr/>
        <p:txBody>
          <a:bodyPr>
            <a:normAutofit lnSpcReduction="10000"/>
          </a:bodyPr>
          <a:lstStyle/>
          <a:p>
            <a:r>
              <a:rPr lang="en-US" sz="3200" dirty="0"/>
              <a:t>Dr. </a:t>
            </a:r>
            <a:r>
              <a:rPr lang="en-US" sz="3200" dirty="0" err="1"/>
              <a:t>Foez</a:t>
            </a:r>
            <a:r>
              <a:rPr lang="en-US" sz="3200" dirty="0"/>
              <a:t> Ahmed</a:t>
            </a:r>
          </a:p>
          <a:p>
            <a:r>
              <a:rPr lang="en-US" sz="3200" dirty="0"/>
              <a:t>Arifa Ferdousi</a:t>
            </a:r>
          </a:p>
          <a:p>
            <a:r>
              <a:rPr lang="en-US" sz="3200" dirty="0" err="1"/>
              <a:t>Zannatul</a:t>
            </a:r>
            <a:r>
              <a:rPr lang="en-US" sz="3200" dirty="0"/>
              <a:t> </a:t>
            </a:r>
            <a:r>
              <a:rPr lang="en-US" sz="3200" dirty="0" err="1"/>
              <a:t>Mifta</a:t>
            </a:r>
            <a:endParaRPr lang="en-US" sz="3200" dirty="0"/>
          </a:p>
        </p:txBody>
      </p:sp>
    </p:spTree>
    <p:extLst>
      <p:ext uri="{BB962C8B-B14F-4D97-AF65-F5344CB8AC3E}">
        <p14:creationId xmlns:p14="http://schemas.microsoft.com/office/powerpoint/2010/main" val="2259337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0BAC-6C73-CE41-D66B-C91909101EB5}"/>
              </a:ext>
            </a:extLst>
          </p:cNvPr>
          <p:cNvSpPr>
            <a:spLocks noGrp="1"/>
          </p:cNvSpPr>
          <p:nvPr>
            <p:ph type="title"/>
          </p:nvPr>
        </p:nvSpPr>
        <p:spPr/>
        <p:txBody>
          <a:bodyPr/>
          <a:lstStyle/>
          <a:p>
            <a:r>
              <a:rPr lang="en-US" dirty="0">
                <a:latin typeface="Aptos Display" panose="020B0004020202020204" pitchFamily="34" charset="0"/>
              </a:rPr>
              <a:t>Overview</a:t>
            </a:r>
          </a:p>
        </p:txBody>
      </p:sp>
      <p:sp>
        <p:nvSpPr>
          <p:cNvPr id="3" name="Content Placeholder 2">
            <a:extLst>
              <a:ext uri="{FF2B5EF4-FFF2-40B4-BE49-F238E27FC236}">
                <a16:creationId xmlns:a16="http://schemas.microsoft.com/office/drawing/2014/main" id="{3D322DED-3E25-4C7E-78F9-A6839B5CCB31}"/>
              </a:ext>
            </a:extLst>
          </p:cNvPr>
          <p:cNvSpPr>
            <a:spLocks noGrp="1"/>
          </p:cNvSpPr>
          <p:nvPr>
            <p:ph idx="1"/>
          </p:nvPr>
        </p:nvSpPr>
        <p:spPr/>
        <p:txBody>
          <a:bodyPr/>
          <a:lstStyle/>
          <a:p>
            <a:r>
              <a:rPr lang="en-US" b="1" dirty="0"/>
              <a:t>Course Code</a:t>
            </a:r>
            <a:r>
              <a:rPr lang="en-US" dirty="0"/>
              <a:t>: CSE 3107	</a:t>
            </a:r>
          </a:p>
          <a:p>
            <a:r>
              <a:rPr lang="en-US" b="1" dirty="0"/>
              <a:t>Course Title</a:t>
            </a:r>
            <a:r>
              <a:rPr lang="en-US" dirty="0"/>
              <a:t>: Communication Engineering        </a:t>
            </a:r>
          </a:p>
          <a:p>
            <a:r>
              <a:rPr lang="en-US" b="1" dirty="0"/>
              <a:t>Credit Hour: </a:t>
            </a:r>
            <a:r>
              <a:rPr lang="en-US" dirty="0"/>
              <a:t>3.0	</a:t>
            </a:r>
          </a:p>
          <a:p>
            <a:r>
              <a:rPr lang="en-US" b="1" dirty="0"/>
              <a:t>Total Marks: </a:t>
            </a:r>
            <a:r>
              <a:rPr lang="en-US" dirty="0"/>
              <a:t>100 </a:t>
            </a:r>
          </a:p>
          <a:p>
            <a:r>
              <a:rPr lang="en-US" b="1" dirty="0"/>
              <a:t>Course Type</a:t>
            </a:r>
            <a:r>
              <a:rPr lang="en-US" dirty="0"/>
              <a:t>: Theory</a:t>
            </a:r>
          </a:p>
          <a:p>
            <a:r>
              <a:rPr lang="en-US" b="1" dirty="0"/>
              <a:t>Pre-requisite: </a:t>
            </a:r>
            <a:r>
              <a:rPr lang="en-US" dirty="0"/>
              <a:t>CSE 2207 (Computer Networks)</a:t>
            </a:r>
          </a:p>
          <a:p>
            <a:r>
              <a:rPr lang="en-US" b="1" dirty="0"/>
              <a:t>Year and Semester: </a:t>
            </a:r>
            <a:r>
              <a:rPr lang="en-US" dirty="0"/>
              <a:t>3</a:t>
            </a:r>
            <a:r>
              <a:rPr lang="en-US" baseline="30000" dirty="0"/>
              <a:t>rd</a:t>
            </a:r>
            <a:r>
              <a:rPr lang="en-US" dirty="0"/>
              <a:t> Year 1</a:t>
            </a:r>
            <a:r>
              <a:rPr lang="en-US" baseline="30000" dirty="0"/>
              <a:t>st</a:t>
            </a:r>
            <a:r>
              <a:rPr lang="en-US" dirty="0"/>
              <a:t> Semester</a:t>
            </a:r>
          </a:p>
          <a:p>
            <a:r>
              <a:rPr lang="en-US" b="1" dirty="0"/>
              <a:t>Academic Session: </a:t>
            </a:r>
            <a:r>
              <a:rPr lang="en-US" dirty="0"/>
              <a:t>Summer 2025</a:t>
            </a:r>
          </a:p>
          <a:p>
            <a:endParaRPr lang="en-US" dirty="0"/>
          </a:p>
        </p:txBody>
      </p:sp>
    </p:spTree>
    <p:extLst>
      <p:ext uri="{BB962C8B-B14F-4D97-AF65-F5344CB8AC3E}">
        <p14:creationId xmlns:p14="http://schemas.microsoft.com/office/powerpoint/2010/main" val="1996193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88B56-D161-083C-ED97-EE9436EB5655}"/>
              </a:ext>
            </a:extLst>
          </p:cNvPr>
          <p:cNvSpPr>
            <a:spLocks noGrp="1"/>
          </p:cNvSpPr>
          <p:nvPr>
            <p:ph type="title"/>
          </p:nvPr>
        </p:nvSpPr>
        <p:spPr>
          <a:xfrm>
            <a:off x="140110" y="197976"/>
            <a:ext cx="6152535" cy="1065215"/>
          </a:xfrm>
        </p:spPr>
        <p:txBody>
          <a:bodyPr/>
          <a:lstStyle/>
          <a:p>
            <a:r>
              <a:rPr lang="en-US" dirty="0">
                <a:latin typeface="Aptos Display" panose="020B0004020202020204" pitchFamily="34" charset="0"/>
              </a:rPr>
              <a:t>Instructor Details</a:t>
            </a:r>
          </a:p>
        </p:txBody>
      </p:sp>
      <p:sp>
        <p:nvSpPr>
          <p:cNvPr id="3" name="Content Placeholder 2">
            <a:extLst>
              <a:ext uri="{FF2B5EF4-FFF2-40B4-BE49-F238E27FC236}">
                <a16:creationId xmlns:a16="http://schemas.microsoft.com/office/drawing/2014/main" id="{577C35FC-1789-4155-2008-93B5BB3C4F4A}"/>
              </a:ext>
            </a:extLst>
          </p:cNvPr>
          <p:cNvSpPr>
            <a:spLocks noGrp="1"/>
          </p:cNvSpPr>
          <p:nvPr>
            <p:ph idx="1"/>
          </p:nvPr>
        </p:nvSpPr>
        <p:spPr>
          <a:xfrm>
            <a:off x="140110" y="1253331"/>
            <a:ext cx="9003890" cy="3318669"/>
          </a:xfrm>
        </p:spPr>
        <p:txBody>
          <a:bodyPr/>
          <a:lstStyle/>
          <a:p>
            <a:r>
              <a:rPr lang="en-US" dirty="0"/>
              <a:t>Name: Arifa Ferdousi</a:t>
            </a:r>
          </a:p>
          <a:p>
            <a:r>
              <a:rPr lang="en-US" dirty="0"/>
              <a:t>Designation: Lecturer</a:t>
            </a:r>
          </a:p>
          <a:p>
            <a:r>
              <a:rPr lang="en-US" dirty="0"/>
              <a:t>Department: Information and Communication Engineering</a:t>
            </a:r>
          </a:p>
          <a:p>
            <a:r>
              <a:rPr lang="en-US" dirty="0"/>
              <a:t>Institution: University of Rajshahi, Rajshahi, Bangladesh</a:t>
            </a:r>
          </a:p>
          <a:p>
            <a:r>
              <a:rPr lang="en-US" dirty="0"/>
              <a:t>Email: </a:t>
            </a:r>
            <a:r>
              <a:rPr lang="en-US" dirty="0">
                <a:hlinkClick r:id="rId2"/>
              </a:rPr>
              <a:t>arifa_ice@ru.ac.bd</a:t>
            </a:r>
            <a:endParaRPr lang="en-US" dirty="0"/>
          </a:p>
          <a:p>
            <a:r>
              <a:rPr lang="en-US" dirty="0"/>
              <a:t>Cell Phone/WhatsApp: 01313328537</a:t>
            </a:r>
          </a:p>
          <a:p>
            <a:endParaRPr lang="en-US" dirty="0"/>
          </a:p>
          <a:p>
            <a:endParaRPr lang="en-US" dirty="0"/>
          </a:p>
        </p:txBody>
      </p:sp>
      <p:pic>
        <p:nvPicPr>
          <p:cNvPr id="7" name="Picture 6">
            <a:extLst>
              <a:ext uri="{FF2B5EF4-FFF2-40B4-BE49-F238E27FC236}">
                <a16:creationId xmlns:a16="http://schemas.microsoft.com/office/drawing/2014/main" id="{C345A8DF-4DC3-F312-B47A-F0F58B295E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0413" y="197975"/>
            <a:ext cx="2111477" cy="2639347"/>
          </a:xfrm>
          <a:prstGeom prst="rect">
            <a:avLst/>
          </a:prstGeom>
        </p:spPr>
      </p:pic>
      <p:pic>
        <p:nvPicPr>
          <p:cNvPr id="10" name="Picture 9">
            <a:extLst>
              <a:ext uri="{FF2B5EF4-FFF2-40B4-BE49-F238E27FC236}">
                <a16:creationId xmlns:a16="http://schemas.microsoft.com/office/drawing/2014/main" id="{41524100-2C14-AAFD-689B-06A2305C4F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378" y="4807974"/>
            <a:ext cx="1987767" cy="1987767"/>
          </a:xfrm>
          <a:prstGeom prst="rect">
            <a:avLst/>
          </a:prstGeom>
        </p:spPr>
      </p:pic>
    </p:spTree>
    <p:extLst>
      <p:ext uri="{BB962C8B-B14F-4D97-AF65-F5344CB8AC3E}">
        <p14:creationId xmlns:p14="http://schemas.microsoft.com/office/powerpoint/2010/main" val="2046067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7CB5-3B82-0993-442A-7D99B931C257}"/>
              </a:ext>
            </a:extLst>
          </p:cNvPr>
          <p:cNvSpPr>
            <a:spLocks noGrp="1"/>
          </p:cNvSpPr>
          <p:nvPr>
            <p:ph type="title"/>
          </p:nvPr>
        </p:nvSpPr>
        <p:spPr/>
        <p:txBody>
          <a:bodyPr/>
          <a:lstStyle/>
          <a:p>
            <a:r>
              <a:rPr lang="en-US" dirty="0"/>
              <a:t>Find your course materials in Teams</a:t>
            </a:r>
          </a:p>
        </p:txBody>
      </p:sp>
      <p:pic>
        <p:nvPicPr>
          <p:cNvPr id="5" name="Content Placeholder 4">
            <a:extLst>
              <a:ext uri="{FF2B5EF4-FFF2-40B4-BE49-F238E27FC236}">
                <a16:creationId xmlns:a16="http://schemas.microsoft.com/office/drawing/2014/main" id="{623B4CA4-986E-5C6F-ACAF-6D108BF265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5505" y="1809135"/>
            <a:ext cx="3984370" cy="3984370"/>
          </a:xfrm>
        </p:spPr>
      </p:pic>
      <p:pic>
        <p:nvPicPr>
          <p:cNvPr id="1026" name="Picture 2" descr="Microsoft Teams Logo Icon (2024) - Free Download PNG, SVG, AI">
            <a:extLst>
              <a:ext uri="{FF2B5EF4-FFF2-40B4-BE49-F238E27FC236}">
                <a16:creationId xmlns:a16="http://schemas.microsoft.com/office/drawing/2014/main" id="{145BA6CD-EC7D-89F3-EF36-BF4897817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557" y="1602657"/>
            <a:ext cx="4168739" cy="3883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32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36CA0-3F16-624C-F1F9-71A2EAFCB11B}"/>
              </a:ext>
            </a:extLst>
          </p:cNvPr>
          <p:cNvSpPr>
            <a:spLocks noGrp="1"/>
          </p:cNvSpPr>
          <p:nvPr>
            <p:ph type="title"/>
          </p:nvPr>
        </p:nvSpPr>
        <p:spPr>
          <a:xfrm>
            <a:off x="0" y="0"/>
            <a:ext cx="10515600" cy="677094"/>
          </a:xfrm>
        </p:spPr>
        <p:txBody>
          <a:bodyPr>
            <a:normAutofit fontScale="90000"/>
          </a:bodyPr>
          <a:lstStyle/>
          <a:p>
            <a:r>
              <a:rPr lang="en-US" dirty="0">
                <a:latin typeface="Aptos Display" panose="020B0004020202020204" pitchFamily="34" charset="0"/>
              </a:rPr>
              <a:t>Course Outcomes</a:t>
            </a:r>
          </a:p>
        </p:txBody>
      </p:sp>
      <p:graphicFrame>
        <p:nvGraphicFramePr>
          <p:cNvPr id="6" name="Table 5">
            <a:extLst>
              <a:ext uri="{FF2B5EF4-FFF2-40B4-BE49-F238E27FC236}">
                <a16:creationId xmlns:a16="http://schemas.microsoft.com/office/drawing/2014/main" id="{63222F59-5666-EC90-B7BC-905BC61BA348}"/>
              </a:ext>
            </a:extLst>
          </p:cNvPr>
          <p:cNvGraphicFramePr>
            <a:graphicFrameLocks noGrp="1"/>
          </p:cNvGraphicFramePr>
          <p:nvPr>
            <p:extLst>
              <p:ext uri="{D42A27DB-BD31-4B8C-83A1-F6EECF244321}">
                <p14:modId xmlns:p14="http://schemas.microsoft.com/office/powerpoint/2010/main" val="665929982"/>
              </p:ext>
            </p:extLst>
          </p:nvPr>
        </p:nvGraphicFramePr>
        <p:xfrm>
          <a:off x="389601" y="987434"/>
          <a:ext cx="11694242" cy="5039739"/>
        </p:xfrm>
        <a:graphic>
          <a:graphicData uri="http://schemas.openxmlformats.org/drawingml/2006/table">
            <a:tbl>
              <a:tblPr>
                <a:tableStyleId>{5C22544A-7EE6-4342-B048-85BDC9FD1C3A}</a:tableStyleId>
              </a:tblPr>
              <a:tblGrid>
                <a:gridCol w="753086">
                  <a:extLst>
                    <a:ext uri="{9D8B030D-6E8A-4147-A177-3AD203B41FA5}">
                      <a16:colId xmlns:a16="http://schemas.microsoft.com/office/drawing/2014/main" val="263271738"/>
                    </a:ext>
                  </a:extLst>
                </a:gridCol>
                <a:gridCol w="3052643">
                  <a:extLst>
                    <a:ext uri="{9D8B030D-6E8A-4147-A177-3AD203B41FA5}">
                      <a16:colId xmlns:a16="http://schemas.microsoft.com/office/drawing/2014/main" val="3124851246"/>
                    </a:ext>
                  </a:extLst>
                </a:gridCol>
                <a:gridCol w="1894048">
                  <a:extLst>
                    <a:ext uri="{9D8B030D-6E8A-4147-A177-3AD203B41FA5}">
                      <a16:colId xmlns:a16="http://schemas.microsoft.com/office/drawing/2014/main" val="1446751023"/>
                    </a:ext>
                  </a:extLst>
                </a:gridCol>
                <a:gridCol w="745530">
                  <a:extLst>
                    <a:ext uri="{9D8B030D-6E8A-4147-A177-3AD203B41FA5}">
                      <a16:colId xmlns:a16="http://schemas.microsoft.com/office/drawing/2014/main" val="1272019035"/>
                    </a:ext>
                  </a:extLst>
                </a:gridCol>
                <a:gridCol w="675008">
                  <a:extLst>
                    <a:ext uri="{9D8B030D-6E8A-4147-A177-3AD203B41FA5}">
                      <a16:colId xmlns:a16="http://schemas.microsoft.com/office/drawing/2014/main" val="2576774436"/>
                    </a:ext>
                  </a:extLst>
                </a:gridCol>
                <a:gridCol w="604483">
                  <a:extLst>
                    <a:ext uri="{9D8B030D-6E8A-4147-A177-3AD203B41FA5}">
                      <a16:colId xmlns:a16="http://schemas.microsoft.com/office/drawing/2014/main" val="81411168"/>
                    </a:ext>
                  </a:extLst>
                </a:gridCol>
                <a:gridCol w="584334">
                  <a:extLst>
                    <a:ext uri="{9D8B030D-6E8A-4147-A177-3AD203B41FA5}">
                      <a16:colId xmlns:a16="http://schemas.microsoft.com/office/drawing/2014/main" val="2082274620"/>
                    </a:ext>
                  </a:extLst>
                </a:gridCol>
                <a:gridCol w="1794566">
                  <a:extLst>
                    <a:ext uri="{9D8B030D-6E8A-4147-A177-3AD203B41FA5}">
                      <a16:colId xmlns:a16="http://schemas.microsoft.com/office/drawing/2014/main" val="3524804873"/>
                    </a:ext>
                  </a:extLst>
                </a:gridCol>
                <a:gridCol w="1590544">
                  <a:extLst>
                    <a:ext uri="{9D8B030D-6E8A-4147-A177-3AD203B41FA5}">
                      <a16:colId xmlns:a16="http://schemas.microsoft.com/office/drawing/2014/main" val="3139315091"/>
                    </a:ext>
                  </a:extLst>
                </a:gridCol>
              </a:tblGrid>
              <a:tr h="1171207">
                <a:tc>
                  <a:txBody>
                    <a:bodyPr/>
                    <a:lstStyle/>
                    <a:p>
                      <a:pPr algn="ctr">
                        <a:buNone/>
                      </a:pPr>
                      <a:r>
                        <a:rPr lang="en-US" sz="2200" b="1" kern="0" dirty="0">
                          <a:effectLst/>
                        </a:rPr>
                        <a:t>COs</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Description</a:t>
                      </a:r>
                      <a:endParaRPr lang="en-US" sz="2200" b="1" dirty="0">
                        <a:effectLst/>
                        <a:latin typeface="Centaur" panose="02030504050205020304" pitchFamily="18" charset="0"/>
                      </a:endParaRPr>
                    </a:p>
                  </a:txBody>
                  <a:tcPr anchor="ctr"/>
                </a:tc>
                <a:tc>
                  <a:txBody>
                    <a:bodyPr/>
                    <a:lstStyle/>
                    <a:p>
                      <a:pPr indent="63500" algn="ctr">
                        <a:lnSpc>
                          <a:spcPct val="115000"/>
                        </a:lnSpc>
                        <a:buNone/>
                      </a:pPr>
                      <a:r>
                        <a:rPr lang="en-US" sz="2200" b="1" kern="0" dirty="0">
                          <a:effectLst/>
                        </a:rPr>
                        <a:t>Taxonomy domain/level</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POs</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WK</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WP</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EA</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Teaching-Learning strategy</a:t>
                      </a:r>
                      <a:endParaRPr lang="en-US" sz="2200" b="1" dirty="0">
                        <a:effectLst/>
                        <a:latin typeface="Centaur" panose="02030504050205020304" pitchFamily="18" charset="0"/>
                      </a:endParaRPr>
                    </a:p>
                  </a:txBody>
                  <a:tcPr anchor="ctr"/>
                </a:tc>
                <a:tc>
                  <a:txBody>
                    <a:bodyPr/>
                    <a:lstStyle/>
                    <a:p>
                      <a:pPr algn="ctr">
                        <a:buNone/>
                      </a:pPr>
                      <a:r>
                        <a:rPr lang="en-US" sz="2200" b="1" kern="0" dirty="0">
                          <a:effectLst/>
                        </a:rPr>
                        <a:t>Assessment strategy</a:t>
                      </a:r>
                      <a:endParaRPr lang="en-US" sz="2200" b="1" dirty="0">
                        <a:effectLst/>
                        <a:latin typeface="Centaur" panose="02030504050205020304" pitchFamily="18" charset="0"/>
                      </a:endParaRPr>
                    </a:p>
                  </a:txBody>
                  <a:tcPr anchor="ctr"/>
                </a:tc>
                <a:extLst>
                  <a:ext uri="{0D108BD9-81ED-4DB2-BD59-A6C34878D82A}">
                    <a16:rowId xmlns:a16="http://schemas.microsoft.com/office/drawing/2014/main" val="2740194410"/>
                  </a:ext>
                </a:extLst>
              </a:tr>
              <a:tr h="1526118">
                <a:tc>
                  <a:txBody>
                    <a:bodyPr/>
                    <a:lstStyle/>
                    <a:p>
                      <a:pPr algn="ctr">
                        <a:buNone/>
                      </a:pPr>
                      <a:r>
                        <a:rPr lang="en-US" sz="2200" kern="0">
                          <a:effectLst/>
                        </a:rPr>
                        <a:t>CO1</a:t>
                      </a:r>
                      <a:endParaRPr lang="en-US" sz="2200">
                        <a:effectLst/>
                        <a:latin typeface="Centaur" panose="02030504050205020304" pitchFamily="18" charset="0"/>
                      </a:endParaRPr>
                    </a:p>
                  </a:txBody>
                  <a:tcPr anchor="ctr"/>
                </a:tc>
                <a:tc>
                  <a:txBody>
                    <a:bodyPr/>
                    <a:lstStyle/>
                    <a:p>
                      <a:pPr marL="60325" marR="53975" algn="l">
                        <a:buNone/>
                      </a:pPr>
                      <a:r>
                        <a:rPr lang="en-US" sz="2200" kern="0" dirty="0">
                          <a:effectLst/>
                        </a:rPr>
                        <a:t>Describe the necessary terminologies of Communication Engineering.</a:t>
                      </a:r>
                      <a:endParaRPr lang="en-US" sz="2200" dirty="0">
                        <a:effectLst/>
                        <a:latin typeface="Centaur" panose="02030504050205020304" pitchFamily="18" charset="0"/>
                      </a:endParaRPr>
                    </a:p>
                  </a:txBody>
                  <a:tcPr anchor="ctr"/>
                </a:tc>
                <a:tc>
                  <a:txBody>
                    <a:bodyPr/>
                    <a:lstStyle/>
                    <a:p>
                      <a:pPr indent="16510" algn="ctr">
                        <a:lnSpc>
                          <a:spcPct val="115000"/>
                        </a:lnSpc>
                        <a:buNone/>
                      </a:pPr>
                      <a:r>
                        <a:rPr lang="en-US" sz="2200" kern="0">
                          <a:effectLst/>
                        </a:rPr>
                        <a:t>Cognitive/ Understand</a:t>
                      </a:r>
                      <a:endParaRPr lang="en-US" sz="2200">
                        <a:effectLst/>
                        <a:latin typeface="Centaur" panose="02030504050205020304" pitchFamily="18" charset="0"/>
                      </a:endParaRPr>
                    </a:p>
                  </a:txBody>
                  <a:tcPr anchor="ctr"/>
                </a:tc>
                <a:tc>
                  <a:txBody>
                    <a:bodyPr/>
                    <a:lstStyle/>
                    <a:p>
                      <a:pPr algn="ctr">
                        <a:buNone/>
                      </a:pPr>
                      <a:r>
                        <a:rPr lang="en-US" sz="2200" kern="0">
                          <a:effectLst/>
                        </a:rPr>
                        <a:t>1</a:t>
                      </a:r>
                      <a:endParaRPr lang="en-US" sz="2200">
                        <a:effectLst/>
                        <a:latin typeface="Centaur" panose="02030504050205020304" pitchFamily="18" charset="0"/>
                      </a:endParaRPr>
                    </a:p>
                  </a:txBody>
                  <a:tcPr anchor="ctr"/>
                </a:tc>
                <a:tc>
                  <a:txBody>
                    <a:bodyPr/>
                    <a:lstStyle/>
                    <a:p>
                      <a:pPr algn="ctr">
                        <a:buNone/>
                      </a:pPr>
                      <a:r>
                        <a:rPr lang="en-US" sz="2200" kern="0">
                          <a:effectLst/>
                        </a:rPr>
                        <a:t>3</a:t>
                      </a:r>
                      <a:endParaRPr lang="en-US" sz="2200">
                        <a:effectLst/>
                        <a:latin typeface="Centaur" panose="02030504050205020304" pitchFamily="18" charset="0"/>
                      </a:endParaRPr>
                    </a:p>
                  </a:txBody>
                  <a:tcPr anchor="ctr"/>
                </a:tc>
                <a:tc>
                  <a:txBody>
                    <a:bodyPr/>
                    <a:lstStyle/>
                    <a:p>
                      <a:pPr algn="ctr">
                        <a:buNone/>
                      </a:pPr>
                      <a:r>
                        <a:rPr lang="en-US" sz="2200" kern="0">
                          <a:effectLst/>
                        </a:rPr>
                        <a:t> </a:t>
                      </a:r>
                      <a:endParaRPr lang="en-US" sz="2200">
                        <a:effectLst/>
                        <a:latin typeface="Centaur" panose="02030504050205020304" pitchFamily="18" charset="0"/>
                      </a:endParaRPr>
                    </a:p>
                  </a:txBody>
                  <a:tcPr anchor="ctr"/>
                </a:tc>
                <a:tc>
                  <a:txBody>
                    <a:bodyPr/>
                    <a:lstStyle/>
                    <a:p>
                      <a:pPr algn="ctr">
                        <a:buNone/>
                      </a:pPr>
                      <a:r>
                        <a:rPr lang="en-US" sz="2200" kern="0">
                          <a:effectLst/>
                        </a:rPr>
                        <a:t> </a:t>
                      </a:r>
                      <a:endParaRPr lang="en-US" sz="2200">
                        <a:effectLst/>
                        <a:latin typeface="Centaur" panose="02030504050205020304" pitchFamily="18" charset="0"/>
                      </a:endParaRPr>
                    </a:p>
                  </a:txBody>
                  <a:tcPr anchor="ctr"/>
                </a:tc>
                <a:tc>
                  <a:txBody>
                    <a:bodyPr/>
                    <a:lstStyle/>
                    <a:p>
                      <a:pPr algn="ctr">
                        <a:buNone/>
                      </a:pPr>
                      <a:r>
                        <a:rPr lang="en-US" sz="2200" kern="0">
                          <a:effectLst/>
                        </a:rPr>
                        <a:t>Lecture/Slides</a:t>
                      </a:r>
                      <a:endParaRPr lang="en-US" sz="2200">
                        <a:effectLst/>
                        <a:latin typeface="Centaur" panose="02030504050205020304" pitchFamily="18" charset="0"/>
                      </a:endParaRPr>
                    </a:p>
                  </a:txBody>
                  <a:tcPr anchor="ctr"/>
                </a:tc>
                <a:tc>
                  <a:txBody>
                    <a:bodyPr/>
                    <a:lstStyle/>
                    <a:p>
                      <a:pPr algn="ctr">
                        <a:buNone/>
                      </a:pPr>
                      <a:r>
                        <a:rPr lang="en-US" sz="2200" kern="0">
                          <a:effectLst/>
                        </a:rPr>
                        <a:t>Mid-Term</a:t>
                      </a:r>
                      <a:endParaRPr lang="en-US" sz="2200">
                        <a:effectLst/>
                        <a:latin typeface="Centaur" panose="02030504050205020304" pitchFamily="18" charset="0"/>
                      </a:endParaRPr>
                    </a:p>
                  </a:txBody>
                  <a:tcPr anchor="ctr"/>
                </a:tc>
                <a:extLst>
                  <a:ext uri="{0D108BD9-81ED-4DB2-BD59-A6C34878D82A}">
                    <a16:rowId xmlns:a16="http://schemas.microsoft.com/office/drawing/2014/main" val="489871207"/>
                  </a:ext>
                </a:extLst>
              </a:tr>
              <a:tr h="1171207">
                <a:tc>
                  <a:txBody>
                    <a:bodyPr/>
                    <a:lstStyle/>
                    <a:p>
                      <a:pPr algn="ctr">
                        <a:buNone/>
                      </a:pPr>
                      <a:r>
                        <a:rPr lang="en-US" sz="2200" kern="0">
                          <a:effectLst/>
                        </a:rPr>
                        <a:t>CO2</a:t>
                      </a:r>
                      <a:endParaRPr lang="en-US" sz="2200">
                        <a:effectLst/>
                        <a:latin typeface="Centaur" panose="02030504050205020304" pitchFamily="18" charset="0"/>
                      </a:endParaRPr>
                    </a:p>
                  </a:txBody>
                  <a:tcPr anchor="ctr"/>
                </a:tc>
                <a:tc>
                  <a:txBody>
                    <a:bodyPr/>
                    <a:lstStyle/>
                    <a:p>
                      <a:pPr marL="60325" marR="53975" algn="l">
                        <a:buNone/>
                      </a:pPr>
                      <a:r>
                        <a:rPr lang="en-US" sz="2200" kern="0" dirty="0">
                          <a:effectLst/>
                        </a:rPr>
                        <a:t>Analyze the analog and the digital modulation techniques.</a:t>
                      </a:r>
                      <a:endParaRPr lang="en-US" sz="2200" dirty="0">
                        <a:effectLst/>
                        <a:latin typeface="Centaur" panose="02030504050205020304" pitchFamily="18" charset="0"/>
                      </a:endParaRPr>
                    </a:p>
                  </a:txBody>
                  <a:tcPr anchor="ctr"/>
                </a:tc>
                <a:tc>
                  <a:txBody>
                    <a:bodyPr/>
                    <a:lstStyle/>
                    <a:p>
                      <a:pPr indent="16510" algn="ctr">
                        <a:lnSpc>
                          <a:spcPct val="115000"/>
                        </a:lnSpc>
                        <a:buNone/>
                      </a:pPr>
                      <a:r>
                        <a:rPr lang="en-US" sz="2200" kern="0" dirty="0">
                          <a:effectLst/>
                        </a:rPr>
                        <a:t>Cognitive/</a:t>
                      </a:r>
                      <a:endParaRPr lang="en-US" sz="2200" dirty="0">
                        <a:effectLst/>
                      </a:endParaRPr>
                    </a:p>
                    <a:p>
                      <a:pPr indent="16510" algn="ctr">
                        <a:lnSpc>
                          <a:spcPct val="115000"/>
                        </a:lnSpc>
                        <a:buNone/>
                      </a:pPr>
                      <a:r>
                        <a:rPr lang="en-US" sz="2200" kern="0" dirty="0">
                          <a:effectLst/>
                        </a:rPr>
                        <a:t>Analyze</a:t>
                      </a:r>
                      <a:endParaRPr lang="en-US" sz="2200" dirty="0">
                        <a:effectLst/>
                        <a:latin typeface="Centaur" panose="02030504050205020304" pitchFamily="18" charset="0"/>
                      </a:endParaRPr>
                    </a:p>
                  </a:txBody>
                  <a:tcPr anchor="ctr"/>
                </a:tc>
                <a:tc>
                  <a:txBody>
                    <a:bodyPr/>
                    <a:lstStyle/>
                    <a:p>
                      <a:pPr algn="ctr">
                        <a:buNone/>
                      </a:pPr>
                      <a:r>
                        <a:rPr lang="en-US" sz="2200" kern="0">
                          <a:effectLst/>
                        </a:rPr>
                        <a:t>2</a:t>
                      </a:r>
                      <a:endParaRPr lang="en-US" sz="2200">
                        <a:effectLst/>
                        <a:latin typeface="Centaur" panose="02030504050205020304" pitchFamily="18" charset="0"/>
                      </a:endParaRPr>
                    </a:p>
                  </a:txBody>
                  <a:tcPr anchor="ctr"/>
                </a:tc>
                <a:tc>
                  <a:txBody>
                    <a:bodyPr/>
                    <a:lstStyle/>
                    <a:p>
                      <a:pPr algn="ctr">
                        <a:buNone/>
                      </a:pPr>
                      <a:r>
                        <a:rPr lang="en-US" sz="2200" kern="0" dirty="0">
                          <a:effectLst/>
                        </a:rPr>
                        <a:t>4</a:t>
                      </a:r>
                      <a:endParaRPr lang="en-US" sz="2200" dirty="0">
                        <a:effectLst/>
                        <a:latin typeface="Centaur" panose="02030504050205020304" pitchFamily="18" charset="0"/>
                      </a:endParaRPr>
                    </a:p>
                  </a:txBody>
                  <a:tcPr anchor="ctr"/>
                </a:tc>
                <a:tc>
                  <a:txBody>
                    <a:bodyPr/>
                    <a:lstStyle/>
                    <a:p>
                      <a:pPr algn="ctr">
                        <a:buNone/>
                      </a:pPr>
                      <a:r>
                        <a:rPr lang="en-US" sz="2200" kern="0" dirty="0">
                          <a:effectLst/>
                        </a:rPr>
                        <a:t> </a:t>
                      </a:r>
                      <a:endParaRPr lang="en-US" sz="2200" dirty="0">
                        <a:effectLst/>
                        <a:latin typeface="Centaur" panose="02030504050205020304" pitchFamily="18" charset="0"/>
                      </a:endParaRPr>
                    </a:p>
                  </a:txBody>
                  <a:tcPr anchor="ctr"/>
                </a:tc>
                <a:tc>
                  <a:txBody>
                    <a:bodyPr/>
                    <a:lstStyle/>
                    <a:p>
                      <a:pPr algn="ctr">
                        <a:buNone/>
                      </a:pPr>
                      <a:r>
                        <a:rPr lang="en-US" sz="2200" kern="0" dirty="0">
                          <a:effectLst/>
                        </a:rPr>
                        <a:t> </a:t>
                      </a:r>
                      <a:endParaRPr lang="en-US" sz="2200" dirty="0">
                        <a:effectLst/>
                        <a:latin typeface="Centaur" panose="02030504050205020304" pitchFamily="18" charset="0"/>
                      </a:endParaRPr>
                    </a:p>
                  </a:txBody>
                  <a:tcPr anchor="ctr"/>
                </a:tc>
                <a:tc>
                  <a:txBody>
                    <a:bodyPr/>
                    <a:lstStyle/>
                    <a:p>
                      <a:pPr algn="ctr">
                        <a:buNone/>
                      </a:pPr>
                      <a:r>
                        <a:rPr lang="en-US" sz="2200" kern="0">
                          <a:effectLst/>
                        </a:rPr>
                        <a:t>Lecture/Slides</a:t>
                      </a:r>
                      <a:endParaRPr lang="en-US" sz="2200">
                        <a:effectLst/>
                        <a:latin typeface="Centaur" panose="02030504050205020304" pitchFamily="18" charset="0"/>
                      </a:endParaRPr>
                    </a:p>
                  </a:txBody>
                  <a:tcPr anchor="ctr"/>
                </a:tc>
                <a:tc>
                  <a:txBody>
                    <a:bodyPr/>
                    <a:lstStyle/>
                    <a:p>
                      <a:pPr algn="ctr">
                        <a:buNone/>
                      </a:pPr>
                      <a:r>
                        <a:rPr lang="en-US" sz="2200" kern="0">
                          <a:effectLst/>
                        </a:rPr>
                        <a:t>Class Test</a:t>
                      </a:r>
                      <a:endParaRPr lang="en-US" sz="2200">
                        <a:effectLst/>
                        <a:latin typeface="Centaur" panose="02030504050205020304" pitchFamily="18" charset="0"/>
                      </a:endParaRPr>
                    </a:p>
                  </a:txBody>
                  <a:tcPr anchor="ctr"/>
                </a:tc>
                <a:extLst>
                  <a:ext uri="{0D108BD9-81ED-4DB2-BD59-A6C34878D82A}">
                    <a16:rowId xmlns:a16="http://schemas.microsoft.com/office/drawing/2014/main" val="327467512"/>
                  </a:ext>
                </a:extLst>
              </a:tr>
              <a:tr h="1171207">
                <a:tc>
                  <a:txBody>
                    <a:bodyPr/>
                    <a:lstStyle/>
                    <a:p>
                      <a:pPr algn="ctr">
                        <a:buNone/>
                      </a:pPr>
                      <a:r>
                        <a:rPr lang="en-US" sz="2200" kern="0">
                          <a:effectLst/>
                        </a:rPr>
                        <a:t>CO3</a:t>
                      </a:r>
                      <a:endParaRPr lang="en-US" sz="2200">
                        <a:effectLst/>
                        <a:latin typeface="Centaur" panose="02030504050205020304" pitchFamily="18" charset="0"/>
                      </a:endParaRPr>
                    </a:p>
                  </a:txBody>
                  <a:tcPr anchor="ctr"/>
                </a:tc>
                <a:tc>
                  <a:txBody>
                    <a:bodyPr/>
                    <a:lstStyle/>
                    <a:p>
                      <a:pPr marL="60325" marR="53975" algn="l">
                        <a:buNone/>
                      </a:pPr>
                      <a:r>
                        <a:rPr lang="en-US" sz="2200" kern="0" dirty="0">
                          <a:effectLst/>
                        </a:rPr>
                        <a:t>Explain Satellite and Optical Fiber Communication </a:t>
                      </a:r>
                      <a:endParaRPr lang="en-US" sz="2200" dirty="0">
                        <a:effectLst/>
                        <a:latin typeface="Centaur" panose="02030504050205020304" pitchFamily="18" charset="0"/>
                      </a:endParaRPr>
                    </a:p>
                  </a:txBody>
                  <a:tcPr anchor="ctr"/>
                </a:tc>
                <a:tc>
                  <a:txBody>
                    <a:bodyPr/>
                    <a:lstStyle/>
                    <a:p>
                      <a:pPr algn="ctr">
                        <a:lnSpc>
                          <a:spcPct val="115000"/>
                        </a:lnSpc>
                        <a:buNone/>
                      </a:pPr>
                      <a:r>
                        <a:rPr lang="en-US" sz="2200" kern="0">
                          <a:effectLst/>
                        </a:rPr>
                        <a:t>Cognitive/ Understand</a:t>
                      </a:r>
                      <a:endParaRPr lang="en-US" sz="2200">
                        <a:effectLst/>
                        <a:latin typeface="Centaur" panose="02030504050205020304" pitchFamily="18" charset="0"/>
                      </a:endParaRPr>
                    </a:p>
                  </a:txBody>
                  <a:tcPr anchor="ctr"/>
                </a:tc>
                <a:tc>
                  <a:txBody>
                    <a:bodyPr/>
                    <a:lstStyle/>
                    <a:p>
                      <a:pPr algn="ctr">
                        <a:buNone/>
                      </a:pPr>
                      <a:r>
                        <a:rPr lang="en-US" sz="2200" kern="0">
                          <a:effectLst/>
                        </a:rPr>
                        <a:t>1</a:t>
                      </a:r>
                      <a:endParaRPr lang="en-US" sz="2200">
                        <a:effectLst/>
                        <a:latin typeface="Centaur" panose="02030504050205020304" pitchFamily="18" charset="0"/>
                      </a:endParaRPr>
                    </a:p>
                  </a:txBody>
                  <a:tcPr anchor="ctr"/>
                </a:tc>
                <a:tc>
                  <a:txBody>
                    <a:bodyPr/>
                    <a:lstStyle/>
                    <a:p>
                      <a:pPr algn="ctr">
                        <a:buNone/>
                      </a:pPr>
                      <a:r>
                        <a:rPr lang="en-US" sz="2200" kern="0">
                          <a:effectLst/>
                        </a:rPr>
                        <a:t>3</a:t>
                      </a:r>
                      <a:endParaRPr lang="en-US" sz="2200">
                        <a:effectLst/>
                        <a:latin typeface="Centaur" panose="02030504050205020304" pitchFamily="18" charset="0"/>
                      </a:endParaRPr>
                    </a:p>
                  </a:txBody>
                  <a:tcPr anchor="ctr"/>
                </a:tc>
                <a:tc>
                  <a:txBody>
                    <a:bodyPr/>
                    <a:lstStyle/>
                    <a:p>
                      <a:pPr algn="ctr">
                        <a:buNone/>
                      </a:pPr>
                      <a:r>
                        <a:rPr lang="en-US" sz="2200" kern="0">
                          <a:effectLst/>
                        </a:rPr>
                        <a:t> </a:t>
                      </a:r>
                      <a:endParaRPr lang="en-US" sz="2200">
                        <a:effectLst/>
                        <a:latin typeface="Centaur" panose="02030504050205020304" pitchFamily="18" charset="0"/>
                      </a:endParaRPr>
                    </a:p>
                  </a:txBody>
                  <a:tcPr anchor="ctr"/>
                </a:tc>
                <a:tc>
                  <a:txBody>
                    <a:bodyPr/>
                    <a:lstStyle/>
                    <a:p>
                      <a:pPr algn="ctr">
                        <a:buNone/>
                      </a:pPr>
                      <a:r>
                        <a:rPr lang="en-US" sz="2200" kern="0">
                          <a:effectLst/>
                        </a:rPr>
                        <a:t> </a:t>
                      </a:r>
                      <a:endParaRPr lang="en-US" sz="2200">
                        <a:effectLst/>
                        <a:latin typeface="Centaur" panose="02030504050205020304" pitchFamily="18" charset="0"/>
                      </a:endParaRPr>
                    </a:p>
                  </a:txBody>
                  <a:tcPr anchor="ctr"/>
                </a:tc>
                <a:tc>
                  <a:txBody>
                    <a:bodyPr/>
                    <a:lstStyle/>
                    <a:p>
                      <a:pPr algn="ctr">
                        <a:buNone/>
                      </a:pPr>
                      <a:r>
                        <a:rPr lang="en-US" sz="2200" kern="0" dirty="0">
                          <a:effectLst/>
                        </a:rPr>
                        <a:t>Lecture/Slides</a:t>
                      </a:r>
                      <a:endParaRPr lang="en-US" sz="2200" dirty="0">
                        <a:effectLst/>
                        <a:latin typeface="Centaur" panose="02030504050205020304" pitchFamily="18" charset="0"/>
                      </a:endParaRPr>
                    </a:p>
                  </a:txBody>
                  <a:tcPr anchor="ctr"/>
                </a:tc>
                <a:tc>
                  <a:txBody>
                    <a:bodyPr/>
                    <a:lstStyle/>
                    <a:p>
                      <a:pPr algn="ctr">
                        <a:buNone/>
                      </a:pPr>
                      <a:r>
                        <a:rPr lang="en-US" sz="2200" kern="0" dirty="0">
                          <a:effectLst/>
                        </a:rPr>
                        <a:t>Final Exam</a:t>
                      </a:r>
                      <a:endParaRPr lang="en-US" sz="2200" dirty="0">
                        <a:effectLst/>
                        <a:latin typeface="Centaur" panose="02030504050205020304" pitchFamily="18" charset="0"/>
                      </a:endParaRPr>
                    </a:p>
                  </a:txBody>
                  <a:tcPr anchor="ctr"/>
                </a:tc>
                <a:extLst>
                  <a:ext uri="{0D108BD9-81ED-4DB2-BD59-A6C34878D82A}">
                    <a16:rowId xmlns:a16="http://schemas.microsoft.com/office/drawing/2014/main" val="2269795989"/>
                  </a:ext>
                </a:extLst>
              </a:tr>
            </a:tbl>
          </a:graphicData>
        </a:graphic>
      </p:graphicFrame>
    </p:spTree>
    <p:extLst>
      <p:ext uri="{BB962C8B-B14F-4D97-AF65-F5344CB8AC3E}">
        <p14:creationId xmlns:p14="http://schemas.microsoft.com/office/powerpoint/2010/main" val="564817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9C49-AA95-63D7-BD4D-01620D7E0D64}"/>
              </a:ext>
            </a:extLst>
          </p:cNvPr>
          <p:cNvSpPr>
            <a:spLocks noGrp="1"/>
          </p:cNvSpPr>
          <p:nvPr>
            <p:ph type="title"/>
          </p:nvPr>
        </p:nvSpPr>
        <p:spPr>
          <a:xfrm>
            <a:off x="966019" y="207809"/>
            <a:ext cx="10515600" cy="736088"/>
          </a:xfrm>
        </p:spPr>
        <p:txBody>
          <a:bodyPr/>
          <a:lstStyle/>
          <a:p>
            <a:r>
              <a:rPr lang="en-US" dirty="0"/>
              <a:t>Program Outcomes</a:t>
            </a:r>
          </a:p>
        </p:txBody>
      </p:sp>
      <p:sp>
        <p:nvSpPr>
          <p:cNvPr id="3" name="Content Placeholder 2">
            <a:extLst>
              <a:ext uri="{FF2B5EF4-FFF2-40B4-BE49-F238E27FC236}">
                <a16:creationId xmlns:a16="http://schemas.microsoft.com/office/drawing/2014/main" id="{DC2FFAC3-32EB-321C-2A0F-1807C6E6608D}"/>
              </a:ext>
            </a:extLst>
          </p:cNvPr>
          <p:cNvSpPr>
            <a:spLocks noGrp="1"/>
          </p:cNvSpPr>
          <p:nvPr>
            <p:ph idx="1"/>
          </p:nvPr>
        </p:nvSpPr>
        <p:spPr/>
        <p:txBody>
          <a:bodyPr/>
          <a:lstStyle/>
          <a:p>
            <a:pPr marL="0" indent="0">
              <a:buNone/>
            </a:pPr>
            <a:r>
              <a:rPr lang="en-US" dirty="0"/>
              <a:t>a) Apply knowledge of mathematics, natural science, engineering fundamentals and an engineering specialization as specified in </a:t>
            </a:r>
            <a:r>
              <a:rPr lang="en-US" dirty="0">
                <a:highlight>
                  <a:srgbClr val="FFFF00"/>
                </a:highlight>
              </a:rPr>
              <a:t>K1 to K4 </a:t>
            </a:r>
            <a:r>
              <a:rPr lang="en-US" dirty="0"/>
              <a:t>respectively to the solution of complex engineering problems.</a:t>
            </a:r>
            <a:endParaRPr lang="en-US" dirty="0">
              <a:latin typeface="Arial Narrow" panose="020B0606020202030204" pitchFamily="34" charset="0"/>
              <a:ea typeface="Calibri" panose="020F0502020204030204" pitchFamily="34" charset="0"/>
              <a:cs typeface="Arial Narrow" panose="020B0606020202030204" pitchFamily="34" charset="0"/>
            </a:endParaRPr>
          </a:p>
          <a:p>
            <a:pPr marL="0" indent="0">
              <a:buNone/>
            </a:pPr>
            <a:endParaRPr lang="en-US" dirty="0">
              <a:latin typeface="Arial Narrow" panose="020B0606020202030204" pitchFamily="34" charset="0"/>
              <a:ea typeface="Calibri" panose="020F0502020204030204" pitchFamily="34" charset="0"/>
              <a:cs typeface="Arial Narrow" panose="020B0606020202030204" pitchFamily="34" charset="0"/>
            </a:endParaRPr>
          </a:p>
          <a:p>
            <a:pPr marL="0" indent="0">
              <a:buNone/>
            </a:pPr>
            <a:r>
              <a:rPr lang="en-US" dirty="0">
                <a:latin typeface="Arial Narrow" panose="020B0606020202030204" pitchFamily="34" charset="0"/>
                <a:ea typeface="Calibri" panose="020F0502020204030204" pitchFamily="34" charset="0"/>
                <a:cs typeface="Arial Narrow" panose="020B0606020202030204" pitchFamily="34" charset="0"/>
              </a:rPr>
              <a:t>b) Identify, formulate, research literature and analyze complex engineering problems reaching substantiated conclusions using first principles of mathematics, natural sciences and engineering sciences. (</a:t>
            </a:r>
            <a:r>
              <a:rPr lang="en-US" dirty="0">
                <a:highlight>
                  <a:srgbClr val="FFFF00"/>
                </a:highlight>
                <a:latin typeface="Arial Narrow" panose="020B0606020202030204" pitchFamily="34" charset="0"/>
                <a:ea typeface="Calibri" panose="020F0502020204030204" pitchFamily="34" charset="0"/>
                <a:cs typeface="Arial Narrow" panose="020B0606020202030204" pitchFamily="34" charset="0"/>
              </a:rPr>
              <a:t>K1 to K4)</a:t>
            </a: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5722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D33FD9-5443-F878-BCCA-6B61DE19F89E}"/>
              </a:ext>
            </a:extLst>
          </p:cNvPr>
          <p:cNvSpPr>
            <a:spLocks noGrp="1"/>
          </p:cNvSpPr>
          <p:nvPr>
            <p:ph type="title"/>
          </p:nvPr>
        </p:nvSpPr>
        <p:spPr>
          <a:xfrm>
            <a:off x="2655282" y="677041"/>
            <a:ext cx="6881435" cy="701731"/>
          </a:xfrm>
          <a:prstGeom prst="rect">
            <a:avLst/>
          </a:prstGeom>
          <a:noFill/>
        </p:spPr>
        <p:txBody>
          <a:bodyPr wrap="none" lIns="91440" tIns="45720" rIns="91440" bIns="45720">
            <a:spAutoFit/>
          </a:bodyPr>
          <a:lstStyle/>
          <a:p>
            <a:pPr algn="ctr"/>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Knowledge Profile (K1–K8)</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39AFF9CD-8E07-F912-99F5-3B26FDDD03B9}"/>
              </a:ext>
            </a:extLst>
          </p:cNvPr>
          <p:cNvGraphicFramePr>
            <a:graphicFrameLocks noGrp="1"/>
          </p:cNvGraphicFramePr>
          <p:nvPr>
            <p:ph idx="1"/>
            <p:extLst>
              <p:ext uri="{D42A27DB-BD31-4B8C-83A1-F6EECF244321}">
                <p14:modId xmlns:p14="http://schemas.microsoft.com/office/powerpoint/2010/main" val="2029629510"/>
              </p:ext>
            </p:extLst>
          </p:nvPr>
        </p:nvGraphicFramePr>
        <p:xfrm>
          <a:off x="838200" y="1825625"/>
          <a:ext cx="9507986" cy="3520440"/>
        </p:xfrm>
        <a:graphic>
          <a:graphicData uri="http://schemas.openxmlformats.org/drawingml/2006/table">
            <a:tbl>
              <a:tblPr firstRow="1" firstCol="1" bandRow="1"/>
              <a:tblGrid>
                <a:gridCol w="2286773">
                  <a:extLst>
                    <a:ext uri="{9D8B030D-6E8A-4147-A177-3AD203B41FA5}">
                      <a16:colId xmlns:a16="http://schemas.microsoft.com/office/drawing/2014/main" val="1544333693"/>
                    </a:ext>
                  </a:extLst>
                </a:gridCol>
                <a:gridCol w="7221213">
                  <a:extLst>
                    <a:ext uri="{9D8B030D-6E8A-4147-A177-3AD203B41FA5}">
                      <a16:colId xmlns:a16="http://schemas.microsoft.com/office/drawing/2014/main" val="219389880"/>
                    </a:ext>
                  </a:extLst>
                </a:gridCol>
              </a:tblGrid>
              <a:tr h="0">
                <a:tc>
                  <a:txBody>
                    <a:bodyPr/>
                    <a:lstStyle/>
                    <a:p>
                      <a:pPr marL="0" marR="0" algn="ctr">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Code</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0566950"/>
                  </a:ext>
                </a:extLst>
              </a:tr>
              <a:tr h="0">
                <a:tc>
                  <a:txBody>
                    <a:bodyPr/>
                    <a:lstStyle/>
                    <a:p>
                      <a:pPr marL="0" marR="0" algn="ctr">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WK1</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Mathematics, science, engineering fundamentals</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388812"/>
                  </a:ext>
                </a:extLst>
              </a:tr>
              <a:tr h="0">
                <a:tc>
                  <a:txBody>
                    <a:bodyPr/>
                    <a:lstStyle/>
                    <a:p>
                      <a:pPr marL="0" marR="0" algn="ctr">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WK2</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specialization fundamentals</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8830657"/>
                  </a:ext>
                </a:extLst>
              </a:tr>
              <a:tr h="0">
                <a:tc>
                  <a:txBody>
                    <a:bodyPr/>
                    <a:lstStyle/>
                    <a:p>
                      <a:pPr marL="0" marR="0" algn="ctr">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WK3</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Advanced engineering knowledge</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1945835"/>
                  </a:ext>
                </a:extLst>
              </a:tr>
              <a:tr h="0">
                <a:tc>
                  <a:txBody>
                    <a:bodyPr/>
                    <a:lstStyle/>
                    <a:p>
                      <a:pPr marL="0" marR="0" algn="ctr">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WK4</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Research literature and methods</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1299417"/>
                  </a:ext>
                </a:extLst>
              </a:tr>
              <a:tr h="0">
                <a:tc>
                  <a:txBody>
                    <a:bodyPr/>
                    <a:lstStyle/>
                    <a:p>
                      <a:pPr marL="0" marR="0" algn="ctr">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WK5</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design</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9907314"/>
                  </a:ext>
                </a:extLst>
              </a:tr>
              <a:tr h="0">
                <a:tc>
                  <a:txBody>
                    <a:bodyPr/>
                    <a:lstStyle/>
                    <a:p>
                      <a:pPr marL="0" marR="0" algn="ctr">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WK6</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practices, tools, and resources</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656381"/>
                  </a:ext>
                </a:extLst>
              </a:tr>
              <a:tr h="0">
                <a:tc>
                  <a:txBody>
                    <a:bodyPr/>
                    <a:lstStyle/>
                    <a:p>
                      <a:pPr marL="0" marR="0" algn="ctr">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WK7</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Effects of engineering on society and environment</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8366620"/>
                  </a:ext>
                </a:extLst>
              </a:tr>
              <a:tr h="0">
                <a:tc>
                  <a:txBody>
                    <a:bodyPr/>
                    <a:lstStyle/>
                    <a:p>
                      <a:pPr marL="0" marR="0" algn="ctr">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WK8</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Principles of project management and finance</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6985897"/>
                  </a:ext>
                </a:extLst>
              </a:tr>
            </a:tbl>
          </a:graphicData>
        </a:graphic>
      </p:graphicFrame>
    </p:spTree>
    <p:extLst>
      <p:ext uri="{BB962C8B-B14F-4D97-AF65-F5344CB8AC3E}">
        <p14:creationId xmlns:p14="http://schemas.microsoft.com/office/powerpoint/2010/main" val="4096904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AAD6-97C1-0BC1-10DA-37565D670EB3}"/>
              </a:ext>
            </a:extLst>
          </p:cNvPr>
          <p:cNvSpPr>
            <a:spLocks noGrp="1"/>
          </p:cNvSpPr>
          <p:nvPr>
            <p:ph type="title"/>
          </p:nvPr>
        </p:nvSpPr>
        <p:spPr>
          <a:xfrm>
            <a:off x="0" y="10688"/>
            <a:ext cx="3871451" cy="510422"/>
          </a:xfrm>
        </p:spPr>
        <p:txBody>
          <a:bodyPr>
            <a:normAutofit fontScale="90000"/>
          </a:bodyPr>
          <a:lstStyle/>
          <a:p>
            <a:r>
              <a:rPr lang="en-US" dirty="0"/>
              <a:t>Course Plan</a:t>
            </a:r>
          </a:p>
        </p:txBody>
      </p:sp>
      <p:graphicFrame>
        <p:nvGraphicFramePr>
          <p:cNvPr id="5" name="Content Placeholder 4">
            <a:extLst>
              <a:ext uri="{FF2B5EF4-FFF2-40B4-BE49-F238E27FC236}">
                <a16:creationId xmlns:a16="http://schemas.microsoft.com/office/drawing/2014/main" id="{96ECED3E-A680-60CC-F466-DA3B3883B0FD}"/>
              </a:ext>
            </a:extLst>
          </p:cNvPr>
          <p:cNvGraphicFramePr>
            <a:graphicFrameLocks noGrp="1"/>
          </p:cNvGraphicFramePr>
          <p:nvPr>
            <p:ph idx="1"/>
            <p:extLst>
              <p:ext uri="{D42A27DB-BD31-4B8C-83A1-F6EECF244321}">
                <p14:modId xmlns:p14="http://schemas.microsoft.com/office/powerpoint/2010/main" val="3790783281"/>
              </p:ext>
            </p:extLst>
          </p:nvPr>
        </p:nvGraphicFramePr>
        <p:xfrm>
          <a:off x="90949" y="603524"/>
          <a:ext cx="11924069" cy="7055901"/>
        </p:xfrm>
        <a:graphic>
          <a:graphicData uri="http://schemas.openxmlformats.org/drawingml/2006/table">
            <a:tbl>
              <a:tblPr firstRow="1" bandRow="1">
                <a:tableStyleId>{5C22544A-7EE6-4342-B048-85BDC9FD1C3A}</a:tableStyleId>
              </a:tblPr>
              <a:tblGrid>
                <a:gridCol w="744793">
                  <a:extLst>
                    <a:ext uri="{9D8B030D-6E8A-4147-A177-3AD203B41FA5}">
                      <a16:colId xmlns:a16="http://schemas.microsoft.com/office/drawing/2014/main" val="539020526"/>
                    </a:ext>
                  </a:extLst>
                </a:gridCol>
                <a:gridCol w="6142626">
                  <a:extLst>
                    <a:ext uri="{9D8B030D-6E8A-4147-A177-3AD203B41FA5}">
                      <a16:colId xmlns:a16="http://schemas.microsoft.com/office/drawing/2014/main" val="3830475102"/>
                    </a:ext>
                  </a:extLst>
                </a:gridCol>
                <a:gridCol w="5036650">
                  <a:extLst>
                    <a:ext uri="{9D8B030D-6E8A-4147-A177-3AD203B41FA5}">
                      <a16:colId xmlns:a16="http://schemas.microsoft.com/office/drawing/2014/main" val="3477553980"/>
                    </a:ext>
                  </a:extLst>
                </a:gridCol>
              </a:tblGrid>
              <a:tr h="495557">
                <a:tc>
                  <a:txBody>
                    <a:bodyPr/>
                    <a:lstStyle/>
                    <a:p>
                      <a:pPr algn="ctr">
                        <a:buNone/>
                      </a:pPr>
                      <a:r>
                        <a:rPr lang="en-US" sz="2000" b="1" kern="0" dirty="0">
                          <a:effectLst/>
                          <a:latin typeface="Arial Narrow" panose="020B0606020202030204" pitchFamily="34" charset="0"/>
                        </a:rPr>
                        <a:t>Week</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Topic</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Reading Materials</a:t>
                      </a:r>
                      <a:endParaRPr lang="en-US" sz="2000" dirty="0">
                        <a:effectLst/>
                        <a:latin typeface="Arial Narrow" panose="020B0606020202030204" pitchFamily="34" charset="0"/>
                      </a:endParaRPr>
                    </a:p>
                  </a:txBody>
                  <a:tcPr marL="68580" marR="68580" anchor="ctr"/>
                </a:tc>
                <a:extLst>
                  <a:ext uri="{0D108BD9-81ED-4DB2-BD59-A6C34878D82A}">
                    <a16:rowId xmlns:a16="http://schemas.microsoft.com/office/drawing/2014/main" val="1274508192"/>
                  </a:ext>
                </a:extLst>
              </a:tr>
              <a:tr h="1165384">
                <a:tc rowSpan="2">
                  <a:txBody>
                    <a:bodyPr/>
                    <a:lstStyle/>
                    <a:p>
                      <a:pPr algn="ctr">
                        <a:lnSpc>
                          <a:spcPct val="115000"/>
                        </a:lnSpc>
                        <a:spcAft>
                          <a:spcPts val="800"/>
                        </a:spcAft>
                        <a:buNone/>
                      </a:pPr>
                      <a:r>
                        <a:rPr lang="en-US" sz="2000" b="1" kern="100" dirty="0">
                          <a:effectLst/>
                          <a:latin typeface="Times New Roman" panose="02020603050405020304" pitchFamily="18" charset="0"/>
                          <a:ea typeface="等线" panose="02010600030101010101" pitchFamily="2" charset="-122"/>
                          <a:cs typeface="Arial" panose="020B0604020202020204" pitchFamily="34" charset="0"/>
                        </a:rPr>
                        <a:t>1</a:t>
                      </a:r>
                    </a:p>
                    <a:p>
                      <a:pPr algn="ctr">
                        <a:lnSpc>
                          <a:spcPct val="115000"/>
                        </a:lnSpc>
                        <a:spcAft>
                          <a:spcPts val="800"/>
                        </a:spcAft>
                        <a:buNone/>
                      </a:pPr>
                      <a:r>
                        <a:rPr lang="en-US" sz="2000" b="1" kern="100" dirty="0">
                          <a:effectLst/>
                          <a:latin typeface="Times New Roman" panose="02020603050405020304" pitchFamily="18" charset="0"/>
                          <a:ea typeface="等线" panose="02010600030101010101" pitchFamily="2" charset="-122"/>
                          <a:cs typeface="Arial" panose="020B0604020202020204" pitchFamily="34" charset="0"/>
                        </a:rPr>
                        <a:t> </a:t>
                      </a:r>
                      <a:endParaRPr lang="en-US" sz="2000" kern="100" dirty="0">
                        <a:effectLst/>
                        <a:latin typeface="Calibri" panose="020F0502020204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Communication Engineering Fundamentals, Waveforms Spectra, Elements of basic communication systems, Periodic and nonperiodic waveforms and their properties. Fourier series</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Chapter-3</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txBody>
                  <a:tcPr marL="68580" marR="68580" anchor="ctr"/>
                </a:tc>
                <a:extLst>
                  <a:ext uri="{0D108BD9-81ED-4DB2-BD59-A6C34878D82A}">
                    <a16:rowId xmlns:a16="http://schemas.microsoft.com/office/drawing/2014/main" val="1927856664"/>
                  </a:ext>
                </a:extLst>
              </a:tr>
              <a:tr h="613940">
                <a:tc vMerge="1">
                  <a:txBody>
                    <a:bodyPr/>
                    <a:lstStyle/>
                    <a:p>
                      <a:endParaRPr dirty="0"/>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Noise and its different types.</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Electronic Communication Systems by George Kennedy, Chapter-2</a:t>
                      </a:r>
                    </a:p>
                  </a:txBody>
                  <a:tcPr marL="68580" marR="68580" anchor="ctr"/>
                </a:tc>
                <a:extLst>
                  <a:ext uri="{0D108BD9-81ED-4DB2-BD59-A6C34878D82A}">
                    <a16:rowId xmlns:a16="http://schemas.microsoft.com/office/drawing/2014/main" val="4100389793"/>
                  </a:ext>
                </a:extLst>
              </a:tr>
              <a:tr h="613940">
                <a:tc>
                  <a:txBody>
                    <a:bodyPr/>
                    <a:lstStyle/>
                    <a:p>
                      <a:pPr algn="ctr">
                        <a:lnSpc>
                          <a:spcPct val="115000"/>
                        </a:lnSpc>
                        <a:spcAft>
                          <a:spcPts val="800"/>
                        </a:spcAft>
                        <a:buNone/>
                      </a:pPr>
                      <a:r>
                        <a:rPr lang="en-US" sz="2000" b="1" kern="100">
                          <a:effectLst/>
                          <a:latin typeface="Times New Roman" panose="02020603050405020304" pitchFamily="18" charset="0"/>
                          <a:ea typeface="等线" panose="02010600030101010101" pitchFamily="2" charset="-122"/>
                          <a:cs typeface="Arial" panose="020B0604020202020204" pitchFamily="34" charset="0"/>
                        </a:rPr>
                        <a:t>2</a:t>
                      </a:r>
                      <a:endParaRPr lang="en-US" sz="2000" kern="100">
                        <a:effectLst/>
                        <a:latin typeface="Calibri" panose="020F0502020204030204" pitchFamily="34" charset="0"/>
                        <a:ea typeface="等线" panose="02010600030101010101" pitchFamily="2" charset="-122"/>
                        <a:cs typeface="Arial" panose="020B0604020202020204" pitchFamily="34" charset="0"/>
                      </a:endParaRPr>
                    </a:p>
                    <a:p>
                      <a:pPr algn="ctr">
                        <a:lnSpc>
                          <a:spcPct val="115000"/>
                        </a:lnSpc>
                        <a:spcAft>
                          <a:spcPts val="800"/>
                        </a:spcAft>
                        <a:buNone/>
                      </a:pPr>
                      <a:r>
                        <a:rPr lang="en-US" sz="2000" b="1" kern="100">
                          <a:effectLst/>
                          <a:latin typeface="Times New Roman" panose="02020603050405020304" pitchFamily="18" charset="0"/>
                          <a:ea typeface="等线" panose="02010600030101010101" pitchFamily="2" charset="-122"/>
                          <a:cs typeface="Arial" panose="020B0604020202020204" pitchFamily="34" charset="0"/>
                        </a:rPr>
                        <a:t> </a:t>
                      </a:r>
                      <a:endParaRPr lang="en-US" sz="2000" kern="100">
                        <a:effectLst/>
                        <a:latin typeface="Calibri" panose="020F0502020204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Analogue Communication: Amplitude modulation, Amplitude modulation index, Frequency spectrum for sinusoidal AM.</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Electronic Communication Systems by George Kennedy, Chapter-2</a:t>
                      </a:r>
                    </a:p>
                  </a:txBody>
                  <a:tcPr marL="68580" marR="68580" anchor="ctr"/>
                </a:tc>
                <a:extLst>
                  <a:ext uri="{0D108BD9-81ED-4DB2-BD59-A6C34878D82A}">
                    <a16:rowId xmlns:a16="http://schemas.microsoft.com/office/drawing/2014/main" val="2632577222"/>
                  </a:ext>
                </a:extLst>
              </a:tr>
              <a:tr h="793310">
                <a:tc>
                  <a:txBody>
                    <a:bodyPr/>
                    <a:lstStyle/>
                    <a:p>
                      <a:pPr algn="ctr">
                        <a:lnSpc>
                          <a:spcPct val="115000"/>
                        </a:lnSpc>
                        <a:spcAft>
                          <a:spcPts val="800"/>
                        </a:spcAft>
                        <a:buNone/>
                      </a:pPr>
                      <a:r>
                        <a:rPr lang="en-US" sz="2000" b="1" kern="100">
                          <a:effectLst/>
                          <a:latin typeface="Times New Roman" panose="02020603050405020304" pitchFamily="18" charset="0"/>
                          <a:ea typeface="等线" panose="02010600030101010101" pitchFamily="2" charset="-122"/>
                          <a:cs typeface="Arial" panose="020B0604020202020204" pitchFamily="34" charset="0"/>
                        </a:rPr>
                        <a:t>3</a:t>
                      </a:r>
                      <a:endParaRPr lang="en-US" sz="2000" kern="100">
                        <a:effectLst/>
                        <a:latin typeface="Calibri" panose="020F0502020204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Frequency Modulation: Frequency Modulation, Sinusoidal FM, Frequency spectrum for Sinusoidal FM, Phase Modulation.</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Class Lecture</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Electronic Communication Systems by George Kennedy, Chapter-4</a:t>
                      </a:r>
                    </a:p>
                  </a:txBody>
                  <a:tcPr marL="68580" marR="68580"/>
                </a:tc>
                <a:extLst>
                  <a:ext uri="{0D108BD9-81ED-4DB2-BD59-A6C34878D82A}">
                    <a16:rowId xmlns:a16="http://schemas.microsoft.com/office/drawing/2014/main" val="3885990575"/>
                  </a:ext>
                </a:extLst>
              </a:tr>
              <a:tr h="1141983">
                <a:tc>
                  <a:txBody>
                    <a:bodyPr/>
                    <a:lstStyle/>
                    <a:p>
                      <a:pPr algn="ctr">
                        <a:lnSpc>
                          <a:spcPct val="115000"/>
                        </a:lnSpc>
                        <a:spcAft>
                          <a:spcPts val="800"/>
                        </a:spcAft>
                        <a:buNone/>
                      </a:pPr>
                      <a:r>
                        <a:rPr lang="en-US" sz="2000" b="1" kern="100">
                          <a:effectLst/>
                          <a:latin typeface="Times New Roman" panose="02020603050405020304" pitchFamily="18" charset="0"/>
                          <a:ea typeface="等线" panose="02010600030101010101" pitchFamily="2" charset="-122"/>
                          <a:cs typeface="Arial" panose="020B0604020202020204" pitchFamily="34" charset="0"/>
                        </a:rPr>
                        <a:t>4</a:t>
                      </a:r>
                      <a:endParaRPr lang="en-US" sz="2000" kern="100">
                        <a:effectLst/>
                        <a:latin typeface="Calibri" panose="020F0502020204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Pulse Code Modulation (PCM), Quantization, Compression, PCM Receiver, Differential PCM</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Chapter-4, Article - 4.2</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Electronic Communication Systems by George Kennedy, Article-5.3.3</a:t>
                      </a:r>
                    </a:p>
                  </a:txBody>
                  <a:tcPr marL="68580" marR="68580"/>
                </a:tc>
                <a:extLst>
                  <a:ext uri="{0D108BD9-81ED-4DB2-BD59-A6C34878D82A}">
                    <a16:rowId xmlns:a16="http://schemas.microsoft.com/office/drawing/2014/main" val="3585171981"/>
                  </a:ext>
                </a:extLst>
              </a:tr>
              <a:tr h="822900">
                <a:tc>
                  <a:txBody>
                    <a:bodyPr/>
                    <a:lstStyle/>
                    <a:p>
                      <a:pPr algn="ctr">
                        <a:lnSpc>
                          <a:spcPct val="100000"/>
                        </a:lnSpc>
                        <a:spcAft>
                          <a:spcPts val="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5</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Delta Modulation, Sigma-Delta A/D conversion.</a:t>
                      </a:r>
                    </a:p>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Pulse Modulation</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Chapter-4, Article - 4.2.2</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txBody>
                  <a:tcPr marL="68580" marR="68580"/>
                </a:tc>
                <a:extLst>
                  <a:ext uri="{0D108BD9-81ED-4DB2-BD59-A6C34878D82A}">
                    <a16:rowId xmlns:a16="http://schemas.microsoft.com/office/drawing/2014/main" val="3316104818"/>
                  </a:ext>
                </a:extLst>
              </a:tr>
            </a:tbl>
          </a:graphicData>
        </a:graphic>
      </p:graphicFrame>
    </p:spTree>
    <p:extLst>
      <p:ext uri="{BB962C8B-B14F-4D97-AF65-F5344CB8AC3E}">
        <p14:creationId xmlns:p14="http://schemas.microsoft.com/office/powerpoint/2010/main" val="116424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F04B3-4EAE-4390-0A1B-F44FE56472D6}"/>
              </a:ext>
            </a:extLst>
          </p:cNvPr>
          <p:cNvSpPr>
            <a:spLocks noGrp="1"/>
          </p:cNvSpPr>
          <p:nvPr>
            <p:ph type="title"/>
          </p:nvPr>
        </p:nvSpPr>
        <p:spPr>
          <a:xfrm>
            <a:off x="90949" y="0"/>
            <a:ext cx="3271683" cy="736088"/>
          </a:xfrm>
        </p:spPr>
        <p:txBody>
          <a:bodyPr/>
          <a:lstStyle/>
          <a:p>
            <a:r>
              <a:rPr lang="en-US" dirty="0"/>
              <a:t>Course Plan</a:t>
            </a:r>
          </a:p>
        </p:txBody>
      </p:sp>
      <p:graphicFrame>
        <p:nvGraphicFramePr>
          <p:cNvPr id="4" name="Content Placeholder 4">
            <a:extLst>
              <a:ext uri="{FF2B5EF4-FFF2-40B4-BE49-F238E27FC236}">
                <a16:creationId xmlns:a16="http://schemas.microsoft.com/office/drawing/2014/main" id="{D4653B23-D3BC-94F9-4E2B-EBF27EC1745C}"/>
              </a:ext>
            </a:extLst>
          </p:cNvPr>
          <p:cNvGraphicFramePr>
            <a:graphicFrameLocks/>
          </p:cNvGraphicFramePr>
          <p:nvPr>
            <p:extLst>
              <p:ext uri="{D42A27DB-BD31-4B8C-83A1-F6EECF244321}">
                <p14:modId xmlns:p14="http://schemas.microsoft.com/office/powerpoint/2010/main" val="69460672"/>
              </p:ext>
            </p:extLst>
          </p:nvPr>
        </p:nvGraphicFramePr>
        <p:xfrm>
          <a:off x="90949" y="736088"/>
          <a:ext cx="11924069" cy="5082611"/>
        </p:xfrm>
        <a:graphic>
          <a:graphicData uri="http://schemas.openxmlformats.org/drawingml/2006/table">
            <a:tbl>
              <a:tblPr firstRow="1" bandRow="1">
                <a:tableStyleId>{5C22544A-7EE6-4342-B048-85BDC9FD1C3A}</a:tableStyleId>
              </a:tblPr>
              <a:tblGrid>
                <a:gridCol w="744793">
                  <a:extLst>
                    <a:ext uri="{9D8B030D-6E8A-4147-A177-3AD203B41FA5}">
                      <a16:colId xmlns:a16="http://schemas.microsoft.com/office/drawing/2014/main" val="539020526"/>
                    </a:ext>
                  </a:extLst>
                </a:gridCol>
                <a:gridCol w="5230761">
                  <a:extLst>
                    <a:ext uri="{9D8B030D-6E8A-4147-A177-3AD203B41FA5}">
                      <a16:colId xmlns:a16="http://schemas.microsoft.com/office/drawing/2014/main" val="3830475102"/>
                    </a:ext>
                  </a:extLst>
                </a:gridCol>
                <a:gridCol w="5948515">
                  <a:extLst>
                    <a:ext uri="{9D8B030D-6E8A-4147-A177-3AD203B41FA5}">
                      <a16:colId xmlns:a16="http://schemas.microsoft.com/office/drawing/2014/main" val="3477553980"/>
                    </a:ext>
                  </a:extLst>
                </a:gridCol>
              </a:tblGrid>
              <a:tr h="495557">
                <a:tc>
                  <a:txBody>
                    <a:bodyPr/>
                    <a:lstStyle/>
                    <a:p>
                      <a:pPr algn="ctr">
                        <a:buNone/>
                      </a:pPr>
                      <a:r>
                        <a:rPr lang="en-US" sz="2000" b="1" kern="0" dirty="0">
                          <a:effectLst/>
                          <a:latin typeface="Arial Narrow" panose="020B0606020202030204" pitchFamily="34" charset="0"/>
                        </a:rPr>
                        <a:t>Week</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Topic</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Reading Materials</a:t>
                      </a:r>
                      <a:endParaRPr lang="en-US" sz="2000" dirty="0">
                        <a:effectLst/>
                        <a:latin typeface="Arial Narrow" panose="020B0606020202030204" pitchFamily="34" charset="0"/>
                      </a:endParaRPr>
                    </a:p>
                  </a:txBody>
                  <a:tcPr marL="68580" marR="68580" anchor="ctr"/>
                </a:tc>
                <a:extLst>
                  <a:ext uri="{0D108BD9-81ED-4DB2-BD59-A6C34878D82A}">
                    <a16:rowId xmlns:a16="http://schemas.microsoft.com/office/drawing/2014/main" val="1274508192"/>
                  </a:ext>
                </a:extLst>
              </a:tr>
              <a:tr h="613940">
                <a:tc>
                  <a:txBody>
                    <a:bodyPr/>
                    <a:lstStyle/>
                    <a:p>
                      <a:pPr algn="ctr">
                        <a:lnSpc>
                          <a:spcPct val="100000"/>
                        </a:lnSpc>
                        <a:spcAft>
                          <a:spcPts val="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5</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Delta Modulation, Sigma-Delta A/D conversion.</a:t>
                      </a:r>
                    </a:p>
                    <a:p>
                      <a:pPr algn="just">
                        <a:lnSpc>
                          <a:spcPct val="100000"/>
                        </a:lnSpc>
                        <a:spcAft>
                          <a:spcPts val="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Pulse Modulation</a:t>
                      </a:r>
                    </a:p>
                  </a:txBody>
                  <a:tcPr marL="68580" marR="68580" anchor="ctr"/>
                </a:tc>
                <a:tc>
                  <a:txBody>
                    <a:bodyPr/>
                    <a:lstStyle/>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Chapter-4, Article - 4.2.2</a:t>
                      </a:r>
                    </a:p>
                    <a:p>
                      <a:pPr marL="342900" lvl="0" indent="-342900" algn="just">
                        <a:lnSpc>
                          <a:spcPct val="100000"/>
                        </a:lnSpc>
                        <a:spcAft>
                          <a:spcPts val="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txBody>
                  <a:tcPr marL="68580" marR="68580"/>
                </a:tc>
                <a:extLst>
                  <a:ext uri="{0D108BD9-81ED-4DB2-BD59-A6C34878D82A}">
                    <a16:rowId xmlns:a16="http://schemas.microsoft.com/office/drawing/2014/main" val="2632577222"/>
                  </a:ext>
                </a:extLst>
              </a:tr>
              <a:tr h="793310">
                <a:tc>
                  <a:txBody>
                    <a:bodyPr/>
                    <a:lstStyle/>
                    <a:p>
                      <a:pPr algn="ctr">
                        <a:lnSpc>
                          <a:spcPct val="115000"/>
                        </a:lnSpc>
                        <a:spcAft>
                          <a:spcPts val="80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6</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2000" kern="100" dirty="0">
                          <a:effectLst/>
                          <a:latin typeface="Arial Narrow" panose="020B0606020202030204" pitchFamily="34" charset="0"/>
                          <a:ea typeface="等线" panose="02010600030101010101" pitchFamily="2" charset="-122"/>
                          <a:cs typeface="Arial" panose="020B0604020202020204" pitchFamily="34" charset="0"/>
                        </a:rPr>
                        <a:t>Analog Multiplexing</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2000" kern="10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Article-6.1</a:t>
                      </a:r>
                      <a:endParaRPr lang="en-US" sz="2400" kern="100">
                        <a:effectLst/>
                        <a:latin typeface="Arial Narrow" panose="020B0606020202030204" pitchFamily="34" charset="0"/>
                        <a:ea typeface="等线" panose="02010600030101010101" pitchFamily="2" charset="-122"/>
                        <a:cs typeface="Arial" panose="020B0604020202020204" pitchFamily="34" charset="0"/>
                      </a:endParaRPr>
                    </a:p>
                  </a:txBody>
                  <a:tcPr marL="68580" marR="68580"/>
                </a:tc>
                <a:extLst>
                  <a:ext uri="{0D108BD9-81ED-4DB2-BD59-A6C34878D82A}">
                    <a16:rowId xmlns:a16="http://schemas.microsoft.com/office/drawing/2014/main" val="3885990575"/>
                  </a:ext>
                </a:extLst>
              </a:tr>
              <a:tr h="1141983">
                <a:tc>
                  <a:txBody>
                    <a:bodyPr/>
                    <a:lstStyle/>
                    <a:p>
                      <a:pPr algn="ctr">
                        <a:lnSpc>
                          <a:spcPct val="115000"/>
                        </a:lnSpc>
                        <a:spcAft>
                          <a:spcPts val="80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7</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2000" kern="100" dirty="0">
                          <a:effectLst/>
                          <a:latin typeface="Arial Narrow" panose="020B0606020202030204" pitchFamily="34" charset="0"/>
                          <a:ea typeface="等线" panose="02010600030101010101" pitchFamily="2" charset="-122"/>
                          <a:cs typeface="Arial" panose="020B0604020202020204" pitchFamily="34" charset="0"/>
                        </a:rPr>
                        <a:t>Digital Communication: Basic Digital Communication System, Synchronization, Asynchronous Transmission,</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p>
                      <a:pPr algn="just">
                        <a:lnSpc>
                          <a:spcPct val="115000"/>
                        </a:lnSpc>
                        <a:spcAft>
                          <a:spcPts val="800"/>
                        </a:spcAft>
                        <a:buNone/>
                      </a:pPr>
                      <a:r>
                        <a:rPr lang="en-US" sz="2000" kern="100" dirty="0">
                          <a:effectLst/>
                          <a:latin typeface="Arial Narrow" panose="020B0606020202030204" pitchFamily="34" charset="0"/>
                          <a:ea typeface="等线" panose="02010600030101010101" pitchFamily="2" charset="-122"/>
                          <a:cs typeface="Arial" panose="020B0604020202020204" pitchFamily="34" charset="0"/>
                        </a:rPr>
                        <a:t>Probability of Bit Error in Baseband Transmission, Matched Filter, Eye Diagrams</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2000" kern="100" dirty="0">
                          <a:effectLst/>
                          <a:latin typeface="Arial Narrow" panose="020B0606020202030204" pitchFamily="34" charset="0"/>
                          <a:ea typeface="等线" panose="02010600030101010101" pitchFamily="2" charset="-122"/>
                          <a:cs typeface="Arial" panose="020B0604020202020204" pitchFamily="34" charset="0"/>
                        </a:rPr>
                        <a:t>Lecture Slides</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p>
                      <a:pPr marL="342900" lvl="0" indent="-342900">
                        <a:lnSpc>
                          <a:spcPct val="115000"/>
                        </a:lnSpc>
                        <a:spcAft>
                          <a:spcPts val="800"/>
                        </a:spcAft>
                        <a:buFont typeface="Symbol" panose="05050102010706020507" pitchFamily="18" charset="2"/>
                        <a:buChar char=""/>
                      </a:pPr>
                      <a:r>
                        <a:rPr lang="en-US" sz="20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Chapter-4</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p>
                      <a:pPr marL="342900" lvl="0" indent="-342900">
                        <a:lnSpc>
                          <a:spcPct val="115000"/>
                        </a:lnSpc>
                        <a:spcAft>
                          <a:spcPts val="800"/>
                        </a:spcAft>
                        <a:buFont typeface="Symbol" panose="05050102010706020507" pitchFamily="18" charset="2"/>
                        <a:buChar char=""/>
                      </a:pPr>
                      <a:r>
                        <a:rPr lang="en-US" sz="20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Chapter-3</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tc>
                <a:extLst>
                  <a:ext uri="{0D108BD9-81ED-4DB2-BD59-A6C34878D82A}">
                    <a16:rowId xmlns:a16="http://schemas.microsoft.com/office/drawing/2014/main" val="3585171981"/>
                  </a:ext>
                </a:extLst>
              </a:tr>
              <a:tr h="822900">
                <a:tc>
                  <a:txBody>
                    <a:bodyPr/>
                    <a:lstStyle/>
                    <a:p>
                      <a:pPr algn="ctr">
                        <a:lnSpc>
                          <a:spcPct val="115000"/>
                        </a:lnSpc>
                        <a:spcAft>
                          <a:spcPts val="80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8</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2000" kern="100" dirty="0">
                          <a:effectLst/>
                          <a:latin typeface="Arial Narrow" panose="020B0606020202030204" pitchFamily="34" charset="0"/>
                          <a:ea typeface="等线" panose="02010600030101010101" pitchFamily="2" charset="-122"/>
                          <a:cs typeface="Arial" panose="020B0604020202020204" pitchFamily="34" charset="0"/>
                        </a:rPr>
                        <a:t>Digital Carrier Systems, Amplitude Shift keying,</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p>
                      <a:pPr algn="just">
                        <a:lnSpc>
                          <a:spcPct val="115000"/>
                        </a:lnSpc>
                        <a:spcAft>
                          <a:spcPts val="800"/>
                        </a:spcAft>
                        <a:buNone/>
                      </a:pPr>
                      <a:r>
                        <a:rPr lang="en-US" sz="2000" kern="100" dirty="0">
                          <a:effectLst/>
                          <a:latin typeface="Arial Narrow" panose="020B0606020202030204" pitchFamily="34" charset="0"/>
                          <a:ea typeface="等线" panose="02010600030101010101" pitchFamily="2" charset="-122"/>
                          <a:cs typeface="Arial" panose="020B0604020202020204" pitchFamily="34" charset="0"/>
                        </a:rPr>
                        <a:t>Frequency Shift Keying, Phase Shift Keying</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20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Article-5.1</a:t>
                      </a:r>
                      <a:endParaRPr lang="en-US" sz="24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tc>
                <a:extLst>
                  <a:ext uri="{0D108BD9-81ED-4DB2-BD59-A6C34878D82A}">
                    <a16:rowId xmlns:a16="http://schemas.microsoft.com/office/drawing/2014/main" val="3316104818"/>
                  </a:ext>
                </a:extLst>
              </a:tr>
            </a:tbl>
          </a:graphicData>
        </a:graphic>
      </p:graphicFrame>
    </p:spTree>
    <p:extLst>
      <p:ext uri="{BB962C8B-B14F-4D97-AF65-F5344CB8AC3E}">
        <p14:creationId xmlns:p14="http://schemas.microsoft.com/office/powerpoint/2010/main" val="1428692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CD95-DE07-54DC-7B3A-1BE69D298A7C}"/>
              </a:ext>
            </a:extLst>
          </p:cNvPr>
          <p:cNvSpPr>
            <a:spLocks noGrp="1"/>
          </p:cNvSpPr>
          <p:nvPr>
            <p:ph type="title"/>
          </p:nvPr>
        </p:nvSpPr>
        <p:spPr>
          <a:xfrm>
            <a:off x="90949" y="61912"/>
            <a:ext cx="3537154" cy="596849"/>
          </a:xfrm>
        </p:spPr>
        <p:txBody>
          <a:bodyPr>
            <a:normAutofit fontScale="90000"/>
          </a:bodyPr>
          <a:lstStyle/>
          <a:p>
            <a:r>
              <a:rPr lang="en-US" dirty="0"/>
              <a:t>Course Plan</a:t>
            </a:r>
          </a:p>
        </p:txBody>
      </p:sp>
      <p:graphicFrame>
        <p:nvGraphicFramePr>
          <p:cNvPr id="4" name="Content Placeholder 4">
            <a:extLst>
              <a:ext uri="{FF2B5EF4-FFF2-40B4-BE49-F238E27FC236}">
                <a16:creationId xmlns:a16="http://schemas.microsoft.com/office/drawing/2014/main" id="{31E1D036-1B47-1FE4-5BF4-D5F7540EE86D}"/>
              </a:ext>
            </a:extLst>
          </p:cNvPr>
          <p:cNvGraphicFramePr>
            <a:graphicFrameLocks/>
          </p:cNvGraphicFramePr>
          <p:nvPr>
            <p:extLst>
              <p:ext uri="{D42A27DB-BD31-4B8C-83A1-F6EECF244321}">
                <p14:modId xmlns:p14="http://schemas.microsoft.com/office/powerpoint/2010/main" val="3497269251"/>
              </p:ext>
            </p:extLst>
          </p:nvPr>
        </p:nvGraphicFramePr>
        <p:xfrm>
          <a:off x="90949" y="736088"/>
          <a:ext cx="11924069" cy="5073844"/>
        </p:xfrm>
        <a:graphic>
          <a:graphicData uri="http://schemas.openxmlformats.org/drawingml/2006/table">
            <a:tbl>
              <a:tblPr firstRow="1" bandRow="1">
                <a:tableStyleId>{5C22544A-7EE6-4342-B048-85BDC9FD1C3A}</a:tableStyleId>
              </a:tblPr>
              <a:tblGrid>
                <a:gridCol w="744793">
                  <a:extLst>
                    <a:ext uri="{9D8B030D-6E8A-4147-A177-3AD203B41FA5}">
                      <a16:colId xmlns:a16="http://schemas.microsoft.com/office/drawing/2014/main" val="539020526"/>
                    </a:ext>
                  </a:extLst>
                </a:gridCol>
                <a:gridCol w="5230761">
                  <a:extLst>
                    <a:ext uri="{9D8B030D-6E8A-4147-A177-3AD203B41FA5}">
                      <a16:colId xmlns:a16="http://schemas.microsoft.com/office/drawing/2014/main" val="3830475102"/>
                    </a:ext>
                  </a:extLst>
                </a:gridCol>
                <a:gridCol w="5948515">
                  <a:extLst>
                    <a:ext uri="{9D8B030D-6E8A-4147-A177-3AD203B41FA5}">
                      <a16:colId xmlns:a16="http://schemas.microsoft.com/office/drawing/2014/main" val="3477553980"/>
                    </a:ext>
                  </a:extLst>
                </a:gridCol>
              </a:tblGrid>
              <a:tr h="495557">
                <a:tc>
                  <a:txBody>
                    <a:bodyPr/>
                    <a:lstStyle/>
                    <a:p>
                      <a:pPr algn="ctr">
                        <a:buNone/>
                      </a:pPr>
                      <a:r>
                        <a:rPr lang="en-US" sz="2000" b="1" kern="0" dirty="0">
                          <a:effectLst/>
                          <a:latin typeface="Arial Narrow" panose="020B0606020202030204" pitchFamily="34" charset="0"/>
                        </a:rPr>
                        <a:t>Week</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Topic</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Reading Materials</a:t>
                      </a:r>
                      <a:endParaRPr lang="en-US" sz="2000" dirty="0">
                        <a:effectLst/>
                        <a:latin typeface="Arial Narrow" panose="020B0606020202030204" pitchFamily="34" charset="0"/>
                      </a:endParaRPr>
                    </a:p>
                  </a:txBody>
                  <a:tcPr marL="68580" marR="68580" anchor="ctr"/>
                </a:tc>
                <a:extLst>
                  <a:ext uri="{0D108BD9-81ED-4DB2-BD59-A6C34878D82A}">
                    <a16:rowId xmlns:a16="http://schemas.microsoft.com/office/drawing/2014/main" val="1274508192"/>
                  </a:ext>
                </a:extLst>
              </a:tr>
              <a:tr h="613940">
                <a:tc>
                  <a:txBody>
                    <a:bodyPr/>
                    <a:lstStyle/>
                    <a:p>
                      <a:pPr algn="ctr">
                        <a:lnSpc>
                          <a:spcPct val="115000"/>
                        </a:lnSpc>
                        <a:spcAft>
                          <a:spcPts val="80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9</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tabLst>
                          <a:tab pos="790575" algn="l"/>
                        </a:tabLst>
                      </a:pPr>
                      <a:r>
                        <a:rPr lang="en-US" sz="1800" kern="100" dirty="0">
                          <a:effectLst/>
                          <a:latin typeface="Arial Narrow" panose="020B0606020202030204" pitchFamily="34" charset="0"/>
                          <a:ea typeface="等线" panose="02010600030101010101" pitchFamily="2" charset="-122"/>
                          <a:cs typeface="Arial" panose="020B0604020202020204" pitchFamily="34" charset="0"/>
                        </a:rPr>
                        <a:t>Carrier Recovery Circuits</a:t>
                      </a:r>
                    </a:p>
                    <a:p>
                      <a:pPr algn="just">
                        <a:lnSpc>
                          <a:spcPct val="115000"/>
                        </a:lnSpc>
                        <a:spcAft>
                          <a:spcPts val="80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Quadrature Phase Shift Keying,</a:t>
                      </a: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1800" kern="100">
                          <a:effectLst/>
                          <a:latin typeface="Arial Narrow" panose="020B0606020202030204" pitchFamily="34" charset="0"/>
                          <a:ea typeface="等线" panose="02010600030101010101" pitchFamily="2" charset="-122"/>
                          <a:cs typeface="Arial" panose="020B0604020202020204" pitchFamily="34" charset="0"/>
                        </a:rPr>
                        <a:t>Class Lecture</a:t>
                      </a:r>
                    </a:p>
                    <a:p>
                      <a:pPr marL="342900" lvl="0" indent="-342900">
                        <a:lnSpc>
                          <a:spcPct val="115000"/>
                        </a:lnSpc>
                        <a:spcAft>
                          <a:spcPts val="800"/>
                        </a:spcAft>
                        <a:buFont typeface="Symbol" panose="05050102010706020507" pitchFamily="18" charset="2"/>
                        <a:buChar char=""/>
                      </a:pPr>
                      <a:r>
                        <a:rPr lang="en-US" sz="1800" kern="10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Article-5.1</a:t>
                      </a:r>
                    </a:p>
                  </a:txBody>
                  <a:tcPr marL="68580" marR="68580"/>
                </a:tc>
                <a:extLst>
                  <a:ext uri="{0D108BD9-81ED-4DB2-BD59-A6C34878D82A}">
                    <a16:rowId xmlns:a16="http://schemas.microsoft.com/office/drawing/2014/main" val="2632577222"/>
                  </a:ext>
                </a:extLst>
              </a:tr>
              <a:tr h="793310">
                <a:tc>
                  <a:txBody>
                    <a:bodyPr/>
                    <a:lstStyle/>
                    <a:p>
                      <a:pPr algn="ctr">
                        <a:lnSpc>
                          <a:spcPct val="115000"/>
                        </a:lnSpc>
                        <a:spcAft>
                          <a:spcPts val="800"/>
                        </a:spcAft>
                        <a:buNone/>
                      </a:pPr>
                      <a:r>
                        <a:rPr lang="en-US" sz="1800" b="1" kern="100">
                          <a:effectLst/>
                          <a:latin typeface="Arial Narrow" panose="020B0606020202030204" pitchFamily="34" charset="0"/>
                          <a:ea typeface="等线" panose="02010600030101010101" pitchFamily="2" charset="-122"/>
                          <a:cs typeface="Arial" panose="020B0604020202020204" pitchFamily="34" charset="0"/>
                        </a:rPr>
                        <a:t>10</a:t>
                      </a:r>
                      <a:endParaRPr lang="en-US" sz="1800" kern="10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Error Control Coding, Block Control,</a:t>
                      </a:r>
                    </a:p>
                    <a:p>
                      <a:pPr algn="just">
                        <a:lnSpc>
                          <a:spcPct val="115000"/>
                        </a:lnSpc>
                        <a:spcAft>
                          <a:spcPts val="80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Repetition Encoding, Parity Encoding,</a:t>
                      </a: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Class Lecture</a:t>
                      </a:r>
                    </a:p>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228600">
                        <a:lnSpc>
                          <a:spcPct val="115000"/>
                        </a:lnSpc>
                        <a:spcAft>
                          <a:spcPts val="80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 </a:t>
                      </a:r>
                    </a:p>
                  </a:txBody>
                  <a:tcPr marL="68580" marR="68580"/>
                </a:tc>
                <a:extLst>
                  <a:ext uri="{0D108BD9-81ED-4DB2-BD59-A6C34878D82A}">
                    <a16:rowId xmlns:a16="http://schemas.microsoft.com/office/drawing/2014/main" val="3885990575"/>
                  </a:ext>
                </a:extLst>
              </a:tr>
              <a:tr h="1141983">
                <a:tc>
                  <a:txBody>
                    <a:bodyPr/>
                    <a:lstStyle/>
                    <a:p>
                      <a:pPr algn="ctr">
                        <a:lnSpc>
                          <a:spcPct val="115000"/>
                        </a:lnSpc>
                        <a:spcAft>
                          <a:spcPts val="800"/>
                        </a:spcAft>
                        <a:buNone/>
                      </a:pPr>
                      <a:r>
                        <a:rPr lang="en-US" sz="1800" b="1" kern="100">
                          <a:effectLst/>
                          <a:latin typeface="Arial Narrow" panose="020B0606020202030204" pitchFamily="34" charset="0"/>
                          <a:ea typeface="等线" panose="02010600030101010101" pitchFamily="2" charset="-122"/>
                          <a:cs typeface="Arial" panose="020B0604020202020204" pitchFamily="34" charset="0"/>
                        </a:rPr>
                        <a:t>11</a:t>
                      </a:r>
                      <a:endParaRPr lang="en-US" sz="1800" kern="10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1800" kern="100">
                          <a:effectLst/>
                          <a:latin typeface="Arial Narrow" panose="020B0606020202030204" pitchFamily="34" charset="0"/>
                          <a:ea typeface="等线" panose="02010600030101010101" pitchFamily="2" charset="-122"/>
                          <a:cs typeface="Arial" panose="020B0604020202020204" pitchFamily="34" charset="0"/>
                        </a:rPr>
                        <a:t>Convolution Encoding.</a:t>
                      </a:r>
                    </a:p>
                    <a:p>
                      <a:pPr algn="just">
                        <a:lnSpc>
                          <a:spcPct val="115000"/>
                        </a:lnSpc>
                        <a:spcAft>
                          <a:spcPts val="800"/>
                        </a:spcAft>
                        <a:buNone/>
                      </a:pPr>
                      <a:r>
                        <a:rPr lang="en-US" sz="1800" kern="100">
                          <a:effectLst/>
                          <a:latin typeface="Arial Narrow" panose="020B0606020202030204" pitchFamily="34" charset="0"/>
                          <a:ea typeface="等线" panose="02010600030101010101" pitchFamily="2" charset="-122"/>
                          <a:cs typeface="Arial" panose="020B0604020202020204" pitchFamily="34" charset="0"/>
                        </a:rPr>
                        <a:t>Digital Multiplexing.</a:t>
                      </a: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a:t>
                      </a:r>
                    </a:p>
                  </a:txBody>
                  <a:tcPr marL="68580" marR="68580"/>
                </a:tc>
                <a:extLst>
                  <a:ext uri="{0D108BD9-81ED-4DB2-BD59-A6C34878D82A}">
                    <a16:rowId xmlns:a16="http://schemas.microsoft.com/office/drawing/2014/main" val="3585171981"/>
                  </a:ext>
                </a:extLst>
              </a:tr>
              <a:tr h="822900">
                <a:tc>
                  <a:txBody>
                    <a:bodyPr/>
                    <a:lstStyle/>
                    <a:p>
                      <a:pPr algn="ctr">
                        <a:lnSpc>
                          <a:spcPct val="115000"/>
                        </a:lnSpc>
                        <a:spcAft>
                          <a:spcPts val="800"/>
                        </a:spcAft>
                        <a:buNone/>
                      </a:pPr>
                      <a:r>
                        <a:rPr lang="en-US" sz="1800" b="1" kern="100">
                          <a:effectLst/>
                          <a:latin typeface="Arial Narrow" panose="020B0606020202030204" pitchFamily="34" charset="0"/>
                          <a:ea typeface="等线" panose="02010600030101010101" pitchFamily="2" charset="-122"/>
                          <a:cs typeface="Arial" panose="020B0604020202020204" pitchFamily="34" charset="0"/>
                        </a:rPr>
                        <a:t>12</a:t>
                      </a:r>
                      <a:endParaRPr lang="en-US" sz="1800" kern="10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1800" kern="100">
                          <a:effectLst/>
                          <a:latin typeface="Arial Narrow" panose="020B0606020202030204" pitchFamily="34" charset="0"/>
                          <a:ea typeface="等线" panose="02010600030101010101" pitchFamily="2" charset="-122"/>
                          <a:cs typeface="Arial" panose="020B0604020202020204" pitchFamily="34" charset="0"/>
                        </a:rPr>
                        <a:t>Satellite Communication, Kepler’s First and Second Law, Orbits, Geostationary Orbits</a:t>
                      </a: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Chapter-16</a:t>
                      </a:r>
                    </a:p>
                  </a:txBody>
                  <a:tcPr marL="68580" marR="68580"/>
                </a:tc>
                <a:extLst>
                  <a:ext uri="{0D108BD9-81ED-4DB2-BD59-A6C34878D82A}">
                    <a16:rowId xmlns:a16="http://schemas.microsoft.com/office/drawing/2014/main" val="3316104818"/>
                  </a:ext>
                </a:extLst>
              </a:tr>
            </a:tbl>
          </a:graphicData>
        </a:graphic>
      </p:graphicFrame>
    </p:spTree>
    <p:extLst>
      <p:ext uri="{BB962C8B-B14F-4D97-AF65-F5344CB8AC3E}">
        <p14:creationId xmlns:p14="http://schemas.microsoft.com/office/powerpoint/2010/main" val="2617998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1A0A-20CE-DD6E-082F-B6A1C0228437}"/>
              </a:ext>
            </a:extLst>
          </p:cNvPr>
          <p:cNvSpPr>
            <a:spLocks noGrp="1"/>
          </p:cNvSpPr>
          <p:nvPr>
            <p:ph type="title"/>
          </p:nvPr>
        </p:nvSpPr>
        <p:spPr>
          <a:xfrm>
            <a:off x="140109" y="99654"/>
            <a:ext cx="3065206" cy="706591"/>
          </a:xfrm>
        </p:spPr>
        <p:txBody>
          <a:bodyPr/>
          <a:lstStyle/>
          <a:p>
            <a:r>
              <a:rPr lang="en-US" dirty="0"/>
              <a:t>Course Plan</a:t>
            </a:r>
          </a:p>
        </p:txBody>
      </p:sp>
      <p:graphicFrame>
        <p:nvGraphicFramePr>
          <p:cNvPr id="6" name="Content Placeholder 4">
            <a:extLst>
              <a:ext uri="{FF2B5EF4-FFF2-40B4-BE49-F238E27FC236}">
                <a16:creationId xmlns:a16="http://schemas.microsoft.com/office/drawing/2014/main" id="{5B3E2FE0-C96A-6D6F-0CDF-1778D38326E0}"/>
              </a:ext>
            </a:extLst>
          </p:cNvPr>
          <p:cNvGraphicFramePr>
            <a:graphicFrameLocks/>
          </p:cNvGraphicFramePr>
          <p:nvPr>
            <p:extLst>
              <p:ext uri="{D42A27DB-BD31-4B8C-83A1-F6EECF244321}">
                <p14:modId xmlns:p14="http://schemas.microsoft.com/office/powerpoint/2010/main" val="1297261494"/>
              </p:ext>
            </p:extLst>
          </p:nvPr>
        </p:nvGraphicFramePr>
        <p:xfrm>
          <a:off x="127822" y="2069653"/>
          <a:ext cx="11924069" cy="2718693"/>
        </p:xfrm>
        <a:graphic>
          <a:graphicData uri="http://schemas.openxmlformats.org/drawingml/2006/table">
            <a:tbl>
              <a:tblPr firstRow="1" bandRow="1">
                <a:tableStyleId>{5C22544A-7EE6-4342-B048-85BDC9FD1C3A}</a:tableStyleId>
              </a:tblPr>
              <a:tblGrid>
                <a:gridCol w="744793">
                  <a:extLst>
                    <a:ext uri="{9D8B030D-6E8A-4147-A177-3AD203B41FA5}">
                      <a16:colId xmlns:a16="http://schemas.microsoft.com/office/drawing/2014/main" val="539020526"/>
                    </a:ext>
                  </a:extLst>
                </a:gridCol>
                <a:gridCol w="4984955">
                  <a:extLst>
                    <a:ext uri="{9D8B030D-6E8A-4147-A177-3AD203B41FA5}">
                      <a16:colId xmlns:a16="http://schemas.microsoft.com/office/drawing/2014/main" val="3830475102"/>
                    </a:ext>
                  </a:extLst>
                </a:gridCol>
                <a:gridCol w="6194321">
                  <a:extLst>
                    <a:ext uri="{9D8B030D-6E8A-4147-A177-3AD203B41FA5}">
                      <a16:colId xmlns:a16="http://schemas.microsoft.com/office/drawing/2014/main" val="3477553980"/>
                    </a:ext>
                  </a:extLst>
                </a:gridCol>
              </a:tblGrid>
              <a:tr h="495557">
                <a:tc>
                  <a:txBody>
                    <a:bodyPr/>
                    <a:lstStyle/>
                    <a:p>
                      <a:pPr algn="ctr">
                        <a:buNone/>
                      </a:pPr>
                      <a:r>
                        <a:rPr lang="en-US" sz="2000" b="1" kern="0" dirty="0">
                          <a:effectLst/>
                          <a:latin typeface="Arial Narrow" panose="020B0606020202030204" pitchFamily="34" charset="0"/>
                        </a:rPr>
                        <a:t>Week</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Topic</a:t>
                      </a:r>
                      <a:endParaRPr lang="en-US" sz="2000" dirty="0">
                        <a:effectLst/>
                        <a:latin typeface="Arial Narrow" panose="020B0606020202030204" pitchFamily="34" charset="0"/>
                      </a:endParaRPr>
                    </a:p>
                  </a:txBody>
                  <a:tcPr marL="68580" marR="68580" anchor="ctr"/>
                </a:tc>
                <a:tc>
                  <a:txBody>
                    <a:bodyPr/>
                    <a:lstStyle/>
                    <a:p>
                      <a:pPr algn="ctr">
                        <a:buNone/>
                      </a:pPr>
                      <a:r>
                        <a:rPr lang="en-US" sz="2000" b="1" kern="0" dirty="0">
                          <a:effectLst/>
                          <a:latin typeface="Arial Narrow" panose="020B0606020202030204" pitchFamily="34" charset="0"/>
                        </a:rPr>
                        <a:t>Reading Materials</a:t>
                      </a:r>
                      <a:endParaRPr lang="en-US" sz="2000" dirty="0">
                        <a:effectLst/>
                        <a:latin typeface="Arial Narrow" panose="020B0606020202030204" pitchFamily="34" charset="0"/>
                      </a:endParaRPr>
                    </a:p>
                  </a:txBody>
                  <a:tcPr marL="68580" marR="68580" anchor="ctr"/>
                </a:tc>
                <a:extLst>
                  <a:ext uri="{0D108BD9-81ED-4DB2-BD59-A6C34878D82A}">
                    <a16:rowId xmlns:a16="http://schemas.microsoft.com/office/drawing/2014/main" val="1274508192"/>
                  </a:ext>
                </a:extLst>
              </a:tr>
              <a:tr h="613940">
                <a:tc>
                  <a:txBody>
                    <a:bodyPr/>
                    <a:lstStyle/>
                    <a:p>
                      <a:pPr algn="ctr">
                        <a:lnSpc>
                          <a:spcPct val="115000"/>
                        </a:lnSpc>
                        <a:spcAft>
                          <a:spcPts val="800"/>
                        </a:spcAft>
                        <a:buNone/>
                      </a:pPr>
                      <a:r>
                        <a:rPr lang="en-US" sz="1800" b="1" kern="100" dirty="0">
                          <a:effectLst/>
                          <a:latin typeface="Arial Narrow" panose="020B0606020202030204" pitchFamily="34" charset="0"/>
                          <a:ea typeface="等线" panose="02010600030101010101" pitchFamily="2" charset="-122"/>
                          <a:cs typeface="Arial" panose="020B0604020202020204" pitchFamily="34" charset="0"/>
                        </a:rPr>
                        <a:t>13</a:t>
                      </a:r>
                      <a:endParaRPr lang="en-US" sz="1800" kern="100" dirty="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buNone/>
                      </a:pPr>
                      <a:r>
                        <a:rPr lang="en-US" sz="1800" kern="0" dirty="0">
                          <a:effectLst/>
                          <a:latin typeface="Arial Narrow" panose="020B0606020202030204" pitchFamily="34" charset="0"/>
                          <a:ea typeface="Centaur" panose="02030504050205020304" pitchFamily="18" charset="0"/>
                        </a:rPr>
                        <a:t>Power System. 5G technologies.</a:t>
                      </a:r>
                      <a:endParaRPr lang="en-US" sz="1800" dirty="0">
                        <a:effectLst/>
                        <a:latin typeface="Arial Narrow" panose="020B0606020202030204" pitchFamily="34" charset="0"/>
                      </a:endParaRPr>
                    </a:p>
                    <a:p>
                      <a:pPr algn="just">
                        <a:lnSpc>
                          <a:spcPct val="115000"/>
                        </a:lnSpc>
                        <a:spcAft>
                          <a:spcPts val="800"/>
                        </a:spcAft>
                        <a:buNone/>
                      </a:pPr>
                      <a:r>
                        <a:rPr lang="en-US" sz="1800" kern="100" dirty="0">
                          <a:effectLst/>
                          <a:latin typeface="Arial Narrow" panose="020B0606020202030204" pitchFamily="34" charset="0"/>
                          <a:ea typeface="等线" panose="02010600030101010101" pitchFamily="2" charset="-122"/>
                          <a:cs typeface="Arial" panose="020B0604020202020204" pitchFamily="34" charset="0"/>
                        </a:rPr>
                        <a:t>Fiber Optic Communication, Propagation within a Fiber,</a:t>
                      </a: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1800" kern="10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nSpc>
                          <a:spcPct val="115000"/>
                        </a:lnSpc>
                        <a:spcAft>
                          <a:spcPts val="800"/>
                        </a:spcAft>
                        <a:buFont typeface="Symbol" panose="05050102010706020507" pitchFamily="18" charset="2"/>
                        <a:buChar char=""/>
                      </a:pPr>
                      <a:r>
                        <a:rPr lang="en-US" sz="1800" kern="10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Chapter-7</a:t>
                      </a:r>
                    </a:p>
                  </a:txBody>
                  <a:tcPr marL="68580" marR="68580"/>
                </a:tc>
                <a:extLst>
                  <a:ext uri="{0D108BD9-81ED-4DB2-BD59-A6C34878D82A}">
                    <a16:rowId xmlns:a16="http://schemas.microsoft.com/office/drawing/2014/main" val="2632577222"/>
                  </a:ext>
                </a:extLst>
              </a:tr>
              <a:tr h="793310">
                <a:tc>
                  <a:txBody>
                    <a:bodyPr/>
                    <a:lstStyle/>
                    <a:p>
                      <a:pPr algn="ctr">
                        <a:lnSpc>
                          <a:spcPct val="115000"/>
                        </a:lnSpc>
                        <a:spcAft>
                          <a:spcPts val="800"/>
                        </a:spcAft>
                        <a:buNone/>
                      </a:pPr>
                      <a:r>
                        <a:rPr lang="en-US" sz="1800" b="1" kern="100">
                          <a:effectLst/>
                          <a:latin typeface="Arial Narrow" panose="020B0606020202030204" pitchFamily="34" charset="0"/>
                          <a:ea typeface="等线" panose="02010600030101010101" pitchFamily="2" charset="-122"/>
                          <a:cs typeface="Arial" panose="020B0604020202020204" pitchFamily="34" charset="0"/>
                        </a:rPr>
                        <a:t>14</a:t>
                      </a:r>
                      <a:endParaRPr lang="en-US" sz="1800" kern="100">
                        <a:effectLst/>
                        <a:latin typeface="Arial Narrow" panose="020B0606020202030204" pitchFamily="34" charset="0"/>
                        <a:ea typeface="等线" panose="02010600030101010101" pitchFamily="2" charset="-122"/>
                        <a:cs typeface="Arial" panose="020B0604020202020204" pitchFamily="34" charset="0"/>
                      </a:endParaRPr>
                    </a:p>
                  </a:txBody>
                  <a:tcPr marL="68580" marR="68580" anchor="ctr"/>
                </a:tc>
                <a:tc>
                  <a:txBody>
                    <a:bodyPr/>
                    <a:lstStyle/>
                    <a:p>
                      <a:pPr algn="just">
                        <a:lnSpc>
                          <a:spcPct val="115000"/>
                        </a:lnSpc>
                        <a:spcAft>
                          <a:spcPts val="800"/>
                        </a:spcAft>
                        <a:buNone/>
                      </a:pPr>
                      <a:r>
                        <a:rPr lang="en-US" sz="1800" kern="100">
                          <a:effectLst/>
                          <a:latin typeface="Arial Narrow" panose="020B0606020202030204" pitchFamily="34" charset="0"/>
                          <a:ea typeface="等线" panose="02010600030101010101" pitchFamily="2" charset="-122"/>
                          <a:cs typeface="Arial" panose="020B0604020202020204" pitchFamily="34" charset="0"/>
                        </a:rPr>
                        <a:t>Modes of Propagation, Losses in Fibers,</a:t>
                      </a:r>
                    </a:p>
                    <a:p>
                      <a:pPr algn="just">
                        <a:lnSpc>
                          <a:spcPct val="115000"/>
                        </a:lnSpc>
                        <a:spcAft>
                          <a:spcPts val="800"/>
                        </a:spcAft>
                        <a:buNone/>
                      </a:pPr>
                      <a:r>
                        <a:rPr lang="en-US" sz="1800" kern="100">
                          <a:effectLst/>
                          <a:latin typeface="Arial Narrow" panose="020B0606020202030204" pitchFamily="34" charset="0"/>
                          <a:ea typeface="等线" panose="02010600030101010101" pitchFamily="2" charset="-122"/>
                          <a:cs typeface="Arial" panose="020B0604020202020204" pitchFamily="34" charset="0"/>
                        </a:rPr>
                        <a:t>Light sources for Fiber optics, Photo detectors.</a:t>
                      </a:r>
                    </a:p>
                  </a:txBody>
                  <a:tcPr marL="68580" marR="68580" anchor="ctr"/>
                </a:tc>
                <a:tc>
                  <a:txBody>
                    <a:bodyPr/>
                    <a:lstStyle/>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Lecture Slides</a:t>
                      </a:r>
                    </a:p>
                    <a:p>
                      <a:pPr marL="342900" lvl="0" indent="-342900">
                        <a:lnSpc>
                          <a:spcPct val="115000"/>
                        </a:lnSpc>
                        <a:spcAft>
                          <a:spcPts val="800"/>
                        </a:spcAft>
                        <a:buFont typeface="Symbol" panose="05050102010706020507" pitchFamily="18" charset="2"/>
                        <a:buChar char=""/>
                      </a:pPr>
                      <a:r>
                        <a:rPr lang="en-US" sz="1800" kern="100" dirty="0">
                          <a:effectLst/>
                          <a:latin typeface="Arial Narrow" panose="020B0606020202030204" pitchFamily="34" charset="0"/>
                          <a:ea typeface="等线" panose="02010600030101010101" pitchFamily="2" charset="-122"/>
                          <a:cs typeface="Arial" panose="020B0604020202020204" pitchFamily="34" charset="0"/>
                        </a:rPr>
                        <a:t>Data Communications and Networking by Behrouz A. Forouzan, Chapter-7</a:t>
                      </a:r>
                    </a:p>
                  </a:txBody>
                  <a:tcPr marL="68580" marR="68580"/>
                </a:tc>
                <a:extLst>
                  <a:ext uri="{0D108BD9-81ED-4DB2-BD59-A6C34878D82A}">
                    <a16:rowId xmlns:a16="http://schemas.microsoft.com/office/drawing/2014/main" val="3885990575"/>
                  </a:ext>
                </a:extLst>
              </a:tr>
            </a:tbl>
          </a:graphicData>
        </a:graphic>
      </p:graphicFrame>
    </p:spTree>
    <p:extLst>
      <p:ext uri="{BB962C8B-B14F-4D97-AF65-F5344CB8AC3E}">
        <p14:creationId xmlns:p14="http://schemas.microsoft.com/office/powerpoint/2010/main" val="539179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2116-0523-8ED5-1E08-AEB9019F82E7}"/>
              </a:ext>
            </a:extLst>
          </p:cNvPr>
          <p:cNvSpPr>
            <a:spLocks noGrp="1"/>
          </p:cNvSpPr>
          <p:nvPr>
            <p:ph type="title"/>
          </p:nvPr>
        </p:nvSpPr>
        <p:spPr>
          <a:xfrm>
            <a:off x="140109" y="40660"/>
            <a:ext cx="4274575" cy="884279"/>
          </a:xfrm>
        </p:spPr>
        <p:txBody>
          <a:bodyPr/>
          <a:lstStyle/>
          <a:p>
            <a:r>
              <a:rPr lang="en-US" dirty="0"/>
              <a:t>Reference Books:</a:t>
            </a:r>
          </a:p>
        </p:txBody>
      </p:sp>
      <p:pic>
        <p:nvPicPr>
          <p:cNvPr id="6146" name="Picture 2" descr="Buy Data Communications and Networking with TCPIP Protocol Suite| 6th  Edition Book Online at Low Prices in India | Data Communications and  Networking with TCPIP Protocol Suite| 6th Edition Reviews &amp; Ratings -">
            <a:extLst>
              <a:ext uri="{FF2B5EF4-FFF2-40B4-BE49-F238E27FC236}">
                <a16:creationId xmlns:a16="http://schemas.microsoft.com/office/drawing/2014/main" id="{773B4832-5071-4045-DF26-A1C9047F7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078" y="1366223"/>
            <a:ext cx="3483845" cy="456683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Kennedy's Electronic Communication Systems (SIE) | 6th Edition : George  Kennedy, Bernard Davis, S. R. M Prasanna: Amazon.in: Books">
            <a:extLst>
              <a:ext uri="{FF2B5EF4-FFF2-40B4-BE49-F238E27FC236}">
                <a16:creationId xmlns:a16="http://schemas.microsoft.com/office/drawing/2014/main" id="{BED12085-9BA7-FE4C-EA94-222A8D9D0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849" y="1366223"/>
            <a:ext cx="3483845" cy="458428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Data and Computer Communications (10th Edition) Stallings | PDF | Computer  Network | Internet Protocols">
            <a:extLst>
              <a:ext uri="{FF2B5EF4-FFF2-40B4-BE49-F238E27FC236}">
                <a16:creationId xmlns:a16="http://schemas.microsoft.com/office/drawing/2014/main" id="{32597244-23DB-186C-EBBE-EDC82CA001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5620" y="1366223"/>
            <a:ext cx="3483845" cy="4629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698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682500-CB32-5EEE-E999-4D0D8C777776}"/>
              </a:ext>
            </a:extLst>
          </p:cNvPr>
          <p:cNvSpPr>
            <a:spLocks noGrp="1"/>
          </p:cNvSpPr>
          <p:nvPr>
            <p:ph type="title"/>
          </p:nvPr>
        </p:nvSpPr>
        <p:spPr>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Assessment Tools</a:t>
            </a:r>
          </a:p>
        </p:txBody>
      </p:sp>
      <p:graphicFrame>
        <p:nvGraphicFramePr>
          <p:cNvPr id="6" name="Content Placeholder 5">
            <a:extLst>
              <a:ext uri="{FF2B5EF4-FFF2-40B4-BE49-F238E27FC236}">
                <a16:creationId xmlns:a16="http://schemas.microsoft.com/office/drawing/2014/main" id="{D4EA1399-3F74-849E-D3D3-65E07BFCE9A8}"/>
              </a:ext>
            </a:extLst>
          </p:cNvPr>
          <p:cNvGraphicFramePr>
            <a:graphicFrameLocks noGrp="1" noChangeAspect="1"/>
          </p:cNvGraphicFramePr>
          <p:nvPr>
            <p:ph idx="1"/>
            <p:extLst>
              <p:ext uri="{D42A27DB-BD31-4B8C-83A1-F6EECF244321}">
                <p14:modId xmlns:p14="http://schemas.microsoft.com/office/powerpoint/2010/main" val="3813822353"/>
              </p:ext>
            </p:extLst>
          </p:nvPr>
        </p:nvGraphicFramePr>
        <p:xfrm>
          <a:off x="196850" y="2279650"/>
          <a:ext cx="11882438" cy="2716213"/>
        </p:xfrm>
        <a:graphic>
          <a:graphicData uri="http://schemas.openxmlformats.org/presentationml/2006/ole">
            <mc:AlternateContent xmlns:mc="http://schemas.openxmlformats.org/markup-compatibility/2006">
              <mc:Choice xmlns:v="urn:schemas-microsoft-com:vml" Requires="v">
                <p:oleObj name="Document" r:id="rId2" imgW="6116178" imgH="1398923" progId="Word.Document.12">
                  <p:embed/>
                </p:oleObj>
              </mc:Choice>
              <mc:Fallback>
                <p:oleObj name="Document" r:id="rId2" imgW="6116178" imgH="1398923" progId="Word.Document.12">
                  <p:embed/>
                  <p:pic>
                    <p:nvPicPr>
                      <p:cNvPr id="6" name="Content Placeholder 5">
                        <a:extLst>
                          <a:ext uri="{FF2B5EF4-FFF2-40B4-BE49-F238E27FC236}">
                            <a16:creationId xmlns:a16="http://schemas.microsoft.com/office/drawing/2014/main" id="{D4EA1399-3F74-849E-D3D3-65E07BFCE9A8}"/>
                          </a:ext>
                        </a:extLst>
                      </p:cNvPr>
                      <p:cNvPicPr/>
                      <p:nvPr/>
                    </p:nvPicPr>
                    <p:blipFill>
                      <a:blip r:embed="rId3"/>
                      <a:stretch>
                        <a:fillRect/>
                      </a:stretch>
                    </p:blipFill>
                    <p:spPr>
                      <a:xfrm>
                        <a:off x="196850" y="2279650"/>
                        <a:ext cx="11882438" cy="2716213"/>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4089571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57F5EE-C8AA-1416-4302-6F8CE59F97D9}"/>
              </a:ext>
            </a:extLst>
          </p:cNvPr>
          <p:cNvSpPr>
            <a:spLocks noGrp="1"/>
          </p:cNvSpPr>
          <p:nvPr>
            <p:ph type="title"/>
          </p:nvPr>
        </p:nvSpPr>
        <p:spPr>
          <a:xfrm>
            <a:off x="2320896" y="607791"/>
            <a:ext cx="7550208" cy="840230"/>
          </a:xfrm>
          <a:prstGeom prst="rect">
            <a:avLst/>
          </a:prstGeom>
          <a:noFill/>
        </p:spPr>
        <p:txBody>
          <a:bodyPr wrap="none" lIns="91440" tIns="45720" rIns="91440" bIns="45720">
            <a:spAutoFit/>
          </a:bodyPr>
          <a:lstStyle/>
          <a:p>
            <a:pPr algn="ctr"/>
            <a:r>
              <a:rPr lang="en-US" sz="5400" dirty="0">
                <a:ln w="0">
                  <a:solidFill>
                    <a:schemeClr val="tx1"/>
                  </a:solidFill>
                </a:ln>
                <a:effectLst>
                  <a:outerShdw blurRad="38100" dist="19050" dir="2700000" algn="tl" rotWithShape="0">
                    <a:schemeClr val="dk1">
                      <a:alpha val="40000"/>
                    </a:schemeClr>
                  </a:outerShdw>
                </a:effectLst>
              </a:rPr>
              <a:t>Teaching Learning Method</a:t>
            </a:r>
          </a:p>
        </p:txBody>
      </p:sp>
      <p:graphicFrame>
        <p:nvGraphicFramePr>
          <p:cNvPr id="5" name="Table 4">
            <a:extLst>
              <a:ext uri="{FF2B5EF4-FFF2-40B4-BE49-F238E27FC236}">
                <a16:creationId xmlns:a16="http://schemas.microsoft.com/office/drawing/2014/main" id="{7B1762E9-B7F1-AD77-471C-BA2F0D3ADEA9}"/>
              </a:ext>
            </a:extLst>
          </p:cNvPr>
          <p:cNvGraphicFramePr>
            <a:graphicFrameLocks noGrp="1"/>
          </p:cNvGraphicFramePr>
          <p:nvPr>
            <p:extLst>
              <p:ext uri="{D42A27DB-BD31-4B8C-83A1-F6EECF244321}">
                <p14:modId xmlns:p14="http://schemas.microsoft.com/office/powerpoint/2010/main" val="664756227"/>
              </p:ext>
            </p:extLst>
          </p:nvPr>
        </p:nvGraphicFramePr>
        <p:xfrm>
          <a:off x="565431" y="1691494"/>
          <a:ext cx="11125123" cy="2379378"/>
        </p:xfrm>
        <a:graphic>
          <a:graphicData uri="http://schemas.openxmlformats.org/drawingml/2006/table">
            <a:tbl>
              <a:tblPr firstRow="1" firstCol="1" bandRow="1"/>
              <a:tblGrid>
                <a:gridCol w="2484598">
                  <a:extLst>
                    <a:ext uri="{9D8B030D-6E8A-4147-A177-3AD203B41FA5}">
                      <a16:colId xmlns:a16="http://schemas.microsoft.com/office/drawing/2014/main" val="2721669313"/>
                    </a:ext>
                  </a:extLst>
                </a:gridCol>
                <a:gridCol w="5024860">
                  <a:extLst>
                    <a:ext uri="{9D8B030D-6E8A-4147-A177-3AD203B41FA5}">
                      <a16:colId xmlns:a16="http://schemas.microsoft.com/office/drawing/2014/main" val="2747361579"/>
                    </a:ext>
                  </a:extLst>
                </a:gridCol>
                <a:gridCol w="3615665">
                  <a:extLst>
                    <a:ext uri="{9D8B030D-6E8A-4147-A177-3AD203B41FA5}">
                      <a16:colId xmlns:a16="http://schemas.microsoft.com/office/drawing/2014/main" val="1765798166"/>
                    </a:ext>
                  </a:extLst>
                </a:gridCol>
              </a:tblGrid>
              <a:tr h="511191">
                <a:tc>
                  <a:txBody>
                    <a:bodyPr/>
                    <a:lstStyle/>
                    <a:p>
                      <a:pPr marL="0" marR="0" algn="ctr">
                        <a:lnSpc>
                          <a:spcPct val="115000"/>
                        </a:lnSpc>
                        <a:spcBef>
                          <a:spcPts val="0"/>
                        </a:spcBef>
                        <a:spcAft>
                          <a:spcPts val="0"/>
                        </a:spcAft>
                      </a:pPr>
                      <a:r>
                        <a:rPr lang="en-US" sz="2000" b="1"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COs</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gn="ctr">
                        <a:lnSpc>
                          <a:spcPct val="115000"/>
                        </a:lnSpc>
                        <a:spcBef>
                          <a:spcPts val="0"/>
                        </a:spcBef>
                        <a:spcAft>
                          <a:spcPts val="0"/>
                        </a:spcAft>
                      </a:pPr>
                      <a:r>
                        <a:rPr lang="en-US" sz="2000" b="1"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Teaching-Learning strategy</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lgn="ctr">
                        <a:lnSpc>
                          <a:spcPct val="115000"/>
                        </a:lnSpc>
                        <a:spcBef>
                          <a:spcPts val="0"/>
                        </a:spcBef>
                        <a:spcAft>
                          <a:spcPts val="0"/>
                        </a:spcAft>
                      </a:pPr>
                      <a:r>
                        <a:rPr lang="en-US" sz="2000" b="1"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Assessment strategy</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953964501"/>
                  </a:ext>
                </a:extLst>
              </a:tr>
              <a:tr h="511191">
                <a:tc>
                  <a:txBody>
                    <a:bodyPr/>
                    <a:lstStyle/>
                    <a:p>
                      <a:pPr marL="0" marR="0" algn="ctr">
                        <a:lnSpc>
                          <a:spcPct val="115000"/>
                        </a:lnSpc>
                        <a:spcBef>
                          <a:spcPts val="0"/>
                        </a:spcBef>
                        <a:spcAft>
                          <a:spcPts val="0"/>
                        </a:spcAft>
                      </a:pPr>
                      <a:r>
                        <a:rPr lang="en-US" sz="20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CO1</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Lectures, Power Point Slide, Book</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Class Test </a:t>
                      </a:r>
                      <a:endParaRPr lang="en-US" sz="20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1841723"/>
                  </a:ext>
                </a:extLst>
              </a:tr>
              <a:tr h="511191">
                <a:tc>
                  <a:txBody>
                    <a:bodyPr/>
                    <a:lstStyle/>
                    <a:p>
                      <a:pPr marL="0" marR="0" algn="ctr">
                        <a:lnSpc>
                          <a:spcPct val="115000"/>
                        </a:lnSpc>
                        <a:spcBef>
                          <a:spcPts val="0"/>
                        </a:spcBef>
                        <a:spcAft>
                          <a:spcPts val="0"/>
                        </a:spcAft>
                      </a:pPr>
                      <a:r>
                        <a:rPr lang="en-US" sz="20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CO2</a:t>
                      </a:r>
                      <a:endParaRPr lang="en-US" sz="20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Lecture Slides, Interactive Discussion, Assignments</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Mid-term exam</a:t>
                      </a:r>
                      <a:endParaRPr lang="en-US" sz="20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7204981"/>
                  </a:ext>
                </a:extLst>
              </a:tr>
              <a:tr h="511191">
                <a:tc>
                  <a:txBody>
                    <a:bodyPr/>
                    <a:lstStyle/>
                    <a:p>
                      <a:pPr marL="0" marR="0" algn="ctr">
                        <a:lnSpc>
                          <a:spcPct val="115000"/>
                        </a:lnSpc>
                        <a:spcBef>
                          <a:spcPts val="0"/>
                        </a:spcBef>
                        <a:spcAft>
                          <a:spcPts val="0"/>
                        </a:spcAft>
                      </a:pPr>
                      <a:r>
                        <a:rPr lang="en-US" sz="200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CO3</a:t>
                      </a:r>
                      <a:endParaRPr lang="en-US" sz="20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Lectures Slides, Hands on class work, Interactive Discussion</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Final Exam</a:t>
                      </a:r>
                      <a:endParaRPr lang="en-US" sz="2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1806843"/>
                  </a:ext>
                </a:extLst>
              </a:tr>
            </a:tbl>
          </a:graphicData>
        </a:graphic>
      </p:graphicFrame>
    </p:spTree>
    <p:extLst>
      <p:ext uri="{BB962C8B-B14F-4D97-AF65-F5344CB8AC3E}">
        <p14:creationId xmlns:p14="http://schemas.microsoft.com/office/powerpoint/2010/main" val="257933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5244-47C9-5BF7-319E-9CCC1039F23F}"/>
              </a:ext>
            </a:extLst>
          </p:cNvPr>
          <p:cNvSpPr>
            <a:spLocks noGrp="1"/>
          </p:cNvSpPr>
          <p:nvPr>
            <p:ph type="title"/>
          </p:nvPr>
        </p:nvSpPr>
        <p:spPr/>
        <p:txBody>
          <a:bodyPr/>
          <a:lstStyle/>
          <a:p>
            <a:r>
              <a:rPr lang="en-US" b="1" dirty="0">
                <a:latin typeface="Calisto MT" panose="02040603050505030304" pitchFamily="18" charset="0"/>
              </a:rPr>
              <a:t>Course Conducting/Course Policies:</a:t>
            </a:r>
            <a:endParaRPr lang="en-US" dirty="0">
              <a:latin typeface="Calisto MT" panose="02040603050505030304" pitchFamily="18" charset="0"/>
            </a:endParaRPr>
          </a:p>
        </p:txBody>
      </p:sp>
      <p:sp>
        <p:nvSpPr>
          <p:cNvPr id="3" name="Content Placeholder 2">
            <a:extLst>
              <a:ext uri="{FF2B5EF4-FFF2-40B4-BE49-F238E27FC236}">
                <a16:creationId xmlns:a16="http://schemas.microsoft.com/office/drawing/2014/main" id="{106934C9-7D04-FFAD-3D08-53269A87310A}"/>
              </a:ext>
            </a:extLst>
          </p:cNvPr>
          <p:cNvSpPr>
            <a:spLocks noGrp="1"/>
          </p:cNvSpPr>
          <p:nvPr>
            <p:ph idx="1"/>
          </p:nvPr>
        </p:nvSpPr>
        <p:spPr>
          <a:xfrm>
            <a:off x="838199" y="1825625"/>
            <a:ext cx="10931013" cy="4351338"/>
          </a:xfrm>
        </p:spPr>
        <p:txBody>
          <a:bodyPr>
            <a:normAutofit lnSpcReduction="10000"/>
          </a:bodyPr>
          <a:lstStyle/>
          <a:p>
            <a:pPr lvl="0"/>
            <a:r>
              <a:rPr lang="en-US" sz="3200" dirty="0">
                <a:latin typeface="Calisto MT" panose="02040603050505030304" pitchFamily="18" charset="0"/>
              </a:rPr>
              <a:t>It is the student’s responsibility to gather information about the assignments and covered topics if he/she does miss the lecture.</a:t>
            </a:r>
          </a:p>
          <a:p>
            <a:pPr lvl="0"/>
            <a:endParaRPr lang="en-US" sz="3200" dirty="0">
              <a:latin typeface="Calisto MT" panose="02040603050505030304" pitchFamily="18" charset="0"/>
            </a:endParaRPr>
          </a:p>
          <a:p>
            <a:pPr lvl="0"/>
            <a:r>
              <a:rPr lang="en-US" sz="3200" dirty="0">
                <a:latin typeface="Calisto MT" panose="02040603050505030304" pitchFamily="18" charset="0"/>
              </a:rPr>
              <a:t>Regular class attendance is mandatory. Points will be taken off for missing classes. </a:t>
            </a:r>
          </a:p>
          <a:p>
            <a:pPr lvl="0"/>
            <a:endParaRPr lang="en-US" sz="3200" dirty="0">
              <a:latin typeface="Calisto MT" panose="02040603050505030304" pitchFamily="18" charset="0"/>
            </a:endParaRPr>
          </a:p>
          <a:p>
            <a:pPr lvl="0"/>
            <a:r>
              <a:rPr lang="en-US" sz="3200" dirty="0">
                <a:latin typeface="Calisto MT" panose="02040603050505030304" pitchFamily="18" charset="0"/>
              </a:rPr>
              <a:t>Without </a:t>
            </a:r>
            <a:r>
              <a:rPr lang="en-US" sz="3200" b="1" dirty="0">
                <a:latin typeface="Calisto MT" panose="02040603050505030304" pitchFamily="18" charset="0"/>
              </a:rPr>
              <a:t>50% of</a:t>
            </a:r>
            <a:r>
              <a:rPr lang="en-US" sz="3200" dirty="0">
                <a:latin typeface="Calisto MT" panose="02040603050505030304" pitchFamily="18" charset="0"/>
              </a:rPr>
              <a:t> attendance, sitting for the final exam is </a:t>
            </a:r>
            <a:r>
              <a:rPr lang="en-US" sz="3200" b="1" dirty="0">
                <a:latin typeface="Calisto MT" panose="02040603050505030304" pitchFamily="18" charset="0"/>
              </a:rPr>
              <a:t>NOT allowed</a:t>
            </a:r>
            <a:r>
              <a:rPr lang="en-US" sz="3200" dirty="0">
                <a:latin typeface="Calisto MT" panose="02040603050505030304" pitchFamily="18" charset="0"/>
              </a:rPr>
              <a:t>. </a:t>
            </a:r>
          </a:p>
          <a:p>
            <a:endParaRPr lang="en-US" dirty="0"/>
          </a:p>
        </p:txBody>
      </p:sp>
    </p:spTree>
    <p:extLst>
      <p:ext uri="{BB962C8B-B14F-4D97-AF65-F5344CB8AC3E}">
        <p14:creationId xmlns:p14="http://schemas.microsoft.com/office/powerpoint/2010/main" val="3329320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FDDBA7-CFF0-639B-6581-F009044CEE9D}"/>
              </a:ext>
            </a:extLst>
          </p:cNvPr>
          <p:cNvSpPr>
            <a:spLocks noGrp="1"/>
          </p:cNvSpPr>
          <p:nvPr>
            <p:ph idx="1"/>
          </p:nvPr>
        </p:nvSpPr>
        <p:spPr>
          <a:xfrm>
            <a:off x="557980" y="2215736"/>
            <a:ext cx="6786717" cy="3621447"/>
          </a:xfrm>
        </p:spPr>
        <p:txBody>
          <a:bodyPr>
            <a:normAutofit/>
          </a:bodyPr>
          <a:lstStyle/>
          <a:p>
            <a:pPr lvl="0" algn="just"/>
            <a:r>
              <a:rPr lang="en-US" sz="3200" dirty="0">
                <a:latin typeface="Calisto MT" panose="02040603050505030304" pitchFamily="18" charset="0"/>
              </a:rPr>
              <a:t>The students must enter the </a:t>
            </a:r>
            <a:r>
              <a:rPr lang="en-US" sz="3200" b="1" dirty="0">
                <a:latin typeface="Calisto MT" panose="02040603050505030304" pitchFamily="18" charset="0"/>
              </a:rPr>
              <a:t>classroom in time</a:t>
            </a:r>
            <a:r>
              <a:rPr lang="en-US" sz="3200" dirty="0">
                <a:latin typeface="Calisto MT" panose="02040603050505030304" pitchFamily="18" charset="0"/>
              </a:rPr>
              <a:t> to get the attendance. </a:t>
            </a:r>
            <a:r>
              <a:rPr lang="en-US" sz="3200" b="1" dirty="0">
                <a:latin typeface="Calisto MT" panose="02040603050505030304" pitchFamily="18" charset="0"/>
              </a:rPr>
              <a:t>No student</a:t>
            </a:r>
            <a:r>
              <a:rPr lang="en-US" sz="3200" dirty="0">
                <a:latin typeface="Calisto MT" panose="02040603050505030304" pitchFamily="18" charset="0"/>
              </a:rPr>
              <a:t> will be allowed to enter the classroom after the attendance has been done.</a:t>
            </a:r>
          </a:p>
          <a:p>
            <a:pPr lvl="0"/>
            <a:endParaRPr lang="en-US" sz="3200" dirty="0">
              <a:latin typeface="Calisto MT" panose="02040603050505030304" pitchFamily="18" charset="0"/>
            </a:endParaRPr>
          </a:p>
          <a:p>
            <a:pPr lvl="0"/>
            <a:endParaRPr lang="en-US" sz="3200" dirty="0">
              <a:latin typeface="Calisto MT" panose="02040603050505030304" pitchFamily="18" charset="0"/>
            </a:endParaRPr>
          </a:p>
          <a:p>
            <a:pPr lvl="0"/>
            <a:endParaRPr lang="en-US" sz="3200" dirty="0">
              <a:latin typeface="Calisto MT" panose="02040603050505030304" pitchFamily="18" charset="0"/>
            </a:endParaRPr>
          </a:p>
        </p:txBody>
      </p:sp>
      <p:sp>
        <p:nvSpPr>
          <p:cNvPr id="4" name="Title 1">
            <a:extLst>
              <a:ext uri="{FF2B5EF4-FFF2-40B4-BE49-F238E27FC236}">
                <a16:creationId xmlns:a16="http://schemas.microsoft.com/office/drawing/2014/main" id="{5006208D-3241-8233-4CB5-5A5215A4976D}"/>
              </a:ext>
            </a:extLst>
          </p:cNvPr>
          <p:cNvSpPr txBox="1">
            <a:spLocks/>
          </p:cNvSpPr>
          <p:nvPr/>
        </p:nvSpPr>
        <p:spPr>
          <a:xfrm>
            <a:off x="557980" y="94738"/>
            <a:ext cx="8448368" cy="8393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Course Conducting/Course Policies:</a:t>
            </a:r>
            <a:endParaRPr lang="en-US" dirty="0"/>
          </a:p>
        </p:txBody>
      </p:sp>
      <p:pic>
        <p:nvPicPr>
          <p:cNvPr id="2" name="Content Placeholder 3">
            <a:extLst>
              <a:ext uri="{FF2B5EF4-FFF2-40B4-BE49-F238E27FC236}">
                <a16:creationId xmlns:a16="http://schemas.microsoft.com/office/drawing/2014/main" id="{11008BBE-732C-700A-4882-5EFC8A8C9776}"/>
              </a:ext>
            </a:extLst>
          </p:cNvPr>
          <p:cNvPicPr>
            <a:picLocks noChangeAspect="1"/>
          </p:cNvPicPr>
          <p:nvPr/>
        </p:nvPicPr>
        <p:blipFill>
          <a:blip r:embed="rId2"/>
          <a:stretch>
            <a:fillRect/>
          </a:stretch>
        </p:blipFill>
        <p:spPr>
          <a:xfrm>
            <a:off x="8104393" y="1334162"/>
            <a:ext cx="3834428" cy="3834428"/>
          </a:xfrm>
          <a:prstGeom prst="rect">
            <a:avLst/>
          </a:prstGeom>
        </p:spPr>
      </p:pic>
    </p:spTree>
    <p:extLst>
      <p:ext uri="{BB962C8B-B14F-4D97-AF65-F5344CB8AC3E}">
        <p14:creationId xmlns:p14="http://schemas.microsoft.com/office/powerpoint/2010/main" val="93736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69605-D801-3429-2FE0-6F230017A989}"/>
              </a:ext>
            </a:extLst>
          </p:cNvPr>
          <p:cNvSpPr>
            <a:spLocks noGrp="1"/>
          </p:cNvSpPr>
          <p:nvPr>
            <p:ph type="title"/>
          </p:nvPr>
        </p:nvSpPr>
        <p:spPr>
          <a:xfrm>
            <a:off x="393289" y="266804"/>
            <a:ext cx="11316929" cy="1080216"/>
          </a:xfrm>
        </p:spPr>
        <p:txBody>
          <a:bodyPr/>
          <a:lstStyle/>
          <a:p>
            <a:r>
              <a:rPr lang="en-US" b="1" dirty="0"/>
              <a:t>Course Conducting/Course Policies:</a:t>
            </a:r>
            <a:endParaRPr lang="en-US" dirty="0"/>
          </a:p>
        </p:txBody>
      </p:sp>
      <p:sp>
        <p:nvSpPr>
          <p:cNvPr id="3" name="Content Placeholder 2">
            <a:extLst>
              <a:ext uri="{FF2B5EF4-FFF2-40B4-BE49-F238E27FC236}">
                <a16:creationId xmlns:a16="http://schemas.microsoft.com/office/drawing/2014/main" id="{938BC81D-913E-7B4A-A34F-2DBF120EBB0F}"/>
              </a:ext>
            </a:extLst>
          </p:cNvPr>
          <p:cNvSpPr>
            <a:spLocks noGrp="1"/>
          </p:cNvSpPr>
          <p:nvPr>
            <p:ph idx="1"/>
          </p:nvPr>
        </p:nvSpPr>
        <p:spPr>
          <a:xfrm>
            <a:off x="166441" y="1130710"/>
            <a:ext cx="5739581" cy="4351338"/>
          </a:xfrm>
        </p:spPr>
        <p:txBody>
          <a:bodyPr/>
          <a:lstStyle/>
          <a:p>
            <a:endParaRPr lang="en-US" dirty="0"/>
          </a:p>
          <a:p>
            <a:pPr lvl="0"/>
            <a:r>
              <a:rPr lang="en-US" dirty="0">
                <a:latin typeface="Calisto MT" panose="02040603050505030304" pitchFamily="18" charset="0"/>
              </a:rPr>
              <a:t>Once the attendance is done, a student can leave the class if he or she thinks that he or she is not getting benefits from the class</a:t>
            </a:r>
          </a:p>
          <a:p>
            <a:r>
              <a:rPr lang="en-US" dirty="0">
                <a:latin typeface="Calisto MT" panose="02040603050505030304" pitchFamily="18" charset="0"/>
              </a:rPr>
              <a:t>The reading materials for each class will be available at the </a:t>
            </a:r>
            <a:r>
              <a:rPr lang="en-US" b="1" dirty="0">
                <a:latin typeface="Calisto MT" panose="02040603050505030304" pitchFamily="18" charset="0"/>
              </a:rPr>
              <a:t>above-given link</a:t>
            </a:r>
            <a:r>
              <a:rPr lang="en-US" dirty="0">
                <a:latin typeface="Calisto MT" panose="02040603050505030304" pitchFamily="18" charset="0"/>
              </a:rPr>
              <a:t> before that class. </a:t>
            </a:r>
          </a:p>
          <a:p>
            <a:endParaRPr lang="en-US" dirty="0"/>
          </a:p>
        </p:txBody>
      </p:sp>
      <p:pic>
        <p:nvPicPr>
          <p:cNvPr id="2050" name="Picture 2" descr="307 Leaving Classroom Stock Photos - Free &amp; Royalty-Free Stock Photos from  Dreamstime">
            <a:extLst>
              <a:ext uri="{FF2B5EF4-FFF2-40B4-BE49-F238E27FC236}">
                <a16:creationId xmlns:a16="http://schemas.microsoft.com/office/drawing/2014/main" id="{C3EAD487-322A-C12C-5D16-5496DCC41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772697"/>
            <a:ext cx="5973806" cy="335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3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5B1BBF-5429-ACD5-C3DB-1D4FF99614F5}"/>
              </a:ext>
            </a:extLst>
          </p:cNvPr>
          <p:cNvSpPr>
            <a:spLocks noGrp="1"/>
          </p:cNvSpPr>
          <p:nvPr>
            <p:ph type="title"/>
          </p:nvPr>
        </p:nvSpPr>
        <p:spPr>
          <a:xfrm>
            <a:off x="366250" y="77272"/>
            <a:ext cx="8472948" cy="1023941"/>
          </a:xfrm>
        </p:spPr>
        <p:txBody>
          <a:bodyPr>
            <a:normAutofit/>
          </a:bodyPr>
          <a:lstStyle/>
          <a:p>
            <a:r>
              <a:rPr lang="en-US" b="1" dirty="0"/>
              <a:t>Course Conducting/Course Policies:</a:t>
            </a:r>
            <a:endParaRPr lang="en-US" dirty="0"/>
          </a:p>
        </p:txBody>
      </p:sp>
      <p:sp>
        <p:nvSpPr>
          <p:cNvPr id="3" name="Content Placeholder 2">
            <a:extLst>
              <a:ext uri="{FF2B5EF4-FFF2-40B4-BE49-F238E27FC236}">
                <a16:creationId xmlns:a16="http://schemas.microsoft.com/office/drawing/2014/main" id="{4F3ECA6B-58DB-170A-7ECD-9E6E4C890B48}"/>
              </a:ext>
            </a:extLst>
          </p:cNvPr>
          <p:cNvSpPr>
            <a:spLocks noGrp="1"/>
          </p:cNvSpPr>
          <p:nvPr>
            <p:ph idx="1"/>
          </p:nvPr>
        </p:nvSpPr>
        <p:spPr>
          <a:xfrm>
            <a:off x="366251" y="1402837"/>
            <a:ext cx="6309852" cy="4968465"/>
          </a:xfrm>
        </p:spPr>
        <p:txBody>
          <a:bodyPr>
            <a:normAutofit/>
          </a:bodyPr>
          <a:lstStyle/>
          <a:p>
            <a:pPr lvl="0"/>
            <a:r>
              <a:rPr lang="en-US" dirty="0">
                <a:latin typeface="Calisto MT" panose="02040603050505030304" pitchFamily="18" charset="0"/>
              </a:rPr>
              <a:t>Each student will have to present an oral presentation </a:t>
            </a:r>
            <a:r>
              <a:rPr lang="en-US" b="1" dirty="0">
                <a:latin typeface="Calisto MT" panose="02040603050505030304" pitchFamily="18" charset="0"/>
              </a:rPr>
              <a:t>for 5 minutes</a:t>
            </a:r>
            <a:r>
              <a:rPr lang="en-US" dirty="0">
                <a:latin typeface="Calisto MT" panose="02040603050505030304" pitchFamily="18" charset="0"/>
              </a:rPr>
              <a:t> on Communication Engineering related recent developments, topics or technologies.</a:t>
            </a:r>
          </a:p>
          <a:p>
            <a:pPr lvl="0"/>
            <a:r>
              <a:rPr lang="en-US" dirty="0">
                <a:latin typeface="Calisto MT" panose="02040603050505030304" pitchFamily="18" charset="0"/>
              </a:rPr>
              <a:t>It is expected that the student will also provide some new knowledge related to the curriculum and then make the class a </a:t>
            </a:r>
            <a:r>
              <a:rPr lang="en-US" b="1" dirty="0">
                <a:latin typeface="Calisto MT" panose="02040603050505030304" pitchFamily="18" charset="0"/>
              </a:rPr>
              <a:t>place of knowledge sharing among all participants, both teachers and students</a:t>
            </a:r>
            <a:r>
              <a:rPr lang="en-US" dirty="0">
                <a:latin typeface="Calisto MT" panose="02040603050505030304" pitchFamily="18" charset="0"/>
              </a:rPr>
              <a:t>.    </a:t>
            </a:r>
          </a:p>
          <a:p>
            <a:endParaRPr lang="en-US" dirty="0"/>
          </a:p>
        </p:txBody>
      </p:sp>
      <p:pic>
        <p:nvPicPr>
          <p:cNvPr id="3074" name="Picture 2" descr="Structuring your presentations at University | Plagiarism Checker">
            <a:extLst>
              <a:ext uri="{FF2B5EF4-FFF2-40B4-BE49-F238E27FC236}">
                <a16:creationId xmlns:a16="http://schemas.microsoft.com/office/drawing/2014/main" id="{2869816B-3C83-852D-4D04-AE0B26BE7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6102" y="1402836"/>
            <a:ext cx="5196197" cy="3464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567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527E-F2DB-3122-D654-F88DDC697C1B}"/>
              </a:ext>
            </a:extLst>
          </p:cNvPr>
          <p:cNvSpPr>
            <a:spLocks noGrp="1"/>
          </p:cNvSpPr>
          <p:nvPr>
            <p:ph type="title"/>
          </p:nvPr>
        </p:nvSpPr>
        <p:spPr>
          <a:xfrm>
            <a:off x="199103" y="207810"/>
            <a:ext cx="8915400" cy="1077218"/>
          </a:xfrm>
        </p:spPr>
        <p:txBody>
          <a:bodyPr/>
          <a:lstStyle/>
          <a:p>
            <a:r>
              <a:rPr lang="en-US" b="1" dirty="0"/>
              <a:t>Course Conducting/Course Policies:</a:t>
            </a:r>
            <a:endParaRPr lang="en-US" dirty="0"/>
          </a:p>
        </p:txBody>
      </p:sp>
      <p:sp>
        <p:nvSpPr>
          <p:cNvPr id="5" name="TextBox 4">
            <a:extLst>
              <a:ext uri="{FF2B5EF4-FFF2-40B4-BE49-F238E27FC236}">
                <a16:creationId xmlns:a16="http://schemas.microsoft.com/office/drawing/2014/main" id="{FD2017F2-31F5-1C96-9975-AC99FED96EB3}"/>
              </a:ext>
            </a:extLst>
          </p:cNvPr>
          <p:cNvSpPr txBox="1"/>
          <p:nvPr/>
        </p:nvSpPr>
        <p:spPr>
          <a:xfrm>
            <a:off x="619432" y="1417143"/>
            <a:ext cx="10943303" cy="1077218"/>
          </a:xfrm>
          <a:prstGeom prst="rect">
            <a:avLst/>
          </a:prstGeom>
          <a:noFill/>
        </p:spPr>
        <p:txBody>
          <a:bodyPr wrap="square">
            <a:spAutoFit/>
          </a:bodyPr>
          <a:lstStyle/>
          <a:p>
            <a:pPr lvl="0"/>
            <a:r>
              <a:rPr lang="en-US" sz="3200" dirty="0">
                <a:latin typeface="Calisto MT" panose="02040603050505030304" pitchFamily="18" charset="0"/>
              </a:rPr>
              <a:t>Any attempt at</a:t>
            </a:r>
            <a:r>
              <a:rPr lang="en-US" sz="3200" b="1" dirty="0">
                <a:latin typeface="Calisto MT" panose="02040603050505030304" pitchFamily="18" charset="0"/>
              </a:rPr>
              <a:t> unfair means</a:t>
            </a:r>
            <a:r>
              <a:rPr lang="en-US" sz="3200" dirty="0">
                <a:latin typeface="Calisto MT" panose="02040603050505030304" pitchFamily="18" charset="0"/>
              </a:rPr>
              <a:t> in the examination is </a:t>
            </a:r>
            <a:r>
              <a:rPr lang="en-US" sz="3200" b="1" dirty="0">
                <a:latin typeface="Calisto MT" panose="02040603050505030304" pitchFamily="18" charset="0"/>
              </a:rPr>
              <a:t>strictly prohibited</a:t>
            </a:r>
            <a:r>
              <a:rPr lang="en-US" sz="3200" dirty="0">
                <a:latin typeface="Calisto MT" panose="02040603050505030304" pitchFamily="18" charset="0"/>
              </a:rPr>
              <a:t>. </a:t>
            </a:r>
          </a:p>
        </p:txBody>
      </p:sp>
      <p:pic>
        <p:nvPicPr>
          <p:cNvPr id="4098" name="Picture 2" descr="The Public Examinations (Prevention of Unfair Means) Act, 2024 - A Law  Punishing Paper Leak &amp; Unfair">
            <a:extLst>
              <a:ext uri="{FF2B5EF4-FFF2-40B4-BE49-F238E27FC236}">
                <a16:creationId xmlns:a16="http://schemas.microsoft.com/office/drawing/2014/main" id="{7769BD52-9989-6AC4-D46E-8A83E5DED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8038" y="2380903"/>
            <a:ext cx="7049729" cy="3965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019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64703F-80BB-3AB7-A4FD-37A84D7C8D50}"/>
              </a:ext>
            </a:extLst>
          </p:cNvPr>
          <p:cNvSpPr>
            <a:spLocks noGrp="1"/>
          </p:cNvSpPr>
          <p:nvPr>
            <p:ph idx="1"/>
          </p:nvPr>
        </p:nvSpPr>
        <p:spPr>
          <a:xfrm>
            <a:off x="838200" y="1204426"/>
            <a:ext cx="10515600" cy="4351338"/>
          </a:xfrm>
        </p:spPr>
        <p:txBody>
          <a:bodyPr>
            <a:normAutofit/>
          </a:bodyPr>
          <a:lstStyle/>
          <a:p>
            <a:pPr lvl="0"/>
            <a:r>
              <a:rPr lang="en-US" dirty="0">
                <a:latin typeface="Calisto MT" panose="02040603050505030304" pitchFamily="18" charset="0"/>
              </a:rPr>
              <a:t>The date and syllabus of quiz/class test will be announced in time in Microsoft Team</a:t>
            </a:r>
          </a:p>
          <a:p>
            <a:pPr lvl="0"/>
            <a:r>
              <a:rPr lang="en-US" dirty="0">
                <a:latin typeface="Calisto MT" panose="02040603050505030304" pitchFamily="18" charset="0"/>
              </a:rPr>
              <a:t>Students will be </a:t>
            </a:r>
            <a:r>
              <a:rPr lang="en-US" b="1" dirty="0">
                <a:latin typeface="Calisto MT" panose="02040603050505030304" pitchFamily="18" charset="0"/>
              </a:rPr>
              <a:t>notified</a:t>
            </a:r>
            <a:r>
              <a:rPr lang="en-US" dirty="0">
                <a:latin typeface="Calisto MT" panose="02040603050505030304" pitchFamily="18" charset="0"/>
              </a:rPr>
              <a:t> in due time for class cancelation, extra class, make-up class and tutorial class.</a:t>
            </a:r>
          </a:p>
          <a:p>
            <a:endParaRPr lang="en-US" dirty="0">
              <a:latin typeface="Calisto MT" panose="02040603050505030304" pitchFamily="18" charset="0"/>
            </a:endParaRPr>
          </a:p>
        </p:txBody>
      </p:sp>
      <p:sp>
        <p:nvSpPr>
          <p:cNvPr id="4" name="Title 1">
            <a:extLst>
              <a:ext uri="{FF2B5EF4-FFF2-40B4-BE49-F238E27FC236}">
                <a16:creationId xmlns:a16="http://schemas.microsoft.com/office/drawing/2014/main" id="{0634D049-E1CA-0D27-5A3B-F2F06AE4BB64}"/>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5" name="TextBox 4">
            <a:extLst>
              <a:ext uri="{FF2B5EF4-FFF2-40B4-BE49-F238E27FC236}">
                <a16:creationId xmlns:a16="http://schemas.microsoft.com/office/drawing/2014/main" id="{94D117AC-CE1C-0507-0C9F-431AB5EAB9C3}"/>
              </a:ext>
            </a:extLst>
          </p:cNvPr>
          <p:cNvSpPr txBox="1"/>
          <p:nvPr/>
        </p:nvSpPr>
        <p:spPr>
          <a:xfrm>
            <a:off x="464574" y="357871"/>
            <a:ext cx="10515600" cy="646331"/>
          </a:xfrm>
          <a:prstGeom prst="rect">
            <a:avLst/>
          </a:prstGeom>
          <a:noFill/>
        </p:spPr>
        <p:txBody>
          <a:bodyPr wrap="square">
            <a:spAutoFit/>
          </a:bodyPr>
          <a:lstStyle/>
          <a:p>
            <a:r>
              <a:rPr lang="en-US" sz="3600" b="1" dirty="0"/>
              <a:t>Course Conducting/Course Policies:</a:t>
            </a:r>
            <a:endParaRPr lang="en-US" sz="3600" dirty="0"/>
          </a:p>
        </p:txBody>
      </p:sp>
    </p:spTree>
    <p:extLst>
      <p:ext uri="{BB962C8B-B14F-4D97-AF65-F5344CB8AC3E}">
        <p14:creationId xmlns:p14="http://schemas.microsoft.com/office/powerpoint/2010/main" val="2768917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D5CA5-B250-E94D-B258-A696AF5B4B27}"/>
              </a:ext>
            </a:extLst>
          </p:cNvPr>
          <p:cNvSpPr>
            <a:spLocks noGrp="1"/>
          </p:cNvSpPr>
          <p:nvPr>
            <p:ph type="title"/>
          </p:nvPr>
        </p:nvSpPr>
        <p:spPr>
          <a:xfrm>
            <a:off x="267929" y="158649"/>
            <a:ext cx="7883013" cy="696757"/>
          </a:xfrm>
        </p:spPr>
        <p:txBody>
          <a:bodyPr>
            <a:normAutofit fontScale="90000"/>
          </a:bodyPr>
          <a:lstStyle/>
          <a:p>
            <a:r>
              <a:rPr lang="en-US" b="1" dirty="0"/>
              <a:t>Course Conducting/Course Policies:</a:t>
            </a:r>
            <a:endParaRPr lang="en-US" dirty="0"/>
          </a:p>
        </p:txBody>
      </p:sp>
      <p:pic>
        <p:nvPicPr>
          <p:cNvPr id="10242" name="Picture 2" descr="Mastering the art of group discussion">
            <a:extLst>
              <a:ext uri="{FF2B5EF4-FFF2-40B4-BE49-F238E27FC236}">
                <a16:creationId xmlns:a16="http://schemas.microsoft.com/office/drawing/2014/main" id="{6EC7B58D-CA4E-B2CD-D6C5-75CDF35AB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0292" y="1610037"/>
            <a:ext cx="5286069" cy="34976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E4C14C-413F-52C9-E99E-10939231E869}"/>
              </a:ext>
            </a:extLst>
          </p:cNvPr>
          <p:cNvSpPr txBox="1"/>
          <p:nvPr/>
        </p:nvSpPr>
        <p:spPr>
          <a:xfrm>
            <a:off x="267929" y="1610036"/>
            <a:ext cx="6172200" cy="3416320"/>
          </a:xfrm>
          <a:prstGeom prst="rect">
            <a:avLst/>
          </a:prstGeom>
          <a:noFill/>
        </p:spPr>
        <p:txBody>
          <a:bodyPr wrap="square">
            <a:spAutoFit/>
          </a:bodyPr>
          <a:lstStyle/>
          <a:p>
            <a:pPr lvl="0"/>
            <a:r>
              <a:rPr lang="en-US" sz="2400" dirty="0">
                <a:latin typeface="Calisto MT" panose="02040603050505030304" pitchFamily="18" charset="0"/>
              </a:rPr>
              <a:t>Students are encouraged to participate in the class discussion and to </a:t>
            </a:r>
            <a:r>
              <a:rPr lang="en-US" sz="2400" b="1" dirty="0">
                <a:latin typeface="Calisto MT" panose="02040603050505030304" pitchFamily="18" charset="0"/>
              </a:rPr>
              <a:t>ask questions</a:t>
            </a:r>
            <a:r>
              <a:rPr lang="en-US" sz="2400" dirty="0">
                <a:latin typeface="Calisto MT" panose="02040603050505030304" pitchFamily="18" charset="0"/>
              </a:rPr>
              <a:t>. The student can ask any question without hesitation as long as they cannot understand the topics being discussed. Please keep in mind that if you don’t understand, it’s not your fault; it’s my limitation that I couldn't make you understand. The class is expected to be </a:t>
            </a:r>
            <a:r>
              <a:rPr lang="en-US" sz="2400" b="1" dirty="0">
                <a:latin typeface="Calisto MT" panose="02040603050505030304" pitchFamily="18" charset="0"/>
              </a:rPr>
              <a:t>interactive.</a:t>
            </a:r>
            <a:endParaRPr lang="en-US" sz="2400" dirty="0">
              <a:latin typeface="Calisto MT" panose="02040603050505030304" pitchFamily="18" charset="0"/>
            </a:endParaRPr>
          </a:p>
        </p:txBody>
      </p:sp>
    </p:spTree>
    <p:extLst>
      <p:ext uri="{BB962C8B-B14F-4D97-AF65-F5344CB8AC3E}">
        <p14:creationId xmlns:p14="http://schemas.microsoft.com/office/powerpoint/2010/main" val="3718431878"/>
      </p:ext>
    </p:extLst>
  </p:cSld>
  <p:clrMapOvr>
    <a:masterClrMapping/>
  </p:clrMapOvr>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F7148A360D4D49BA4CDA9B44E53046" ma:contentTypeVersion="0" ma:contentTypeDescription="Create a new document." ma:contentTypeScope="" ma:versionID="354fbc590c5adce6c078971bc10b2f50">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05749C-9F16-47DC-96F4-DDA65547D4E4}"/>
</file>

<file path=customXml/itemProps2.xml><?xml version="1.0" encoding="utf-8"?>
<ds:datastoreItem xmlns:ds="http://schemas.openxmlformats.org/officeDocument/2006/customXml" ds:itemID="{0AB030AC-E00B-4602-90B0-91FD683C72F7}"/>
</file>

<file path=customXml/itemProps3.xml><?xml version="1.0" encoding="utf-8"?>
<ds:datastoreItem xmlns:ds="http://schemas.openxmlformats.org/officeDocument/2006/customXml" ds:itemID="{9CDB880B-F568-41AC-ACB4-D771D2445BEC}"/>
</file>

<file path=docProps/app.xml><?xml version="1.0" encoding="utf-8"?>
<Properties xmlns="http://schemas.openxmlformats.org/officeDocument/2006/extended-properties" xmlns:vt="http://schemas.openxmlformats.org/officeDocument/2006/docPropsVTypes">
  <Template>Office 2013 - 2022 Theme</Template>
  <TotalTime>395</TotalTime>
  <Words>1166</Words>
  <Application>Microsoft Office PowerPoint</Application>
  <PresentationFormat>Widescreen</PresentationFormat>
  <Paragraphs>212</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CSE 3107 Communication Engineering</vt:lpstr>
      <vt:lpstr>Overview</vt:lpstr>
      <vt:lpstr>Instructor Details</vt:lpstr>
      <vt:lpstr>Find your course materials in Teams</vt:lpstr>
      <vt:lpstr>Course Outcomes</vt:lpstr>
      <vt:lpstr>Program Outcomes</vt:lpstr>
      <vt:lpstr>Knowledge Profile (K1–K8)</vt:lpstr>
      <vt:lpstr>Course Plan</vt:lpstr>
      <vt:lpstr>Course Plan</vt:lpstr>
      <vt:lpstr>Course Plan</vt:lpstr>
      <vt:lpstr>Course Plan</vt:lpstr>
      <vt:lpstr>Reference Books:</vt:lpstr>
      <vt:lpstr>Assessment Tools</vt:lpstr>
      <vt:lpstr>Teaching Learning Method</vt:lpstr>
      <vt:lpstr>Course Conducting/Course Policies:</vt:lpstr>
      <vt:lpstr>PowerPoint Presentation</vt:lpstr>
      <vt:lpstr>Course Conducting/Course Policies:</vt:lpstr>
      <vt:lpstr>Course Conducting/Course Policies:</vt:lpstr>
      <vt:lpstr>Course Conducting/Course Policies:</vt:lpstr>
      <vt:lpstr>PowerPoint Presentation</vt:lpstr>
      <vt:lpstr>Course Conducting/Course Policies: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3107 Communication Engineering</dc:title>
  <dc:creator>Arifa Ferdousi</dc:creator>
  <cp:lastModifiedBy>Zannatul Mifta</cp:lastModifiedBy>
  <cp:revision>12</cp:revision>
  <dcterms:created xsi:type="dcterms:W3CDTF">2025-07-20T03:35:56Z</dcterms:created>
  <dcterms:modified xsi:type="dcterms:W3CDTF">2026-01-27T07:49:09Z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0x01010045F7148A360D4D49BA4CDA9B44E53046</vt:lpwstr>
  </property>
</Properties>
</file>