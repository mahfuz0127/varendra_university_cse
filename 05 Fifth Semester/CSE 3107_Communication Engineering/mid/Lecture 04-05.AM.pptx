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38"/>
  </p:notesMasterIdLst>
  <p:sldIdLst>
    <p:sldId id="401" r:id="rId5"/>
    <p:sldId id="309" r:id="rId6"/>
    <p:sldId id="305" r:id="rId7"/>
    <p:sldId id="443" r:id="rId8"/>
    <p:sldId id="444" r:id="rId9"/>
    <p:sldId id="445" r:id="rId10"/>
    <p:sldId id="449" r:id="rId11"/>
    <p:sldId id="446" r:id="rId12"/>
    <p:sldId id="447" r:id="rId13"/>
    <p:sldId id="448" r:id="rId14"/>
    <p:sldId id="450" r:id="rId15"/>
    <p:sldId id="452" r:id="rId16"/>
    <p:sldId id="453" r:id="rId17"/>
    <p:sldId id="454" r:id="rId18"/>
    <p:sldId id="455" r:id="rId19"/>
    <p:sldId id="456" r:id="rId20"/>
    <p:sldId id="457" r:id="rId21"/>
    <p:sldId id="459" r:id="rId22"/>
    <p:sldId id="458" r:id="rId23"/>
    <p:sldId id="460" r:id="rId24"/>
    <p:sldId id="461" r:id="rId25"/>
    <p:sldId id="464" r:id="rId26"/>
    <p:sldId id="463" r:id="rId27"/>
    <p:sldId id="466" r:id="rId28"/>
    <p:sldId id="465" r:id="rId29"/>
    <p:sldId id="468" r:id="rId30"/>
    <p:sldId id="470" r:id="rId31"/>
    <p:sldId id="471" r:id="rId32"/>
    <p:sldId id="472" r:id="rId33"/>
    <p:sldId id="473" r:id="rId34"/>
    <p:sldId id="474" r:id="rId35"/>
    <p:sldId id="475" r:id="rId36"/>
    <p:sldId id="442"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00"/>
    <a:srgbClr val="0432FF"/>
    <a:srgbClr val="FF4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924" autoAdjust="0"/>
    <p:restoredTop sz="93957" autoAdjust="0"/>
  </p:normalViewPr>
  <p:slideViewPr>
    <p:cSldViewPr snapToGrid="0">
      <p:cViewPr varScale="1">
        <p:scale>
          <a:sx n="116" d="100"/>
          <a:sy n="116" d="100"/>
        </p:scale>
        <p:origin x="62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960848-FB83-40B3-874D-8BCF58CE7CA3}" type="datetimeFigureOut">
              <a:rPr lang="en-US" smtClean="0"/>
              <a:t>2/16/2026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B04899-FDF8-47D4-A771-019EC9B7552E}" type="slidenum">
              <a:rPr lang="en-US" smtClean="0"/>
              <a:t>‹#›</a:t>
            </a:fld>
            <a:endParaRPr lang="en-US"/>
          </a:p>
        </p:txBody>
      </p:sp>
    </p:spTree>
    <p:extLst>
      <p:ext uri="{BB962C8B-B14F-4D97-AF65-F5344CB8AC3E}">
        <p14:creationId xmlns:p14="http://schemas.microsoft.com/office/powerpoint/2010/main" val="3722600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BB04899-FDF8-47D4-A771-019EC9B7552E}" type="slidenum">
              <a:rPr lang="en-US" smtClean="0"/>
              <a:t>1</a:t>
            </a:fld>
            <a:endParaRPr lang="en-US"/>
          </a:p>
        </p:txBody>
      </p:sp>
    </p:spTree>
    <p:extLst>
      <p:ext uri="{BB962C8B-B14F-4D97-AF65-F5344CB8AC3E}">
        <p14:creationId xmlns:p14="http://schemas.microsoft.com/office/powerpoint/2010/main" val="34706057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3BD2673-83EB-6B0F-319B-63DF0B22A1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ED2E59E5-AFD4-EF1D-27D0-2FE475FF5C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F74008F4-B917-C401-9224-C7F1C10CD0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C89ECFD0-1D46-ED0A-5CDC-18259F2C509A}"/>
              </a:ext>
            </a:extLst>
          </p:cNvPr>
          <p:cNvSpPr>
            <a:spLocks noGrp="1"/>
          </p:cNvSpPr>
          <p:nvPr>
            <p:ph type="sldNum" sz="quarter" idx="10"/>
          </p:nvPr>
        </p:nvSpPr>
        <p:spPr/>
        <p:txBody>
          <a:bodyPr/>
          <a:lstStyle/>
          <a:p>
            <a:fld id="{3BB04899-FDF8-47D4-A771-019EC9B7552E}" type="slidenum">
              <a:rPr lang="en-US" smtClean="0"/>
              <a:t>2</a:t>
            </a:fld>
            <a:endParaRPr lang="en-US"/>
          </a:p>
        </p:txBody>
      </p:sp>
    </p:spTree>
    <p:extLst>
      <p:ext uri="{BB962C8B-B14F-4D97-AF65-F5344CB8AC3E}">
        <p14:creationId xmlns:p14="http://schemas.microsoft.com/office/powerpoint/2010/main" val="29357167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B04899-FDF8-47D4-A771-019EC9B7552E}" type="slidenum">
              <a:rPr lang="en-US" smtClean="0"/>
              <a:t>3</a:t>
            </a:fld>
            <a:endParaRPr lang="en-US"/>
          </a:p>
        </p:txBody>
      </p:sp>
    </p:spTree>
    <p:extLst>
      <p:ext uri="{BB962C8B-B14F-4D97-AF65-F5344CB8AC3E}">
        <p14:creationId xmlns:p14="http://schemas.microsoft.com/office/powerpoint/2010/main" val="31945574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C7BDAD9-004A-E13A-6996-F70707828D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C14FBAF5-C8E4-F723-7A57-BC86DF966C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16B73DDA-000C-7F8C-4820-9F35A42A25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8DCEE338-B33A-A1CA-C883-408DE0CA68E0}"/>
              </a:ext>
            </a:extLst>
          </p:cNvPr>
          <p:cNvSpPr>
            <a:spLocks noGrp="1"/>
          </p:cNvSpPr>
          <p:nvPr>
            <p:ph type="sldNum" sz="quarter" idx="5"/>
          </p:nvPr>
        </p:nvSpPr>
        <p:spPr/>
        <p:txBody>
          <a:bodyPr/>
          <a:lstStyle/>
          <a:p>
            <a:fld id="{3BB04899-FDF8-47D4-A771-019EC9B7552E}" type="slidenum">
              <a:rPr lang="en-US" smtClean="0"/>
              <a:t>4</a:t>
            </a:fld>
            <a:endParaRPr lang="en-US"/>
          </a:p>
        </p:txBody>
      </p:sp>
    </p:spTree>
    <p:extLst>
      <p:ext uri="{BB962C8B-B14F-4D97-AF65-F5344CB8AC3E}">
        <p14:creationId xmlns:p14="http://schemas.microsoft.com/office/powerpoint/2010/main" val="10321748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654B20A-C7FD-B3E5-EBC0-6C1BF9CC42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B9CCC31B-85F4-D3E6-8FDC-C1C709C1B3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CF411870-1F08-4AD9-6875-AC45DABEE8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4D0E1C72-6874-77C0-CA96-69A0A32C6F26}"/>
              </a:ext>
            </a:extLst>
          </p:cNvPr>
          <p:cNvSpPr>
            <a:spLocks noGrp="1"/>
          </p:cNvSpPr>
          <p:nvPr>
            <p:ph type="sldNum" sz="quarter" idx="5"/>
          </p:nvPr>
        </p:nvSpPr>
        <p:spPr/>
        <p:txBody>
          <a:bodyPr/>
          <a:lstStyle/>
          <a:p>
            <a:fld id="{3BB04899-FDF8-47D4-A771-019EC9B7552E}" type="slidenum">
              <a:rPr lang="en-US" smtClean="0"/>
              <a:t>5</a:t>
            </a:fld>
            <a:endParaRPr lang="en-US"/>
          </a:p>
        </p:txBody>
      </p:sp>
    </p:spTree>
    <p:extLst>
      <p:ext uri="{BB962C8B-B14F-4D97-AF65-F5344CB8AC3E}">
        <p14:creationId xmlns:p14="http://schemas.microsoft.com/office/powerpoint/2010/main" val="3280423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DB31F8A-A9C9-7EA9-A2D0-B7CAC1C678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0EC78F8B-9FCF-28C3-AA0F-E21E916C87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3D6DC08B-9CDA-A6D1-8999-9C3FA2B428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01E32A1E-2066-1759-FD2F-6C59CA26371B}"/>
              </a:ext>
            </a:extLst>
          </p:cNvPr>
          <p:cNvSpPr>
            <a:spLocks noGrp="1"/>
          </p:cNvSpPr>
          <p:nvPr>
            <p:ph type="sldNum" sz="quarter" idx="5"/>
          </p:nvPr>
        </p:nvSpPr>
        <p:spPr/>
        <p:txBody>
          <a:bodyPr/>
          <a:lstStyle/>
          <a:p>
            <a:fld id="{3BB04899-FDF8-47D4-A771-019EC9B7552E}" type="slidenum">
              <a:rPr lang="en-US" smtClean="0"/>
              <a:t>6</a:t>
            </a:fld>
            <a:endParaRPr lang="en-US"/>
          </a:p>
        </p:txBody>
      </p:sp>
    </p:spTree>
    <p:extLst>
      <p:ext uri="{BB962C8B-B14F-4D97-AF65-F5344CB8AC3E}">
        <p14:creationId xmlns:p14="http://schemas.microsoft.com/office/powerpoint/2010/main" val="38515228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91344BE-56C7-1E5A-7DB8-5C2331CBD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D2E388A7-7624-6463-B67B-2767BA43DF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33EDA373-33D8-585F-8FE5-33D2C53041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2FA6D4E7-EB40-AC3A-5125-32C1EF5550C4}"/>
              </a:ext>
            </a:extLst>
          </p:cNvPr>
          <p:cNvSpPr>
            <a:spLocks noGrp="1"/>
          </p:cNvSpPr>
          <p:nvPr>
            <p:ph type="sldNum" sz="quarter" idx="5"/>
          </p:nvPr>
        </p:nvSpPr>
        <p:spPr/>
        <p:txBody>
          <a:bodyPr/>
          <a:lstStyle/>
          <a:p>
            <a:fld id="{3BB04899-FDF8-47D4-A771-019EC9B7552E}" type="slidenum">
              <a:rPr lang="en-US" smtClean="0"/>
              <a:t>7</a:t>
            </a:fld>
            <a:endParaRPr lang="en-US"/>
          </a:p>
        </p:txBody>
      </p:sp>
    </p:spTree>
    <p:extLst>
      <p:ext uri="{BB962C8B-B14F-4D97-AF65-F5344CB8AC3E}">
        <p14:creationId xmlns:p14="http://schemas.microsoft.com/office/powerpoint/2010/main" val="42880376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319CF88-6889-E87C-FBEF-A6B50550B0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AFBB080B-0907-174A-0D65-ABF3DF063F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8F8CD4A4-F34C-5C7C-35AE-BF1D21FAC4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55D094EE-7DD5-5295-DB2C-DEFAD44E0F1C}"/>
              </a:ext>
            </a:extLst>
          </p:cNvPr>
          <p:cNvSpPr>
            <a:spLocks noGrp="1"/>
          </p:cNvSpPr>
          <p:nvPr>
            <p:ph type="sldNum" sz="quarter" idx="5"/>
          </p:nvPr>
        </p:nvSpPr>
        <p:spPr/>
        <p:txBody>
          <a:bodyPr/>
          <a:lstStyle/>
          <a:p>
            <a:fld id="{3BB04899-FDF8-47D4-A771-019EC9B7552E}" type="slidenum">
              <a:rPr lang="en-US" smtClean="0"/>
              <a:t>8</a:t>
            </a:fld>
            <a:endParaRPr lang="en-US"/>
          </a:p>
        </p:txBody>
      </p:sp>
    </p:spTree>
    <p:extLst>
      <p:ext uri="{BB962C8B-B14F-4D97-AF65-F5344CB8AC3E}">
        <p14:creationId xmlns:p14="http://schemas.microsoft.com/office/powerpoint/2010/main" val="1923622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3A1F29B-F0BE-6638-33E9-49C4D53FD3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3BFCDC2D-C3F4-D3EA-9186-E6E474BBB5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F9C01EF3-D2B6-DD02-943F-0BC5E99E44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96EFF172-641B-2989-560F-C454A2A91268}"/>
              </a:ext>
            </a:extLst>
          </p:cNvPr>
          <p:cNvSpPr>
            <a:spLocks noGrp="1"/>
          </p:cNvSpPr>
          <p:nvPr>
            <p:ph type="sldNum" sz="quarter" idx="5"/>
          </p:nvPr>
        </p:nvSpPr>
        <p:spPr/>
        <p:txBody>
          <a:bodyPr/>
          <a:lstStyle/>
          <a:p>
            <a:fld id="{3BB04899-FDF8-47D4-A771-019EC9B7552E}" type="slidenum">
              <a:rPr lang="en-US" smtClean="0"/>
              <a:t>9</a:t>
            </a:fld>
            <a:endParaRPr lang="en-US"/>
          </a:p>
        </p:txBody>
      </p:sp>
    </p:spTree>
    <p:extLst>
      <p:ext uri="{BB962C8B-B14F-4D97-AF65-F5344CB8AC3E}">
        <p14:creationId xmlns:p14="http://schemas.microsoft.com/office/powerpoint/2010/main" val="33411777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F037C71-9B74-8E4E-0C6C-1E5EC78B5A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95D89C7F-0BF2-13AF-3A4F-CBD49CB40B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1A0465C8-B707-5254-5167-2AC632A4B5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0D6C6BE7-5B44-F1C0-2B4C-3950A63A4001}"/>
              </a:ext>
            </a:extLst>
          </p:cNvPr>
          <p:cNvSpPr>
            <a:spLocks noGrp="1"/>
          </p:cNvSpPr>
          <p:nvPr>
            <p:ph type="sldNum" sz="quarter" idx="5"/>
          </p:nvPr>
        </p:nvSpPr>
        <p:spPr/>
        <p:txBody>
          <a:bodyPr/>
          <a:lstStyle/>
          <a:p>
            <a:fld id="{3BB04899-FDF8-47D4-A771-019EC9B7552E}" type="slidenum">
              <a:rPr lang="en-US" smtClean="0"/>
              <a:t>10</a:t>
            </a:fld>
            <a:endParaRPr lang="en-US"/>
          </a:p>
        </p:txBody>
      </p:sp>
    </p:spTree>
    <p:extLst>
      <p:ext uri="{BB962C8B-B14F-4D97-AF65-F5344CB8AC3E}">
        <p14:creationId xmlns:p14="http://schemas.microsoft.com/office/powerpoint/2010/main" val="23960726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0626941-78C6-94B1-B69F-6309E4B69A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BA153B8B-F127-872E-488C-14B96E351C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4ED197AF-B0E6-999A-B5E4-65B8BF936A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8453F2D6-6B48-97C2-20CD-2E752177EEDE}"/>
              </a:ext>
            </a:extLst>
          </p:cNvPr>
          <p:cNvSpPr>
            <a:spLocks noGrp="1"/>
          </p:cNvSpPr>
          <p:nvPr>
            <p:ph type="sldNum" sz="quarter" idx="5"/>
          </p:nvPr>
        </p:nvSpPr>
        <p:spPr/>
        <p:txBody>
          <a:bodyPr/>
          <a:lstStyle/>
          <a:p>
            <a:fld id="{3BB04899-FDF8-47D4-A771-019EC9B7552E}" type="slidenum">
              <a:rPr lang="en-US" smtClean="0"/>
              <a:t>11</a:t>
            </a:fld>
            <a:endParaRPr lang="en-US"/>
          </a:p>
        </p:txBody>
      </p:sp>
    </p:spTree>
    <p:extLst>
      <p:ext uri="{BB962C8B-B14F-4D97-AF65-F5344CB8AC3E}">
        <p14:creationId xmlns:p14="http://schemas.microsoft.com/office/powerpoint/2010/main" val="36020794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2945CD0-72DA-9265-7583-16BC9A4029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81E74A79-FC33-725B-5472-4AB80DF988A4}"/>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xmlns="" id="{014543DC-E3E0-6DBA-BD85-FF75ED7A785D}"/>
                  </a:ext>
                </a:extLst>
              </p:cNvPr>
              <p:cNvSpPr>
                <a:spLocks noGrp="1"/>
              </p:cNvSpPr>
              <p:nvPr>
                <p:ph type="body" idx="1"/>
              </p:nvPr>
            </p:nvSpPr>
            <p:spPr/>
            <p:txBody>
              <a:bodyPr/>
              <a:lstStyle/>
              <a:p>
                <a:r>
                  <a:rPr lang="en-AU" sz="1200" b="0" i="0" u="none" strike="noStrike" kern="1200" dirty="0">
                    <a:solidFill>
                      <a:schemeClr val="tx1"/>
                    </a:solidFill>
                    <a:effectLst/>
                    <a:latin typeface="+mn-lt"/>
                    <a:ea typeface="+mn-ea"/>
                    <a:cs typeface="+mn-cs"/>
                  </a:rPr>
                  <a:t>Carrier RMS voltage:</a:t>
                </a:r>
              </a:p>
              <a:p>
                <a:pPr/>
                <a14:m>
                  <m:oMathPara xmlns:m="http://schemas.openxmlformats.org/officeDocument/2006/math">
                    <m:oMathParaPr>
                      <m:jc m:val="centerGroup"/>
                    </m:oMathParaPr>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𝑉</m:t>
                          </m:r>
                        </m:e>
                        <m:sub>
                          <m:r>
                            <a:rPr lang="ar-AE" sz="1200" i="1" kern="1200">
                              <a:solidFill>
                                <a:schemeClr val="tx1"/>
                              </a:solidFill>
                              <a:latin typeface="Cambria Math" panose="02040503050406030204" pitchFamily="18" charset="0"/>
                              <a:ea typeface="+mn-ea"/>
                              <a:cs typeface="+mn-cs"/>
                            </a:rPr>
                            <m:t>𝐶</m:t>
                          </m:r>
                          <m:r>
                            <a:rPr lang="ar-AE" sz="1200" i="0" kern="1200">
                              <a:solidFill>
                                <a:schemeClr val="tx1"/>
                              </a:solidFill>
                              <a:latin typeface="Cambria Math" panose="02040503050406030204" pitchFamily="18" charset="0"/>
                              <a:ea typeface="+mn-ea"/>
                              <a:cs typeface="+mn-cs"/>
                            </a:rPr>
                            <m:t>,</m:t>
                          </m:r>
                          <m:r>
                            <m:rPr>
                              <m:nor/>
                            </m:rPr>
                            <a:rPr lang="en-AU" sz="1200" b="0" i="1" kern="1200">
                              <a:solidFill>
                                <a:schemeClr val="tx1"/>
                              </a:solidFill>
                              <a:latin typeface="+mn-lt"/>
                              <a:ea typeface="+mn-ea"/>
                              <a:cs typeface="+mn-cs"/>
                            </a:rPr>
                            <m:t>rms</m:t>
                          </m:r>
                        </m:sub>
                      </m:sSub>
                      <m:r>
                        <a:rPr lang="ar-AE" sz="1200" b="0" i="0" kern="1200">
                          <a:solidFill>
                            <a:schemeClr val="tx1"/>
                          </a:solidFill>
                          <a:latin typeface="Cambria Math" panose="02040503050406030204" pitchFamily="18" charset="0"/>
                          <a:ea typeface="+mn-ea"/>
                          <a:cs typeface="+mn-cs"/>
                        </a:rPr>
                        <m:t>=</m:t>
                      </m:r>
                      <m:f>
                        <m:fPr>
                          <m:ctrlPr>
                            <a:rPr lang="ar-AE" sz="1200" b="0" i="1" kern="1200">
                              <a:solidFill>
                                <a:schemeClr val="tx1"/>
                              </a:solidFill>
                              <a:latin typeface="Cambria Math" panose="02040503050406030204" pitchFamily="18" charset="0"/>
                              <a:ea typeface="+mn-ea"/>
                              <a:cs typeface="+mn-cs"/>
                            </a:rPr>
                          </m:ctrlPr>
                        </m:fPr>
                        <m:num>
                          <m:sSub>
                            <m:sSubPr>
                              <m:ctrlPr>
                                <a:rPr lang="ar-AE" sz="1200" b="0" i="1" kern="1200">
                                  <a:solidFill>
                                    <a:schemeClr val="tx1"/>
                                  </a:solidFill>
                                  <a:latin typeface="Cambria Math" panose="02040503050406030204" pitchFamily="18" charset="0"/>
                                  <a:ea typeface="+mn-ea"/>
                                  <a:cs typeface="+mn-cs"/>
                                </a:rPr>
                              </m:ctrlPr>
                            </m:sSubPr>
                            <m:e>
                              <m:r>
                                <a:rPr lang="ar-AE" sz="1200" b="0" i="1" kern="1200">
                                  <a:solidFill>
                                    <a:schemeClr val="tx1"/>
                                  </a:solidFill>
                                  <a:latin typeface="Cambria Math" panose="02040503050406030204" pitchFamily="18" charset="0"/>
                                  <a:ea typeface="+mn-ea"/>
                                  <a:cs typeface="+mn-cs"/>
                                </a:rPr>
                                <m:t>𝑉</m:t>
                              </m:r>
                            </m:e>
                            <m:sub>
                              <m:r>
                                <a:rPr lang="ar-AE" sz="1200" b="0" i="1" kern="1200">
                                  <a:solidFill>
                                    <a:schemeClr val="tx1"/>
                                  </a:solidFill>
                                  <a:latin typeface="Cambria Math" panose="02040503050406030204" pitchFamily="18" charset="0"/>
                                  <a:ea typeface="+mn-ea"/>
                                  <a:cs typeface="+mn-cs"/>
                                </a:rPr>
                                <m:t>𝐶</m:t>
                              </m:r>
                            </m:sub>
                          </m:sSub>
                        </m:num>
                        <m:den>
                          <m:rad>
                            <m:radPr>
                              <m:degHide m:val="on"/>
                              <m:ctrlPr>
                                <a:rPr lang="ar-AE" sz="1200" b="0" i="1" kern="1200">
                                  <a:solidFill>
                                    <a:schemeClr val="tx1"/>
                                  </a:solidFill>
                                  <a:latin typeface="Cambria Math" panose="02040503050406030204" pitchFamily="18" charset="0"/>
                                  <a:ea typeface="+mn-ea"/>
                                  <a:cs typeface="+mn-cs"/>
                                </a:rPr>
                              </m:ctrlPr>
                            </m:radPr>
                            <m:deg/>
                            <m:e>
                              <m:r>
                                <a:rPr lang="ar-AE" sz="1200" b="0" i="0" kern="1200">
                                  <a:solidFill>
                                    <a:schemeClr val="tx1"/>
                                  </a:solidFill>
                                  <a:latin typeface="Cambria Math" panose="02040503050406030204" pitchFamily="18" charset="0"/>
                                  <a:ea typeface="+mn-ea"/>
                                  <a:cs typeface="+mn-cs"/>
                                </a:rPr>
                                <m:t>2</m:t>
                              </m:r>
                            </m:e>
                          </m:rad>
                        </m:den>
                      </m:f>
                    </m:oMath>
                  </m:oMathPara>
                </a14:m>
                <a:endParaRPr lang="ar-AE" b="0" dirty="0"/>
              </a:p>
              <a:p>
                <a:pPr/>
                <a14:m>
                  <m:oMathPara xmlns:m="http://schemas.openxmlformats.org/officeDocument/2006/math">
                    <m:oMathParaPr>
                      <m:jc m:val="centerGroup"/>
                    </m:oMathParaPr>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𝑃</m:t>
                          </m:r>
                        </m:e>
                        <m:sub>
                          <m:r>
                            <a:rPr lang="ar-AE" sz="1200" i="1" kern="1200">
                              <a:solidFill>
                                <a:schemeClr val="tx1"/>
                              </a:solidFill>
                              <a:latin typeface="Cambria Math" panose="02040503050406030204" pitchFamily="18" charset="0"/>
                              <a:ea typeface="+mn-ea"/>
                              <a:cs typeface="+mn-cs"/>
                            </a:rPr>
                            <m:t>𝐶</m:t>
                          </m:r>
                        </m:sub>
                      </m:sSub>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sSubSup>
                            <m:sSubSupPr>
                              <m:ctrlPr>
                                <a:rPr lang="ar-AE" sz="1200" i="1" kern="1200">
                                  <a:solidFill>
                                    <a:schemeClr val="tx1"/>
                                  </a:solidFill>
                                  <a:latin typeface="Cambria Math" panose="02040503050406030204" pitchFamily="18" charset="0"/>
                                  <a:ea typeface="+mn-ea"/>
                                  <a:cs typeface="+mn-cs"/>
                                </a:rPr>
                              </m:ctrlPr>
                            </m:sSubSupPr>
                            <m:e>
                              <m:r>
                                <a:rPr lang="ar-AE" sz="1200" i="1" kern="1200">
                                  <a:solidFill>
                                    <a:schemeClr val="tx1"/>
                                  </a:solidFill>
                                  <a:latin typeface="Cambria Math" panose="02040503050406030204" pitchFamily="18" charset="0"/>
                                  <a:ea typeface="+mn-ea"/>
                                  <a:cs typeface="+mn-cs"/>
                                </a:rPr>
                                <m:t>𝑉</m:t>
                              </m:r>
                            </m:e>
                            <m:sub>
                              <m:r>
                                <a:rPr lang="ar-AE" sz="1200" i="1" kern="1200">
                                  <a:solidFill>
                                    <a:schemeClr val="tx1"/>
                                  </a:solidFill>
                                  <a:latin typeface="Cambria Math" panose="02040503050406030204" pitchFamily="18" charset="0"/>
                                  <a:ea typeface="+mn-ea"/>
                                  <a:cs typeface="+mn-cs"/>
                                </a:rPr>
                                <m:t>𝐶</m:t>
                              </m:r>
                            </m:sub>
                            <m:sup>
                              <m:r>
                                <a:rPr lang="ar-AE" sz="1200" i="0" kern="1200">
                                  <a:solidFill>
                                    <a:schemeClr val="tx1"/>
                                  </a:solidFill>
                                  <a:latin typeface="Cambria Math" panose="02040503050406030204" pitchFamily="18" charset="0"/>
                                  <a:ea typeface="+mn-ea"/>
                                  <a:cs typeface="+mn-cs"/>
                                </a:rPr>
                                <m:t>2</m:t>
                              </m:r>
                            </m:sup>
                          </m:sSubSup>
                        </m:num>
                        <m:den>
                          <m:r>
                            <a:rPr lang="ar-AE" sz="1200" i="0" kern="1200">
                              <a:solidFill>
                                <a:schemeClr val="tx1"/>
                              </a:solidFill>
                              <a:latin typeface="Cambria Math" panose="02040503050406030204" pitchFamily="18" charset="0"/>
                              <a:ea typeface="+mn-ea"/>
                              <a:cs typeface="+mn-cs"/>
                            </a:rPr>
                            <m:t>2</m:t>
                          </m:r>
                          <m:r>
                            <a:rPr lang="ar-AE" sz="1200" i="1" kern="1200">
                              <a:solidFill>
                                <a:schemeClr val="tx1"/>
                              </a:solidFill>
                              <a:latin typeface="Cambria Math" panose="02040503050406030204" pitchFamily="18" charset="0"/>
                              <a:ea typeface="+mn-ea"/>
                              <a:cs typeface="+mn-cs"/>
                            </a:rPr>
                            <m:t>𝑅</m:t>
                          </m:r>
                        </m:den>
                      </m:f>
                    </m:oMath>
                  </m:oMathPara>
                </a14:m>
                <a:endParaRPr lang="ar-AE" dirty="0"/>
              </a:p>
              <a:p>
                <a:r>
                  <a:rPr lang="en-US" dirty="0"/>
                  <a:t>Similarly, for Both SB!</a:t>
                </a:r>
              </a:p>
            </p:txBody>
          </p:sp>
        </mc:Choice>
        <mc:Fallback xmlns="">
          <p:sp>
            <p:nvSpPr>
              <p:cNvPr id="3" name="Notes Placeholder 2">
                <a:extLst>
                  <a:ext uri="{FF2B5EF4-FFF2-40B4-BE49-F238E27FC236}">
                    <a16:creationId xmlns:a16="http://schemas.microsoft.com/office/drawing/2014/main" id="{014543DC-E3E0-6DBA-BD85-FF75ED7A785D}"/>
                  </a:ext>
                </a:extLst>
              </p:cNvPr>
              <p:cNvSpPr>
                <a:spLocks noGrp="1"/>
              </p:cNvSpPr>
              <p:nvPr>
                <p:ph type="body" idx="1"/>
              </p:nvPr>
            </p:nvSpPr>
            <p:spPr/>
            <p:txBody>
              <a:bodyPr/>
              <a:lstStyle/>
              <a:p>
                <a:r>
                  <a:rPr lang="en-AU" sz="1200" b="0" i="0" u="none" strike="noStrike" kern="1200" dirty="0">
                    <a:solidFill>
                      <a:schemeClr val="tx1"/>
                    </a:solidFill>
                    <a:effectLst/>
                    <a:latin typeface="+mn-lt"/>
                    <a:ea typeface="+mn-ea"/>
                    <a:cs typeface="+mn-cs"/>
                  </a:rPr>
                  <a:t>Carrier RMS voltage:</a:t>
                </a:r>
              </a:p>
              <a:p>
                <a:r>
                  <a:rPr lang="ar-AE" sz="1200" i="0" kern="1200">
                    <a:solidFill>
                      <a:schemeClr val="tx1"/>
                    </a:solidFill>
                    <a:latin typeface="+mn-lt"/>
                    <a:ea typeface="+mn-ea"/>
                    <a:cs typeface="+mn-cs"/>
                  </a:rPr>
                  <a:t>𝑉_(𝐶,</a:t>
                </a:r>
                <a:r>
                  <a:rPr lang="en-AU" sz="1200" b="0" i="0" kern="1200">
                    <a:solidFill>
                      <a:schemeClr val="tx1"/>
                    </a:solidFill>
                    <a:latin typeface="+mn-lt"/>
                    <a:ea typeface="+mn-ea"/>
                    <a:cs typeface="+mn-cs"/>
                  </a:rPr>
                  <a:t>"rms</a:t>
                </a:r>
                <a:r>
                  <a:rPr lang="ar-AE" sz="1200" b="0" i="0" kern="1200">
                    <a:solidFill>
                      <a:schemeClr val="tx1"/>
                    </a:solidFill>
                    <a:latin typeface="+mn-lt"/>
                    <a:ea typeface="+mn-ea"/>
                    <a:cs typeface="+mn-cs"/>
                  </a:rPr>
                  <a:t>" )=𝑉_𝐶/√2</a:t>
                </a:r>
                <a:endParaRPr lang="ar-AE" b="0" dirty="0"/>
              </a:p>
              <a:p>
                <a:r>
                  <a:rPr lang="ar-AE" sz="1200" i="0" kern="1200">
                    <a:solidFill>
                      <a:schemeClr val="tx1"/>
                    </a:solidFill>
                    <a:latin typeface="+mn-lt"/>
                    <a:ea typeface="+mn-ea"/>
                    <a:cs typeface="+mn-cs"/>
                  </a:rPr>
                  <a:t>𝑃_𝐶=(𝑉_𝐶^2)/2𝑅</a:t>
                </a:r>
                <a:endParaRPr lang="ar-AE" dirty="0"/>
              </a:p>
              <a:p>
                <a:r>
                  <a:rPr lang="en-US" dirty="0"/>
                  <a:t>Similarly, for Both SB!</a:t>
                </a:r>
              </a:p>
            </p:txBody>
          </p:sp>
        </mc:Fallback>
      </mc:AlternateContent>
      <p:sp>
        <p:nvSpPr>
          <p:cNvPr id="4" name="Slide Number Placeholder 3">
            <a:extLst>
              <a:ext uri="{FF2B5EF4-FFF2-40B4-BE49-F238E27FC236}">
                <a16:creationId xmlns:a16="http://schemas.microsoft.com/office/drawing/2014/main" xmlns="" id="{BCB6E3D2-4E50-FF69-61BE-3A1078A87A03}"/>
              </a:ext>
            </a:extLst>
          </p:cNvPr>
          <p:cNvSpPr>
            <a:spLocks noGrp="1"/>
          </p:cNvSpPr>
          <p:nvPr>
            <p:ph type="sldNum" sz="quarter" idx="5"/>
          </p:nvPr>
        </p:nvSpPr>
        <p:spPr/>
        <p:txBody>
          <a:bodyPr/>
          <a:lstStyle/>
          <a:p>
            <a:fld id="{3BB04899-FDF8-47D4-A771-019EC9B7552E}" type="slidenum">
              <a:rPr lang="en-US" smtClean="0"/>
              <a:t>12</a:t>
            </a:fld>
            <a:endParaRPr lang="en-US"/>
          </a:p>
        </p:txBody>
      </p:sp>
    </p:spTree>
    <p:extLst>
      <p:ext uri="{BB962C8B-B14F-4D97-AF65-F5344CB8AC3E}">
        <p14:creationId xmlns:p14="http://schemas.microsoft.com/office/powerpoint/2010/main" val="11781752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1F241AC-1994-B10A-4E4E-15584F4415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F348E34F-B705-5483-97A9-1FA4DAD6A6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A14BBF2E-A2D8-5E1E-793E-B532254415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5E8F7C7B-70B5-6B02-C551-518A9C60E255}"/>
              </a:ext>
            </a:extLst>
          </p:cNvPr>
          <p:cNvSpPr>
            <a:spLocks noGrp="1"/>
          </p:cNvSpPr>
          <p:nvPr>
            <p:ph type="sldNum" sz="quarter" idx="5"/>
          </p:nvPr>
        </p:nvSpPr>
        <p:spPr/>
        <p:txBody>
          <a:bodyPr/>
          <a:lstStyle/>
          <a:p>
            <a:fld id="{3BB04899-FDF8-47D4-A771-019EC9B7552E}" type="slidenum">
              <a:rPr lang="en-US" smtClean="0"/>
              <a:t>13</a:t>
            </a:fld>
            <a:endParaRPr lang="en-US"/>
          </a:p>
        </p:txBody>
      </p:sp>
    </p:spTree>
    <p:extLst>
      <p:ext uri="{BB962C8B-B14F-4D97-AF65-F5344CB8AC3E}">
        <p14:creationId xmlns:p14="http://schemas.microsoft.com/office/powerpoint/2010/main" val="32747167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D640E18-1A60-8170-A440-76A82A58DA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E8E2BD3D-E659-904A-FA0B-3163B6770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68C46D60-9753-A7F6-A3F7-A390AA505D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8AD15326-FA0B-875B-24A2-013AF7ADE04D}"/>
              </a:ext>
            </a:extLst>
          </p:cNvPr>
          <p:cNvSpPr>
            <a:spLocks noGrp="1"/>
          </p:cNvSpPr>
          <p:nvPr>
            <p:ph type="sldNum" sz="quarter" idx="5"/>
          </p:nvPr>
        </p:nvSpPr>
        <p:spPr/>
        <p:txBody>
          <a:bodyPr/>
          <a:lstStyle/>
          <a:p>
            <a:fld id="{3BB04899-FDF8-47D4-A771-019EC9B7552E}" type="slidenum">
              <a:rPr lang="en-US" smtClean="0"/>
              <a:t>14</a:t>
            </a:fld>
            <a:endParaRPr lang="en-US"/>
          </a:p>
        </p:txBody>
      </p:sp>
    </p:spTree>
    <p:extLst>
      <p:ext uri="{BB962C8B-B14F-4D97-AF65-F5344CB8AC3E}">
        <p14:creationId xmlns:p14="http://schemas.microsoft.com/office/powerpoint/2010/main" val="37651425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9CB05DD-5222-C0CB-055B-3FC3535F3F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2C7D7205-5714-5CBE-E02E-98FD5D7EBC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82F5C90E-FED9-1DAB-B18E-CD222507DC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A3E70898-51B7-D8B1-E8CA-37A9FF7B3C1F}"/>
              </a:ext>
            </a:extLst>
          </p:cNvPr>
          <p:cNvSpPr>
            <a:spLocks noGrp="1"/>
          </p:cNvSpPr>
          <p:nvPr>
            <p:ph type="sldNum" sz="quarter" idx="5"/>
          </p:nvPr>
        </p:nvSpPr>
        <p:spPr/>
        <p:txBody>
          <a:bodyPr/>
          <a:lstStyle/>
          <a:p>
            <a:fld id="{3BB04899-FDF8-47D4-A771-019EC9B7552E}" type="slidenum">
              <a:rPr lang="en-US" smtClean="0"/>
              <a:t>15</a:t>
            </a:fld>
            <a:endParaRPr lang="en-US"/>
          </a:p>
        </p:txBody>
      </p:sp>
    </p:spTree>
    <p:extLst>
      <p:ext uri="{BB962C8B-B14F-4D97-AF65-F5344CB8AC3E}">
        <p14:creationId xmlns:p14="http://schemas.microsoft.com/office/powerpoint/2010/main" val="35590680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87971DA-7BAE-F1E5-DFDD-B79311C898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5E5A1E32-E577-F00C-21B0-DA438BBF23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FE435B05-BC1B-1E0C-09B2-5815B9D96B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E2638291-0BC7-0C1D-84C3-ECFAF176C0B5}"/>
              </a:ext>
            </a:extLst>
          </p:cNvPr>
          <p:cNvSpPr>
            <a:spLocks noGrp="1"/>
          </p:cNvSpPr>
          <p:nvPr>
            <p:ph type="sldNum" sz="quarter" idx="5"/>
          </p:nvPr>
        </p:nvSpPr>
        <p:spPr/>
        <p:txBody>
          <a:bodyPr/>
          <a:lstStyle/>
          <a:p>
            <a:fld id="{3BB04899-FDF8-47D4-A771-019EC9B7552E}" type="slidenum">
              <a:rPr lang="en-US" smtClean="0"/>
              <a:t>16</a:t>
            </a:fld>
            <a:endParaRPr lang="en-US"/>
          </a:p>
        </p:txBody>
      </p:sp>
    </p:spTree>
    <p:extLst>
      <p:ext uri="{BB962C8B-B14F-4D97-AF65-F5344CB8AC3E}">
        <p14:creationId xmlns:p14="http://schemas.microsoft.com/office/powerpoint/2010/main" val="25195378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08CF852-D557-B452-9EA3-8E570EB519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481CC311-4E11-8B42-C4B8-57B5A6DBC5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D63332BD-4A77-777B-249C-95870754E8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780D6A4E-EC69-6863-F944-59263A7F6995}"/>
              </a:ext>
            </a:extLst>
          </p:cNvPr>
          <p:cNvSpPr>
            <a:spLocks noGrp="1"/>
          </p:cNvSpPr>
          <p:nvPr>
            <p:ph type="sldNum" sz="quarter" idx="5"/>
          </p:nvPr>
        </p:nvSpPr>
        <p:spPr/>
        <p:txBody>
          <a:bodyPr/>
          <a:lstStyle/>
          <a:p>
            <a:fld id="{3BB04899-FDF8-47D4-A771-019EC9B7552E}" type="slidenum">
              <a:rPr lang="en-US" smtClean="0"/>
              <a:t>17</a:t>
            </a:fld>
            <a:endParaRPr lang="en-US"/>
          </a:p>
        </p:txBody>
      </p:sp>
    </p:spTree>
    <p:extLst>
      <p:ext uri="{BB962C8B-B14F-4D97-AF65-F5344CB8AC3E}">
        <p14:creationId xmlns:p14="http://schemas.microsoft.com/office/powerpoint/2010/main" val="9683227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107838B-0B71-8774-DDF9-649CC078DB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8546DB9D-F6FB-E128-4391-C9185E71AA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2053B6D7-C556-21E3-680F-8774AC1F4C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8C0B0AC0-6ABB-586F-F8EA-25B2B077F940}"/>
              </a:ext>
            </a:extLst>
          </p:cNvPr>
          <p:cNvSpPr>
            <a:spLocks noGrp="1"/>
          </p:cNvSpPr>
          <p:nvPr>
            <p:ph type="sldNum" sz="quarter" idx="5"/>
          </p:nvPr>
        </p:nvSpPr>
        <p:spPr/>
        <p:txBody>
          <a:bodyPr/>
          <a:lstStyle/>
          <a:p>
            <a:fld id="{3BB04899-FDF8-47D4-A771-019EC9B7552E}" type="slidenum">
              <a:rPr lang="en-US" smtClean="0"/>
              <a:t>18</a:t>
            </a:fld>
            <a:endParaRPr lang="en-US"/>
          </a:p>
        </p:txBody>
      </p:sp>
    </p:spTree>
    <p:extLst>
      <p:ext uri="{BB962C8B-B14F-4D97-AF65-F5344CB8AC3E}">
        <p14:creationId xmlns:p14="http://schemas.microsoft.com/office/powerpoint/2010/main" val="32158107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3132AC4-DE61-B5F7-6640-0C996D7EC4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4982C497-5D8D-9C53-FA9E-4EADC3737F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D9E14CE2-EF6B-B952-0FAB-C4797CE376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09D0BB77-A643-5604-072F-047C37DF634C}"/>
              </a:ext>
            </a:extLst>
          </p:cNvPr>
          <p:cNvSpPr>
            <a:spLocks noGrp="1"/>
          </p:cNvSpPr>
          <p:nvPr>
            <p:ph type="sldNum" sz="quarter" idx="5"/>
          </p:nvPr>
        </p:nvSpPr>
        <p:spPr/>
        <p:txBody>
          <a:bodyPr/>
          <a:lstStyle/>
          <a:p>
            <a:fld id="{3BB04899-FDF8-47D4-A771-019EC9B7552E}" type="slidenum">
              <a:rPr lang="en-US" smtClean="0"/>
              <a:t>19</a:t>
            </a:fld>
            <a:endParaRPr lang="en-US"/>
          </a:p>
        </p:txBody>
      </p:sp>
    </p:spTree>
    <p:extLst>
      <p:ext uri="{BB962C8B-B14F-4D97-AF65-F5344CB8AC3E}">
        <p14:creationId xmlns:p14="http://schemas.microsoft.com/office/powerpoint/2010/main" val="37491789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CEDF17A-6996-D8DC-DB53-55D0CC9CC1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B3497706-1713-A6CF-ADDA-A39A02E249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A0A89DDE-D042-7EA9-2D31-6C704A8753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05B25810-B2A0-997A-BE4B-42E4EEAD8106}"/>
              </a:ext>
            </a:extLst>
          </p:cNvPr>
          <p:cNvSpPr>
            <a:spLocks noGrp="1"/>
          </p:cNvSpPr>
          <p:nvPr>
            <p:ph type="sldNum" sz="quarter" idx="5"/>
          </p:nvPr>
        </p:nvSpPr>
        <p:spPr/>
        <p:txBody>
          <a:bodyPr/>
          <a:lstStyle/>
          <a:p>
            <a:fld id="{3BB04899-FDF8-47D4-A771-019EC9B7552E}" type="slidenum">
              <a:rPr lang="en-US" smtClean="0"/>
              <a:t>20</a:t>
            </a:fld>
            <a:endParaRPr lang="en-US"/>
          </a:p>
        </p:txBody>
      </p:sp>
    </p:spTree>
    <p:extLst>
      <p:ext uri="{BB962C8B-B14F-4D97-AF65-F5344CB8AC3E}">
        <p14:creationId xmlns:p14="http://schemas.microsoft.com/office/powerpoint/2010/main" val="20643994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DDFF2C8-102C-85F1-F877-BE4D48142A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397C8A9A-1BE4-CD8C-4C25-B3501C60F7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0B85F138-FA98-4DE9-7554-5E7475E29D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1AC9823A-A771-BAB4-579C-C1BA071F813D}"/>
              </a:ext>
            </a:extLst>
          </p:cNvPr>
          <p:cNvSpPr>
            <a:spLocks noGrp="1"/>
          </p:cNvSpPr>
          <p:nvPr>
            <p:ph type="sldNum" sz="quarter" idx="5"/>
          </p:nvPr>
        </p:nvSpPr>
        <p:spPr/>
        <p:txBody>
          <a:bodyPr/>
          <a:lstStyle/>
          <a:p>
            <a:fld id="{3BB04899-FDF8-47D4-A771-019EC9B7552E}" type="slidenum">
              <a:rPr lang="en-US" smtClean="0"/>
              <a:t>21</a:t>
            </a:fld>
            <a:endParaRPr lang="en-US"/>
          </a:p>
        </p:txBody>
      </p:sp>
    </p:spTree>
    <p:extLst>
      <p:ext uri="{BB962C8B-B14F-4D97-AF65-F5344CB8AC3E}">
        <p14:creationId xmlns:p14="http://schemas.microsoft.com/office/powerpoint/2010/main" val="36361369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9E59048-BAEB-EF2E-3578-161D03C067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40C4D596-CCB9-B676-7F6C-3B78084312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9C783974-7C55-5408-34FB-F8E314A63D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4798D866-EA18-D5CF-89BC-4E71209BCF0A}"/>
              </a:ext>
            </a:extLst>
          </p:cNvPr>
          <p:cNvSpPr>
            <a:spLocks noGrp="1"/>
          </p:cNvSpPr>
          <p:nvPr>
            <p:ph type="sldNum" sz="quarter" idx="5"/>
          </p:nvPr>
        </p:nvSpPr>
        <p:spPr/>
        <p:txBody>
          <a:bodyPr/>
          <a:lstStyle/>
          <a:p>
            <a:fld id="{3BB04899-FDF8-47D4-A771-019EC9B7552E}" type="slidenum">
              <a:rPr lang="en-US" smtClean="0"/>
              <a:t>22</a:t>
            </a:fld>
            <a:endParaRPr lang="en-US"/>
          </a:p>
        </p:txBody>
      </p:sp>
    </p:spTree>
    <p:extLst>
      <p:ext uri="{BB962C8B-B14F-4D97-AF65-F5344CB8AC3E}">
        <p14:creationId xmlns:p14="http://schemas.microsoft.com/office/powerpoint/2010/main" val="35305561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C9A5BE2-6BD4-F658-58E4-8FFF819628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9BF467AE-7E5A-32C4-8FF1-7BD72F3AC4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88662A93-5FF9-8237-5659-80917DCEB5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34512DD8-E360-75B6-49AC-888ED384E253}"/>
              </a:ext>
            </a:extLst>
          </p:cNvPr>
          <p:cNvSpPr>
            <a:spLocks noGrp="1"/>
          </p:cNvSpPr>
          <p:nvPr>
            <p:ph type="sldNum" sz="quarter" idx="5"/>
          </p:nvPr>
        </p:nvSpPr>
        <p:spPr/>
        <p:txBody>
          <a:bodyPr/>
          <a:lstStyle/>
          <a:p>
            <a:fld id="{3BB04899-FDF8-47D4-A771-019EC9B7552E}" type="slidenum">
              <a:rPr lang="en-US" smtClean="0"/>
              <a:t>23</a:t>
            </a:fld>
            <a:endParaRPr lang="en-US"/>
          </a:p>
        </p:txBody>
      </p:sp>
    </p:spTree>
    <p:extLst>
      <p:ext uri="{BB962C8B-B14F-4D97-AF65-F5344CB8AC3E}">
        <p14:creationId xmlns:p14="http://schemas.microsoft.com/office/powerpoint/2010/main" val="25576175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35E7EA1-C461-F761-D764-8BF0523D3F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A6C6EE1D-A353-3CF4-A9B7-6F1CFC67CF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0EE1F045-E7DB-2689-560D-260E548EE5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043FE4CC-77B5-3181-BF8A-D2ABC8394AEB}"/>
              </a:ext>
            </a:extLst>
          </p:cNvPr>
          <p:cNvSpPr>
            <a:spLocks noGrp="1"/>
          </p:cNvSpPr>
          <p:nvPr>
            <p:ph type="sldNum" sz="quarter" idx="5"/>
          </p:nvPr>
        </p:nvSpPr>
        <p:spPr/>
        <p:txBody>
          <a:bodyPr/>
          <a:lstStyle/>
          <a:p>
            <a:fld id="{3BB04899-FDF8-47D4-A771-019EC9B7552E}" type="slidenum">
              <a:rPr lang="en-US" smtClean="0"/>
              <a:t>24</a:t>
            </a:fld>
            <a:endParaRPr lang="en-US"/>
          </a:p>
        </p:txBody>
      </p:sp>
    </p:spTree>
    <p:extLst>
      <p:ext uri="{BB962C8B-B14F-4D97-AF65-F5344CB8AC3E}">
        <p14:creationId xmlns:p14="http://schemas.microsoft.com/office/powerpoint/2010/main" val="28958134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38DBCDA-7141-31EB-4C33-600CEA1204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177685AD-BAEC-2ADC-F7E2-E57C2DCCD3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B24B4860-A010-A8AE-4474-0BC2DD7250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1E96CDB1-1B96-0C97-1400-88E442DB3364}"/>
              </a:ext>
            </a:extLst>
          </p:cNvPr>
          <p:cNvSpPr>
            <a:spLocks noGrp="1"/>
          </p:cNvSpPr>
          <p:nvPr>
            <p:ph type="sldNum" sz="quarter" idx="5"/>
          </p:nvPr>
        </p:nvSpPr>
        <p:spPr/>
        <p:txBody>
          <a:bodyPr/>
          <a:lstStyle/>
          <a:p>
            <a:fld id="{3BB04899-FDF8-47D4-A771-019EC9B7552E}" type="slidenum">
              <a:rPr lang="en-US" smtClean="0"/>
              <a:t>25</a:t>
            </a:fld>
            <a:endParaRPr lang="en-US"/>
          </a:p>
        </p:txBody>
      </p:sp>
    </p:spTree>
    <p:extLst>
      <p:ext uri="{BB962C8B-B14F-4D97-AF65-F5344CB8AC3E}">
        <p14:creationId xmlns:p14="http://schemas.microsoft.com/office/powerpoint/2010/main" val="13065313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35143E2-7A53-D300-000B-18424356AE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DFCB48EC-03EE-B766-6B2B-332222B6C7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EF4F3301-61F8-679F-A081-09887733F1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6427628A-E914-35AC-F9BE-D39284C4438C}"/>
              </a:ext>
            </a:extLst>
          </p:cNvPr>
          <p:cNvSpPr>
            <a:spLocks noGrp="1"/>
          </p:cNvSpPr>
          <p:nvPr>
            <p:ph type="sldNum" sz="quarter" idx="5"/>
          </p:nvPr>
        </p:nvSpPr>
        <p:spPr/>
        <p:txBody>
          <a:bodyPr/>
          <a:lstStyle/>
          <a:p>
            <a:fld id="{3BB04899-FDF8-47D4-A771-019EC9B7552E}" type="slidenum">
              <a:rPr lang="en-US" smtClean="0"/>
              <a:t>26</a:t>
            </a:fld>
            <a:endParaRPr lang="en-US"/>
          </a:p>
        </p:txBody>
      </p:sp>
    </p:spTree>
    <p:extLst>
      <p:ext uri="{BB962C8B-B14F-4D97-AF65-F5344CB8AC3E}">
        <p14:creationId xmlns:p14="http://schemas.microsoft.com/office/powerpoint/2010/main" val="36019011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3295B8A-3099-D84E-60D5-8AF34C7D08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9EEAED19-1442-3A81-B3EF-E193DD479D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A1BF3DC2-1A85-0C43-1B7F-1A61942C3A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6D97139E-5932-CF61-E79D-F9AD4231B4C5}"/>
              </a:ext>
            </a:extLst>
          </p:cNvPr>
          <p:cNvSpPr>
            <a:spLocks noGrp="1"/>
          </p:cNvSpPr>
          <p:nvPr>
            <p:ph type="sldNum" sz="quarter" idx="5"/>
          </p:nvPr>
        </p:nvSpPr>
        <p:spPr/>
        <p:txBody>
          <a:bodyPr/>
          <a:lstStyle/>
          <a:p>
            <a:fld id="{3BB04899-FDF8-47D4-A771-019EC9B7552E}" type="slidenum">
              <a:rPr lang="en-US" smtClean="0"/>
              <a:t>27</a:t>
            </a:fld>
            <a:endParaRPr lang="en-US"/>
          </a:p>
        </p:txBody>
      </p:sp>
    </p:spTree>
    <p:extLst>
      <p:ext uri="{BB962C8B-B14F-4D97-AF65-F5344CB8AC3E}">
        <p14:creationId xmlns:p14="http://schemas.microsoft.com/office/powerpoint/2010/main" val="15616788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E949DDD-8DFF-CAFB-2247-A7BDC903B4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DE2EF5E7-8930-1B96-9A21-315C3DF2DA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82AA0433-E6CE-9EC9-226C-3B3DCB15BA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E6E77FCD-35DB-B6C7-9BAA-A74C327442C5}"/>
              </a:ext>
            </a:extLst>
          </p:cNvPr>
          <p:cNvSpPr>
            <a:spLocks noGrp="1"/>
          </p:cNvSpPr>
          <p:nvPr>
            <p:ph type="sldNum" sz="quarter" idx="5"/>
          </p:nvPr>
        </p:nvSpPr>
        <p:spPr/>
        <p:txBody>
          <a:bodyPr/>
          <a:lstStyle/>
          <a:p>
            <a:fld id="{3BB04899-FDF8-47D4-A771-019EC9B7552E}" type="slidenum">
              <a:rPr lang="en-US" smtClean="0"/>
              <a:t>28</a:t>
            </a:fld>
            <a:endParaRPr lang="en-US"/>
          </a:p>
        </p:txBody>
      </p:sp>
    </p:spTree>
    <p:extLst>
      <p:ext uri="{BB962C8B-B14F-4D97-AF65-F5344CB8AC3E}">
        <p14:creationId xmlns:p14="http://schemas.microsoft.com/office/powerpoint/2010/main" val="27818122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B490CD-F8D0-91A2-1072-0207F7E464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0FDD4955-66F6-1052-B9DD-A6055EB43A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30205A17-0AF4-3747-B45F-2B84679FCD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D18EB659-FB40-7F8E-FAB2-969293B5C000}"/>
              </a:ext>
            </a:extLst>
          </p:cNvPr>
          <p:cNvSpPr>
            <a:spLocks noGrp="1"/>
          </p:cNvSpPr>
          <p:nvPr>
            <p:ph type="sldNum" sz="quarter" idx="5"/>
          </p:nvPr>
        </p:nvSpPr>
        <p:spPr/>
        <p:txBody>
          <a:bodyPr/>
          <a:lstStyle/>
          <a:p>
            <a:fld id="{3BB04899-FDF8-47D4-A771-019EC9B7552E}" type="slidenum">
              <a:rPr lang="en-US" smtClean="0"/>
              <a:t>29</a:t>
            </a:fld>
            <a:endParaRPr lang="en-US"/>
          </a:p>
        </p:txBody>
      </p:sp>
    </p:spTree>
    <p:extLst>
      <p:ext uri="{BB962C8B-B14F-4D97-AF65-F5344CB8AC3E}">
        <p14:creationId xmlns:p14="http://schemas.microsoft.com/office/powerpoint/2010/main" val="1694839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533CE43-FA76-59D9-7026-443927B738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0202563C-5447-1C9C-419F-8EB1F598F2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451171CC-5A28-F770-6D14-0E9443B914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26373A91-4A71-54C3-F65E-EA9F223F44F8}"/>
              </a:ext>
            </a:extLst>
          </p:cNvPr>
          <p:cNvSpPr>
            <a:spLocks noGrp="1"/>
          </p:cNvSpPr>
          <p:nvPr>
            <p:ph type="sldNum" sz="quarter" idx="5"/>
          </p:nvPr>
        </p:nvSpPr>
        <p:spPr/>
        <p:txBody>
          <a:bodyPr/>
          <a:lstStyle/>
          <a:p>
            <a:fld id="{3BB04899-FDF8-47D4-A771-019EC9B7552E}" type="slidenum">
              <a:rPr lang="en-US" smtClean="0"/>
              <a:t>30</a:t>
            </a:fld>
            <a:endParaRPr lang="en-US"/>
          </a:p>
        </p:txBody>
      </p:sp>
    </p:spTree>
    <p:extLst>
      <p:ext uri="{BB962C8B-B14F-4D97-AF65-F5344CB8AC3E}">
        <p14:creationId xmlns:p14="http://schemas.microsoft.com/office/powerpoint/2010/main" val="4674423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11183E1-2620-0EBB-1AA1-4FA067F881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5DFEADC4-1374-FFE2-2AAB-39C696ABEF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A0F80335-E49F-1D18-3E85-0D0EC0BAAC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1B7D74B2-5A24-CDA3-EDB4-E5A7AF475177}"/>
              </a:ext>
            </a:extLst>
          </p:cNvPr>
          <p:cNvSpPr>
            <a:spLocks noGrp="1"/>
          </p:cNvSpPr>
          <p:nvPr>
            <p:ph type="sldNum" sz="quarter" idx="5"/>
          </p:nvPr>
        </p:nvSpPr>
        <p:spPr/>
        <p:txBody>
          <a:bodyPr/>
          <a:lstStyle/>
          <a:p>
            <a:fld id="{3BB04899-FDF8-47D4-A771-019EC9B7552E}" type="slidenum">
              <a:rPr lang="en-US" smtClean="0"/>
              <a:t>31</a:t>
            </a:fld>
            <a:endParaRPr lang="en-US"/>
          </a:p>
        </p:txBody>
      </p:sp>
    </p:spTree>
    <p:extLst>
      <p:ext uri="{BB962C8B-B14F-4D97-AF65-F5344CB8AC3E}">
        <p14:creationId xmlns:p14="http://schemas.microsoft.com/office/powerpoint/2010/main" val="1344122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7AFA877-2AFF-B699-0CB7-8E77C74FC3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40488238-FC27-1C1B-D716-F1F2119FE6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2B20BDC1-26CB-1BE3-DE3F-5ED7D8F5C9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F3D2F815-7233-D4D8-BBAB-E8DD2CDE0067}"/>
              </a:ext>
            </a:extLst>
          </p:cNvPr>
          <p:cNvSpPr>
            <a:spLocks noGrp="1"/>
          </p:cNvSpPr>
          <p:nvPr>
            <p:ph type="sldNum" sz="quarter" idx="5"/>
          </p:nvPr>
        </p:nvSpPr>
        <p:spPr/>
        <p:txBody>
          <a:bodyPr/>
          <a:lstStyle/>
          <a:p>
            <a:fld id="{3BB04899-FDF8-47D4-A771-019EC9B7552E}" type="slidenum">
              <a:rPr lang="en-US" smtClean="0"/>
              <a:t>32</a:t>
            </a:fld>
            <a:endParaRPr lang="en-US"/>
          </a:p>
        </p:txBody>
      </p:sp>
    </p:spTree>
    <p:extLst>
      <p:ext uri="{BB962C8B-B14F-4D97-AF65-F5344CB8AC3E}">
        <p14:creationId xmlns:p14="http://schemas.microsoft.com/office/powerpoint/2010/main" val="25240148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3"/>
          <p:cNvPicPr>
            <a:picLocks noChangeAspect="1"/>
          </p:cNvPicPr>
          <p:nvPr/>
        </p:nvPicPr>
        <p:blipFill>
          <a:blip r:embed="rId2"/>
          <a:stretch>
            <a:fillRect/>
          </a:stretch>
        </p:blipFill>
        <p:spPr>
          <a:xfrm>
            <a:off x="0" y="19050"/>
            <a:ext cx="12206817" cy="6867525"/>
          </a:xfrm>
          <a:prstGeom prst="rect">
            <a:avLst/>
          </a:prstGeom>
          <a:noFill/>
          <a:ln w="9525">
            <a:noFill/>
          </a:ln>
        </p:spPr>
      </p:pic>
      <p:sp>
        <p:nvSpPr>
          <p:cNvPr id="2051" name="Rectangle 3"/>
          <p:cNvSpPr>
            <a:spLocks noGrp="1" noChangeArrowheads="1"/>
          </p:cNvSpPr>
          <p:nvPr>
            <p:ph type="ctrTitle"/>
          </p:nvPr>
        </p:nvSpPr>
        <p:spPr>
          <a:xfrm>
            <a:off x="2063751" y="1701800"/>
            <a:ext cx="9211733" cy="1082675"/>
          </a:xfrm>
        </p:spPr>
        <p:txBody>
          <a:bodyPr/>
          <a:lstStyle>
            <a:lvl1pPr>
              <a:defRPr/>
            </a:lvl1pPr>
          </a:lstStyle>
          <a:p>
            <a:pPr lvl="0"/>
            <a:r>
              <a:rPr lang="en-US" altLang="zh-CN" noProof="0"/>
              <a:t>Click to edit Master title style</a:t>
            </a:r>
          </a:p>
        </p:txBody>
      </p:sp>
      <p:sp>
        <p:nvSpPr>
          <p:cNvPr id="2052" name="Rectangle 4"/>
          <p:cNvSpPr>
            <a:spLocks noGrp="1" noChangeArrowheads="1"/>
          </p:cNvSpPr>
          <p:nvPr>
            <p:ph type="subTitle" idx="1"/>
          </p:nvPr>
        </p:nvSpPr>
        <p:spPr>
          <a:xfrm>
            <a:off x="2063751" y="2927350"/>
            <a:ext cx="9218083" cy="1752600"/>
          </a:xfrm>
        </p:spPr>
        <p:txBody>
          <a:bodyPr/>
          <a:lstStyle>
            <a:lvl1pPr marL="0" indent="0" algn="r">
              <a:buFontTx/>
              <a:buNone/>
              <a:defRPr>
                <a:solidFill>
                  <a:schemeClr val="bg1"/>
                </a:solidFill>
              </a:defRPr>
            </a:lvl1pPr>
          </a:lstStyle>
          <a:p>
            <a:pPr lvl="0"/>
            <a:r>
              <a:rPr lang="en-US" altLang="zh-CN" noProof="0"/>
              <a:t>Click to edit Master subtitle style</a:t>
            </a:r>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780DC15-1EEB-DC4A-9191-6E280F39C7C8}" type="datetime1">
              <a:rPr lang="en-AU" smtClean="0"/>
              <a:t>16/02/2026</a:t>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r>
              <a:rPr lang="en-US"/>
              <a:t>@Foez Ahmed, CSE, VU</a:t>
            </a:r>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50D97DBC-71BD-4B00-8F4D-DDC0A0D17A0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9B3552E-48EE-C746-8BE7-92C6069CD665}" type="datetime1">
              <a:rPr lang="en-AU" smtClean="0"/>
              <a:t>16/02/2026</a:t>
            </a:fld>
            <a:endParaRPr lang="en-US"/>
          </a:p>
        </p:txBody>
      </p:sp>
      <p:sp>
        <p:nvSpPr>
          <p:cNvPr id="5" name="Footer Placeholder 4"/>
          <p:cNvSpPr>
            <a:spLocks noGrp="1"/>
          </p:cNvSpPr>
          <p:nvPr>
            <p:ph type="ftr" sz="quarter" idx="11"/>
          </p:nvPr>
        </p:nvSpPr>
        <p:spPr/>
        <p:txBody>
          <a:bodyPr/>
          <a:lstStyle/>
          <a:p>
            <a:r>
              <a:rPr lang="en-US"/>
              <a:t>@Foez Ahmed, CSE, VU</a:t>
            </a:r>
          </a:p>
        </p:txBody>
      </p:sp>
      <p:sp>
        <p:nvSpPr>
          <p:cNvPr id="6" name="Slide Number Placeholder 5"/>
          <p:cNvSpPr>
            <a:spLocks noGrp="1"/>
          </p:cNvSpPr>
          <p:nvPr>
            <p:ph type="sldNum" sz="quarter" idx="12"/>
          </p:nvPr>
        </p:nvSpPr>
        <p:spPr/>
        <p:txBody>
          <a:bodyPr/>
          <a:lstStyle/>
          <a:p>
            <a:fld id="{50D97DBC-71BD-4B00-8F4D-DDC0A0D17A0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C8BAE916-1234-AA4F-B8C9-06C77B2D41B9}" type="datetime1">
              <a:rPr lang="en-AU" smtClean="0"/>
              <a:t>16/02/2026</a:t>
            </a:fld>
            <a:endParaRPr lang="en-US"/>
          </a:p>
        </p:txBody>
      </p:sp>
      <p:sp>
        <p:nvSpPr>
          <p:cNvPr id="5" name="Footer Placeholder 4"/>
          <p:cNvSpPr>
            <a:spLocks noGrp="1"/>
          </p:cNvSpPr>
          <p:nvPr>
            <p:ph type="ftr" sz="quarter" idx="11"/>
          </p:nvPr>
        </p:nvSpPr>
        <p:spPr/>
        <p:txBody>
          <a:bodyPr/>
          <a:lstStyle/>
          <a:p>
            <a:r>
              <a:rPr lang="en-US"/>
              <a:t>@Foez Ahmed, CSE, VU</a:t>
            </a:r>
          </a:p>
        </p:txBody>
      </p:sp>
      <p:sp>
        <p:nvSpPr>
          <p:cNvPr id="6" name="Slide Number Placeholder 5"/>
          <p:cNvSpPr>
            <a:spLocks noGrp="1"/>
          </p:cNvSpPr>
          <p:nvPr>
            <p:ph type="sldNum" sz="quarter" idx="12"/>
          </p:nvPr>
        </p:nvSpPr>
        <p:spPr/>
        <p:txBody>
          <a:bodyPr/>
          <a:lstStyle/>
          <a:p>
            <a:fld id="{50D97DBC-71BD-4B00-8F4D-DDC0A0D17A0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1F96E20-A4E4-4E4C-A673-82B6890AF119}" type="datetime1">
              <a:rPr lang="en-AU" smtClean="0"/>
              <a:t>16/02/2026</a:t>
            </a:fld>
            <a:endParaRPr lang="en-US"/>
          </a:p>
        </p:txBody>
      </p:sp>
      <p:sp>
        <p:nvSpPr>
          <p:cNvPr id="6" name="Footer Placeholder 5"/>
          <p:cNvSpPr>
            <a:spLocks noGrp="1"/>
          </p:cNvSpPr>
          <p:nvPr>
            <p:ph type="ftr" sz="quarter" idx="11"/>
          </p:nvPr>
        </p:nvSpPr>
        <p:spPr/>
        <p:txBody>
          <a:bodyPr/>
          <a:lstStyle/>
          <a:p>
            <a:r>
              <a:rPr lang="en-US"/>
              <a:t>@Foez Ahmed, CSE, VU</a:t>
            </a:r>
          </a:p>
        </p:txBody>
      </p:sp>
      <p:sp>
        <p:nvSpPr>
          <p:cNvPr id="7" name="Slide Number Placeholder 6"/>
          <p:cNvSpPr>
            <a:spLocks noGrp="1"/>
          </p:cNvSpPr>
          <p:nvPr>
            <p:ph type="sldNum" sz="quarter" idx="12"/>
          </p:nvPr>
        </p:nvSpPr>
        <p:spPr/>
        <p:txBody>
          <a:bodyPr/>
          <a:lstStyle/>
          <a:p>
            <a:fld id="{50D97DBC-71BD-4B00-8F4D-DDC0A0D17A0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7"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8975C2B-BE38-DE4B-BA1C-05B1F14943FA}" type="datetime1">
              <a:rPr lang="en-AU" smtClean="0"/>
              <a:t>16/02/2026</a:t>
            </a:fld>
            <a:endParaRPr lang="en-US"/>
          </a:p>
        </p:txBody>
      </p:sp>
      <p:sp>
        <p:nvSpPr>
          <p:cNvPr id="8" name="Footer Placeholder 7"/>
          <p:cNvSpPr>
            <a:spLocks noGrp="1"/>
          </p:cNvSpPr>
          <p:nvPr>
            <p:ph type="ftr" sz="quarter" idx="11"/>
          </p:nvPr>
        </p:nvSpPr>
        <p:spPr/>
        <p:txBody>
          <a:bodyPr/>
          <a:lstStyle/>
          <a:p>
            <a:r>
              <a:rPr lang="en-US"/>
              <a:t>@Foez Ahmed, CSE, VU</a:t>
            </a:r>
          </a:p>
        </p:txBody>
      </p:sp>
      <p:sp>
        <p:nvSpPr>
          <p:cNvPr id="9" name="Slide Number Placeholder 8"/>
          <p:cNvSpPr>
            <a:spLocks noGrp="1"/>
          </p:cNvSpPr>
          <p:nvPr>
            <p:ph type="sldNum" sz="quarter" idx="12"/>
          </p:nvPr>
        </p:nvSpPr>
        <p:spPr/>
        <p:txBody>
          <a:bodyPr/>
          <a:lstStyle/>
          <a:p>
            <a:fld id="{50D97DBC-71BD-4B00-8F4D-DDC0A0D17A0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87D420B-CD74-E141-971A-CED4ABC4FDA5}" type="datetime1">
              <a:rPr lang="en-AU" smtClean="0"/>
              <a:t>16/02/2026</a:t>
            </a:fld>
            <a:endParaRPr lang="en-US"/>
          </a:p>
        </p:txBody>
      </p:sp>
      <p:sp>
        <p:nvSpPr>
          <p:cNvPr id="4" name="Footer Placeholder 3"/>
          <p:cNvSpPr>
            <a:spLocks noGrp="1"/>
          </p:cNvSpPr>
          <p:nvPr>
            <p:ph type="ftr" sz="quarter" idx="11"/>
          </p:nvPr>
        </p:nvSpPr>
        <p:spPr/>
        <p:txBody>
          <a:bodyPr/>
          <a:lstStyle/>
          <a:p>
            <a:r>
              <a:rPr lang="en-US"/>
              <a:t>@Foez Ahmed, CSE, VU</a:t>
            </a:r>
          </a:p>
        </p:txBody>
      </p:sp>
      <p:sp>
        <p:nvSpPr>
          <p:cNvPr id="5" name="Slide Number Placeholder 4"/>
          <p:cNvSpPr>
            <a:spLocks noGrp="1"/>
          </p:cNvSpPr>
          <p:nvPr>
            <p:ph type="sldNum" sz="quarter" idx="12"/>
          </p:nvPr>
        </p:nvSpPr>
        <p:spPr/>
        <p:txBody>
          <a:bodyPr/>
          <a:lstStyle/>
          <a:p>
            <a:fld id="{50D97DBC-71BD-4B00-8F4D-DDC0A0D17A0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CD5359-B880-CA4E-A448-55262F055B56}" type="datetime1">
              <a:rPr lang="en-AU" smtClean="0"/>
              <a:t>16/02/2026</a:t>
            </a:fld>
            <a:endParaRPr lang="en-US"/>
          </a:p>
        </p:txBody>
      </p:sp>
      <p:sp>
        <p:nvSpPr>
          <p:cNvPr id="3" name="Footer Placeholder 2"/>
          <p:cNvSpPr>
            <a:spLocks noGrp="1"/>
          </p:cNvSpPr>
          <p:nvPr>
            <p:ph type="ftr" sz="quarter" idx="11"/>
          </p:nvPr>
        </p:nvSpPr>
        <p:spPr/>
        <p:txBody>
          <a:bodyPr/>
          <a:lstStyle/>
          <a:p>
            <a:r>
              <a:rPr lang="en-US"/>
              <a:t>@Foez Ahmed, CSE, VU</a:t>
            </a:r>
          </a:p>
        </p:txBody>
      </p:sp>
      <p:sp>
        <p:nvSpPr>
          <p:cNvPr id="4" name="Slide Number Placeholder 3"/>
          <p:cNvSpPr>
            <a:spLocks noGrp="1"/>
          </p:cNvSpPr>
          <p:nvPr>
            <p:ph type="sldNum" sz="quarter" idx="12"/>
          </p:nvPr>
        </p:nvSpPr>
        <p:spPr/>
        <p:txBody>
          <a:bodyPr/>
          <a:lstStyle/>
          <a:p>
            <a:fld id="{50D97DBC-71BD-4B00-8F4D-DDC0A0D17A0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DD8473-56F3-1341-BA75-0F3A0A2A4CCF}" type="datetime1">
              <a:rPr lang="en-AU" smtClean="0"/>
              <a:t>16/02/2026</a:t>
            </a:fld>
            <a:endParaRPr lang="en-US"/>
          </a:p>
        </p:txBody>
      </p:sp>
      <p:sp>
        <p:nvSpPr>
          <p:cNvPr id="6" name="Footer Placeholder 5"/>
          <p:cNvSpPr>
            <a:spLocks noGrp="1"/>
          </p:cNvSpPr>
          <p:nvPr>
            <p:ph type="ftr" sz="quarter" idx="11"/>
          </p:nvPr>
        </p:nvSpPr>
        <p:spPr/>
        <p:txBody>
          <a:bodyPr/>
          <a:lstStyle/>
          <a:p>
            <a:r>
              <a:rPr lang="en-US"/>
              <a:t>@Foez Ahmed, CSE, VU</a:t>
            </a:r>
          </a:p>
        </p:txBody>
      </p:sp>
      <p:sp>
        <p:nvSpPr>
          <p:cNvPr id="7" name="Slide Number Placeholder 6"/>
          <p:cNvSpPr>
            <a:spLocks noGrp="1"/>
          </p:cNvSpPr>
          <p:nvPr>
            <p:ph type="sldNum" sz="quarter" idx="12"/>
          </p:nvPr>
        </p:nvSpPr>
        <p:spPr/>
        <p:txBody>
          <a:bodyPr/>
          <a:lstStyle/>
          <a:p>
            <a:fld id="{50D97DBC-71BD-4B00-8F4D-DDC0A0D17A0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FB48440-CD78-AE4C-9728-94776B8CA0AD}" type="datetime1">
              <a:rPr lang="en-AU" smtClean="0"/>
              <a:t>16/02/2026</a:t>
            </a:fld>
            <a:endParaRPr lang="en-US"/>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rPr>
              <a:t>@Foez Ahmed, CSE, VU</a:t>
            </a:r>
          </a:p>
        </p:txBody>
      </p:sp>
      <p:sp>
        <p:nvSpPr>
          <p:cNvPr id="7" name="Slide Number Placeholder 6"/>
          <p:cNvSpPr>
            <a:spLocks noGrp="1"/>
          </p:cNvSpPr>
          <p:nvPr>
            <p:ph type="sldNum" sz="quarter" idx="12"/>
          </p:nvPr>
        </p:nvSpPr>
        <p:spPr/>
        <p:txBody>
          <a:bodyPr/>
          <a:lstStyle/>
          <a:p>
            <a:fld id="{50D97DBC-71BD-4B00-8F4D-DDC0A0D17A0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62AA8A-3323-A443-BA7F-E581B3EF4665}" type="datetime1">
              <a:rPr lang="en-AU" smtClean="0"/>
              <a:t>16/02/2026</a:t>
            </a:fld>
            <a:endParaRPr lang="en-US"/>
          </a:p>
        </p:txBody>
      </p:sp>
      <p:sp>
        <p:nvSpPr>
          <p:cNvPr id="5" name="Footer Placeholder 4"/>
          <p:cNvSpPr>
            <a:spLocks noGrp="1"/>
          </p:cNvSpPr>
          <p:nvPr>
            <p:ph type="ftr" sz="quarter" idx="11"/>
          </p:nvPr>
        </p:nvSpPr>
        <p:spPr/>
        <p:txBody>
          <a:bodyPr/>
          <a:lstStyle/>
          <a:p>
            <a:r>
              <a:rPr lang="en-US"/>
              <a:t>@Foez Ahmed, CSE, VU</a:t>
            </a:r>
          </a:p>
        </p:txBody>
      </p:sp>
      <p:sp>
        <p:nvSpPr>
          <p:cNvPr id="6" name="Slide Number Placeholder 5"/>
          <p:cNvSpPr>
            <a:spLocks noGrp="1"/>
          </p:cNvSpPr>
          <p:nvPr>
            <p:ph type="sldNum" sz="quarter" idx="12"/>
          </p:nvPr>
        </p:nvSpPr>
        <p:spPr/>
        <p:txBody>
          <a:bodyPr/>
          <a:lstStyle/>
          <a:p>
            <a:fld id="{50D97DBC-71BD-4B00-8F4D-DDC0A0D17A0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43016E-0CA5-A248-905D-A2A151A75F1C}" type="datetime1">
              <a:rPr lang="en-AU" smtClean="0"/>
              <a:t>16/02/2026</a:t>
            </a:fld>
            <a:endParaRPr lang="en-US"/>
          </a:p>
        </p:txBody>
      </p:sp>
      <p:sp>
        <p:nvSpPr>
          <p:cNvPr id="5" name="Footer Placeholder 4"/>
          <p:cNvSpPr>
            <a:spLocks noGrp="1"/>
          </p:cNvSpPr>
          <p:nvPr>
            <p:ph type="ftr" sz="quarter" idx="11"/>
          </p:nvPr>
        </p:nvSpPr>
        <p:spPr/>
        <p:txBody>
          <a:bodyPr/>
          <a:lstStyle/>
          <a:p>
            <a:r>
              <a:rPr lang="en-US"/>
              <a:t>@Foez Ahmed, CSE, VU</a:t>
            </a:r>
          </a:p>
        </p:txBody>
      </p:sp>
      <p:sp>
        <p:nvSpPr>
          <p:cNvPr id="6" name="Slide Number Placeholder 5"/>
          <p:cNvSpPr>
            <a:spLocks noGrp="1"/>
          </p:cNvSpPr>
          <p:nvPr>
            <p:ph type="sldNum" sz="quarter" idx="12"/>
          </p:nvPr>
        </p:nvSpPr>
        <p:spPr/>
        <p:txBody>
          <a:bodyPr/>
          <a:lstStyle/>
          <a:p>
            <a:fld id="{50D97DBC-71BD-4B00-8F4D-DDC0A0D17A0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8"/>
          <p:cNvPicPr>
            <a:picLocks noChangeAspect="1"/>
          </p:cNvPicPr>
          <p:nvPr/>
        </p:nvPicPr>
        <p:blipFill>
          <a:blip r:embed="rId13"/>
          <a:stretch>
            <a:fillRect/>
          </a:stretch>
        </p:blipFill>
        <p:spPr>
          <a:xfrm>
            <a:off x="0" y="0"/>
            <a:ext cx="12192000"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lstStyle/>
          <a:p>
            <a:pPr lvl="0"/>
            <a:r>
              <a:rPr lang="en-US" altLang="zh-CN" dirty="0"/>
              <a:t>Click to edit Master title style</a:t>
            </a:r>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B928E690-08FC-934B-A241-5E4FE2D4F11A}" type="datetime1">
              <a:rPr lang="en-AU" smtClean="0"/>
              <a:t>16/02/2026</a:t>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r>
              <a:rPr lang="en-US"/>
              <a:t>@Foez Ahmed, CSE, VU</a:t>
            </a:r>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50D97DBC-71BD-4B00-8F4D-DDC0A0D17A0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r" rtl="0" fontAlgn="base">
        <a:spcBef>
          <a:spcPct val="0"/>
        </a:spcBef>
        <a:spcAft>
          <a:spcPct val="0"/>
        </a:spcAft>
        <a:defRPr sz="3600" kern="1200">
          <a:solidFill>
            <a:schemeClr val="bg1"/>
          </a:solidFill>
          <a:latin typeface="+mj-lt"/>
          <a:ea typeface="+mj-ea"/>
          <a:cs typeface="+mj-cs"/>
        </a:defRPr>
      </a:lvl1pPr>
      <a:lvl2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2pPr>
      <a:lvl3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3pPr>
      <a:lvl4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4pPr>
      <a:lvl5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5pPr>
      <a:lvl6pPr marL="4572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6pPr>
      <a:lvl7pPr marL="9144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7pPr>
      <a:lvl8pPr marL="13716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8pPr>
      <a:lvl9pPr marL="18288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foez28@ru.ac.bd"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30.png"/></Relationships>
</file>

<file path=ppt/slides/_rels/slide31.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8.png"/><Relationship Id="rId7"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41.png"/></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93838" y="1714125"/>
            <a:ext cx="9067800" cy="1447800"/>
          </a:xfrm>
        </p:spPr>
        <p:txBody>
          <a:bodyPr>
            <a:noAutofit/>
          </a:bodyPr>
          <a:lstStyle/>
          <a:p>
            <a:pPr algn="l"/>
            <a:r>
              <a:rPr lang="en-US" sz="3200" b="1" dirty="0">
                <a:solidFill>
                  <a:srgbClr val="0000FF"/>
                </a:solidFill>
                <a:effectLst>
                  <a:outerShdw blurRad="38100" dist="38100" dir="2700000" algn="tl">
                    <a:srgbClr val="000000">
                      <a:alpha val="43137"/>
                    </a:srgbClr>
                  </a:outerShdw>
                </a:effectLst>
              </a:rPr>
              <a:t>Course Code: </a:t>
            </a:r>
            <a:r>
              <a:rPr lang="en-US" sz="3200" b="1" dirty="0">
                <a:effectLst>
                  <a:outerShdw blurRad="38100" dist="38100" dir="2700000" algn="tl">
                    <a:srgbClr val="000000">
                      <a:alpha val="43137"/>
                    </a:srgbClr>
                  </a:outerShdw>
                </a:effectLst>
              </a:rPr>
              <a:t>CSE 3107</a:t>
            </a:r>
            <a:r>
              <a:rPr lang="en-AU" sz="3200" b="1" dirty="0">
                <a:effectLst>
                  <a:outerShdw blurRad="38100" dist="38100" dir="2700000" algn="tl">
                    <a:srgbClr val="000000">
                      <a:alpha val="43137"/>
                    </a:srgbClr>
                  </a:outerShdw>
                </a:effectLst>
              </a:rPr>
              <a:t> </a:t>
            </a:r>
            <a:r>
              <a:rPr lang="en-US" sz="3200" b="1" dirty="0">
                <a:solidFill>
                  <a:srgbClr val="0000FF"/>
                </a:solidFill>
                <a:effectLst>
                  <a:outerShdw blurRad="38100" dist="38100" dir="2700000" algn="tl">
                    <a:srgbClr val="000000">
                      <a:alpha val="43137"/>
                    </a:srgbClr>
                  </a:outerShdw>
                </a:effectLst>
              </a:rPr>
              <a:t/>
            </a:r>
            <a:br>
              <a:rPr lang="en-US" sz="3200" b="1" dirty="0">
                <a:solidFill>
                  <a:srgbClr val="0000FF"/>
                </a:solidFill>
                <a:effectLst>
                  <a:outerShdw blurRad="38100" dist="38100" dir="2700000" algn="tl">
                    <a:srgbClr val="000000">
                      <a:alpha val="43137"/>
                    </a:srgbClr>
                  </a:outerShdw>
                </a:effectLst>
              </a:rPr>
            </a:br>
            <a:r>
              <a:rPr lang="en-US" sz="3200" b="1" dirty="0">
                <a:solidFill>
                  <a:srgbClr val="0000FF"/>
                </a:solidFill>
                <a:effectLst>
                  <a:outerShdw blurRad="38100" dist="38100" dir="2700000" algn="tl">
                    <a:srgbClr val="000000">
                      <a:alpha val="43137"/>
                    </a:srgbClr>
                  </a:outerShdw>
                </a:effectLst>
              </a:rPr>
              <a:t>Course Title: </a:t>
            </a:r>
            <a:r>
              <a:rPr lang="en-US" sz="3200" b="1" dirty="0">
                <a:effectLst>
                  <a:outerShdw blurRad="38100" dist="38100" dir="2700000" algn="tl">
                    <a:srgbClr val="000000">
                      <a:alpha val="43137"/>
                    </a:srgbClr>
                  </a:outerShdw>
                </a:effectLst>
              </a:rPr>
              <a:t>Communication Engineering</a:t>
            </a:r>
            <a:endParaRPr lang="en-US" sz="3200" dirty="0"/>
          </a:p>
        </p:txBody>
      </p:sp>
      <p:sp>
        <p:nvSpPr>
          <p:cNvPr id="3" name="Subtitle 2"/>
          <p:cNvSpPr>
            <a:spLocks noGrp="1"/>
          </p:cNvSpPr>
          <p:nvPr>
            <p:ph type="subTitle" idx="1"/>
          </p:nvPr>
        </p:nvSpPr>
        <p:spPr>
          <a:xfrm>
            <a:off x="374542" y="4631269"/>
            <a:ext cx="4076465" cy="2133600"/>
          </a:xfrm>
        </p:spPr>
        <p:txBody>
          <a:bodyPr>
            <a:noAutofit/>
          </a:bodyPr>
          <a:lstStyle/>
          <a:p>
            <a:pPr marL="0" lvl="2" indent="0">
              <a:buNone/>
            </a:pPr>
            <a:r>
              <a:rPr lang="en-US" sz="3200" b="1" dirty="0">
                <a:solidFill>
                  <a:srgbClr val="FF0066"/>
                </a:solidFill>
                <a:latin typeface="Sylfaen" pitchFamily="18" charset="0"/>
                <a:ea typeface="Tahoma" panose="020B0604030504040204" pitchFamily="34" charset="0"/>
                <a:cs typeface="Tahoma" panose="020B0604030504040204" pitchFamily="34" charset="0"/>
              </a:rPr>
              <a:t>Dr. Foez  Ahmed, </a:t>
            </a:r>
            <a:r>
              <a:rPr lang="en-US" sz="1800" b="1" dirty="0" smtClean="0">
                <a:solidFill>
                  <a:srgbClr val="FF0066"/>
                </a:solidFill>
                <a:latin typeface="Sylfaen" pitchFamily="18" charset="0"/>
                <a:ea typeface="Tahoma" panose="020B0604030504040204" pitchFamily="34" charset="0"/>
                <a:cs typeface="Tahoma" panose="020B0604030504040204" pitchFamily="34" charset="0"/>
              </a:rPr>
              <a:t>SMIEE</a:t>
            </a:r>
            <a:endParaRPr lang="en-US" sz="3200" b="1" dirty="0">
              <a:solidFill>
                <a:srgbClr val="FF0066"/>
              </a:solidFill>
              <a:latin typeface="Sylfaen" pitchFamily="18" charset="0"/>
              <a:ea typeface="Tahoma" panose="020B0604030504040204" pitchFamily="34" charset="0"/>
              <a:cs typeface="Tahoma" panose="020B0604030504040204" pitchFamily="34" charset="0"/>
            </a:endParaRPr>
          </a:p>
          <a:p>
            <a:pPr marL="0" lvl="2" indent="0">
              <a:buNone/>
            </a:pPr>
            <a:r>
              <a:rPr lang="en-US" sz="1800" b="1" dirty="0">
                <a:solidFill>
                  <a:schemeClr val="tx1"/>
                </a:solidFill>
                <a:latin typeface="Sylfaen" pitchFamily="18" charset="0"/>
                <a:ea typeface="Tahoma" panose="020B0604030504040204" pitchFamily="34" charset="0"/>
                <a:cs typeface="Tahoma" panose="020B0604030504040204" pitchFamily="34" charset="0"/>
              </a:rPr>
              <a:t>Associate Professor | Dept. of ICE </a:t>
            </a:r>
          </a:p>
          <a:p>
            <a:pPr marL="0" lvl="2" indent="0">
              <a:buNone/>
            </a:pPr>
            <a:r>
              <a:rPr lang="en-US" sz="1800" b="1" dirty="0">
                <a:solidFill>
                  <a:schemeClr val="tx1"/>
                </a:solidFill>
                <a:latin typeface="Sylfaen" pitchFamily="18" charset="0"/>
                <a:ea typeface="Tahoma" panose="020B0604030504040204" pitchFamily="34" charset="0"/>
                <a:cs typeface="Tahoma" panose="020B0604030504040204" pitchFamily="34" charset="0"/>
              </a:rPr>
              <a:t>University of Rajshahi, Rajshahi-6205</a:t>
            </a:r>
          </a:p>
          <a:p>
            <a:pPr marL="0" lvl="2" indent="0">
              <a:buNone/>
            </a:pPr>
            <a:r>
              <a:rPr lang="en-US" sz="1800" b="1" dirty="0">
                <a:solidFill>
                  <a:schemeClr val="tx1"/>
                </a:solidFill>
                <a:latin typeface="Sylfaen" pitchFamily="18" charset="0"/>
                <a:ea typeface="Tahoma" panose="020B0604030504040204" pitchFamily="34" charset="0"/>
                <a:cs typeface="Tahoma" panose="020B0604030504040204" pitchFamily="34" charset="0"/>
              </a:rPr>
              <a:t>Email: </a:t>
            </a:r>
            <a:r>
              <a:rPr lang="en-US" sz="1800" b="1" dirty="0">
                <a:solidFill>
                  <a:schemeClr val="tx1"/>
                </a:solidFill>
                <a:latin typeface="Sylfaen" pitchFamily="18" charset="0"/>
                <a:ea typeface="Tahoma" panose="020B0604030504040204" pitchFamily="34" charset="0"/>
                <a:cs typeface="Tahoma" panose="020B0604030504040204" pitchFamily="34" charset="0"/>
                <a:hlinkClick r:id="rId3"/>
              </a:rPr>
              <a:t>foez28@ru.ac.bd</a:t>
            </a:r>
            <a:endParaRPr lang="en-US" sz="1800" b="1" dirty="0">
              <a:solidFill>
                <a:schemeClr val="tx1"/>
              </a:solidFill>
              <a:latin typeface="Sylfaen" pitchFamily="18" charset="0"/>
              <a:ea typeface="Tahoma" panose="020B0604030504040204" pitchFamily="34" charset="0"/>
              <a:cs typeface="Tahoma" panose="020B0604030504040204" pitchFamily="34" charset="0"/>
            </a:endParaRPr>
          </a:p>
        </p:txBody>
      </p:sp>
      <p:sp>
        <p:nvSpPr>
          <p:cNvPr id="15" name="Rectangle 14"/>
          <p:cNvSpPr/>
          <p:nvPr/>
        </p:nvSpPr>
        <p:spPr>
          <a:xfrm>
            <a:off x="1717638" y="3102690"/>
            <a:ext cx="9144000" cy="152400"/>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22" name="Rectangle 21"/>
          <p:cNvSpPr/>
          <p:nvPr/>
        </p:nvSpPr>
        <p:spPr>
          <a:xfrm>
            <a:off x="1717638" y="1549339"/>
            <a:ext cx="9144000" cy="152400"/>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xmlns="" id="{0F80187A-C2C5-912B-B32E-D6CC8359838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8515" y="955339"/>
            <a:ext cx="1188000" cy="1188000"/>
          </a:xfrm>
          <a:prstGeom prst="rect">
            <a:avLst/>
          </a:prstGeom>
        </p:spPr>
      </p:pic>
      <p:pic>
        <p:nvPicPr>
          <p:cNvPr id="1026" name="Picture 2" descr="Varendra University Logo">
            <a:extLst>
              <a:ext uri="{FF2B5EF4-FFF2-40B4-BE49-F238E27FC236}">
                <a16:creationId xmlns:a16="http://schemas.microsoft.com/office/drawing/2014/main" xmlns="" id="{12B34ABD-8D9E-5081-E56A-DDB8C4F1DF69}"/>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27452" y="127505"/>
            <a:ext cx="900000" cy="1270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black background with a black shield and lightning&#10;&#10;AI-generated content may be incorrect.">
            <a:extLst>
              <a:ext uri="{FF2B5EF4-FFF2-40B4-BE49-F238E27FC236}">
                <a16:creationId xmlns:a16="http://schemas.microsoft.com/office/drawing/2014/main" xmlns="" id="{6D08DD1F-165E-72E7-5902-880E5A66475A}"/>
              </a:ext>
            </a:extLst>
          </p:cNvPr>
          <p:cNvPicPr>
            <a:picLocks noChangeAspect="1"/>
          </p:cNvPicPr>
          <p:nvPr/>
        </p:nvPicPr>
        <p:blipFill>
          <a:blip r:embed="rId6" cstate="print">
            <a:extLst>
              <a:ext uri="{28A0092B-C50C-407E-A947-70E740481C1C}">
                <a14:useLocalDpi xmlns:a14="http://schemas.microsoft.com/office/drawing/2010/main" val="0"/>
              </a:ext>
            </a:extLst>
          </a:blip>
          <a:srcRect l="15999" t="16610" r="16800" b="17790"/>
          <a:stretch>
            <a:fillRect/>
          </a:stretch>
        </p:blipFill>
        <p:spPr>
          <a:xfrm>
            <a:off x="266935" y="2438025"/>
            <a:ext cx="1191161" cy="1162800"/>
          </a:xfrm>
          <a:prstGeom prst="rect">
            <a:avLst/>
          </a:prstGeom>
        </p:spPr>
      </p:pic>
      <p:sp>
        <p:nvSpPr>
          <p:cNvPr id="9" name="Subtitle 2"/>
          <p:cNvSpPr txBox="1">
            <a:spLocks/>
          </p:cNvSpPr>
          <p:nvPr/>
        </p:nvSpPr>
        <p:spPr>
          <a:xfrm>
            <a:off x="4451007" y="4643655"/>
            <a:ext cx="4076465" cy="2133600"/>
          </a:xfrm>
          <a:prstGeom prst="rect">
            <a:avLst/>
          </a:prstGeom>
          <a:noFill/>
          <a:ln w="9525">
            <a:noFill/>
          </a:ln>
        </p:spPr>
        <p:txBody>
          <a:bodyPr>
            <a:noAutofit/>
          </a:bodyPr>
          <a:lstStyle>
            <a:lvl1pPr marL="0" indent="0" algn="r" rtl="0" fontAlgn="base">
              <a:spcBef>
                <a:spcPct val="20000"/>
              </a:spcBef>
              <a:spcAft>
                <a:spcPct val="0"/>
              </a:spcAft>
              <a:buFontTx/>
              <a:buNone/>
              <a:defRPr sz="3200" kern="1200">
                <a:solidFill>
                  <a:schemeClr val="bg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2" indent="0" defTabSz="914400">
              <a:buFontTx/>
              <a:buNone/>
            </a:pPr>
            <a:r>
              <a:rPr lang="en-US" sz="3200" b="1" dirty="0" err="1" smtClean="0">
                <a:solidFill>
                  <a:srgbClr val="FF0066"/>
                </a:solidFill>
                <a:latin typeface="Sylfaen" pitchFamily="18" charset="0"/>
                <a:ea typeface="Tahoma" panose="020B0604030504040204" pitchFamily="34" charset="0"/>
                <a:cs typeface="Tahoma" panose="020B0604030504040204" pitchFamily="34" charset="0"/>
              </a:rPr>
              <a:t>Arifa</a:t>
            </a:r>
            <a:r>
              <a:rPr lang="en-US" sz="3200" b="1" dirty="0" smtClean="0">
                <a:solidFill>
                  <a:srgbClr val="FF0066"/>
                </a:solidFill>
                <a:latin typeface="Sylfaen" pitchFamily="18" charset="0"/>
                <a:ea typeface="Tahoma" panose="020B0604030504040204" pitchFamily="34" charset="0"/>
                <a:cs typeface="Tahoma" panose="020B0604030504040204" pitchFamily="34" charset="0"/>
              </a:rPr>
              <a:t> </a:t>
            </a:r>
            <a:r>
              <a:rPr lang="en-US" sz="3200" b="1" dirty="0" err="1" smtClean="0">
                <a:solidFill>
                  <a:srgbClr val="FF0066"/>
                </a:solidFill>
                <a:latin typeface="Sylfaen" pitchFamily="18" charset="0"/>
                <a:ea typeface="Tahoma" panose="020B0604030504040204" pitchFamily="34" charset="0"/>
                <a:cs typeface="Tahoma" panose="020B0604030504040204" pitchFamily="34" charset="0"/>
              </a:rPr>
              <a:t>Ferdousi</a:t>
            </a:r>
            <a:endParaRPr lang="en-US" sz="3200" b="1" dirty="0" smtClean="0">
              <a:solidFill>
                <a:srgbClr val="FF0066"/>
              </a:solidFill>
              <a:latin typeface="Sylfaen" pitchFamily="18" charset="0"/>
              <a:ea typeface="Tahoma" panose="020B0604030504040204" pitchFamily="34" charset="0"/>
              <a:cs typeface="Tahoma" panose="020B0604030504040204" pitchFamily="34" charset="0"/>
            </a:endParaRPr>
          </a:p>
          <a:p>
            <a:pPr marL="0" lvl="2" indent="0" defTabSz="914400">
              <a:buFontTx/>
              <a:buNone/>
            </a:pPr>
            <a:r>
              <a:rPr lang="en-US" sz="1800" b="1" dirty="0" smtClean="0">
                <a:latin typeface="Sylfaen" pitchFamily="18" charset="0"/>
                <a:ea typeface="Tahoma" panose="020B0604030504040204" pitchFamily="34" charset="0"/>
                <a:cs typeface="Tahoma" panose="020B0604030504040204" pitchFamily="34" charset="0"/>
              </a:rPr>
              <a:t>Lecturer| Dept. of ICE </a:t>
            </a:r>
          </a:p>
          <a:p>
            <a:pPr marL="0" lvl="2" indent="0" defTabSz="914400">
              <a:buFontTx/>
              <a:buNone/>
            </a:pPr>
            <a:r>
              <a:rPr lang="en-US" sz="1800" b="1" dirty="0" smtClean="0">
                <a:latin typeface="Sylfaen" pitchFamily="18" charset="0"/>
                <a:ea typeface="Tahoma" panose="020B0604030504040204" pitchFamily="34" charset="0"/>
                <a:cs typeface="Tahoma" panose="020B0604030504040204" pitchFamily="34" charset="0"/>
              </a:rPr>
              <a:t>University of </a:t>
            </a:r>
            <a:r>
              <a:rPr lang="en-US" sz="1800" b="1" dirty="0" err="1" smtClean="0">
                <a:latin typeface="Sylfaen" pitchFamily="18" charset="0"/>
                <a:ea typeface="Tahoma" panose="020B0604030504040204" pitchFamily="34" charset="0"/>
                <a:cs typeface="Tahoma" panose="020B0604030504040204" pitchFamily="34" charset="0"/>
              </a:rPr>
              <a:t>Rajshahi</a:t>
            </a:r>
            <a:r>
              <a:rPr lang="en-US" sz="1800" b="1" dirty="0" smtClean="0">
                <a:latin typeface="Sylfaen" pitchFamily="18" charset="0"/>
                <a:ea typeface="Tahoma" panose="020B0604030504040204" pitchFamily="34" charset="0"/>
                <a:cs typeface="Tahoma" panose="020B0604030504040204" pitchFamily="34" charset="0"/>
              </a:rPr>
              <a:t>, Rajshahi-6205</a:t>
            </a:r>
          </a:p>
          <a:p>
            <a:pPr marL="0" lvl="2" indent="0" defTabSz="914400">
              <a:buFontTx/>
              <a:buNone/>
            </a:pPr>
            <a:r>
              <a:rPr lang="en-US" sz="1800" b="1" dirty="0" smtClean="0">
                <a:latin typeface="Sylfaen" pitchFamily="18" charset="0"/>
                <a:ea typeface="Tahoma" panose="020B0604030504040204" pitchFamily="34" charset="0"/>
                <a:cs typeface="Tahoma" panose="020B0604030504040204" pitchFamily="34" charset="0"/>
              </a:rPr>
              <a:t>Email:</a:t>
            </a:r>
            <a:endParaRPr lang="en-US" sz="1800" b="1" dirty="0">
              <a:latin typeface="Sylfaen" pitchFamily="18" charset="0"/>
              <a:ea typeface="Tahoma" panose="020B0604030504040204" pitchFamily="34" charset="0"/>
              <a:cs typeface="Tahoma" panose="020B0604030504040204" pitchFamily="34" charset="0"/>
            </a:endParaRPr>
          </a:p>
        </p:txBody>
      </p:sp>
      <p:sp>
        <p:nvSpPr>
          <p:cNvPr id="10" name="Subtitle 2"/>
          <p:cNvSpPr txBox="1">
            <a:spLocks/>
          </p:cNvSpPr>
          <p:nvPr/>
        </p:nvSpPr>
        <p:spPr>
          <a:xfrm>
            <a:off x="8451508" y="4673746"/>
            <a:ext cx="4076465" cy="2133600"/>
          </a:xfrm>
          <a:prstGeom prst="rect">
            <a:avLst/>
          </a:prstGeom>
          <a:noFill/>
          <a:ln w="9525">
            <a:noFill/>
          </a:ln>
        </p:spPr>
        <p:txBody>
          <a:bodyPr>
            <a:noAutofit/>
          </a:bodyPr>
          <a:lstStyle>
            <a:lvl1pPr marL="0" indent="0" algn="r" rtl="0" fontAlgn="base">
              <a:spcBef>
                <a:spcPct val="20000"/>
              </a:spcBef>
              <a:spcAft>
                <a:spcPct val="0"/>
              </a:spcAft>
              <a:buFontTx/>
              <a:buNone/>
              <a:defRPr sz="3200" kern="1200">
                <a:solidFill>
                  <a:schemeClr val="bg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2" indent="0" defTabSz="914400">
              <a:buFontTx/>
              <a:buNone/>
            </a:pPr>
            <a:r>
              <a:rPr lang="en-US" sz="3200" b="1" dirty="0" smtClean="0">
                <a:solidFill>
                  <a:srgbClr val="FF0066"/>
                </a:solidFill>
                <a:latin typeface="Sylfaen" pitchFamily="18" charset="0"/>
                <a:ea typeface="Tahoma" panose="020B0604030504040204" pitchFamily="34" charset="0"/>
                <a:cs typeface="Tahoma" panose="020B0604030504040204" pitchFamily="34" charset="0"/>
              </a:rPr>
              <a:t>Zannatul Mifta</a:t>
            </a:r>
          </a:p>
          <a:p>
            <a:pPr marL="0" lvl="2" indent="0" defTabSz="914400">
              <a:buFontTx/>
              <a:buNone/>
            </a:pPr>
            <a:r>
              <a:rPr lang="en-US" sz="1800" b="1" dirty="0" smtClean="0">
                <a:latin typeface="Sylfaen" pitchFamily="18" charset="0"/>
                <a:ea typeface="Tahoma" panose="020B0604030504040204" pitchFamily="34" charset="0"/>
                <a:cs typeface="Tahoma" panose="020B0604030504040204" pitchFamily="34" charset="0"/>
              </a:rPr>
              <a:t>Lecturer| Dept. of CSE</a:t>
            </a:r>
          </a:p>
          <a:p>
            <a:pPr marL="0" lvl="2" indent="0" defTabSz="914400">
              <a:buFontTx/>
              <a:buNone/>
            </a:pPr>
            <a:r>
              <a:rPr lang="en-US" sz="1800" b="1" dirty="0" err="1" smtClean="0">
                <a:latin typeface="Sylfaen" pitchFamily="18" charset="0"/>
                <a:ea typeface="Tahoma" panose="020B0604030504040204" pitchFamily="34" charset="0"/>
                <a:cs typeface="Tahoma" panose="020B0604030504040204" pitchFamily="34" charset="0"/>
              </a:rPr>
              <a:t>Varendra</a:t>
            </a:r>
            <a:r>
              <a:rPr lang="en-US" sz="1800" b="1" dirty="0" smtClean="0">
                <a:latin typeface="Sylfaen" pitchFamily="18" charset="0"/>
                <a:ea typeface="Tahoma" panose="020B0604030504040204" pitchFamily="34" charset="0"/>
                <a:cs typeface="Tahoma" panose="020B0604030504040204" pitchFamily="34" charset="0"/>
              </a:rPr>
              <a:t> University</a:t>
            </a:r>
          </a:p>
          <a:p>
            <a:pPr marL="0" lvl="2" indent="0" defTabSz="914400">
              <a:buFontTx/>
              <a:buNone/>
            </a:pPr>
            <a:r>
              <a:rPr lang="en-US" sz="1800" b="1" dirty="0" smtClean="0">
                <a:latin typeface="Sylfaen" pitchFamily="18" charset="0"/>
                <a:ea typeface="Tahoma" panose="020B0604030504040204" pitchFamily="34" charset="0"/>
                <a:cs typeface="Tahoma" panose="020B0604030504040204" pitchFamily="34" charset="0"/>
              </a:rPr>
              <a:t>Email: </a:t>
            </a:r>
            <a:r>
              <a:rPr lang="en-US" sz="1800" b="1" u="sng" dirty="0" smtClean="0">
                <a:solidFill>
                  <a:srgbClr val="CC3300"/>
                </a:solidFill>
                <a:latin typeface="Sylfaen" pitchFamily="18" charset="0"/>
                <a:ea typeface="Tahoma" panose="020B0604030504040204" pitchFamily="34" charset="0"/>
                <a:cs typeface="Tahoma" panose="020B0604030504040204" pitchFamily="34" charset="0"/>
              </a:rPr>
              <a:t>mifta@vu.edu.bd</a:t>
            </a:r>
            <a:endParaRPr lang="en-US" sz="1800" b="1" u="sng" dirty="0">
              <a:solidFill>
                <a:srgbClr val="CC3300"/>
              </a:solidFill>
              <a:latin typeface="Sylfaen" pitchFamily="18" charset="0"/>
              <a:ea typeface="Tahoma" panose="020B0604030504040204" pitchFamily="34" charset="0"/>
              <a:cs typeface="Tahoma" panose="020B0604030504040204" pitchFamily="34" charset="0"/>
            </a:endParaRPr>
          </a:p>
        </p:txBody>
      </p:sp>
    </p:spTree>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advClick="0">
        <p159:morph option="byWord"/>
      </p:transition>
    </mc:Choice>
    <mc:Fallback>
      <p:transition spd="slow" advClick="0">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D20CB63-DD37-FADA-5C74-C86F687214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C29D68AF-A866-D0F5-1AC5-F6EDD25B1FD7}"/>
              </a:ext>
            </a:extLst>
          </p:cNvPr>
          <p:cNvSpPr>
            <a:spLocks noGrp="1"/>
          </p:cNvSpPr>
          <p:nvPr>
            <p:ph type="ctrTitle"/>
          </p:nvPr>
        </p:nvSpPr>
        <p:spPr>
          <a:xfrm>
            <a:off x="2063751" y="702150"/>
            <a:ext cx="9211733" cy="2769881"/>
          </a:xfrm>
        </p:spPr>
        <p:txBody>
          <a:bodyPr>
            <a:normAutofit/>
          </a:bodyPr>
          <a:lstStyle/>
          <a:p>
            <a:r>
              <a:rPr lang="en-US" sz="7200" b="1" dirty="0"/>
              <a:t>Lecture # 04-05</a:t>
            </a:r>
            <a:r>
              <a:rPr lang="en-US" sz="7200" dirty="0"/>
              <a:t/>
            </a:r>
            <a:br>
              <a:rPr lang="en-US" sz="7200" dirty="0"/>
            </a:br>
            <a:r>
              <a:rPr lang="en-US" sz="4800" dirty="0"/>
              <a:t>Amplitude Modulation</a:t>
            </a:r>
          </a:p>
        </p:txBody>
      </p:sp>
      <p:sp>
        <p:nvSpPr>
          <p:cNvPr id="3" name="Subtitle 2">
            <a:extLst>
              <a:ext uri="{FF2B5EF4-FFF2-40B4-BE49-F238E27FC236}">
                <a16:creationId xmlns:a16="http://schemas.microsoft.com/office/drawing/2014/main" xmlns="" id="{2F4B3E47-FFCA-E559-7BB0-D0CB37378151}"/>
              </a:ext>
            </a:extLst>
          </p:cNvPr>
          <p:cNvSpPr>
            <a:spLocks noGrp="1"/>
          </p:cNvSpPr>
          <p:nvPr>
            <p:ph type="subTitle" idx="1"/>
          </p:nvPr>
        </p:nvSpPr>
        <p:spPr>
          <a:xfrm>
            <a:off x="2363999" y="4273004"/>
            <a:ext cx="8911485" cy="1453240"/>
          </a:xfrm>
        </p:spPr>
        <p:txBody>
          <a:bodyPr>
            <a:noAutofit/>
          </a:bodyPr>
          <a:lstStyle/>
          <a:p>
            <a:pPr marL="457200" indent="-457200" algn="l">
              <a:buFont typeface="Arial" panose="020B0604020202020204" pitchFamily="34" charset="0"/>
              <a:buChar char="•"/>
            </a:pPr>
            <a:r>
              <a:rPr lang="en-US" sz="2300" b="1" dirty="0">
                <a:solidFill>
                  <a:schemeClr val="tx1"/>
                </a:solidFill>
              </a:rPr>
              <a:t>Amplitude Modulation</a:t>
            </a:r>
          </a:p>
          <a:p>
            <a:pPr marL="457200" indent="-457200" algn="l">
              <a:buFont typeface="Arial" panose="020B0604020202020204" pitchFamily="34" charset="0"/>
              <a:buChar char="•"/>
            </a:pPr>
            <a:r>
              <a:rPr lang="en-US" sz="2300" b="1" dirty="0">
                <a:solidFill>
                  <a:schemeClr val="tx1"/>
                </a:solidFill>
              </a:rPr>
              <a:t>Amplitude Modulation Index</a:t>
            </a:r>
          </a:p>
          <a:p>
            <a:pPr marL="457200" indent="-457200" algn="l">
              <a:buFont typeface="Arial" panose="020B0604020202020204" pitchFamily="34" charset="0"/>
              <a:buChar char="•"/>
            </a:pPr>
            <a:r>
              <a:rPr lang="en-US" sz="2300" b="1" dirty="0">
                <a:solidFill>
                  <a:schemeClr val="tx1"/>
                </a:solidFill>
              </a:rPr>
              <a:t>Frequency Spectrum for Sinusoidal AM</a:t>
            </a:r>
          </a:p>
        </p:txBody>
      </p:sp>
      <p:sp>
        <p:nvSpPr>
          <p:cNvPr id="5" name="TextBox 4">
            <a:extLst>
              <a:ext uri="{FF2B5EF4-FFF2-40B4-BE49-F238E27FC236}">
                <a16:creationId xmlns:a16="http://schemas.microsoft.com/office/drawing/2014/main" xmlns="" id="{607FD1E7-562C-3B20-BC08-EA4EE26A7BEC}"/>
              </a:ext>
            </a:extLst>
          </p:cNvPr>
          <p:cNvSpPr txBox="1"/>
          <p:nvPr/>
        </p:nvSpPr>
        <p:spPr>
          <a:xfrm>
            <a:off x="656224" y="4115221"/>
            <a:ext cx="1792510" cy="430887"/>
          </a:xfrm>
          <a:prstGeom prst="rect">
            <a:avLst/>
          </a:prstGeom>
          <a:noFill/>
        </p:spPr>
        <p:txBody>
          <a:bodyPr wrap="square">
            <a:spAutoFit/>
          </a:bodyPr>
          <a:lstStyle/>
          <a:p>
            <a:r>
              <a:rPr lang="en-US" sz="2200" b="1" dirty="0">
                <a:solidFill>
                  <a:srgbClr val="FF0000"/>
                </a:solidFill>
              </a:rPr>
              <a:t>Outline____</a:t>
            </a:r>
          </a:p>
        </p:txBody>
      </p:sp>
    </p:spTree>
    <p:extLst>
      <p:ext uri="{BB962C8B-B14F-4D97-AF65-F5344CB8AC3E}">
        <p14:creationId xmlns:p14="http://schemas.microsoft.com/office/powerpoint/2010/main" val="3122238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6750" y="190500"/>
            <a:ext cx="9645650" cy="582930"/>
          </a:xfrm>
        </p:spPr>
        <p:txBody>
          <a:bodyPr/>
          <a:lstStyle/>
          <a:p>
            <a:r>
              <a:rPr lang="en-US" altLang="en-US" b="1" dirty="0">
                <a:sym typeface="+mn-ea"/>
              </a:rPr>
              <a:t>Modulation</a:t>
            </a:r>
            <a:endParaRPr lang="en-US" altLang="en-US" b="1" dirty="0"/>
          </a:p>
        </p:txBody>
      </p:sp>
      <p:sp>
        <p:nvSpPr>
          <p:cNvPr id="3" name="Content Placeholder 2"/>
          <p:cNvSpPr>
            <a:spLocks noGrp="1" noChangeAspect="1"/>
          </p:cNvSpPr>
          <p:nvPr>
            <p:ph idx="1"/>
          </p:nvPr>
        </p:nvSpPr>
        <p:spPr>
          <a:xfrm>
            <a:off x="874954" y="1185507"/>
            <a:ext cx="10431314" cy="476250"/>
          </a:xfrm>
        </p:spPr>
        <p:txBody>
          <a:bodyPr/>
          <a:lstStyle/>
          <a:p>
            <a:pPr>
              <a:buFont typeface="Wingdings" pitchFamily="2" charset="2"/>
              <a:buChar char="q"/>
            </a:pPr>
            <a:r>
              <a:rPr lang="en-US" altLang="en-US" sz="2400" b="1" dirty="0"/>
              <a:t>Modulation and Demodulation?</a:t>
            </a:r>
            <a:endParaRPr lang="en-US" altLang="en-US" sz="2400" dirty="0"/>
          </a:p>
        </p:txBody>
      </p:sp>
      <p:sp>
        <p:nvSpPr>
          <p:cNvPr id="4" name="Slide Number Placeholder 3"/>
          <p:cNvSpPr>
            <a:spLocks noGrp="1"/>
          </p:cNvSpPr>
          <p:nvPr>
            <p:ph type="sldNum" sz="quarter" idx="12"/>
          </p:nvPr>
        </p:nvSpPr>
        <p:spPr>
          <a:xfrm>
            <a:off x="8737600" y="6381750"/>
            <a:ext cx="2844800" cy="476250"/>
          </a:xfrm>
        </p:spPr>
        <p:txBody>
          <a:bodyPr/>
          <a:lstStyle/>
          <a:p>
            <a:fld id="{50D97DBC-71BD-4B00-8F4D-DDC0A0D17A0C}" type="slidenum">
              <a:rPr lang="en-US" sz="1200" smtClean="0"/>
              <a:t>3</a:t>
            </a:fld>
            <a:endParaRPr lang="en-US" sz="1200"/>
          </a:p>
        </p:txBody>
      </p:sp>
      <p:sp>
        <p:nvSpPr>
          <p:cNvPr id="5" name="Date Placeholder 4">
            <a:extLst>
              <a:ext uri="{FF2B5EF4-FFF2-40B4-BE49-F238E27FC236}">
                <a16:creationId xmlns:a16="http://schemas.microsoft.com/office/drawing/2014/main" xmlns="" id="{676FB918-482B-2D76-EA66-2617D4595F75}"/>
              </a:ext>
            </a:extLst>
          </p:cNvPr>
          <p:cNvSpPr>
            <a:spLocks noGrp="1"/>
          </p:cNvSpPr>
          <p:nvPr>
            <p:ph type="dt" sz="half" idx="10"/>
          </p:nvPr>
        </p:nvSpPr>
        <p:spPr>
          <a:xfrm>
            <a:off x="609600" y="6381750"/>
            <a:ext cx="2844800" cy="476250"/>
          </a:xfrm>
        </p:spPr>
        <p:txBody>
          <a:bodyPr/>
          <a:lstStyle/>
          <a:p>
            <a:fld id="{F0B4034D-A911-A642-B8E1-BA081BB67D6F}" type="datetime1">
              <a:rPr lang="en-AU" sz="1200" smtClean="0"/>
              <a:t>16/02/2026</a:t>
            </a:fld>
            <a:endParaRPr lang="en-US" sz="1200" dirty="0"/>
          </a:p>
        </p:txBody>
      </p:sp>
      <p:sp>
        <p:nvSpPr>
          <p:cNvPr id="6" name="Footer Placeholder 5">
            <a:extLst>
              <a:ext uri="{FF2B5EF4-FFF2-40B4-BE49-F238E27FC236}">
                <a16:creationId xmlns:a16="http://schemas.microsoft.com/office/drawing/2014/main" xmlns="" id="{08F5B51B-0C2D-EA67-6A39-47069510AD2D}"/>
              </a:ext>
            </a:extLst>
          </p:cNvPr>
          <p:cNvSpPr>
            <a:spLocks noGrp="1"/>
          </p:cNvSpPr>
          <p:nvPr>
            <p:ph type="ftr" sz="quarter" idx="11"/>
          </p:nvPr>
        </p:nvSpPr>
        <p:spPr>
          <a:xfrm>
            <a:off x="4165600" y="6381750"/>
            <a:ext cx="3860800" cy="476250"/>
          </a:xfrm>
        </p:spPr>
        <p:txBody>
          <a:bodyPr/>
          <a:lstStyle/>
          <a:p>
            <a:r>
              <a:rPr lang="en-US" sz="1200"/>
              <a:t>@Foez Ahmed, CSE, VU</a:t>
            </a:r>
          </a:p>
        </p:txBody>
      </p:sp>
      <p:sp>
        <p:nvSpPr>
          <p:cNvPr id="7" name="TextBox 6">
            <a:extLst>
              <a:ext uri="{FF2B5EF4-FFF2-40B4-BE49-F238E27FC236}">
                <a16:creationId xmlns:a16="http://schemas.microsoft.com/office/drawing/2014/main" xmlns="" id="{1BD3851E-237B-B2F2-E1BF-35051ED049F2}"/>
              </a:ext>
            </a:extLst>
          </p:cNvPr>
          <p:cNvSpPr txBox="1"/>
          <p:nvPr/>
        </p:nvSpPr>
        <p:spPr>
          <a:xfrm>
            <a:off x="885732" y="1741754"/>
            <a:ext cx="6677661" cy="2800767"/>
          </a:xfrm>
          <a:prstGeom prst="rect">
            <a:avLst/>
          </a:prstGeom>
          <a:noFill/>
        </p:spPr>
        <p:txBody>
          <a:bodyPr wrap="square" rtlCol="0">
            <a:spAutoFit/>
          </a:bodyPr>
          <a:lstStyle/>
          <a:p>
            <a:pPr marL="342900" indent="-342900" algn="just">
              <a:buFont typeface="Wingdings" pitchFamily="2" charset="2"/>
              <a:buChar char="ü"/>
            </a:pPr>
            <a:r>
              <a:rPr lang="en-US" sz="2200" b="1" dirty="0"/>
              <a:t>Modulation </a:t>
            </a:r>
            <a:r>
              <a:rPr lang="en-US" sz="2200" dirty="0"/>
              <a:t>is a process of varying the </a:t>
            </a:r>
            <a:r>
              <a:rPr lang="en-US" sz="2200" u="sng" dirty="0"/>
              <a:t>characteristics of a carrier signal</a:t>
            </a:r>
            <a:r>
              <a:rPr lang="en-US" sz="2200" dirty="0"/>
              <a:t> (like </a:t>
            </a:r>
            <a:r>
              <a:rPr lang="en-US" sz="2200" b="1" dirty="0"/>
              <a:t>amplitude, frequency</a:t>
            </a:r>
            <a:r>
              <a:rPr lang="en-US" sz="2200" dirty="0"/>
              <a:t>, or </a:t>
            </a:r>
            <a:r>
              <a:rPr lang="en-US" sz="2200" b="1" dirty="0"/>
              <a:t>phase</a:t>
            </a:r>
            <a:r>
              <a:rPr lang="en-US" sz="2200" dirty="0"/>
              <a:t>) in accordance with a </a:t>
            </a:r>
            <a:r>
              <a:rPr lang="en-US" sz="2200" b="1" dirty="0"/>
              <a:t>message signal</a:t>
            </a:r>
            <a:r>
              <a:rPr lang="en-US" sz="2200" dirty="0"/>
              <a:t> (also called modulating signal).</a:t>
            </a:r>
          </a:p>
          <a:p>
            <a:pPr marL="800100" lvl="1" indent="-342900" algn="just">
              <a:buFont typeface="Wingdings" pitchFamily="2" charset="2"/>
              <a:buChar char="§"/>
            </a:pPr>
            <a:endParaRPr lang="en-US" sz="2200" i="1" dirty="0"/>
          </a:p>
          <a:p>
            <a:pPr marL="800100" lvl="1" indent="-342900" algn="just">
              <a:buFont typeface="Wingdings" pitchFamily="2" charset="2"/>
              <a:buChar char="§"/>
            </a:pPr>
            <a:r>
              <a:rPr lang="en-US" sz="2200" i="1" dirty="0"/>
              <a:t>It is the process of encoding information from a message source in a way that is suitable for transmission.</a:t>
            </a:r>
          </a:p>
        </p:txBody>
      </p:sp>
      <p:pic>
        <p:nvPicPr>
          <p:cNvPr id="1026" name="Picture 2" descr="Frequency Modulation">
            <a:extLst>
              <a:ext uri="{FF2B5EF4-FFF2-40B4-BE49-F238E27FC236}">
                <a16:creationId xmlns:a16="http://schemas.microsoft.com/office/drawing/2014/main" xmlns="" id="{81313D6B-86B1-5BEF-D8C0-8E3E6A285DC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043" t="7428" r="3680" b="36381"/>
          <a:stretch>
            <a:fillRect/>
          </a:stretch>
        </p:blipFill>
        <p:spPr bwMode="auto">
          <a:xfrm>
            <a:off x="7728290" y="1443574"/>
            <a:ext cx="4276476" cy="298241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xmlns="" id="{0C95E6B3-4FA8-2EF3-6889-316EE6AC3182}"/>
              </a:ext>
            </a:extLst>
          </p:cNvPr>
          <p:cNvSpPr txBox="1"/>
          <p:nvPr/>
        </p:nvSpPr>
        <p:spPr>
          <a:xfrm>
            <a:off x="874954" y="4683119"/>
            <a:ext cx="10986120" cy="1446550"/>
          </a:xfrm>
          <a:prstGeom prst="rect">
            <a:avLst/>
          </a:prstGeom>
          <a:noFill/>
        </p:spPr>
        <p:txBody>
          <a:bodyPr wrap="square" rtlCol="0">
            <a:spAutoFit/>
          </a:bodyPr>
          <a:lstStyle/>
          <a:p>
            <a:pPr marL="342900" indent="-342900" algn="just">
              <a:buFont typeface="Wingdings" pitchFamily="2" charset="2"/>
              <a:buChar char="ü"/>
            </a:pPr>
            <a:r>
              <a:rPr lang="en-US" sz="2200" b="1" dirty="0"/>
              <a:t>Demodulation</a:t>
            </a:r>
            <a:r>
              <a:rPr lang="en-US" sz="2200" dirty="0"/>
              <a:t> is the process of extracting the original information-bearing signal or message signal from a modulated carrier wave. </a:t>
            </a:r>
          </a:p>
          <a:p>
            <a:pPr lvl="1" algn="just"/>
            <a:endParaRPr lang="en-US" sz="2200" i="1" dirty="0"/>
          </a:p>
          <a:p>
            <a:pPr marL="800100" lvl="1" indent="-342900" algn="just">
              <a:buFont typeface="Wingdings" pitchFamily="2" charset="2"/>
              <a:buChar char="§"/>
            </a:pPr>
            <a:r>
              <a:rPr lang="en-US" sz="2200" i="1" dirty="0"/>
              <a:t>It is the reverse of modulation.</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EC357C-2859-45B2-DF0E-51F229F470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5485F72-E9D6-4F8C-47DD-E536C812707D}"/>
              </a:ext>
            </a:extLst>
          </p:cNvPr>
          <p:cNvSpPr>
            <a:spLocks noGrp="1"/>
          </p:cNvSpPr>
          <p:nvPr>
            <p:ph type="title"/>
          </p:nvPr>
        </p:nvSpPr>
        <p:spPr>
          <a:xfrm>
            <a:off x="1936750" y="190500"/>
            <a:ext cx="9645650" cy="582930"/>
          </a:xfrm>
        </p:spPr>
        <p:txBody>
          <a:bodyPr/>
          <a:lstStyle/>
          <a:p>
            <a:r>
              <a:rPr lang="en-US" altLang="en-US" b="1" dirty="0">
                <a:sym typeface="+mn-ea"/>
              </a:rPr>
              <a:t>Modulation</a:t>
            </a:r>
            <a:endParaRPr lang="en-US" altLang="en-US" b="1" dirty="0"/>
          </a:p>
        </p:txBody>
      </p:sp>
      <p:sp>
        <p:nvSpPr>
          <p:cNvPr id="3" name="Content Placeholder 2">
            <a:extLst>
              <a:ext uri="{FF2B5EF4-FFF2-40B4-BE49-F238E27FC236}">
                <a16:creationId xmlns:a16="http://schemas.microsoft.com/office/drawing/2014/main" xmlns="" id="{5BCC26AD-37C8-4643-6F43-AF95878EFF5A}"/>
              </a:ext>
            </a:extLst>
          </p:cNvPr>
          <p:cNvSpPr>
            <a:spLocks noGrp="1" noChangeAspect="1"/>
          </p:cNvSpPr>
          <p:nvPr>
            <p:ph idx="1"/>
          </p:nvPr>
        </p:nvSpPr>
        <p:spPr>
          <a:xfrm>
            <a:off x="874954" y="1185507"/>
            <a:ext cx="10431314" cy="476250"/>
          </a:xfrm>
        </p:spPr>
        <p:txBody>
          <a:bodyPr/>
          <a:lstStyle/>
          <a:p>
            <a:pPr>
              <a:buFont typeface="Wingdings" pitchFamily="2" charset="2"/>
              <a:buChar char="q"/>
            </a:pPr>
            <a:r>
              <a:rPr lang="en-US" altLang="en-US" sz="2400" b="1" dirty="0"/>
              <a:t>Why Do We Need Modulation?</a:t>
            </a:r>
            <a:endParaRPr lang="en-US" altLang="en-US" sz="2400" dirty="0"/>
          </a:p>
        </p:txBody>
      </p:sp>
      <p:sp>
        <p:nvSpPr>
          <p:cNvPr id="4" name="Slide Number Placeholder 3">
            <a:extLst>
              <a:ext uri="{FF2B5EF4-FFF2-40B4-BE49-F238E27FC236}">
                <a16:creationId xmlns:a16="http://schemas.microsoft.com/office/drawing/2014/main" xmlns="" id="{02018B83-EC85-DFD5-5F6A-D1660EE11B04}"/>
              </a:ext>
            </a:extLst>
          </p:cNvPr>
          <p:cNvSpPr>
            <a:spLocks noGrp="1"/>
          </p:cNvSpPr>
          <p:nvPr>
            <p:ph type="sldNum" sz="quarter" idx="12"/>
          </p:nvPr>
        </p:nvSpPr>
        <p:spPr/>
        <p:txBody>
          <a:bodyPr/>
          <a:lstStyle/>
          <a:p>
            <a:fld id="{50D97DBC-71BD-4B00-8F4D-DDC0A0D17A0C}" type="slidenum">
              <a:rPr lang="en-US" smtClean="0"/>
              <a:t>4</a:t>
            </a:fld>
            <a:endParaRPr lang="en-US"/>
          </a:p>
        </p:txBody>
      </p:sp>
      <p:sp>
        <p:nvSpPr>
          <p:cNvPr id="5" name="Date Placeholder 4">
            <a:extLst>
              <a:ext uri="{FF2B5EF4-FFF2-40B4-BE49-F238E27FC236}">
                <a16:creationId xmlns:a16="http://schemas.microsoft.com/office/drawing/2014/main" xmlns="" id="{957BDC9A-9A05-3D74-5B12-5B585131C35A}"/>
              </a:ext>
            </a:extLst>
          </p:cNvPr>
          <p:cNvSpPr>
            <a:spLocks noGrp="1"/>
          </p:cNvSpPr>
          <p:nvPr>
            <p:ph type="dt" sz="half" idx="10"/>
          </p:nvPr>
        </p:nvSpPr>
        <p:spPr>
          <a:xfrm>
            <a:off x="599209" y="6381750"/>
            <a:ext cx="2844800" cy="476250"/>
          </a:xfrm>
        </p:spPr>
        <p:txBody>
          <a:bodyPr/>
          <a:lstStyle/>
          <a:p>
            <a:fld id="{F0B4034D-A911-A642-B8E1-BA081BB67D6F}" type="datetime1">
              <a:rPr lang="en-AU" sz="1200" smtClean="0"/>
              <a:t>16/02/2026</a:t>
            </a:fld>
            <a:endParaRPr lang="en-US" sz="1200" dirty="0"/>
          </a:p>
        </p:txBody>
      </p:sp>
      <p:sp>
        <p:nvSpPr>
          <p:cNvPr id="6" name="Footer Placeholder 5">
            <a:extLst>
              <a:ext uri="{FF2B5EF4-FFF2-40B4-BE49-F238E27FC236}">
                <a16:creationId xmlns:a16="http://schemas.microsoft.com/office/drawing/2014/main" xmlns="" id="{EA5156F4-19ED-6002-D0A1-AA9DC257634E}"/>
              </a:ext>
            </a:extLst>
          </p:cNvPr>
          <p:cNvSpPr>
            <a:spLocks noGrp="1"/>
          </p:cNvSpPr>
          <p:nvPr>
            <p:ph type="ftr" sz="quarter" idx="11"/>
          </p:nvPr>
        </p:nvSpPr>
        <p:spPr>
          <a:xfrm>
            <a:off x="4155209" y="6381750"/>
            <a:ext cx="3860800" cy="476250"/>
          </a:xfrm>
        </p:spPr>
        <p:txBody>
          <a:bodyPr/>
          <a:lstStyle/>
          <a:p>
            <a:r>
              <a:rPr lang="en-US" sz="1200"/>
              <a:t>@Foez Ahmed, CSE, VU</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1A57C115-2CD5-2421-A41F-267D71D8655D}"/>
                  </a:ext>
                </a:extLst>
              </p:cNvPr>
              <p:cNvSpPr txBox="1"/>
              <p:nvPr/>
            </p:nvSpPr>
            <p:spPr>
              <a:xfrm>
                <a:off x="917829" y="1661757"/>
                <a:ext cx="4223797" cy="2665089"/>
              </a:xfrm>
              <a:prstGeom prst="rect">
                <a:avLst/>
              </a:prstGeom>
              <a:noFill/>
            </p:spPr>
            <p:txBody>
              <a:bodyPr wrap="square" rtlCol="0">
                <a:spAutoFit/>
              </a:bodyPr>
              <a:lstStyle/>
              <a:p>
                <a:pPr algn="just"/>
                <a:r>
                  <a:rPr lang="en-US" sz="2200" dirty="0">
                    <a:ea typeface="Cambria" panose="02040503050406030204" pitchFamily="18" charset="0"/>
                  </a:rPr>
                  <a:t>We use modulation to-</a:t>
                </a:r>
              </a:p>
              <a:p>
                <a:pPr marL="802005" indent="-457200" algn="just">
                  <a:buAutoNum type="arabicPeriod"/>
                </a:pPr>
                <a:r>
                  <a:rPr lang="en-US" sz="2200" dirty="0">
                    <a:ea typeface="Cambria" panose="02040503050406030204" pitchFamily="18" charset="0"/>
                  </a:rPr>
                  <a:t>Send data at far distance (by increasing amplitude and frequency).</a:t>
                </a:r>
              </a:p>
              <a:p>
                <a:pPr marL="802005" indent="-457200" algn="just">
                  <a:buAutoNum type="arabicPeriod"/>
                </a:pPr>
                <a:endParaRPr lang="en-US" sz="2200" dirty="0">
                  <a:ea typeface="Cambria" panose="02040503050406030204" pitchFamily="18" charset="0"/>
                </a:endParaRPr>
              </a:p>
              <a:p>
                <a:pPr marL="802005" indent="-457200" algn="just">
                  <a:buAutoNum type="arabicPeriod"/>
                </a:pPr>
                <a:r>
                  <a:rPr lang="en-US" sz="2200" dirty="0">
                    <a:ea typeface="Cambria" panose="02040503050406030204" pitchFamily="18" charset="0"/>
                  </a:rPr>
                  <a:t>Reduce antenna length </a:t>
                </a:r>
                <a14:m>
                  <m:oMath xmlns:m="http://schemas.openxmlformats.org/officeDocument/2006/math">
                    <m:d>
                      <m:dPr>
                        <m:ctrlPr>
                          <a:rPr lang="el-GR" sz="2200" i="1">
                            <a:latin typeface="Cambria Math" panose="02040503050406030204" pitchFamily="18" charset="0"/>
                            <a:ea typeface="Cambria Math" panose="02040503050406030204" pitchFamily="18" charset="0"/>
                          </a:rPr>
                        </m:ctrlPr>
                      </m:dPr>
                      <m:e>
                        <m:r>
                          <m:rPr>
                            <m:sty m:val="p"/>
                          </m:rPr>
                          <a:rPr lang="el-GR" sz="2200" i="1">
                            <a:latin typeface="Cambria Math" panose="02040503050406030204" pitchFamily="18" charset="0"/>
                            <a:ea typeface="Cambria" panose="02040503050406030204" pitchFamily="18" charset="0"/>
                          </a:rPr>
                          <m:t>λ</m:t>
                        </m:r>
                        <m:r>
                          <a:rPr lang="el-GR" sz="2200" i="1">
                            <a:latin typeface="Cambria Math" panose="02040503050406030204" pitchFamily="18" charset="0"/>
                            <a:ea typeface="Cambria Math" panose="02040503050406030204" pitchFamily="18" charset="0"/>
                          </a:rPr>
                          <m:t>∝</m:t>
                        </m:r>
                        <m:f>
                          <m:fPr>
                            <m:ctrlPr>
                              <a:rPr lang="el-GR" sz="2200" i="1">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1</m:t>
                            </m:r>
                          </m:num>
                          <m:den>
                            <m:r>
                              <a:rPr lang="en-US" sz="2200" i="1">
                                <a:latin typeface="Cambria Math" panose="02040503050406030204" pitchFamily="18" charset="0"/>
                                <a:ea typeface="Cambria Math" panose="02040503050406030204" pitchFamily="18" charset="0"/>
                              </a:rPr>
                              <m:t>𝑓</m:t>
                            </m:r>
                          </m:den>
                        </m:f>
                      </m:e>
                    </m:d>
                  </m:oMath>
                </a14:m>
                <a:r>
                  <a:rPr lang="en-US" sz="2200" dirty="0">
                    <a:ea typeface="Cambria" panose="02040503050406030204" pitchFamily="18" charset="0"/>
                  </a:rPr>
                  <a:t>.</a:t>
                </a:r>
              </a:p>
            </p:txBody>
          </p:sp>
        </mc:Choice>
        <mc:Fallback xmlns="">
          <p:sp>
            <p:nvSpPr>
              <p:cNvPr id="10" name="TextBox 9">
                <a:extLst>
                  <a:ext uri="{FF2B5EF4-FFF2-40B4-BE49-F238E27FC236}">
                    <a16:creationId xmlns:a16="http://schemas.microsoft.com/office/drawing/2014/main" id="{1A57C115-2CD5-2421-A41F-267D71D8655D}"/>
                  </a:ext>
                </a:extLst>
              </p:cNvPr>
              <p:cNvSpPr txBox="1">
                <a:spLocks noRot="1" noChangeAspect="1" noMove="1" noResize="1" noEditPoints="1" noAdjustHandles="1" noChangeArrowheads="1" noChangeShapeType="1" noTextEdit="1"/>
              </p:cNvSpPr>
              <p:nvPr/>
            </p:nvSpPr>
            <p:spPr>
              <a:xfrm>
                <a:off x="917829" y="1661757"/>
                <a:ext cx="4223797" cy="2665089"/>
              </a:xfrm>
              <a:prstGeom prst="rect">
                <a:avLst/>
              </a:prstGeom>
              <a:blipFill>
                <a:blip r:embed="rId3"/>
                <a:stretch>
                  <a:fillRect l="-1802" t="-1905" r="-1802" b="-476"/>
                </a:stretch>
              </a:blipFill>
            </p:spPr>
            <p:txBody>
              <a:bodyPr/>
              <a:lstStyle/>
              <a:p>
                <a:r>
                  <a:rPr lang="en-US">
                    <a:noFill/>
                  </a:rPr>
                  <a:t> </a:t>
                </a:r>
              </a:p>
            </p:txBody>
          </p:sp>
        </mc:Fallback>
      </mc:AlternateContent>
      <p:pic>
        <p:nvPicPr>
          <p:cNvPr id="3074" name="Picture 2" descr="5.2 Modulation in Communication System | Need of Modulation in  communication system">
            <a:extLst>
              <a:ext uri="{FF2B5EF4-FFF2-40B4-BE49-F238E27FC236}">
                <a16:creationId xmlns:a16="http://schemas.microsoft.com/office/drawing/2014/main" xmlns="" id="{0C3B1D23-C37F-2ADD-F1B2-903FCF0BD69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9810" b="17286"/>
          <a:stretch>
            <a:fillRect/>
          </a:stretch>
        </p:blipFill>
        <p:spPr bwMode="auto">
          <a:xfrm>
            <a:off x="5551729" y="1661757"/>
            <a:ext cx="6371742" cy="2254546"/>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xmlns="" id="{8A4FA044-462E-163E-4C25-657CD40EF86F}"/>
              </a:ext>
            </a:extLst>
          </p:cNvPr>
          <p:cNvSpPr txBox="1"/>
          <p:nvPr/>
        </p:nvSpPr>
        <p:spPr>
          <a:xfrm>
            <a:off x="874954" y="4434433"/>
            <a:ext cx="10789489" cy="1292662"/>
          </a:xfrm>
          <a:prstGeom prst="rect">
            <a:avLst/>
          </a:prstGeom>
          <a:noFill/>
        </p:spPr>
        <p:txBody>
          <a:bodyPr wrap="square" rtlCol="0">
            <a:spAutoFit/>
          </a:bodyPr>
          <a:lstStyle/>
          <a:p>
            <a:pPr marL="344805" algn="just"/>
            <a:r>
              <a:rPr lang="en-US" sz="2000" dirty="0">
                <a:ea typeface="Cambria" panose="02040503050406030204" pitchFamily="18" charset="0"/>
              </a:rPr>
              <a:t>3. Remove interference, by modulating at different frequencies.</a:t>
            </a:r>
          </a:p>
          <a:p>
            <a:pPr marL="344805" algn="just"/>
            <a:endParaRPr lang="en-US" sz="2000" dirty="0">
              <a:ea typeface="Cambria" panose="02040503050406030204" pitchFamily="18" charset="0"/>
            </a:endParaRPr>
          </a:p>
          <a:p>
            <a:pPr marL="344805" algn="just"/>
            <a:r>
              <a:rPr lang="en-US" sz="2000" dirty="0">
                <a:ea typeface="Cambria" panose="02040503050406030204" pitchFamily="18" charset="0"/>
              </a:rPr>
              <a:t>4. Transmit multiple channels of information through a single communication medium</a:t>
            </a:r>
          </a:p>
          <a:p>
            <a:endParaRPr lang="en-US" sz="1600" dirty="0"/>
          </a:p>
        </p:txBody>
      </p:sp>
    </p:spTree>
    <p:extLst>
      <p:ext uri="{BB962C8B-B14F-4D97-AF65-F5344CB8AC3E}">
        <p14:creationId xmlns:p14="http://schemas.microsoft.com/office/powerpoint/2010/main" val="41635746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8FABCDE-2748-FE3E-A2B4-8A5416130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6B99C83B-DB67-D5B4-4ACA-1E568662E758}"/>
              </a:ext>
            </a:extLst>
          </p:cNvPr>
          <p:cNvSpPr>
            <a:spLocks noGrp="1"/>
          </p:cNvSpPr>
          <p:nvPr>
            <p:ph type="title"/>
          </p:nvPr>
        </p:nvSpPr>
        <p:spPr>
          <a:xfrm>
            <a:off x="1936750" y="190500"/>
            <a:ext cx="9645650" cy="582930"/>
          </a:xfrm>
        </p:spPr>
        <p:txBody>
          <a:bodyPr/>
          <a:lstStyle/>
          <a:p>
            <a:r>
              <a:rPr lang="en-US" altLang="en-US" b="1" dirty="0">
                <a:sym typeface="+mn-ea"/>
              </a:rPr>
              <a:t>Modulation</a:t>
            </a:r>
            <a:endParaRPr lang="en-US" altLang="en-US" b="1" dirty="0"/>
          </a:p>
        </p:txBody>
      </p:sp>
      <p:sp>
        <p:nvSpPr>
          <p:cNvPr id="3" name="Content Placeholder 2">
            <a:extLst>
              <a:ext uri="{FF2B5EF4-FFF2-40B4-BE49-F238E27FC236}">
                <a16:creationId xmlns:a16="http://schemas.microsoft.com/office/drawing/2014/main" xmlns="" id="{C0C88941-A903-D671-6D6C-FD67AFA23727}"/>
              </a:ext>
            </a:extLst>
          </p:cNvPr>
          <p:cNvSpPr>
            <a:spLocks noGrp="1" noChangeAspect="1"/>
          </p:cNvSpPr>
          <p:nvPr>
            <p:ph idx="1"/>
          </p:nvPr>
        </p:nvSpPr>
        <p:spPr>
          <a:xfrm>
            <a:off x="874954" y="1185507"/>
            <a:ext cx="10431314" cy="476250"/>
          </a:xfrm>
        </p:spPr>
        <p:txBody>
          <a:bodyPr/>
          <a:lstStyle/>
          <a:p>
            <a:pPr>
              <a:buFont typeface="Wingdings" pitchFamily="2" charset="2"/>
              <a:buChar char="q"/>
            </a:pPr>
            <a:r>
              <a:rPr lang="en-US" altLang="en-US" sz="2400" b="1" dirty="0"/>
              <a:t>Types of Modulation?</a:t>
            </a:r>
            <a:endParaRPr lang="en-US" altLang="en-US" sz="2400" dirty="0"/>
          </a:p>
        </p:txBody>
      </p:sp>
      <p:sp>
        <p:nvSpPr>
          <p:cNvPr id="4" name="Slide Number Placeholder 3">
            <a:extLst>
              <a:ext uri="{FF2B5EF4-FFF2-40B4-BE49-F238E27FC236}">
                <a16:creationId xmlns:a16="http://schemas.microsoft.com/office/drawing/2014/main" xmlns="" id="{BA397D7C-195F-72A4-1E05-8B4842806D2A}"/>
              </a:ext>
            </a:extLst>
          </p:cNvPr>
          <p:cNvSpPr>
            <a:spLocks noGrp="1"/>
          </p:cNvSpPr>
          <p:nvPr>
            <p:ph type="sldNum" sz="quarter" idx="12"/>
          </p:nvPr>
        </p:nvSpPr>
        <p:spPr>
          <a:xfrm>
            <a:off x="8935140" y="6381750"/>
            <a:ext cx="2844800" cy="476250"/>
          </a:xfrm>
        </p:spPr>
        <p:txBody>
          <a:bodyPr/>
          <a:lstStyle/>
          <a:p>
            <a:fld id="{50D97DBC-71BD-4B00-8F4D-DDC0A0D17A0C}" type="slidenum">
              <a:rPr lang="en-US" sz="1200" smtClean="0"/>
              <a:t>5</a:t>
            </a:fld>
            <a:endParaRPr lang="en-US" sz="1200"/>
          </a:p>
        </p:txBody>
      </p:sp>
      <p:sp>
        <p:nvSpPr>
          <p:cNvPr id="5" name="Date Placeholder 4">
            <a:extLst>
              <a:ext uri="{FF2B5EF4-FFF2-40B4-BE49-F238E27FC236}">
                <a16:creationId xmlns:a16="http://schemas.microsoft.com/office/drawing/2014/main" xmlns="" id="{1DA6D4D5-A85D-8AE3-632B-D54A98F12FEE}"/>
              </a:ext>
            </a:extLst>
          </p:cNvPr>
          <p:cNvSpPr>
            <a:spLocks noGrp="1"/>
          </p:cNvSpPr>
          <p:nvPr>
            <p:ph type="dt" sz="half" idx="10"/>
          </p:nvPr>
        </p:nvSpPr>
        <p:spPr>
          <a:xfrm>
            <a:off x="807140" y="6381750"/>
            <a:ext cx="2844800" cy="476250"/>
          </a:xfrm>
        </p:spPr>
        <p:txBody>
          <a:bodyPr/>
          <a:lstStyle/>
          <a:p>
            <a:fld id="{F0B4034D-A911-A642-B8E1-BA081BB67D6F}" type="datetime1">
              <a:rPr lang="en-AU" sz="1200" smtClean="0"/>
              <a:t>16/02/2026</a:t>
            </a:fld>
            <a:endParaRPr lang="en-US" sz="1200" dirty="0"/>
          </a:p>
        </p:txBody>
      </p:sp>
      <p:sp>
        <p:nvSpPr>
          <p:cNvPr id="6" name="Footer Placeholder 5">
            <a:extLst>
              <a:ext uri="{FF2B5EF4-FFF2-40B4-BE49-F238E27FC236}">
                <a16:creationId xmlns:a16="http://schemas.microsoft.com/office/drawing/2014/main" xmlns="" id="{AEC15EAF-70E5-18CB-9EE3-A0326CC3AA01}"/>
              </a:ext>
            </a:extLst>
          </p:cNvPr>
          <p:cNvSpPr>
            <a:spLocks noGrp="1"/>
          </p:cNvSpPr>
          <p:nvPr>
            <p:ph type="ftr" sz="quarter" idx="11"/>
          </p:nvPr>
        </p:nvSpPr>
        <p:spPr>
          <a:xfrm>
            <a:off x="4363140" y="6381750"/>
            <a:ext cx="3860800" cy="476250"/>
          </a:xfrm>
        </p:spPr>
        <p:txBody>
          <a:bodyPr/>
          <a:lstStyle/>
          <a:p>
            <a:r>
              <a:rPr lang="en-US" sz="1200"/>
              <a:t>@Foez Ahmed, CSE, VU</a:t>
            </a:r>
          </a:p>
        </p:txBody>
      </p:sp>
      <p:pic>
        <p:nvPicPr>
          <p:cNvPr id="7" name="Picture 4" descr="2: Fundamental Modulation Types | Download Scientific Diagram">
            <a:extLst>
              <a:ext uri="{FF2B5EF4-FFF2-40B4-BE49-F238E27FC236}">
                <a16:creationId xmlns:a16="http://schemas.microsoft.com/office/drawing/2014/main" xmlns="" id="{B4D4726A-B7A4-620F-111D-5216EF32D44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71" t="2759" b="8917"/>
          <a:stretch>
            <a:fillRect/>
          </a:stretch>
        </p:blipFill>
        <p:spPr bwMode="auto">
          <a:xfrm>
            <a:off x="1467117" y="1661757"/>
            <a:ext cx="9839151" cy="4386346"/>
          </a:xfrm>
          <a:prstGeom prst="rect">
            <a:avLst/>
          </a:prstGeom>
          <a:noFill/>
          <a:extLst>
            <a:ext uri="{909E8E84-426E-40DD-AFC4-6F175D3DCCD1}">
              <a14:hiddenFill xmlns:a14="http://schemas.microsoft.com/office/drawing/2010/main">
                <a:solidFill>
                  <a:srgbClr val="FFFFFF"/>
                </a:solidFill>
              </a14:hiddenFill>
            </a:ext>
          </a:extLst>
        </p:spPr>
      </p:pic>
      <p:sp>
        <p:nvSpPr>
          <p:cNvPr id="8" name="Rounded Rectangle 7">
            <a:extLst>
              <a:ext uri="{FF2B5EF4-FFF2-40B4-BE49-F238E27FC236}">
                <a16:creationId xmlns:a16="http://schemas.microsoft.com/office/drawing/2014/main" xmlns="" id="{55FA5E3F-04F2-BAC6-D4BF-830A52404156}"/>
              </a:ext>
            </a:extLst>
          </p:cNvPr>
          <p:cNvSpPr/>
          <p:nvPr/>
        </p:nvSpPr>
        <p:spPr bwMode="auto">
          <a:xfrm>
            <a:off x="1636295" y="3722914"/>
            <a:ext cx="3416968" cy="512201"/>
          </a:xfrm>
          <a:prstGeom prst="roundRect">
            <a:avLst>
              <a:gd name="adj" fmla="val 50000"/>
            </a:avLst>
          </a:prstGeom>
          <a:noFill/>
          <a:ln w="19050"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1050463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29CA46E-6BE0-5305-2F90-EB58601B80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65708317-FCC9-F4DD-C16E-2115C9C95720}"/>
              </a:ext>
            </a:extLst>
          </p:cNvPr>
          <p:cNvSpPr>
            <a:spLocks noGrp="1"/>
          </p:cNvSpPr>
          <p:nvPr>
            <p:ph type="title"/>
          </p:nvPr>
        </p:nvSpPr>
        <p:spPr>
          <a:xfrm>
            <a:off x="1936750" y="190500"/>
            <a:ext cx="9645650" cy="582930"/>
          </a:xfrm>
        </p:spPr>
        <p:txBody>
          <a:bodyPr/>
          <a:lstStyle/>
          <a:p>
            <a:r>
              <a:rPr lang="en-US" altLang="en-US" b="1" dirty="0">
                <a:sym typeface="+mn-ea"/>
              </a:rPr>
              <a:t>Amplitude Modulation</a:t>
            </a:r>
            <a:endParaRPr lang="en-US" altLang="en-US" b="1" dirty="0"/>
          </a:p>
        </p:txBody>
      </p:sp>
      <p:sp>
        <p:nvSpPr>
          <p:cNvPr id="3" name="Content Placeholder 2">
            <a:extLst>
              <a:ext uri="{FF2B5EF4-FFF2-40B4-BE49-F238E27FC236}">
                <a16:creationId xmlns:a16="http://schemas.microsoft.com/office/drawing/2014/main" xmlns="" id="{639B727D-4A1F-400F-A853-121BA86B0421}"/>
              </a:ext>
            </a:extLst>
          </p:cNvPr>
          <p:cNvSpPr>
            <a:spLocks noGrp="1" noChangeAspect="1"/>
          </p:cNvSpPr>
          <p:nvPr>
            <p:ph idx="1"/>
          </p:nvPr>
        </p:nvSpPr>
        <p:spPr>
          <a:xfrm>
            <a:off x="874954" y="1185507"/>
            <a:ext cx="10431314" cy="476250"/>
          </a:xfrm>
        </p:spPr>
        <p:txBody>
          <a:bodyPr/>
          <a:lstStyle/>
          <a:p>
            <a:pPr>
              <a:buFont typeface="Wingdings" pitchFamily="2" charset="2"/>
              <a:buChar char="q"/>
            </a:pPr>
            <a:r>
              <a:rPr lang="en-US" altLang="en-US" sz="2400" b="1" dirty="0"/>
              <a:t>Amplitude Modulation?</a:t>
            </a:r>
            <a:endParaRPr lang="en-US" altLang="en-US" sz="2400" dirty="0"/>
          </a:p>
        </p:txBody>
      </p:sp>
      <p:sp>
        <p:nvSpPr>
          <p:cNvPr id="4" name="Slide Number Placeholder 3">
            <a:extLst>
              <a:ext uri="{FF2B5EF4-FFF2-40B4-BE49-F238E27FC236}">
                <a16:creationId xmlns:a16="http://schemas.microsoft.com/office/drawing/2014/main" xmlns="" id="{51ED95C0-6DFE-D4EE-17F2-A833D3F2A31C}"/>
              </a:ext>
            </a:extLst>
          </p:cNvPr>
          <p:cNvSpPr>
            <a:spLocks noGrp="1"/>
          </p:cNvSpPr>
          <p:nvPr>
            <p:ph type="sldNum" sz="quarter" idx="12"/>
          </p:nvPr>
        </p:nvSpPr>
        <p:spPr/>
        <p:txBody>
          <a:bodyPr/>
          <a:lstStyle/>
          <a:p>
            <a:fld id="{50D97DBC-71BD-4B00-8F4D-DDC0A0D17A0C}" type="slidenum">
              <a:rPr lang="en-US" smtClean="0"/>
              <a:t>6</a:t>
            </a:fld>
            <a:endParaRPr lang="en-US"/>
          </a:p>
        </p:txBody>
      </p:sp>
      <p:sp>
        <p:nvSpPr>
          <p:cNvPr id="5" name="Date Placeholder 4">
            <a:extLst>
              <a:ext uri="{FF2B5EF4-FFF2-40B4-BE49-F238E27FC236}">
                <a16:creationId xmlns:a16="http://schemas.microsoft.com/office/drawing/2014/main" xmlns="" id="{A5D01F4A-BC82-333C-B4FB-48139E535643}"/>
              </a:ext>
            </a:extLst>
          </p:cNvPr>
          <p:cNvSpPr>
            <a:spLocks noGrp="1"/>
          </p:cNvSpPr>
          <p:nvPr>
            <p:ph type="dt" sz="half" idx="10"/>
          </p:nvPr>
        </p:nvSpPr>
        <p:spPr/>
        <p:txBody>
          <a:bodyPr/>
          <a:lstStyle/>
          <a:p>
            <a:fld id="{F0B4034D-A911-A642-B8E1-BA081BB67D6F}" type="datetime1">
              <a:rPr lang="en-AU" smtClean="0"/>
              <a:t>16/02/2026</a:t>
            </a:fld>
            <a:endParaRPr lang="en-US" dirty="0"/>
          </a:p>
        </p:txBody>
      </p:sp>
      <p:sp>
        <p:nvSpPr>
          <p:cNvPr id="6" name="Footer Placeholder 5">
            <a:extLst>
              <a:ext uri="{FF2B5EF4-FFF2-40B4-BE49-F238E27FC236}">
                <a16:creationId xmlns:a16="http://schemas.microsoft.com/office/drawing/2014/main" xmlns="" id="{FB47FCD0-2673-7F63-4C1D-C160E30FB687}"/>
              </a:ext>
            </a:extLst>
          </p:cNvPr>
          <p:cNvSpPr>
            <a:spLocks noGrp="1"/>
          </p:cNvSpPr>
          <p:nvPr>
            <p:ph type="ftr" sz="quarter" idx="11"/>
          </p:nvPr>
        </p:nvSpPr>
        <p:spPr/>
        <p:txBody>
          <a:bodyPr/>
          <a:lstStyle/>
          <a:p>
            <a:r>
              <a:rPr lang="en-US"/>
              <a:t>@Foez Ahmed, CSE, VU</a:t>
            </a:r>
          </a:p>
        </p:txBody>
      </p:sp>
      <p:sp>
        <p:nvSpPr>
          <p:cNvPr id="10" name="TextBox 9">
            <a:extLst>
              <a:ext uri="{FF2B5EF4-FFF2-40B4-BE49-F238E27FC236}">
                <a16:creationId xmlns:a16="http://schemas.microsoft.com/office/drawing/2014/main" xmlns="" id="{31589223-8339-D7A9-3DD6-D3143E6A3037}"/>
              </a:ext>
            </a:extLst>
          </p:cNvPr>
          <p:cNvSpPr txBox="1"/>
          <p:nvPr/>
        </p:nvSpPr>
        <p:spPr>
          <a:xfrm>
            <a:off x="874954" y="1884979"/>
            <a:ext cx="6849320" cy="2462213"/>
          </a:xfrm>
          <a:prstGeom prst="rect">
            <a:avLst/>
          </a:prstGeom>
          <a:noFill/>
        </p:spPr>
        <p:txBody>
          <a:bodyPr wrap="square" rtlCol="0">
            <a:spAutoFit/>
          </a:bodyPr>
          <a:lstStyle/>
          <a:p>
            <a:pPr marL="342900" indent="-342900" algn="just">
              <a:buFont typeface="Wingdings" pitchFamily="2" charset="2"/>
              <a:buChar char="ü"/>
            </a:pPr>
            <a:r>
              <a:rPr lang="en-US" sz="2200" dirty="0">
                <a:ea typeface="Cambria" panose="02040503050406030204" pitchFamily="18" charset="0"/>
              </a:rPr>
              <a:t>Amplitude modulation is the modulation process where the </a:t>
            </a:r>
            <a:r>
              <a:rPr lang="en-US" sz="2200" b="1" dirty="0">
                <a:ea typeface="Cambria" panose="02040503050406030204" pitchFamily="18" charset="0"/>
              </a:rPr>
              <a:t>amplitude of the carrier signal</a:t>
            </a:r>
            <a:r>
              <a:rPr lang="en-US" sz="2200" dirty="0">
                <a:ea typeface="Cambria" panose="02040503050406030204" pitchFamily="18" charset="0"/>
              </a:rPr>
              <a:t> is varied with respect to the instantaneous amplitude of the message signal (modulating voltage). </a:t>
            </a:r>
          </a:p>
          <a:p>
            <a:pPr marL="342900" indent="-342900" algn="just">
              <a:buFont typeface="Wingdings" pitchFamily="2" charset="2"/>
              <a:buChar char="ü"/>
            </a:pPr>
            <a:endParaRPr lang="en-US" sz="2200" dirty="0">
              <a:ea typeface="Cambria" panose="02040503050406030204" pitchFamily="18" charset="0"/>
            </a:endParaRPr>
          </a:p>
          <a:p>
            <a:pPr marL="342900" indent="-342900" algn="just">
              <a:buFont typeface="Wingdings" pitchFamily="2" charset="2"/>
              <a:buChar char="ü"/>
            </a:pPr>
            <a:r>
              <a:rPr lang="en-US" sz="2200" dirty="0">
                <a:ea typeface="Cambria" panose="02040503050406030204" pitchFamily="18" charset="0"/>
              </a:rPr>
              <a:t>Example: AM Radio Broadcasting, Analog TV Transmission. </a:t>
            </a:r>
          </a:p>
        </p:txBody>
      </p:sp>
      <p:pic>
        <p:nvPicPr>
          <p:cNvPr id="12" name="Picture 11">
            <a:extLst>
              <a:ext uri="{FF2B5EF4-FFF2-40B4-BE49-F238E27FC236}">
                <a16:creationId xmlns:a16="http://schemas.microsoft.com/office/drawing/2014/main" xmlns="" id="{9F2D48FE-3980-C11F-48C1-86E487050B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18426" y="1402075"/>
            <a:ext cx="4185938" cy="4792796"/>
          </a:xfrm>
          <a:prstGeom prst="rect">
            <a:avLst/>
          </a:prstGeom>
          <a:ln w="19050">
            <a:solidFill>
              <a:srgbClr val="FF0000"/>
            </a:solidFill>
          </a:ln>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xmlns="" id="{5E18F14E-3995-D6F7-D5E7-D02ECAA55280}"/>
                  </a:ext>
                </a:extLst>
              </p:cNvPr>
              <p:cNvSpPr txBox="1"/>
              <p:nvPr/>
            </p:nvSpPr>
            <p:spPr>
              <a:xfrm>
                <a:off x="1130112" y="4614113"/>
                <a:ext cx="6185088" cy="1415772"/>
              </a:xfrm>
              <a:prstGeom prst="rect">
                <a:avLst/>
              </a:prstGeom>
              <a:noFill/>
            </p:spPr>
            <p:txBody>
              <a:bodyPr wrap="square" rtlCol="0">
                <a:spAutoFit/>
              </a:bodyPr>
              <a:lstStyle/>
              <a:p>
                <a:pPr marL="342900" indent="-342900">
                  <a:spcAft>
                    <a:spcPts val="1200"/>
                  </a:spcAft>
                  <a:buFont typeface="Arial" panose="020B0604020202020204" pitchFamily="34" charset="0"/>
                  <a:buChar char="•"/>
                </a:pPr>
                <a:r>
                  <a:rPr lang="en-US" sz="2200" b="1" dirty="0">
                    <a:ea typeface="Cambria" panose="02040503050406030204" pitchFamily="18" charset="0"/>
                  </a:rPr>
                  <a:t>Message Signal: </a:t>
                </a:r>
                <a14:m>
                  <m:oMath xmlns:m="http://schemas.openxmlformats.org/officeDocument/2006/math">
                    <m:sSub>
                      <m:sSubPr>
                        <m:ctrlPr>
                          <a:rPr lang="en-US" sz="2200" i="1">
                            <a:latin typeface="Cambria Math" panose="02040503050406030204" pitchFamily="18" charset="0"/>
                            <a:ea typeface="Cambria" panose="02040503050406030204" pitchFamily="18" charset="0"/>
                          </a:rPr>
                        </m:ctrlPr>
                      </m:sSubPr>
                      <m:e>
                        <m:r>
                          <a:rPr lang="en-US" sz="2200" i="1">
                            <a:latin typeface="Cambria Math" panose="02040503050406030204" pitchFamily="18" charset="0"/>
                            <a:ea typeface="Cambria" panose="02040503050406030204" pitchFamily="18" charset="0"/>
                          </a:rPr>
                          <m:t>𝑣</m:t>
                        </m:r>
                      </m:e>
                      <m:sub>
                        <m:r>
                          <a:rPr lang="en-US" sz="2200" i="1">
                            <a:latin typeface="Cambria Math" panose="02040503050406030204" pitchFamily="18" charset="0"/>
                            <a:ea typeface="Cambria" panose="02040503050406030204" pitchFamily="18" charset="0"/>
                          </a:rPr>
                          <m:t>𝑚</m:t>
                        </m:r>
                      </m:sub>
                    </m:sSub>
                    <m:r>
                      <a:rPr lang="en-US" sz="2200" i="1">
                        <a:latin typeface="Cambria Math" panose="02040503050406030204" pitchFamily="18" charset="0"/>
                        <a:ea typeface="Cambria" panose="02040503050406030204" pitchFamily="18" charset="0"/>
                      </a:rPr>
                      <m:t>=</m:t>
                    </m:r>
                    <m:sSub>
                      <m:sSubPr>
                        <m:ctrlPr>
                          <a:rPr lang="en-US" sz="2200" i="1">
                            <a:latin typeface="Cambria Math" panose="02040503050406030204" pitchFamily="18" charset="0"/>
                            <a:ea typeface="Cambria" panose="02040503050406030204" pitchFamily="18" charset="0"/>
                          </a:rPr>
                        </m:ctrlPr>
                      </m:sSubPr>
                      <m:e>
                        <m:r>
                          <a:rPr lang="en-US" sz="2200" i="1">
                            <a:latin typeface="Cambria Math" panose="02040503050406030204" pitchFamily="18" charset="0"/>
                            <a:ea typeface="Cambria" panose="02040503050406030204" pitchFamily="18" charset="0"/>
                          </a:rPr>
                          <m:t>𝑉</m:t>
                        </m:r>
                      </m:e>
                      <m:sub>
                        <m:r>
                          <a:rPr lang="en-US" sz="2200" i="1">
                            <a:latin typeface="Cambria Math" panose="02040503050406030204" pitchFamily="18" charset="0"/>
                            <a:ea typeface="Cambria" panose="02040503050406030204" pitchFamily="18" charset="0"/>
                          </a:rPr>
                          <m:t>𝑚</m:t>
                        </m:r>
                      </m:sub>
                    </m:sSub>
                    <m:r>
                      <a:rPr lang="en-US" sz="2200" i="1">
                        <a:latin typeface="Cambria Math" panose="02040503050406030204" pitchFamily="18" charset="0"/>
                        <a:ea typeface="Cambria" panose="02040503050406030204" pitchFamily="18" charset="0"/>
                      </a:rPr>
                      <m:t>𝑆𝑖𝑛</m:t>
                    </m:r>
                    <m:r>
                      <a:rPr lang="en-US" sz="2200" i="1">
                        <a:latin typeface="Cambria Math" panose="02040503050406030204" pitchFamily="18" charset="0"/>
                        <a:ea typeface="Cambria" panose="02040503050406030204" pitchFamily="18" charset="0"/>
                      </a:rPr>
                      <m:t> </m:t>
                    </m:r>
                    <m:d>
                      <m:dPr>
                        <m:ctrlPr>
                          <a:rPr lang="en-US" sz="2200" i="1">
                            <a:latin typeface="Cambria Math" panose="02040503050406030204" pitchFamily="18" charset="0"/>
                            <a:ea typeface="Cambria" panose="02040503050406030204" pitchFamily="18" charset="0"/>
                          </a:rPr>
                        </m:ctrlPr>
                      </m:dPr>
                      <m:e>
                        <m:sSub>
                          <m:sSubPr>
                            <m:ctrlPr>
                              <a:rPr lang="en-US" sz="2200" i="1">
                                <a:latin typeface="Cambria Math" panose="02040503050406030204" pitchFamily="18" charset="0"/>
                                <a:ea typeface="Cambria" panose="02040503050406030204" pitchFamily="18" charset="0"/>
                              </a:rPr>
                            </m:ctrlPr>
                          </m:sSubPr>
                          <m:e>
                            <m:r>
                              <a:rPr lang="en-US" sz="2200" i="1">
                                <a:latin typeface="Cambria Math" panose="02040503050406030204" pitchFamily="18" charset="0"/>
                                <a:ea typeface="Cambria Math" panose="02040503050406030204" pitchFamily="18" charset="0"/>
                              </a:rPr>
                              <m:t>𝜔</m:t>
                            </m:r>
                          </m:e>
                          <m:sub>
                            <m:r>
                              <a:rPr lang="en-US" sz="2200" i="1">
                                <a:latin typeface="Cambria Math" panose="02040503050406030204" pitchFamily="18" charset="0"/>
                                <a:ea typeface="Cambria" panose="02040503050406030204" pitchFamily="18" charset="0"/>
                              </a:rPr>
                              <m:t>𝑚</m:t>
                            </m:r>
                          </m:sub>
                        </m:sSub>
                        <m:r>
                          <a:rPr lang="en-US" sz="2200" i="1">
                            <a:latin typeface="Cambria Math" panose="02040503050406030204" pitchFamily="18" charset="0"/>
                            <a:ea typeface="Cambria Math" panose="02040503050406030204" pitchFamily="18" charset="0"/>
                          </a:rPr>
                          <m:t>𝑡</m:t>
                        </m:r>
                      </m:e>
                    </m:d>
                  </m:oMath>
                </a14:m>
                <a:endParaRPr lang="en-US" sz="2200" b="1" dirty="0">
                  <a:ea typeface="Cambria" panose="02040503050406030204" pitchFamily="18" charset="0"/>
                </a:endParaRPr>
              </a:p>
              <a:p>
                <a:pPr marL="342900" indent="-342900">
                  <a:spcAft>
                    <a:spcPts val="1200"/>
                  </a:spcAft>
                  <a:buFont typeface="Arial" panose="020B0604020202020204" pitchFamily="34" charset="0"/>
                  <a:buChar char="•"/>
                </a:pPr>
                <a:r>
                  <a:rPr lang="en-US" sz="2200" b="1" dirty="0">
                    <a:ea typeface="Cambria" panose="02040503050406030204" pitchFamily="18" charset="0"/>
                  </a:rPr>
                  <a:t>Carrier Signal: </a:t>
                </a:r>
                <a14:m>
                  <m:oMath xmlns:m="http://schemas.openxmlformats.org/officeDocument/2006/math">
                    <m:sSub>
                      <m:sSubPr>
                        <m:ctrlPr>
                          <a:rPr lang="en-US" sz="2200" i="1">
                            <a:latin typeface="Cambria Math" panose="02040503050406030204" pitchFamily="18" charset="0"/>
                            <a:ea typeface="Cambria" panose="02040503050406030204" pitchFamily="18" charset="0"/>
                          </a:rPr>
                        </m:ctrlPr>
                      </m:sSubPr>
                      <m:e>
                        <m:r>
                          <a:rPr lang="en-US" sz="2200" i="1">
                            <a:latin typeface="Cambria Math" panose="02040503050406030204" pitchFamily="18" charset="0"/>
                            <a:ea typeface="Cambria" panose="02040503050406030204" pitchFamily="18" charset="0"/>
                          </a:rPr>
                          <m:t>𝑣</m:t>
                        </m:r>
                      </m:e>
                      <m:sub>
                        <m:r>
                          <a:rPr lang="en-US" sz="2200" i="1">
                            <a:latin typeface="Cambria Math" panose="02040503050406030204" pitchFamily="18" charset="0"/>
                            <a:ea typeface="Cambria" panose="02040503050406030204" pitchFamily="18" charset="0"/>
                          </a:rPr>
                          <m:t>𝑐</m:t>
                        </m:r>
                      </m:sub>
                    </m:sSub>
                    <m:r>
                      <a:rPr lang="en-US" sz="2200" i="1">
                        <a:latin typeface="Cambria Math" panose="02040503050406030204" pitchFamily="18" charset="0"/>
                        <a:ea typeface="Cambria" panose="02040503050406030204" pitchFamily="18" charset="0"/>
                      </a:rPr>
                      <m:t>=</m:t>
                    </m:r>
                    <m:sSub>
                      <m:sSubPr>
                        <m:ctrlPr>
                          <a:rPr lang="en-US" sz="2200" i="1">
                            <a:latin typeface="Cambria Math" panose="02040503050406030204" pitchFamily="18" charset="0"/>
                            <a:ea typeface="Cambria" panose="02040503050406030204" pitchFamily="18" charset="0"/>
                          </a:rPr>
                        </m:ctrlPr>
                      </m:sSubPr>
                      <m:e>
                        <m:r>
                          <a:rPr lang="en-US" sz="2200" i="1">
                            <a:latin typeface="Cambria Math" panose="02040503050406030204" pitchFamily="18" charset="0"/>
                            <a:ea typeface="Cambria" panose="02040503050406030204" pitchFamily="18" charset="0"/>
                          </a:rPr>
                          <m:t>𝑉</m:t>
                        </m:r>
                      </m:e>
                      <m:sub>
                        <m:r>
                          <a:rPr lang="en-US" sz="2200" i="1">
                            <a:latin typeface="Cambria Math" panose="02040503050406030204" pitchFamily="18" charset="0"/>
                            <a:ea typeface="Cambria" panose="02040503050406030204" pitchFamily="18" charset="0"/>
                          </a:rPr>
                          <m:t>𝑐</m:t>
                        </m:r>
                      </m:sub>
                    </m:sSub>
                    <m:r>
                      <a:rPr lang="en-US" sz="2200" i="1">
                        <a:latin typeface="Cambria Math" panose="02040503050406030204" pitchFamily="18" charset="0"/>
                        <a:ea typeface="Cambria" panose="02040503050406030204" pitchFamily="18" charset="0"/>
                      </a:rPr>
                      <m:t>𝑆𝑖𝑛</m:t>
                    </m:r>
                    <m:r>
                      <a:rPr lang="en-US" sz="2200" i="1">
                        <a:latin typeface="Cambria Math" panose="02040503050406030204" pitchFamily="18" charset="0"/>
                        <a:ea typeface="Cambria" panose="02040503050406030204" pitchFamily="18" charset="0"/>
                      </a:rPr>
                      <m:t> </m:t>
                    </m:r>
                    <m:d>
                      <m:dPr>
                        <m:ctrlPr>
                          <a:rPr lang="en-US" sz="2200" i="1">
                            <a:latin typeface="Cambria Math" panose="02040503050406030204" pitchFamily="18" charset="0"/>
                            <a:ea typeface="Cambria" panose="02040503050406030204" pitchFamily="18" charset="0"/>
                          </a:rPr>
                        </m:ctrlPr>
                      </m:dPr>
                      <m:e>
                        <m:sSub>
                          <m:sSubPr>
                            <m:ctrlPr>
                              <a:rPr lang="en-US" sz="2200" i="1">
                                <a:latin typeface="Cambria Math" panose="02040503050406030204" pitchFamily="18" charset="0"/>
                                <a:ea typeface="Cambria" panose="02040503050406030204" pitchFamily="18" charset="0"/>
                              </a:rPr>
                            </m:ctrlPr>
                          </m:sSubPr>
                          <m:e>
                            <m:r>
                              <a:rPr lang="en-US" sz="2200" i="1">
                                <a:latin typeface="Cambria Math" panose="02040503050406030204" pitchFamily="18" charset="0"/>
                                <a:ea typeface="Cambria Math" panose="02040503050406030204" pitchFamily="18" charset="0"/>
                              </a:rPr>
                              <m:t>𝜔</m:t>
                            </m:r>
                          </m:e>
                          <m:sub>
                            <m:r>
                              <a:rPr lang="en-US" sz="2200" i="1">
                                <a:latin typeface="Cambria Math" panose="02040503050406030204" pitchFamily="18" charset="0"/>
                                <a:ea typeface="Cambria" panose="02040503050406030204" pitchFamily="18" charset="0"/>
                              </a:rPr>
                              <m:t>𝑐</m:t>
                            </m:r>
                          </m:sub>
                        </m:sSub>
                        <m:r>
                          <a:rPr lang="en-US" sz="2200" i="1">
                            <a:latin typeface="Cambria Math" panose="02040503050406030204" pitchFamily="18" charset="0"/>
                            <a:ea typeface="Cambria Math" panose="02040503050406030204" pitchFamily="18" charset="0"/>
                          </a:rPr>
                          <m:t>𝑡</m:t>
                        </m:r>
                      </m:e>
                    </m:d>
                  </m:oMath>
                </a14:m>
                <a:endParaRPr lang="en-US" sz="2200" dirty="0">
                  <a:ea typeface="Cambria" panose="02040503050406030204" pitchFamily="18" charset="0"/>
                </a:endParaRPr>
              </a:p>
              <a:p>
                <a:pPr marL="342900" indent="-342900">
                  <a:spcAft>
                    <a:spcPts val="1200"/>
                  </a:spcAft>
                  <a:buFont typeface="Arial" panose="020B0604020202020204" pitchFamily="34" charset="0"/>
                  <a:buChar char="•"/>
                </a:pPr>
                <a:r>
                  <a:rPr lang="en-US" sz="2200" b="1" dirty="0">
                    <a:ea typeface="Cambria" panose="02040503050406030204" pitchFamily="18" charset="0"/>
                  </a:rPr>
                  <a:t>Modulated Signal: </a:t>
                </a:r>
                <a14:m>
                  <m:oMath xmlns:m="http://schemas.openxmlformats.org/officeDocument/2006/math">
                    <m:r>
                      <a:rPr lang="en-US" sz="2200" i="1">
                        <a:latin typeface="Cambria Math" panose="02040503050406030204" pitchFamily="18" charset="0"/>
                        <a:ea typeface="Cambria" panose="02040503050406030204" pitchFamily="18" charset="0"/>
                      </a:rPr>
                      <m:t>𝑣</m:t>
                    </m:r>
                    <m:r>
                      <a:rPr lang="en-US" sz="2200" i="1">
                        <a:latin typeface="Cambria Math" panose="02040503050406030204" pitchFamily="18" charset="0"/>
                        <a:ea typeface="Cambria" panose="02040503050406030204" pitchFamily="18" charset="0"/>
                      </a:rPr>
                      <m:t>=(</m:t>
                    </m:r>
                    <m:sSub>
                      <m:sSubPr>
                        <m:ctrlPr>
                          <a:rPr lang="en-US" sz="2200" i="1">
                            <a:latin typeface="Cambria Math" panose="02040503050406030204" pitchFamily="18" charset="0"/>
                            <a:ea typeface="Cambria" panose="02040503050406030204" pitchFamily="18" charset="0"/>
                          </a:rPr>
                        </m:ctrlPr>
                      </m:sSubPr>
                      <m:e>
                        <m:r>
                          <a:rPr lang="en-US" sz="2200" i="1">
                            <a:latin typeface="Cambria Math" panose="02040503050406030204" pitchFamily="18" charset="0"/>
                            <a:ea typeface="Cambria" panose="02040503050406030204" pitchFamily="18" charset="0"/>
                          </a:rPr>
                          <m:t>𝑣</m:t>
                        </m:r>
                      </m:e>
                      <m:sub>
                        <m:r>
                          <a:rPr lang="en-US" sz="2200" i="1">
                            <a:latin typeface="Cambria Math" panose="02040503050406030204" pitchFamily="18" charset="0"/>
                            <a:ea typeface="Cambria" panose="02040503050406030204" pitchFamily="18" charset="0"/>
                          </a:rPr>
                          <m:t>𝑚</m:t>
                        </m:r>
                      </m:sub>
                    </m:sSub>
                    <m:r>
                      <a:rPr lang="en-US" sz="2200" i="1">
                        <a:latin typeface="Cambria Math" panose="02040503050406030204" pitchFamily="18" charset="0"/>
                        <a:ea typeface="Cambria" panose="02040503050406030204" pitchFamily="18" charset="0"/>
                      </a:rPr>
                      <m:t>+</m:t>
                    </m:r>
                    <m:sSub>
                      <m:sSubPr>
                        <m:ctrlPr>
                          <a:rPr lang="en-US" sz="2200" i="1">
                            <a:latin typeface="Cambria Math" panose="02040503050406030204" pitchFamily="18" charset="0"/>
                            <a:ea typeface="Cambria" panose="02040503050406030204" pitchFamily="18" charset="0"/>
                          </a:rPr>
                        </m:ctrlPr>
                      </m:sSubPr>
                      <m:e>
                        <m:r>
                          <a:rPr lang="en-US" sz="2200" i="1">
                            <a:latin typeface="Cambria Math" panose="02040503050406030204" pitchFamily="18" charset="0"/>
                            <a:ea typeface="Cambria" panose="02040503050406030204" pitchFamily="18" charset="0"/>
                          </a:rPr>
                          <m:t>𝑉</m:t>
                        </m:r>
                      </m:e>
                      <m:sub>
                        <m:r>
                          <a:rPr lang="en-US" sz="2200" i="1">
                            <a:latin typeface="Cambria Math" panose="02040503050406030204" pitchFamily="18" charset="0"/>
                            <a:ea typeface="Cambria" panose="02040503050406030204" pitchFamily="18" charset="0"/>
                          </a:rPr>
                          <m:t>𝑐</m:t>
                        </m:r>
                      </m:sub>
                    </m:sSub>
                    <m:r>
                      <a:rPr lang="en-US" sz="2200" i="1">
                        <a:latin typeface="Cambria Math" panose="02040503050406030204" pitchFamily="18" charset="0"/>
                        <a:ea typeface="Cambria" panose="02040503050406030204" pitchFamily="18" charset="0"/>
                      </a:rPr>
                      <m:t>)</m:t>
                    </m:r>
                    <m:r>
                      <a:rPr lang="en-US" sz="2200" i="1">
                        <a:latin typeface="Cambria Math" panose="02040503050406030204" pitchFamily="18" charset="0"/>
                        <a:ea typeface="Cambria" panose="02040503050406030204" pitchFamily="18" charset="0"/>
                      </a:rPr>
                      <m:t>𝑆𝑖𝑛</m:t>
                    </m:r>
                    <m:r>
                      <a:rPr lang="en-US" sz="2200" i="1">
                        <a:latin typeface="Cambria Math" panose="02040503050406030204" pitchFamily="18" charset="0"/>
                        <a:ea typeface="Cambria" panose="02040503050406030204" pitchFamily="18" charset="0"/>
                      </a:rPr>
                      <m:t> </m:t>
                    </m:r>
                    <m:d>
                      <m:dPr>
                        <m:ctrlPr>
                          <a:rPr lang="en-US" sz="2200" i="1">
                            <a:latin typeface="Cambria Math" panose="02040503050406030204" pitchFamily="18" charset="0"/>
                            <a:ea typeface="Cambria" panose="02040503050406030204" pitchFamily="18" charset="0"/>
                          </a:rPr>
                        </m:ctrlPr>
                      </m:dPr>
                      <m:e>
                        <m:sSub>
                          <m:sSubPr>
                            <m:ctrlPr>
                              <a:rPr lang="en-US" sz="2200" i="1">
                                <a:latin typeface="Cambria Math" panose="02040503050406030204" pitchFamily="18" charset="0"/>
                                <a:ea typeface="Cambria" panose="02040503050406030204" pitchFamily="18" charset="0"/>
                              </a:rPr>
                            </m:ctrlPr>
                          </m:sSubPr>
                          <m:e>
                            <m:r>
                              <a:rPr lang="en-US" sz="2200" i="1">
                                <a:latin typeface="Cambria Math" panose="02040503050406030204" pitchFamily="18" charset="0"/>
                                <a:ea typeface="Cambria Math" panose="02040503050406030204" pitchFamily="18" charset="0"/>
                              </a:rPr>
                              <m:t>𝜔</m:t>
                            </m:r>
                          </m:e>
                          <m:sub>
                            <m:r>
                              <a:rPr lang="en-US" sz="2200" i="1">
                                <a:latin typeface="Cambria Math" panose="02040503050406030204" pitchFamily="18" charset="0"/>
                                <a:ea typeface="Cambria" panose="02040503050406030204" pitchFamily="18" charset="0"/>
                              </a:rPr>
                              <m:t>𝑐</m:t>
                            </m:r>
                          </m:sub>
                        </m:sSub>
                        <m:r>
                          <a:rPr lang="en-US" sz="2200" i="1">
                            <a:latin typeface="Cambria Math" panose="02040503050406030204" pitchFamily="18" charset="0"/>
                            <a:ea typeface="Cambria Math" panose="02040503050406030204" pitchFamily="18" charset="0"/>
                          </a:rPr>
                          <m:t>𝑡</m:t>
                        </m:r>
                      </m:e>
                    </m:d>
                  </m:oMath>
                </a14:m>
                <a:endParaRPr lang="en-US" sz="2200" dirty="0">
                  <a:ea typeface="Cambria" panose="02040503050406030204" pitchFamily="18" charset="0"/>
                </a:endParaRPr>
              </a:p>
            </p:txBody>
          </p:sp>
        </mc:Choice>
        <mc:Fallback xmlns="">
          <p:sp>
            <p:nvSpPr>
              <p:cNvPr id="13" name="TextBox 12">
                <a:extLst>
                  <a:ext uri="{FF2B5EF4-FFF2-40B4-BE49-F238E27FC236}">
                    <a16:creationId xmlns:a16="http://schemas.microsoft.com/office/drawing/2014/main" id="{5E18F14E-3995-D6F7-D5E7-D02ECAA55280}"/>
                  </a:ext>
                </a:extLst>
              </p:cNvPr>
              <p:cNvSpPr txBox="1">
                <a:spLocks noRot="1" noChangeAspect="1" noMove="1" noResize="1" noEditPoints="1" noAdjustHandles="1" noChangeArrowheads="1" noChangeShapeType="1" noTextEdit="1"/>
              </p:cNvSpPr>
              <p:nvPr/>
            </p:nvSpPr>
            <p:spPr>
              <a:xfrm>
                <a:off x="1130112" y="4614113"/>
                <a:ext cx="6185088" cy="1415772"/>
              </a:xfrm>
              <a:prstGeom prst="rect">
                <a:avLst/>
              </a:prstGeom>
              <a:blipFill>
                <a:blip r:embed="rId4"/>
                <a:stretch>
                  <a:fillRect l="-1025" t="-2679" b="-8036"/>
                </a:stretch>
              </a:blipFill>
            </p:spPr>
            <p:txBody>
              <a:bodyPr/>
              <a:lstStyle/>
              <a:p>
                <a:r>
                  <a:rPr lang="en-US">
                    <a:noFill/>
                  </a:rPr>
                  <a:t> </a:t>
                </a:r>
              </a:p>
            </p:txBody>
          </p:sp>
        </mc:Fallback>
      </mc:AlternateContent>
    </p:spTree>
    <p:extLst>
      <p:ext uri="{BB962C8B-B14F-4D97-AF65-F5344CB8AC3E}">
        <p14:creationId xmlns:p14="http://schemas.microsoft.com/office/powerpoint/2010/main" val="1809353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0044886-DF98-3C1E-F0D2-3EA2BE4D71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D440F077-B76C-ABBC-59E5-F7F6824C0CA1}"/>
              </a:ext>
            </a:extLst>
          </p:cNvPr>
          <p:cNvSpPr>
            <a:spLocks noGrp="1"/>
          </p:cNvSpPr>
          <p:nvPr>
            <p:ph type="title"/>
          </p:nvPr>
        </p:nvSpPr>
        <p:spPr>
          <a:xfrm>
            <a:off x="1936750" y="190500"/>
            <a:ext cx="9645650" cy="582930"/>
          </a:xfrm>
        </p:spPr>
        <p:txBody>
          <a:bodyPr/>
          <a:lstStyle/>
          <a:p>
            <a:r>
              <a:rPr lang="en-US" altLang="en-US" b="1" dirty="0">
                <a:sym typeface="+mn-ea"/>
              </a:rPr>
              <a:t>Amplitude Modulation</a:t>
            </a:r>
            <a:endParaRPr lang="en-US" altLang="en-US" b="1" dirty="0"/>
          </a:p>
        </p:txBody>
      </p:sp>
      <p:sp>
        <p:nvSpPr>
          <p:cNvPr id="3" name="Content Placeholder 2">
            <a:extLst>
              <a:ext uri="{FF2B5EF4-FFF2-40B4-BE49-F238E27FC236}">
                <a16:creationId xmlns:a16="http://schemas.microsoft.com/office/drawing/2014/main" xmlns="" id="{5A08264C-7A7C-72E6-E100-48E308AA0C01}"/>
              </a:ext>
            </a:extLst>
          </p:cNvPr>
          <p:cNvSpPr>
            <a:spLocks noGrp="1" noChangeAspect="1"/>
          </p:cNvSpPr>
          <p:nvPr>
            <p:ph idx="1"/>
          </p:nvPr>
        </p:nvSpPr>
        <p:spPr>
          <a:xfrm>
            <a:off x="874954" y="1185507"/>
            <a:ext cx="10431314" cy="476250"/>
          </a:xfrm>
        </p:spPr>
        <p:txBody>
          <a:bodyPr/>
          <a:lstStyle/>
          <a:p>
            <a:pPr>
              <a:buFont typeface="Wingdings" pitchFamily="2" charset="2"/>
              <a:buChar char="q"/>
            </a:pPr>
            <a:r>
              <a:rPr lang="en-US" altLang="en-US" sz="2400" b="1" dirty="0"/>
              <a:t>Amplitude Modulation?</a:t>
            </a:r>
            <a:endParaRPr lang="en-US" altLang="en-US" sz="2400" dirty="0"/>
          </a:p>
        </p:txBody>
      </p:sp>
      <p:sp>
        <p:nvSpPr>
          <p:cNvPr id="4" name="Slide Number Placeholder 3">
            <a:extLst>
              <a:ext uri="{FF2B5EF4-FFF2-40B4-BE49-F238E27FC236}">
                <a16:creationId xmlns:a16="http://schemas.microsoft.com/office/drawing/2014/main" xmlns="" id="{E5670416-3754-88C0-B2CC-636209C2429D}"/>
              </a:ext>
            </a:extLst>
          </p:cNvPr>
          <p:cNvSpPr>
            <a:spLocks noGrp="1"/>
          </p:cNvSpPr>
          <p:nvPr>
            <p:ph type="sldNum" sz="quarter" idx="12"/>
          </p:nvPr>
        </p:nvSpPr>
        <p:spPr/>
        <p:txBody>
          <a:bodyPr/>
          <a:lstStyle/>
          <a:p>
            <a:fld id="{50D97DBC-71BD-4B00-8F4D-DDC0A0D17A0C}" type="slidenum">
              <a:rPr lang="en-US" smtClean="0"/>
              <a:t>7</a:t>
            </a:fld>
            <a:endParaRPr lang="en-US"/>
          </a:p>
        </p:txBody>
      </p:sp>
      <p:sp>
        <p:nvSpPr>
          <p:cNvPr id="5" name="Date Placeholder 4">
            <a:extLst>
              <a:ext uri="{FF2B5EF4-FFF2-40B4-BE49-F238E27FC236}">
                <a16:creationId xmlns:a16="http://schemas.microsoft.com/office/drawing/2014/main" xmlns="" id="{8B51EDF5-A801-2F85-AB23-4E945A22BCCB}"/>
              </a:ext>
            </a:extLst>
          </p:cNvPr>
          <p:cNvSpPr>
            <a:spLocks noGrp="1"/>
          </p:cNvSpPr>
          <p:nvPr>
            <p:ph type="dt" sz="half" idx="10"/>
          </p:nvPr>
        </p:nvSpPr>
        <p:spPr/>
        <p:txBody>
          <a:bodyPr/>
          <a:lstStyle/>
          <a:p>
            <a:fld id="{F0B4034D-A911-A642-B8E1-BA081BB67D6F}" type="datetime1">
              <a:rPr lang="en-AU" smtClean="0"/>
              <a:t>16/02/2026</a:t>
            </a:fld>
            <a:endParaRPr lang="en-US" dirty="0"/>
          </a:p>
        </p:txBody>
      </p:sp>
      <p:sp>
        <p:nvSpPr>
          <p:cNvPr id="6" name="Footer Placeholder 5">
            <a:extLst>
              <a:ext uri="{FF2B5EF4-FFF2-40B4-BE49-F238E27FC236}">
                <a16:creationId xmlns:a16="http://schemas.microsoft.com/office/drawing/2014/main" xmlns="" id="{F74CD63F-58B8-B483-749D-3C84F24E24D9}"/>
              </a:ext>
            </a:extLst>
          </p:cNvPr>
          <p:cNvSpPr>
            <a:spLocks noGrp="1"/>
          </p:cNvSpPr>
          <p:nvPr>
            <p:ph type="ftr" sz="quarter" idx="11"/>
          </p:nvPr>
        </p:nvSpPr>
        <p:spPr/>
        <p:txBody>
          <a:bodyPr/>
          <a:lstStyle/>
          <a:p>
            <a:r>
              <a:rPr lang="en-US"/>
              <a:t>@Foez Ahmed, CSE, VU</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xmlns="" id="{EF5AB5E0-5E0B-DEA7-B9F1-395299936680}"/>
                  </a:ext>
                </a:extLst>
              </p:cNvPr>
              <p:cNvSpPr txBox="1"/>
              <p:nvPr/>
            </p:nvSpPr>
            <p:spPr>
              <a:xfrm>
                <a:off x="874953" y="1829833"/>
                <a:ext cx="10431313" cy="923330"/>
              </a:xfrm>
              <a:prstGeom prst="rect">
                <a:avLst/>
              </a:prstGeom>
              <a:noFill/>
            </p:spPr>
            <p:txBody>
              <a:bodyPr wrap="square" rtlCol="0">
                <a:spAutoFit/>
              </a:bodyPr>
              <a:lstStyle/>
              <a:p>
                <a:pPr marL="342900" indent="-342900">
                  <a:spcAft>
                    <a:spcPts val="1200"/>
                  </a:spcAft>
                  <a:buFont typeface="Arial" panose="020B0604020202020204" pitchFamily="34" charset="0"/>
                  <a:buChar char="•"/>
                </a:pPr>
                <a:r>
                  <a:rPr lang="en-US" sz="2200" b="1" dirty="0">
                    <a:ea typeface="Cambria" panose="02040503050406030204" pitchFamily="18" charset="0"/>
                  </a:rPr>
                  <a:t>Message Signal: </a:t>
                </a:r>
                <a14:m>
                  <m:oMath xmlns:m="http://schemas.openxmlformats.org/officeDocument/2006/math">
                    <m:sSub>
                      <m:sSubPr>
                        <m:ctrlPr>
                          <a:rPr lang="en-US" sz="2200" i="1">
                            <a:latin typeface="Cambria Math" panose="02040503050406030204" pitchFamily="18" charset="0"/>
                            <a:ea typeface="Cambria" panose="02040503050406030204" pitchFamily="18" charset="0"/>
                          </a:rPr>
                        </m:ctrlPr>
                      </m:sSubPr>
                      <m:e>
                        <m:r>
                          <a:rPr lang="en-US" sz="2200" i="1">
                            <a:latin typeface="Cambria Math" panose="02040503050406030204" pitchFamily="18" charset="0"/>
                            <a:ea typeface="Cambria" panose="02040503050406030204" pitchFamily="18" charset="0"/>
                          </a:rPr>
                          <m:t>𝑣</m:t>
                        </m:r>
                      </m:e>
                      <m:sub>
                        <m:r>
                          <a:rPr lang="en-US" sz="2200" i="1">
                            <a:latin typeface="Cambria Math" panose="02040503050406030204" pitchFamily="18" charset="0"/>
                            <a:ea typeface="Cambria" panose="02040503050406030204" pitchFamily="18" charset="0"/>
                          </a:rPr>
                          <m:t>𝑚</m:t>
                        </m:r>
                      </m:sub>
                    </m:sSub>
                    <m:r>
                      <a:rPr lang="en-US" sz="2200" i="1">
                        <a:latin typeface="Cambria Math" panose="02040503050406030204" pitchFamily="18" charset="0"/>
                        <a:ea typeface="Cambria" panose="02040503050406030204" pitchFamily="18" charset="0"/>
                      </a:rPr>
                      <m:t>=</m:t>
                    </m:r>
                    <m:sSub>
                      <m:sSubPr>
                        <m:ctrlPr>
                          <a:rPr lang="en-US" sz="2200" i="1">
                            <a:latin typeface="Cambria Math" panose="02040503050406030204" pitchFamily="18" charset="0"/>
                            <a:ea typeface="Cambria" panose="02040503050406030204" pitchFamily="18" charset="0"/>
                          </a:rPr>
                        </m:ctrlPr>
                      </m:sSubPr>
                      <m:e>
                        <m:r>
                          <a:rPr lang="en-US" sz="2200" i="1">
                            <a:latin typeface="Cambria Math" panose="02040503050406030204" pitchFamily="18" charset="0"/>
                            <a:ea typeface="Cambria" panose="02040503050406030204" pitchFamily="18" charset="0"/>
                          </a:rPr>
                          <m:t>𝑉</m:t>
                        </m:r>
                      </m:e>
                      <m:sub>
                        <m:r>
                          <a:rPr lang="en-US" sz="2200" i="1">
                            <a:latin typeface="Cambria Math" panose="02040503050406030204" pitchFamily="18" charset="0"/>
                            <a:ea typeface="Cambria" panose="02040503050406030204" pitchFamily="18" charset="0"/>
                          </a:rPr>
                          <m:t>𝑚</m:t>
                        </m:r>
                      </m:sub>
                    </m:sSub>
                    <m:r>
                      <a:rPr lang="en-US" sz="2200" i="1">
                        <a:latin typeface="Cambria Math" panose="02040503050406030204" pitchFamily="18" charset="0"/>
                        <a:ea typeface="Cambria" panose="02040503050406030204" pitchFamily="18" charset="0"/>
                      </a:rPr>
                      <m:t>𝑆𝑖𝑛</m:t>
                    </m:r>
                    <m:r>
                      <a:rPr lang="en-US" sz="2200" i="1">
                        <a:latin typeface="Cambria Math" panose="02040503050406030204" pitchFamily="18" charset="0"/>
                        <a:ea typeface="Cambria" panose="02040503050406030204" pitchFamily="18" charset="0"/>
                      </a:rPr>
                      <m:t> </m:t>
                    </m:r>
                    <m:d>
                      <m:dPr>
                        <m:ctrlPr>
                          <a:rPr lang="en-US" sz="2200" i="1">
                            <a:latin typeface="Cambria Math" panose="02040503050406030204" pitchFamily="18" charset="0"/>
                            <a:ea typeface="Cambria" panose="02040503050406030204" pitchFamily="18" charset="0"/>
                          </a:rPr>
                        </m:ctrlPr>
                      </m:dPr>
                      <m:e>
                        <m:sSub>
                          <m:sSubPr>
                            <m:ctrlPr>
                              <a:rPr lang="en-US" sz="2200" i="1">
                                <a:latin typeface="Cambria Math" panose="02040503050406030204" pitchFamily="18" charset="0"/>
                                <a:ea typeface="Cambria" panose="02040503050406030204" pitchFamily="18" charset="0"/>
                              </a:rPr>
                            </m:ctrlPr>
                          </m:sSubPr>
                          <m:e>
                            <m:r>
                              <a:rPr lang="en-US" sz="2200" i="1">
                                <a:latin typeface="Cambria Math" panose="02040503050406030204" pitchFamily="18" charset="0"/>
                                <a:ea typeface="Cambria Math" panose="02040503050406030204" pitchFamily="18" charset="0"/>
                              </a:rPr>
                              <m:t>𝜔</m:t>
                            </m:r>
                          </m:e>
                          <m:sub>
                            <m:r>
                              <a:rPr lang="en-US" sz="2200" i="1">
                                <a:latin typeface="Cambria Math" panose="02040503050406030204" pitchFamily="18" charset="0"/>
                                <a:ea typeface="Cambria" panose="02040503050406030204" pitchFamily="18" charset="0"/>
                              </a:rPr>
                              <m:t>𝑚</m:t>
                            </m:r>
                          </m:sub>
                        </m:sSub>
                        <m:r>
                          <a:rPr lang="en-US" sz="2200" i="1">
                            <a:latin typeface="Cambria Math" panose="02040503050406030204" pitchFamily="18" charset="0"/>
                            <a:ea typeface="Cambria Math" panose="02040503050406030204" pitchFamily="18" charset="0"/>
                          </a:rPr>
                          <m:t>𝑡</m:t>
                        </m:r>
                      </m:e>
                    </m:d>
                    <m:r>
                      <a:rPr lang="en-AU" sz="2200" b="1" i="0" smtClean="0">
                        <a:latin typeface="Cambria Math" panose="02040503050406030204" pitchFamily="18" charset="0"/>
                        <a:ea typeface="Cambria Math" panose="02040503050406030204" pitchFamily="18" charset="0"/>
                      </a:rPr>
                      <m:t> </m:t>
                    </m:r>
                    <m:r>
                      <a:rPr lang="en-AU" sz="2200" b="1" i="0" smtClean="0">
                        <a:latin typeface="Cambria Math" panose="02040503050406030204" pitchFamily="18" charset="0"/>
                        <a:ea typeface="Cambria Math" panose="02040503050406030204" pitchFamily="18" charset="0"/>
                      </a:rPr>
                      <m:t>𝐚𝐧𝐝</m:t>
                    </m:r>
                    <m:r>
                      <a:rPr lang="en-AU" sz="2200" b="1" i="0" smtClean="0">
                        <a:latin typeface="Cambria Math" panose="02040503050406030204" pitchFamily="18" charset="0"/>
                        <a:ea typeface="Cambria Math" panose="02040503050406030204" pitchFamily="18" charset="0"/>
                      </a:rPr>
                      <m:t> </m:t>
                    </m:r>
                  </m:oMath>
                </a14:m>
                <a:r>
                  <a:rPr lang="en-US" sz="2200" b="1" dirty="0">
                    <a:ea typeface="Cambria" panose="02040503050406030204" pitchFamily="18" charset="0"/>
                  </a:rPr>
                  <a:t>Carrier Signal: </a:t>
                </a:r>
                <a14:m>
                  <m:oMath xmlns:m="http://schemas.openxmlformats.org/officeDocument/2006/math">
                    <m:sSub>
                      <m:sSubPr>
                        <m:ctrlPr>
                          <a:rPr lang="en-US" sz="2200" i="1">
                            <a:latin typeface="Cambria Math" panose="02040503050406030204" pitchFamily="18" charset="0"/>
                            <a:ea typeface="Cambria" panose="02040503050406030204" pitchFamily="18" charset="0"/>
                          </a:rPr>
                        </m:ctrlPr>
                      </m:sSubPr>
                      <m:e>
                        <m:r>
                          <a:rPr lang="en-US" sz="2200" i="1">
                            <a:latin typeface="Cambria Math" panose="02040503050406030204" pitchFamily="18" charset="0"/>
                            <a:ea typeface="Cambria" panose="02040503050406030204" pitchFamily="18" charset="0"/>
                          </a:rPr>
                          <m:t>𝑣</m:t>
                        </m:r>
                      </m:e>
                      <m:sub>
                        <m:r>
                          <a:rPr lang="en-US" sz="2200" i="1">
                            <a:latin typeface="Cambria Math" panose="02040503050406030204" pitchFamily="18" charset="0"/>
                            <a:ea typeface="Cambria" panose="02040503050406030204" pitchFamily="18" charset="0"/>
                          </a:rPr>
                          <m:t>𝑐</m:t>
                        </m:r>
                      </m:sub>
                    </m:sSub>
                    <m:r>
                      <a:rPr lang="en-US" sz="2200" i="1">
                        <a:latin typeface="Cambria Math" panose="02040503050406030204" pitchFamily="18" charset="0"/>
                        <a:ea typeface="Cambria" panose="02040503050406030204" pitchFamily="18" charset="0"/>
                      </a:rPr>
                      <m:t>=</m:t>
                    </m:r>
                    <m:sSub>
                      <m:sSubPr>
                        <m:ctrlPr>
                          <a:rPr lang="en-US" sz="2200" i="1">
                            <a:latin typeface="Cambria Math" panose="02040503050406030204" pitchFamily="18" charset="0"/>
                            <a:ea typeface="Cambria" panose="02040503050406030204" pitchFamily="18" charset="0"/>
                          </a:rPr>
                        </m:ctrlPr>
                      </m:sSubPr>
                      <m:e>
                        <m:r>
                          <a:rPr lang="en-US" sz="2200" i="1">
                            <a:latin typeface="Cambria Math" panose="02040503050406030204" pitchFamily="18" charset="0"/>
                            <a:ea typeface="Cambria" panose="02040503050406030204" pitchFamily="18" charset="0"/>
                          </a:rPr>
                          <m:t>𝑉</m:t>
                        </m:r>
                      </m:e>
                      <m:sub>
                        <m:r>
                          <a:rPr lang="en-US" sz="2200" i="1">
                            <a:latin typeface="Cambria Math" panose="02040503050406030204" pitchFamily="18" charset="0"/>
                            <a:ea typeface="Cambria" panose="02040503050406030204" pitchFamily="18" charset="0"/>
                          </a:rPr>
                          <m:t>𝑐</m:t>
                        </m:r>
                      </m:sub>
                    </m:sSub>
                    <m:r>
                      <a:rPr lang="en-US" sz="2200" i="1">
                        <a:latin typeface="Cambria Math" panose="02040503050406030204" pitchFamily="18" charset="0"/>
                        <a:ea typeface="Cambria" panose="02040503050406030204" pitchFamily="18" charset="0"/>
                      </a:rPr>
                      <m:t>𝑆𝑖𝑛</m:t>
                    </m:r>
                    <m:r>
                      <a:rPr lang="en-US" sz="2200" i="1">
                        <a:latin typeface="Cambria Math" panose="02040503050406030204" pitchFamily="18" charset="0"/>
                        <a:ea typeface="Cambria" panose="02040503050406030204" pitchFamily="18" charset="0"/>
                      </a:rPr>
                      <m:t> </m:t>
                    </m:r>
                    <m:d>
                      <m:dPr>
                        <m:ctrlPr>
                          <a:rPr lang="en-US" sz="2200" i="1">
                            <a:latin typeface="Cambria Math" panose="02040503050406030204" pitchFamily="18" charset="0"/>
                            <a:ea typeface="Cambria" panose="02040503050406030204" pitchFamily="18" charset="0"/>
                          </a:rPr>
                        </m:ctrlPr>
                      </m:dPr>
                      <m:e>
                        <m:sSub>
                          <m:sSubPr>
                            <m:ctrlPr>
                              <a:rPr lang="en-US" sz="2200" i="1">
                                <a:latin typeface="Cambria Math" panose="02040503050406030204" pitchFamily="18" charset="0"/>
                                <a:ea typeface="Cambria" panose="02040503050406030204" pitchFamily="18" charset="0"/>
                              </a:rPr>
                            </m:ctrlPr>
                          </m:sSubPr>
                          <m:e>
                            <m:r>
                              <a:rPr lang="en-US" sz="2200" i="1">
                                <a:latin typeface="Cambria Math" panose="02040503050406030204" pitchFamily="18" charset="0"/>
                                <a:ea typeface="Cambria Math" panose="02040503050406030204" pitchFamily="18" charset="0"/>
                              </a:rPr>
                              <m:t>𝜔</m:t>
                            </m:r>
                          </m:e>
                          <m:sub>
                            <m:r>
                              <a:rPr lang="en-US" sz="2200" i="1">
                                <a:latin typeface="Cambria Math" panose="02040503050406030204" pitchFamily="18" charset="0"/>
                                <a:ea typeface="Cambria" panose="02040503050406030204" pitchFamily="18" charset="0"/>
                              </a:rPr>
                              <m:t>𝑐</m:t>
                            </m:r>
                          </m:sub>
                        </m:sSub>
                        <m:r>
                          <a:rPr lang="en-US" sz="2200" i="1">
                            <a:latin typeface="Cambria Math" panose="02040503050406030204" pitchFamily="18" charset="0"/>
                            <a:ea typeface="Cambria Math" panose="02040503050406030204" pitchFamily="18" charset="0"/>
                          </a:rPr>
                          <m:t>𝑡</m:t>
                        </m:r>
                      </m:e>
                    </m:d>
                  </m:oMath>
                </a14:m>
                <a:endParaRPr lang="en-US" sz="2200" dirty="0">
                  <a:ea typeface="Cambria" panose="02040503050406030204" pitchFamily="18" charset="0"/>
                </a:endParaRPr>
              </a:p>
              <a:p>
                <a:pPr marL="342900" indent="-342900">
                  <a:spcAft>
                    <a:spcPts val="1200"/>
                  </a:spcAft>
                  <a:buFont typeface="Arial" panose="020B0604020202020204" pitchFamily="34" charset="0"/>
                  <a:buChar char="•"/>
                </a:pPr>
                <a:r>
                  <a:rPr lang="en-US" sz="2200" b="1" dirty="0">
                    <a:ea typeface="Cambria" panose="02040503050406030204" pitchFamily="18" charset="0"/>
                  </a:rPr>
                  <a:t>Modulated Signal: </a:t>
                </a:r>
                <a14:m>
                  <m:oMath xmlns:m="http://schemas.openxmlformats.org/officeDocument/2006/math">
                    <m:r>
                      <a:rPr lang="en-US" sz="2200" i="1">
                        <a:latin typeface="Cambria Math" panose="02040503050406030204" pitchFamily="18" charset="0"/>
                        <a:ea typeface="Cambria" panose="02040503050406030204" pitchFamily="18" charset="0"/>
                      </a:rPr>
                      <m:t>𝑣</m:t>
                    </m:r>
                    <m:r>
                      <a:rPr lang="en-US" sz="2200" i="1">
                        <a:latin typeface="Cambria Math" panose="02040503050406030204" pitchFamily="18" charset="0"/>
                        <a:ea typeface="Cambria" panose="02040503050406030204" pitchFamily="18" charset="0"/>
                      </a:rPr>
                      <m:t>=(</m:t>
                    </m:r>
                    <m:sSub>
                      <m:sSubPr>
                        <m:ctrlPr>
                          <a:rPr lang="en-US" sz="2200" i="1">
                            <a:latin typeface="Cambria Math" panose="02040503050406030204" pitchFamily="18" charset="0"/>
                            <a:ea typeface="Cambria" panose="02040503050406030204" pitchFamily="18" charset="0"/>
                          </a:rPr>
                        </m:ctrlPr>
                      </m:sSubPr>
                      <m:e>
                        <m:r>
                          <a:rPr lang="en-US" sz="2200" i="1">
                            <a:latin typeface="Cambria Math" panose="02040503050406030204" pitchFamily="18" charset="0"/>
                            <a:ea typeface="Cambria" panose="02040503050406030204" pitchFamily="18" charset="0"/>
                          </a:rPr>
                          <m:t>𝑣</m:t>
                        </m:r>
                      </m:e>
                      <m:sub>
                        <m:r>
                          <a:rPr lang="en-US" sz="2200" i="1">
                            <a:latin typeface="Cambria Math" panose="02040503050406030204" pitchFamily="18" charset="0"/>
                            <a:ea typeface="Cambria" panose="02040503050406030204" pitchFamily="18" charset="0"/>
                          </a:rPr>
                          <m:t>𝑚</m:t>
                        </m:r>
                      </m:sub>
                    </m:sSub>
                    <m:r>
                      <a:rPr lang="en-US" sz="2200" i="1">
                        <a:latin typeface="Cambria Math" panose="02040503050406030204" pitchFamily="18" charset="0"/>
                        <a:ea typeface="Cambria" panose="02040503050406030204" pitchFamily="18" charset="0"/>
                      </a:rPr>
                      <m:t>+</m:t>
                    </m:r>
                    <m:sSub>
                      <m:sSubPr>
                        <m:ctrlPr>
                          <a:rPr lang="en-US" sz="2200" i="1">
                            <a:latin typeface="Cambria Math" panose="02040503050406030204" pitchFamily="18" charset="0"/>
                            <a:ea typeface="Cambria" panose="02040503050406030204" pitchFamily="18" charset="0"/>
                          </a:rPr>
                        </m:ctrlPr>
                      </m:sSubPr>
                      <m:e>
                        <m:r>
                          <a:rPr lang="en-US" sz="2200" i="1">
                            <a:latin typeface="Cambria Math" panose="02040503050406030204" pitchFamily="18" charset="0"/>
                            <a:ea typeface="Cambria" panose="02040503050406030204" pitchFamily="18" charset="0"/>
                          </a:rPr>
                          <m:t>𝑉</m:t>
                        </m:r>
                      </m:e>
                      <m:sub>
                        <m:r>
                          <a:rPr lang="en-US" sz="2200" i="1">
                            <a:latin typeface="Cambria Math" panose="02040503050406030204" pitchFamily="18" charset="0"/>
                            <a:ea typeface="Cambria" panose="02040503050406030204" pitchFamily="18" charset="0"/>
                          </a:rPr>
                          <m:t>𝑐</m:t>
                        </m:r>
                      </m:sub>
                    </m:sSub>
                    <m:r>
                      <a:rPr lang="en-US" sz="2200" i="1">
                        <a:latin typeface="Cambria Math" panose="02040503050406030204" pitchFamily="18" charset="0"/>
                        <a:ea typeface="Cambria" panose="02040503050406030204" pitchFamily="18" charset="0"/>
                      </a:rPr>
                      <m:t>)</m:t>
                    </m:r>
                    <m:r>
                      <a:rPr lang="en-US" sz="2200" i="1">
                        <a:latin typeface="Cambria Math" panose="02040503050406030204" pitchFamily="18" charset="0"/>
                        <a:ea typeface="Cambria" panose="02040503050406030204" pitchFamily="18" charset="0"/>
                      </a:rPr>
                      <m:t>𝑆𝑖𝑛</m:t>
                    </m:r>
                    <m:r>
                      <a:rPr lang="en-US" sz="2200" i="1">
                        <a:latin typeface="Cambria Math" panose="02040503050406030204" pitchFamily="18" charset="0"/>
                        <a:ea typeface="Cambria" panose="02040503050406030204" pitchFamily="18" charset="0"/>
                      </a:rPr>
                      <m:t> </m:t>
                    </m:r>
                    <m:d>
                      <m:dPr>
                        <m:ctrlPr>
                          <a:rPr lang="en-US" sz="2200" i="1">
                            <a:latin typeface="Cambria Math" panose="02040503050406030204" pitchFamily="18" charset="0"/>
                            <a:ea typeface="Cambria" panose="02040503050406030204" pitchFamily="18" charset="0"/>
                          </a:rPr>
                        </m:ctrlPr>
                      </m:dPr>
                      <m:e>
                        <m:sSub>
                          <m:sSubPr>
                            <m:ctrlPr>
                              <a:rPr lang="en-US" sz="2200" i="1">
                                <a:latin typeface="Cambria Math" panose="02040503050406030204" pitchFamily="18" charset="0"/>
                                <a:ea typeface="Cambria" panose="02040503050406030204" pitchFamily="18" charset="0"/>
                              </a:rPr>
                            </m:ctrlPr>
                          </m:sSubPr>
                          <m:e>
                            <m:r>
                              <a:rPr lang="en-US" sz="2200" i="1">
                                <a:latin typeface="Cambria Math" panose="02040503050406030204" pitchFamily="18" charset="0"/>
                                <a:ea typeface="Cambria Math" panose="02040503050406030204" pitchFamily="18" charset="0"/>
                              </a:rPr>
                              <m:t>𝜔</m:t>
                            </m:r>
                          </m:e>
                          <m:sub>
                            <m:r>
                              <a:rPr lang="en-US" sz="2200" i="1">
                                <a:latin typeface="Cambria Math" panose="02040503050406030204" pitchFamily="18" charset="0"/>
                                <a:ea typeface="Cambria" panose="02040503050406030204" pitchFamily="18" charset="0"/>
                              </a:rPr>
                              <m:t>𝑐</m:t>
                            </m:r>
                          </m:sub>
                        </m:sSub>
                        <m:r>
                          <a:rPr lang="en-US" sz="2200" i="1">
                            <a:latin typeface="Cambria Math" panose="02040503050406030204" pitchFamily="18" charset="0"/>
                            <a:ea typeface="Cambria Math" panose="02040503050406030204" pitchFamily="18" charset="0"/>
                          </a:rPr>
                          <m:t>𝑡</m:t>
                        </m:r>
                      </m:e>
                    </m:d>
                  </m:oMath>
                </a14:m>
                <a:endParaRPr lang="en-US" sz="2200" dirty="0">
                  <a:ea typeface="Cambria" panose="02040503050406030204" pitchFamily="18" charset="0"/>
                </a:endParaRPr>
              </a:p>
            </p:txBody>
          </p:sp>
        </mc:Choice>
        <mc:Fallback xmlns="">
          <p:sp>
            <p:nvSpPr>
              <p:cNvPr id="13" name="TextBox 12">
                <a:extLst>
                  <a:ext uri="{FF2B5EF4-FFF2-40B4-BE49-F238E27FC236}">
                    <a16:creationId xmlns:a16="http://schemas.microsoft.com/office/drawing/2014/main" id="{EF5AB5E0-5E0B-DEA7-B9F1-395299936680}"/>
                  </a:ext>
                </a:extLst>
              </p:cNvPr>
              <p:cNvSpPr txBox="1">
                <a:spLocks noRot="1" noChangeAspect="1" noMove="1" noResize="1" noEditPoints="1" noAdjustHandles="1" noChangeArrowheads="1" noChangeShapeType="1" noTextEdit="1"/>
              </p:cNvSpPr>
              <p:nvPr/>
            </p:nvSpPr>
            <p:spPr>
              <a:xfrm>
                <a:off x="874953" y="1829833"/>
                <a:ext cx="10431313" cy="923330"/>
              </a:xfrm>
              <a:prstGeom prst="rect">
                <a:avLst/>
              </a:prstGeom>
              <a:blipFill>
                <a:blip r:embed="rId3"/>
                <a:stretch>
                  <a:fillRect l="-730" t="-4110" b="-13699"/>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xmlns="" id="{CB67F862-ED7B-5AEC-5B3B-F966C191A99E}"/>
              </a:ext>
            </a:extLst>
          </p:cNvPr>
          <p:cNvPicPr>
            <a:picLocks noChangeAspect="1"/>
          </p:cNvPicPr>
          <p:nvPr/>
        </p:nvPicPr>
        <p:blipFill rotWithShape="1">
          <a:blip r:embed="rId4">
            <a:extLst>
              <a:ext uri="{28A0092B-C50C-407E-A947-70E740481C1C}">
                <a14:useLocalDpi xmlns:a14="http://schemas.microsoft.com/office/drawing/2010/main" val="0"/>
              </a:ext>
            </a:extLst>
          </a:blip>
          <a:srcRect t="54969" b="-285"/>
          <a:stretch>
            <a:fillRect/>
          </a:stretch>
        </p:blipFill>
        <p:spPr>
          <a:xfrm>
            <a:off x="6376737" y="3049433"/>
            <a:ext cx="5572467" cy="2919480"/>
          </a:xfrm>
          <a:prstGeom prst="rect">
            <a:avLst/>
          </a:prstGeom>
          <a:ln w="19050">
            <a:solidFill>
              <a:srgbClr val="FF0000"/>
            </a:solidFill>
          </a:ln>
        </p:spPr>
      </p:pic>
      <p:pic>
        <p:nvPicPr>
          <p:cNvPr id="8" name="Picture 7">
            <a:extLst>
              <a:ext uri="{FF2B5EF4-FFF2-40B4-BE49-F238E27FC236}">
                <a16:creationId xmlns:a16="http://schemas.microsoft.com/office/drawing/2014/main" xmlns="" id="{7364AB6A-4575-BB8A-1364-F3C87BE93D3C}"/>
              </a:ext>
            </a:extLst>
          </p:cNvPr>
          <p:cNvPicPr>
            <a:picLocks noChangeAspect="1"/>
          </p:cNvPicPr>
          <p:nvPr/>
        </p:nvPicPr>
        <p:blipFill>
          <a:blip r:embed="rId5"/>
          <a:stretch>
            <a:fillRect/>
          </a:stretch>
        </p:blipFill>
        <p:spPr>
          <a:xfrm>
            <a:off x="609600" y="3030133"/>
            <a:ext cx="5494020" cy="2938780"/>
          </a:xfrm>
          <a:prstGeom prst="rect">
            <a:avLst/>
          </a:prstGeom>
          <a:ln w="19050">
            <a:solidFill>
              <a:srgbClr val="FF0000"/>
            </a:solidFill>
          </a:ln>
        </p:spPr>
      </p:pic>
    </p:spTree>
    <p:extLst>
      <p:ext uri="{BB962C8B-B14F-4D97-AF65-F5344CB8AC3E}">
        <p14:creationId xmlns:p14="http://schemas.microsoft.com/office/powerpoint/2010/main" val="12875358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E2BB5F2-249E-F173-D14F-937211883F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15B3C37A-E1F7-22E4-AA07-BF5EEE9DDAB7}"/>
              </a:ext>
            </a:extLst>
          </p:cNvPr>
          <p:cNvSpPr>
            <a:spLocks noGrp="1"/>
          </p:cNvSpPr>
          <p:nvPr>
            <p:ph type="title"/>
          </p:nvPr>
        </p:nvSpPr>
        <p:spPr>
          <a:xfrm>
            <a:off x="1936750" y="190500"/>
            <a:ext cx="9645650" cy="582930"/>
          </a:xfrm>
        </p:spPr>
        <p:txBody>
          <a:bodyPr/>
          <a:lstStyle/>
          <a:p>
            <a:r>
              <a:rPr lang="en-US" altLang="en-US" b="1" dirty="0">
                <a:sym typeface="+mn-ea"/>
              </a:rPr>
              <a:t>Amplitude Modulation</a:t>
            </a:r>
            <a:endParaRPr lang="en-US" altLang="en-US" b="1" dirty="0"/>
          </a:p>
        </p:txBody>
      </p:sp>
      <p:sp>
        <p:nvSpPr>
          <p:cNvPr id="4" name="Slide Number Placeholder 3">
            <a:extLst>
              <a:ext uri="{FF2B5EF4-FFF2-40B4-BE49-F238E27FC236}">
                <a16:creationId xmlns:a16="http://schemas.microsoft.com/office/drawing/2014/main" xmlns="" id="{5F0CB7C4-E428-9439-5188-79AD4C01D77B}"/>
              </a:ext>
            </a:extLst>
          </p:cNvPr>
          <p:cNvSpPr>
            <a:spLocks noGrp="1"/>
          </p:cNvSpPr>
          <p:nvPr>
            <p:ph type="sldNum" sz="quarter" idx="12"/>
          </p:nvPr>
        </p:nvSpPr>
        <p:spPr/>
        <p:txBody>
          <a:bodyPr/>
          <a:lstStyle/>
          <a:p>
            <a:fld id="{50D97DBC-71BD-4B00-8F4D-DDC0A0D17A0C}" type="slidenum">
              <a:rPr lang="en-US" smtClean="0"/>
              <a:t>8</a:t>
            </a:fld>
            <a:endParaRPr lang="en-US"/>
          </a:p>
        </p:txBody>
      </p:sp>
      <p:sp>
        <p:nvSpPr>
          <p:cNvPr id="5" name="Date Placeholder 4">
            <a:extLst>
              <a:ext uri="{FF2B5EF4-FFF2-40B4-BE49-F238E27FC236}">
                <a16:creationId xmlns:a16="http://schemas.microsoft.com/office/drawing/2014/main" xmlns="" id="{3EB29FED-8343-F0FB-AFCC-FE054B33E98A}"/>
              </a:ext>
            </a:extLst>
          </p:cNvPr>
          <p:cNvSpPr>
            <a:spLocks noGrp="1"/>
          </p:cNvSpPr>
          <p:nvPr>
            <p:ph type="dt" sz="half" idx="10"/>
          </p:nvPr>
        </p:nvSpPr>
        <p:spPr/>
        <p:txBody>
          <a:bodyPr/>
          <a:lstStyle/>
          <a:p>
            <a:fld id="{F0B4034D-A911-A642-B8E1-BA081BB67D6F}" type="datetime1">
              <a:rPr lang="en-AU" smtClean="0"/>
              <a:t>16/02/2026</a:t>
            </a:fld>
            <a:endParaRPr lang="en-US" dirty="0"/>
          </a:p>
        </p:txBody>
      </p:sp>
      <p:sp>
        <p:nvSpPr>
          <p:cNvPr id="6" name="Footer Placeholder 5">
            <a:extLst>
              <a:ext uri="{FF2B5EF4-FFF2-40B4-BE49-F238E27FC236}">
                <a16:creationId xmlns:a16="http://schemas.microsoft.com/office/drawing/2014/main" xmlns="" id="{8673C582-15DB-84CB-1E95-C0FB5419D4AC}"/>
              </a:ext>
            </a:extLst>
          </p:cNvPr>
          <p:cNvSpPr>
            <a:spLocks noGrp="1"/>
          </p:cNvSpPr>
          <p:nvPr>
            <p:ph type="ftr" sz="quarter" idx="11"/>
          </p:nvPr>
        </p:nvSpPr>
        <p:spPr/>
        <p:txBody>
          <a:bodyPr/>
          <a:lstStyle/>
          <a:p>
            <a:r>
              <a:rPr lang="en-US"/>
              <a:t>@Foez Ahmed, CSE, VU</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xmlns="" id="{2619676F-6D9B-4000-6F68-7FF43DC489FC}"/>
                  </a:ext>
                </a:extLst>
              </p:cNvPr>
              <p:cNvSpPr txBox="1"/>
              <p:nvPr/>
            </p:nvSpPr>
            <p:spPr>
              <a:xfrm>
                <a:off x="2049964" y="1374908"/>
                <a:ext cx="9184005" cy="325501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i="1" smtClean="0">
                          <a:latin typeface="Cambria Math" panose="02040503050406030204" pitchFamily="18" charset="0"/>
                          <a:ea typeface="Cambria" panose="02040503050406030204" pitchFamily="18" charset="0"/>
                        </a:rPr>
                        <m:t>𝑣</m:t>
                      </m:r>
                      <m:r>
                        <a:rPr lang="en-US" sz="2400" i="1" smtClean="0">
                          <a:latin typeface="Cambria Math" panose="02040503050406030204" pitchFamily="18" charset="0"/>
                          <a:ea typeface="Cambria" panose="02040503050406030204" pitchFamily="18" charset="0"/>
                        </a:rPr>
                        <m:t>=(</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𝑣</m:t>
                          </m:r>
                        </m:e>
                        <m:sub>
                          <m:r>
                            <a:rPr lang="en-US" sz="2400" i="1">
                              <a:latin typeface="Cambria Math" panose="02040503050406030204" pitchFamily="18" charset="0"/>
                              <a:ea typeface="Cambria" panose="02040503050406030204" pitchFamily="18" charset="0"/>
                            </a:rPr>
                            <m:t>𝑚</m:t>
                          </m:r>
                        </m:sub>
                      </m:sSub>
                      <m:r>
                        <a:rPr lang="en-US" sz="2400" i="1">
                          <a:latin typeface="Cambria Math" panose="02040503050406030204" pitchFamily="18" charset="0"/>
                          <a:ea typeface="Cambria" panose="02040503050406030204" pitchFamily="18" charset="0"/>
                        </a:rPr>
                        <m:t>+</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b="0" i="1" smtClean="0">
                              <a:latin typeface="Cambria Math" panose="02040503050406030204" pitchFamily="18" charset="0"/>
                              <a:ea typeface="Cambria" panose="02040503050406030204" pitchFamily="18" charset="0"/>
                            </a:rPr>
                            <m:t>𝑐</m:t>
                          </m:r>
                        </m:sub>
                      </m:sSub>
                      <m:r>
                        <a:rPr lang="en-US" sz="2400" i="1">
                          <a:latin typeface="Cambria Math" panose="02040503050406030204" pitchFamily="18" charset="0"/>
                          <a:ea typeface="Cambria" panose="02040503050406030204" pitchFamily="18" charset="0"/>
                        </a:rPr>
                        <m:t>)</m:t>
                      </m:r>
                      <m:r>
                        <a:rPr lang="en-US" sz="2400" i="1">
                          <a:latin typeface="Cambria Math" panose="02040503050406030204" pitchFamily="18" charset="0"/>
                          <a:ea typeface="Cambria" panose="02040503050406030204" pitchFamily="18" charset="0"/>
                        </a:rPr>
                        <m:t>𝑆𝑖𝑛</m:t>
                      </m:r>
                      <m:r>
                        <a:rPr lang="en-US" sz="2400" i="1">
                          <a:latin typeface="Cambria Math" panose="02040503050406030204" pitchFamily="18" charset="0"/>
                          <a:ea typeface="Cambria" panose="02040503050406030204" pitchFamily="18" charset="0"/>
                        </a:rPr>
                        <m:t> </m:t>
                      </m:r>
                      <m:d>
                        <m:dPr>
                          <m:ctrlPr>
                            <a:rPr lang="en-US" sz="2400" i="1">
                              <a:latin typeface="Cambria Math" panose="02040503050406030204" pitchFamily="18" charset="0"/>
                              <a:ea typeface="Cambria" panose="02040503050406030204" pitchFamily="18" charset="0"/>
                            </a:rPr>
                          </m:ctrlPr>
                        </m:d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Math" panose="02040503050406030204" pitchFamily="18" charset="0"/>
                                </a:rPr>
                                <m:t>𝜔</m:t>
                              </m:r>
                            </m:e>
                            <m:sub>
                              <m:r>
                                <a:rPr lang="en-US" sz="2400" i="1">
                                  <a:latin typeface="Cambria Math" panose="02040503050406030204" pitchFamily="18" charset="0"/>
                                  <a:ea typeface="Cambria" panose="02040503050406030204" pitchFamily="18" charset="0"/>
                                </a:rPr>
                                <m:t>𝑐</m:t>
                              </m:r>
                            </m:sub>
                          </m:sSub>
                          <m:r>
                            <a:rPr lang="en-US" sz="2400" i="1">
                              <a:latin typeface="Cambria Math" panose="02040503050406030204" pitchFamily="18" charset="0"/>
                              <a:ea typeface="Cambria Math" panose="02040503050406030204" pitchFamily="18" charset="0"/>
                            </a:rPr>
                            <m:t>𝑡</m:t>
                          </m:r>
                        </m:e>
                      </m:d>
                    </m:oMath>
                  </m:oMathPara>
                </a14:m>
                <a:endParaRPr lang="en-US" sz="2400" dirty="0">
                  <a:latin typeface="Cambria" panose="02040503050406030204" pitchFamily="18" charset="0"/>
                  <a:ea typeface="Cambria" panose="02040503050406030204" pitchFamily="18" charset="0"/>
                </a:endParaRPr>
              </a:p>
              <a:p>
                <a:pPr marL="282575"/>
                <a14:m>
                  <m:oMathPara xmlns:m="http://schemas.openxmlformats.org/officeDocument/2006/math">
                    <m:oMathParaPr>
                      <m:jc m:val="left"/>
                    </m:oMathParaPr>
                    <m:oMath xmlns:m="http://schemas.openxmlformats.org/officeDocument/2006/math">
                      <m:r>
                        <a:rPr lang="en-US" sz="2400" i="1">
                          <a:latin typeface="Cambria Math" panose="02040503050406030204" pitchFamily="18" charset="0"/>
                          <a:ea typeface="Cambria" panose="02040503050406030204" pitchFamily="18" charset="0"/>
                        </a:rPr>
                        <m:t>=(</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𝑚</m:t>
                          </m:r>
                        </m:sub>
                      </m:sSub>
                      <m:r>
                        <a:rPr lang="en-US" sz="2400" i="1">
                          <a:latin typeface="Cambria Math" panose="02040503050406030204" pitchFamily="18" charset="0"/>
                          <a:ea typeface="Cambria" panose="02040503050406030204" pitchFamily="18" charset="0"/>
                        </a:rPr>
                        <m:t>𝑆𝑖𝑛</m:t>
                      </m:r>
                      <m:r>
                        <a:rPr lang="en-US" sz="2400" i="1">
                          <a:latin typeface="Cambria Math" panose="02040503050406030204" pitchFamily="18" charset="0"/>
                          <a:ea typeface="Cambria" panose="02040503050406030204" pitchFamily="18" charset="0"/>
                        </a:rPr>
                        <m:t> </m:t>
                      </m:r>
                      <m:d>
                        <m:dPr>
                          <m:ctrlPr>
                            <a:rPr lang="en-US" sz="2400" i="1">
                              <a:latin typeface="Cambria Math" panose="02040503050406030204" pitchFamily="18" charset="0"/>
                              <a:ea typeface="Cambria" panose="02040503050406030204" pitchFamily="18" charset="0"/>
                            </a:rPr>
                          </m:ctrlPr>
                        </m:d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Math" panose="02040503050406030204" pitchFamily="18" charset="0"/>
                                </a:rPr>
                                <m:t>𝜔</m:t>
                              </m:r>
                            </m:e>
                            <m:sub>
                              <m:r>
                                <a:rPr lang="en-US" sz="2400" i="1">
                                  <a:latin typeface="Cambria Math" panose="02040503050406030204" pitchFamily="18" charset="0"/>
                                  <a:ea typeface="Cambria" panose="02040503050406030204" pitchFamily="18" charset="0"/>
                                </a:rPr>
                                <m:t>𝑚</m:t>
                              </m:r>
                            </m:sub>
                          </m:sSub>
                          <m:r>
                            <a:rPr lang="en-US" sz="2400" i="1">
                              <a:latin typeface="Cambria Math" panose="02040503050406030204" pitchFamily="18" charset="0"/>
                              <a:ea typeface="Cambria Math" panose="02040503050406030204" pitchFamily="18" charset="0"/>
                            </a:rPr>
                            <m:t>𝑡</m:t>
                          </m:r>
                        </m:e>
                      </m:d>
                      <m:r>
                        <a:rPr lang="en-US" sz="2400" i="1">
                          <a:latin typeface="Cambria Math" panose="02040503050406030204" pitchFamily="18" charset="0"/>
                          <a:ea typeface="Cambria" panose="02040503050406030204" pitchFamily="18" charset="0"/>
                        </a:rPr>
                        <m:t>+</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b="0" i="1" smtClean="0">
                              <a:latin typeface="Cambria Math" panose="02040503050406030204" pitchFamily="18" charset="0"/>
                              <a:ea typeface="Cambria" panose="02040503050406030204" pitchFamily="18" charset="0"/>
                            </a:rPr>
                            <m:t>𝑐</m:t>
                          </m:r>
                        </m:sub>
                      </m:sSub>
                      <m:r>
                        <a:rPr lang="en-US" sz="2400" i="1">
                          <a:latin typeface="Cambria Math" panose="02040503050406030204" pitchFamily="18" charset="0"/>
                          <a:ea typeface="Cambria" panose="02040503050406030204" pitchFamily="18" charset="0"/>
                        </a:rPr>
                        <m:t>)</m:t>
                      </m:r>
                      <m:r>
                        <a:rPr lang="en-US" sz="2400" i="1">
                          <a:latin typeface="Cambria Math" panose="02040503050406030204" pitchFamily="18" charset="0"/>
                          <a:ea typeface="Cambria" panose="02040503050406030204" pitchFamily="18" charset="0"/>
                        </a:rPr>
                        <m:t>𝑆𝑖𝑛</m:t>
                      </m:r>
                      <m:r>
                        <a:rPr lang="en-US" sz="2400" i="1">
                          <a:latin typeface="Cambria Math" panose="02040503050406030204" pitchFamily="18" charset="0"/>
                          <a:ea typeface="Cambria" panose="02040503050406030204" pitchFamily="18" charset="0"/>
                        </a:rPr>
                        <m:t> </m:t>
                      </m:r>
                      <m:d>
                        <m:dPr>
                          <m:ctrlPr>
                            <a:rPr lang="en-US" sz="2400" i="1">
                              <a:latin typeface="Cambria Math" panose="02040503050406030204" pitchFamily="18" charset="0"/>
                              <a:ea typeface="Cambria" panose="02040503050406030204" pitchFamily="18" charset="0"/>
                            </a:rPr>
                          </m:ctrlPr>
                        </m:d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Math" panose="02040503050406030204" pitchFamily="18" charset="0"/>
                                </a:rPr>
                                <m:t>𝜔</m:t>
                              </m:r>
                            </m:e>
                            <m:sub>
                              <m:r>
                                <a:rPr lang="en-US" sz="2400" i="1">
                                  <a:latin typeface="Cambria Math" panose="02040503050406030204" pitchFamily="18" charset="0"/>
                                  <a:ea typeface="Cambria" panose="02040503050406030204" pitchFamily="18" charset="0"/>
                                </a:rPr>
                                <m:t>𝑐</m:t>
                              </m:r>
                            </m:sub>
                          </m:sSub>
                          <m:r>
                            <a:rPr lang="en-US" sz="2400" i="1">
                              <a:latin typeface="Cambria Math" panose="02040503050406030204" pitchFamily="18" charset="0"/>
                              <a:ea typeface="Cambria Math" panose="02040503050406030204" pitchFamily="18" charset="0"/>
                            </a:rPr>
                            <m:t>𝑡</m:t>
                          </m:r>
                        </m:e>
                      </m:d>
                    </m:oMath>
                  </m:oMathPara>
                </a14:m>
                <a:endParaRPr lang="en-US" sz="2400" dirty="0">
                  <a:latin typeface="Cambria" panose="02040503050406030204" pitchFamily="18" charset="0"/>
                  <a:ea typeface="Cambria" panose="02040503050406030204" pitchFamily="18" charset="0"/>
                </a:endParaRPr>
              </a:p>
              <a:p>
                <a:pPr marL="282575"/>
                <a14:m>
                  <m:oMathPara xmlns:m="http://schemas.openxmlformats.org/officeDocument/2006/math">
                    <m:oMathParaPr>
                      <m:jc m:val="left"/>
                    </m:oMathParaPr>
                    <m:oMath xmlns:m="http://schemas.openxmlformats.org/officeDocument/2006/math">
                      <m:r>
                        <a:rPr lang="en-US" sz="2400" i="1">
                          <a:latin typeface="Cambria Math" panose="02040503050406030204" pitchFamily="18" charset="0"/>
                          <a:ea typeface="Cambria" panose="02040503050406030204" pitchFamily="18" charset="0"/>
                        </a:rPr>
                        <m:t>=</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𝑚</m:t>
                          </m:r>
                        </m:sub>
                      </m:sSub>
                      <m:r>
                        <a:rPr lang="en-US" sz="2400" i="1">
                          <a:latin typeface="Cambria Math" panose="02040503050406030204" pitchFamily="18" charset="0"/>
                          <a:ea typeface="Cambria" panose="02040503050406030204" pitchFamily="18" charset="0"/>
                        </a:rPr>
                        <m:t>𝑆𝑖𝑛</m:t>
                      </m:r>
                      <m:r>
                        <a:rPr lang="en-US" sz="2400" i="1">
                          <a:latin typeface="Cambria Math" panose="02040503050406030204" pitchFamily="18" charset="0"/>
                          <a:ea typeface="Cambria" panose="02040503050406030204" pitchFamily="18" charset="0"/>
                        </a:rPr>
                        <m:t> </m:t>
                      </m:r>
                      <m:d>
                        <m:dPr>
                          <m:ctrlPr>
                            <a:rPr lang="en-US" sz="2400" i="1">
                              <a:latin typeface="Cambria Math" panose="02040503050406030204" pitchFamily="18" charset="0"/>
                              <a:ea typeface="Cambria" panose="02040503050406030204" pitchFamily="18" charset="0"/>
                            </a:rPr>
                          </m:ctrlPr>
                        </m:d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Math" panose="02040503050406030204" pitchFamily="18" charset="0"/>
                                </a:rPr>
                                <m:t>𝜔</m:t>
                              </m:r>
                            </m:e>
                            <m:sub>
                              <m:r>
                                <a:rPr lang="en-US" sz="2400" i="1">
                                  <a:latin typeface="Cambria Math" panose="02040503050406030204" pitchFamily="18" charset="0"/>
                                  <a:ea typeface="Cambria" panose="02040503050406030204" pitchFamily="18" charset="0"/>
                                </a:rPr>
                                <m:t>𝑚</m:t>
                              </m:r>
                            </m:sub>
                          </m:sSub>
                          <m:r>
                            <a:rPr lang="en-US" sz="2400" i="1">
                              <a:latin typeface="Cambria Math" panose="02040503050406030204" pitchFamily="18" charset="0"/>
                              <a:ea typeface="Cambria Math" panose="02040503050406030204" pitchFamily="18" charset="0"/>
                            </a:rPr>
                            <m:t>𝑡</m:t>
                          </m:r>
                        </m:e>
                      </m:d>
                      <m:r>
                        <a:rPr lang="en-US" sz="2400" i="1">
                          <a:latin typeface="Cambria Math" panose="02040503050406030204" pitchFamily="18" charset="0"/>
                          <a:ea typeface="Cambria" panose="02040503050406030204" pitchFamily="18" charset="0"/>
                        </a:rPr>
                        <m:t>𝑆𝑖𝑛</m:t>
                      </m:r>
                      <m:r>
                        <a:rPr lang="en-US" sz="2400" i="1">
                          <a:latin typeface="Cambria Math" panose="02040503050406030204" pitchFamily="18" charset="0"/>
                          <a:ea typeface="Cambria" panose="02040503050406030204" pitchFamily="18" charset="0"/>
                        </a:rPr>
                        <m:t> </m:t>
                      </m:r>
                      <m:d>
                        <m:dPr>
                          <m:ctrlPr>
                            <a:rPr lang="en-US" sz="2400" i="1">
                              <a:latin typeface="Cambria Math" panose="02040503050406030204" pitchFamily="18" charset="0"/>
                              <a:ea typeface="Cambria" panose="02040503050406030204" pitchFamily="18" charset="0"/>
                            </a:rPr>
                          </m:ctrlPr>
                        </m:d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Math" panose="02040503050406030204" pitchFamily="18" charset="0"/>
                                </a:rPr>
                                <m:t>𝜔</m:t>
                              </m:r>
                            </m:e>
                            <m:sub>
                              <m:r>
                                <a:rPr lang="en-US" sz="2400" i="1">
                                  <a:latin typeface="Cambria Math" panose="02040503050406030204" pitchFamily="18" charset="0"/>
                                  <a:ea typeface="Cambria" panose="02040503050406030204" pitchFamily="18" charset="0"/>
                                </a:rPr>
                                <m:t>𝑐</m:t>
                              </m:r>
                            </m:sub>
                          </m:sSub>
                          <m:r>
                            <a:rPr lang="en-US" sz="2400" i="1">
                              <a:latin typeface="Cambria Math" panose="02040503050406030204" pitchFamily="18" charset="0"/>
                              <a:ea typeface="Cambria Math" panose="02040503050406030204" pitchFamily="18" charset="0"/>
                            </a:rPr>
                            <m:t>𝑡</m:t>
                          </m:r>
                        </m:e>
                      </m:d>
                      <m:r>
                        <a:rPr lang="en-US" sz="2400" i="1">
                          <a:latin typeface="Cambria Math" panose="02040503050406030204" pitchFamily="18" charset="0"/>
                          <a:ea typeface="Cambria" panose="02040503050406030204" pitchFamily="18" charset="0"/>
                        </a:rPr>
                        <m:t>+</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b="0" i="1" smtClean="0">
                              <a:latin typeface="Cambria Math" panose="02040503050406030204" pitchFamily="18" charset="0"/>
                              <a:ea typeface="Cambria" panose="02040503050406030204" pitchFamily="18" charset="0"/>
                            </a:rPr>
                            <m:t>𝑐</m:t>
                          </m:r>
                        </m:sub>
                      </m:sSub>
                      <m:r>
                        <a:rPr lang="en-US" sz="2400" i="1">
                          <a:latin typeface="Cambria Math" panose="02040503050406030204" pitchFamily="18" charset="0"/>
                          <a:ea typeface="Cambria" panose="02040503050406030204" pitchFamily="18" charset="0"/>
                        </a:rPr>
                        <m:t>𝑆𝑖𝑛</m:t>
                      </m:r>
                      <m:r>
                        <a:rPr lang="en-US" sz="2400" i="1">
                          <a:latin typeface="Cambria Math" panose="02040503050406030204" pitchFamily="18" charset="0"/>
                          <a:ea typeface="Cambria" panose="02040503050406030204" pitchFamily="18" charset="0"/>
                        </a:rPr>
                        <m:t> </m:t>
                      </m:r>
                      <m:d>
                        <m:dPr>
                          <m:ctrlPr>
                            <a:rPr lang="en-US" sz="2400" i="1">
                              <a:latin typeface="Cambria Math" panose="02040503050406030204" pitchFamily="18" charset="0"/>
                              <a:ea typeface="Cambria" panose="02040503050406030204" pitchFamily="18" charset="0"/>
                            </a:rPr>
                          </m:ctrlPr>
                        </m:d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Math" panose="02040503050406030204" pitchFamily="18" charset="0"/>
                                </a:rPr>
                                <m:t>𝜔</m:t>
                              </m:r>
                            </m:e>
                            <m:sub>
                              <m:r>
                                <a:rPr lang="en-US" sz="2400" i="1">
                                  <a:latin typeface="Cambria Math" panose="02040503050406030204" pitchFamily="18" charset="0"/>
                                  <a:ea typeface="Cambria" panose="02040503050406030204" pitchFamily="18" charset="0"/>
                                </a:rPr>
                                <m:t>𝑐</m:t>
                              </m:r>
                            </m:sub>
                          </m:sSub>
                          <m:r>
                            <a:rPr lang="en-US" sz="2400" i="1">
                              <a:latin typeface="Cambria Math" panose="02040503050406030204" pitchFamily="18" charset="0"/>
                              <a:ea typeface="Cambria Math" panose="02040503050406030204" pitchFamily="18" charset="0"/>
                            </a:rPr>
                            <m:t>𝑡</m:t>
                          </m:r>
                        </m:e>
                      </m:d>
                    </m:oMath>
                  </m:oMathPara>
                </a14:m>
                <a:endParaRPr lang="en-US" sz="2400" dirty="0">
                  <a:latin typeface="Cambria" panose="02040503050406030204" pitchFamily="18" charset="0"/>
                  <a:ea typeface="Cambria" panose="02040503050406030204" pitchFamily="18" charset="0"/>
                </a:endParaRPr>
              </a:p>
              <a:p>
                <a:pPr marL="282575"/>
                <a14:m>
                  <m:oMathPara xmlns:m="http://schemas.openxmlformats.org/officeDocument/2006/math">
                    <m:oMathParaPr>
                      <m:jc m:val="left"/>
                    </m:oMathParaPr>
                    <m:oMath xmlns:m="http://schemas.openxmlformats.org/officeDocument/2006/math">
                      <m:r>
                        <a:rPr lang="en-US" sz="2400" i="1">
                          <a:latin typeface="Cambria Math" panose="02040503050406030204" pitchFamily="18" charset="0"/>
                          <a:ea typeface="Cambria" panose="02040503050406030204" pitchFamily="18" charset="0"/>
                        </a:rPr>
                        <m:t>=</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b="0" i="1" smtClean="0">
                              <a:latin typeface="Cambria Math" panose="02040503050406030204" pitchFamily="18" charset="0"/>
                              <a:ea typeface="Cambria" panose="02040503050406030204" pitchFamily="18" charset="0"/>
                            </a:rPr>
                            <m:t>𝑐</m:t>
                          </m:r>
                        </m:sub>
                      </m:sSub>
                      <m:d>
                        <m:dPr>
                          <m:begChr m:val="["/>
                          <m:endChr m:val="]"/>
                          <m:ctrlPr>
                            <a:rPr lang="en-US" sz="2400" i="1" smtClean="0">
                              <a:latin typeface="Cambria Math" panose="02040503050406030204" pitchFamily="18" charset="0"/>
                              <a:ea typeface="Cambria" panose="02040503050406030204" pitchFamily="18" charset="0"/>
                            </a:rPr>
                          </m:ctrlPr>
                        </m:dPr>
                        <m:e>
                          <m:r>
                            <a:rPr lang="en-US" sz="2400" i="1">
                              <a:latin typeface="Cambria Math" panose="02040503050406030204" pitchFamily="18" charset="0"/>
                              <a:ea typeface="Cambria" panose="02040503050406030204" pitchFamily="18" charset="0"/>
                            </a:rPr>
                            <m:t>𝑆𝑖𝑛</m:t>
                          </m:r>
                          <m:r>
                            <a:rPr lang="en-US" sz="2400" i="1">
                              <a:latin typeface="Cambria Math" panose="02040503050406030204" pitchFamily="18" charset="0"/>
                              <a:ea typeface="Cambria" panose="02040503050406030204" pitchFamily="18" charset="0"/>
                            </a:rPr>
                            <m:t> </m:t>
                          </m:r>
                          <m:d>
                            <m:dPr>
                              <m:ctrlPr>
                                <a:rPr lang="en-US" sz="2400" i="1">
                                  <a:latin typeface="Cambria Math" panose="02040503050406030204" pitchFamily="18" charset="0"/>
                                  <a:ea typeface="Cambria" panose="02040503050406030204" pitchFamily="18" charset="0"/>
                                </a:rPr>
                              </m:ctrlPr>
                            </m:d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Math" panose="02040503050406030204" pitchFamily="18" charset="0"/>
                                    </a:rPr>
                                    <m:t>𝜔</m:t>
                                  </m:r>
                                </m:e>
                                <m:sub>
                                  <m:r>
                                    <a:rPr lang="en-US" sz="2400" i="1">
                                      <a:latin typeface="Cambria Math" panose="02040503050406030204" pitchFamily="18" charset="0"/>
                                      <a:ea typeface="Cambria" panose="02040503050406030204" pitchFamily="18" charset="0"/>
                                    </a:rPr>
                                    <m:t>𝑐</m:t>
                                  </m:r>
                                </m:sub>
                              </m:sSub>
                              <m:r>
                                <a:rPr lang="en-US" sz="2400" i="1">
                                  <a:latin typeface="Cambria Math" panose="02040503050406030204" pitchFamily="18" charset="0"/>
                                  <a:ea typeface="Cambria Math" panose="02040503050406030204" pitchFamily="18" charset="0"/>
                                </a:rPr>
                                <m:t>𝑡</m:t>
                              </m:r>
                            </m:e>
                          </m:d>
                          <m:r>
                            <a:rPr lang="en-US" sz="2400" i="1">
                              <a:latin typeface="Cambria Math" panose="02040503050406030204" pitchFamily="18" charset="0"/>
                              <a:ea typeface="Cambria Math" panose="02040503050406030204" pitchFamily="18" charset="0"/>
                            </a:rPr>
                            <m:t>+</m:t>
                          </m:r>
                          <m:f>
                            <m:fPr>
                              <m:ctrlPr>
                                <a:rPr lang="en-US" sz="2400" i="1" smtClean="0">
                                  <a:latin typeface="Cambria Math" panose="02040503050406030204" pitchFamily="18" charset="0"/>
                                  <a:ea typeface="Cambria Math" panose="02040503050406030204" pitchFamily="18" charset="0"/>
                                </a:rPr>
                              </m:ctrlPr>
                            </m:fPr>
                            <m:num>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𝑚</m:t>
                                  </m:r>
                                </m:sub>
                              </m:sSub>
                            </m:num>
                            <m:den>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b="0" i="1" smtClean="0">
                                      <a:latin typeface="Cambria Math" panose="02040503050406030204" pitchFamily="18" charset="0"/>
                                      <a:ea typeface="Cambria" panose="02040503050406030204" pitchFamily="18" charset="0"/>
                                    </a:rPr>
                                    <m:t>𝑐</m:t>
                                  </m:r>
                                </m:sub>
                              </m:sSub>
                            </m:den>
                          </m:f>
                          <m:r>
                            <a:rPr lang="en-US" sz="2400" i="1">
                              <a:latin typeface="Cambria Math" panose="02040503050406030204" pitchFamily="18" charset="0"/>
                              <a:ea typeface="Cambria" panose="02040503050406030204" pitchFamily="18" charset="0"/>
                            </a:rPr>
                            <m:t>𝑆𝑖𝑛</m:t>
                          </m:r>
                          <m:r>
                            <a:rPr lang="en-US" sz="2400" i="1">
                              <a:latin typeface="Cambria Math" panose="02040503050406030204" pitchFamily="18" charset="0"/>
                              <a:ea typeface="Cambria" panose="02040503050406030204" pitchFamily="18" charset="0"/>
                            </a:rPr>
                            <m:t> </m:t>
                          </m:r>
                          <m:d>
                            <m:dPr>
                              <m:ctrlPr>
                                <a:rPr lang="en-US" sz="2400" i="1">
                                  <a:latin typeface="Cambria Math" panose="02040503050406030204" pitchFamily="18" charset="0"/>
                                  <a:ea typeface="Cambria" panose="02040503050406030204" pitchFamily="18" charset="0"/>
                                </a:rPr>
                              </m:ctrlPr>
                            </m:d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Math" panose="02040503050406030204" pitchFamily="18" charset="0"/>
                                    </a:rPr>
                                    <m:t>𝜔</m:t>
                                  </m:r>
                                </m:e>
                                <m:sub>
                                  <m:r>
                                    <a:rPr lang="en-US" sz="2400" i="1">
                                      <a:latin typeface="Cambria Math" panose="02040503050406030204" pitchFamily="18" charset="0"/>
                                      <a:ea typeface="Cambria" panose="02040503050406030204" pitchFamily="18" charset="0"/>
                                    </a:rPr>
                                    <m:t>𝑚</m:t>
                                  </m:r>
                                </m:sub>
                              </m:sSub>
                              <m:r>
                                <a:rPr lang="en-US" sz="2400" i="1">
                                  <a:latin typeface="Cambria Math" panose="02040503050406030204" pitchFamily="18" charset="0"/>
                                  <a:ea typeface="Cambria Math" panose="02040503050406030204" pitchFamily="18" charset="0"/>
                                </a:rPr>
                                <m:t>𝑡</m:t>
                              </m:r>
                            </m:e>
                          </m:d>
                          <m:r>
                            <a:rPr lang="en-US" sz="2400" i="1">
                              <a:latin typeface="Cambria Math" panose="02040503050406030204" pitchFamily="18" charset="0"/>
                              <a:ea typeface="Cambria" panose="02040503050406030204" pitchFamily="18" charset="0"/>
                            </a:rPr>
                            <m:t>𝑆𝑖𝑛</m:t>
                          </m:r>
                          <m:r>
                            <a:rPr lang="en-US" sz="2400" i="1">
                              <a:latin typeface="Cambria Math" panose="02040503050406030204" pitchFamily="18" charset="0"/>
                              <a:ea typeface="Cambria" panose="02040503050406030204" pitchFamily="18" charset="0"/>
                            </a:rPr>
                            <m:t> </m:t>
                          </m:r>
                          <m:d>
                            <m:dPr>
                              <m:ctrlPr>
                                <a:rPr lang="en-US" sz="2400" i="1">
                                  <a:latin typeface="Cambria Math" panose="02040503050406030204" pitchFamily="18" charset="0"/>
                                  <a:ea typeface="Cambria" panose="02040503050406030204" pitchFamily="18" charset="0"/>
                                </a:rPr>
                              </m:ctrlPr>
                            </m:d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Math" panose="02040503050406030204" pitchFamily="18" charset="0"/>
                                    </a:rPr>
                                    <m:t>𝜔</m:t>
                                  </m:r>
                                </m:e>
                                <m:sub>
                                  <m:r>
                                    <a:rPr lang="en-US" sz="2400" i="1">
                                      <a:latin typeface="Cambria Math" panose="02040503050406030204" pitchFamily="18" charset="0"/>
                                      <a:ea typeface="Cambria" panose="02040503050406030204" pitchFamily="18" charset="0"/>
                                    </a:rPr>
                                    <m:t>𝑐</m:t>
                                  </m:r>
                                </m:sub>
                              </m:sSub>
                              <m:r>
                                <a:rPr lang="en-US" sz="2400" i="1">
                                  <a:latin typeface="Cambria Math" panose="02040503050406030204" pitchFamily="18" charset="0"/>
                                  <a:ea typeface="Cambria Math" panose="02040503050406030204" pitchFamily="18" charset="0"/>
                                </a:rPr>
                                <m:t>𝑡</m:t>
                              </m:r>
                            </m:e>
                          </m:d>
                          <m:r>
                            <m:rPr>
                              <m:nor/>
                            </m:rPr>
                            <a:rPr lang="en-US" sz="2400" dirty="0">
                              <a:latin typeface="Cambria" panose="02040503050406030204" pitchFamily="18" charset="0"/>
                              <a:ea typeface="Cambria" panose="02040503050406030204" pitchFamily="18" charset="0"/>
                            </a:rPr>
                            <m:t> </m:t>
                          </m:r>
                        </m:e>
                      </m:d>
                    </m:oMath>
                  </m:oMathPara>
                </a14:m>
                <a:endParaRPr lang="en-US" sz="2400" dirty="0">
                  <a:latin typeface="Cambria" panose="02040503050406030204" pitchFamily="18" charset="0"/>
                  <a:ea typeface="Cambria" panose="02040503050406030204" pitchFamily="18" charset="0"/>
                </a:endParaRPr>
              </a:p>
              <a:p>
                <a:pPr marL="282575"/>
                <a14:m>
                  <m:oMathPara xmlns:m="http://schemas.openxmlformats.org/officeDocument/2006/math">
                    <m:oMathParaPr>
                      <m:jc m:val="left"/>
                    </m:oMathParaPr>
                    <m:oMath xmlns:m="http://schemas.openxmlformats.org/officeDocument/2006/math">
                      <m:r>
                        <a:rPr lang="en-US" sz="2400" i="1">
                          <a:latin typeface="Cambria Math" panose="02040503050406030204" pitchFamily="18" charset="0"/>
                          <a:ea typeface="Cambria" panose="02040503050406030204" pitchFamily="18" charset="0"/>
                        </a:rPr>
                        <m:t>=</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𝑐</m:t>
                          </m:r>
                        </m:sub>
                      </m:sSub>
                      <m:d>
                        <m:dPr>
                          <m:begChr m:val="["/>
                          <m:endChr m:val="]"/>
                          <m:ctrlPr>
                            <a:rPr lang="en-US" sz="2400" i="1">
                              <a:latin typeface="Cambria Math" panose="02040503050406030204" pitchFamily="18" charset="0"/>
                              <a:ea typeface="Cambria" panose="02040503050406030204" pitchFamily="18" charset="0"/>
                            </a:rPr>
                          </m:ctrlPr>
                        </m:dPr>
                        <m:e>
                          <m:r>
                            <a:rPr lang="en-US" sz="2400" i="1">
                              <a:latin typeface="Cambria Math" panose="02040503050406030204" pitchFamily="18" charset="0"/>
                              <a:ea typeface="Cambria" panose="02040503050406030204" pitchFamily="18" charset="0"/>
                            </a:rPr>
                            <m:t>𝑆𝑖𝑛</m:t>
                          </m:r>
                          <m:r>
                            <a:rPr lang="en-US" sz="2400" i="1">
                              <a:latin typeface="Cambria Math" panose="02040503050406030204" pitchFamily="18" charset="0"/>
                              <a:ea typeface="Cambria" panose="02040503050406030204" pitchFamily="18" charset="0"/>
                            </a:rPr>
                            <m:t> </m:t>
                          </m:r>
                          <m:d>
                            <m:dPr>
                              <m:ctrlPr>
                                <a:rPr lang="en-US" sz="2400" i="1">
                                  <a:latin typeface="Cambria Math" panose="02040503050406030204" pitchFamily="18" charset="0"/>
                                  <a:ea typeface="Cambria" panose="02040503050406030204" pitchFamily="18" charset="0"/>
                                </a:rPr>
                              </m:ctrlPr>
                            </m:d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Math" panose="02040503050406030204" pitchFamily="18" charset="0"/>
                                    </a:rPr>
                                    <m:t>𝜔</m:t>
                                  </m:r>
                                </m:e>
                                <m:sub>
                                  <m:r>
                                    <a:rPr lang="en-US" sz="2400" i="1">
                                      <a:latin typeface="Cambria Math" panose="02040503050406030204" pitchFamily="18" charset="0"/>
                                      <a:ea typeface="Cambria" panose="02040503050406030204" pitchFamily="18" charset="0"/>
                                    </a:rPr>
                                    <m:t>𝑐</m:t>
                                  </m:r>
                                </m:sub>
                              </m:sSub>
                              <m:r>
                                <a:rPr lang="en-US" sz="2400" i="1">
                                  <a:latin typeface="Cambria Math" panose="02040503050406030204" pitchFamily="18" charset="0"/>
                                  <a:ea typeface="Cambria Math" panose="02040503050406030204" pitchFamily="18" charset="0"/>
                                </a:rPr>
                                <m:t>𝑡</m:t>
                              </m:r>
                            </m:e>
                          </m:d>
                          <m:r>
                            <a:rPr lang="en-US" sz="2400" b="0" i="1" smtClean="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𝑚</m:t>
                              </m:r>
                            </m:num>
                            <m:den>
                              <m:r>
                                <a:rPr lang="en-US" sz="2400" b="0" i="1" smtClean="0">
                                  <a:latin typeface="Cambria Math" panose="02040503050406030204" pitchFamily="18" charset="0"/>
                                  <a:ea typeface="Cambria" panose="02040503050406030204" pitchFamily="18" charset="0"/>
                                </a:rPr>
                                <m:t>2</m:t>
                              </m:r>
                            </m:den>
                          </m:f>
                          <m:func>
                            <m:funcPr>
                              <m:ctrlPr>
                                <a:rPr lang="en-US" sz="2400" b="0" i="1" smtClean="0">
                                  <a:latin typeface="Cambria Math" panose="02040503050406030204" pitchFamily="18" charset="0"/>
                                  <a:ea typeface="Cambria" panose="02040503050406030204" pitchFamily="18" charset="0"/>
                                </a:rPr>
                              </m:ctrlPr>
                            </m:funcPr>
                            <m:fName>
                              <m:r>
                                <m:rPr>
                                  <m:sty m:val="p"/>
                                </m:rPr>
                                <a:rPr lang="en-US" sz="2400" b="0" i="0" smtClean="0">
                                  <a:latin typeface="Cambria Math" panose="02040503050406030204" pitchFamily="18" charset="0"/>
                                  <a:ea typeface="Cambria" panose="02040503050406030204" pitchFamily="18" charset="0"/>
                                </a:rPr>
                                <m:t>cos</m:t>
                              </m:r>
                            </m:fName>
                            <m:e>
                              <m:d>
                                <m:dPr>
                                  <m:ctrlPr>
                                    <a:rPr lang="en-US" sz="2400" b="0" i="1" smtClean="0">
                                      <a:latin typeface="Cambria Math" panose="02040503050406030204" pitchFamily="18" charset="0"/>
                                      <a:ea typeface="Cambria" panose="02040503050406030204" pitchFamily="18" charset="0"/>
                                    </a:rPr>
                                  </m:ctrlPr>
                                </m:d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Math" panose="02040503050406030204" pitchFamily="18" charset="0"/>
                                        </a:rPr>
                                        <m:t>𝜔</m:t>
                                      </m:r>
                                    </m:e>
                                    <m:sub>
                                      <m:r>
                                        <a:rPr lang="en-US" sz="2400" i="1">
                                          <a:latin typeface="Cambria Math" panose="02040503050406030204" pitchFamily="18" charset="0"/>
                                          <a:ea typeface="Cambria" panose="02040503050406030204" pitchFamily="18" charset="0"/>
                                        </a:rPr>
                                        <m:t>𝑚</m:t>
                                      </m:r>
                                    </m:sub>
                                  </m:sSub>
                                  <m:r>
                                    <a:rPr lang="en-US" sz="2400" b="0" i="1" smtClean="0">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Math" panose="02040503050406030204" pitchFamily="18" charset="0"/>
                                        </a:rPr>
                                        <m:t>𝜔</m:t>
                                      </m:r>
                                    </m:e>
                                    <m:sub>
                                      <m:r>
                                        <a:rPr lang="en-US" sz="2400" i="1">
                                          <a:latin typeface="Cambria Math" panose="02040503050406030204" pitchFamily="18" charset="0"/>
                                          <a:ea typeface="Cambria" panose="02040503050406030204" pitchFamily="18" charset="0"/>
                                        </a:rPr>
                                        <m:t>𝑐</m:t>
                                      </m:r>
                                    </m:sub>
                                  </m:sSub>
                                </m:e>
                              </m:d>
                            </m:e>
                          </m:func>
                          <m:r>
                            <a:rPr lang="en-US" sz="2400" i="1">
                              <a:latin typeface="Cambria Math" panose="02040503050406030204" pitchFamily="18" charset="0"/>
                              <a:ea typeface="Cambria Math" panose="02040503050406030204" pitchFamily="18" charset="0"/>
                            </a:rPr>
                            <m:t>𝑡</m:t>
                          </m:r>
                          <m:r>
                            <a:rPr lang="en-US" sz="2400" b="0" i="1" smtClean="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𝑚</m:t>
                              </m:r>
                            </m:num>
                            <m:den>
                              <m:r>
                                <a:rPr lang="en-US" sz="2400" i="1">
                                  <a:latin typeface="Cambria Math" panose="02040503050406030204" pitchFamily="18" charset="0"/>
                                  <a:ea typeface="Cambria" panose="02040503050406030204" pitchFamily="18" charset="0"/>
                                </a:rPr>
                                <m:t>2</m:t>
                              </m:r>
                            </m:den>
                          </m:f>
                          <m:r>
                            <m:rPr>
                              <m:sty m:val="p"/>
                            </m:rPr>
                            <a:rPr lang="en-US" sz="2400">
                              <a:latin typeface="Cambria Math" panose="02040503050406030204" pitchFamily="18" charset="0"/>
                              <a:ea typeface="Cambria" panose="02040503050406030204" pitchFamily="18" charset="0"/>
                            </a:rPr>
                            <m:t>cos</m:t>
                          </m:r>
                          <m:r>
                            <a:rPr lang="en-US" sz="2400" i="1">
                              <a:latin typeface="Cambria Math" panose="02040503050406030204" pitchFamily="18" charset="0"/>
                              <a:ea typeface="Cambria" panose="02040503050406030204" pitchFamily="18" charset="0"/>
                            </a:rPr>
                            <m:t>⁡(</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Math" panose="02040503050406030204" pitchFamily="18" charset="0"/>
                                </a:rPr>
                                <m:t>𝜔</m:t>
                              </m:r>
                            </m:e>
                            <m:sub>
                              <m:r>
                                <a:rPr lang="en-US" sz="2400" i="1">
                                  <a:latin typeface="Cambria Math" panose="02040503050406030204" pitchFamily="18" charset="0"/>
                                  <a:ea typeface="Cambria" panose="02040503050406030204" pitchFamily="18" charset="0"/>
                                </a:rPr>
                                <m:t>𝑚</m:t>
                              </m:r>
                            </m:sub>
                          </m:sSub>
                          <m:r>
                            <a:rPr lang="en-US" sz="2400" b="0" i="1" smtClean="0">
                              <a:latin typeface="Cambria Math" panose="02040503050406030204" pitchFamily="18" charset="0"/>
                              <a:ea typeface="Cambria" panose="02040503050406030204" pitchFamily="18" charset="0"/>
                            </a:rPr>
                            <m:t>+</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Math" panose="02040503050406030204" pitchFamily="18" charset="0"/>
                                </a:rPr>
                                <m:t>𝜔</m:t>
                              </m:r>
                            </m:e>
                            <m:sub>
                              <m:r>
                                <a:rPr lang="en-US" sz="2400" i="1">
                                  <a:latin typeface="Cambria Math" panose="02040503050406030204" pitchFamily="18" charset="0"/>
                                  <a:ea typeface="Cambria" panose="02040503050406030204" pitchFamily="18" charset="0"/>
                                </a:rPr>
                                <m:t>𝑐</m:t>
                              </m:r>
                            </m:sub>
                          </m:sSub>
                          <m:r>
                            <a:rPr lang="en-US" sz="2400" i="1">
                              <a:latin typeface="Cambria Math" panose="02040503050406030204" pitchFamily="18" charset="0"/>
                              <a:ea typeface="Cambria" panose="02040503050406030204" pitchFamily="18" charset="0"/>
                            </a:rPr>
                            <m:t>)</m:t>
                          </m:r>
                          <m:r>
                            <a:rPr lang="en-US" sz="2400" i="1">
                              <a:latin typeface="Cambria Math" panose="02040503050406030204" pitchFamily="18" charset="0"/>
                              <a:ea typeface="Cambria Math" panose="02040503050406030204" pitchFamily="18" charset="0"/>
                            </a:rPr>
                            <m:t>𝑡</m:t>
                          </m:r>
                        </m:e>
                      </m:d>
                    </m:oMath>
                  </m:oMathPara>
                </a14:m>
                <a:endParaRPr lang="en-US" sz="2400" dirty="0">
                  <a:latin typeface="Cambria" panose="02040503050406030204" pitchFamily="18" charset="0"/>
                  <a:ea typeface="Cambria" panose="02040503050406030204" pitchFamily="18" charset="0"/>
                </a:endParaRPr>
              </a:p>
              <a:p>
                <a:pPr marL="282575"/>
                <a14:m>
                  <m:oMathPara xmlns:m="http://schemas.openxmlformats.org/officeDocument/2006/math">
                    <m:oMathParaPr>
                      <m:jc m:val="left"/>
                    </m:oMathParaPr>
                    <m:oMath xmlns:m="http://schemas.openxmlformats.org/officeDocument/2006/math">
                      <m:r>
                        <a:rPr lang="en-US" sz="2400" i="1">
                          <a:latin typeface="Cambria Math" panose="02040503050406030204" pitchFamily="18" charset="0"/>
                          <a:ea typeface="Cambria" panose="02040503050406030204" pitchFamily="18" charset="0"/>
                        </a:rPr>
                        <m:t>=</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𝑐</m:t>
                          </m:r>
                        </m:sub>
                      </m:sSub>
                      <m:r>
                        <a:rPr lang="en-US" sz="2400" i="1">
                          <a:latin typeface="Cambria Math" panose="02040503050406030204" pitchFamily="18" charset="0"/>
                          <a:ea typeface="Cambria" panose="02040503050406030204" pitchFamily="18" charset="0"/>
                        </a:rPr>
                        <m:t>𝑆𝑖𝑛</m:t>
                      </m:r>
                      <m:r>
                        <a:rPr lang="en-US" sz="2400" i="1">
                          <a:latin typeface="Cambria Math" panose="02040503050406030204" pitchFamily="18" charset="0"/>
                          <a:ea typeface="Cambria" panose="02040503050406030204" pitchFamily="18" charset="0"/>
                        </a:rPr>
                        <m:t> </m:t>
                      </m:r>
                      <m:d>
                        <m:dPr>
                          <m:ctrlPr>
                            <a:rPr lang="en-US" sz="2400" i="1">
                              <a:latin typeface="Cambria Math" panose="02040503050406030204" pitchFamily="18" charset="0"/>
                              <a:ea typeface="Cambria" panose="02040503050406030204" pitchFamily="18" charset="0"/>
                            </a:rPr>
                          </m:ctrlPr>
                        </m:d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Math" panose="02040503050406030204" pitchFamily="18" charset="0"/>
                                </a:rPr>
                                <m:t>𝜔</m:t>
                              </m:r>
                            </m:e>
                            <m:sub>
                              <m:r>
                                <a:rPr lang="en-US" sz="2400" i="1">
                                  <a:latin typeface="Cambria Math" panose="02040503050406030204" pitchFamily="18" charset="0"/>
                                  <a:ea typeface="Cambria" panose="02040503050406030204" pitchFamily="18" charset="0"/>
                                </a:rPr>
                                <m:t>𝑐</m:t>
                              </m:r>
                            </m:sub>
                          </m:sSub>
                          <m:r>
                            <a:rPr lang="en-US" sz="2400" i="1">
                              <a:latin typeface="Cambria Math" panose="02040503050406030204" pitchFamily="18" charset="0"/>
                              <a:ea typeface="Cambria Math" panose="02040503050406030204" pitchFamily="18" charset="0"/>
                            </a:rPr>
                            <m:t>𝑡</m:t>
                          </m:r>
                        </m:e>
                      </m:d>
                      <m:r>
                        <a:rPr lang="en-US" sz="240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𝑚</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𝑐</m:t>
                              </m:r>
                            </m:sub>
                          </m:sSub>
                        </m:num>
                        <m:den>
                          <m:r>
                            <a:rPr lang="en-US" sz="2400" i="1">
                              <a:latin typeface="Cambria Math" panose="02040503050406030204" pitchFamily="18" charset="0"/>
                              <a:ea typeface="Cambria" panose="02040503050406030204" pitchFamily="18" charset="0"/>
                            </a:rPr>
                            <m:t>2</m:t>
                          </m:r>
                        </m:den>
                      </m:f>
                      <m:func>
                        <m:funcPr>
                          <m:ctrlPr>
                            <a:rPr lang="en-US" sz="2400" i="1">
                              <a:latin typeface="Cambria Math" panose="02040503050406030204" pitchFamily="18" charset="0"/>
                              <a:ea typeface="Cambria" panose="02040503050406030204" pitchFamily="18" charset="0"/>
                            </a:rPr>
                          </m:ctrlPr>
                        </m:funcPr>
                        <m:fName>
                          <m:r>
                            <m:rPr>
                              <m:sty m:val="p"/>
                            </m:rPr>
                            <a:rPr lang="en-US" sz="2400">
                              <a:latin typeface="Cambria Math" panose="02040503050406030204" pitchFamily="18" charset="0"/>
                              <a:ea typeface="Cambria" panose="02040503050406030204" pitchFamily="18" charset="0"/>
                            </a:rPr>
                            <m:t>cos</m:t>
                          </m:r>
                        </m:fName>
                        <m:e>
                          <m:d>
                            <m:dPr>
                              <m:ctrlPr>
                                <a:rPr lang="en-US" sz="2400" i="1">
                                  <a:latin typeface="Cambria Math" panose="02040503050406030204" pitchFamily="18" charset="0"/>
                                  <a:ea typeface="Cambria" panose="02040503050406030204" pitchFamily="18" charset="0"/>
                                </a:rPr>
                              </m:ctrlPr>
                            </m:d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Math" panose="02040503050406030204" pitchFamily="18" charset="0"/>
                                    </a:rPr>
                                    <m:t>𝜔</m:t>
                                  </m:r>
                                </m:e>
                                <m:sub>
                                  <m:r>
                                    <a:rPr lang="en-US" sz="2400" i="1">
                                      <a:latin typeface="Cambria Math" panose="02040503050406030204" pitchFamily="18" charset="0"/>
                                      <a:ea typeface="Cambria" panose="02040503050406030204" pitchFamily="18" charset="0"/>
                                    </a:rPr>
                                    <m:t>𝑚</m:t>
                                  </m:r>
                                </m:sub>
                              </m:sSub>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Math" panose="02040503050406030204" pitchFamily="18" charset="0"/>
                                    </a:rPr>
                                    <m:t>𝜔</m:t>
                                  </m:r>
                                </m:e>
                                <m:sub>
                                  <m:r>
                                    <a:rPr lang="en-US" sz="2400" i="1">
                                      <a:latin typeface="Cambria Math" panose="02040503050406030204" pitchFamily="18" charset="0"/>
                                      <a:ea typeface="Cambria" panose="02040503050406030204" pitchFamily="18" charset="0"/>
                                    </a:rPr>
                                    <m:t>𝑐</m:t>
                                  </m:r>
                                </m:sub>
                              </m:sSub>
                            </m:e>
                          </m:d>
                        </m:e>
                      </m:func>
                      <m:r>
                        <a:rPr lang="en-US" sz="2400" i="1">
                          <a:latin typeface="Cambria Math" panose="02040503050406030204" pitchFamily="18" charset="0"/>
                          <a:ea typeface="Cambria Math" panose="02040503050406030204" pitchFamily="18" charset="0"/>
                        </a:rPr>
                        <m:t>𝑡</m:t>
                      </m:r>
                      <m:r>
                        <a:rPr lang="en-US" sz="240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𝑚</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𝑐</m:t>
                              </m:r>
                            </m:sub>
                          </m:sSub>
                        </m:num>
                        <m:den>
                          <m:r>
                            <a:rPr lang="en-US" sz="2400" i="1">
                              <a:latin typeface="Cambria Math" panose="02040503050406030204" pitchFamily="18" charset="0"/>
                              <a:ea typeface="Cambria" panose="02040503050406030204" pitchFamily="18" charset="0"/>
                            </a:rPr>
                            <m:t>2</m:t>
                          </m:r>
                        </m:den>
                      </m:f>
                      <m:r>
                        <m:rPr>
                          <m:sty m:val="p"/>
                        </m:rPr>
                        <a:rPr lang="en-US" sz="2400">
                          <a:latin typeface="Cambria Math" panose="02040503050406030204" pitchFamily="18" charset="0"/>
                          <a:ea typeface="Cambria" panose="02040503050406030204" pitchFamily="18" charset="0"/>
                        </a:rPr>
                        <m:t>cos</m:t>
                      </m:r>
                      <m:r>
                        <a:rPr lang="en-US" sz="2400" i="1">
                          <a:latin typeface="Cambria Math" panose="02040503050406030204" pitchFamily="18" charset="0"/>
                          <a:ea typeface="Cambria" panose="02040503050406030204" pitchFamily="18" charset="0"/>
                        </a:rPr>
                        <m:t>⁡(</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Math" panose="02040503050406030204" pitchFamily="18" charset="0"/>
                            </a:rPr>
                            <m:t>𝜔</m:t>
                          </m:r>
                        </m:e>
                        <m:sub>
                          <m:r>
                            <a:rPr lang="en-US" sz="2400" i="1">
                              <a:latin typeface="Cambria Math" panose="02040503050406030204" pitchFamily="18" charset="0"/>
                              <a:ea typeface="Cambria" panose="02040503050406030204" pitchFamily="18" charset="0"/>
                            </a:rPr>
                            <m:t>𝑚</m:t>
                          </m:r>
                        </m:sub>
                      </m:sSub>
                      <m:r>
                        <a:rPr lang="en-US" sz="2400" i="1">
                          <a:latin typeface="Cambria Math" panose="02040503050406030204" pitchFamily="18" charset="0"/>
                          <a:ea typeface="Cambria" panose="02040503050406030204" pitchFamily="18" charset="0"/>
                        </a:rPr>
                        <m:t>+</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Math" panose="02040503050406030204" pitchFamily="18" charset="0"/>
                            </a:rPr>
                            <m:t>𝜔</m:t>
                          </m:r>
                        </m:e>
                        <m:sub>
                          <m:r>
                            <a:rPr lang="en-US" sz="2400" i="1">
                              <a:latin typeface="Cambria Math" panose="02040503050406030204" pitchFamily="18" charset="0"/>
                              <a:ea typeface="Cambria" panose="02040503050406030204" pitchFamily="18" charset="0"/>
                            </a:rPr>
                            <m:t>𝑐</m:t>
                          </m:r>
                        </m:sub>
                      </m:sSub>
                      <m:r>
                        <a:rPr lang="en-US" sz="2400" i="1">
                          <a:latin typeface="Cambria Math" panose="02040503050406030204" pitchFamily="18" charset="0"/>
                          <a:ea typeface="Cambria" panose="02040503050406030204" pitchFamily="18" charset="0"/>
                        </a:rPr>
                        <m:t>)</m:t>
                      </m:r>
                      <m:r>
                        <a:rPr lang="en-US" sz="2400" i="1">
                          <a:latin typeface="Cambria Math" panose="02040503050406030204" pitchFamily="18" charset="0"/>
                          <a:ea typeface="Cambria Math" panose="02040503050406030204" pitchFamily="18" charset="0"/>
                        </a:rPr>
                        <m:t>𝑡</m:t>
                      </m:r>
                    </m:oMath>
                  </m:oMathPara>
                </a14:m>
                <a:endParaRPr lang="en-US" sz="2400" dirty="0">
                  <a:latin typeface="Cambria" panose="02040503050406030204" pitchFamily="18" charset="0"/>
                  <a:ea typeface="Cambria" panose="02040503050406030204" pitchFamily="18" charset="0"/>
                </a:endParaRPr>
              </a:p>
            </p:txBody>
          </p:sp>
        </mc:Choice>
        <mc:Fallback xmlns="">
          <p:sp>
            <p:nvSpPr>
              <p:cNvPr id="7" name="TextBox 6">
                <a:extLst>
                  <a:ext uri="{FF2B5EF4-FFF2-40B4-BE49-F238E27FC236}">
                    <a16:creationId xmlns:a16="http://schemas.microsoft.com/office/drawing/2014/main" id="{2619676F-6D9B-4000-6F68-7FF43DC489FC}"/>
                  </a:ext>
                </a:extLst>
              </p:cNvPr>
              <p:cNvSpPr txBox="1">
                <a:spLocks noRot="1" noChangeAspect="1" noMove="1" noResize="1" noEditPoints="1" noAdjustHandles="1" noChangeArrowheads="1" noChangeShapeType="1" noTextEdit="1"/>
              </p:cNvSpPr>
              <p:nvPr/>
            </p:nvSpPr>
            <p:spPr>
              <a:xfrm>
                <a:off x="2049964" y="1374908"/>
                <a:ext cx="9184005" cy="3255010"/>
              </a:xfrm>
              <a:prstGeom prst="rect">
                <a:avLst/>
              </a:prstGeom>
              <a:blipFill>
                <a:blip r:embed="rId3"/>
                <a:stretch>
                  <a:fillRect b="-1556"/>
                </a:stretch>
              </a:blipFill>
            </p:spPr>
            <p:txBody>
              <a:bodyPr/>
              <a:lstStyle/>
              <a:p>
                <a:r>
                  <a:rPr lang="en-US">
                    <a:noFill/>
                  </a:rPr>
                  <a:t> </a:t>
                </a:r>
              </a:p>
            </p:txBody>
          </p:sp>
        </mc:Fallback>
      </mc:AlternateContent>
      <p:sp>
        <p:nvSpPr>
          <p:cNvPr id="8" name="Left Brace 7">
            <a:extLst>
              <a:ext uri="{FF2B5EF4-FFF2-40B4-BE49-F238E27FC236}">
                <a16:creationId xmlns:a16="http://schemas.microsoft.com/office/drawing/2014/main" xmlns="" id="{3F612386-7844-9A28-09B9-A273BD60A687}"/>
              </a:ext>
            </a:extLst>
          </p:cNvPr>
          <p:cNvSpPr/>
          <p:nvPr/>
        </p:nvSpPr>
        <p:spPr>
          <a:xfrm rot="16200000">
            <a:off x="3461567" y="4102397"/>
            <a:ext cx="227466" cy="1447800"/>
          </a:xfrm>
          <a:prstGeom prst="leftBrace">
            <a:avLst>
              <a:gd name="adj1" fmla="val 37199"/>
              <a:gd name="adj2" fmla="val 50000"/>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Left Brace 8">
            <a:extLst>
              <a:ext uri="{FF2B5EF4-FFF2-40B4-BE49-F238E27FC236}">
                <a16:creationId xmlns:a16="http://schemas.microsoft.com/office/drawing/2014/main" xmlns="" id="{064D3AE5-7FF6-B230-212C-37203C2D1BB7}"/>
              </a:ext>
            </a:extLst>
          </p:cNvPr>
          <p:cNvSpPr/>
          <p:nvPr/>
        </p:nvSpPr>
        <p:spPr>
          <a:xfrm rot="16200000">
            <a:off x="5783070" y="3533495"/>
            <a:ext cx="308861" cy="2667000"/>
          </a:xfrm>
          <a:prstGeom prst="leftBrace">
            <a:avLst>
              <a:gd name="adj1" fmla="val 37199"/>
              <a:gd name="adj2" fmla="val 50000"/>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Left Brace 10">
            <a:extLst>
              <a:ext uri="{FF2B5EF4-FFF2-40B4-BE49-F238E27FC236}">
                <a16:creationId xmlns:a16="http://schemas.microsoft.com/office/drawing/2014/main" xmlns="" id="{25119DB1-924E-FFAA-8461-0151591BF9BE}"/>
              </a:ext>
            </a:extLst>
          </p:cNvPr>
          <p:cNvSpPr/>
          <p:nvPr/>
        </p:nvSpPr>
        <p:spPr>
          <a:xfrm rot="16200000">
            <a:off x="8717948" y="3533495"/>
            <a:ext cx="308861" cy="2667000"/>
          </a:xfrm>
          <a:prstGeom prst="leftBrace">
            <a:avLst>
              <a:gd name="adj1" fmla="val 37199"/>
              <a:gd name="adj2" fmla="val 50000"/>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a:extLst>
              <a:ext uri="{FF2B5EF4-FFF2-40B4-BE49-F238E27FC236}">
                <a16:creationId xmlns:a16="http://schemas.microsoft.com/office/drawing/2014/main" xmlns="" id="{A7FA57E6-9C65-50E8-1C06-DC867DE49303}"/>
              </a:ext>
            </a:extLst>
          </p:cNvPr>
          <p:cNvSpPr txBox="1"/>
          <p:nvPr/>
        </p:nvSpPr>
        <p:spPr>
          <a:xfrm>
            <a:off x="3013286" y="4990771"/>
            <a:ext cx="1243867" cy="461665"/>
          </a:xfrm>
          <a:prstGeom prst="rect">
            <a:avLst/>
          </a:prstGeom>
          <a:noFill/>
        </p:spPr>
        <p:txBody>
          <a:bodyPr wrap="none" rtlCol="0">
            <a:spAutoFit/>
          </a:bodyPr>
          <a:lstStyle/>
          <a:p>
            <a:r>
              <a:rPr lang="en-US" sz="2400" dirty="0">
                <a:ea typeface="Cambria" panose="02040503050406030204" pitchFamily="18" charset="0"/>
              </a:rPr>
              <a:t>Carrier</a:t>
            </a:r>
          </a:p>
        </p:txBody>
      </p:sp>
      <p:sp>
        <p:nvSpPr>
          <p:cNvPr id="15" name="TextBox 14">
            <a:extLst>
              <a:ext uri="{FF2B5EF4-FFF2-40B4-BE49-F238E27FC236}">
                <a16:creationId xmlns:a16="http://schemas.microsoft.com/office/drawing/2014/main" xmlns="" id="{1BA29853-2038-CBDC-50C3-92707996B4B6}"/>
              </a:ext>
            </a:extLst>
          </p:cNvPr>
          <p:cNvSpPr txBox="1"/>
          <p:nvPr/>
        </p:nvSpPr>
        <p:spPr>
          <a:xfrm>
            <a:off x="4720509" y="4990770"/>
            <a:ext cx="2529154" cy="461665"/>
          </a:xfrm>
          <a:prstGeom prst="rect">
            <a:avLst/>
          </a:prstGeom>
          <a:noFill/>
        </p:spPr>
        <p:txBody>
          <a:bodyPr wrap="none" rtlCol="0">
            <a:spAutoFit/>
          </a:bodyPr>
          <a:lstStyle/>
          <a:p>
            <a:r>
              <a:rPr lang="en-US" sz="2400" dirty="0">
                <a:ea typeface="Cambria" panose="02040503050406030204" pitchFamily="18" charset="0"/>
              </a:rPr>
              <a:t>Lower Side Band</a:t>
            </a:r>
          </a:p>
        </p:txBody>
      </p:sp>
      <p:sp>
        <p:nvSpPr>
          <p:cNvPr id="16" name="TextBox 15">
            <a:extLst>
              <a:ext uri="{FF2B5EF4-FFF2-40B4-BE49-F238E27FC236}">
                <a16:creationId xmlns:a16="http://schemas.microsoft.com/office/drawing/2014/main" xmlns="" id="{128C41DE-F2D9-D457-F3DA-D1ECD740AA9F}"/>
              </a:ext>
            </a:extLst>
          </p:cNvPr>
          <p:cNvSpPr txBox="1"/>
          <p:nvPr/>
        </p:nvSpPr>
        <p:spPr>
          <a:xfrm>
            <a:off x="7682789" y="5021427"/>
            <a:ext cx="2569934" cy="461665"/>
          </a:xfrm>
          <a:prstGeom prst="rect">
            <a:avLst/>
          </a:prstGeom>
          <a:noFill/>
        </p:spPr>
        <p:txBody>
          <a:bodyPr wrap="none" rtlCol="0">
            <a:spAutoFit/>
          </a:bodyPr>
          <a:lstStyle/>
          <a:p>
            <a:r>
              <a:rPr lang="en-US" sz="2400" dirty="0">
                <a:ea typeface="Cambria" panose="02040503050406030204" pitchFamily="18" charset="0"/>
              </a:rPr>
              <a:t>Upper Side Band</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xmlns="" id="{29F6AA6E-341E-BCFF-9960-290124B330E4}"/>
                  </a:ext>
                </a:extLst>
              </p:cNvPr>
              <p:cNvSpPr txBox="1"/>
              <p:nvPr/>
            </p:nvSpPr>
            <p:spPr>
              <a:xfrm>
                <a:off x="832100" y="5633326"/>
                <a:ext cx="8040278" cy="461665"/>
              </a:xfrm>
              <a:prstGeom prst="rect">
                <a:avLst/>
              </a:prstGeom>
              <a:noFill/>
            </p:spPr>
            <p:txBody>
              <a:bodyPr wrap="square" rtlCol="0">
                <a:spAutoFit/>
              </a:bodyPr>
              <a:lstStyle/>
              <a:p>
                <a:r>
                  <a:rPr lang="en-US" sz="2400" dirty="0">
                    <a:ea typeface="Cambria" panose="02040503050406030204" pitchFamily="18" charset="0"/>
                  </a:rPr>
                  <a:t>Here, m is the modulation index [</a:t>
                </a:r>
                <a14:m>
                  <m:oMath xmlns:m="http://schemas.openxmlformats.org/officeDocument/2006/math">
                    <m:r>
                      <m:rPr>
                        <m:sty m:val="p"/>
                      </m:rPr>
                      <a:rPr lang="en-US" sz="2400">
                        <a:latin typeface="Cambria Math" panose="02040503050406030204" pitchFamily="18" charset="0"/>
                        <a:ea typeface="Cambria Math" panose="02040503050406030204" pitchFamily="18" charset="0"/>
                      </a:rPr>
                      <m:t>m</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1</m:t>
                    </m:r>
                  </m:oMath>
                </a14:m>
                <a:r>
                  <a:rPr lang="en-US" sz="2400" dirty="0">
                    <a:ea typeface="Cambria" panose="02040503050406030204" pitchFamily="18" charset="0"/>
                  </a:rPr>
                  <a:t>].</a:t>
                </a:r>
              </a:p>
            </p:txBody>
          </p:sp>
        </mc:Choice>
        <mc:Fallback xmlns="">
          <p:sp>
            <p:nvSpPr>
              <p:cNvPr id="17" name="TextBox 16">
                <a:extLst>
                  <a:ext uri="{FF2B5EF4-FFF2-40B4-BE49-F238E27FC236}">
                    <a16:creationId xmlns:a16="http://schemas.microsoft.com/office/drawing/2014/main" id="{29F6AA6E-341E-BCFF-9960-290124B330E4}"/>
                  </a:ext>
                </a:extLst>
              </p:cNvPr>
              <p:cNvSpPr txBox="1">
                <a:spLocks noRot="1" noChangeAspect="1" noMove="1" noResize="1" noEditPoints="1" noAdjustHandles="1" noChangeArrowheads="1" noChangeShapeType="1" noTextEdit="1"/>
              </p:cNvSpPr>
              <p:nvPr/>
            </p:nvSpPr>
            <p:spPr>
              <a:xfrm>
                <a:off x="832100" y="5633326"/>
                <a:ext cx="8040278" cy="461665"/>
              </a:xfrm>
              <a:prstGeom prst="rect">
                <a:avLst/>
              </a:prstGeom>
              <a:blipFill>
                <a:blip r:embed="rId4"/>
                <a:stretch>
                  <a:fillRect l="-1104" t="-10526" b="-26316"/>
                </a:stretch>
              </a:blipFill>
            </p:spPr>
            <p:txBody>
              <a:bodyPr/>
              <a:lstStyle/>
              <a:p>
                <a:r>
                  <a:rPr lang="en-US">
                    <a:noFill/>
                  </a:rPr>
                  <a:t> </a:t>
                </a:r>
              </a:p>
            </p:txBody>
          </p:sp>
        </mc:Fallback>
      </mc:AlternateContent>
      <p:sp>
        <p:nvSpPr>
          <p:cNvPr id="20" name="Content Placeholder 2">
            <a:extLst>
              <a:ext uri="{FF2B5EF4-FFF2-40B4-BE49-F238E27FC236}">
                <a16:creationId xmlns:a16="http://schemas.microsoft.com/office/drawing/2014/main" xmlns="" id="{3E4BD8CD-6B88-6B8A-16AB-927CDBFA473C}"/>
              </a:ext>
            </a:extLst>
          </p:cNvPr>
          <p:cNvSpPr>
            <a:spLocks noGrp="1" noChangeAspect="1"/>
          </p:cNvSpPr>
          <p:nvPr>
            <p:ph idx="1"/>
          </p:nvPr>
        </p:nvSpPr>
        <p:spPr>
          <a:xfrm>
            <a:off x="874954" y="920814"/>
            <a:ext cx="10431314" cy="476250"/>
          </a:xfrm>
        </p:spPr>
        <p:txBody>
          <a:bodyPr/>
          <a:lstStyle/>
          <a:p>
            <a:pPr>
              <a:buFont typeface="Wingdings" pitchFamily="2" charset="2"/>
              <a:buChar char="q"/>
            </a:pPr>
            <a:r>
              <a:rPr lang="en-US" altLang="en-US" sz="2400" b="1" dirty="0"/>
              <a:t>Frequency Spectrum</a:t>
            </a:r>
            <a:endParaRPr lang="en-US" altLang="en-US" sz="2400" dirty="0"/>
          </a:p>
        </p:txBody>
      </p:sp>
    </p:spTree>
    <p:extLst>
      <p:ext uri="{BB962C8B-B14F-4D97-AF65-F5344CB8AC3E}">
        <p14:creationId xmlns:p14="http://schemas.microsoft.com/office/powerpoint/2010/main" val="142876793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864F031-EFAC-0FC8-592D-BB2D592007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DA61A4FC-CDDB-E6E0-8DD7-FA247B6857D2}"/>
              </a:ext>
            </a:extLst>
          </p:cNvPr>
          <p:cNvSpPr>
            <a:spLocks noGrp="1"/>
          </p:cNvSpPr>
          <p:nvPr>
            <p:ph type="title"/>
          </p:nvPr>
        </p:nvSpPr>
        <p:spPr>
          <a:xfrm>
            <a:off x="1936750" y="190500"/>
            <a:ext cx="9645650" cy="582930"/>
          </a:xfrm>
        </p:spPr>
        <p:txBody>
          <a:bodyPr/>
          <a:lstStyle/>
          <a:p>
            <a:r>
              <a:rPr lang="en-US" altLang="en-US" b="1" dirty="0">
                <a:sym typeface="+mn-ea"/>
              </a:rPr>
              <a:t>Amplitude Modulation</a:t>
            </a:r>
            <a:endParaRPr lang="en-US" altLang="en-US" b="1" dirty="0"/>
          </a:p>
        </p:txBody>
      </p:sp>
      <p:sp>
        <p:nvSpPr>
          <p:cNvPr id="4" name="Slide Number Placeholder 3">
            <a:extLst>
              <a:ext uri="{FF2B5EF4-FFF2-40B4-BE49-F238E27FC236}">
                <a16:creationId xmlns:a16="http://schemas.microsoft.com/office/drawing/2014/main" xmlns="" id="{27222A7D-1C89-0D0F-AD3F-E735036A1F4A}"/>
              </a:ext>
            </a:extLst>
          </p:cNvPr>
          <p:cNvSpPr>
            <a:spLocks noGrp="1"/>
          </p:cNvSpPr>
          <p:nvPr>
            <p:ph type="sldNum" sz="quarter" idx="12"/>
          </p:nvPr>
        </p:nvSpPr>
        <p:spPr/>
        <p:txBody>
          <a:bodyPr/>
          <a:lstStyle/>
          <a:p>
            <a:fld id="{50D97DBC-71BD-4B00-8F4D-DDC0A0D17A0C}" type="slidenum">
              <a:rPr lang="en-US" smtClean="0"/>
              <a:t>9</a:t>
            </a:fld>
            <a:endParaRPr lang="en-US"/>
          </a:p>
        </p:txBody>
      </p:sp>
      <p:sp>
        <p:nvSpPr>
          <p:cNvPr id="5" name="Date Placeholder 4">
            <a:extLst>
              <a:ext uri="{FF2B5EF4-FFF2-40B4-BE49-F238E27FC236}">
                <a16:creationId xmlns:a16="http://schemas.microsoft.com/office/drawing/2014/main" xmlns="" id="{311AF94E-0D04-9F11-C22E-2F96252F8543}"/>
              </a:ext>
            </a:extLst>
          </p:cNvPr>
          <p:cNvSpPr>
            <a:spLocks noGrp="1"/>
          </p:cNvSpPr>
          <p:nvPr>
            <p:ph type="dt" sz="half" idx="10"/>
          </p:nvPr>
        </p:nvSpPr>
        <p:spPr/>
        <p:txBody>
          <a:bodyPr/>
          <a:lstStyle/>
          <a:p>
            <a:fld id="{F0B4034D-A911-A642-B8E1-BA081BB67D6F}" type="datetime1">
              <a:rPr lang="en-AU" smtClean="0"/>
              <a:t>16/02/2026</a:t>
            </a:fld>
            <a:endParaRPr lang="en-US" dirty="0"/>
          </a:p>
        </p:txBody>
      </p:sp>
      <p:sp>
        <p:nvSpPr>
          <p:cNvPr id="6" name="Footer Placeholder 5">
            <a:extLst>
              <a:ext uri="{FF2B5EF4-FFF2-40B4-BE49-F238E27FC236}">
                <a16:creationId xmlns:a16="http://schemas.microsoft.com/office/drawing/2014/main" xmlns="" id="{2313B44B-343A-E1D2-A82D-C6F2063B91E3}"/>
              </a:ext>
            </a:extLst>
          </p:cNvPr>
          <p:cNvSpPr>
            <a:spLocks noGrp="1"/>
          </p:cNvSpPr>
          <p:nvPr>
            <p:ph type="ftr" sz="quarter" idx="11"/>
          </p:nvPr>
        </p:nvSpPr>
        <p:spPr/>
        <p:txBody>
          <a:bodyPr/>
          <a:lstStyle/>
          <a:p>
            <a:r>
              <a:rPr lang="en-US"/>
              <a:t>@Foez Ahmed, CSE, VU</a:t>
            </a:r>
          </a:p>
        </p:txBody>
      </p:sp>
      <p:sp>
        <p:nvSpPr>
          <p:cNvPr id="3" name="Content Placeholder 2">
            <a:extLst>
              <a:ext uri="{FF2B5EF4-FFF2-40B4-BE49-F238E27FC236}">
                <a16:creationId xmlns:a16="http://schemas.microsoft.com/office/drawing/2014/main" xmlns="" id="{865A2105-3BC8-74E8-80B6-4D0FDEB3567A}"/>
              </a:ext>
            </a:extLst>
          </p:cNvPr>
          <p:cNvSpPr>
            <a:spLocks noGrp="1" noChangeAspect="1"/>
          </p:cNvSpPr>
          <p:nvPr>
            <p:ph idx="1"/>
          </p:nvPr>
        </p:nvSpPr>
        <p:spPr>
          <a:xfrm>
            <a:off x="874954" y="1185507"/>
            <a:ext cx="10431314" cy="476250"/>
          </a:xfrm>
        </p:spPr>
        <p:txBody>
          <a:bodyPr/>
          <a:lstStyle/>
          <a:p>
            <a:pPr>
              <a:buFont typeface="Wingdings" pitchFamily="2" charset="2"/>
              <a:buChar char="q"/>
            </a:pPr>
            <a:r>
              <a:rPr lang="en-US" altLang="en-US" sz="2400" b="1" dirty="0"/>
              <a:t>Frequency Spectrum</a:t>
            </a:r>
            <a:endParaRPr lang="en-US" altLang="en-US" sz="2400" dirty="0"/>
          </a:p>
        </p:txBody>
      </p:sp>
      <p:pic>
        <p:nvPicPr>
          <p:cNvPr id="10" name="Picture 9">
            <a:extLst>
              <a:ext uri="{FF2B5EF4-FFF2-40B4-BE49-F238E27FC236}">
                <a16:creationId xmlns:a16="http://schemas.microsoft.com/office/drawing/2014/main" xmlns="" id="{70945442-8825-0690-8CE4-A0338D65BE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5397" y="1788529"/>
            <a:ext cx="5536762" cy="4242454"/>
          </a:xfrm>
          <a:prstGeom prst="rect">
            <a:avLst/>
          </a:prstGeom>
          <a:ln w="19050">
            <a:solidFill>
              <a:srgbClr val="FF0000"/>
            </a:solidFill>
          </a:ln>
        </p:spPr>
      </p:pic>
      <p:sp>
        <p:nvSpPr>
          <p:cNvPr id="12" name="TextBox 11">
            <a:extLst>
              <a:ext uri="{FF2B5EF4-FFF2-40B4-BE49-F238E27FC236}">
                <a16:creationId xmlns:a16="http://schemas.microsoft.com/office/drawing/2014/main" xmlns="" id="{55C48F12-236C-CEAC-BF60-9BFA7B6F4743}"/>
              </a:ext>
            </a:extLst>
          </p:cNvPr>
          <p:cNvSpPr txBox="1"/>
          <p:nvPr/>
        </p:nvSpPr>
        <p:spPr>
          <a:xfrm>
            <a:off x="6759575" y="2045276"/>
            <a:ext cx="5104765" cy="3816429"/>
          </a:xfrm>
          <a:prstGeom prst="rect">
            <a:avLst/>
          </a:prstGeom>
          <a:noFill/>
        </p:spPr>
        <p:txBody>
          <a:bodyPr wrap="square" rtlCol="0">
            <a:spAutoFit/>
          </a:bodyPr>
          <a:lstStyle/>
          <a:p>
            <a:r>
              <a:rPr lang="en-US" sz="2200" dirty="0"/>
              <a:t>Modulation index,  m= </a:t>
            </a:r>
            <a:r>
              <a:rPr lang="en-US" sz="2200" dirty="0" err="1"/>
              <a:t>Vm</a:t>
            </a:r>
            <a:r>
              <a:rPr lang="en-US" sz="2200" dirty="0"/>
              <a:t>/</a:t>
            </a:r>
            <a:r>
              <a:rPr lang="en-US" sz="2200" dirty="0" err="1"/>
              <a:t>Vc</a:t>
            </a:r>
            <a:endParaRPr lang="en-US" sz="2200" dirty="0"/>
          </a:p>
          <a:p>
            <a:endParaRPr lang="en-US" sz="2200" dirty="0"/>
          </a:p>
          <a:p>
            <a:r>
              <a:rPr lang="en-US" sz="2200" dirty="0"/>
              <a:t>The modulation index is a measure of the extent of modulation.</a:t>
            </a:r>
          </a:p>
          <a:p>
            <a:endParaRPr lang="en-US" sz="2200" dirty="0"/>
          </a:p>
          <a:p>
            <a:r>
              <a:rPr lang="en-US" sz="2200" dirty="0"/>
              <a:t>When</a:t>
            </a:r>
          </a:p>
          <a:p>
            <a:pPr marL="285750" indent="-285750">
              <a:buFont typeface="Arial" panose="020B0604020202020204" pitchFamily="34" charset="0"/>
              <a:buChar char="•"/>
            </a:pPr>
            <a:r>
              <a:rPr lang="en-US" sz="2200" dirty="0"/>
              <a:t>m&lt;1, Under-modulation (low signal strength)</a:t>
            </a:r>
          </a:p>
          <a:p>
            <a:pPr marL="285750" indent="-285750">
              <a:buFont typeface="Arial" panose="020B0604020202020204" pitchFamily="34" charset="0"/>
              <a:buChar char="•"/>
            </a:pPr>
            <a:r>
              <a:rPr lang="en-US" sz="2200" dirty="0"/>
              <a:t>m=1, Perfect modulation (ideal case)</a:t>
            </a:r>
          </a:p>
          <a:p>
            <a:pPr marL="285750" indent="-285750">
              <a:buFont typeface="Arial" panose="020B0604020202020204" pitchFamily="34" charset="0"/>
              <a:buChar char="•"/>
            </a:pPr>
            <a:r>
              <a:rPr lang="en-US" sz="2200" dirty="0"/>
              <a:t>m&gt;1, Over-modulation (causes distortion and loss of information)</a:t>
            </a:r>
          </a:p>
        </p:txBody>
      </p:sp>
    </p:spTree>
    <p:extLst>
      <p:ext uri="{BB962C8B-B14F-4D97-AF65-F5344CB8AC3E}">
        <p14:creationId xmlns:p14="http://schemas.microsoft.com/office/powerpoint/2010/main" val="237473941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3D34296-4714-1D88-E5A3-F46F487CC2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18A566A2-A660-1282-0B42-C6FC73277E37}"/>
              </a:ext>
            </a:extLst>
          </p:cNvPr>
          <p:cNvSpPr>
            <a:spLocks noGrp="1"/>
          </p:cNvSpPr>
          <p:nvPr>
            <p:ph type="title"/>
          </p:nvPr>
        </p:nvSpPr>
        <p:spPr>
          <a:xfrm>
            <a:off x="1936750" y="190500"/>
            <a:ext cx="9645650" cy="582930"/>
          </a:xfrm>
        </p:spPr>
        <p:txBody>
          <a:bodyPr/>
          <a:lstStyle/>
          <a:p>
            <a:r>
              <a:rPr lang="en-US" altLang="en-US" b="1" dirty="0">
                <a:sym typeface="+mn-ea"/>
              </a:rPr>
              <a:t>Amplitude Modulation</a:t>
            </a:r>
            <a:endParaRPr lang="en-US" altLang="en-US" b="1" dirty="0"/>
          </a:p>
        </p:txBody>
      </p:sp>
      <p:sp>
        <p:nvSpPr>
          <p:cNvPr id="4" name="Slide Number Placeholder 3">
            <a:extLst>
              <a:ext uri="{FF2B5EF4-FFF2-40B4-BE49-F238E27FC236}">
                <a16:creationId xmlns:a16="http://schemas.microsoft.com/office/drawing/2014/main" xmlns="" id="{79B6502F-9E1C-2602-48A1-D947ECD46163}"/>
              </a:ext>
            </a:extLst>
          </p:cNvPr>
          <p:cNvSpPr>
            <a:spLocks noGrp="1"/>
          </p:cNvSpPr>
          <p:nvPr>
            <p:ph type="sldNum" sz="quarter" idx="12"/>
          </p:nvPr>
        </p:nvSpPr>
        <p:spPr/>
        <p:txBody>
          <a:bodyPr/>
          <a:lstStyle/>
          <a:p>
            <a:fld id="{50D97DBC-71BD-4B00-8F4D-DDC0A0D17A0C}" type="slidenum">
              <a:rPr lang="en-US" smtClean="0"/>
              <a:t>10</a:t>
            </a:fld>
            <a:endParaRPr lang="en-US"/>
          </a:p>
        </p:txBody>
      </p:sp>
      <p:sp>
        <p:nvSpPr>
          <p:cNvPr id="5" name="Date Placeholder 4">
            <a:extLst>
              <a:ext uri="{FF2B5EF4-FFF2-40B4-BE49-F238E27FC236}">
                <a16:creationId xmlns:a16="http://schemas.microsoft.com/office/drawing/2014/main" xmlns="" id="{9C2C8E95-7BF5-11FA-25E9-F9DC1ECC1E55}"/>
              </a:ext>
            </a:extLst>
          </p:cNvPr>
          <p:cNvSpPr>
            <a:spLocks noGrp="1"/>
          </p:cNvSpPr>
          <p:nvPr>
            <p:ph type="dt" sz="half" idx="10"/>
          </p:nvPr>
        </p:nvSpPr>
        <p:spPr/>
        <p:txBody>
          <a:bodyPr/>
          <a:lstStyle/>
          <a:p>
            <a:fld id="{F0B4034D-A911-A642-B8E1-BA081BB67D6F}" type="datetime1">
              <a:rPr lang="en-AU" smtClean="0"/>
              <a:t>16/02/2026</a:t>
            </a:fld>
            <a:endParaRPr lang="en-US" dirty="0"/>
          </a:p>
        </p:txBody>
      </p:sp>
      <p:sp>
        <p:nvSpPr>
          <p:cNvPr id="6" name="Footer Placeholder 5">
            <a:extLst>
              <a:ext uri="{FF2B5EF4-FFF2-40B4-BE49-F238E27FC236}">
                <a16:creationId xmlns:a16="http://schemas.microsoft.com/office/drawing/2014/main" xmlns="" id="{1B9BFEBF-88CD-BCD9-FE26-E46F8AAB28EF}"/>
              </a:ext>
            </a:extLst>
          </p:cNvPr>
          <p:cNvSpPr>
            <a:spLocks noGrp="1"/>
          </p:cNvSpPr>
          <p:nvPr>
            <p:ph type="ftr" sz="quarter" idx="11"/>
          </p:nvPr>
        </p:nvSpPr>
        <p:spPr/>
        <p:txBody>
          <a:bodyPr/>
          <a:lstStyle/>
          <a:p>
            <a:r>
              <a:rPr lang="en-US"/>
              <a:t>@Foez Ahmed, CSE, VU</a:t>
            </a:r>
          </a:p>
        </p:txBody>
      </p:sp>
      <p:sp>
        <p:nvSpPr>
          <p:cNvPr id="3" name="Content Placeholder 2">
            <a:extLst>
              <a:ext uri="{FF2B5EF4-FFF2-40B4-BE49-F238E27FC236}">
                <a16:creationId xmlns:a16="http://schemas.microsoft.com/office/drawing/2014/main" xmlns="" id="{A25F6123-C67C-456C-B290-A5EA4108CEFE}"/>
              </a:ext>
            </a:extLst>
          </p:cNvPr>
          <p:cNvSpPr>
            <a:spLocks noGrp="1" noChangeAspect="1"/>
          </p:cNvSpPr>
          <p:nvPr>
            <p:ph idx="1"/>
          </p:nvPr>
        </p:nvSpPr>
        <p:spPr>
          <a:xfrm>
            <a:off x="874954" y="1185507"/>
            <a:ext cx="10431314" cy="476250"/>
          </a:xfrm>
        </p:spPr>
        <p:txBody>
          <a:bodyPr/>
          <a:lstStyle/>
          <a:p>
            <a:pPr>
              <a:buFont typeface="Wingdings" pitchFamily="2" charset="2"/>
              <a:buChar char="q"/>
            </a:pPr>
            <a:r>
              <a:rPr lang="en-US" altLang="en-US" sz="2400" b="1" dirty="0"/>
              <a:t>Modulation Index:</a:t>
            </a:r>
            <a:endParaRPr lang="en-US" altLang="en-US" sz="2400" dirty="0"/>
          </a:p>
        </p:txBody>
      </p:sp>
      <p:sp>
        <p:nvSpPr>
          <p:cNvPr id="12" name="TextBox 11">
            <a:extLst>
              <a:ext uri="{FF2B5EF4-FFF2-40B4-BE49-F238E27FC236}">
                <a16:creationId xmlns:a16="http://schemas.microsoft.com/office/drawing/2014/main" xmlns="" id="{4211D2BD-1F76-7428-3171-A635B36B018F}"/>
              </a:ext>
            </a:extLst>
          </p:cNvPr>
          <p:cNvSpPr txBox="1"/>
          <p:nvPr/>
        </p:nvSpPr>
        <p:spPr>
          <a:xfrm>
            <a:off x="2106120" y="2028616"/>
            <a:ext cx="9476280" cy="3477875"/>
          </a:xfrm>
          <a:prstGeom prst="rect">
            <a:avLst/>
          </a:prstGeom>
          <a:noFill/>
        </p:spPr>
        <p:txBody>
          <a:bodyPr wrap="square" rtlCol="0">
            <a:spAutoFit/>
          </a:bodyPr>
          <a:lstStyle/>
          <a:p>
            <a:r>
              <a:rPr lang="en-US" sz="2200" dirty="0"/>
              <a:t>Modulation index,  m= </a:t>
            </a:r>
            <a:r>
              <a:rPr lang="en-US" sz="2200" dirty="0" err="1"/>
              <a:t>Vm</a:t>
            </a:r>
            <a:r>
              <a:rPr lang="en-US" sz="2200" dirty="0"/>
              <a:t>/</a:t>
            </a:r>
            <a:r>
              <a:rPr lang="en-US" sz="2200" dirty="0" err="1"/>
              <a:t>Vc</a:t>
            </a:r>
            <a:endParaRPr lang="en-US" sz="2200" dirty="0"/>
          </a:p>
          <a:p>
            <a:endParaRPr lang="en-US" sz="2200" dirty="0"/>
          </a:p>
          <a:p>
            <a:r>
              <a:rPr lang="en-US" sz="2200" dirty="0"/>
              <a:t>The modulation index is a measure of the extent of modulation.</a:t>
            </a:r>
          </a:p>
          <a:p>
            <a:endParaRPr lang="en-US" sz="2200" dirty="0"/>
          </a:p>
          <a:p>
            <a:r>
              <a:rPr lang="en-US" sz="2200" dirty="0"/>
              <a:t>When</a:t>
            </a:r>
          </a:p>
          <a:p>
            <a:pPr marL="285750" indent="-285750">
              <a:buFont typeface="Arial" panose="020B0604020202020204" pitchFamily="34" charset="0"/>
              <a:buChar char="•"/>
            </a:pPr>
            <a:r>
              <a:rPr lang="en-US" sz="2200" dirty="0"/>
              <a:t>m&lt;1, Under-modulation (low signal strength)</a:t>
            </a:r>
          </a:p>
          <a:p>
            <a:pPr marL="285750" indent="-285750">
              <a:buFont typeface="Arial" panose="020B0604020202020204" pitchFamily="34" charset="0"/>
              <a:buChar char="•"/>
            </a:pPr>
            <a:endParaRPr lang="en-US" sz="2200" dirty="0"/>
          </a:p>
          <a:p>
            <a:pPr marL="285750" indent="-285750">
              <a:buFont typeface="Arial" panose="020B0604020202020204" pitchFamily="34" charset="0"/>
              <a:buChar char="•"/>
            </a:pPr>
            <a:r>
              <a:rPr lang="en-US" sz="2200" dirty="0"/>
              <a:t>m=1, Perfect modulation (ideal case)</a:t>
            </a:r>
          </a:p>
          <a:p>
            <a:pPr marL="285750" indent="-285750">
              <a:buFont typeface="Arial" panose="020B0604020202020204" pitchFamily="34" charset="0"/>
              <a:buChar char="•"/>
            </a:pPr>
            <a:endParaRPr lang="en-US" sz="2200" dirty="0"/>
          </a:p>
          <a:p>
            <a:pPr marL="285750" indent="-285750">
              <a:buFont typeface="Arial" panose="020B0604020202020204" pitchFamily="34" charset="0"/>
              <a:buChar char="•"/>
            </a:pPr>
            <a:r>
              <a:rPr lang="en-US" sz="2200" dirty="0"/>
              <a:t>m&gt;1, Over-modulation (causes distortion and loss of information)</a:t>
            </a:r>
          </a:p>
        </p:txBody>
      </p:sp>
    </p:spTree>
    <p:extLst>
      <p:ext uri="{BB962C8B-B14F-4D97-AF65-F5344CB8AC3E}">
        <p14:creationId xmlns:p14="http://schemas.microsoft.com/office/powerpoint/2010/main" val="421805838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40047C6-D19C-997B-743B-471683B6CA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71981D30-D47B-CFDB-5417-996DF8C4B50A}"/>
              </a:ext>
            </a:extLst>
          </p:cNvPr>
          <p:cNvSpPr>
            <a:spLocks noGrp="1"/>
          </p:cNvSpPr>
          <p:nvPr>
            <p:ph type="title"/>
          </p:nvPr>
        </p:nvSpPr>
        <p:spPr>
          <a:xfrm>
            <a:off x="1936750" y="190500"/>
            <a:ext cx="9645650" cy="582930"/>
          </a:xfrm>
        </p:spPr>
        <p:txBody>
          <a:bodyPr/>
          <a:lstStyle/>
          <a:p>
            <a:r>
              <a:rPr lang="en-US" altLang="en-US" b="1" dirty="0">
                <a:sym typeface="+mn-ea"/>
              </a:rPr>
              <a:t>Amplitude Modulation</a:t>
            </a:r>
            <a:endParaRPr lang="en-US" altLang="en-US" b="1" dirty="0"/>
          </a:p>
        </p:txBody>
      </p:sp>
      <p:sp>
        <p:nvSpPr>
          <p:cNvPr id="4" name="Slide Number Placeholder 3">
            <a:extLst>
              <a:ext uri="{FF2B5EF4-FFF2-40B4-BE49-F238E27FC236}">
                <a16:creationId xmlns:a16="http://schemas.microsoft.com/office/drawing/2014/main" xmlns="" id="{65F14DC2-D3C3-F6AC-2901-47BF2C316358}"/>
              </a:ext>
            </a:extLst>
          </p:cNvPr>
          <p:cNvSpPr>
            <a:spLocks noGrp="1"/>
          </p:cNvSpPr>
          <p:nvPr>
            <p:ph type="sldNum" sz="quarter" idx="12"/>
          </p:nvPr>
        </p:nvSpPr>
        <p:spPr/>
        <p:txBody>
          <a:bodyPr/>
          <a:lstStyle/>
          <a:p>
            <a:fld id="{50D97DBC-71BD-4B00-8F4D-DDC0A0D17A0C}" type="slidenum">
              <a:rPr lang="en-US" smtClean="0"/>
              <a:t>11</a:t>
            </a:fld>
            <a:endParaRPr lang="en-US"/>
          </a:p>
        </p:txBody>
      </p:sp>
      <p:sp>
        <p:nvSpPr>
          <p:cNvPr id="5" name="Date Placeholder 4">
            <a:extLst>
              <a:ext uri="{FF2B5EF4-FFF2-40B4-BE49-F238E27FC236}">
                <a16:creationId xmlns:a16="http://schemas.microsoft.com/office/drawing/2014/main" xmlns="" id="{10F1DE48-1CD4-52EB-84EF-67B73B327E88}"/>
              </a:ext>
            </a:extLst>
          </p:cNvPr>
          <p:cNvSpPr>
            <a:spLocks noGrp="1"/>
          </p:cNvSpPr>
          <p:nvPr>
            <p:ph type="dt" sz="half" idx="10"/>
          </p:nvPr>
        </p:nvSpPr>
        <p:spPr/>
        <p:txBody>
          <a:bodyPr/>
          <a:lstStyle/>
          <a:p>
            <a:fld id="{F0B4034D-A911-A642-B8E1-BA081BB67D6F}" type="datetime1">
              <a:rPr lang="en-AU" smtClean="0"/>
              <a:t>16/02/2026</a:t>
            </a:fld>
            <a:endParaRPr lang="en-US" dirty="0"/>
          </a:p>
        </p:txBody>
      </p:sp>
      <p:sp>
        <p:nvSpPr>
          <p:cNvPr id="6" name="Footer Placeholder 5">
            <a:extLst>
              <a:ext uri="{FF2B5EF4-FFF2-40B4-BE49-F238E27FC236}">
                <a16:creationId xmlns:a16="http://schemas.microsoft.com/office/drawing/2014/main" xmlns="" id="{702E510D-FCC1-AD3F-E62C-CE4DC9811EAC}"/>
              </a:ext>
            </a:extLst>
          </p:cNvPr>
          <p:cNvSpPr>
            <a:spLocks noGrp="1"/>
          </p:cNvSpPr>
          <p:nvPr>
            <p:ph type="ftr" sz="quarter" idx="11"/>
          </p:nvPr>
        </p:nvSpPr>
        <p:spPr/>
        <p:txBody>
          <a:bodyPr/>
          <a:lstStyle/>
          <a:p>
            <a:r>
              <a:rPr lang="en-US"/>
              <a:t>@Foez Ahmed, CSE, VU</a:t>
            </a:r>
          </a:p>
        </p:txBody>
      </p:sp>
      <p:sp>
        <p:nvSpPr>
          <p:cNvPr id="3" name="Content Placeholder 2">
            <a:extLst>
              <a:ext uri="{FF2B5EF4-FFF2-40B4-BE49-F238E27FC236}">
                <a16:creationId xmlns:a16="http://schemas.microsoft.com/office/drawing/2014/main" xmlns="" id="{4C7B7533-9DF8-1227-B188-4C9ABEA9CCAB}"/>
              </a:ext>
            </a:extLst>
          </p:cNvPr>
          <p:cNvSpPr>
            <a:spLocks noGrp="1" noChangeAspect="1"/>
          </p:cNvSpPr>
          <p:nvPr>
            <p:ph idx="1"/>
          </p:nvPr>
        </p:nvSpPr>
        <p:spPr>
          <a:xfrm>
            <a:off x="874954" y="1017066"/>
            <a:ext cx="10431314" cy="476250"/>
          </a:xfrm>
        </p:spPr>
        <p:txBody>
          <a:bodyPr/>
          <a:lstStyle/>
          <a:p>
            <a:pPr>
              <a:buFont typeface="Wingdings" pitchFamily="2" charset="2"/>
              <a:buChar char="q"/>
            </a:pPr>
            <a:r>
              <a:rPr lang="en-US" altLang="en-US" sz="2400" b="1" dirty="0"/>
              <a:t>Modulation Index:</a:t>
            </a:r>
            <a:endParaRPr lang="en-US" altLang="en-US" sz="2400" dirty="0"/>
          </a:p>
        </p:txBody>
      </p:sp>
      <p:pic>
        <p:nvPicPr>
          <p:cNvPr id="7" name="Picture 6">
            <a:extLst>
              <a:ext uri="{FF2B5EF4-FFF2-40B4-BE49-F238E27FC236}">
                <a16:creationId xmlns:a16="http://schemas.microsoft.com/office/drawing/2014/main" xmlns="" id="{BF4D6A2E-C158-C606-E539-8C44EB43CD73}"/>
              </a:ext>
            </a:extLst>
          </p:cNvPr>
          <p:cNvPicPr>
            <a:picLocks noChangeAspect="1"/>
          </p:cNvPicPr>
          <p:nvPr/>
        </p:nvPicPr>
        <p:blipFill>
          <a:blip r:embed="rId3"/>
          <a:stretch>
            <a:fillRect/>
          </a:stretch>
        </p:blipFill>
        <p:spPr>
          <a:xfrm>
            <a:off x="6283116" y="1345725"/>
            <a:ext cx="5679288" cy="4114800"/>
          </a:xfrm>
          <a:prstGeom prst="rect">
            <a:avLst/>
          </a:prstGeom>
          <a:ln w="19050">
            <a:solidFill>
              <a:srgbClr val="FF0000"/>
            </a:solidFill>
          </a:ln>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xmlns="" id="{6892CAE8-8D43-BE03-A2BF-3AA090E61E04}"/>
                  </a:ext>
                </a:extLst>
              </p:cNvPr>
              <p:cNvSpPr txBox="1"/>
              <p:nvPr/>
            </p:nvSpPr>
            <p:spPr>
              <a:xfrm>
                <a:off x="1320567" y="1562040"/>
                <a:ext cx="3860800" cy="331706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𝑚𝑎𝑥</m:t>
                          </m:r>
                        </m:sub>
                      </m:sSub>
                      <m:r>
                        <a:rPr lang="en-US" sz="2400" i="1">
                          <a:latin typeface="Cambria Math" panose="02040503050406030204" pitchFamily="18" charset="0"/>
                          <a:ea typeface="Cambria" panose="02040503050406030204" pitchFamily="18" charset="0"/>
                        </a:rPr>
                        <m:t>=</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𝑐</m:t>
                          </m:r>
                        </m:sub>
                      </m:sSub>
                      <m:r>
                        <a:rPr lang="en-US" sz="2400" i="1">
                          <a:latin typeface="Cambria Math" panose="02040503050406030204" pitchFamily="18" charset="0"/>
                          <a:ea typeface="Cambria" panose="02040503050406030204" pitchFamily="18" charset="0"/>
                        </a:rPr>
                        <m:t>+</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𝑚</m:t>
                          </m:r>
                        </m:sub>
                      </m:sSub>
                    </m:oMath>
                  </m:oMathPara>
                </a14:m>
                <a:endParaRPr lang="en-US" sz="2400" dirty="0">
                  <a:ea typeface="Cambria" panose="02040503050406030204" pitchFamily="18" charset="0"/>
                </a:endParaRPr>
              </a:p>
              <a:p>
                <a:r>
                  <a:rPr lang="en-US" sz="2400" dirty="0">
                    <a:ea typeface="Cambria" panose="02040503050406030204" pitchFamily="18" charset="0"/>
                  </a:rPr>
                  <a:t>And </a:t>
                </a:r>
              </a:p>
              <a:p>
                <a:pPr/>
                <a14:m>
                  <m:oMathPara xmlns:m="http://schemas.openxmlformats.org/officeDocument/2006/math">
                    <m:oMathParaPr>
                      <m:jc m:val="center"/>
                    </m:oMathParaPr>
                    <m:oMath xmlns:m="http://schemas.openxmlformats.org/officeDocument/2006/math">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𝑚𝑖𝑛</m:t>
                          </m:r>
                        </m:sub>
                      </m:sSub>
                      <m:r>
                        <a:rPr lang="en-US" sz="2400" i="1">
                          <a:latin typeface="Cambria Math" panose="02040503050406030204" pitchFamily="18" charset="0"/>
                          <a:ea typeface="Cambria" panose="02040503050406030204" pitchFamily="18" charset="0"/>
                        </a:rPr>
                        <m:t>=</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𝑐</m:t>
                          </m:r>
                        </m:sub>
                      </m:sSub>
                      <m:r>
                        <a:rPr lang="en-US" sz="2400" i="1">
                          <a:latin typeface="Cambria Math" panose="02040503050406030204" pitchFamily="18" charset="0"/>
                          <a:ea typeface="Cambria" panose="02040503050406030204" pitchFamily="18" charset="0"/>
                        </a:rPr>
                        <m:t>−</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𝑚</m:t>
                          </m:r>
                        </m:sub>
                      </m:sSub>
                    </m:oMath>
                  </m:oMathPara>
                </a14:m>
                <a:endParaRPr lang="en-US" sz="2400" dirty="0">
                  <a:ea typeface="Cambria" panose="02040503050406030204" pitchFamily="18" charset="0"/>
                </a:endParaRPr>
              </a:p>
              <a:p>
                <a:r>
                  <a:rPr lang="en-US" sz="2400" dirty="0">
                    <a:ea typeface="Cambria" panose="02040503050406030204" pitchFamily="18" charset="0"/>
                  </a:rPr>
                  <a:t>So,</a:t>
                </a:r>
              </a:p>
              <a:p>
                <a:pPr/>
                <a14:m>
                  <m:oMathPara xmlns:m="http://schemas.openxmlformats.org/officeDocument/2006/math">
                    <m:oMathParaPr>
                      <m:jc m:val="center"/>
                    </m:oMathParaPr>
                    <m:oMath xmlns:m="http://schemas.openxmlformats.org/officeDocument/2006/math">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𝑐</m:t>
                          </m:r>
                        </m:sub>
                      </m:sSub>
                      <m:r>
                        <a:rPr lang="en-US" sz="2400" i="1">
                          <a:latin typeface="Cambria Math" panose="02040503050406030204" pitchFamily="18" charset="0"/>
                          <a:ea typeface="Cambria" panose="02040503050406030204" pitchFamily="18" charset="0"/>
                        </a:rPr>
                        <m:t>=</m:t>
                      </m:r>
                      <m:f>
                        <m:fPr>
                          <m:ctrlPr>
                            <a:rPr lang="en-US" sz="2400" i="1">
                              <a:latin typeface="Cambria Math" panose="02040503050406030204" pitchFamily="18" charset="0"/>
                              <a:ea typeface="Cambria" panose="02040503050406030204" pitchFamily="18" charset="0"/>
                            </a:rPr>
                          </m:ctrlPr>
                        </m:fPr>
                        <m:num>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𝑚𝑎𝑥</m:t>
                              </m:r>
                            </m:sub>
                          </m:sSub>
                          <m:r>
                            <a:rPr lang="en-US" sz="2400" i="1">
                              <a:latin typeface="Cambria Math" panose="02040503050406030204" pitchFamily="18" charset="0"/>
                              <a:ea typeface="Cambria" panose="02040503050406030204" pitchFamily="18" charset="0"/>
                            </a:rPr>
                            <m:t>+</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𝑚𝑖𝑛</m:t>
                              </m:r>
                            </m:sub>
                          </m:sSub>
                        </m:num>
                        <m:den>
                          <m:r>
                            <a:rPr lang="en-US" sz="2400" i="1">
                              <a:latin typeface="Cambria Math" panose="02040503050406030204" pitchFamily="18" charset="0"/>
                              <a:ea typeface="Cambria" panose="02040503050406030204" pitchFamily="18" charset="0"/>
                            </a:rPr>
                            <m:t>2</m:t>
                          </m:r>
                        </m:den>
                      </m:f>
                    </m:oMath>
                  </m:oMathPara>
                </a14:m>
                <a:endParaRPr lang="en-US" sz="2400" dirty="0">
                  <a:ea typeface="Cambria" panose="02040503050406030204" pitchFamily="18" charset="0"/>
                </a:endParaRPr>
              </a:p>
              <a:p>
                <a:r>
                  <a:rPr lang="en-US" sz="2400" dirty="0">
                    <a:ea typeface="Cambria" panose="02040503050406030204" pitchFamily="18" charset="0"/>
                  </a:rPr>
                  <a:t>And</a:t>
                </a:r>
              </a:p>
              <a:p>
                <a:pPr/>
                <a14:m>
                  <m:oMathPara xmlns:m="http://schemas.openxmlformats.org/officeDocument/2006/math">
                    <m:oMathParaPr>
                      <m:jc m:val="center"/>
                    </m:oMathParaPr>
                    <m:oMath xmlns:m="http://schemas.openxmlformats.org/officeDocument/2006/math">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𝑚</m:t>
                          </m:r>
                        </m:sub>
                      </m:sSub>
                      <m:r>
                        <a:rPr lang="en-US" sz="2400" i="1">
                          <a:latin typeface="Cambria Math" panose="02040503050406030204" pitchFamily="18" charset="0"/>
                          <a:ea typeface="Cambria" panose="02040503050406030204" pitchFamily="18" charset="0"/>
                        </a:rPr>
                        <m:t>=</m:t>
                      </m:r>
                      <m:f>
                        <m:fPr>
                          <m:ctrlPr>
                            <a:rPr lang="en-US" sz="2400" i="1">
                              <a:latin typeface="Cambria Math" panose="02040503050406030204" pitchFamily="18" charset="0"/>
                              <a:ea typeface="Cambria" panose="02040503050406030204" pitchFamily="18" charset="0"/>
                            </a:rPr>
                          </m:ctrlPr>
                        </m:fPr>
                        <m:num>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𝑚𝑎𝑥</m:t>
                              </m:r>
                            </m:sub>
                          </m:sSub>
                          <m:r>
                            <a:rPr lang="en-US" sz="2400" i="1">
                              <a:latin typeface="Cambria Math" panose="02040503050406030204" pitchFamily="18" charset="0"/>
                              <a:ea typeface="Cambria" panose="02040503050406030204" pitchFamily="18" charset="0"/>
                            </a:rPr>
                            <m:t>−</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𝑚𝑖𝑛</m:t>
                              </m:r>
                            </m:sub>
                          </m:sSub>
                        </m:num>
                        <m:den>
                          <m:r>
                            <a:rPr lang="en-US" sz="2400" i="1">
                              <a:latin typeface="Cambria Math" panose="02040503050406030204" pitchFamily="18" charset="0"/>
                              <a:ea typeface="Cambria" panose="02040503050406030204" pitchFamily="18" charset="0"/>
                            </a:rPr>
                            <m:t>2</m:t>
                          </m:r>
                        </m:den>
                      </m:f>
                    </m:oMath>
                  </m:oMathPara>
                </a14:m>
                <a:endParaRPr lang="en-US" sz="2400" dirty="0">
                  <a:ea typeface="Cambria" panose="02040503050406030204" pitchFamily="18" charset="0"/>
                </a:endParaRPr>
              </a:p>
            </p:txBody>
          </p:sp>
        </mc:Choice>
        <mc:Fallback xmlns="">
          <p:sp>
            <p:nvSpPr>
              <p:cNvPr id="8" name="TextBox 7">
                <a:extLst>
                  <a:ext uri="{FF2B5EF4-FFF2-40B4-BE49-F238E27FC236}">
                    <a16:creationId xmlns:a16="http://schemas.microsoft.com/office/drawing/2014/main" id="{6892CAE8-8D43-BE03-A2BF-3AA090E61E04}"/>
                  </a:ext>
                </a:extLst>
              </p:cNvPr>
              <p:cNvSpPr txBox="1">
                <a:spLocks noRot="1" noChangeAspect="1" noMove="1" noResize="1" noEditPoints="1" noAdjustHandles="1" noChangeArrowheads="1" noChangeShapeType="1" noTextEdit="1"/>
              </p:cNvSpPr>
              <p:nvPr/>
            </p:nvSpPr>
            <p:spPr>
              <a:xfrm>
                <a:off x="1320567" y="1562040"/>
                <a:ext cx="3860800" cy="3317062"/>
              </a:xfrm>
              <a:prstGeom prst="rect">
                <a:avLst/>
              </a:prstGeom>
              <a:blipFill>
                <a:blip r:embed="rId4"/>
                <a:stretch>
                  <a:fillRect l="-2623" b="-7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xmlns="" id="{EFF26EAF-76BB-E00E-B61F-5A348A9D1B5B}"/>
                  </a:ext>
                </a:extLst>
              </p:cNvPr>
              <p:cNvSpPr txBox="1"/>
              <p:nvPr/>
            </p:nvSpPr>
            <p:spPr>
              <a:xfrm>
                <a:off x="1431822" y="4945746"/>
                <a:ext cx="6364641" cy="1215526"/>
              </a:xfrm>
              <a:prstGeom prst="rect">
                <a:avLst/>
              </a:prstGeom>
              <a:noFill/>
            </p:spPr>
            <p:txBody>
              <a:bodyPr wrap="square" rtlCol="0">
                <a:spAutoFit/>
              </a:bodyPr>
              <a:lstStyle/>
              <a:p>
                <a:r>
                  <a:rPr lang="en-US" sz="2400" b="1" dirty="0">
                    <a:ea typeface="Cambria" panose="02040503050406030204" pitchFamily="18" charset="0"/>
                  </a:rPr>
                  <a:t>Modulation Index</a:t>
                </a:r>
                <a:r>
                  <a:rPr lang="en-US" sz="2400" dirty="0">
                    <a:ea typeface="Cambria" panose="02040503050406030204" pitchFamily="18" charset="0"/>
                  </a:rPr>
                  <a:t>:</a:t>
                </a:r>
              </a:p>
              <a:p>
                <a:pPr/>
                <a14:m>
                  <m:oMathPara xmlns:m="http://schemas.openxmlformats.org/officeDocument/2006/math">
                    <m:oMathParaPr>
                      <m:jc m:val="centerGroup"/>
                    </m:oMathParaPr>
                    <m:oMath xmlns:m="http://schemas.openxmlformats.org/officeDocument/2006/math">
                      <m:r>
                        <m:rPr>
                          <m:sty m:val="p"/>
                        </m:rPr>
                        <a:rPr lang="en-US" sz="2400">
                          <a:latin typeface="Cambria Math" panose="02040503050406030204" pitchFamily="18" charset="0"/>
                          <a:ea typeface="Cambria" panose="02040503050406030204" pitchFamily="18" charset="0"/>
                        </a:rPr>
                        <m:t>m</m:t>
                      </m:r>
                      <m:r>
                        <a:rPr lang="en-US" sz="2400">
                          <a:latin typeface="Cambria Math" panose="02040503050406030204" pitchFamily="18" charset="0"/>
                          <a:ea typeface="Cambria" panose="02040503050406030204" pitchFamily="18" charset="0"/>
                        </a:rPr>
                        <m:t>=</m:t>
                      </m:r>
                      <m:f>
                        <m:fPr>
                          <m:ctrlPr>
                            <a:rPr lang="en-US" sz="2400" i="1">
                              <a:latin typeface="Cambria Math" panose="02040503050406030204" pitchFamily="18" charset="0"/>
                              <a:ea typeface="Cambria" panose="02040503050406030204" pitchFamily="18" charset="0"/>
                            </a:rPr>
                          </m:ctrlPr>
                        </m:fPr>
                        <m:num>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𝑚𝑎𝑥</m:t>
                              </m:r>
                            </m:sub>
                          </m:sSub>
                          <m:r>
                            <a:rPr lang="en-US" sz="2400" i="1">
                              <a:latin typeface="Cambria Math" panose="02040503050406030204" pitchFamily="18" charset="0"/>
                              <a:ea typeface="Cambria" panose="02040503050406030204" pitchFamily="18" charset="0"/>
                            </a:rPr>
                            <m:t>−</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𝑚𝑖𝑛</m:t>
                              </m:r>
                            </m:sub>
                          </m:sSub>
                        </m:num>
                        <m:den>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𝑚𝑎𝑥</m:t>
                              </m:r>
                            </m:sub>
                          </m:sSub>
                          <m:r>
                            <a:rPr lang="en-US" sz="2400" i="1">
                              <a:latin typeface="Cambria Math" panose="02040503050406030204" pitchFamily="18" charset="0"/>
                              <a:ea typeface="Cambria" panose="02040503050406030204" pitchFamily="18" charset="0"/>
                            </a:rPr>
                            <m:t>+</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𝑚𝑖𝑛</m:t>
                              </m:r>
                            </m:sub>
                          </m:sSub>
                        </m:den>
                      </m:f>
                    </m:oMath>
                  </m:oMathPara>
                </a14:m>
                <a:endParaRPr lang="en-US" sz="2400" dirty="0">
                  <a:ea typeface="Cambria" panose="02040503050406030204" pitchFamily="18" charset="0"/>
                </a:endParaRPr>
              </a:p>
            </p:txBody>
          </p:sp>
        </mc:Choice>
        <mc:Fallback xmlns="">
          <p:sp>
            <p:nvSpPr>
              <p:cNvPr id="9" name="TextBox 8">
                <a:extLst>
                  <a:ext uri="{FF2B5EF4-FFF2-40B4-BE49-F238E27FC236}">
                    <a16:creationId xmlns:a16="http://schemas.microsoft.com/office/drawing/2014/main" id="{EFF26EAF-76BB-E00E-B61F-5A348A9D1B5B}"/>
                  </a:ext>
                </a:extLst>
              </p:cNvPr>
              <p:cNvSpPr txBox="1">
                <a:spLocks noRot="1" noChangeAspect="1" noMove="1" noResize="1" noEditPoints="1" noAdjustHandles="1" noChangeArrowheads="1" noChangeShapeType="1" noTextEdit="1"/>
              </p:cNvSpPr>
              <p:nvPr/>
            </p:nvSpPr>
            <p:spPr>
              <a:xfrm>
                <a:off x="1431822" y="4945746"/>
                <a:ext cx="6364641" cy="1215526"/>
              </a:xfrm>
              <a:prstGeom prst="rect">
                <a:avLst/>
              </a:prstGeom>
              <a:blipFill>
                <a:blip r:embed="rId5"/>
                <a:stretch>
                  <a:fillRect l="-1394" t="-4124" b="-1031"/>
                </a:stretch>
              </a:blipFill>
            </p:spPr>
            <p:txBody>
              <a:bodyPr/>
              <a:lstStyle/>
              <a:p>
                <a:r>
                  <a:rPr lang="en-US">
                    <a:noFill/>
                  </a:rPr>
                  <a:t> </a:t>
                </a:r>
              </a:p>
            </p:txBody>
          </p:sp>
        </mc:Fallback>
      </mc:AlternateContent>
    </p:spTree>
    <p:extLst>
      <p:ext uri="{BB962C8B-B14F-4D97-AF65-F5344CB8AC3E}">
        <p14:creationId xmlns:p14="http://schemas.microsoft.com/office/powerpoint/2010/main" val="37341172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48D61AA-CE25-D698-DA54-BAE0EECC67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63324ABE-86BE-2852-4457-61D5DB3A1783}"/>
              </a:ext>
            </a:extLst>
          </p:cNvPr>
          <p:cNvSpPr>
            <a:spLocks noGrp="1"/>
          </p:cNvSpPr>
          <p:nvPr>
            <p:ph type="title"/>
          </p:nvPr>
        </p:nvSpPr>
        <p:spPr>
          <a:xfrm>
            <a:off x="1936750" y="190500"/>
            <a:ext cx="9645650" cy="582930"/>
          </a:xfrm>
        </p:spPr>
        <p:txBody>
          <a:bodyPr/>
          <a:lstStyle/>
          <a:p>
            <a:r>
              <a:rPr lang="en-US" altLang="en-US" b="1" dirty="0">
                <a:sym typeface="+mn-ea"/>
              </a:rPr>
              <a:t>Amplitude Modulation</a:t>
            </a:r>
            <a:endParaRPr lang="en-US" altLang="en-US" b="1" dirty="0"/>
          </a:p>
        </p:txBody>
      </p:sp>
      <p:sp>
        <p:nvSpPr>
          <p:cNvPr id="4" name="Slide Number Placeholder 3">
            <a:extLst>
              <a:ext uri="{FF2B5EF4-FFF2-40B4-BE49-F238E27FC236}">
                <a16:creationId xmlns:a16="http://schemas.microsoft.com/office/drawing/2014/main" xmlns="" id="{754BBAFB-F3AB-FF4A-82BE-CB89D7E28E53}"/>
              </a:ext>
            </a:extLst>
          </p:cNvPr>
          <p:cNvSpPr>
            <a:spLocks noGrp="1"/>
          </p:cNvSpPr>
          <p:nvPr>
            <p:ph type="sldNum" sz="quarter" idx="12"/>
          </p:nvPr>
        </p:nvSpPr>
        <p:spPr/>
        <p:txBody>
          <a:bodyPr/>
          <a:lstStyle/>
          <a:p>
            <a:fld id="{50D97DBC-71BD-4B00-8F4D-DDC0A0D17A0C}" type="slidenum">
              <a:rPr lang="en-US" smtClean="0"/>
              <a:t>12</a:t>
            </a:fld>
            <a:endParaRPr lang="en-US"/>
          </a:p>
        </p:txBody>
      </p:sp>
      <p:sp>
        <p:nvSpPr>
          <p:cNvPr id="5" name="Date Placeholder 4">
            <a:extLst>
              <a:ext uri="{FF2B5EF4-FFF2-40B4-BE49-F238E27FC236}">
                <a16:creationId xmlns:a16="http://schemas.microsoft.com/office/drawing/2014/main" xmlns="" id="{94BD5B62-3E2D-A36E-862C-A2B234F76E25}"/>
              </a:ext>
            </a:extLst>
          </p:cNvPr>
          <p:cNvSpPr>
            <a:spLocks noGrp="1"/>
          </p:cNvSpPr>
          <p:nvPr>
            <p:ph type="dt" sz="half" idx="10"/>
          </p:nvPr>
        </p:nvSpPr>
        <p:spPr/>
        <p:txBody>
          <a:bodyPr/>
          <a:lstStyle/>
          <a:p>
            <a:fld id="{F0B4034D-A911-A642-B8E1-BA081BB67D6F}" type="datetime1">
              <a:rPr lang="en-AU" smtClean="0"/>
              <a:t>16/02/2026</a:t>
            </a:fld>
            <a:endParaRPr lang="en-US" dirty="0"/>
          </a:p>
        </p:txBody>
      </p:sp>
      <p:sp>
        <p:nvSpPr>
          <p:cNvPr id="6" name="Footer Placeholder 5">
            <a:extLst>
              <a:ext uri="{FF2B5EF4-FFF2-40B4-BE49-F238E27FC236}">
                <a16:creationId xmlns:a16="http://schemas.microsoft.com/office/drawing/2014/main" xmlns="" id="{8041962A-F722-1CE3-60B4-49B4444E22A0}"/>
              </a:ext>
            </a:extLst>
          </p:cNvPr>
          <p:cNvSpPr>
            <a:spLocks noGrp="1"/>
          </p:cNvSpPr>
          <p:nvPr>
            <p:ph type="ftr" sz="quarter" idx="11"/>
          </p:nvPr>
        </p:nvSpPr>
        <p:spPr/>
        <p:txBody>
          <a:bodyPr/>
          <a:lstStyle/>
          <a:p>
            <a:r>
              <a:rPr lang="en-US"/>
              <a:t>@Foez Ahmed, CSE, VU</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xmlns="" id="{5CB18AAC-FE1D-5E4F-3529-BC0C4E54AAE0}"/>
                  </a:ext>
                </a:extLst>
              </p:cNvPr>
              <p:cNvSpPr txBox="1"/>
              <p:nvPr/>
            </p:nvSpPr>
            <p:spPr>
              <a:xfrm>
                <a:off x="1143000" y="1699261"/>
                <a:ext cx="10625455" cy="4295140"/>
              </a:xfrm>
              <a:prstGeom prst="rect">
                <a:avLst/>
              </a:prstGeom>
              <a:noFill/>
            </p:spPr>
            <p:txBody>
              <a:bodyPr wrap="square" rtlCol="0">
                <a:noAutofit/>
              </a:bodyPr>
              <a:lstStyle/>
              <a:p>
                <a:pPr marL="342900" indent="-342900" algn="just">
                  <a:buFont typeface="Wingdings" pitchFamily="2" charset="2"/>
                  <a:buChar char="ü"/>
                </a:pPr>
                <a:r>
                  <a:rPr lang="en-US" sz="2200" dirty="0">
                    <a:ea typeface="Cambria" panose="02040503050406030204" pitchFamily="18" charset="0"/>
                  </a:rPr>
                  <a:t>In an AM signal, there are three parts. They are, </a:t>
                </a:r>
                <a:r>
                  <a:rPr lang="en-US" sz="2200" dirty="0" err="1">
                    <a:ea typeface="Cambria" panose="02040503050406030204" pitchFamily="18" charset="0"/>
                  </a:rPr>
                  <a:t>i</a:t>
                </a:r>
                <a:r>
                  <a:rPr lang="en-US" sz="2200" dirty="0">
                    <a:ea typeface="Cambria" panose="02040503050406030204" pitchFamily="18" charset="0"/>
                  </a:rPr>
                  <a:t>) Carrier, ii) Upper side band (USB) and iii) Lower side band (LSB) So, total power of an AM signal comes from all three. </a:t>
                </a:r>
              </a:p>
              <a:p>
                <a:pPr/>
                <a14:m>
                  <m:oMathPara xmlns:m="http://schemas.openxmlformats.org/officeDocument/2006/math">
                    <m:oMathParaPr>
                      <m:jc m:val="center"/>
                    </m:oMathParaPr>
                    <m:oMath xmlns:m="http://schemas.openxmlformats.org/officeDocument/2006/math">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𝑃</m:t>
                          </m:r>
                        </m:e>
                        <m:sub>
                          <m:r>
                            <a:rPr lang="en-US" sz="2400" i="1">
                              <a:latin typeface="Cambria Math" panose="02040503050406030204" pitchFamily="18" charset="0"/>
                              <a:ea typeface="Cambria" panose="02040503050406030204" pitchFamily="18" charset="0"/>
                            </a:rPr>
                            <m:t>𝑡</m:t>
                          </m:r>
                        </m:sub>
                      </m:sSub>
                      <m:r>
                        <a:rPr lang="en-US" sz="2400" i="1">
                          <a:latin typeface="Cambria Math" panose="02040503050406030204" pitchFamily="18" charset="0"/>
                          <a:ea typeface="Cambria" panose="02040503050406030204" pitchFamily="18" charset="0"/>
                        </a:rPr>
                        <m:t>=</m:t>
                      </m:r>
                      <m:f>
                        <m:fPr>
                          <m:ctrlPr>
                            <a:rPr lang="en-US" sz="2400" i="1">
                              <a:latin typeface="Cambria Math" panose="02040503050406030204" pitchFamily="18" charset="0"/>
                              <a:ea typeface="Cambria" panose="02040503050406030204" pitchFamily="18" charset="0"/>
                            </a:rPr>
                          </m:ctrlPr>
                        </m:fPr>
                        <m:num>
                          <m:sSup>
                            <m:sSupPr>
                              <m:ctrlPr>
                                <a:rPr lang="en-US" sz="2400" i="1">
                                  <a:latin typeface="Cambria Math" panose="02040503050406030204" pitchFamily="18" charset="0"/>
                                  <a:ea typeface="Cambria" panose="02040503050406030204" pitchFamily="18" charset="0"/>
                                </a:rPr>
                              </m:ctrlPr>
                            </m:sSupPr>
                            <m:e>
                              <m:d>
                                <m:dPr>
                                  <m:ctrlPr>
                                    <a:rPr lang="en-US" sz="2400" i="1">
                                      <a:latin typeface="Cambria Math" panose="02040503050406030204" pitchFamily="18" charset="0"/>
                                      <a:ea typeface="Cambria" panose="02040503050406030204" pitchFamily="18" charset="0"/>
                                    </a:rPr>
                                  </m:ctrlPr>
                                </m:d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𝐶𝑎𝑟𝑟𝑖𝑒𝑟</m:t>
                                      </m:r>
                                    </m:sub>
                                  </m:sSub>
                                </m:e>
                              </m:d>
                            </m:e>
                            <m:sup>
                              <m:r>
                                <a:rPr lang="en-US" sz="2400" i="1">
                                  <a:latin typeface="Cambria Math" panose="02040503050406030204" pitchFamily="18" charset="0"/>
                                  <a:ea typeface="Cambria" panose="02040503050406030204" pitchFamily="18" charset="0"/>
                                </a:rPr>
                                <m:t>2</m:t>
                              </m:r>
                            </m:sup>
                          </m:sSup>
                        </m:num>
                        <m:den>
                          <m:r>
                            <a:rPr lang="en-US" sz="2400" i="1">
                              <a:latin typeface="Cambria Math" panose="02040503050406030204" pitchFamily="18" charset="0"/>
                              <a:ea typeface="Cambria" panose="02040503050406030204" pitchFamily="18" charset="0"/>
                            </a:rPr>
                            <m:t>𝑅</m:t>
                          </m:r>
                        </m:den>
                      </m:f>
                      <m:r>
                        <a:rPr lang="en-US" sz="2400" i="1">
                          <a:latin typeface="Cambria Math" panose="02040503050406030204" pitchFamily="18" charset="0"/>
                          <a:ea typeface="Cambria" panose="02040503050406030204" pitchFamily="18" charset="0"/>
                        </a:rPr>
                        <m:t>+</m:t>
                      </m:r>
                      <m:f>
                        <m:fPr>
                          <m:ctrlPr>
                            <a:rPr lang="en-US" sz="2400" i="1">
                              <a:latin typeface="Cambria Math" panose="02040503050406030204" pitchFamily="18" charset="0"/>
                              <a:ea typeface="Cambria" panose="02040503050406030204" pitchFamily="18" charset="0"/>
                            </a:rPr>
                          </m:ctrlPr>
                        </m:fPr>
                        <m:num>
                          <m:sSup>
                            <m:sSupPr>
                              <m:ctrlPr>
                                <a:rPr lang="en-US" sz="2400" i="1">
                                  <a:latin typeface="Cambria Math" panose="02040503050406030204" pitchFamily="18" charset="0"/>
                                  <a:ea typeface="Cambria" panose="02040503050406030204" pitchFamily="18" charset="0"/>
                                </a:rPr>
                              </m:ctrlPr>
                            </m:sSupPr>
                            <m:e>
                              <m:d>
                                <m:dPr>
                                  <m:ctrlPr>
                                    <a:rPr lang="en-US" sz="2400" i="1">
                                      <a:latin typeface="Cambria Math" panose="02040503050406030204" pitchFamily="18" charset="0"/>
                                      <a:ea typeface="Cambria" panose="02040503050406030204" pitchFamily="18" charset="0"/>
                                    </a:rPr>
                                  </m:ctrlPr>
                                </m:d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𝑈𝑆𝐵</m:t>
                                      </m:r>
                                    </m:sub>
                                  </m:sSub>
                                </m:e>
                              </m:d>
                            </m:e>
                            <m:sup>
                              <m:r>
                                <a:rPr lang="en-US" sz="2400" i="1">
                                  <a:latin typeface="Cambria Math" panose="02040503050406030204" pitchFamily="18" charset="0"/>
                                  <a:ea typeface="Cambria" panose="02040503050406030204" pitchFamily="18" charset="0"/>
                                </a:rPr>
                                <m:t>2</m:t>
                              </m:r>
                            </m:sup>
                          </m:sSup>
                        </m:num>
                        <m:den>
                          <m:r>
                            <a:rPr lang="en-US" sz="2400" i="1">
                              <a:latin typeface="Cambria Math" panose="02040503050406030204" pitchFamily="18" charset="0"/>
                              <a:ea typeface="Cambria" panose="02040503050406030204" pitchFamily="18" charset="0"/>
                            </a:rPr>
                            <m:t>𝑅</m:t>
                          </m:r>
                        </m:den>
                      </m:f>
                      <m:r>
                        <a:rPr lang="en-US" sz="2400" i="1">
                          <a:latin typeface="Cambria Math" panose="02040503050406030204" pitchFamily="18" charset="0"/>
                          <a:ea typeface="Cambria" panose="02040503050406030204" pitchFamily="18" charset="0"/>
                        </a:rPr>
                        <m:t>+</m:t>
                      </m:r>
                      <m:f>
                        <m:fPr>
                          <m:ctrlPr>
                            <a:rPr lang="en-US" sz="2400" i="1">
                              <a:latin typeface="Cambria Math" panose="02040503050406030204" pitchFamily="18" charset="0"/>
                              <a:ea typeface="Cambria" panose="02040503050406030204" pitchFamily="18" charset="0"/>
                            </a:rPr>
                          </m:ctrlPr>
                        </m:fPr>
                        <m:num>
                          <m:sSup>
                            <m:sSupPr>
                              <m:ctrlPr>
                                <a:rPr lang="en-US" sz="2400" i="1">
                                  <a:latin typeface="Cambria Math" panose="02040503050406030204" pitchFamily="18" charset="0"/>
                                  <a:ea typeface="Cambria" panose="02040503050406030204" pitchFamily="18" charset="0"/>
                                </a:rPr>
                              </m:ctrlPr>
                            </m:sSupPr>
                            <m:e>
                              <m:d>
                                <m:dPr>
                                  <m:ctrlPr>
                                    <a:rPr lang="en-US" sz="2400" i="1">
                                      <a:latin typeface="Cambria Math" panose="02040503050406030204" pitchFamily="18" charset="0"/>
                                      <a:ea typeface="Cambria" panose="02040503050406030204" pitchFamily="18" charset="0"/>
                                    </a:rPr>
                                  </m:ctrlPr>
                                </m:d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𝐿𝑆𝐵</m:t>
                                      </m:r>
                                    </m:sub>
                                  </m:sSub>
                                </m:e>
                              </m:d>
                            </m:e>
                            <m:sup>
                              <m:r>
                                <a:rPr lang="en-US" sz="2400" i="1">
                                  <a:latin typeface="Cambria Math" panose="02040503050406030204" pitchFamily="18" charset="0"/>
                                  <a:ea typeface="Cambria" panose="02040503050406030204" pitchFamily="18" charset="0"/>
                                </a:rPr>
                                <m:t>2</m:t>
                              </m:r>
                            </m:sup>
                          </m:sSup>
                        </m:num>
                        <m:den>
                          <m:r>
                            <a:rPr lang="en-US" sz="2400" i="1">
                              <a:latin typeface="Cambria Math" panose="02040503050406030204" pitchFamily="18" charset="0"/>
                              <a:ea typeface="Cambria" panose="02040503050406030204" pitchFamily="18" charset="0"/>
                            </a:rPr>
                            <m:t>𝑅</m:t>
                          </m:r>
                        </m:den>
                      </m:f>
                    </m:oMath>
                  </m:oMathPara>
                </a14:m>
                <a:endParaRPr lang="en-US" sz="2400" dirty="0">
                  <a:ea typeface="Cambria" panose="02040503050406030204" pitchFamily="18" charset="0"/>
                </a:endParaRPr>
              </a:p>
              <a:p>
                <a:pPr/>
                <a14:m>
                  <m:oMathPara xmlns:m="http://schemas.openxmlformats.org/officeDocument/2006/math">
                    <m:oMathParaPr>
                      <m:jc m:val="center"/>
                    </m:oMathParaPr>
                    <m:oMath xmlns:m="http://schemas.openxmlformats.org/officeDocument/2006/math">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𝑃</m:t>
                          </m:r>
                        </m:e>
                        <m:sub>
                          <m:r>
                            <a:rPr lang="en-US" sz="2400" i="1">
                              <a:latin typeface="Cambria Math" panose="02040503050406030204" pitchFamily="18" charset="0"/>
                              <a:ea typeface="Cambria" panose="02040503050406030204" pitchFamily="18" charset="0"/>
                            </a:rPr>
                            <m:t>𝑡</m:t>
                          </m:r>
                        </m:sub>
                      </m:sSub>
                      <m:r>
                        <a:rPr lang="en-US" sz="2400" i="1">
                          <a:latin typeface="Cambria Math" panose="02040503050406030204" pitchFamily="18" charset="0"/>
                          <a:ea typeface="Cambria" panose="02040503050406030204" pitchFamily="18" charset="0"/>
                        </a:rPr>
                        <m:t>(</m:t>
                      </m:r>
                      <m:r>
                        <a:rPr lang="en-US" sz="2400" i="1">
                          <a:latin typeface="Cambria Math" panose="02040503050406030204" pitchFamily="18" charset="0"/>
                          <a:ea typeface="Cambria" panose="02040503050406030204" pitchFamily="18" charset="0"/>
                        </a:rPr>
                        <m:t>𝑟𝑚𝑠</m:t>
                      </m:r>
                      <m:r>
                        <a:rPr lang="en-US" sz="2400" i="1">
                          <a:latin typeface="Cambria Math" panose="02040503050406030204" pitchFamily="18" charset="0"/>
                          <a:ea typeface="Cambria" panose="02040503050406030204" pitchFamily="18" charset="0"/>
                        </a:rPr>
                        <m:t>)=</m:t>
                      </m:r>
                      <m:f>
                        <m:fPr>
                          <m:ctrlPr>
                            <a:rPr lang="en-US" sz="2400" i="1">
                              <a:latin typeface="Cambria Math" panose="02040503050406030204" pitchFamily="18" charset="0"/>
                              <a:ea typeface="Cambria" panose="02040503050406030204" pitchFamily="18" charset="0"/>
                            </a:rPr>
                          </m:ctrlPr>
                        </m:fPr>
                        <m:num>
                          <m:sSup>
                            <m:sSupPr>
                              <m:ctrlPr>
                                <a:rPr lang="en-US" sz="2400" i="1">
                                  <a:latin typeface="Cambria Math" panose="02040503050406030204" pitchFamily="18" charset="0"/>
                                  <a:ea typeface="Cambria" panose="02040503050406030204" pitchFamily="18" charset="0"/>
                                </a:rPr>
                              </m:ctrlPr>
                            </m:sSupPr>
                            <m:e>
                              <m:d>
                                <m:dPr>
                                  <m:ctrlPr>
                                    <a:rPr lang="en-US" sz="2400" i="1">
                                      <a:latin typeface="Cambria Math" panose="02040503050406030204" pitchFamily="18" charset="0"/>
                                      <a:ea typeface="Cambria" panose="02040503050406030204" pitchFamily="18" charset="0"/>
                                    </a:rPr>
                                  </m:ctrlPr>
                                </m:dPr>
                                <m:e>
                                  <m:f>
                                    <m:fPr>
                                      <m:ctrlPr>
                                        <a:rPr lang="en-US" sz="2400" i="1">
                                          <a:latin typeface="Cambria Math" panose="02040503050406030204" pitchFamily="18" charset="0"/>
                                          <a:ea typeface="Cambria" panose="02040503050406030204" pitchFamily="18" charset="0"/>
                                        </a:rPr>
                                      </m:ctrlPr>
                                    </m:fPr>
                                    <m:num>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𝐶</m:t>
                                          </m:r>
                                        </m:sub>
                                      </m:sSub>
                                    </m:num>
                                    <m:den>
                                      <m:rad>
                                        <m:radPr>
                                          <m:degHide m:val="on"/>
                                          <m:ctrlPr>
                                            <a:rPr lang="en-US" sz="2400" i="1">
                                              <a:latin typeface="Cambria Math" panose="02040503050406030204" pitchFamily="18" charset="0"/>
                                              <a:ea typeface="Cambria" panose="02040503050406030204" pitchFamily="18" charset="0"/>
                                            </a:rPr>
                                          </m:ctrlPr>
                                        </m:radPr>
                                        <m:deg/>
                                        <m:e>
                                          <m:r>
                                            <a:rPr lang="en-US" sz="2400" i="1">
                                              <a:latin typeface="Cambria Math" panose="02040503050406030204" pitchFamily="18" charset="0"/>
                                              <a:ea typeface="Cambria" panose="02040503050406030204" pitchFamily="18" charset="0"/>
                                            </a:rPr>
                                            <m:t>2</m:t>
                                          </m:r>
                                        </m:e>
                                      </m:rad>
                                    </m:den>
                                  </m:f>
                                </m:e>
                              </m:d>
                            </m:e>
                            <m:sup>
                              <m:r>
                                <a:rPr lang="en-US" sz="2400" i="1">
                                  <a:latin typeface="Cambria Math" panose="02040503050406030204" pitchFamily="18" charset="0"/>
                                  <a:ea typeface="Cambria" panose="02040503050406030204" pitchFamily="18" charset="0"/>
                                </a:rPr>
                                <m:t>2</m:t>
                              </m:r>
                            </m:sup>
                          </m:sSup>
                        </m:num>
                        <m:den>
                          <m:r>
                            <a:rPr lang="en-US" sz="2400" i="1">
                              <a:latin typeface="Cambria Math" panose="02040503050406030204" pitchFamily="18" charset="0"/>
                              <a:ea typeface="Cambria" panose="02040503050406030204" pitchFamily="18" charset="0"/>
                            </a:rPr>
                            <m:t>𝑅</m:t>
                          </m:r>
                        </m:den>
                      </m:f>
                      <m:r>
                        <a:rPr lang="en-US" sz="2400" i="1">
                          <a:latin typeface="Cambria Math" panose="02040503050406030204" pitchFamily="18" charset="0"/>
                          <a:ea typeface="Cambria" panose="02040503050406030204" pitchFamily="18" charset="0"/>
                        </a:rPr>
                        <m:t>+</m:t>
                      </m:r>
                      <m:f>
                        <m:fPr>
                          <m:ctrlPr>
                            <a:rPr lang="en-US" sz="2400" i="1">
                              <a:latin typeface="Cambria Math" panose="02040503050406030204" pitchFamily="18" charset="0"/>
                              <a:ea typeface="Cambria" panose="02040503050406030204" pitchFamily="18" charset="0"/>
                            </a:rPr>
                          </m:ctrlPr>
                        </m:fPr>
                        <m:num>
                          <m:sSup>
                            <m:sSupPr>
                              <m:ctrlPr>
                                <a:rPr lang="en-US" sz="2400" i="1">
                                  <a:latin typeface="Cambria Math" panose="02040503050406030204" pitchFamily="18" charset="0"/>
                                  <a:ea typeface="Cambria" panose="02040503050406030204" pitchFamily="18" charset="0"/>
                                </a:rPr>
                              </m:ctrlPr>
                            </m:sSupPr>
                            <m:e>
                              <m:d>
                                <m:dPr>
                                  <m:ctrlPr>
                                    <a:rPr lang="en-US" sz="2400" i="1">
                                      <a:latin typeface="Cambria Math" panose="02040503050406030204" pitchFamily="18" charset="0"/>
                                      <a:ea typeface="Cambria" panose="02040503050406030204" pitchFamily="18" charset="0"/>
                                    </a:rPr>
                                  </m:ctrlPr>
                                </m:dPr>
                                <m:e>
                                  <m:f>
                                    <m:fPr>
                                      <m:ctrlPr>
                                        <a:rPr lang="en-US" sz="2400" i="1">
                                          <a:latin typeface="Cambria Math" panose="02040503050406030204" pitchFamily="18" charset="0"/>
                                          <a:ea typeface="Cambria" panose="02040503050406030204" pitchFamily="18" charset="0"/>
                                        </a:rPr>
                                      </m:ctrlPr>
                                    </m:fPr>
                                    <m:num>
                                      <m:r>
                                        <a:rPr lang="en-US" sz="2400" i="1">
                                          <a:latin typeface="Cambria Math" panose="02040503050406030204" pitchFamily="18" charset="0"/>
                                          <a:ea typeface="Cambria" panose="02040503050406030204" pitchFamily="18" charset="0"/>
                                        </a:rPr>
                                        <m:t>𝑚</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𝐶</m:t>
                                          </m:r>
                                        </m:sub>
                                      </m:sSub>
                                    </m:num>
                                    <m:den>
                                      <m:r>
                                        <a:rPr lang="en-US" sz="2400" i="1">
                                          <a:latin typeface="Cambria Math" panose="02040503050406030204" pitchFamily="18" charset="0"/>
                                          <a:ea typeface="Cambria" panose="02040503050406030204" pitchFamily="18" charset="0"/>
                                        </a:rPr>
                                        <m:t>2</m:t>
                                      </m:r>
                                      <m:rad>
                                        <m:radPr>
                                          <m:degHide m:val="on"/>
                                          <m:ctrlPr>
                                            <a:rPr lang="en-US" sz="2400" i="1">
                                              <a:latin typeface="Cambria Math" panose="02040503050406030204" pitchFamily="18" charset="0"/>
                                              <a:ea typeface="Cambria" panose="02040503050406030204" pitchFamily="18" charset="0"/>
                                            </a:rPr>
                                          </m:ctrlPr>
                                        </m:radPr>
                                        <m:deg/>
                                        <m:e>
                                          <m:r>
                                            <a:rPr lang="en-US" sz="2400" i="1">
                                              <a:latin typeface="Cambria Math" panose="02040503050406030204" pitchFamily="18" charset="0"/>
                                              <a:ea typeface="Cambria" panose="02040503050406030204" pitchFamily="18" charset="0"/>
                                            </a:rPr>
                                            <m:t>2</m:t>
                                          </m:r>
                                        </m:e>
                                      </m:rad>
                                    </m:den>
                                  </m:f>
                                </m:e>
                              </m:d>
                            </m:e>
                            <m:sup>
                              <m:r>
                                <a:rPr lang="en-US" sz="2400" i="1">
                                  <a:latin typeface="Cambria Math" panose="02040503050406030204" pitchFamily="18" charset="0"/>
                                  <a:ea typeface="Cambria" panose="02040503050406030204" pitchFamily="18" charset="0"/>
                                </a:rPr>
                                <m:t>2</m:t>
                              </m:r>
                            </m:sup>
                          </m:sSup>
                        </m:num>
                        <m:den>
                          <m:r>
                            <a:rPr lang="en-US" sz="2400" i="1">
                              <a:latin typeface="Cambria Math" panose="02040503050406030204" pitchFamily="18" charset="0"/>
                              <a:ea typeface="Cambria" panose="02040503050406030204" pitchFamily="18" charset="0"/>
                            </a:rPr>
                            <m:t>𝑅</m:t>
                          </m:r>
                        </m:den>
                      </m:f>
                      <m:r>
                        <a:rPr lang="en-US" sz="2400" i="1">
                          <a:latin typeface="Cambria Math" panose="02040503050406030204" pitchFamily="18" charset="0"/>
                          <a:ea typeface="Cambria" panose="02040503050406030204" pitchFamily="18" charset="0"/>
                        </a:rPr>
                        <m:t>+</m:t>
                      </m:r>
                      <m:f>
                        <m:fPr>
                          <m:ctrlPr>
                            <a:rPr lang="en-US" sz="2400" i="1">
                              <a:latin typeface="Cambria Math" panose="02040503050406030204" pitchFamily="18" charset="0"/>
                              <a:ea typeface="Cambria" panose="02040503050406030204" pitchFamily="18" charset="0"/>
                            </a:rPr>
                          </m:ctrlPr>
                        </m:fPr>
                        <m:num>
                          <m:sSup>
                            <m:sSupPr>
                              <m:ctrlPr>
                                <a:rPr lang="en-US" sz="2400" i="1">
                                  <a:latin typeface="Cambria Math" panose="02040503050406030204" pitchFamily="18" charset="0"/>
                                  <a:ea typeface="Cambria" panose="02040503050406030204" pitchFamily="18" charset="0"/>
                                </a:rPr>
                              </m:ctrlPr>
                            </m:sSupPr>
                            <m:e>
                              <m:d>
                                <m:dPr>
                                  <m:ctrlPr>
                                    <a:rPr lang="en-US" sz="2400" i="1">
                                      <a:latin typeface="Cambria Math" panose="02040503050406030204" pitchFamily="18" charset="0"/>
                                      <a:ea typeface="Cambria" panose="02040503050406030204" pitchFamily="18" charset="0"/>
                                    </a:rPr>
                                  </m:ctrlPr>
                                </m:dPr>
                                <m:e>
                                  <m:f>
                                    <m:fPr>
                                      <m:ctrlPr>
                                        <a:rPr lang="en-US" sz="2400" i="1">
                                          <a:latin typeface="Cambria Math" panose="02040503050406030204" pitchFamily="18" charset="0"/>
                                          <a:ea typeface="Cambria" panose="02040503050406030204" pitchFamily="18" charset="0"/>
                                        </a:rPr>
                                      </m:ctrlPr>
                                    </m:fPr>
                                    <m:num>
                                      <m:r>
                                        <a:rPr lang="en-US" sz="2400" i="1">
                                          <a:latin typeface="Cambria Math" panose="02040503050406030204" pitchFamily="18" charset="0"/>
                                          <a:ea typeface="Cambria" panose="02040503050406030204" pitchFamily="18" charset="0"/>
                                        </a:rPr>
                                        <m:t>𝑚</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𝐶</m:t>
                                          </m:r>
                                        </m:sub>
                                      </m:sSub>
                                    </m:num>
                                    <m:den>
                                      <m:r>
                                        <a:rPr lang="en-US" sz="2400" i="1">
                                          <a:latin typeface="Cambria Math" panose="02040503050406030204" pitchFamily="18" charset="0"/>
                                          <a:ea typeface="Cambria" panose="02040503050406030204" pitchFamily="18" charset="0"/>
                                        </a:rPr>
                                        <m:t>2</m:t>
                                      </m:r>
                                      <m:rad>
                                        <m:radPr>
                                          <m:degHide m:val="on"/>
                                          <m:ctrlPr>
                                            <a:rPr lang="en-US" sz="2400" i="1">
                                              <a:latin typeface="Cambria Math" panose="02040503050406030204" pitchFamily="18" charset="0"/>
                                              <a:ea typeface="Cambria" panose="02040503050406030204" pitchFamily="18" charset="0"/>
                                            </a:rPr>
                                          </m:ctrlPr>
                                        </m:radPr>
                                        <m:deg/>
                                        <m:e>
                                          <m:r>
                                            <a:rPr lang="en-US" sz="2400" i="1">
                                              <a:latin typeface="Cambria Math" panose="02040503050406030204" pitchFamily="18" charset="0"/>
                                              <a:ea typeface="Cambria" panose="02040503050406030204" pitchFamily="18" charset="0"/>
                                            </a:rPr>
                                            <m:t>2</m:t>
                                          </m:r>
                                        </m:e>
                                      </m:rad>
                                    </m:den>
                                  </m:f>
                                </m:e>
                              </m:d>
                            </m:e>
                            <m:sup>
                              <m:r>
                                <a:rPr lang="en-US" sz="2400" i="1">
                                  <a:latin typeface="Cambria Math" panose="02040503050406030204" pitchFamily="18" charset="0"/>
                                  <a:ea typeface="Cambria" panose="02040503050406030204" pitchFamily="18" charset="0"/>
                                </a:rPr>
                                <m:t>2</m:t>
                              </m:r>
                            </m:sup>
                          </m:sSup>
                        </m:num>
                        <m:den>
                          <m:r>
                            <a:rPr lang="en-US" sz="2400" i="1">
                              <a:latin typeface="Cambria Math" panose="02040503050406030204" pitchFamily="18" charset="0"/>
                              <a:ea typeface="Cambria" panose="02040503050406030204" pitchFamily="18" charset="0"/>
                            </a:rPr>
                            <m:t>𝑅</m:t>
                          </m:r>
                        </m:den>
                      </m:f>
                    </m:oMath>
                  </m:oMathPara>
                </a14:m>
                <a:endParaRPr lang="en-US" sz="2400" dirty="0">
                  <a:ea typeface="Cambria" panose="02040503050406030204" pitchFamily="18" charset="0"/>
                </a:endParaRPr>
              </a:p>
              <a:p>
                <a:pPr/>
                <a14:m>
                  <m:oMathPara xmlns:m="http://schemas.openxmlformats.org/officeDocument/2006/math">
                    <m:oMathParaPr>
                      <m:jc m:val="center"/>
                    </m:oMathParaPr>
                    <m:oMath xmlns:m="http://schemas.openxmlformats.org/officeDocument/2006/math">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𝑃</m:t>
                          </m:r>
                        </m:e>
                        <m:sub>
                          <m:r>
                            <a:rPr lang="en-US" sz="2400" i="1">
                              <a:latin typeface="Cambria Math" panose="02040503050406030204" pitchFamily="18" charset="0"/>
                              <a:ea typeface="Cambria" panose="02040503050406030204" pitchFamily="18" charset="0"/>
                            </a:rPr>
                            <m:t>𝑡</m:t>
                          </m:r>
                        </m:sub>
                      </m:sSub>
                      <m:r>
                        <a:rPr lang="en-US" sz="2400" i="1">
                          <a:latin typeface="Cambria Math" panose="02040503050406030204" pitchFamily="18" charset="0"/>
                          <a:ea typeface="Cambria" panose="02040503050406030204" pitchFamily="18" charset="0"/>
                        </a:rPr>
                        <m:t>=</m:t>
                      </m:r>
                      <m:f>
                        <m:fPr>
                          <m:ctrlPr>
                            <a:rPr lang="en-US" sz="2400" i="1">
                              <a:latin typeface="Cambria Math" panose="02040503050406030204" pitchFamily="18" charset="0"/>
                              <a:ea typeface="Cambria" panose="02040503050406030204" pitchFamily="18" charset="0"/>
                            </a:rPr>
                          </m:ctrlPr>
                        </m:fPr>
                        <m:num>
                          <m:sSup>
                            <m:sSupPr>
                              <m:ctrlPr>
                                <a:rPr lang="en-US" sz="2400" i="1">
                                  <a:latin typeface="Cambria Math" panose="02040503050406030204" pitchFamily="18" charset="0"/>
                                  <a:ea typeface="Cambria" panose="02040503050406030204" pitchFamily="18" charset="0"/>
                                </a:rPr>
                              </m:ctrlPr>
                            </m:sSupPr>
                            <m:e>
                              <m:d>
                                <m:dPr>
                                  <m:ctrlPr>
                                    <a:rPr lang="en-US" sz="2400" i="1">
                                      <a:latin typeface="Cambria Math" panose="02040503050406030204" pitchFamily="18" charset="0"/>
                                      <a:ea typeface="Cambria" panose="02040503050406030204" pitchFamily="18" charset="0"/>
                                    </a:rPr>
                                  </m:ctrlPr>
                                </m:d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𝐶</m:t>
                                      </m:r>
                                    </m:sub>
                                  </m:sSub>
                                </m:e>
                              </m:d>
                            </m:e>
                            <m:sup>
                              <m:r>
                                <a:rPr lang="en-US" sz="2400" i="1">
                                  <a:latin typeface="Cambria Math" panose="02040503050406030204" pitchFamily="18" charset="0"/>
                                  <a:ea typeface="Cambria" panose="02040503050406030204" pitchFamily="18" charset="0"/>
                                </a:rPr>
                                <m:t>2</m:t>
                              </m:r>
                            </m:sup>
                          </m:sSup>
                        </m:num>
                        <m:den>
                          <m:r>
                            <a:rPr lang="en-US" sz="2400" i="1">
                              <a:latin typeface="Cambria Math" panose="02040503050406030204" pitchFamily="18" charset="0"/>
                              <a:ea typeface="Cambria" panose="02040503050406030204" pitchFamily="18" charset="0"/>
                            </a:rPr>
                            <m:t>2</m:t>
                          </m:r>
                          <m:r>
                            <a:rPr lang="en-US" sz="2400" i="1">
                              <a:latin typeface="Cambria Math" panose="02040503050406030204" pitchFamily="18" charset="0"/>
                              <a:ea typeface="Cambria" panose="02040503050406030204" pitchFamily="18" charset="0"/>
                            </a:rPr>
                            <m:t>𝑅</m:t>
                          </m:r>
                        </m:den>
                      </m:f>
                      <m:d>
                        <m:dPr>
                          <m:begChr m:val="["/>
                          <m:endChr m:val="]"/>
                          <m:ctrlPr>
                            <a:rPr lang="en-US" sz="2400" i="1">
                              <a:latin typeface="Cambria Math" panose="02040503050406030204" pitchFamily="18" charset="0"/>
                              <a:ea typeface="Cambria" panose="02040503050406030204" pitchFamily="18" charset="0"/>
                            </a:rPr>
                          </m:ctrlPr>
                        </m:dPr>
                        <m:e>
                          <m:r>
                            <a:rPr lang="en-US" sz="2400" i="1">
                              <a:latin typeface="Cambria Math" panose="02040503050406030204" pitchFamily="18" charset="0"/>
                              <a:ea typeface="Cambria" panose="02040503050406030204" pitchFamily="18" charset="0"/>
                            </a:rPr>
                            <m:t>1</m:t>
                          </m:r>
                          <m:r>
                            <a:rPr lang="en-US" sz="2400" i="1">
                              <a:latin typeface="Cambria Math" panose="02040503050406030204" pitchFamily="18" charset="0"/>
                              <a:ea typeface="Cambria" panose="02040503050406030204" pitchFamily="18" charset="0"/>
                            </a:rPr>
                            <m:t>+</m:t>
                          </m:r>
                          <m:f>
                            <m:fPr>
                              <m:ctrlPr>
                                <a:rPr lang="en-US" sz="2400" i="1">
                                  <a:latin typeface="Cambria Math" panose="02040503050406030204" pitchFamily="18" charset="0"/>
                                  <a:ea typeface="Cambria" panose="02040503050406030204" pitchFamily="18" charset="0"/>
                                </a:rPr>
                              </m:ctrlPr>
                            </m:fPr>
                            <m:num>
                              <m:sSup>
                                <m:sSupPr>
                                  <m:ctrlPr>
                                    <a:rPr lang="en-US" sz="2400" i="1">
                                      <a:latin typeface="Cambria Math" panose="02040503050406030204" pitchFamily="18" charset="0"/>
                                      <a:ea typeface="Cambria" panose="02040503050406030204" pitchFamily="18" charset="0"/>
                                    </a:rPr>
                                  </m:ctrlPr>
                                </m:sSupPr>
                                <m:e>
                                  <m:r>
                                    <a:rPr lang="en-US" sz="2400" i="1">
                                      <a:latin typeface="Cambria Math" panose="02040503050406030204" pitchFamily="18" charset="0"/>
                                      <a:ea typeface="Cambria" panose="02040503050406030204" pitchFamily="18" charset="0"/>
                                    </a:rPr>
                                    <m:t>𝑚</m:t>
                                  </m:r>
                                </m:e>
                                <m:sup>
                                  <m:r>
                                    <a:rPr lang="en-US" sz="2400" i="1">
                                      <a:latin typeface="Cambria Math" panose="02040503050406030204" pitchFamily="18" charset="0"/>
                                      <a:ea typeface="Cambria" panose="02040503050406030204" pitchFamily="18" charset="0"/>
                                    </a:rPr>
                                    <m:t>2</m:t>
                                  </m:r>
                                </m:sup>
                              </m:sSup>
                            </m:num>
                            <m:den>
                              <m:r>
                                <a:rPr lang="en-US" sz="2400" i="1">
                                  <a:latin typeface="Cambria Math" panose="02040503050406030204" pitchFamily="18" charset="0"/>
                                  <a:ea typeface="Cambria" panose="02040503050406030204" pitchFamily="18" charset="0"/>
                                </a:rPr>
                                <m:t>2</m:t>
                              </m:r>
                            </m:den>
                          </m:f>
                        </m:e>
                      </m:d>
                      <m:r>
                        <a:rPr lang="en-US" sz="2400" i="1">
                          <a:latin typeface="Cambria Math" panose="02040503050406030204" pitchFamily="18" charset="0"/>
                          <a:ea typeface="Cambria" panose="02040503050406030204" pitchFamily="18" charset="0"/>
                        </a:rPr>
                        <m:t>=</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𝑃</m:t>
                          </m:r>
                        </m:e>
                        <m:sub>
                          <m:r>
                            <a:rPr lang="en-US" sz="2400" i="1">
                              <a:latin typeface="Cambria Math" panose="02040503050406030204" pitchFamily="18" charset="0"/>
                              <a:ea typeface="Cambria" panose="02040503050406030204" pitchFamily="18" charset="0"/>
                            </a:rPr>
                            <m:t>𝑐</m:t>
                          </m:r>
                        </m:sub>
                      </m:sSub>
                      <m:d>
                        <m:dPr>
                          <m:begChr m:val="["/>
                          <m:endChr m:val="]"/>
                          <m:ctrlPr>
                            <a:rPr lang="en-US" sz="2400" i="1">
                              <a:latin typeface="Cambria Math" panose="02040503050406030204" pitchFamily="18" charset="0"/>
                              <a:ea typeface="Cambria" panose="02040503050406030204" pitchFamily="18" charset="0"/>
                            </a:rPr>
                          </m:ctrlPr>
                        </m:dPr>
                        <m:e>
                          <m:r>
                            <a:rPr lang="en-US" sz="2400" i="1">
                              <a:latin typeface="Cambria Math" panose="02040503050406030204" pitchFamily="18" charset="0"/>
                              <a:ea typeface="Cambria" panose="02040503050406030204" pitchFamily="18" charset="0"/>
                            </a:rPr>
                            <m:t>1</m:t>
                          </m:r>
                          <m:r>
                            <a:rPr lang="en-US" sz="2400" i="1">
                              <a:latin typeface="Cambria Math" panose="02040503050406030204" pitchFamily="18" charset="0"/>
                              <a:ea typeface="Cambria" panose="02040503050406030204" pitchFamily="18" charset="0"/>
                            </a:rPr>
                            <m:t>+</m:t>
                          </m:r>
                          <m:f>
                            <m:fPr>
                              <m:ctrlPr>
                                <a:rPr lang="en-US" sz="2400" i="1">
                                  <a:latin typeface="Cambria Math" panose="02040503050406030204" pitchFamily="18" charset="0"/>
                                  <a:ea typeface="Cambria" panose="02040503050406030204" pitchFamily="18" charset="0"/>
                                </a:rPr>
                              </m:ctrlPr>
                            </m:fPr>
                            <m:num>
                              <m:sSup>
                                <m:sSupPr>
                                  <m:ctrlPr>
                                    <a:rPr lang="en-US" sz="2400" i="1">
                                      <a:latin typeface="Cambria Math" panose="02040503050406030204" pitchFamily="18" charset="0"/>
                                      <a:ea typeface="Cambria" panose="02040503050406030204" pitchFamily="18" charset="0"/>
                                    </a:rPr>
                                  </m:ctrlPr>
                                </m:sSupPr>
                                <m:e>
                                  <m:r>
                                    <a:rPr lang="en-US" sz="2400" i="1">
                                      <a:latin typeface="Cambria Math" panose="02040503050406030204" pitchFamily="18" charset="0"/>
                                      <a:ea typeface="Cambria" panose="02040503050406030204" pitchFamily="18" charset="0"/>
                                    </a:rPr>
                                    <m:t>𝑚</m:t>
                                  </m:r>
                                </m:e>
                                <m:sup>
                                  <m:r>
                                    <a:rPr lang="en-US" sz="2400" i="1">
                                      <a:latin typeface="Cambria Math" panose="02040503050406030204" pitchFamily="18" charset="0"/>
                                      <a:ea typeface="Cambria" panose="02040503050406030204" pitchFamily="18" charset="0"/>
                                    </a:rPr>
                                    <m:t>2</m:t>
                                  </m:r>
                                </m:sup>
                              </m:sSup>
                            </m:num>
                            <m:den>
                              <m:r>
                                <a:rPr lang="en-US" sz="2400" i="1">
                                  <a:latin typeface="Cambria Math" panose="02040503050406030204" pitchFamily="18" charset="0"/>
                                  <a:ea typeface="Cambria" panose="02040503050406030204" pitchFamily="18" charset="0"/>
                                </a:rPr>
                                <m:t>2</m:t>
                              </m:r>
                            </m:den>
                          </m:f>
                        </m:e>
                      </m:d>
                    </m:oMath>
                  </m:oMathPara>
                </a14:m>
                <a:endParaRPr lang="en-US" sz="2400" dirty="0">
                  <a:ea typeface="Cambria" panose="02040503050406030204" pitchFamily="18" charset="0"/>
                </a:endParaRPr>
              </a:p>
              <a:p>
                <a:pPr/>
                <a14:m>
                  <m:oMathPara xmlns:m="http://schemas.openxmlformats.org/officeDocument/2006/math">
                    <m:oMathParaPr>
                      <m:jc m:val="center"/>
                    </m:oMathParaPr>
                    <m:oMath xmlns:m="http://schemas.openxmlformats.org/officeDocument/2006/math">
                      <m:r>
                        <a:rPr lang="en-US" sz="240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panose="02040503050406030204" pitchFamily="18" charset="0"/>
                            </a:rPr>
                          </m:ctrlPr>
                        </m:fPr>
                        <m:num>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𝑃</m:t>
                              </m:r>
                            </m:e>
                            <m:sub>
                              <m:r>
                                <a:rPr lang="en-US" sz="2400" i="1">
                                  <a:latin typeface="Cambria Math" panose="02040503050406030204" pitchFamily="18" charset="0"/>
                                  <a:ea typeface="Cambria" panose="02040503050406030204" pitchFamily="18" charset="0"/>
                                </a:rPr>
                                <m:t>𝑡</m:t>
                              </m:r>
                            </m:sub>
                          </m:sSub>
                        </m:num>
                        <m:den>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𝑃</m:t>
                              </m:r>
                            </m:e>
                            <m:sub>
                              <m:r>
                                <a:rPr lang="en-US" sz="2400" i="1">
                                  <a:latin typeface="Cambria Math" panose="02040503050406030204" pitchFamily="18" charset="0"/>
                                  <a:ea typeface="Cambria" panose="02040503050406030204" pitchFamily="18" charset="0"/>
                                </a:rPr>
                                <m:t>𝑐</m:t>
                              </m:r>
                            </m:sub>
                          </m:sSub>
                        </m:den>
                      </m:f>
                      <m:r>
                        <a:rPr lang="en-US" sz="2400" i="1">
                          <a:latin typeface="Cambria Math" panose="02040503050406030204" pitchFamily="18" charset="0"/>
                          <a:ea typeface="Cambria" panose="02040503050406030204" pitchFamily="18" charset="0"/>
                        </a:rPr>
                        <m:t>=</m:t>
                      </m:r>
                      <m:r>
                        <a:rPr lang="en-US" sz="2400" i="1">
                          <a:latin typeface="Cambria Math" panose="02040503050406030204" pitchFamily="18" charset="0"/>
                          <a:ea typeface="Cambria" panose="02040503050406030204" pitchFamily="18" charset="0"/>
                        </a:rPr>
                        <m:t>1</m:t>
                      </m:r>
                      <m:r>
                        <a:rPr lang="en-US" sz="2400" i="1">
                          <a:latin typeface="Cambria Math" panose="02040503050406030204" pitchFamily="18" charset="0"/>
                          <a:ea typeface="Cambria" panose="02040503050406030204" pitchFamily="18" charset="0"/>
                        </a:rPr>
                        <m:t>+</m:t>
                      </m:r>
                      <m:f>
                        <m:fPr>
                          <m:ctrlPr>
                            <a:rPr lang="en-US" sz="2400" i="1">
                              <a:latin typeface="Cambria Math" panose="02040503050406030204" pitchFamily="18" charset="0"/>
                              <a:ea typeface="Cambria" panose="02040503050406030204" pitchFamily="18" charset="0"/>
                            </a:rPr>
                          </m:ctrlPr>
                        </m:fPr>
                        <m:num>
                          <m:sSup>
                            <m:sSupPr>
                              <m:ctrlPr>
                                <a:rPr lang="en-US" sz="2400" i="1">
                                  <a:latin typeface="Cambria Math" panose="02040503050406030204" pitchFamily="18" charset="0"/>
                                  <a:ea typeface="Cambria" panose="02040503050406030204" pitchFamily="18" charset="0"/>
                                </a:rPr>
                              </m:ctrlPr>
                            </m:sSupPr>
                            <m:e>
                              <m:r>
                                <a:rPr lang="en-US" sz="2400" i="1">
                                  <a:latin typeface="Cambria Math" panose="02040503050406030204" pitchFamily="18" charset="0"/>
                                  <a:ea typeface="Cambria" panose="02040503050406030204" pitchFamily="18" charset="0"/>
                                </a:rPr>
                                <m:t>𝑚</m:t>
                              </m:r>
                            </m:e>
                            <m:sup>
                              <m:r>
                                <a:rPr lang="en-US" sz="2400" i="1">
                                  <a:latin typeface="Cambria Math" panose="02040503050406030204" pitchFamily="18" charset="0"/>
                                  <a:ea typeface="Cambria" panose="02040503050406030204" pitchFamily="18" charset="0"/>
                                </a:rPr>
                                <m:t>2</m:t>
                              </m:r>
                            </m:sup>
                          </m:sSup>
                        </m:num>
                        <m:den>
                          <m:r>
                            <a:rPr lang="en-US" sz="2400" i="1">
                              <a:latin typeface="Cambria Math" panose="02040503050406030204" pitchFamily="18" charset="0"/>
                              <a:ea typeface="Cambria" panose="02040503050406030204" pitchFamily="18" charset="0"/>
                            </a:rPr>
                            <m:t>2</m:t>
                          </m:r>
                        </m:den>
                      </m:f>
                    </m:oMath>
                  </m:oMathPara>
                </a14:m>
                <a:endParaRPr lang="en-US" sz="2400" dirty="0">
                  <a:ea typeface="Cambria" panose="02040503050406030204" pitchFamily="18" charset="0"/>
                </a:endParaRPr>
              </a:p>
            </p:txBody>
          </p:sp>
        </mc:Choice>
        <mc:Fallback xmlns="">
          <p:sp>
            <p:nvSpPr>
              <p:cNvPr id="7" name="TextBox 6">
                <a:extLst>
                  <a:ext uri="{FF2B5EF4-FFF2-40B4-BE49-F238E27FC236}">
                    <a16:creationId xmlns:a16="http://schemas.microsoft.com/office/drawing/2014/main" id="{5CB18AAC-FE1D-5E4F-3529-BC0C4E54AAE0}"/>
                  </a:ext>
                </a:extLst>
              </p:cNvPr>
              <p:cNvSpPr txBox="1">
                <a:spLocks noRot="1" noChangeAspect="1" noMove="1" noResize="1" noEditPoints="1" noAdjustHandles="1" noChangeArrowheads="1" noChangeShapeType="1" noTextEdit="1"/>
              </p:cNvSpPr>
              <p:nvPr/>
            </p:nvSpPr>
            <p:spPr>
              <a:xfrm>
                <a:off x="1143000" y="1699261"/>
                <a:ext cx="10625455" cy="4295140"/>
              </a:xfrm>
              <a:prstGeom prst="rect">
                <a:avLst/>
              </a:prstGeom>
              <a:blipFill>
                <a:blip r:embed="rId3"/>
                <a:stretch>
                  <a:fillRect l="-717" t="-885" r="-717" b="-6195"/>
                </a:stretch>
              </a:blipFill>
            </p:spPr>
            <p:txBody>
              <a:bodyPr/>
              <a:lstStyle/>
              <a:p>
                <a:r>
                  <a:rPr lang="en-US">
                    <a:noFill/>
                  </a:rPr>
                  <a:t> </a:t>
                </a:r>
              </a:p>
            </p:txBody>
          </p:sp>
        </mc:Fallback>
      </mc:AlternateContent>
      <p:sp>
        <p:nvSpPr>
          <p:cNvPr id="10" name="Content Placeholder 2">
            <a:extLst>
              <a:ext uri="{FF2B5EF4-FFF2-40B4-BE49-F238E27FC236}">
                <a16:creationId xmlns:a16="http://schemas.microsoft.com/office/drawing/2014/main" xmlns="" id="{B5A51514-4FB5-95AB-927B-2796751BE391}"/>
              </a:ext>
            </a:extLst>
          </p:cNvPr>
          <p:cNvSpPr>
            <a:spLocks noGrp="1" noChangeAspect="1"/>
          </p:cNvSpPr>
          <p:nvPr>
            <p:ph idx="1"/>
          </p:nvPr>
        </p:nvSpPr>
        <p:spPr>
          <a:xfrm>
            <a:off x="874954" y="1017066"/>
            <a:ext cx="10431314" cy="476250"/>
          </a:xfrm>
        </p:spPr>
        <p:txBody>
          <a:bodyPr/>
          <a:lstStyle/>
          <a:p>
            <a:pPr>
              <a:buFont typeface="Wingdings" pitchFamily="2" charset="2"/>
              <a:buChar char="q"/>
            </a:pPr>
            <a:r>
              <a:rPr lang="en-US" altLang="en-US" sz="2400" b="1" dirty="0"/>
              <a:t>Power of AM Signal:</a:t>
            </a:r>
            <a:endParaRPr lang="en-US" altLang="en-US" sz="2400" dirty="0"/>
          </a:p>
        </p:txBody>
      </p:sp>
    </p:spTree>
    <p:extLst>
      <p:ext uri="{BB962C8B-B14F-4D97-AF65-F5344CB8AC3E}">
        <p14:creationId xmlns:p14="http://schemas.microsoft.com/office/powerpoint/2010/main" val="29029754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722CABF-1AE7-4014-A11E-75339DC526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73FBAEB0-9212-73D5-C716-7EE4F7DD3A0D}"/>
              </a:ext>
            </a:extLst>
          </p:cNvPr>
          <p:cNvSpPr>
            <a:spLocks noGrp="1"/>
          </p:cNvSpPr>
          <p:nvPr>
            <p:ph type="title"/>
          </p:nvPr>
        </p:nvSpPr>
        <p:spPr>
          <a:xfrm>
            <a:off x="1936750" y="190500"/>
            <a:ext cx="9645650" cy="582930"/>
          </a:xfrm>
        </p:spPr>
        <p:txBody>
          <a:bodyPr/>
          <a:lstStyle/>
          <a:p>
            <a:r>
              <a:rPr lang="en-US" altLang="en-US" b="1" dirty="0">
                <a:sym typeface="+mn-ea"/>
              </a:rPr>
              <a:t>Amplitude Modulation</a:t>
            </a:r>
            <a:endParaRPr lang="en-US" altLang="en-US" b="1" dirty="0"/>
          </a:p>
        </p:txBody>
      </p:sp>
      <p:sp>
        <p:nvSpPr>
          <p:cNvPr id="4" name="Slide Number Placeholder 3">
            <a:extLst>
              <a:ext uri="{FF2B5EF4-FFF2-40B4-BE49-F238E27FC236}">
                <a16:creationId xmlns:a16="http://schemas.microsoft.com/office/drawing/2014/main" xmlns="" id="{8FEE3E5B-1D94-75AD-3C64-31BDBCC247DC}"/>
              </a:ext>
            </a:extLst>
          </p:cNvPr>
          <p:cNvSpPr>
            <a:spLocks noGrp="1"/>
          </p:cNvSpPr>
          <p:nvPr>
            <p:ph type="sldNum" sz="quarter" idx="12"/>
          </p:nvPr>
        </p:nvSpPr>
        <p:spPr/>
        <p:txBody>
          <a:bodyPr/>
          <a:lstStyle/>
          <a:p>
            <a:fld id="{50D97DBC-71BD-4B00-8F4D-DDC0A0D17A0C}" type="slidenum">
              <a:rPr lang="en-US" smtClean="0"/>
              <a:t>13</a:t>
            </a:fld>
            <a:endParaRPr lang="en-US"/>
          </a:p>
        </p:txBody>
      </p:sp>
      <p:sp>
        <p:nvSpPr>
          <p:cNvPr id="5" name="Date Placeholder 4">
            <a:extLst>
              <a:ext uri="{FF2B5EF4-FFF2-40B4-BE49-F238E27FC236}">
                <a16:creationId xmlns:a16="http://schemas.microsoft.com/office/drawing/2014/main" xmlns="" id="{BCD14CF9-F5FD-136E-B920-29DC685C4022}"/>
              </a:ext>
            </a:extLst>
          </p:cNvPr>
          <p:cNvSpPr>
            <a:spLocks noGrp="1"/>
          </p:cNvSpPr>
          <p:nvPr>
            <p:ph type="dt" sz="half" idx="10"/>
          </p:nvPr>
        </p:nvSpPr>
        <p:spPr/>
        <p:txBody>
          <a:bodyPr/>
          <a:lstStyle/>
          <a:p>
            <a:fld id="{F0B4034D-A911-A642-B8E1-BA081BB67D6F}" type="datetime1">
              <a:rPr lang="en-AU" smtClean="0"/>
              <a:t>16/02/2026</a:t>
            </a:fld>
            <a:endParaRPr lang="en-US" dirty="0"/>
          </a:p>
        </p:txBody>
      </p:sp>
      <p:sp>
        <p:nvSpPr>
          <p:cNvPr id="6" name="Footer Placeholder 5">
            <a:extLst>
              <a:ext uri="{FF2B5EF4-FFF2-40B4-BE49-F238E27FC236}">
                <a16:creationId xmlns:a16="http://schemas.microsoft.com/office/drawing/2014/main" xmlns="" id="{A8606A6F-8462-8580-B7C9-9F21F3431697}"/>
              </a:ext>
            </a:extLst>
          </p:cNvPr>
          <p:cNvSpPr>
            <a:spLocks noGrp="1"/>
          </p:cNvSpPr>
          <p:nvPr>
            <p:ph type="ftr" sz="quarter" idx="11"/>
          </p:nvPr>
        </p:nvSpPr>
        <p:spPr/>
        <p:txBody>
          <a:bodyPr/>
          <a:lstStyle/>
          <a:p>
            <a:r>
              <a:rPr lang="en-US"/>
              <a:t>@Foez Ahmed, CSE, VU</a:t>
            </a:r>
          </a:p>
        </p:txBody>
      </p:sp>
      <p:sp>
        <p:nvSpPr>
          <p:cNvPr id="10" name="Content Placeholder 2">
            <a:extLst>
              <a:ext uri="{FF2B5EF4-FFF2-40B4-BE49-F238E27FC236}">
                <a16:creationId xmlns:a16="http://schemas.microsoft.com/office/drawing/2014/main" xmlns="" id="{9238E33C-1508-DAD6-A206-D41378CDBA0A}"/>
              </a:ext>
            </a:extLst>
          </p:cNvPr>
          <p:cNvSpPr>
            <a:spLocks noGrp="1" noChangeAspect="1"/>
          </p:cNvSpPr>
          <p:nvPr>
            <p:ph idx="1"/>
          </p:nvPr>
        </p:nvSpPr>
        <p:spPr>
          <a:xfrm>
            <a:off x="874954" y="1017066"/>
            <a:ext cx="10431314" cy="476250"/>
          </a:xfrm>
        </p:spPr>
        <p:txBody>
          <a:bodyPr/>
          <a:lstStyle/>
          <a:p>
            <a:pPr>
              <a:buFont typeface="Wingdings" pitchFamily="2" charset="2"/>
              <a:buChar char="q"/>
            </a:pPr>
            <a:r>
              <a:rPr lang="en-US" altLang="en-US" sz="2400" b="1" dirty="0"/>
              <a:t>Power of AM Signal (Problem Solving Examples):</a:t>
            </a:r>
            <a:endParaRPr lang="en-US" altLang="en-US" sz="2400" dirty="0"/>
          </a:p>
        </p:txBody>
      </p:sp>
      <p:pic>
        <p:nvPicPr>
          <p:cNvPr id="3" name="Picture 2">
            <a:extLst>
              <a:ext uri="{FF2B5EF4-FFF2-40B4-BE49-F238E27FC236}">
                <a16:creationId xmlns:a16="http://schemas.microsoft.com/office/drawing/2014/main" xmlns="" id="{D05D2392-B542-597F-57B4-104A424BC016}"/>
              </a:ext>
            </a:extLst>
          </p:cNvPr>
          <p:cNvPicPr>
            <a:picLocks noChangeAspect="1"/>
          </p:cNvPicPr>
          <p:nvPr/>
        </p:nvPicPr>
        <p:blipFill>
          <a:blip r:embed="rId3"/>
          <a:srcRect t="23323"/>
          <a:stretch>
            <a:fillRect/>
          </a:stretch>
        </p:blipFill>
        <p:spPr>
          <a:xfrm>
            <a:off x="1151086" y="1736952"/>
            <a:ext cx="10395131" cy="2262456"/>
          </a:xfrm>
          <a:prstGeom prst="rect">
            <a:avLst/>
          </a:prstGeom>
          <a:ln>
            <a:solidFill>
              <a:srgbClr val="FF0000"/>
            </a:solidFill>
          </a:ln>
        </p:spPr>
      </p:pic>
      <p:pic>
        <p:nvPicPr>
          <p:cNvPr id="8" name="Picture 7">
            <a:extLst>
              <a:ext uri="{FF2B5EF4-FFF2-40B4-BE49-F238E27FC236}">
                <a16:creationId xmlns:a16="http://schemas.microsoft.com/office/drawing/2014/main" xmlns="" id="{72762B1B-4AA6-BB90-B592-5755740688F9}"/>
              </a:ext>
            </a:extLst>
          </p:cNvPr>
          <p:cNvPicPr>
            <a:picLocks noChangeAspect="1"/>
          </p:cNvPicPr>
          <p:nvPr/>
        </p:nvPicPr>
        <p:blipFill rotWithShape="1">
          <a:blip r:embed="rId4"/>
          <a:srcRect t="34587"/>
          <a:stretch>
            <a:fillRect/>
          </a:stretch>
        </p:blipFill>
        <p:spPr>
          <a:xfrm>
            <a:off x="1151086" y="4389120"/>
            <a:ext cx="10395131" cy="1708236"/>
          </a:xfrm>
          <a:prstGeom prst="rect">
            <a:avLst/>
          </a:prstGeom>
          <a:ln>
            <a:solidFill>
              <a:srgbClr val="0432FF"/>
            </a:solidFill>
          </a:ln>
        </p:spPr>
      </p:pic>
    </p:spTree>
    <p:extLst>
      <p:ext uri="{BB962C8B-B14F-4D97-AF65-F5344CB8AC3E}">
        <p14:creationId xmlns:p14="http://schemas.microsoft.com/office/powerpoint/2010/main" val="33924547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7519F0E-7699-AB58-75F1-326FCA347D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C73F63C2-EDD2-32D0-484A-5613CF56798D}"/>
              </a:ext>
            </a:extLst>
          </p:cNvPr>
          <p:cNvSpPr>
            <a:spLocks noGrp="1"/>
          </p:cNvSpPr>
          <p:nvPr>
            <p:ph type="title"/>
          </p:nvPr>
        </p:nvSpPr>
        <p:spPr>
          <a:xfrm>
            <a:off x="1936750" y="190500"/>
            <a:ext cx="9645650" cy="582930"/>
          </a:xfrm>
        </p:spPr>
        <p:txBody>
          <a:bodyPr/>
          <a:lstStyle/>
          <a:p>
            <a:r>
              <a:rPr lang="en-US" altLang="en-US" b="1" dirty="0">
                <a:sym typeface="+mn-ea"/>
              </a:rPr>
              <a:t>Amplitude Modulation</a:t>
            </a:r>
            <a:endParaRPr lang="en-US" altLang="en-US" b="1" dirty="0"/>
          </a:p>
        </p:txBody>
      </p:sp>
      <p:sp>
        <p:nvSpPr>
          <p:cNvPr id="4" name="Slide Number Placeholder 3">
            <a:extLst>
              <a:ext uri="{FF2B5EF4-FFF2-40B4-BE49-F238E27FC236}">
                <a16:creationId xmlns:a16="http://schemas.microsoft.com/office/drawing/2014/main" xmlns="" id="{E7162D81-BC32-8AC4-D909-5717703A4504}"/>
              </a:ext>
            </a:extLst>
          </p:cNvPr>
          <p:cNvSpPr>
            <a:spLocks noGrp="1"/>
          </p:cNvSpPr>
          <p:nvPr>
            <p:ph type="sldNum" sz="quarter" idx="12"/>
          </p:nvPr>
        </p:nvSpPr>
        <p:spPr/>
        <p:txBody>
          <a:bodyPr/>
          <a:lstStyle/>
          <a:p>
            <a:fld id="{50D97DBC-71BD-4B00-8F4D-DDC0A0D17A0C}" type="slidenum">
              <a:rPr lang="en-US" smtClean="0"/>
              <a:t>14</a:t>
            </a:fld>
            <a:endParaRPr lang="en-US"/>
          </a:p>
        </p:txBody>
      </p:sp>
      <p:sp>
        <p:nvSpPr>
          <p:cNvPr id="5" name="Date Placeholder 4">
            <a:extLst>
              <a:ext uri="{FF2B5EF4-FFF2-40B4-BE49-F238E27FC236}">
                <a16:creationId xmlns:a16="http://schemas.microsoft.com/office/drawing/2014/main" xmlns="" id="{754F7803-6310-3DC8-39CD-2E106F03E3CD}"/>
              </a:ext>
            </a:extLst>
          </p:cNvPr>
          <p:cNvSpPr>
            <a:spLocks noGrp="1"/>
          </p:cNvSpPr>
          <p:nvPr>
            <p:ph type="dt" sz="half" idx="10"/>
          </p:nvPr>
        </p:nvSpPr>
        <p:spPr/>
        <p:txBody>
          <a:bodyPr/>
          <a:lstStyle/>
          <a:p>
            <a:fld id="{F0B4034D-A911-A642-B8E1-BA081BB67D6F}" type="datetime1">
              <a:rPr lang="en-AU" smtClean="0"/>
              <a:t>16/02/2026</a:t>
            </a:fld>
            <a:endParaRPr lang="en-US" dirty="0"/>
          </a:p>
        </p:txBody>
      </p:sp>
      <p:sp>
        <p:nvSpPr>
          <p:cNvPr id="6" name="Footer Placeholder 5">
            <a:extLst>
              <a:ext uri="{FF2B5EF4-FFF2-40B4-BE49-F238E27FC236}">
                <a16:creationId xmlns:a16="http://schemas.microsoft.com/office/drawing/2014/main" xmlns="" id="{34452188-35E4-4224-9A69-E8E92D08AC98}"/>
              </a:ext>
            </a:extLst>
          </p:cNvPr>
          <p:cNvSpPr>
            <a:spLocks noGrp="1"/>
          </p:cNvSpPr>
          <p:nvPr>
            <p:ph type="ftr" sz="quarter" idx="11"/>
          </p:nvPr>
        </p:nvSpPr>
        <p:spPr/>
        <p:txBody>
          <a:bodyPr/>
          <a:lstStyle/>
          <a:p>
            <a:r>
              <a:rPr lang="en-US"/>
              <a:t>@Foez Ahmed, CSE, VU</a:t>
            </a:r>
          </a:p>
        </p:txBody>
      </p:sp>
      <p:sp>
        <p:nvSpPr>
          <p:cNvPr id="10" name="Content Placeholder 2">
            <a:extLst>
              <a:ext uri="{FF2B5EF4-FFF2-40B4-BE49-F238E27FC236}">
                <a16:creationId xmlns:a16="http://schemas.microsoft.com/office/drawing/2014/main" xmlns="" id="{D4682E4B-33AB-C348-D408-A8CD9E0EA254}"/>
              </a:ext>
            </a:extLst>
          </p:cNvPr>
          <p:cNvSpPr>
            <a:spLocks noGrp="1" noChangeAspect="1"/>
          </p:cNvSpPr>
          <p:nvPr>
            <p:ph idx="1"/>
          </p:nvPr>
        </p:nvSpPr>
        <p:spPr>
          <a:xfrm>
            <a:off x="874954" y="1017066"/>
            <a:ext cx="10431314" cy="476250"/>
          </a:xfrm>
        </p:spPr>
        <p:txBody>
          <a:bodyPr/>
          <a:lstStyle/>
          <a:p>
            <a:pPr>
              <a:buFont typeface="Wingdings" pitchFamily="2" charset="2"/>
              <a:buChar char="q"/>
            </a:pPr>
            <a:r>
              <a:rPr lang="en-US" altLang="en-US" sz="2400" b="1" dirty="0"/>
              <a:t>Current of AM Signal:</a:t>
            </a:r>
            <a:endParaRPr lang="en-US" altLang="en-US" sz="2400" dirty="0"/>
          </a:p>
        </p:txBody>
      </p:sp>
      <p:sp>
        <p:nvSpPr>
          <p:cNvPr id="7" name="TextBox 6">
            <a:extLst>
              <a:ext uri="{FF2B5EF4-FFF2-40B4-BE49-F238E27FC236}">
                <a16:creationId xmlns:a16="http://schemas.microsoft.com/office/drawing/2014/main" xmlns="" id="{682D41E6-4A57-0406-A9A5-2033CC6665B8}"/>
              </a:ext>
            </a:extLst>
          </p:cNvPr>
          <p:cNvSpPr txBox="1"/>
          <p:nvPr/>
        </p:nvSpPr>
        <p:spPr>
          <a:xfrm>
            <a:off x="1350383" y="1493316"/>
            <a:ext cx="10431314" cy="1247140"/>
          </a:xfrm>
          <a:prstGeom prst="rect">
            <a:avLst/>
          </a:prstGeom>
          <a:noFill/>
        </p:spPr>
        <p:txBody>
          <a:bodyPr wrap="square" rtlCol="0">
            <a:noAutofit/>
          </a:bodyPr>
          <a:lstStyle/>
          <a:p>
            <a:pPr algn="just"/>
            <a:r>
              <a:rPr lang="en-US" sz="2200" dirty="0"/>
              <a:t>Let </a:t>
            </a:r>
            <a:r>
              <a:rPr lang="en-US" sz="2200" dirty="0" err="1"/>
              <a:t>I</a:t>
            </a:r>
            <a:r>
              <a:rPr lang="en-US" sz="2200" baseline="-25000" dirty="0" err="1"/>
              <a:t>c</a:t>
            </a:r>
            <a:r>
              <a:rPr lang="en-US" sz="2200" dirty="0"/>
              <a:t>, be the unmodulated current and It, the total, or modulated, current of an AM transmitter, both being rms values. If R is the resistance in which these currents flow, then,</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xmlns="" id="{376380F8-0514-1400-B932-81F19559A2BE}"/>
                  </a:ext>
                </a:extLst>
              </p:cNvPr>
              <p:cNvSpPr txBox="1"/>
              <p:nvPr/>
            </p:nvSpPr>
            <p:spPr>
              <a:xfrm>
                <a:off x="874954" y="3119704"/>
                <a:ext cx="5318760" cy="2702560"/>
              </a:xfrm>
              <a:prstGeom prst="rect">
                <a:avLst/>
              </a:prstGeom>
              <a:noFill/>
            </p:spPr>
            <p:txBody>
              <a:bodyPr wrap="square" rtlCol="0">
                <a:noAutofit/>
              </a:bodyPr>
              <a:lstStyle/>
              <a:p>
                <a:endParaRPr lang="en-US" sz="2000" dirty="0">
                  <a:latin typeface="Cambria" panose="02040503050406030204" pitchFamily="18" charset="0"/>
                  <a:ea typeface="Cambria" panose="02040503050406030204" pitchFamily="18" charset="0"/>
                </a:endParaRPr>
              </a:p>
              <a:p>
                <a:pPr/>
                <a14:m>
                  <m:oMathPara xmlns:m="http://schemas.openxmlformats.org/officeDocument/2006/math">
                    <m:oMathParaPr>
                      <m:jc m:val="center"/>
                    </m:oMathParaPr>
                    <m:oMath xmlns:m="http://schemas.openxmlformats.org/officeDocument/2006/math">
                      <m:f>
                        <m:fPr>
                          <m:ctrlPr>
                            <a:rPr lang="en-US" sz="2600" i="1">
                              <a:latin typeface="Cambria Math" panose="02040503050406030204" pitchFamily="18" charset="0"/>
                              <a:ea typeface="Cambria" panose="02040503050406030204" pitchFamily="18" charset="0"/>
                            </a:rPr>
                          </m:ctrlPr>
                        </m:fPr>
                        <m:num>
                          <m:sSub>
                            <m:sSubPr>
                              <m:ctrlPr>
                                <a:rPr lang="en-US" sz="2600" i="1">
                                  <a:latin typeface="Cambria Math" panose="02040503050406030204" pitchFamily="18" charset="0"/>
                                  <a:ea typeface="Cambria" panose="02040503050406030204" pitchFamily="18" charset="0"/>
                                </a:rPr>
                              </m:ctrlPr>
                            </m:sSubPr>
                            <m:e>
                              <m:r>
                                <a:rPr lang="en-US" sz="2600" i="1">
                                  <a:latin typeface="Cambria Math" panose="02040503050406030204" pitchFamily="18" charset="0"/>
                                  <a:ea typeface="Cambria" panose="02040503050406030204" pitchFamily="18" charset="0"/>
                                </a:rPr>
                                <m:t>𝑃</m:t>
                              </m:r>
                            </m:e>
                            <m:sub>
                              <m:r>
                                <a:rPr lang="en-US" sz="2600" i="1">
                                  <a:latin typeface="Cambria Math" panose="02040503050406030204" pitchFamily="18" charset="0"/>
                                  <a:ea typeface="Cambria" panose="02040503050406030204" pitchFamily="18" charset="0"/>
                                </a:rPr>
                                <m:t>𝑡</m:t>
                              </m:r>
                            </m:sub>
                          </m:sSub>
                        </m:num>
                        <m:den>
                          <m:sSub>
                            <m:sSubPr>
                              <m:ctrlPr>
                                <a:rPr lang="en-US" sz="2600" i="1">
                                  <a:latin typeface="Cambria Math" panose="02040503050406030204" pitchFamily="18" charset="0"/>
                                  <a:ea typeface="Cambria" panose="02040503050406030204" pitchFamily="18" charset="0"/>
                                </a:rPr>
                              </m:ctrlPr>
                            </m:sSubPr>
                            <m:e>
                              <m:r>
                                <a:rPr lang="en-US" sz="2600" i="1">
                                  <a:latin typeface="Cambria Math" panose="02040503050406030204" pitchFamily="18" charset="0"/>
                                  <a:ea typeface="Cambria" panose="02040503050406030204" pitchFamily="18" charset="0"/>
                                </a:rPr>
                                <m:t>𝑃</m:t>
                              </m:r>
                            </m:e>
                            <m:sub>
                              <m:r>
                                <a:rPr lang="en-US" sz="2600" i="1">
                                  <a:latin typeface="Cambria Math" panose="02040503050406030204" pitchFamily="18" charset="0"/>
                                  <a:ea typeface="Cambria" panose="02040503050406030204" pitchFamily="18" charset="0"/>
                                </a:rPr>
                                <m:t>𝑐</m:t>
                              </m:r>
                            </m:sub>
                          </m:sSub>
                        </m:den>
                      </m:f>
                      <m:r>
                        <a:rPr lang="en-US" sz="2600" i="1">
                          <a:latin typeface="Cambria Math" panose="02040503050406030204" pitchFamily="18" charset="0"/>
                          <a:ea typeface="Cambria" panose="02040503050406030204" pitchFamily="18" charset="0"/>
                        </a:rPr>
                        <m:t>=</m:t>
                      </m:r>
                      <m:f>
                        <m:fPr>
                          <m:ctrlPr>
                            <a:rPr lang="en-US" sz="2600" i="1">
                              <a:latin typeface="Cambria Math" panose="02040503050406030204" pitchFamily="18" charset="0"/>
                              <a:ea typeface="Cambria" panose="02040503050406030204" pitchFamily="18" charset="0"/>
                            </a:rPr>
                          </m:ctrlPr>
                        </m:fPr>
                        <m:num>
                          <m:sSup>
                            <m:sSupPr>
                              <m:ctrlPr>
                                <a:rPr lang="en-US" sz="2600" i="1">
                                  <a:latin typeface="Cambria Math" panose="02040503050406030204" pitchFamily="18" charset="0"/>
                                  <a:ea typeface="Cambria" panose="02040503050406030204" pitchFamily="18" charset="0"/>
                                </a:rPr>
                              </m:ctrlPr>
                            </m:sSupPr>
                            <m:e>
                              <m:sSub>
                                <m:sSubPr>
                                  <m:ctrlPr>
                                    <a:rPr lang="en-US" sz="2600" i="1">
                                      <a:latin typeface="Cambria Math" panose="02040503050406030204" pitchFamily="18" charset="0"/>
                                      <a:ea typeface="Cambria" panose="02040503050406030204" pitchFamily="18" charset="0"/>
                                    </a:rPr>
                                  </m:ctrlPr>
                                </m:sSubPr>
                                <m:e>
                                  <m:r>
                                    <a:rPr lang="en-US" sz="2600" i="1">
                                      <a:latin typeface="Cambria Math" panose="02040503050406030204" pitchFamily="18" charset="0"/>
                                      <a:ea typeface="Cambria" panose="02040503050406030204" pitchFamily="18" charset="0"/>
                                    </a:rPr>
                                    <m:t>𝐼</m:t>
                                  </m:r>
                                </m:e>
                                <m:sub>
                                  <m:r>
                                    <a:rPr lang="en-US" sz="2600" i="1">
                                      <a:latin typeface="Cambria Math" panose="02040503050406030204" pitchFamily="18" charset="0"/>
                                      <a:ea typeface="Cambria" panose="02040503050406030204" pitchFamily="18" charset="0"/>
                                    </a:rPr>
                                    <m:t>𝑡</m:t>
                                  </m:r>
                                </m:sub>
                              </m:sSub>
                            </m:e>
                            <m:sup>
                              <m:r>
                                <a:rPr lang="en-US" sz="2600" i="1">
                                  <a:latin typeface="Cambria Math" panose="02040503050406030204" pitchFamily="18" charset="0"/>
                                  <a:ea typeface="Cambria" panose="02040503050406030204" pitchFamily="18" charset="0"/>
                                </a:rPr>
                                <m:t>2</m:t>
                              </m:r>
                            </m:sup>
                          </m:sSup>
                          <m:r>
                            <a:rPr lang="en-US" sz="2600" i="1">
                              <a:latin typeface="Cambria Math" panose="02040503050406030204" pitchFamily="18" charset="0"/>
                              <a:ea typeface="Cambria" panose="02040503050406030204" pitchFamily="18" charset="0"/>
                            </a:rPr>
                            <m:t>𝑅</m:t>
                          </m:r>
                        </m:num>
                        <m:den>
                          <m:sSup>
                            <m:sSupPr>
                              <m:ctrlPr>
                                <a:rPr lang="en-US" sz="2600" i="1">
                                  <a:latin typeface="Cambria Math" panose="02040503050406030204" pitchFamily="18" charset="0"/>
                                  <a:ea typeface="Cambria" panose="02040503050406030204" pitchFamily="18" charset="0"/>
                                </a:rPr>
                              </m:ctrlPr>
                            </m:sSupPr>
                            <m:e>
                              <m:sSub>
                                <m:sSubPr>
                                  <m:ctrlPr>
                                    <a:rPr lang="en-US" sz="2600" i="1">
                                      <a:latin typeface="Cambria Math" panose="02040503050406030204" pitchFamily="18" charset="0"/>
                                      <a:ea typeface="Cambria" panose="02040503050406030204" pitchFamily="18" charset="0"/>
                                    </a:rPr>
                                  </m:ctrlPr>
                                </m:sSubPr>
                                <m:e>
                                  <m:r>
                                    <a:rPr lang="en-US" sz="2600" i="1">
                                      <a:latin typeface="Cambria Math" panose="02040503050406030204" pitchFamily="18" charset="0"/>
                                      <a:ea typeface="Cambria" panose="02040503050406030204" pitchFamily="18" charset="0"/>
                                    </a:rPr>
                                    <m:t>𝐼</m:t>
                                  </m:r>
                                </m:e>
                                <m:sub>
                                  <m:r>
                                    <a:rPr lang="en-US" sz="2600" i="1">
                                      <a:latin typeface="Cambria Math" panose="02040503050406030204" pitchFamily="18" charset="0"/>
                                      <a:ea typeface="Cambria" panose="02040503050406030204" pitchFamily="18" charset="0"/>
                                    </a:rPr>
                                    <m:t>𝐶</m:t>
                                  </m:r>
                                </m:sub>
                              </m:sSub>
                            </m:e>
                            <m:sup>
                              <m:r>
                                <a:rPr lang="en-US" sz="2600" i="1">
                                  <a:latin typeface="Cambria Math" panose="02040503050406030204" pitchFamily="18" charset="0"/>
                                  <a:ea typeface="Cambria" panose="02040503050406030204" pitchFamily="18" charset="0"/>
                                </a:rPr>
                                <m:t>2</m:t>
                              </m:r>
                            </m:sup>
                          </m:sSup>
                          <m:r>
                            <a:rPr lang="en-US" sz="2600" i="1">
                              <a:latin typeface="Cambria Math" panose="02040503050406030204" pitchFamily="18" charset="0"/>
                              <a:ea typeface="Cambria" panose="02040503050406030204" pitchFamily="18" charset="0"/>
                            </a:rPr>
                            <m:t>𝑅</m:t>
                          </m:r>
                        </m:den>
                      </m:f>
                      <m:r>
                        <a:rPr lang="en-US" sz="2600" i="1">
                          <a:latin typeface="Cambria Math" panose="02040503050406030204" pitchFamily="18" charset="0"/>
                          <a:ea typeface="Cambria" panose="02040503050406030204" pitchFamily="18" charset="0"/>
                        </a:rPr>
                        <m:t>=1+</m:t>
                      </m:r>
                      <m:f>
                        <m:fPr>
                          <m:ctrlPr>
                            <a:rPr lang="en-US" sz="2600" i="1">
                              <a:latin typeface="Cambria Math" panose="02040503050406030204" pitchFamily="18" charset="0"/>
                              <a:ea typeface="Cambria" panose="02040503050406030204" pitchFamily="18" charset="0"/>
                            </a:rPr>
                          </m:ctrlPr>
                        </m:fPr>
                        <m:num>
                          <m:sSup>
                            <m:sSupPr>
                              <m:ctrlPr>
                                <a:rPr lang="en-US" sz="2600" i="1">
                                  <a:latin typeface="Cambria Math" panose="02040503050406030204" pitchFamily="18" charset="0"/>
                                  <a:ea typeface="Cambria" panose="02040503050406030204" pitchFamily="18" charset="0"/>
                                </a:rPr>
                              </m:ctrlPr>
                            </m:sSupPr>
                            <m:e>
                              <m:r>
                                <a:rPr lang="en-US" sz="2600" i="1">
                                  <a:latin typeface="Cambria Math" panose="02040503050406030204" pitchFamily="18" charset="0"/>
                                  <a:ea typeface="Cambria" panose="02040503050406030204" pitchFamily="18" charset="0"/>
                                </a:rPr>
                                <m:t>𝑚</m:t>
                              </m:r>
                            </m:e>
                            <m:sup>
                              <m:r>
                                <a:rPr lang="en-US" sz="2600" i="1">
                                  <a:latin typeface="Cambria Math" panose="02040503050406030204" pitchFamily="18" charset="0"/>
                                  <a:ea typeface="Cambria" panose="02040503050406030204" pitchFamily="18" charset="0"/>
                                </a:rPr>
                                <m:t>2</m:t>
                              </m:r>
                            </m:sup>
                          </m:sSup>
                        </m:num>
                        <m:den>
                          <m:r>
                            <a:rPr lang="en-US" sz="2600" i="1">
                              <a:latin typeface="Cambria Math" panose="02040503050406030204" pitchFamily="18" charset="0"/>
                              <a:ea typeface="Cambria" panose="02040503050406030204" pitchFamily="18" charset="0"/>
                            </a:rPr>
                            <m:t>2</m:t>
                          </m:r>
                        </m:den>
                      </m:f>
                    </m:oMath>
                  </m:oMathPara>
                </a14:m>
                <a:endParaRPr lang="en-US" sz="2600" dirty="0">
                  <a:latin typeface="Cambria" panose="02040503050406030204" pitchFamily="18" charset="0"/>
                  <a:ea typeface="Cambria" panose="02040503050406030204" pitchFamily="18" charset="0"/>
                </a:endParaRPr>
              </a:p>
              <a:p>
                <a:endParaRPr lang="en-US" sz="2600" dirty="0">
                  <a:latin typeface="Cambria" panose="02040503050406030204" pitchFamily="18" charset="0"/>
                  <a:ea typeface="Cambria" panose="02040503050406030204" pitchFamily="18" charset="0"/>
                </a:endParaRPr>
              </a:p>
              <a:p>
                <a:pPr/>
                <a14:m>
                  <m:oMathPara xmlns:m="http://schemas.openxmlformats.org/officeDocument/2006/math">
                    <m:oMathParaPr>
                      <m:jc m:val="center"/>
                    </m:oMathParaPr>
                    <m:oMath xmlns:m="http://schemas.openxmlformats.org/officeDocument/2006/math">
                      <m:r>
                        <a:rPr lang="en-US" sz="2600" i="1">
                          <a:latin typeface="Cambria Math" panose="02040503050406030204" pitchFamily="18" charset="0"/>
                          <a:ea typeface="Cambria Math" panose="02040503050406030204" pitchFamily="18" charset="0"/>
                        </a:rPr>
                        <m:t>→</m:t>
                      </m:r>
                      <m:f>
                        <m:fPr>
                          <m:ctrlPr>
                            <a:rPr lang="en-US" sz="2600" i="1">
                              <a:latin typeface="Cambria Math" panose="02040503050406030204" pitchFamily="18" charset="0"/>
                              <a:ea typeface="Cambria" panose="02040503050406030204" pitchFamily="18" charset="0"/>
                            </a:rPr>
                          </m:ctrlPr>
                        </m:fPr>
                        <m:num>
                          <m:sSup>
                            <m:sSupPr>
                              <m:ctrlPr>
                                <a:rPr lang="en-US" sz="2600" i="1">
                                  <a:latin typeface="Cambria Math" panose="02040503050406030204" pitchFamily="18" charset="0"/>
                                  <a:ea typeface="Cambria" panose="02040503050406030204" pitchFamily="18" charset="0"/>
                                </a:rPr>
                              </m:ctrlPr>
                            </m:sSupPr>
                            <m:e>
                              <m:sSub>
                                <m:sSubPr>
                                  <m:ctrlPr>
                                    <a:rPr lang="en-US" sz="2600" i="1">
                                      <a:latin typeface="Cambria Math" panose="02040503050406030204" pitchFamily="18" charset="0"/>
                                      <a:ea typeface="Cambria" panose="02040503050406030204" pitchFamily="18" charset="0"/>
                                    </a:rPr>
                                  </m:ctrlPr>
                                </m:sSubPr>
                                <m:e>
                                  <m:r>
                                    <a:rPr lang="en-US" sz="2600" i="1">
                                      <a:latin typeface="Cambria Math" panose="02040503050406030204" pitchFamily="18" charset="0"/>
                                      <a:ea typeface="Cambria" panose="02040503050406030204" pitchFamily="18" charset="0"/>
                                    </a:rPr>
                                    <m:t>𝐼</m:t>
                                  </m:r>
                                </m:e>
                                <m:sub>
                                  <m:r>
                                    <a:rPr lang="en-US" sz="2600" i="1">
                                      <a:latin typeface="Cambria Math" panose="02040503050406030204" pitchFamily="18" charset="0"/>
                                      <a:ea typeface="Cambria" panose="02040503050406030204" pitchFamily="18" charset="0"/>
                                    </a:rPr>
                                    <m:t>𝑡</m:t>
                                  </m:r>
                                </m:sub>
                              </m:sSub>
                            </m:e>
                            <m:sup>
                              <m:r>
                                <a:rPr lang="en-US" sz="2600" i="1">
                                  <a:latin typeface="Cambria Math" panose="02040503050406030204" pitchFamily="18" charset="0"/>
                                  <a:ea typeface="Cambria" panose="02040503050406030204" pitchFamily="18" charset="0"/>
                                </a:rPr>
                                <m:t>2</m:t>
                              </m:r>
                            </m:sup>
                          </m:sSup>
                        </m:num>
                        <m:den>
                          <m:sSup>
                            <m:sSupPr>
                              <m:ctrlPr>
                                <a:rPr lang="en-US" sz="2600" i="1">
                                  <a:latin typeface="Cambria Math" panose="02040503050406030204" pitchFamily="18" charset="0"/>
                                  <a:ea typeface="Cambria" panose="02040503050406030204" pitchFamily="18" charset="0"/>
                                </a:rPr>
                              </m:ctrlPr>
                            </m:sSupPr>
                            <m:e>
                              <m:sSub>
                                <m:sSubPr>
                                  <m:ctrlPr>
                                    <a:rPr lang="en-US" sz="2600" i="1">
                                      <a:latin typeface="Cambria Math" panose="02040503050406030204" pitchFamily="18" charset="0"/>
                                      <a:ea typeface="Cambria" panose="02040503050406030204" pitchFamily="18" charset="0"/>
                                    </a:rPr>
                                  </m:ctrlPr>
                                </m:sSubPr>
                                <m:e>
                                  <m:r>
                                    <a:rPr lang="en-US" sz="2600" i="1">
                                      <a:latin typeface="Cambria Math" panose="02040503050406030204" pitchFamily="18" charset="0"/>
                                      <a:ea typeface="Cambria" panose="02040503050406030204" pitchFamily="18" charset="0"/>
                                    </a:rPr>
                                    <m:t>𝐼</m:t>
                                  </m:r>
                                </m:e>
                                <m:sub>
                                  <m:r>
                                    <a:rPr lang="en-US" sz="2600" i="1">
                                      <a:latin typeface="Cambria Math" panose="02040503050406030204" pitchFamily="18" charset="0"/>
                                      <a:ea typeface="Cambria" panose="02040503050406030204" pitchFamily="18" charset="0"/>
                                    </a:rPr>
                                    <m:t>𝐶</m:t>
                                  </m:r>
                                </m:sub>
                              </m:sSub>
                            </m:e>
                            <m:sup>
                              <m:r>
                                <a:rPr lang="en-US" sz="2600" i="1">
                                  <a:latin typeface="Cambria Math" panose="02040503050406030204" pitchFamily="18" charset="0"/>
                                  <a:ea typeface="Cambria" panose="02040503050406030204" pitchFamily="18" charset="0"/>
                                </a:rPr>
                                <m:t>2</m:t>
                              </m:r>
                            </m:sup>
                          </m:sSup>
                        </m:den>
                      </m:f>
                      <m:r>
                        <a:rPr lang="en-US" sz="2600" i="1">
                          <a:latin typeface="Cambria Math" panose="02040503050406030204" pitchFamily="18" charset="0"/>
                          <a:ea typeface="Cambria" panose="02040503050406030204" pitchFamily="18" charset="0"/>
                        </a:rPr>
                        <m:t>=1+</m:t>
                      </m:r>
                      <m:f>
                        <m:fPr>
                          <m:ctrlPr>
                            <a:rPr lang="en-US" sz="2600" i="1">
                              <a:latin typeface="Cambria Math" panose="02040503050406030204" pitchFamily="18" charset="0"/>
                              <a:ea typeface="Cambria" panose="02040503050406030204" pitchFamily="18" charset="0"/>
                            </a:rPr>
                          </m:ctrlPr>
                        </m:fPr>
                        <m:num>
                          <m:sSup>
                            <m:sSupPr>
                              <m:ctrlPr>
                                <a:rPr lang="en-US" sz="2600" i="1">
                                  <a:latin typeface="Cambria Math" panose="02040503050406030204" pitchFamily="18" charset="0"/>
                                  <a:ea typeface="Cambria" panose="02040503050406030204" pitchFamily="18" charset="0"/>
                                </a:rPr>
                              </m:ctrlPr>
                            </m:sSupPr>
                            <m:e>
                              <m:r>
                                <a:rPr lang="en-US" sz="2600" i="1">
                                  <a:latin typeface="Cambria Math" panose="02040503050406030204" pitchFamily="18" charset="0"/>
                                  <a:ea typeface="Cambria" panose="02040503050406030204" pitchFamily="18" charset="0"/>
                                </a:rPr>
                                <m:t>𝑚</m:t>
                              </m:r>
                            </m:e>
                            <m:sup>
                              <m:r>
                                <a:rPr lang="en-US" sz="2600" i="1">
                                  <a:latin typeface="Cambria Math" panose="02040503050406030204" pitchFamily="18" charset="0"/>
                                  <a:ea typeface="Cambria" panose="02040503050406030204" pitchFamily="18" charset="0"/>
                                </a:rPr>
                                <m:t>2</m:t>
                              </m:r>
                            </m:sup>
                          </m:sSup>
                        </m:num>
                        <m:den>
                          <m:r>
                            <a:rPr lang="en-US" sz="2600" i="1">
                              <a:latin typeface="Cambria Math" panose="02040503050406030204" pitchFamily="18" charset="0"/>
                              <a:ea typeface="Cambria" panose="02040503050406030204" pitchFamily="18" charset="0"/>
                            </a:rPr>
                            <m:t>2</m:t>
                          </m:r>
                        </m:den>
                      </m:f>
                    </m:oMath>
                  </m:oMathPara>
                </a14:m>
                <a:endParaRPr lang="en-US" sz="2600" dirty="0">
                  <a:latin typeface="Cambria" panose="02040503050406030204" pitchFamily="18" charset="0"/>
                  <a:ea typeface="Cambria" panose="02040503050406030204" pitchFamily="18" charset="0"/>
                </a:endParaRPr>
              </a:p>
              <a:p>
                <a:endParaRPr lang="en-US" sz="2600" dirty="0">
                  <a:latin typeface="Cambria" panose="02040503050406030204" pitchFamily="18" charset="0"/>
                  <a:ea typeface="Cambria" panose="02040503050406030204" pitchFamily="18" charset="0"/>
                </a:endParaRPr>
              </a:p>
            </p:txBody>
          </p:sp>
        </mc:Choice>
        <mc:Fallback xmlns="">
          <p:sp>
            <p:nvSpPr>
              <p:cNvPr id="9" name="TextBox 8">
                <a:extLst>
                  <a:ext uri="{FF2B5EF4-FFF2-40B4-BE49-F238E27FC236}">
                    <a16:creationId xmlns:a16="http://schemas.microsoft.com/office/drawing/2014/main" id="{376380F8-0514-1400-B932-81F19559A2BE}"/>
                  </a:ext>
                </a:extLst>
              </p:cNvPr>
              <p:cNvSpPr txBox="1">
                <a:spLocks noRot="1" noChangeAspect="1" noMove="1" noResize="1" noEditPoints="1" noAdjustHandles="1" noChangeArrowheads="1" noChangeShapeType="1" noTextEdit="1"/>
              </p:cNvSpPr>
              <p:nvPr/>
            </p:nvSpPr>
            <p:spPr>
              <a:xfrm>
                <a:off x="874954" y="3119704"/>
                <a:ext cx="5318760" cy="270256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xmlns="" id="{494FE0D4-8CAA-4505-A6AB-13E3724BE4D8}"/>
                  </a:ext>
                </a:extLst>
              </p:cNvPr>
              <p:cNvSpPr txBox="1"/>
              <p:nvPr/>
            </p:nvSpPr>
            <p:spPr>
              <a:xfrm>
                <a:off x="6078220" y="2740456"/>
                <a:ext cx="5318760" cy="3461056"/>
              </a:xfrm>
              <a:prstGeom prst="rect">
                <a:avLst/>
              </a:prstGeom>
              <a:noFill/>
            </p:spPr>
            <p:txBody>
              <a:bodyPr wrap="square" rtlCol="0">
                <a:noAutofit/>
              </a:bodyPr>
              <a:lstStyle/>
              <a:p>
                <a:endParaRPr lang="en-US" sz="2600" dirty="0">
                  <a:latin typeface="Cambria" panose="02040503050406030204" pitchFamily="18" charset="0"/>
                  <a:ea typeface="Cambria" panose="02040503050406030204" pitchFamily="18" charset="0"/>
                </a:endParaRPr>
              </a:p>
              <a:p>
                <a:pPr/>
                <a14:m>
                  <m:oMathPara xmlns:m="http://schemas.openxmlformats.org/officeDocument/2006/math">
                    <m:oMathParaPr>
                      <m:jc m:val="center"/>
                    </m:oMathParaPr>
                    <m:oMath xmlns:m="http://schemas.openxmlformats.org/officeDocument/2006/math">
                      <m:r>
                        <a:rPr lang="en-US" sz="2600" i="1">
                          <a:latin typeface="Cambria Math" panose="02040503050406030204" pitchFamily="18" charset="0"/>
                          <a:ea typeface="Cambria Math" panose="02040503050406030204" pitchFamily="18" charset="0"/>
                        </a:rPr>
                        <m:t>→</m:t>
                      </m:r>
                      <m:f>
                        <m:fPr>
                          <m:ctrlPr>
                            <a:rPr lang="en-US" sz="2600" i="1">
                              <a:latin typeface="Cambria Math" panose="02040503050406030204" pitchFamily="18" charset="0"/>
                              <a:ea typeface="Cambria" panose="02040503050406030204" pitchFamily="18" charset="0"/>
                            </a:rPr>
                          </m:ctrlPr>
                        </m:fPr>
                        <m:num>
                          <m:sSub>
                            <m:sSubPr>
                              <m:ctrlPr>
                                <a:rPr lang="en-US" sz="2600" i="1">
                                  <a:latin typeface="Cambria Math" panose="02040503050406030204" pitchFamily="18" charset="0"/>
                                  <a:ea typeface="Cambria" panose="02040503050406030204" pitchFamily="18" charset="0"/>
                                </a:rPr>
                              </m:ctrlPr>
                            </m:sSubPr>
                            <m:e>
                              <m:r>
                                <a:rPr lang="en-US" sz="2600" i="1">
                                  <a:latin typeface="Cambria Math" panose="02040503050406030204" pitchFamily="18" charset="0"/>
                                  <a:ea typeface="Cambria" panose="02040503050406030204" pitchFamily="18" charset="0"/>
                                </a:rPr>
                                <m:t>𝐼</m:t>
                              </m:r>
                            </m:e>
                            <m:sub>
                              <m:r>
                                <a:rPr lang="en-US" sz="2600" i="1">
                                  <a:latin typeface="Cambria Math" panose="02040503050406030204" pitchFamily="18" charset="0"/>
                                  <a:ea typeface="Cambria" panose="02040503050406030204" pitchFamily="18" charset="0"/>
                                </a:rPr>
                                <m:t>𝑡</m:t>
                              </m:r>
                            </m:sub>
                          </m:sSub>
                        </m:num>
                        <m:den>
                          <m:sSub>
                            <m:sSubPr>
                              <m:ctrlPr>
                                <a:rPr lang="en-US" sz="2600" i="1">
                                  <a:latin typeface="Cambria Math" panose="02040503050406030204" pitchFamily="18" charset="0"/>
                                  <a:ea typeface="Cambria" panose="02040503050406030204" pitchFamily="18" charset="0"/>
                                </a:rPr>
                              </m:ctrlPr>
                            </m:sSubPr>
                            <m:e>
                              <m:r>
                                <a:rPr lang="en-US" sz="2600" i="1">
                                  <a:latin typeface="Cambria Math" panose="02040503050406030204" pitchFamily="18" charset="0"/>
                                  <a:ea typeface="Cambria" panose="02040503050406030204" pitchFamily="18" charset="0"/>
                                </a:rPr>
                                <m:t>𝐼</m:t>
                              </m:r>
                            </m:e>
                            <m:sub>
                              <m:r>
                                <a:rPr lang="en-US" sz="2600" i="1">
                                  <a:latin typeface="Cambria Math" panose="02040503050406030204" pitchFamily="18" charset="0"/>
                                  <a:ea typeface="Cambria" panose="02040503050406030204" pitchFamily="18" charset="0"/>
                                </a:rPr>
                                <m:t>𝐶</m:t>
                              </m:r>
                            </m:sub>
                          </m:sSub>
                        </m:den>
                      </m:f>
                      <m:r>
                        <a:rPr lang="en-US" sz="2600" i="1">
                          <a:latin typeface="Cambria Math" panose="02040503050406030204" pitchFamily="18" charset="0"/>
                          <a:ea typeface="Cambria" panose="02040503050406030204" pitchFamily="18" charset="0"/>
                        </a:rPr>
                        <m:t>=</m:t>
                      </m:r>
                      <m:rad>
                        <m:radPr>
                          <m:degHide m:val="on"/>
                          <m:ctrlPr>
                            <a:rPr lang="en-US" sz="2600" i="1">
                              <a:latin typeface="Cambria Math" panose="02040503050406030204" pitchFamily="18" charset="0"/>
                              <a:ea typeface="Cambria" panose="02040503050406030204" pitchFamily="18" charset="0"/>
                            </a:rPr>
                          </m:ctrlPr>
                        </m:radPr>
                        <m:deg/>
                        <m:e>
                          <m:r>
                            <a:rPr lang="en-US" sz="2600" i="1">
                              <a:latin typeface="Cambria Math" panose="02040503050406030204" pitchFamily="18" charset="0"/>
                              <a:ea typeface="Cambria" panose="02040503050406030204" pitchFamily="18" charset="0"/>
                            </a:rPr>
                            <m:t>1+</m:t>
                          </m:r>
                          <m:f>
                            <m:fPr>
                              <m:ctrlPr>
                                <a:rPr lang="en-US" sz="2600" i="1">
                                  <a:latin typeface="Cambria Math" panose="02040503050406030204" pitchFamily="18" charset="0"/>
                                  <a:ea typeface="Cambria" panose="02040503050406030204" pitchFamily="18" charset="0"/>
                                </a:rPr>
                              </m:ctrlPr>
                            </m:fPr>
                            <m:num>
                              <m:sSup>
                                <m:sSupPr>
                                  <m:ctrlPr>
                                    <a:rPr lang="en-US" sz="2600" i="1">
                                      <a:latin typeface="Cambria Math" panose="02040503050406030204" pitchFamily="18" charset="0"/>
                                      <a:ea typeface="Cambria" panose="02040503050406030204" pitchFamily="18" charset="0"/>
                                    </a:rPr>
                                  </m:ctrlPr>
                                </m:sSupPr>
                                <m:e>
                                  <m:r>
                                    <a:rPr lang="en-US" sz="2600" i="1">
                                      <a:latin typeface="Cambria Math" panose="02040503050406030204" pitchFamily="18" charset="0"/>
                                      <a:ea typeface="Cambria" panose="02040503050406030204" pitchFamily="18" charset="0"/>
                                    </a:rPr>
                                    <m:t>𝑚</m:t>
                                  </m:r>
                                </m:e>
                                <m:sup>
                                  <m:r>
                                    <a:rPr lang="en-US" sz="2600" i="1">
                                      <a:latin typeface="Cambria Math" panose="02040503050406030204" pitchFamily="18" charset="0"/>
                                      <a:ea typeface="Cambria" panose="02040503050406030204" pitchFamily="18" charset="0"/>
                                    </a:rPr>
                                    <m:t>2</m:t>
                                  </m:r>
                                </m:sup>
                              </m:sSup>
                            </m:num>
                            <m:den>
                              <m:r>
                                <a:rPr lang="en-US" sz="2600" i="1">
                                  <a:latin typeface="Cambria Math" panose="02040503050406030204" pitchFamily="18" charset="0"/>
                                  <a:ea typeface="Cambria" panose="02040503050406030204" pitchFamily="18" charset="0"/>
                                </a:rPr>
                                <m:t>2</m:t>
                              </m:r>
                            </m:den>
                          </m:f>
                        </m:e>
                      </m:rad>
                    </m:oMath>
                  </m:oMathPara>
                </a14:m>
                <a:endParaRPr lang="en-US" sz="2600" dirty="0">
                  <a:latin typeface="Cambria" panose="02040503050406030204" pitchFamily="18" charset="0"/>
                  <a:ea typeface="Cambria" panose="02040503050406030204" pitchFamily="18" charset="0"/>
                </a:endParaRPr>
              </a:p>
              <a:p>
                <a:endParaRPr lang="en-US" sz="2600" dirty="0">
                  <a:latin typeface="Cambria" panose="02040503050406030204" pitchFamily="18" charset="0"/>
                  <a:ea typeface="Cambria" panose="02040503050406030204" pitchFamily="18" charset="0"/>
                </a:endParaRPr>
              </a:p>
              <a:p>
                <a:pPr/>
                <a14:m>
                  <m:oMathPara xmlns:m="http://schemas.openxmlformats.org/officeDocument/2006/math">
                    <m:oMathParaPr>
                      <m:jc m:val="center"/>
                    </m:oMathParaPr>
                    <m:oMath xmlns:m="http://schemas.openxmlformats.org/officeDocument/2006/math">
                      <m:r>
                        <a:rPr lang="en-US" sz="2600" i="1">
                          <a:latin typeface="Cambria Math" panose="02040503050406030204" pitchFamily="18" charset="0"/>
                          <a:ea typeface="Cambria Math" panose="02040503050406030204" pitchFamily="18" charset="0"/>
                        </a:rPr>
                        <m:t>∴</m:t>
                      </m:r>
                      <m:sSub>
                        <m:sSubPr>
                          <m:ctrlPr>
                            <a:rPr lang="en-US" sz="2600" i="1">
                              <a:latin typeface="Cambria Math" panose="02040503050406030204" pitchFamily="18" charset="0"/>
                              <a:ea typeface="Cambria" panose="02040503050406030204" pitchFamily="18" charset="0"/>
                            </a:rPr>
                          </m:ctrlPr>
                        </m:sSubPr>
                        <m:e>
                          <m:r>
                            <a:rPr lang="en-US" sz="2600" i="1">
                              <a:latin typeface="Cambria Math" panose="02040503050406030204" pitchFamily="18" charset="0"/>
                              <a:ea typeface="Cambria" panose="02040503050406030204" pitchFamily="18" charset="0"/>
                            </a:rPr>
                            <m:t>𝐼</m:t>
                          </m:r>
                        </m:e>
                        <m:sub>
                          <m:r>
                            <a:rPr lang="en-US" sz="2600" i="1">
                              <a:latin typeface="Cambria Math" panose="02040503050406030204" pitchFamily="18" charset="0"/>
                              <a:ea typeface="Cambria" panose="02040503050406030204" pitchFamily="18" charset="0"/>
                            </a:rPr>
                            <m:t>𝑡</m:t>
                          </m:r>
                        </m:sub>
                      </m:sSub>
                      <m:r>
                        <a:rPr lang="en-US" sz="2600" i="1">
                          <a:latin typeface="Cambria Math" panose="02040503050406030204" pitchFamily="18" charset="0"/>
                          <a:ea typeface="Cambria" panose="02040503050406030204" pitchFamily="18" charset="0"/>
                        </a:rPr>
                        <m:t>=</m:t>
                      </m:r>
                      <m:sSub>
                        <m:sSubPr>
                          <m:ctrlPr>
                            <a:rPr lang="en-US" sz="2600" i="1">
                              <a:latin typeface="Cambria Math" panose="02040503050406030204" pitchFamily="18" charset="0"/>
                              <a:ea typeface="Cambria" panose="02040503050406030204" pitchFamily="18" charset="0"/>
                            </a:rPr>
                          </m:ctrlPr>
                        </m:sSubPr>
                        <m:e>
                          <m:r>
                            <a:rPr lang="en-US" sz="2600" i="1">
                              <a:latin typeface="Cambria Math" panose="02040503050406030204" pitchFamily="18" charset="0"/>
                              <a:ea typeface="Cambria" panose="02040503050406030204" pitchFamily="18" charset="0"/>
                            </a:rPr>
                            <m:t>𝐼</m:t>
                          </m:r>
                        </m:e>
                        <m:sub>
                          <m:r>
                            <a:rPr lang="en-US" sz="2600" i="1">
                              <a:latin typeface="Cambria Math" panose="02040503050406030204" pitchFamily="18" charset="0"/>
                              <a:ea typeface="Cambria" panose="02040503050406030204" pitchFamily="18" charset="0"/>
                            </a:rPr>
                            <m:t>𝐶</m:t>
                          </m:r>
                        </m:sub>
                      </m:sSub>
                      <m:rad>
                        <m:radPr>
                          <m:degHide m:val="on"/>
                          <m:ctrlPr>
                            <a:rPr lang="en-US" sz="2600" i="1">
                              <a:latin typeface="Cambria Math" panose="02040503050406030204" pitchFamily="18" charset="0"/>
                              <a:ea typeface="Cambria" panose="02040503050406030204" pitchFamily="18" charset="0"/>
                            </a:rPr>
                          </m:ctrlPr>
                        </m:radPr>
                        <m:deg/>
                        <m:e>
                          <m:r>
                            <a:rPr lang="en-US" sz="2600" i="1">
                              <a:latin typeface="Cambria Math" panose="02040503050406030204" pitchFamily="18" charset="0"/>
                              <a:ea typeface="Cambria" panose="02040503050406030204" pitchFamily="18" charset="0"/>
                            </a:rPr>
                            <m:t>1+</m:t>
                          </m:r>
                          <m:f>
                            <m:fPr>
                              <m:ctrlPr>
                                <a:rPr lang="en-US" sz="2600" i="1">
                                  <a:latin typeface="Cambria Math" panose="02040503050406030204" pitchFamily="18" charset="0"/>
                                  <a:ea typeface="Cambria" panose="02040503050406030204" pitchFamily="18" charset="0"/>
                                </a:rPr>
                              </m:ctrlPr>
                            </m:fPr>
                            <m:num>
                              <m:sSup>
                                <m:sSupPr>
                                  <m:ctrlPr>
                                    <a:rPr lang="en-US" sz="2600" i="1">
                                      <a:latin typeface="Cambria Math" panose="02040503050406030204" pitchFamily="18" charset="0"/>
                                      <a:ea typeface="Cambria" panose="02040503050406030204" pitchFamily="18" charset="0"/>
                                    </a:rPr>
                                  </m:ctrlPr>
                                </m:sSupPr>
                                <m:e>
                                  <m:r>
                                    <a:rPr lang="en-US" sz="2600" i="1">
                                      <a:latin typeface="Cambria Math" panose="02040503050406030204" pitchFamily="18" charset="0"/>
                                      <a:ea typeface="Cambria" panose="02040503050406030204" pitchFamily="18" charset="0"/>
                                    </a:rPr>
                                    <m:t>𝑚</m:t>
                                  </m:r>
                                </m:e>
                                <m:sup>
                                  <m:r>
                                    <a:rPr lang="en-US" sz="2600" i="1">
                                      <a:latin typeface="Cambria Math" panose="02040503050406030204" pitchFamily="18" charset="0"/>
                                      <a:ea typeface="Cambria" panose="02040503050406030204" pitchFamily="18" charset="0"/>
                                    </a:rPr>
                                    <m:t>2</m:t>
                                  </m:r>
                                </m:sup>
                              </m:sSup>
                            </m:num>
                            <m:den>
                              <m:r>
                                <a:rPr lang="en-US" sz="2600" i="1">
                                  <a:latin typeface="Cambria Math" panose="02040503050406030204" pitchFamily="18" charset="0"/>
                                  <a:ea typeface="Cambria" panose="02040503050406030204" pitchFamily="18" charset="0"/>
                                </a:rPr>
                                <m:t>2</m:t>
                              </m:r>
                            </m:den>
                          </m:f>
                        </m:e>
                      </m:rad>
                    </m:oMath>
                  </m:oMathPara>
                </a14:m>
                <a:endParaRPr lang="en-US" sz="2600" dirty="0">
                  <a:latin typeface="Cambria" panose="02040503050406030204" pitchFamily="18" charset="0"/>
                  <a:ea typeface="Cambria" panose="02040503050406030204" pitchFamily="18" charset="0"/>
                </a:endParaRPr>
              </a:p>
            </p:txBody>
          </p:sp>
        </mc:Choice>
        <mc:Fallback xmlns="">
          <p:sp>
            <p:nvSpPr>
              <p:cNvPr id="11" name="TextBox 10">
                <a:extLst>
                  <a:ext uri="{FF2B5EF4-FFF2-40B4-BE49-F238E27FC236}">
                    <a16:creationId xmlns:a16="http://schemas.microsoft.com/office/drawing/2014/main" id="{494FE0D4-8CAA-4505-A6AB-13E3724BE4D8}"/>
                  </a:ext>
                </a:extLst>
              </p:cNvPr>
              <p:cNvSpPr txBox="1">
                <a:spLocks noRot="1" noChangeAspect="1" noMove="1" noResize="1" noEditPoints="1" noAdjustHandles="1" noChangeArrowheads="1" noChangeShapeType="1" noTextEdit="1"/>
              </p:cNvSpPr>
              <p:nvPr/>
            </p:nvSpPr>
            <p:spPr>
              <a:xfrm>
                <a:off x="6078220" y="2740456"/>
                <a:ext cx="5318760" cy="3461056"/>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1544915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4EDBD9B-7C69-C964-7E4D-B515E3B81F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0B878FD4-7F49-9DEA-9EE2-BBE412237F60}"/>
              </a:ext>
            </a:extLst>
          </p:cNvPr>
          <p:cNvSpPr>
            <a:spLocks noGrp="1"/>
          </p:cNvSpPr>
          <p:nvPr>
            <p:ph type="title"/>
          </p:nvPr>
        </p:nvSpPr>
        <p:spPr>
          <a:xfrm>
            <a:off x="1936750" y="190500"/>
            <a:ext cx="9645650" cy="582930"/>
          </a:xfrm>
        </p:spPr>
        <p:txBody>
          <a:bodyPr/>
          <a:lstStyle/>
          <a:p>
            <a:r>
              <a:rPr lang="en-US" altLang="en-US" b="1" dirty="0">
                <a:sym typeface="+mn-ea"/>
              </a:rPr>
              <a:t>Amplitude Modulation</a:t>
            </a:r>
            <a:endParaRPr lang="en-US" altLang="en-US" b="1" dirty="0"/>
          </a:p>
        </p:txBody>
      </p:sp>
      <p:sp>
        <p:nvSpPr>
          <p:cNvPr id="4" name="Slide Number Placeholder 3">
            <a:extLst>
              <a:ext uri="{FF2B5EF4-FFF2-40B4-BE49-F238E27FC236}">
                <a16:creationId xmlns:a16="http://schemas.microsoft.com/office/drawing/2014/main" xmlns="" id="{95F614F4-1A11-F01F-C1F0-B7C74A047CB7}"/>
              </a:ext>
            </a:extLst>
          </p:cNvPr>
          <p:cNvSpPr>
            <a:spLocks noGrp="1"/>
          </p:cNvSpPr>
          <p:nvPr>
            <p:ph type="sldNum" sz="quarter" idx="12"/>
          </p:nvPr>
        </p:nvSpPr>
        <p:spPr/>
        <p:txBody>
          <a:bodyPr/>
          <a:lstStyle/>
          <a:p>
            <a:fld id="{50D97DBC-71BD-4B00-8F4D-DDC0A0D17A0C}" type="slidenum">
              <a:rPr lang="en-US" smtClean="0"/>
              <a:t>15</a:t>
            </a:fld>
            <a:endParaRPr lang="en-US" dirty="0"/>
          </a:p>
        </p:txBody>
      </p:sp>
      <p:sp>
        <p:nvSpPr>
          <p:cNvPr id="5" name="Date Placeholder 4">
            <a:extLst>
              <a:ext uri="{FF2B5EF4-FFF2-40B4-BE49-F238E27FC236}">
                <a16:creationId xmlns:a16="http://schemas.microsoft.com/office/drawing/2014/main" xmlns="" id="{83BDA60D-53DB-6930-8D97-6FD3767F9F08}"/>
              </a:ext>
            </a:extLst>
          </p:cNvPr>
          <p:cNvSpPr>
            <a:spLocks noGrp="1"/>
          </p:cNvSpPr>
          <p:nvPr>
            <p:ph type="dt" sz="half" idx="10"/>
          </p:nvPr>
        </p:nvSpPr>
        <p:spPr/>
        <p:txBody>
          <a:bodyPr/>
          <a:lstStyle/>
          <a:p>
            <a:fld id="{F0B4034D-A911-A642-B8E1-BA081BB67D6F}" type="datetime1">
              <a:rPr lang="en-AU" smtClean="0"/>
              <a:t>16/02/2026</a:t>
            </a:fld>
            <a:endParaRPr lang="en-US" dirty="0"/>
          </a:p>
        </p:txBody>
      </p:sp>
      <p:sp>
        <p:nvSpPr>
          <p:cNvPr id="6" name="Footer Placeholder 5">
            <a:extLst>
              <a:ext uri="{FF2B5EF4-FFF2-40B4-BE49-F238E27FC236}">
                <a16:creationId xmlns:a16="http://schemas.microsoft.com/office/drawing/2014/main" xmlns="" id="{8CC4DAAE-C184-67A4-A4BC-FB2CDEE74C79}"/>
              </a:ext>
            </a:extLst>
          </p:cNvPr>
          <p:cNvSpPr>
            <a:spLocks noGrp="1"/>
          </p:cNvSpPr>
          <p:nvPr>
            <p:ph type="ftr" sz="quarter" idx="11"/>
          </p:nvPr>
        </p:nvSpPr>
        <p:spPr/>
        <p:txBody>
          <a:bodyPr/>
          <a:lstStyle/>
          <a:p>
            <a:r>
              <a:rPr lang="en-US"/>
              <a:t>@Foez Ahmed, CSE, VU</a:t>
            </a:r>
          </a:p>
        </p:txBody>
      </p:sp>
      <p:sp>
        <p:nvSpPr>
          <p:cNvPr id="10" name="Content Placeholder 2">
            <a:extLst>
              <a:ext uri="{FF2B5EF4-FFF2-40B4-BE49-F238E27FC236}">
                <a16:creationId xmlns:a16="http://schemas.microsoft.com/office/drawing/2014/main" xmlns="" id="{3EB41901-2D7D-5610-8884-D39CB5C7D061}"/>
              </a:ext>
            </a:extLst>
          </p:cNvPr>
          <p:cNvSpPr>
            <a:spLocks noGrp="1" noChangeAspect="1"/>
          </p:cNvSpPr>
          <p:nvPr>
            <p:ph idx="1"/>
          </p:nvPr>
        </p:nvSpPr>
        <p:spPr>
          <a:xfrm>
            <a:off x="874954" y="1017066"/>
            <a:ext cx="10431314" cy="476250"/>
          </a:xfrm>
        </p:spPr>
        <p:txBody>
          <a:bodyPr/>
          <a:lstStyle/>
          <a:p>
            <a:pPr>
              <a:buFont typeface="Wingdings" pitchFamily="2" charset="2"/>
              <a:buChar char="q"/>
            </a:pPr>
            <a:r>
              <a:rPr lang="en-US" altLang="en-US" sz="2400" b="1" dirty="0"/>
              <a:t>Modulation by Several Sine Waves:</a:t>
            </a:r>
            <a:endParaRPr lang="en-US" altLang="en-US" sz="2400"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xmlns="" id="{9ACEA8DC-04BD-1EFA-08E7-11D46CBDC902}"/>
                  </a:ext>
                </a:extLst>
              </p:cNvPr>
              <p:cNvSpPr txBox="1"/>
              <p:nvPr/>
            </p:nvSpPr>
            <p:spPr>
              <a:xfrm>
                <a:off x="1223400" y="1654662"/>
                <a:ext cx="10431314" cy="989443"/>
              </a:xfrm>
              <a:prstGeom prst="rect">
                <a:avLst/>
              </a:prstGeom>
              <a:noFill/>
            </p:spPr>
            <p:txBody>
              <a:bodyPr wrap="square" rtlCol="0">
                <a:noAutofit/>
              </a:bodyPr>
              <a:lstStyle/>
              <a:p>
                <a:pPr algn="just"/>
                <a:r>
                  <a:rPr lang="en-US" sz="2200" dirty="0">
                    <a:ea typeface="Cambria" panose="02040503050406030204" pitchFamily="18" charset="0"/>
                  </a:rPr>
                  <a:t>Let, there are “n” number of sine waves namely </a:t>
                </a:r>
                <a14:m>
                  <m:oMath xmlns:m="http://schemas.openxmlformats.org/officeDocument/2006/math">
                    <m:sSub>
                      <m:sSubPr>
                        <m:ctrlPr>
                          <a:rPr lang="en-US" sz="2200" i="1">
                            <a:latin typeface="Cambria Math" panose="02040503050406030204" pitchFamily="18" charset="0"/>
                            <a:ea typeface="Cambria" panose="02040503050406030204" pitchFamily="18" charset="0"/>
                          </a:rPr>
                        </m:ctrlPr>
                      </m:sSubPr>
                      <m:e>
                        <m:r>
                          <a:rPr lang="en-US" sz="2200" i="1">
                            <a:latin typeface="Cambria Math" panose="02040503050406030204" pitchFamily="18" charset="0"/>
                            <a:ea typeface="Cambria" panose="02040503050406030204" pitchFamily="18" charset="0"/>
                          </a:rPr>
                          <m:t>𝑉</m:t>
                        </m:r>
                      </m:e>
                      <m:sub>
                        <m:r>
                          <a:rPr lang="en-US" sz="2200" i="1">
                            <a:latin typeface="Cambria Math" panose="02040503050406030204" pitchFamily="18" charset="0"/>
                            <a:ea typeface="Cambria" panose="02040503050406030204" pitchFamily="18" charset="0"/>
                          </a:rPr>
                          <m:t>1</m:t>
                        </m:r>
                      </m:sub>
                    </m:sSub>
                  </m:oMath>
                </a14:m>
                <a:r>
                  <a:rPr lang="en-US" sz="2200" dirty="0">
                    <a:ea typeface="Cambria" panose="02040503050406030204" pitchFamily="18" charset="0"/>
                  </a:rPr>
                  <a:t>, </a:t>
                </a:r>
                <a14:m>
                  <m:oMath xmlns:m="http://schemas.openxmlformats.org/officeDocument/2006/math">
                    <m:sSub>
                      <m:sSubPr>
                        <m:ctrlPr>
                          <a:rPr lang="en-US" sz="2200" i="1">
                            <a:latin typeface="Cambria Math" panose="02040503050406030204" pitchFamily="18" charset="0"/>
                            <a:ea typeface="Cambria" panose="02040503050406030204" pitchFamily="18" charset="0"/>
                          </a:rPr>
                        </m:ctrlPr>
                      </m:sSubPr>
                      <m:e>
                        <m:r>
                          <a:rPr lang="en-US" sz="2200" i="1">
                            <a:latin typeface="Cambria Math" panose="02040503050406030204" pitchFamily="18" charset="0"/>
                            <a:ea typeface="Cambria" panose="02040503050406030204" pitchFamily="18" charset="0"/>
                          </a:rPr>
                          <m:t>𝑉</m:t>
                        </m:r>
                      </m:e>
                      <m:sub>
                        <m:r>
                          <a:rPr lang="en-US" sz="2200" i="1">
                            <a:latin typeface="Cambria Math" panose="02040503050406030204" pitchFamily="18" charset="0"/>
                            <a:ea typeface="Cambria" panose="02040503050406030204" pitchFamily="18" charset="0"/>
                          </a:rPr>
                          <m:t>2</m:t>
                        </m:r>
                      </m:sub>
                    </m:sSub>
                  </m:oMath>
                </a14:m>
                <a:r>
                  <a:rPr lang="en-US" sz="2200" dirty="0">
                    <a:ea typeface="Cambria" panose="02040503050406030204" pitchFamily="18" charset="0"/>
                  </a:rPr>
                  <a:t>, …, </a:t>
                </a:r>
                <a14:m>
                  <m:oMath xmlns:m="http://schemas.openxmlformats.org/officeDocument/2006/math">
                    <m:sSub>
                      <m:sSubPr>
                        <m:ctrlPr>
                          <a:rPr lang="en-US" sz="2200" i="1">
                            <a:latin typeface="Cambria Math" panose="02040503050406030204" pitchFamily="18" charset="0"/>
                            <a:ea typeface="Cambria" panose="02040503050406030204" pitchFamily="18" charset="0"/>
                          </a:rPr>
                        </m:ctrlPr>
                      </m:sSubPr>
                      <m:e>
                        <m:r>
                          <a:rPr lang="en-US" sz="2200" i="1">
                            <a:latin typeface="Cambria Math" panose="02040503050406030204" pitchFamily="18" charset="0"/>
                            <a:ea typeface="Cambria" panose="02040503050406030204" pitchFamily="18" charset="0"/>
                          </a:rPr>
                          <m:t>𝑉</m:t>
                        </m:r>
                      </m:e>
                      <m:sub>
                        <m:r>
                          <a:rPr lang="en-US" sz="2200" i="1">
                            <a:latin typeface="Cambria Math" panose="02040503050406030204" pitchFamily="18" charset="0"/>
                            <a:ea typeface="Cambria" panose="02040503050406030204" pitchFamily="18" charset="0"/>
                          </a:rPr>
                          <m:t>𝑛</m:t>
                        </m:r>
                      </m:sub>
                    </m:sSub>
                  </m:oMath>
                </a14:m>
                <a:r>
                  <a:rPr lang="en-US" sz="2200" dirty="0">
                    <a:ea typeface="Cambria" panose="02040503050406030204" pitchFamily="18" charset="0"/>
                  </a:rPr>
                  <a:t> modulating a single carrier wave. So, we take the rms value of all the modulating signals.</a:t>
                </a:r>
              </a:p>
            </p:txBody>
          </p:sp>
        </mc:Choice>
        <mc:Fallback xmlns="">
          <p:sp>
            <p:nvSpPr>
              <p:cNvPr id="12" name="TextBox 11">
                <a:extLst>
                  <a:ext uri="{FF2B5EF4-FFF2-40B4-BE49-F238E27FC236}">
                    <a16:creationId xmlns:a16="http://schemas.microsoft.com/office/drawing/2014/main" id="{9ACEA8DC-04BD-1EFA-08E7-11D46CBDC902}"/>
                  </a:ext>
                </a:extLst>
              </p:cNvPr>
              <p:cNvSpPr txBox="1">
                <a:spLocks noRot="1" noChangeAspect="1" noMove="1" noResize="1" noEditPoints="1" noAdjustHandles="1" noChangeArrowheads="1" noChangeShapeType="1" noTextEdit="1"/>
              </p:cNvSpPr>
              <p:nvPr/>
            </p:nvSpPr>
            <p:spPr>
              <a:xfrm>
                <a:off x="1223400" y="1654662"/>
                <a:ext cx="10431314" cy="989443"/>
              </a:xfrm>
              <a:prstGeom prst="rect">
                <a:avLst/>
              </a:prstGeom>
              <a:blipFill>
                <a:blip r:embed="rId3"/>
                <a:stretch>
                  <a:fillRect l="-730" t="-3797" r="-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xmlns="" id="{4DFDABDB-F5FA-3ADA-2ADC-424B69843D78}"/>
                  </a:ext>
                </a:extLst>
              </p:cNvPr>
              <p:cNvSpPr txBox="1"/>
              <p:nvPr/>
            </p:nvSpPr>
            <p:spPr>
              <a:xfrm>
                <a:off x="1360715" y="2478314"/>
                <a:ext cx="4400005" cy="3807279"/>
              </a:xfrm>
              <a:prstGeom prst="rect">
                <a:avLst/>
              </a:prstGeom>
              <a:noFill/>
            </p:spPr>
            <p:txBody>
              <a:bodyPr wrap="square" rtlCol="0">
                <a:noAutofit/>
              </a:bodyPr>
              <a:lstStyle/>
              <a:p>
                <a:pPr/>
                <a14:m>
                  <m:oMathPara xmlns:m="http://schemas.openxmlformats.org/officeDocument/2006/math">
                    <m:oMathParaPr>
                      <m:jc m:val="center"/>
                    </m:oMathParaPr>
                    <m:oMath xmlns:m="http://schemas.openxmlformats.org/officeDocument/2006/math">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𝑚</m:t>
                          </m:r>
                        </m:sub>
                      </m:sSub>
                      <m:r>
                        <a:rPr lang="en-US" sz="2400" i="1">
                          <a:latin typeface="Cambria Math" panose="02040503050406030204" pitchFamily="18" charset="0"/>
                          <a:ea typeface="Cambria" panose="02040503050406030204" pitchFamily="18" charset="0"/>
                        </a:rPr>
                        <m:t>=</m:t>
                      </m:r>
                      <m:rad>
                        <m:radPr>
                          <m:degHide m:val="on"/>
                          <m:ctrlPr>
                            <a:rPr lang="en-US" sz="2400" i="1">
                              <a:latin typeface="Cambria Math" panose="02040503050406030204" pitchFamily="18" charset="0"/>
                              <a:ea typeface="Cambria" panose="02040503050406030204" pitchFamily="18" charset="0"/>
                            </a:rPr>
                          </m:ctrlPr>
                        </m:radPr>
                        <m:deg/>
                        <m:e>
                          <m:sSup>
                            <m:sSupPr>
                              <m:ctrlPr>
                                <a:rPr lang="en-US" sz="2400" i="1">
                                  <a:latin typeface="Cambria Math" panose="02040503050406030204" pitchFamily="18" charset="0"/>
                                  <a:ea typeface="Cambria" panose="02040503050406030204" pitchFamily="18" charset="0"/>
                                </a:rPr>
                              </m:ctrlPr>
                            </m:sSup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1</m:t>
                                  </m:r>
                                </m:sub>
                              </m:sSub>
                            </m:e>
                            <m:sup>
                              <m:r>
                                <a:rPr lang="en-US" sz="2400" i="1">
                                  <a:latin typeface="Cambria Math" panose="02040503050406030204" pitchFamily="18" charset="0"/>
                                  <a:ea typeface="Cambria" panose="02040503050406030204" pitchFamily="18" charset="0"/>
                                </a:rPr>
                                <m:t>2</m:t>
                              </m:r>
                            </m:sup>
                          </m:sSup>
                          <m:r>
                            <a:rPr lang="en-US" sz="2400" i="1">
                              <a:latin typeface="Cambria Math" panose="02040503050406030204" pitchFamily="18" charset="0"/>
                              <a:ea typeface="Cambria" panose="02040503050406030204" pitchFamily="18" charset="0"/>
                            </a:rPr>
                            <m:t>+</m:t>
                          </m:r>
                          <m:sSup>
                            <m:sSupPr>
                              <m:ctrlPr>
                                <a:rPr lang="en-US" sz="2400" i="1">
                                  <a:latin typeface="Cambria Math" panose="02040503050406030204" pitchFamily="18" charset="0"/>
                                  <a:ea typeface="Cambria" panose="02040503050406030204" pitchFamily="18" charset="0"/>
                                </a:rPr>
                              </m:ctrlPr>
                            </m:sSup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2</m:t>
                                  </m:r>
                                </m:sub>
                              </m:sSub>
                            </m:e>
                            <m:sup>
                              <m:r>
                                <a:rPr lang="en-US" sz="2400" i="1">
                                  <a:latin typeface="Cambria Math" panose="02040503050406030204" pitchFamily="18" charset="0"/>
                                  <a:ea typeface="Cambria" panose="02040503050406030204" pitchFamily="18" charset="0"/>
                                </a:rPr>
                                <m:t>2</m:t>
                              </m:r>
                            </m:sup>
                          </m:sSup>
                          <m:r>
                            <a:rPr lang="en-US" sz="2400" i="1">
                              <a:latin typeface="Cambria Math" panose="02040503050406030204" pitchFamily="18" charset="0"/>
                              <a:ea typeface="Cambria" panose="02040503050406030204" pitchFamily="18" charset="0"/>
                            </a:rPr>
                            <m:t>+…+</m:t>
                          </m:r>
                          <m:sSup>
                            <m:sSupPr>
                              <m:ctrlPr>
                                <a:rPr lang="en-US" sz="2400" i="1">
                                  <a:latin typeface="Cambria Math" panose="02040503050406030204" pitchFamily="18" charset="0"/>
                                  <a:ea typeface="Cambria" panose="02040503050406030204" pitchFamily="18" charset="0"/>
                                </a:rPr>
                              </m:ctrlPr>
                            </m:sSup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𝑛</m:t>
                                  </m:r>
                                </m:sub>
                              </m:sSub>
                            </m:e>
                            <m:sup>
                              <m:r>
                                <a:rPr lang="en-US" sz="2400" i="1">
                                  <a:latin typeface="Cambria Math" panose="02040503050406030204" pitchFamily="18" charset="0"/>
                                  <a:ea typeface="Cambria" panose="02040503050406030204" pitchFamily="18" charset="0"/>
                                </a:rPr>
                                <m:t>2</m:t>
                              </m:r>
                            </m:sup>
                          </m:sSup>
                        </m:e>
                      </m:rad>
                    </m:oMath>
                  </m:oMathPara>
                </a14:m>
                <a:endParaRPr lang="en-US" sz="2400" dirty="0">
                  <a:ea typeface="Cambria" panose="02040503050406030204" pitchFamily="18" charset="0"/>
                </a:endParaRPr>
              </a:p>
              <a:p>
                <a:pPr/>
                <a14:m>
                  <m:oMathPara xmlns:m="http://schemas.openxmlformats.org/officeDocument/2006/math">
                    <m:oMathParaPr>
                      <m:jc m:val="center"/>
                    </m:oMathParaPr>
                    <m:oMath xmlns:m="http://schemas.openxmlformats.org/officeDocument/2006/math">
                      <m:r>
                        <a:rPr lang="en-US" sz="240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panose="02040503050406030204" pitchFamily="18" charset="0"/>
                            </a:rPr>
                          </m:ctrlPr>
                        </m:fPr>
                        <m:num>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𝑚</m:t>
                              </m:r>
                            </m:sub>
                          </m:sSub>
                        </m:num>
                        <m:den>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𝑐</m:t>
                              </m:r>
                            </m:sub>
                          </m:sSub>
                        </m:den>
                      </m:f>
                      <m:r>
                        <a:rPr lang="en-US" sz="2400" i="1">
                          <a:latin typeface="Cambria Math" panose="02040503050406030204" pitchFamily="18" charset="0"/>
                          <a:ea typeface="Cambria" panose="02040503050406030204" pitchFamily="18" charset="0"/>
                        </a:rPr>
                        <m:t>=</m:t>
                      </m:r>
                      <m:f>
                        <m:fPr>
                          <m:ctrlPr>
                            <a:rPr lang="en-US" sz="2400" i="1">
                              <a:latin typeface="Cambria Math" panose="02040503050406030204" pitchFamily="18" charset="0"/>
                              <a:ea typeface="Cambria" panose="02040503050406030204" pitchFamily="18" charset="0"/>
                            </a:rPr>
                          </m:ctrlPr>
                        </m:fPr>
                        <m:num>
                          <m:rad>
                            <m:radPr>
                              <m:degHide m:val="on"/>
                              <m:ctrlPr>
                                <a:rPr lang="en-US" sz="2400" i="1">
                                  <a:latin typeface="Cambria Math" panose="02040503050406030204" pitchFamily="18" charset="0"/>
                                  <a:ea typeface="Cambria" panose="02040503050406030204" pitchFamily="18" charset="0"/>
                                </a:rPr>
                              </m:ctrlPr>
                            </m:radPr>
                            <m:deg/>
                            <m:e>
                              <m:sSup>
                                <m:sSupPr>
                                  <m:ctrlPr>
                                    <a:rPr lang="en-US" sz="2400" i="1">
                                      <a:latin typeface="Cambria Math" panose="02040503050406030204" pitchFamily="18" charset="0"/>
                                      <a:ea typeface="Cambria" panose="02040503050406030204" pitchFamily="18" charset="0"/>
                                    </a:rPr>
                                  </m:ctrlPr>
                                </m:sSup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1</m:t>
                                      </m:r>
                                    </m:sub>
                                  </m:sSub>
                                </m:e>
                                <m:sup>
                                  <m:r>
                                    <a:rPr lang="en-US" sz="2400" i="1">
                                      <a:latin typeface="Cambria Math" panose="02040503050406030204" pitchFamily="18" charset="0"/>
                                      <a:ea typeface="Cambria" panose="02040503050406030204" pitchFamily="18" charset="0"/>
                                    </a:rPr>
                                    <m:t>2</m:t>
                                  </m:r>
                                </m:sup>
                              </m:sSup>
                              <m:r>
                                <a:rPr lang="en-US" sz="2400" i="1">
                                  <a:latin typeface="Cambria Math" panose="02040503050406030204" pitchFamily="18" charset="0"/>
                                  <a:ea typeface="Cambria" panose="02040503050406030204" pitchFamily="18" charset="0"/>
                                </a:rPr>
                                <m:t>+</m:t>
                              </m:r>
                              <m:sSup>
                                <m:sSupPr>
                                  <m:ctrlPr>
                                    <a:rPr lang="en-US" sz="2400" i="1">
                                      <a:latin typeface="Cambria Math" panose="02040503050406030204" pitchFamily="18" charset="0"/>
                                      <a:ea typeface="Cambria" panose="02040503050406030204" pitchFamily="18" charset="0"/>
                                    </a:rPr>
                                  </m:ctrlPr>
                                </m:sSup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2</m:t>
                                      </m:r>
                                    </m:sub>
                                  </m:sSub>
                                </m:e>
                                <m:sup>
                                  <m:r>
                                    <a:rPr lang="en-US" sz="2400" i="1">
                                      <a:latin typeface="Cambria Math" panose="02040503050406030204" pitchFamily="18" charset="0"/>
                                      <a:ea typeface="Cambria" panose="02040503050406030204" pitchFamily="18" charset="0"/>
                                    </a:rPr>
                                    <m:t>2</m:t>
                                  </m:r>
                                </m:sup>
                              </m:sSup>
                              <m:r>
                                <a:rPr lang="en-US" sz="2400" i="1">
                                  <a:latin typeface="Cambria Math" panose="02040503050406030204" pitchFamily="18" charset="0"/>
                                  <a:ea typeface="Cambria" panose="02040503050406030204" pitchFamily="18" charset="0"/>
                                </a:rPr>
                                <m:t>+…+</m:t>
                              </m:r>
                              <m:sSup>
                                <m:sSupPr>
                                  <m:ctrlPr>
                                    <a:rPr lang="en-US" sz="2400" i="1">
                                      <a:latin typeface="Cambria Math" panose="02040503050406030204" pitchFamily="18" charset="0"/>
                                      <a:ea typeface="Cambria" panose="02040503050406030204" pitchFamily="18" charset="0"/>
                                    </a:rPr>
                                  </m:ctrlPr>
                                </m:sSup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𝑛</m:t>
                                      </m:r>
                                    </m:sub>
                                  </m:sSub>
                                </m:e>
                                <m:sup>
                                  <m:r>
                                    <a:rPr lang="en-US" sz="2400" i="1">
                                      <a:latin typeface="Cambria Math" panose="02040503050406030204" pitchFamily="18" charset="0"/>
                                      <a:ea typeface="Cambria" panose="02040503050406030204" pitchFamily="18" charset="0"/>
                                    </a:rPr>
                                    <m:t>2</m:t>
                                  </m:r>
                                </m:sup>
                              </m:sSup>
                            </m:e>
                          </m:rad>
                        </m:num>
                        <m:den>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𝑐</m:t>
                              </m:r>
                            </m:sub>
                          </m:sSub>
                        </m:den>
                      </m:f>
                    </m:oMath>
                  </m:oMathPara>
                </a14:m>
                <a:endParaRPr lang="en-US" sz="2400" dirty="0">
                  <a:ea typeface="Cambria" panose="02040503050406030204" pitchFamily="18" charset="0"/>
                </a:endParaRPr>
              </a:p>
              <a:p>
                <a:pPr/>
                <a14:m>
                  <m:oMathPara xmlns:m="http://schemas.openxmlformats.org/officeDocument/2006/math">
                    <m:oMathParaPr>
                      <m:jc m:val="center"/>
                    </m:oMathParaPr>
                    <m:oMath xmlns:m="http://schemas.openxmlformats.org/officeDocument/2006/math">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panose="02040503050406030204" pitchFamily="18" charset="0"/>
                        </a:rPr>
                        <m:t>𝑚</m:t>
                      </m:r>
                      <m:r>
                        <a:rPr lang="en-US" sz="2400" i="1">
                          <a:latin typeface="Cambria Math" panose="02040503050406030204" pitchFamily="18" charset="0"/>
                          <a:ea typeface="Cambria" panose="02040503050406030204" pitchFamily="18" charset="0"/>
                        </a:rPr>
                        <m:t>=</m:t>
                      </m:r>
                      <m:rad>
                        <m:radPr>
                          <m:degHide m:val="on"/>
                          <m:ctrlPr>
                            <a:rPr lang="en-US" sz="2400" i="1">
                              <a:latin typeface="Cambria Math" panose="02040503050406030204" pitchFamily="18" charset="0"/>
                              <a:ea typeface="Cambria" panose="02040503050406030204" pitchFamily="18" charset="0"/>
                            </a:rPr>
                          </m:ctrlPr>
                        </m:radPr>
                        <m:deg/>
                        <m:e>
                          <m:f>
                            <m:fPr>
                              <m:ctrlPr>
                                <a:rPr lang="en-US" sz="2400" i="1">
                                  <a:latin typeface="Cambria Math" panose="02040503050406030204" pitchFamily="18" charset="0"/>
                                  <a:ea typeface="Cambria" panose="02040503050406030204" pitchFamily="18" charset="0"/>
                                </a:rPr>
                              </m:ctrlPr>
                            </m:fPr>
                            <m:num>
                              <m:sSup>
                                <m:sSupPr>
                                  <m:ctrlPr>
                                    <a:rPr lang="en-US" sz="2400" i="1">
                                      <a:latin typeface="Cambria Math" panose="02040503050406030204" pitchFamily="18" charset="0"/>
                                      <a:ea typeface="Cambria" panose="02040503050406030204" pitchFamily="18" charset="0"/>
                                    </a:rPr>
                                  </m:ctrlPr>
                                </m:sSup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1</m:t>
                                      </m:r>
                                    </m:sub>
                                  </m:sSub>
                                </m:e>
                                <m:sup>
                                  <m:r>
                                    <a:rPr lang="en-US" sz="2400" i="1">
                                      <a:latin typeface="Cambria Math" panose="02040503050406030204" pitchFamily="18" charset="0"/>
                                      <a:ea typeface="Cambria" panose="02040503050406030204" pitchFamily="18" charset="0"/>
                                    </a:rPr>
                                    <m:t>2</m:t>
                                  </m:r>
                                </m:sup>
                              </m:sSup>
                            </m:num>
                            <m:den>
                              <m:sSup>
                                <m:sSupPr>
                                  <m:ctrlPr>
                                    <a:rPr lang="en-US" sz="2400" i="1">
                                      <a:latin typeface="Cambria Math" panose="02040503050406030204" pitchFamily="18" charset="0"/>
                                      <a:ea typeface="Cambria" panose="02040503050406030204" pitchFamily="18" charset="0"/>
                                    </a:rPr>
                                  </m:ctrlPr>
                                </m:sSup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𝑐</m:t>
                                      </m:r>
                                    </m:sub>
                                  </m:sSub>
                                </m:e>
                                <m:sup>
                                  <m:r>
                                    <a:rPr lang="en-US" sz="2400" i="1">
                                      <a:latin typeface="Cambria Math" panose="02040503050406030204" pitchFamily="18" charset="0"/>
                                      <a:ea typeface="Cambria" panose="02040503050406030204" pitchFamily="18" charset="0"/>
                                    </a:rPr>
                                    <m:t>2</m:t>
                                  </m:r>
                                </m:sup>
                              </m:sSup>
                            </m:den>
                          </m:f>
                          <m:r>
                            <a:rPr lang="en-US" sz="2400" i="1">
                              <a:latin typeface="Cambria Math" panose="02040503050406030204" pitchFamily="18" charset="0"/>
                              <a:ea typeface="Cambria" panose="02040503050406030204" pitchFamily="18" charset="0"/>
                            </a:rPr>
                            <m:t>+</m:t>
                          </m:r>
                          <m:f>
                            <m:fPr>
                              <m:ctrlPr>
                                <a:rPr lang="en-US" sz="2400" i="1">
                                  <a:latin typeface="Cambria Math" panose="02040503050406030204" pitchFamily="18" charset="0"/>
                                  <a:ea typeface="Cambria" panose="02040503050406030204" pitchFamily="18" charset="0"/>
                                </a:rPr>
                              </m:ctrlPr>
                            </m:fPr>
                            <m:num>
                              <m:sSup>
                                <m:sSupPr>
                                  <m:ctrlPr>
                                    <a:rPr lang="en-US" sz="2400" i="1">
                                      <a:latin typeface="Cambria Math" panose="02040503050406030204" pitchFamily="18" charset="0"/>
                                      <a:ea typeface="Cambria" panose="02040503050406030204" pitchFamily="18" charset="0"/>
                                    </a:rPr>
                                  </m:ctrlPr>
                                </m:sSup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2</m:t>
                                      </m:r>
                                    </m:sub>
                                  </m:sSub>
                                </m:e>
                                <m:sup>
                                  <m:r>
                                    <a:rPr lang="en-US" sz="2400" i="1">
                                      <a:latin typeface="Cambria Math" panose="02040503050406030204" pitchFamily="18" charset="0"/>
                                      <a:ea typeface="Cambria" panose="02040503050406030204" pitchFamily="18" charset="0"/>
                                    </a:rPr>
                                    <m:t>2</m:t>
                                  </m:r>
                                </m:sup>
                              </m:sSup>
                            </m:num>
                            <m:den>
                              <m:sSup>
                                <m:sSupPr>
                                  <m:ctrlPr>
                                    <a:rPr lang="en-US" sz="2400" i="1">
                                      <a:latin typeface="Cambria Math" panose="02040503050406030204" pitchFamily="18" charset="0"/>
                                      <a:ea typeface="Cambria" panose="02040503050406030204" pitchFamily="18" charset="0"/>
                                    </a:rPr>
                                  </m:ctrlPr>
                                </m:sSup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𝑐</m:t>
                                      </m:r>
                                    </m:sub>
                                  </m:sSub>
                                </m:e>
                                <m:sup>
                                  <m:r>
                                    <a:rPr lang="en-US" sz="2400" i="1">
                                      <a:latin typeface="Cambria Math" panose="02040503050406030204" pitchFamily="18" charset="0"/>
                                      <a:ea typeface="Cambria" panose="02040503050406030204" pitchFamily="18" charset="0"/>
                                    </a:rPr>
                                    <m:t>2</m:t>
                                  </m:r>
                                </m:sup>
                              </m:sSup>
                            </m:den>
                          </m:f>
                          <m:r>
                            <a:rPr lang="en-US" sz="2400" i="1">
                              <a:latin typeface="Cambria Math" panose="02040503050406030204" pitchFamily="18" charset="0"/>
                              <a:ea typeface="Cambria" panose="02040503050406030204" pitchFamily="18" charset="0"/>
                            </a:rPr>
                            <m:t>+…+</m:t>
                          </m:r>
                          <m:f>
                            <m:fPr>
                              <m:ctrlPr>
                                <a:rPr lang="en-US" sz="2400" i="1">
                                  <a:latin typeface="Cambria Math" panose="02040503050406030204" pitchFamily="18" charset="0"/>
                                  <a:ea typeface="Cambria" panose="02040503050406030204" pitchFamily="18" charset="0"/>
                                </a:rPr>
                              </m:ctrlPr>
                            </m:fPr>
                            <m:num>
                              <m:sSup>
                                <m:sSupPr>
                                  <m:ctrlPr>
                                    <a:rPr lang="en-US" sz="2400" i="1">
                                      <a:latin typeface="Cambria Math" panose="02040503050406030204" pitchFamily="18" charset="0"/>
                                      <a:ea typeface="Cambria" panose="02040503050406030204" pitchFamily="18" charset="0"/>
                                    </a:rPr>
                                  </m:ctrlPr>
                                </m:sSup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𝑛</m:t>
                                      </m:r>
                                    </m:sub>
                                  </m:sSub>
                                </m:e>
                                <m:sup>
                                  <m:r>
                                    <a:rPr lang="en-US" sz="2400" i="1">
                                      <a:latin typeface="Cambria Math" panose="02040503050406030204" pitchFamily="18" charset="0"/>
                                      <a:ea typeface="Cambria" panose="02040503050406030204" pitchFamily="18" charset="0"/>
                                    </a:rPr>
                                    <m:t>2</m:t>
                                  </m:r>
                                </m:sup>
                              </m:sSup>
                            </m:num>
                            <m:den>
                              <m:sSup>
                                <m:sSupPr>
                                  <m:ctrlPr>
                                    <a:rPr lang="en-US" sz="2400" i="1">
                                      <a:latin typeface="Cambria Math" panose="02040503050406030204" pitchFamily="18" charset="0"/>
                                      <a:ea typeface="Cambria" panose="02040503050406030204" pitchFamily="18" charset="0"/>
                                    </a:rPr>
                                  </m:ctrlPr>
                                </m:sSup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𝑐</m:t>
                                      </m:r>
                                    </m:sub>
                                  </m:sSub>
                                </m:e>
                                <m:sup>
                                  <m:r>
                                    <a:rPr lang="en-US" sz="2400" i="1">
                                      <a:latin typeface="Cambria Math" panose="02040503050406030204" pitchFamily="18" charset="0"/>
                                      <a:ea typeface="Cambria" panose="02040503050406030204" pitchFamily="18" charset="0"/>
                                    </a:rPr>
                                    <m:t>2</m:t>
                                  </m:r>
                                </m:sup>
                              </m:sSup>
                            </m:den>
                          </m:f>
                        </m:e>
                      </m:rad>
                    </m:oMath>
                  </m:oMathPara>
                </a14:m>
                <a:endParaRPr lang="en-US" sz="2400" dirty="0">
                  <a:ea typeface="Cambria" panose="02040503050406030204" pitchFamily="18" charset="0"/>
                </a:endParaRPr>
              </a:p>
              <a:p>
                <a:pPr/>
                <a14:m>
                  <m:oMathPara xmlns:m="http://schemas.openxmlformats.org/officeDocument/2006/math">
                    <m:oMathParaPr>
                      <m:jc m:val="center"/>
                    </m:oMathParaPr>
                    <m:oMath xmlns:m="http://schemas.openxmlformats.org/officeDocument/2006/math">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panose="02040503050406030204" pitchFamily="18" charset="0"/>
                        </a:rPr>
                        <m:t>𝑚</m:t>
                      </m:r>
                      <m:r>
                        <a:rPr lang="en-US" sz="2400" i="1">
                          <a:latin typeface="Cambria Math" panose="02040503050406030204" pitchFamily="18" charset="0"/>
                          <a:ea typeface="Cambria" panose="02040503050406030204" pitchFamily="18" charset="0"/>
                        </a:rPr>
                        <m:t>=</m:t>
                      </m:r>
                      <m:rad>
                        <m:radPr>
                          <m:degHide m:val="on"/>
                          <m:ctrlPr>
                            <a:rPr lang="en-US" sz="2400" i="1">
                              <a:latin typeface="Cambria Math" panose="02040503050406030204" pitchFamily="18" charset="0"/>
                              <a:ea typeface="Cambria" panose="02040503050406030204" pitchFamily="18" charset="0"/>
                            </a:rPr>
                          </m:ctrlPr>
                        </m:radPr>
                        <m:deg/>
                        <m:e>
                          <m:sSup>
                            <m:sSupPr>
                              <m:ctrlPr>
                                <a:rPr lang="en-US" sz="2400" i="1">
                                  <a:latin typeface="Cambria Math" panose="02040503050406030204" pitchFamily="18" charset="0"/>
                                  <a:ea typeface="Cambria" panose="02040503050406030204" pitchFamily="18" charset="0"/>
                                </a:rPr>
                              </m:ctrlPr>
                            </m:sSup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𝑚</m:t>
                                  </m:r>
                                </m:e>
                                <m:sub>
                                  <m:r>
                                    <a:rPr lang="en-US" sz="2400" i="1">
                                      <a:latin typeface="Cambria Math" panose="02040503050406030204" pitchFamily="18" charset="0"/>
                                      <a:ea typeface="Cambria" panose="02040503050406030204" pitchFamily="18" charset="0"/>
                                    </a:rPr>
                                    <m:t>1</m:t>
                                  </m:r>
                                </m:sub>
                              </m:sSub>
                            </m:e>
                            <m:sup>
                              <m:r>
                                <a:rPr lang="en-US" sz="2400" i="1">
                                  <a:latin typeface="Cambria Math" panose="02040503050406030204" pitchFamily="18" charset="0"/>
                                  <a:ea typeface="Cambria" panose="02040503050406030204" pitchFamily="18" charset="0"/>
                                </a:rPr>
                                <m:t>2</m:t>
                              </m:r>
                            </m:sup>
                          </m:sSup>
                          <m:r>
                            <a:rPr lang="en-US" sz="2400" i="1">
                              <a:latin typeface="Cambria Math" panose="02040503050406030204" pitchFamily="18" charset="0"/>
                              <a:ea typeface="Cambria" panose="02040503050406030204" pitchFamily="18" charset="0"/>
                            </a:rPr>
                            <m:t>+</m:t>
                          </m:r>
                          <m:sSup>
                            <m:sSupPr>
                              <m:ctrlPr>
                                <a:rPr lang="en-US" sz="2400" i="1">
                                  <a:latin typeface="Cambria Math" panose="02040503050406030204" pitchFamily="18" charset="0"/>
                                  <a:ea typeface="Cambria" panose="02040503050406030204" pitchFamily="18" charset="0"/>
                                </a:rPr>
                              </m:ctrlPr>
                            </m:sSup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𝑚</m:t>
                                  </m:r>
                                </m:e>
                                <m:sub>
                                  <m:r>
                                    <a:rPr lang="en-US" sz="2400" i="1">
                                      <a:latin typeface="Cambria Math" panose="02040503050406030204" pitchFamily="18" charset="0"/>
                                      <a:ea typeface="Cambria" panose="02040503050406030204" pitchFamily="18" charset="0"/>
                                    </a:rPr>
                                    <m:t>2</m:t>
                                  </m:r>
                                </m:sub>
                              </m:sSub>
                            </m:e>
                            <m:sup>
                              <m:r>
                                <a:rPr lang="en-US" sz="2400" i="1">
                                  <a:latin typeface="Cambria Math" panose="02040503050406030204" pitchFamily="18" charset="0"/>
                                  <a:ea typeface="Cambria" panose="02040503050406030204" pitchFamily="18" charset="0"/>
                                </a:rPr>
                                <m:t>2</m:t>
                              </m:r>
                            </m:sup>
                          </m:sSup>
                          <m:r>
                            <a:rPr lang="en-US" sz="2400" i="1">
                              <a:latin typeface="Cambria Math" panose="02040503050406030204" pitchFamily="18" charset="0"/>
                              <a:ea typeface="Cambria" panose="02040503050406030204" pitchFamily="18" charset="0"/>
                            </a:rPr>
                            <m:t>+…+</m:t>
                          </m:r>
                          <m:sSup>
                            <m:sSupPr>
                              <m:ctrlPr>
                                <a:rPr lang="en-US" sz="2400" i="1">
                                  <a:latin typeface="Cambria Math" panose="02040503050406030204" pitchFamily="18" charset="0"/>
                                  <a:ea typeface="Cambria" panose="02040503050406030204" pitchFamily="18" charset="0"/>
                                </a:rPr>
                              </m:ctrlPr>
                            </m:sSup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𝑚</m:t>
                                  </m:r>
                                </m:e>
                                <m:sub>
                                  <m:r>
                                    <a:rPr lang="en-US" sz="2400" i="1">
                                      <a:latin typeface="Cambria Math" panose="02040503050406030204" pitchFamily="18" charset="0"/>
                                      <a:ea typeface="Cambria" panose="02040503050406030204" pitchFamily="18" charset="0"/>
                                    </a:rPr>
                                    <m:t>𝑛</m:t>
                                  </m:r>
                                </m:sub>
                              </m:sSub>
                            </m:e>
                            <m:sup>
                              <m:r>
                                <a:rPr lang="en-US" sz="2400" i="1">
                                  <a:latin typeface="Cambria Math" panose="02040503050406030204" pitchFamily="18" charset="0"/>
                                  <a:ea typeface="Cambria" panose="02040503050406030204" pitchFamily="18" charset="0"/>
                                </a:rPr>
                                <m:t>2</m:t>
                              </m:r>
                            </m:sup>
                          </m:sSup>
                        </m:e>
                      </m:rad>
                    </m:oMath>
                  </m:oMathPara>
                </a14:m>
                <a:endParaRPr lang="en-US" sz="2400" dirty="0">
                  <a:ea typeface="Cambria" panose="02040503050406030204" pitchFamily="18" charset="0"/>
                </a:endParaRPr>
              </a:p>
            </p:txBody>
          </p:sp>
        </mc:Choice>
        <mc:Fallback xmlns="">
          <p:sp>
            <p:nvSpPr>
              <p:cNvPr id="13" name="TextBox 12">
                <a:extLst>
                  <a:ext uri="{FF2B5EF4-FFF2-40B4-BE49-F238E27FC236}">
                    <a16:creationId xmlns:a16="http://schemas.microsoft.com/office/drawing/2014/main" id="{4DFDABDB-F5FA-3ADA-2ADC-424B69843D78}"/>
                  </a:ext>
                </a:extLst>
              </p:cNvPr>
              <p:cNvSpPr txBox="1">
                <a:spLocks noRot="1" noChangeAspect="1" noMove="1" noResize="1" noEditPoints="1" noAdjustHandles="1" noChangeArrowheads="1" noChangeShapeType="1" noTextEdit="1"/>
              </p:cNvSpPr>
              <p:nvPr/>
            </p:nvSpPr>
            <p:spPr>
              <a:xfrm>
                <a:off x="1360715" y="2478314"/>
                <a:ext cx="4400005" cy="380727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F5698F85-3760-D565-CC59-D43F86057608}"/>
                  </a:ext>
                </a:extLst>
              </p:cNvPr>
              <p:cNvSpPr txBox="1"/>
              <p:nvPr/>
            </p:nvSpPr>
            <p:spPr>
              <a:xfrm>
                <a:off x="6090611" y="3289515"/>
                <a:ext cx="5294035" cy="2418954"/>
              </a:xfrm>
              <a:prstGeom prst="rect">
                <a:avLst/>
              </a:prstGeom>
              <a:noFill/>
            </p:spPr>
            <p:txBody>
              <a:bodyPr wrap="square" rtlCol="0">
                <a:noAutofit/>
              </a:bodyPr>
              <a:lstStyle/>
              <a:p>
                <a:r>
                  <a:rPr lang="en-US" sz="2400" dirty="0">
                    <a:ea typeface="Cambria" panose="02040503050406030204" pitchFamily="18" charset="0"/>
                  </a:rPr>
                  <a:t>So, </a:t>
                </a:r>
                <a:r>
                  <a:rPr lang="en-US" sz="2400" b="1" dirty="0">
                    <a:ea typeface="Cambria" panose="02040503050406030204" pitchFamily="18" charset="0"/>
                  </a:rPr>
                  <a:t>power of the modulated signals</a:t>
                </a:r>
              </a:p>
              <a:p>
                <a:pPr algn="just"/>
                <a14:m>
                  <m:oMathPara xmlns:m="http://schemas.openxmlformats.org/officeDocument/2006/math">
                    <m:oMathParaPr>
                      <m:jc m:val="center"/>
                    </m:oMathParaPr>
                    <m:oMath xmlns:m="http://schemas.openxmlformats.org/officeDocument/2006/math">
                      <m:f>
                        <m:fPr>
                          <m:ctrlPr>
                            <a:rPr lang="en-US" sz="2400" i="1">
                              <a:latin typeface="Cambria Math" panose="02040503050406030204" pitchFamily="18" charset="0"/>
                              <a:ea typeface="Cambria" panose="02040503050406030204" pitchFamily="18" charset="0"/>
                            </a:rPr>
                          </m:ctrlPr>
                        </m:fPr>
                        <m:num>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𝑃</m:t>
                              </m:r>
                            </m:e>
                            <m:sub>
                              <m:r>
                                <a:rPr lang="en-US" sz="2400" i="1">
                                  <a:latin typeface="Cambria Math" panose="02040503050406030204" pitchFamily="18" charset="0"/>
                                  <a:ea typeface="Cambria" panose="02040503050406030204" pitchFamily="18" charset="0"/>
                                </a:rPr>
                                <m:t>𝑡</m:t>
                              </m:r>
                            </m:sub>
                          </m:sSub>
                        </m:num>
                        <m:den>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𝑃</m:t>
                              </m:r>
                            </m:e>
                            <m:sub>
                              <m:r>
                                <a:rPr lang="en-US" sz="2400" i="1">
                                  <a:latin typeface="Cambria Math" panose="02040503050406030204" pitchFamily="18" charset="0"/>
                                  <a:ea typeface="Cambria" panose="02040503050406030204" pitchFamily="18" charset="0"/>
                                </a:rPr>
                                <m:t>𝑐</m:t>
                              </m:r>
                            </m:sub>
                          </m:sSub>
                        </m:den>
                      </m:f>
                      <m:r>
                        <a:rPr lang="en-US" sz="2400" i="1">
                          <a:latin typeface="Cambria Math" panose="02040503050406030204" pitchFamily="18" charset="0"/>
                          <a:ea typeface="Cambria" panose="02040503050406030204" pitchFamily="18" charset="0"/>
                        </a:rPr>
                        <m:t>=</m:t>
                      </m:r>
                      <m:r>
                        <a:rPr lang="en-US" sz="2400" i="1">
                          <a:latin typeface="Cambria Math" panose="02040503050406030204" pitchFamily="18" charset="0"/>
                          <a:ea typeface="Cambria" panose="02040503050406030204" pitchFamily="18" charset="0"/>
                        </a:rPr>
                        <m:t>1</m:t>
                      </m:r>
                      <m:r>
                        <a:rPr lang="en-US" sz="2400" i="1">
                          <a:latin typeface="Cambria Math" panose="02040503050406030204" pitchFamily="18" charset="0"/>
                          <a:ea typeface="Cambria" panose="02040503050406030204" pitchFamily="18" charset="0"/>
                        </a:rPr>
                        <m:t>+</m:t>
                      </m:r>
                      <m:f>
                        <m:fPr>
                          <m:ctrlPr>
                            <a:rPr lang="en-US" sz="2400" i="1">
                              <a:latin typeface="Cambria Math" panose="02040503050406030204" pitchFamily="18" charset="0"/>
                              <a:ea typeface="Cambria" panose="02040503050406030204" pitchFamily="18" charset="0"/>
                            </a:rPr>
                          </m:ctrlPr>
                        </m:fPr>
                        <m:num>
                          <m:sSup>
                            <m:sSupPr>
                              <m:ctrlPr>
                                <a:rPr lang="en-US" sz="2400" i="1">
                                  <a:latin typeface="Cambria Math" panose="02040503050406030204" pitchFamily="18" charset="0"/>
                                  <a:ea typeface="Cambria" panose="02040503050406030204" pitchFamily="18" charset="0"/>
                                </a:rPr>
                              </m:ctrlPr>
                            </m:sSupPr>
                            <m:e>
                              <m:r>
                                <a:rPr lang="en-US" sz="2400" i="1">
                                  <a:latin typeface="Cambria Math" panose="02040503050406030204" pitchFamily="18" charset="0"/>
                                  <a:ea typeface="Cambria" panose="02040503050406030204" pitchFamily="18" charset="0"/>
                                </a:rPr>
                                <m:t>𝑚</m:t>
                              </m:r>
                            </m:e>
                            <m:sup>
                              <m:r>
                                <a:rPr lang="en-US" sz="2400" i="1">
                                  <a:latin typeface="Cambria Math" panose="02040503050406030204" pitchFamily="18" charset="0"/>
                                  <a:ea typeface="Cambria" panose="02040503050406030204" pitchFamily="18" charset="0"/>
                                </a:rPr>
                                <m:t>2</m:t>
                              </m:r>
                            </m:sup>
                          </m:sSup>
                        </m:num>
                        <m:den>
                          <m:r>
                            <a:rPr lang="en-US" sz="2400" i="1">
                              <a:latin typeface="Cambria Math" panose="02040503050406030204" pitchFamily="18" charset="0"/>
                              <a:ea typeface="Cambria" panose="02040503050406030204" pitchFamily="18" charset="0"/>
                            </a:rPr>
                            <m:t>2</m:t>
                          </m:r>
                        </m:den>
                      </m:f>
                    </m:oMath>
                  </m:oMathPara>
                </a14:m>
                <a:endParaRPr lang="en-AU" sz="2400" i="1" dirty="0">
                  <a:latin typeface="Cambria Math" panose="02040503050406030204" pitchFamily="18" charset="0"/>
                  <a:ea typeface="Cambria" panose="02040503050406030204" pitchFamily="18" charset="0"/>
                </a:endParaRPr>
              </a:p>
              <a:p>
                <a:pPr algn="just"/>
                <a:endParaRPr lang="en-AU" sz="2400" i="1" dirty="0">
                  <a:latin typeface="Cambria Math" panose="02040503050406030204" pitchFamily="18" charset="0"/>
                  <a:ea typeface="Cambria" panose="02040503050406030204" pitchFamily="18" charset="0"/>
                </a:endParaRPr>
              </a:p>
              <a:p>
                <a:pPr algn="just"/>
                <a14:m>
                  <m:oMathPara xmlns:m="http://schemas.openxmlformats.org/officeDocument/2006/math">
                    <m:oMathParaPr>
                      <m:jc m:val="center"/>
                    </m:oMathParaPr>
                    <m:oMath xmlns:m="http://schemas.openxmlformats.org/officeDocument/2006/math">
                      <m:r>
                        <a:rPr lang="en-US" sz="2400" i="1">
                          <a:latin typeface="Cambria Math" panose="02040503050406030204" pitchFamily="18" charset="0"/>
                          <a:ea typeface="Cambria" panose="02040503050406030204" pitchFamily="18" charset="0"/>
                        </a:rPr>
                        <m:t>=</m:t>
                      </m:r>
                      <m:r>
                        <a:rPr lang="en-US" sz="2400" i="1">
                          <a:latin typeface="Cambria Math" panose="02040503050406030204" pitchFamily="18" charset="0"/>
                          <a:ea typeface="Cambria" panose="02040503050406030204" pitchFamily="18" charset="0"/>
                        </a:rPr>
                        <m:t>1</m:t>
                      </m:r>
                      <m:r>
                        <a:rPr lang="en-US" sz="2400" i="1">
                          <a:latin typeface="Cambria Math" panose="02040503050406030204" pitchFamily="18" charset="0"/>
                          <a:ea typeface="Cambria" panose="02040503050406030204" pitchFamily="18" charset="0"/>
                        </a:rPr>
                        <m:t>+</m:t>
                      </m:r>
                      <m:f>
                        <m:fPr>
                          <m:ctrlPr>
                            <a:rPr lang="en-US" sz="2400" i="1">
                              <a:latin typeface="Cambria Math" panose="02040503050406030204" pitchFamily="18" charset="0"/>
                              <a:ea typeface="Cambria" panose="02040503050406030204" pitchFamily="18" charset="0"/>
                            </a:rPr>
                          </m:ctrlPr>
                        </m:fPr>
                        <m:num>
                          <m:sSup>
                            <m:sSupPr>
                              <m:ctrlPr>
                                <a:rPr lang="en-US" sz="2400" i="1">
                                  <a:latin typeface="Cambria Math" panose="02040503050406030204" pitchFamily="18" charset="0"/>
                                  <a:ea typeface="Cambria" panose="02040503050406030204" pitchFamily="18" charset="0"/>
                                </a:rPr>
                              </m:ctrlPr>
                            </m:sSup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𝑚</m:t>
                                  </m:r>
                                </m:e>
                                <m:sub>
                                  <m:r>
                                    <a:rPr lang="en-US" sz="2400" i="1">
                                      <a:latin typeface="Cambria Math" panose="02040503050406030204" pitchFamily="18" charset="0"/>
                                      <a:ea typeface="Cambria" panose="02040503050406030204" pitchFamily="18" charset="0"/>
                                    </a:rPr>
                                    <m:t>1</m:t>
                                  </m:r>
                                </m:sub>
                              </m:sSub>
                            </m:e>
                            <m:sup>
                              <m:r>
                                <a:rPr lang="en-US" sz="2400" i="1">
                                  <a:latin typeface="Cambria Math" panose="02040503050406030204" pitchFamily="18" charset="0"/>
                                  <a:ea typeface="Cambria" panose="02040503050406030204" pitchFamily="18" charset="0"/>
                                </a:rPr>
                                <m:t>2</m:t>
                              </m:r>
                            </m:sup>
                          </m:sSup>
                          <m:r>
                            <a:rPr lang="en-US" sz="2400" i="1">
                              <a:latin typeface="Cambria Math" panose="02040503050406030204" pitchFamily="18" charset="0"/>
                              <a:ea typeface="Cambria" panose="02040503050406030204" pitchFamily="18" charset="0"/>
                            </a:rPr>
                            <m:t>+</m:t>
                          </m:r>
                          <m:sSup>
                            <m:sSupPr>
                              <m:ctrlPr>
                                <a:rPr lang="en-US" sz="2400" i="1">
                                  <a:latin typeface="Cambria Math" panose="02040503050406030204" pitchFamily="18" charset="0"/>
                                  <a:ea typeface="Cambria" panose="02040503050406030204" pitchFamily="18" charset="0"/>
                                </a:rPr>
                              </m:ctrlPr>
                            </m:sSup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𝑚</m:t>
                                  </m:r>
                                </m:e>
                                <m:sub>
                                  <m:r>
                                    <a:rPr lang="en-US" sz="2400" i="1">
                                      <a:latin typeface="Cambria Math" panose="02040503050406030204" pitchFamily="18" charset="0"/>
                                      <a:ea typeface="Cambria" panose="02040503050406030204" pitchFamily="18" charset="0"/>
                                    </a:rPr>
                                    <m:t>2</m:t>
                                  </m:r>
                                </m:sub>
                              </m:sSub>
                            </m:e>
                            <m:sup>
                              <m:r>
                                <a:rPr lang="en-US" sz="2400" i="1">
                                  <a:latin typeface="Cambria Math" panose="02040503050406030204" pitchFamily="18" charset="0"/>
                                  <a:ea typeface="Cambria" panose="02040503050406030204" pitchFamily="18" charset="0"/>
                                </a:rPr>
                                <m:t>2</m:t>
                              </m:r>
                            </m:sup>
                          </m:sSup>
                          <m:r>
                            <a:rPr lang="en-US" sz="2400" i="1">
                              <a:latin typeface="Cambria Math" panose="02040503050406030204" pitchFamily="18" charset="0"/>
                              <a:ea typeface="Cambria" panose="02040503050406030204" pitchFamily="18" charset="0"/>
                            </a:rPr>
                            <m:t>+…+</m:t>
                          </m:r>
                          <m:sSup>
                            <m:sSupPr>
                              <m:ctrlPr>
                                <a:rPr lang="en-US" sz="2400" i="1">
                                  <a:latin typeface="Cambria Math" panose="02040503050406030204" pitchFamily="18" charset="0"/>
                                  <a:ea typeface="Cambria" panose="02040503050406030204" pitchFamily="18" charset="0"/>
                                </a:rPr>
                              </m:ctrlPr>
                            </m:sSup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𝑚</m:t>
                                  </m:r>
                                </m:e>
                                <m:sub>
                                  <m:r>
                                    <a:rPr lang="en-US" sz="2400" i="1">
                                      <a:latin typeface="Cambria Math" panose="02040503050406030204" pitchFamily="18" charset="0"/>
                                      <a:ea typeface="Cambria" panose="02040503050406030204" pitchFamily="18" charset="0"/>
                                    </a:rPr>
                                    <m:t>𝑛</m:t>
                                  </m:r>
                                </m:sub>
                              </m:sSub>
                            </m:e>
                            <m:sup>
                              <m:r>
                                <a:rPr lang="en-US" sz="2400" i="1">
                                  <a:latin typeface="Cambria Math" panose="02040503050406030204" pitchFamily="18" charset="0"/>
                                  <a:ea typeface="Cambria" panose="02040503050406030204" pitchFamily="18" charset="0"/>
                                </a:rPr>
                                <m:t>2</m:t>
                              </m:r>
                            </m:sup>
                          </m:sSup>
                        </m:num>
                        <m:den>
                          <m:r>
                            <a:rPr lang="en-US" sz="2400" i="1">
                              <a:latin typeface="Cambria Math" panose="02040503050406030204" pitchFamily="18" charset="0"/>
                              <a:ea typeface="Cambria" panose="02040503050406030204" pitchFamily="18" charset="0"/>
                            </a:rPr>
                            <m:t>2</m:t>
                          </m:r>
                        </m:den>
                      </m:f>
                    </m:oMath>
                  </m:oMathPara>
                </a14:m>
                <a:endParaRPr lang="en-US" sz="2400" dirty="0">
                  <a:ea typeface="Cambria" panose="02040503050406030204" pitchFamily="18" charset="0"/>
                </a:endParaRPr>
              </a:p>
            </p:txBody>
          </p:sp>
        </mc:Choice>
        <mc:Fallback xmlns="">
          <p:sp>
            <p:nvSpPr>
              <p:cNvPr id="14" name="TextBox 13">
                <a:extLst>
                  <a:ext uri="{FF2B5EF4-FFF2-40B4-BE49-F238E27FC236}">
                    <a16:creationId xmlns:a16="http://schemas.microsoft.com/office/drawing/2014/main" id="{F5698F85-3760-D565-CC59-D43F86057608}"/>
                  </a:ext>
                </a:extLst>
              </p:cNvPr>
              <p:cNvSpPr txBox="1">
                <a:spLocks noRot="1" noChangeAspect="1" noMove="1" noResize="1" noEditPoints="1" noAdjustHandles="1" noChangeArrowheads="1" noChangeShapeType="1" noTextEdit="1"/>
              </p:cNvSpPr>
              <p:nvPr/>
            </p:nvSpPr>
            <p:spPr>
              <a:xfrm>
                <a:off x="6090611" y="3289515"/>
                <a:ext cx="5294035" cy="2418954"/>
              </a:xfrm>
              <a:prstGeom prst="rect">
                <a:avLst/>
              </a:prstGeom>
              <a:blipFill>
                <a:blip r:embed="rId5"/>
                <a:stretch>
                  <a:fillRect l="-1914" t="-2094" r="-1675"/>
                </a:stretch>
              </a:blipFill>
            </p:spPr>
            <p:txBody>
              <a:bodyPr/>
              <a:lstStyle/>
              <a:p>
                <a:r>
                  <a:rPr lang="en-US">
                    <a:noFill/>
                  </a:rPr>
                  <a:t> </a:t>
                </a:r>
              </a:p>
            </p:txBody>
          </p:sp>
        </mc:Fallback>
      </mc:AlternateContent>
    </p:spTree>
    <p:extLst>
      <p:ext uri="{BB962C8B-B14F-4D97-AF65-F5344CB8AC3E}">
        <p14:creationId xmlns:p14="http://schemas.microsoft.com/office/powerpoint/2010/main" val="190215830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C20B04-90AE-9896-C539-C1B3FBECCA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8A70BD65-8A7D-1164-0988-6AE311863FEB}"/>
              </a:ext>
            </a:extLst>
          </p:cNvPr>
          <p:cNvSpPr>
            <a:spLocks noGrp="1"/>
          </p:cNvSpPr>
          <p:nvPr>
            <p:ph type="title"/>
          </p:nvPr>
        </p:nvSpPr>
        <p:spPr>
          <a:xfrm>
            <a:off x="1936750" y="190500"/>
            <a:ext cx="9645650" cy="582930"/>
          </a:xfrm>
        </p:spPr>
        <p:txBody>
          <a:bodyPr/>
          <a:lstStyle/>
          <a:p>
            <a:r>
              <a:rPr lang="en-US" altLang="en-US" b="1" dirty="0">
                <a:sym typeface="+mn-ea"/>
              </a:rPr>
              <a:t>Amplitude Modulation</a:t>
            </a:r>
            <a:endParaRPr lang="en-US" altLang="en-US" b="1" dirty="0"/>
          </a:p>
        </p:txBody>
      </p:sp>
      <p:sp>
        <p:nvSpPr>
          <p:cNvPr id="4" name="Slide Number Placeholder 3">
            <a:extLst>
              <a:ext uri="{FF2B5EF4-FFF2-40B4-BE49-F238E27FC236}">
                <a16:creationId xmlns:a16="http://schemas.microsoft.com/office/drawing/2014/main" xmlns="" id="{87B45483-A551-BA8A-8207-1A3C22AB92E6}"/>
              </a:ext>
            </a:extLst>
          </p:cNvPr>
          <p:cNvSpPr>
            <a:spLocks noGrp="1"/>
          </p:cNvSpPr>
          <p:nvPr>
            <p:ph type="sldNum" sz="quarter" idx="12"/>
          </p:nvPr>
        </p:nvSpPr>
        <p:spPr/>
        <p:txBody>
          <a:bodyPr/>
          <a:lstStyle/>
          <a:p>
            <a:fld id="{50D97DBC-71BD-4B00-8F4D-DDC0A0D17A0C}" type="slidenum">
              <a:rPr lang="en-US" smtClean="0"/>
              <a:t>16</a:t>
            </a:fld>
            <a:endParaRPr lang="en-US" dirty="0"/>
          </a:p>
        </p:txBody>
      </p:sp>
      <p:sp>
        <p:nvSpPr>
          <p:cNvPr id="5" name="Date Placeholder 4">
            <a:extLst>
              <a:ext uri="{FF2B5EF4-FFF2-40B4-BE49-F238E27FC236}">
                <a16:creationId xmlns:a16="http://schemas.microsoft.com/office/drawing/2014/main" xmlns="" id="{07BBC8C1-F7A7-9EF0-998D-51D6F13CBC6F}"/>
              </a:ext>
            </a:extLst>
          </p:cNvPr>
          <p:cNvSpPr>
            <a:spLocks noGrp="1"/>
          </p:cNvSpPr>
          <p:nvPr>
            <p:ph type="dt" sz="half" idx="10"/>
          </p:nvPr>
        </p:nvSpPr>
        <p:spPr/>
        <p:txBody>
          <a:bodyPr/>
          <a:lstStyle/>
          <a:p>
            <a:fld id="{F0B4034D-A911-A642-B8E1-BA081BB67D6F}" type="datetime1">
              <a:rPr lang="en-AU" smtClean="0"/>
              <a:t>16/02/2026</a:t>
            </a:fld>
            <a:endParaRPr lang="en-US" dirty="0"/>
          </a:p>
        </p:txBody>
      </p:sp>
      <p:sp>
        <p:nvSpPr>
          <p:cNvPr id="6" name="Footer Placeholder 5">
            <a:extLst>
              <a:ext uri="{FF2B5EF4-FFF2-40B4-BE49-F238E27FC236}">
                <a16:creationId xmlns:a16="http://schemas.microsoft.com/office/drawing/2014/main" xmlns="" id="{8682E109-4682-01BE-ACD9-8F5611B94827}"/>
              </a:ext>
            </a:extLst>
          </p:cNvPr>
          <p:cNvSpPr>
            <a:spLocks noGrp="1"/>
          </p:cNvSpPr>
          <p:nvPr>
            <p:ph type="ftr" sz="quarter" idx="11"/>
          </p:nvPr>
        </p:nvSpPr>
        <p:spPr/>
        <p:txBody>
          <a:bodyPr/>
          <a:lstStyle/>
          <a:p>
            <a:r>
              <a:rPr lang="en-US"/>
              <a:t>@Foez Ahmed, CSE, VU</a:t>
            </a:r>
          </a:p>
        </p:txBody>
      </p:sp>
      <p:sp>
        <p:nvSpPr>
          <p:cNvPr id="10" name="Content Placeholder 2">
            <a:extLst>
              <a:ext uri="{FF2B5EF4-FFF2-40B4-BE49-F238E27FC236}">
                <a16:creationId xmlns:a16="http://schemas.microsoft.com/office/drawing/2014/main" xmlns="" id="{5AB455FA-3C43-B928-73E2-F04A80EE09BF}"/>
              </a:ext>
            </a:extLst>
          </p:cNvPr>
          <p:cNvSpPr>
            <a:spLocks noGrp="1" noChangeAspect="1"/>
          </p:cNvSpPr>
          <p:nvPr>
            <p:ph idx="1"/>
          </p:nvPr>
        </p:nvSpPr>
        <p:spPr>
          <a:xfrm>
            <a:off x="874954" y="1017066"/>
            <a:ext cx="10431314" cy="476250"/>
          </a:xfrm>
        </p:spPr>
        <p:txBody>
          <a:bodyPr/>
          <a:lstStyle/>
          <a:p>
            <a:pPr>
              <a:buFont typeface="Wingdings" pitchFamily="2" charset="2"/>
              <a:buChar char="q"/>
            </a:pPr>
            <a:r>
              <a:rPr lang="en-US" altLang="en-US" sz="2400" b="1" dirty="0"/>
              <a:t>Modulation by Several Sine Waves (Problem Solving Examples):</a:t>
            </a:r>
            <a:endParaRPr lang="en-US" altLang="en-US" sz="2400" dirty="0"/>
          </a:p>
        </p:txBody>
      </p:sp>
      <p:pic>
        <p:nvPicPr>
          <p:cNvPr id="3" name="Picture 2">
            <a:extLst>
              <a:ext uri="{FF2B5EF4-FFF2-40B4-BE49-F238E27FC236}">
                <a16:creationId xmlns:a16="http://schemas.microsoft.com/office/drawing/2014/main" xmlns="" id="{15FB51FB-E135-9E2B-A3F6-152DF66496BB}"/>
              </a:ext>
            </a:extLst>
          </p:cNvPr>
          <p:cNvPicPr>
            <a:picLocks noChangeAspect="1"/>
          </p:cNvPicPr>
          <p:nvPr/>
        </p:nvPicPr>
        <p:blipFill>
          <a:blip r:embed="rId3"/>
          <a:srcRect t="10957"/>
          <a:stretch>
            <a:fillRect/>
          </a:stretch>
        </p:blipFill>
        <p:spPr>
          <a:xfrm>
            <a:off x="1175655" y="1519442"/>
            <a:ext cx="9761764" cy="4711643"/>
          </a:xfrm>
          <a:prstGeom prst="rect">
            <a:avLst/>
          </a:prstGeom>
        </p:spPr>
      </p:pic>
    </p:spTree>
    <p:extLst>
      <p:ext uri="{BB962C8B-B14F-4D97-AF65-F5344CB8AC3E}">
        <p14:creationId xmlns:p14="http://schemas.microsoft.com/office/powerpoint/2010/main" val="77256329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82B664F-696A-8604-F6C8-B8D8EB496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87D930E-BF73-9EBB-5651-DB1654F43ACF}"/>
              </a:ext>
            </a:extLst>
          </p:cNvPr>
          <p:cNvSpPr>
            <a:spLocks noGrp="1"/>
          </p:cNvSpPr>
          <p:nvPr>
            <p:ph type="title"/>
          </p:nvPr>
        </p:nvSpPr>
        <p:spPr>
          <a:xfrm>
            <a:off x="1936750" y="190500"/>
            <a:ext cx="9645650" cy="582930"/>
          </a:xfrm>
        </p:spPr>
        <p:txBody>
          <a:bodyPr/>
          <a:lstStyle/>
          <a:p>
            <a:r>
              <a:rPr lang="en-US" altLang="en-US" b="1" dirty="0">
                <a:sym typeface="+mn-ea"/>
              </a:rPr>
              <a:t>Amplitude Modulation</a:t>
            </a:r>
            <a:endParaRPr lang="en-US" altLang="en-US" b="1" dirty="0"/>
          </a:p>
        </p:txBody>
      </p:sp>
      <p:sp>
        <p:nvSpPr>
          <p:cNvPr id="4" name="Slide Number Placeholder 3">
            <a:extLst>
              <a:ext uri="{FF2B5EF4-FFF2-40B4-BE49-F238E27FC236}">
                <a16:creationId xmlns:a16="http://schemas.microsoft.com/office/drawing/2014/main" xmlns="" id="{D67F05B4-8219-F8BD-BDB2-B8E271387054}"/>
              </a:ext>
            </a:extLst>
          </p:cNvPr>
          <p:cNvSpPr>
            <a:spLocks noGrp="1"/>
          </p:cNvSpPr>
          <p:nvPr>
            <p:ph type="sldNum" sz="quarter" idx="12"/>
          </p:nvPr>
        </p:nvSpPr>
        <p:spPr/>
        <p:txBody>
          <a:bodyPr/>
          <a:lstStyle/>
          <a:p>
            <a:fld id="{50D97DBC-71BD-4B00-8F4D-DDC0A0D17A0C}" type="slidenum">
              <a:rPr lang="en-US" smtClean="0"/>
              <a:t>17</a:t>
            </a:fld>
            <a:endParaRPr lang="en-US" dirty="0"/>
          </a:p>
        </p:txBody>
      </p:sp>
      <p:sp>
        <p:nvSpPr>
          <p:cNvPr id="5" name="Date Placeholder 4">
            <a:extLst>
              <a:ext uri="{FF2B5EF4-FFF2-40B4-BE49-F238E27FC236}">
                <a16:creationId xmlns:a16="http://schemas.microsoft.com/office/drawing/2014/main" xmlns="" id="{2487B453-7BEF-09D7-2E29-199EB8E2C434}"/>
              </a:ext>
            </a:extLst>
          </p:cNvPr>
          <p:cNvSpPr>
            <a:spLocks noGrp="1"/>
          </p:cNvSpPr>
          <p:nvPr>
            <p:ph type="dt" sz="half" idx="10"/>
          </p:nvPr>
        </p:nvSpPr>
        <p:spPr/>
        <p:txBody>
          <a:bodyPr/>
          <a:lstStyle/>
          <a:p>
            <a:fld id="{F0B4034D-A911-A642-B8E1-BA081BB67D6F}" type="datetime1">
              <a:rPr lang="en-AU" smtClean="0"/>
              <a:t>16/02/2026</a:t>
            </a:fld>
            <a:endParaRPr lang="en-US" dirty="0"/>
          </a:p>
        </p:txBody>
      </p:sp>
      <p:sp>
        <p:nvSpPr>
          <p:cNvPr id="6" name="Footer Placeholder 5">
            <a:extLst>
              <a:ext uri="{FF2B5EF4-FFF2-40B4-BE49-F238E27FC236}">
                <a16:creationId xmlns:a16="http://schemas.microsoft.com/office/drawing/2014/main" xmlns="" id="{F6598C8B-68DD-7CF1-8F82-A34DA85EFC5C}"/>
              </a:ext>
            </a:extLst>
          </p:cNvPr>
          <p:cNvSpPr>
            <a:spLocks noGrp="1"/>
          </p:cNvSpPr>
          <p:nvPr>
            <p:ph type="ftr" sz="quarter" idx="11"/>
          </p:nvPr>
        </p:nvSpPr>
        <p:spPr/>
        <p:txBody>
          <a:bodyPr/>
          <a:lstStyle/>
          <a:p>
            <a:r>
              <a:rPr lang="en-US"/>
              <a:t>@Foez Ahmed, CSE, VU</a:t>
            </a:r>
          </a:p>
        </p:txBody>
      </p:sp>
      <p:sp>
        <p:nvSpPr>
          <p:cNvPr id="10" name="Content Placeholder 2">
            <a:extLst>
              <a:ext uri="{FF2B5EF4-FFF2-40B4-BE49-F238E27FC236}">
                <a16:creationId xmlns:a16="http://schemas.microsoft.com/office/drawing/2014/main" xmlns="" id="{014DB9CB-927C-877C-2B79-EC3FC2072B35}"/>
              </a:ext>
            </a:extLst>
          </p:cNvPr>
          <p:cNvSpPr>
            <a:spLocks noGrp="1" noChangeAspect="1"/>
          </p:cNvSpPr>
          <p:nvPr>
            <p:ph idx="1"/>
          </p:nvPr>
        </p:nvSpPr>
        <p:spPr>
          <a:xfrm>
            <a:off x="874954" y="1017066"/>
            <a:ext cx="10431314" cy="476250"/>
          </a:xfrm>
        </p:spPr>
        <p:txBody>
          <a:bodyPr/>
          <a:lstStyle/>
          <a:p>
            <a:pPr>
              <a:buFont typeface="Wingdings" pitchFamily="2" charset="2"/>
              <a:buChar char="q"/>
            </a:pPr>
            <a:r>
              <a:rPr lang="en-US" altLang="en-US" sz="2400" b="1" dirty="0"/>
              <a:t>Types of Amplitude Modulation:</a:t>
            </a:r>
            <a:endParaRPr lang="en-US" altLang="en-US" sz="2400" dirty="0"/>
          </a:p>
        </p:txBody>
      </p:sp>
      <p:sp>
        <p:nvSpPr>
          <p:cNvPr id="7" name="TextBox 6">
            <a:extLst>
              <a:ext uri="{FF2B5EF4-FFF2-40B4-BE49-F238E27FC236}">
                <a16:creationId xmlns:a16="http://schemas.microsoft.com/office/drawing/2014/main" xmlns="" id="{30B16258-3679-7901-2CDC-E6E927BCE612}"/>
              </a:ext>
            </a:extLst>
          </p:cNvPr>
          <p:cNvSpPr txBox="1"/>
          <p:nvPr/>
        </p:nvSpPr>
        <p:spPr>
          <a:xfrm>
            <a:off x="1075508" y="1736952"/>
            <a:ext cx="5776217" cy="4103982"/>
          </a:xfrm>
          <a:prstGeom prst="rect">
            <a:avLst/>
          </a:prstGeom>
          <a:noFill/>
        </p:spPr>
        <p:txBody>
          <a:bodyPr wrap="square" rtlCol="0">
            <a:noAutofit/>
          </a:bodyPr>
          <a:lstStyle/>
          <a:p>
            <a:pPr marL="285750" indent="-285750">
              <a:lnSpc>
                <a:spcPct val="150000"/>
              </a:lnSpc>
              <a:buFont typeface="Arial" panose="020B0604020202020204" pitchFamily="34" charset="0"/>
              <a:buChar char="•"/>
            </a:pPr>
            <a:r>
              <a:rPr lang="en-US" sz="2200" b="1" dirty="0"/>
              <a:t>Double Sideband Full Carrier (DSB-FC): </a:t>
            </a:r>
          </a:p>
          <a:p>
            <a:pPr marL="800100" lvl="1" indent="-342900">
              <a:lnSpc>
                <a:spcPct val="150000"/>
              </a:lnSpc>
              <a:buFont typeface="Wingdings" pitchFamily="2" charset="2"/>
              <a:buChar char="ü"/>
            </a:pPr>
            <a:r>
              <a:rPr lang="en-US" sz="2200" dirty="0"/>
              <a:t>Standard AM </a:t>
            </a:r>
          </a:p>
          <a:p>
            <a:pPr marL="800100" lvl="1" indent="-342900">
              <a:lnSpc>
                <a:spcPct val="150000"/>
              </a:lnSpc>
              <a:buFont typeface="Wingdings" pitchFamily="2" charset="2"/>
              <a:buChar char="ü"/>
            </a:pPr>
            <a:r>
              <a:rPr lang="en-US" sz="2200" dirty="0"/>
              <a:t>Contains carrier + both sidebands</a:t>
            </a:r>
          </a:p>
          <a:p>
            <a:pPr marL="285750" indent="-285750">
              <a:lnSpc>
                <a:spcPct val="150000"/>
              </a:lnSpc>
              <a:buFont typeface="Arial" panose="020B0604020202020204" pitchFamily="34" charset="0"/>
              <a:buChar char="•"/>
            </a:pPr>
            <a:endParaRPr lang="en-US" sz="2200" b="1" dirty="0"/>
          </a:p>
          <a:p>
            <a:pPr marL="285750" indent="-285750">
              <a:lnSpc>
                <a:spcPct val="150000"/>
              </a:lnSpc>
              <a:buFont typeface="Arial" panose="020B0604020202020204" pitchFamily="34" charset="0"/>
              <a:buChar char="•"/>
            </a:pPr>
            <a:r>
              <a:rPr lang="en-US" sz="2200" b="1" dirty="0"/>
              <a:t>Double Sideband Suppressed Carrier (DSB-SC)</a:t>
            </a:r>
          </a:p>
          <a:p>
            <a:pPr marL="800100" lvl="1" indent="-342900">
              <a:lnSpc>
                <a:spcPct val="150000"/>
              </a:lnSpc>
              <a:buFont typeface="Wingdings" pitchFamily="2" charset="2"/>
              <a:buChar char="ü"/>
            </a:pPr>
            <a:r>
              <a:rPr lang="en-US" sz="2200" dirty="0"/>
              <a:t>No carrier </a:t>
            </a:r>
          </a:p>
          <a:p>
            <a:pPr marL="800100" lvl="1" indent="-342900">
              <a:lnSpc>
                <a:spcPct val="150000"/>
              </a:lnSpc>
              <a:buFont typeface="Wingdings" pitchFamily="2" charset="2"/>
              <a:buChar char="ü"/>
            </a:pPr>
            <a:r>
              <a:rPr lang="en-US" sz="2200" dirty="0"/>
              <a:t>Requires coherent detection</a:t>
            </a:r>
          </a:p>
        </p:txBody>
      </p:sp>
      <p:pic>
        <p:nvPicPr>
          <p:cNvPr id="1026" name="Picture 2" descr="Modulation | Springer Nature Link">
            <a:extLst>
              <a:ext uri="{FF2B5EF4-FFF2-40B4-BE49-F238E27FC236}">
                <a16:creationId xmlns:a16="http://schemas.microsoft.com/office/drawing/2014/main" xmlns="" id="{A07BF434-75AD-F8D8-6A5C-657F05714F4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1883" b="55599"/>
          <a:stretch>
            <a:fillRect/>
          </a:stretch>
        </p:blipFill>
        <p:spPr bwMode="auto">
          <a:xfrm>
            <a:off x="7007392" y="1357502"/>
            <a:ext cx="4309654" cy="2227399"/>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pic>
        <p:nvPicPr>
          <p:cNvPr id="13" name="Picture 2" descr="Modulation | Springer Nature Link">
            <a:extLst>
              <a:ext uri="{FF2B5EF4-FFF2-40B4-BE49-F238E27FC236}">
                <a16:creationId xmlns:a16="http://schemas.microsoft.com/office/drawing/2014/main" xmlns="" id="{E87E0764-2BC0-8F4F-FF6B-5FE20D54D90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1883" b="55599"/>
          <a:stretch>
            <a:fillRect/>
          </a:stretch>
        </p:blipFill>
        <p:spPr bwMode="auto">
          <a:xfrm>
            <a:off x="6996614" y="3841806"/>
            <a:ext cx="4309654" cy="2227399"/>
          </a:xfrm>
          <a:prstGeom prst="rect">
            <a:avLst/>
          </a:prstGeom>
          <a:noFill/>
          <a:ln>
            <a:solidFill>
              <a:srgbClr val="0432FF"/>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407895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722513D-CD86-068E-E3F3-E44D944A1B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031ABD26-E2BE-2142-75F2-8E6F5AE40F4C}"/>
              </a:ext>
            </a:extLst>
          </p:cNvPr>
          <p:cNvSpPr>
            <a:spLocks noGrp="1"/>
          </p:cNvSpPr>
          <p:nvPr>
            <p:ph type="title"/>
          </p:nvPr>
        </p:nvSpPr>
        <p:spPr>
          <a:xfrm>
            <a:off x="1936750" y="190500"/>
            <a:ext cx="9645650" cy="582930"/>
          </a:xfrm>
        </p:spPr>
        <p:txBody>
          <a:bodyPr/>
          <a:lstStyle/>
          <a:p>
            <a:r>
              <a:rPr lang="en-US" altLang="en-US" b="1" dirty="0">
                <a:sym typeface="+mn-ea"/>
              </a:rPr>
              <a:t>Amplitude Modulation</a:t>
            </a:r>
            <a:endParaRPr lang="en-US" altLang="en-US" b="1" dirty="0"/>
          </a:p>
        </p:txBody>
      </p:sp>
      <p:sp>
        <p:nvSpPr>
          <p:cNvPr id="4" name="Slide Number Placeholder 3">
            <a:extLst>
              <a:ext uri="{FF2B5EF4-FFF2-40B4-BE49-F238E27FC236}">
                <a16:creationId xmlns:a16="http://schemas.microsoft.com/office/drawing/2014/main" xmlns="" id="{2601D686-A5BC-041B-B0F3-449008546DA8}"/>
              </a:ext>
            </a:extLst>
          </p:cNvPr>
          <p:cNvSpPr>
            <a:spLocks noGrp="1"/>
          </p:cNvSpPr>
          <p:nvPr>
            <p:ph type="sldNum" sz="quarter" idx="12"/>
          </p:nvPr>
        </p:nvSpPr>
        <p:spPr/>
        <p:txBody>
          <a:bodyPr/>
          <a:lstStyle/>
          <a:p>
            <a:fld id="{50D97DBC-71BD-4B00-8F4D-DDC0A0D17A0C}" type="slidenum">
              <a:rPr lang="en-US" smtClean="0"/>
              <a:t>18</a:t>
            </a:fld>
            <a:endParaRPr lang="en-US" dirty="0"/>
          </a:p>
        </p:txBody>
      </p:sp>
      <p:sp>
        <p:nvSpPr>
          <p:cNvPr id="5" name="Date Placeholder 4">
            <a:extLst>
              <a:ext uri="{FF2B5EF4-FFF2-40B4-BE49-F238E27FC236}">
                <a16:creationId xmlns:a16="http://schemas.microsoft.com/office/drawing/2014/main" xmlns="" id="{7E8DBD38-E73A-F34E-1ABF-A274AD906A6B}"/>
              </a:ext>
            </a:extLst>
          </p:cNvPr>
          <p:cNvSpPr>
            <a:spLocks noGrp="1"/>
          </p:cNvSpPr>
          <p:nvPr>
            <p:ph type="dt" sz="half" idx="10"/>
          </p:nvPr>
        </p:nvSpPr>
        <p:spPr/>
        <p:txBody>
          <a:bodyPr/>
          <a:lstStyle/>
          <a:p>
            <a:fld id="{F0B4034D-A911-A642-B8E1-BA081BB67D6F}" type="datetime1">
              <a:rPr lang="en-AU" smtClean="0"/>
              <a:t>16/02/2026</a:t>
            </a:fld>
            <a:endParaRPr lang="en-US" dirty="0"/>
          </a:p>
        </p:txBody>
      </p:sp>
      <p:sp>
        <p:nvSpPr>
          <p:cNvPr id="6" name="Footer Placeholder 5">
            <a:extLst>
              <a:ext uri="{FF2B5EF4-FFF2-40B4-BE49-F238E27FC236}">
                <a16:creationId xmlns:a16="http://schemas.microsoft.com/office/drawing/2014/main" xmlns="" id="{5807F036-51DB-DCD7-BB9A-870FD8E91ABF}"/>
              </a:ext>
            </a:extLst>
          </p:cNvPr>
          <p:cNvSpPr>
            <a:spLocks noGrp="1"/>
          </p:cNvSpPr>
          <p:nvPr>
            <p:ph type="ftr" sz="quarter" idx="11"/>
          </p:nvPr>
        </p:nvSpPr>
        <p:spPr/>
        <p:txBody>
          <a:bodyPr/>
          <a:lstStyle/>
          <a:p>
            <a:r>
              <a:rPr lang="en-US"/>
              <a:t>@Foez Ahmed, CSE, VU</a:t>
            </a:r>
          </a:p>
        </p:txBody>
      </p:sp>
      <p:sp>
        <p:nvSpPr>
          <p:cNvPr id="10" name="Content Placeholder 2">
            <a:extLst>
              <a:ext uri="{FF2B5EF4-FFF2-40B4-BE49-F238E27FC236}">
                <a16:creationId xmlns:a16="http://schemas.microsoft.com/office/drawing/2014/main" xmlns="" id="{2C4C8B59-31ED-571B-C2B7-EF6AF39C2EB4}"/>
              </a:ext>
            </a:extLst>
          </p:cNvPr>
          <p:cNvSpPr>
            <a:spLocks noGrp="1" noChangeAspect="1"/>
          </p:cNvSpPr>
          <p:nvPr>
            <p:ph idx="1"/>
          </p:nvPr>
        </p:nvSpPr>
        <p:spPr>
          <a:xfrm>
            <a:off x="874954" y="1017066"/>
            <a:ext cx="10431314" cy="476250"/>
          </a:xfrm>
        </p:spPr>
        <p:txBody>
          <a:bodyPr/>
          <a:lstStyle/>
          <a:p>
            <a:pPr>
              <a:buFont typeface="Wingdings" pitchFamily="2" charset="2"/>
              <a:buChar char="q"/>
            </a:pPr>
            <a:r>
              <a:rPr lang="en-US" altLang="en-US" sz="2400" b="1" dirty="0"/>
              <a:t>Types of Amplitude Modulation:</a:t>
            </a:r>
            <a:endParaRPr lang="en-US" altLang="en-US" sz="2400" dirty="0"/>
          </a:p>
        </p:txBody>
      </p:sp>
      <p:sp>
        <p:nvSpPr>
          <p:cNvPr id="11" name="TextBox 10">
            <a:extLst>
              <a:ext uri="{FF2B5EF4-FFF2-40B4-BE49-F238E27FC236}">
                <a16:creationId xmlns:a16="http://schemas.microsoft.com/office/drawing/2014/main" xmlns="" id="{716B6602-6528-9FDD-607E-AFDF59A577CA}"/>
              </a:ext>
            </a:extLst>
          </p:cNvPr>
          <p:cNvSpPr txBox="1"/>
          <p:nvPr/>
        </p:nvSpPr>
        <p:spPr>
          <a:xfrm>
            <a:off x="946074" y="1736952"/>
            <a:ext cx="9548948" cy="1615498"/>
          </a:xfrm>
          <a:prstGeom prst="rect">
            <a:avLst/>
          </a:prstGeom>
          <a:noFill/>
        </p:spPr>
        <p:txBody>
          <a:bodyPr wrap="square" rtlCol="0">
            <a:noAutofit/>
          </a:bodyPr>
          <a:lstStyle/>
          <a:p>
            <a:pPr marL="285750" indent="-285750">
              <a:lnSpc>
                <a:spcPct val="150000"/>
              </a:lnSpc>
              <a:buFont typeface="Arial" panose="020B0604020202020204" pitchFamily="34" charset="0"/>
              <a:buChar char="•"/>
            </a:pPr>
            <a:r>
              <a:rPr lang="en-US" sz="2200" b="1" dirty="0"/>
              <a:t>SSB (Single Sideband)</a:t>
            </a:r>
          </a:p>
          <a:p>
            <a:pPr marL="800100" lvl="1" indent="-342900">
              <a:lnSpc>
                <a:spcPct val="150000"/>
              </a:lnSpc>
              <a:buFont typeface="Wingdings" pitchFamily="2" charset="2"/>
              <a:buChar char="ü"/>
            </a:pPr>
            <a:r>
              <a:rPr lang="en-US" sz="2200" dirty="0"/>
              <a:t>Only one sideband is transmitted (USB or LSB)</a:t>
            </a:r>
          </a:p>
          <a:p>
            <a:pPr marL="800100" lvl="1" indent="-342900">
              <a:lnSpc>
                <a:spcPct val="150000"/>
              </a:lnSpc>
              <a:buFont typeface="Wingdings" pitchFamily="2" charset="2"/>
              <a:buChar char="ü"/>
            </a:pPr>
            <a:r>
              <a:rPr lang="en-US" sz="2200" dirty="0"/>
              <a:t>More bandwidth and power efficient</a:t>
            </a:r>
          </a:p>
        </p:txBody>
      </p:sp>
      <p:pic>
        <p:nvPicPr>
          <p:cNvPr id="3074" name="Picture 2" descr="Modulation | Springer Nature Link">
            <a:extLst>
              <a:ext uri="{FF2B5EF4-FFF2-40B4-BE49-F238E27FC236}">
                <a16:creationId xmlns:a16="http://schemas.microsoft.com/office/drawing/2014/main" xmlns="" id="{8175D533-711D-5D42-A8F9-C88FBA14B0D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3331"/>
          <a:stretch>
            <a:fillRect/>
          </a:stretch>
        </p:blipFill>
        <p:spPr bwMode="auto">
          <a:xfrm>
            <a:off x="1746250" y="3596086"/>
            <a:ext cx="8699500" cy="2341164"/>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573727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4119C61-BE5C-B9C2-26C3-4D39472F1C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1ECDA441-FC7F-A91D-7F47-B4A301A04089}"/>
              </a:ext>
            </a:extLst>
          </p:cNvPr>
          <p:cNvSpPr>
            <a:spLocks noGrp="1"/>
          </p:cNvSpPr>
          <p:nvPr>
            <p:ph type="title"/>
          </p:nvPr>
        </p:nvSpPr>
        <p:spPr>
          <a:xfrm>
            <a:off x="1936750" y="190500"/>
            <a:ext cx="9645650" cy="582930"/>
          </a:xfrm>
        </p:spPr>
        <p:txBody>
          <a:bodyPr/>
          <a:lstStyle/>
          <a:p>
            <a:r>
              <a:rPr lang="en-US" altLang="en-US" b="1" dirty="0">
                <a:sym typeface="+mn-ea"/>
              </a:rPr>
              <a:t>Amplitude Modulation</a:t>
            </a:r>
            <a:endParaRPr lang="en-US" altLang="en-US" b="1" dirty="0"/>
          </a:p>
        </p:txBody>
      </p:sp>
      <p:sp>
        <p:nvSpPr>
          <p:cNvPr id="4" name="Slide Number Placeholder 3">
            <a:extLst>
              <a:ext uri="{FF2B5EF4-FFF2-40B4-BE49-F238E27FC236}">
                <a16:creationId xmlns:a16="http://schemas.microsoft.com/office/drawing/2014/main" xmlns="" id="{97ACFA10-8EE2-A030-A456-9F4C6BB0852D}"/>
              </a:ext>
            </a:extLst>
          </p:cNvPr>
          <p:cNvSpPr>
            <a:spLocks noGrp="1"/>
          </p:cNvSpPr>
          <p:nvPr>
            <p:ph type="sldNum" sz="quarter" idx="12"/>
          </p:nvPr>
        </p:nvSpPr>
        <p:spPr/>
        <p:txBody>
          <a:bodyPr/>
          <a:lstStyle/>
          <a:p>
            <a:fld id="{50D97DBC-71BD-4B00-8F4D-DDC0A0D17A0C}" type="slidenum">
              <a:rPr lang="en-US" smtClean="0"/>
              <a:t>19</a:t>
            </a:fld>
            <a:endParaRPr lang="en-US" dirty="0"/>
          </a:p>
        </p:txBody>
      </p:sp>
      <p:sp>
        <p:nvSpPr>
          <p:cNvPr id="5" name="Date Placeholder 4">
            <a:extLst>
              <a:ext uri="{FF2B5EF4-FFF2-40B4-BE49-F238E27FC236}">
                <a16:creationId xmlns:a16="http://schemas.microsoft.com/office/drawing/2014/main" xmlns="" id="{1AE13240-EAC9-DEB8-EDD2-9FBED09BD0EB}"/>
              </a:ext>
            </a:extLst>
          </p:cNvPr>
          <p:cNvSpPr>
            <a:spLocks noGrp="1"/>
          </p:cNvSpPr>
          <p:nvPr>
            <p:ph type="dt" sz="half" idx="10"/>
          </p:nvPr>
        </p:nvSpPr>
        <p:spPr/>
        <p:txBody>
          <a:bodyPr/>
          <a:lstStyle/>
          <a:p>
            <a:fld id="{F0B4034D-A911-A642-B8E1-BA081BB67D6F}" type="datetime1">
              <a:rPr lang="en-AU" smtClean="0"/>
              <a:t>16/02/2026</a:t>
            </a:fld>
            <a:endParaRPr lang="en-US" dirty="0"/>
          </a:p>
        </p:txBody>
      </p:sp>
      <p:sp>
        <p:nvSpPr>
          <p:cNvPr id="6" name="Footer Placeholder 5">
            <a:extLst>
              <a:ext uri="{FF2B5EF4-FFF2-40B4-BE49-F238E27FC236}">
                <a16:creationId xmlns:a16="http://schemas.microsoft.com/office/drawing/2014/main" xmlns="" id="{DBC6FD2F-CA3C-03B3-AB05-30D8F4330132}"/>
              </a:ext>
            </a:extLst>
          </p:cNvPr>
          <p:cNvSpPr>
            <a:spLocks noGrp="1"/>
          </p:cNvSpPr>
          <p:nvPr>
            <p:ph type="ftr" sz="quarter" idx="11"/>
          </p:nvPr>
        </p:nvSpPr>
        <p:spPr/>
        <p:txBody>
          <a:bodyPr/>
          <a:lstStyle/>
          <a:p>
            <a:r>
              <a:rPr lang="en-US"/>
              <a:t>@Foez Ahmed, CSE, VU</a:t>
            </a:r>
          </a:p>
        </p:txBody>
      </p:sp>
      <p:sp>
        <p:nvSpPr>
          <p:cNvPr id="10" name="Content Placeholder 2">
            <a:extLst>
              <a:ext uri="{FF2B5EF4-FFF2-40B4-BE49-F238E27FC236}">
                <a16:creationId xmlns:a16="http://schemas.microsoft.com/office/drawing/2014/main" xmlns="" id="{24725D28-9BDA-B5AE-B791-1099BF017F51}"/>
              </a:ext>
            </a:extLst>
          </p:cNvPr>
          <p:cNvSpPr>
            <a:spLocks noGrp="1" noChangeAspect="1"/>
          </p:cNvSpPr>
          <p:nvPr>
            <p:ph idx="1"/>
          </p:nvPr>
        </p:nvSpPr>
        <p:spPr>
          <a:xfrm>
            <a:off x="874954" y="1017066"/>
            <a:ext cx="10431314" cy="476250"/>
          </a:xfrm>
        </p:spPr>
        <p:txBody>
          <a:bodyPr/>
          <a:lstStyle/>
          <a:p>
            <a:pPr>
              <a:buFont typeface="Wingdings" pitchFamily="2" charset="2"/>
              <a:buChar char="q"/>
            </a:pPr>
            <a:r>
              <a:rPr lang="en-US" altLang="en-US" sz="2400" b="1" dirty="0"/>
              <a:t>Types of Amplitude Modulation:</a:t>
            </a:r>
            <a:endParaRPr lang="en-US" altLang="en-US" sz="2400" dirty="0"/>
          </a:p>
        </p:txBody>
      </p:sp>
      <p:sp>
        <p:nvSpPr>
          <p:cNvPr id="11" name="TextBox 10">
            <a:extLst>
              <a:ext uri="{FF2B5EF4-FFF2-40B4-BE49-F238E27FC236}">
                <a16:creationId xmlns:a16="http://schemas.microsoft.com/office/drawing/2014/main" xmlns="" id="{89AD3745-F784-676B-72A9-C040BEF270C7}"/>
              </a:ext>
            </a:extLst>
          </p:cNvPr>
          <p:cNvSpPr txBox="1"/>
          <p:nvPr/>
        </p:nvSpPr>
        <p:spPr>
          <a:xfrm>
            <a:off x="609600" y="2694030"/>
            <a:ext cx="5264332" cy="2139227"/>
          </a:xfrm>
          <a:prstGeom prst="rect">
            <a:avLst/>
          </a:prstGeom>
          <a:noFill/>
        </p:spPr>
        <p:txBody>
          <a:bodyPr wrap="square" rtlCol="0">
            <a:noAutofit/>
          </a:bodyPr>
          <a:lstStyle/>
          <a:p>
            <a:pPr marL="285750" indent="-285750">
              <a:lnSpc>
                <a:spcPct val="150000"/>
              </a:lnSpc>
              <a:buFont typeface="Arial" panose="020B0604020202020204" pitchFamily="34" charset="0"/>
              <a:buChar char="•"/>
            </a:pPr>
            <a:r>
              <a:rPr lang="en-US" sz="2200" b="1" dirty="0"/>
              <a:t>Vestigial Sideband (VSB)</a:t>
            </a:r>
          </a:p>
          <a:p>
            <a:pPr marL="800100" lvl="1" indent="-342900">
              <a:lnSpc>
                <a:spcPct val="150000"/>
              </a:lnSpc>
              <a:buFont typeface="Wingdings" pitchFamily="2" charset="2"/>
              <a:buChar char="ü"/>
            </a:pPr>
            <a:r>
              <a:rPr lang="en-US" sz="2200" dirty="0"/>
              <a:t>One full sideband and part of the other (LSB/USB)</a:t>
            </a:r>
          </a:p>
          <a:p>
            <a:pPr marL="800100" lvl="1" indent="-342900">
              <a:lnSpc>
                <a:spcPct val="150000"/>
              </a:lnSpc>
              <a:buFont typeface="Wingdings" pitchFamily="2" charset="2"/>
              <a:buChar char="ü"/>
            </a:pPr>
            <a:r>
              <a:rPr lang="en-US" sz="2200" dirty="0"/>
              <a:t>Used in TV broadcasting</a:t>
            </a:r>
          </a:p>
        </p:txBody>
      </p:sp>
      <p:pic>
        <p:nvPicPr>
          <p:cNvPr id="2052" name="Picture 4" descr="What is Vestigial Sideband (VSB) modulation? definition, generation,  performance comparison, advantages, disadvantages and applications of Vestigial  sideband modulation - Electronics Coach">
            <a:extLst>
              <a:ext uri="{FF2B5EF4-FFF2-40B4-BE49-F238E27FC236}">
                <a16:creationId xmlns:a16="http://schemas.microsoft.com/office/drawing/2014/main" xmlns="" id="{5149B015-DD01-D1CC-18DE-A8E6AE29DC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3068" y="1216025"/>
            <a:ext cx="5839532" cy="4624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254975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EFD65A6-D888-FE8D-658D-47063879AB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76D75355-70F4-A644-65A2-99AD98952F5A}"/>
              </a:ext>
            </a:extLst>
          </p:cNvPr>
          <p:cNvSpPr>
            <a:spLocks noGrp="1"/>
          </p:cNvSpPr>
          <p:nvPr>
            <p:ph type="title"/>
          </p:nvPr>
        </p:nvSpPr>
        <p:spPr>
          <a:xfrm>
            <a:off x="1936750" y="190500"/>
            <a:ext cx="9645650" cy="582930"/>
          </a:xfrm>
        </p:spPr>
        <p:txBody>
          <a:bodyPr/>
          <a:lstStyle/>
          <a:p>
            <a:r>
              <a:rPr lang="en-US" altLang="en-US" b="1" dirty="0">
                <a:sym typeface="+mn-ea"/>
              </a:rPr>
              <a:t>Amplitude Modulation</a:t>
            </a:r>
            <a:endParaRPr lang="en-US" altLang="en-US" b="1" dirty="0"/>
          </a:p>
        </p:txBody>
      </p:sp>
      <p:sp>
        <p:nvSpPr>
          <p:cNvPr id="4" name="Slide Number Placeholder 3">
            <a:extLst>
              <a:ext uri="{FF2B5EF4-FFF2-40B4-BE49-F238E27FC236}">
                <a16:creationId xmlns:a16="http://schemas.microsoft.com/office/drawing/2014/main" xmlns="" id="{9AA2B528-1F65-F0AE-D0F1-3084A6DE19A8}"/>
              </a:ext>
            </a:extLst>
          </p:cNvPr>
          <p:cNvSpPr>
            <a:spLocks noGrp="1"/>
          </p:cNvSpPr>
          <p:nvPr>
            <p:ph type="sldNum" sz="quarter" idx="12"/>
          </p:nvPr>
        </p:nvSpPr>
        <p:spPr/>
        <p:txBody>
          <a:bodyPr/>
          <a:lstStyle/>
          <a:p>
            <a:fld id="{50D97DBC-71BD-4B00-8F4D-DDC0A0D17A0C}" type="slidenum">
              <a:rPr lang="en-US" smtClean="0"/>
              <a:t>20</a:t>
            </a:fld>
            <a:endParaRPr lang="en-US" dirty="0"/>
          </a:p>
        </p:txBody>
      </p:sp>
      <p:sp>
        <p:nvSpPr>
          <p:cNvPr id="5" name="Date Placeholder 4">
            <a:extLst>
              <a:ext uri="{FF2B5EF4-FFF2-40B4-BE49-F238E27FC236}">
                <a16:creationId xmlns:a16="http://schemas.microsoft.com/office/drawing/2014/main" xmlns="" id="{AB788B0A-D344-8211-8B55-9FE8F949ED61}"/>
              </a:ext>
            </a:extLst>
          </p:cNvPr>
          <p:cNvSpPr>
            <a:spLocks noGrp="1"/>
          </p:cNvSpPr>
          <p:nvPr>
            <p:ph type="dt" sz="half" idx="10"/>
          </p:nvPr>
        </p:nvSpPr>
        <p:spPr/>
        <p:txBody>
          <a:bodyPr/>
          <a:lstStyle/>
          <a:p>
            <a:fld id="{F0B4034D-A911-A642-B8E1-BA081BB67D6F}" type="datetime1">
              <a:rPr lang="en-AU" smtClean="0"/>
              <a:t>16/02/2026</a:t>
            </a:fld>
            <a:endParaRPr lang="en-US" dirty="0"/>
          </a:p>
        </p:txBody>
      </p:sp>
      <p:sp>
        <p:nvSpPr>
          <p:cNvPr id="6" name="Footer Placeholder 5">
            <a:extLst>
              <a:ext uri="{FF2B5EF4-FFF2-40B4-BE49-F238E27FC236}">
                <a16:creationId xmlns:a16="http://schemas.microsoft.com/office/drawing/2014/main" xmlns="" id="{7D258CA1-73CB-62FA-FB38-D70A9DCC9328}"/>
              </a:ext>
            </a:extLst>
          </p:cNvPr>
          <p:cNvSpPr>
            <a:spLocks noGrp="1"/>
          </p:cNvSpPr>
          <p:nvPr>
            <p:ph type="ftr" sz="quarter" idx="11"/>
          </p:nvPr>
        </p:nvSpPr>
        <p:spPr/>
        <p:txBody>
          <a:bodyPr/>
          <a:lstStyle/>
          <a:p>
            <a:r>
              <a:rPr lang="en-US"/>
              <a:t>@Foez Ahmed, CSE, VU</a:t>
            </a:r>
          </a:p>
        </p:txBody>
      </p:sp>
      <p:sp>
        <p:nvSpPr>
          <p:cNvPr id="10" name="Content Placeholder 2">
            <a:extLst>
              <a:ext uri="{FF2B5EF4-FFF2-40B4-BE49-F238E27FC236}">
                <a16:creationId xmlns:a16="http://schemas.microsoft.com/office/drawing/2014/main" xmlns="" id="{0484609C-F55F-CB19-4EF2-F6E294DDB662}"/>
              </a:ext>
            </a:extLst>
          </p:cNvPr>
          <p:cNvSpPr>
            <a:spLocks noGrp="1" noChangeAspect="1"/>
          </p:cNvSpPr>
          <p:nvPr>
            <p:ph idx="1"/>
          </p:nvPr>
        </p:nvSpPr>
        <p:spPr>
          <a:xfrm>
            <a:off x="874954" y="1017066"/>
            <a:ext cx="10431314" cy="476250"/>
          </a:xfrm>
        </p:spPr>
        <p:txBody>
          <a:bodyPr/>
          <a:lstStyle/>
          <a:p>
            <a:pPr>
              <a:buFont typeface="Wingdings" pitchFamily="2" charset="2"/>
              <a:buChar char="q"/>
            </a:pPr>
            <a:r>
              <a:rPr lang="en-US" altLang="en-US" sz="2400" b="1" dirty="0"/>
              <a:t>SSB-SC:</a:t>
            </a:r>
            <a:endParaRPr lang="en-US" altLang="en-US" sz="2400" dirty="0"/>
          </a:p>
        </p:txBody>
      </p:sp>
      <p:sp>
        <p:nvSpPr>
          <p:cNvPr id="3" name="Left Brace 2">
            <a:extLst>
              <a:ext uri="{FF2B5EF4-FFF2-40B4-BE49-F238E27FC236}">
                <a16:creationId xmlns:a16="http://schemas.microsoft.com/office/drawing/2014/main" xmlns="" id="{C3AFE78A-BE0F-9D2E-534F-1756DC3D29CB}"/>
              </a:ext>
            </a:extLst>
          </p:cNvPr>
          <p:cNvSpPr/>
          <p:nvPr/>
        </p:nvSpPr>
        <p:spPr>
          <a:xfrm rot="16200000">
            <a:off x="3564255" y="958215"/>
            <a:ext cx="227330" cy="1697990"/>
          </a:xfrm>
          <a:prstGeom prst="leftBrace">
            <a:avLst>
              <a:gd name="adj1" fmla="val 37199"/>
              <a:gd name="adj2" fmla="val 50000"/>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p>
        </p:txBody>
      </p:sp>
      <p:sp>
        <p:nvSpPr>
          <p:cNvPr id="7" name="Left Brace 6">
            <a:extLst>
              <a:ext uri="{FF2B5EF4-FFF2-40B4-BE49-F238E27FC236}">
                <a16:creationId xmlns:a16="http://schemas.microsoft.com/office/drawing/2014/main" xmlns="" id="{29833D97-CC1F-76B7-8752-806ADA34DB3B}"/>
              </a:ext>
            </a:extLst>
          </p:cNvPr>
          <p:cNvSpPr/>
          <p:nvPr/>
        </p:nvSpPr>
        <p:spPr>
          <a:xfrm rot="16200000">
            <a:off x="5758815" y="728980"/>
            <a:ext cx="308610" cy="2237740"/>
          </a:xfrm>
          <a:prstGeom prst="leftBrace">
            <a:avLst>
              <a:gd name="adj1" fmla="val 37199"/>
              <a:gd name="adj2" fmla="val 50000"/>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p>
        </p:txBody>
      </p:sp>
      <p:sp>
        <p:nvSpPr>
          <p:cNvPr id="8" name="Left Brace 7">
            <a:extLst>
              <a:ext uri="{FF2B5EF4-FFF2-40B4-BE49-F238E27FC236}">
                <a16:creationId xmlns:a16="http://schemas.microsoft.com/office/drawing/2014/main" xmlns="" id="{1F335062-72BB-0E37-C1C9-87FA3450D735}"/>
              </a:ext>
            </a:extLst>
          </p:cNvPr>
          <p:cNvSpPr/>
          <p:nvPr/>
        </p:nvSpPr>
        <p:spPr>
          <a:xfrm rot="16200000">
            <a:off x="8275955" y="848360"/>
            <a:ext cx="308610" cy="1998980"/>
          </a:xfrm>
          <a:prstGeom prst="leftBrace">
            <a:avLst>
              <a:gd name="adj1" fmla="val 37199"/>
              <a:gd name="adj2" fmla="val 50000"/>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p>
        </p:txBody>
      </p:sp>
      <p:sp>
        <p:nvSpPr>
          <p:cNvPr id="9" name="TextBox 8">
            <a:extLst>
              <a:ext uri="{FF2B5EF4-FFF2-40B4-BE49-F238E27FC236}">
                <a16:creationId xmlns:a16="http://schemas.microsoft.com/office/drawing/2014/main" xmlns="" id="{C96F1F01-D9B1-DEA1-A9FA-641DA57C0094}"/>
              </a:ext>
            </a:extLst>
          </p:cNvPr>
          <p:cNvSpPr txBox="1"/>
          <p:nvPr/>
        </p:nvSpPr>
        <p:spPr>
          <a:xfrm>
            <a:off x="2905086" y="1971480"/>
            <a:ext cx="1070549" cy="400110"/>
          </a:xfrm>
          <a:prstGeom prst="rect">
            <a:avLst/>
          </a:prstGeom>
          <a:noFill/>
        </p:spPr>
        <p:txBody>
          <a:bodyPr wrap="none" rtlCol="0">
            <a:spAutoFit/>
          </a:bodyPr>
          <a:lstStyle/>
          <a:p>
            <a:r>
              <a:rPr lang="en-US" sz="2000" dirty="0">
                <a:ea typeface="Cambria" panose="02040503050406030204" pitchFamily="18" charset="0"/>
              </a:rPr>
              <a:t>Carrier</a:t>
            </a:r>
          </a:p>
        </p:txBody>
      </p:sp>
      <p:sp>
        <p:nvSpPr>
          <p:cNvPr id="12" name="TextBox 11">
            <a:extLst>
              <a:ext uri="{FF2B5EF4-FFF2-40B4-BE49-F238E27FC236}">
                <a16:creationId xmlns:a16="http://schemas.microsoft.com/office/drawing/2014/main" xmlns="" id="{8AC13611-527E-FB21-E749-10641A615C33}"/>
              </a:ext>
            </a:extLst>
          </p:cNvPr>
          <p:cNvSpPr txBox="1"/>
          <p:nvPr/>
        </p:nvSpPr>
        <p:spPr>
          <a:xfrm>
            <a:off x="4612309" y="1971479"/>
            <a:ext cx="2140009" cy="400110"/>
          </a:xfrm>
          <a:prstGeom prst="rect">
            <a:avLst/>
          </a:prstGeom>
          <a:noFill/>
        </p:spPr>
        <p:txBody>
          <a:bodyPr wrap="none" rtlCol="0">
            <a:spAutoFit/>
          </a:bodyPr>
          <a:lstStyle/>
          <a:p>
            <a:r>
              <a:rPr lang="en-US" sz="2000" dirty="0">
                <a:ea typeface="Cambria" panose="02040503050406030204" pitchFamily="18" charset="0"/>
              </a:rPr>
              <a:t>Lower Side Band</a:t>
            </a:r>
          </a:p>
        </p:txBody>
      </p:sp>
      <p:sp>
        <p:nvSpPr>
          <p:cNvPr id="13" name="TextBox 12">
            <a:extLst>
              <a:ext uri="{FF2B5EF4-FFF2-40B4-BE49-F238E27FC236}">
                <a16:creationId xmlns:a16="http://schemas.microsoft.com/office/drawing/2014/main" xmlns="" id="{3376CF6C-9C78-3EDF-EE1D-62A5E8344E93}"/>
              </a:ext>
            </a:extLst>
          </p:cNvPr>
          <p:cNvSpPr txBox="1"/>
          <p:nvPr/>
        </p:nvSpPr>
        <p:spPr>
          <a:xfrm>
            <a:off x="7574589" y="2002136"/>
            <a:ext cx="2173993" cy="400110"/>
          </a:xfrm>
          <a:prstGeom prst="rect">
            <a:avLst/>
          </a:prstGeom>
          <a:noFill/>
        </p:spPr>
        <p:txBody>
          <a:bodyPr wrap="none" rtlCol="0">
            <a:spAutoFit/>
          </a:bodyPr>
          <a:lstStyle/>
          <a:p>
            <a:r>
              <a:rPr lang="en-US" sz="2000" dirty="0">
                <a:ea typeface="Cambria" panose="02040503050406030204" pitchFamily="18" charset="0"/>
              </a:rPr>
              <a:t>Upper Side Band</a:t>
            </a:r>
          </a:p>
        </p:txBody>
      </p:sp>
      <p:sp>
        <p:nvSpPr>
          <p:cNvPr id="14" name="TextBox 13">
            <a:extLst>
              <a:ext uri="{FF2B5EF4-FFF2-40B4-BE49-F238E27FC236}">
                <a16:creationId xmlns:a16="http://schemas.microsoft.com/office/drawing/2014/main" xmlns="" id="{588C074A-47EC-DAF3-8BD5-260C8B81B57A}"/>
              </a:ext>
            </a:extLst>
          </p:cNvPr>
          <p:cNvSpPr txBox="1"/>
          <p:nvPr/>
        </p:nvSpPr>
        <p:spPr>
          <a:xfrm>
            <a:off x="634691" y="2684508"/>
            <a:ext cx="5455920" cy="3233692"/>
          </a:xfrm>
          <a:prstGeom prst="rect">
            <a:avLst/>
          </a:prstGeom>
          <a:noFill/>
        </p:spPr>
        <p:txBody>
          <a:bodyPr wrap="square" rtlCol="0">
            <a:noAutofit/>
          </a:bodyPr>
          <a:lstStyle/>
          <a:p>
            <a:pPr marL="457200" indent="-457200" algn="just">
              <a:buFont typeface="Wingdings" pitchFamily="2" charset="2"/>
              <a:buChar char="ü"/>
            </a:pPr>
            <a:r>
              <a:rPr lang="en-US" sz="2800" dirty="0">
                <a:ea typeface="Cambria" panose="02040503050406030204" pitchFamily="18" charset="0"/>
              </a:rPr>
              <a:t>The process of </a:t>
            </a:r>
            <a:r>
              <a:rPr lang="en-US" sz="2800" dirty="0">
                <a:solidFill>
                  <a:srgbClr val="7030A0"/>
                </a:solidFill>
                <a:ea typeface="Cambria" panose="02040503050406030204" pitchFamily="18" charset="0"/>
              </a:rPr>
              <a:t>suppressing one of the sidebands</a:t>
            </a:r>
            <a:r>
              <a:rPr lang="en-US" sz="2800" dirty="0">
                <a:ea typeface="Cambria" panose="02040503050406030204" pitchFamily="18" charset="0"/>
              </a:rPr>
              <a:t> along with the </a:t>
            </a:r>
            <a:r>
              <a:rPr lang="en-US" sz="2800" dirty="0">
                <a:solidFill>
                  <a:srgbClr val="7030A0"/>
                </a:solidFill>
                <a:ea typeface="Cambria" panose="02040503050406030204" pitchFamily="18" charset="0"/>
              </a:rPr>
              <a:t>carrier</a:t>
            </a:r>
            <a:r>
              <a:rPr lang="en-US" sz="2800" dirty="0">
                <a:ea typeface="Cambria" panose="02040503050406030204" pitchFamily="18" charset="0"/>
              </a:rPr>
              <a:t> and transmitting a single sideband is called as </a:t>
            </a:r>
            <a:r>
              <a:rPr lang="en-US" sz="2800" dirty="0">
                <a:solidFill>
                  <a:srgbClr val="7030A0"/>
                </a:solidFill>
                <a:ea typeface="Cambria" panose="02040503050406030204" pitchFamily="18" charset="0"/>
              </a:rPr>
              <a:t>Single Sideband Suppressed Carrier </a:t>
            </a:r>
            <a:r>
              <a:rPr lang="en-US" sz="2800" dirty="0">
                <a:ea typeface="Cambria" panose="02040503050406030204" pitchFamily="18" charset="0"/>
              </a:rPr>
              <a:t>system or simply </a:t>
            </a:r>
            <a:r>
              <a:rPr lang="en-US" sz="2800" dirty="0">
                <a:solidFill>
                  <a:srgbClr val="7030A0"/>
                </a:solidFill>
                <a:ea typeface="Cambria" panose="02040503050406030204" pitchFamily="18" charset="0"/>
              </a:rPr>
              <a:t>SSB-SC</a:t>
            </a:r>
            <a:r>
              <a:rPr lang="en-US" sz="2800" dirty="0">
                <a:ea typeface="Cambria" panose="02040503050406030204" pitchFamily="18" charset="0"/>
              </a:rPr>
              <a:t>.</a:t>
            </a:r>
          </a:p>
        </p:txBody>
      </p:sp>
      <p:pic>
        <p:nvPicPr>
          <p:cNvPr id="15" name="Picture 14">
            <a:extLst>
              <a:ext uri="{FF2B5EF4-FFF2-40B4-BE49-F238E27FC236}">
                <a16:creationId xmlns:a16="http://schemas.microsoft.com/office/drawing/2014/main" xmlns="" id="{1DC3C452-4310-BAC2-570E-A7328368AF0A}"/>
              </a:ext>
            </a:extLst>
          </p:cNvPr>
          <p:cNvPicPr>
            <a:picLocks noChangeAspect="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6586857" y="2649524"/>
            <a:ext cx="4953272" cy="3436522"/>
          </a:xfrm>
          <a:prstGeom prst="rect">
            <a:avLst/>
          </a:prstGeom>
          <a:ln w="19050">
            <a:solidFill>
              <a:srgbClr val="FF0000"/>
            </a:solidFill>
          </a:ln>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xmlns="" id="{CD6A00A2-CB65-6C92-B4F4-8D98B98A58D8}"/>
                  </a:ext>
                </a:extLst>
              </p:cNvPr>
              <p:cNvSpPr txBox="1"/>
              <p:nvPr/>
            </p:nvSpPr>
            <p:spPr>
              <a:xfrm>
                <a:off x="2041160" y="939800"/>
                <a:ext cx="8229600" cy="6665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Cambria" panose="02040503050406030204" pitchFamily="18" charset="0"/>
                        </a:rPr>
                        <m:t>𝑣</m:t>
                      </m:r>
                      <m:r>
                        <a:rPr lang="en-US" sz="2000" i="1">
                          <a:latin typeface="Cambria Math" panose="02040503050406030204" pitchFamily="18" charset="0"/>
                          <a:ea typeface="Cambria" panose="02040503050406030204" pitchFamily="18" charset="0"/>
                        </a:rPr>
                        <m:t>=</m:t>
                      </m:r>
                      <m:sSub>
                        <m:sSubPr>
                          <m:ctrlPr>
                            <a:rPr lang="en-US" sz="2000" i="1">
                              <a:latin typeface="Cambria Math" panose="02040503050406030204" pitchFamily="18" charset="0"/>
                              <a:ea typeface="Cambria" panose="02040503050406030204" pitchFamily="18" charset="0"/>
                            </a:rPr>
                          </m:ctrlPr>
                        </m:sSubPr>
                        <m:e>
                          <m:r>
                            <a:rPr lang="en-US" sz="2000" i="1">
                              <a:latin typeface="Cambria Math" panose="02040503050406030204" pitchFamily="18" charset="0"/>
                              <a:ea typeface="Cambria" panose="02040503050406030204" pitchFamily="18" charset="0"/>
                            </a:rPr>
                            <m:t>𝑉</m:t>
                          </m:r>
                        </m:e>
                        <m:sub>
                          <m:r>
                            <a:rPr lang="en-US" sz="2000" i="1">
                              <a:latin typeface="Cambria Math" panose="02040503050406030204" pitchFamily="18" charset="0"/>
                              <a:ea typeface="Cambria" panose="02040503050406030204" pitchFamily="18" charset="0"/>
                            </a:rPr>
                            <m:t>𝑐</m:t>
                          </m:r>
                        </m:sub>
                      </m:sSub>
                      <m:r>
                        <a:rPr lang="en-US" sz="2000" i="1">
                          <a:latin typeface="Cambria Math" panose="02040503050406030204" pitchFamily="18" charset="0"/>
                          <a:ea typeface="Cambria" panose="02040503050406030204" pitchFamily="18" charset="0"/>
                        </a:rPr>
                        <m:t>𝑆𝑖𝑛</m:t>
                      </m:r>
                      <m:r>
                        <a:rPr lang="en-US" sz="2000" i="1">
                          <a:latin typeface="Cambria Math" panose="02040503050406030204" pitchFamily="18" charset="0"/>
                          <a:ea typeface="Cambria" panose="02040503050406030204" pitchFamily="18" charset="0"/>
                        </a:rPr>
                        <m:t> </m:t>
                      </m:r>
                      <m:d>
                        <m:dPr>
                          <m:ctrlPr>
                            <a:rPr lang="en-US" sz="2000" i="1">
                              <a:latin typeface="Cambria Math" panose="02040503050406030204" pitchFamily="18" charset="0"/>
                              <a:ea typeface="Cambria" panose="02040503050406030204" pitchFamily="18" charset="0"/>
                            </a:rPr>
                          </m:ctrlPr>
                        </m:dPr>
                        <m:e>
                          <m:sSub>
                            <m:sSubPr>
                              <m:ctrlPr>
                                <a:rPr lang="en-US" sz="2000" i="1">
                                  <a:latin typeface="Cambria Math" panose="02040503050406030204" pitchFamily="18" charset="0"/>
                                  <a:ea typeface="Cambria"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ea typeface="Cambria" panose="02040503050406030204" pitchFamily="18" charset="0"/>
                                </a:rPr>
                                <m:t>𝑐</m:t>
                              </m:r>
                            </m:sub>
                          </m:sSub>
                          <m:r>
                            <a:rPr lang="en-US" sz="2000" i="1">
                              <a:latin typeface="Cambria Math" panose="02040503050406030204" pitchFamily="18" charset="0"/>
                              <a:ea typeface="Cambria Math" panose="02040503050406030204" pitchFamily="18" charset="0"/>
                            </a:rPr>
                            <m:t>𝑡</m:t>
                          </m:r>
                        </m:e>
                      </m:d>
                      <m:r>
                        <a:rPr lang="en-US" sz="2000" i="1">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𝑚</m:t>
                          </m:r>
                          <m:sSub>
                            <m:sSubPr>
                              <m:ctrlPr>
                                <a:rPr lang="en-US" sz="2000" i="1">
                                  <a:latin typeface="Cambria Math" panose="02040503050406030204" pitchFamily="18" charset="0"/>
                                  <a:ea typeface="Cambria" panose="02040503050406030204" pitchFamily="18" charset="0"/>
                                </a:rPr>
                              </m:ctrlPr>
                            </m:sSubPr>
                            <m:e>
                              <m:r>
                                <a:rPr lang="en-US" sz="2000" i="1">
                                  <a:latin typeface="Cambria Math" panose="02040503050406030204" pitchFamily="18" charset="0"/>
                                  <a:ea typeface="Cambria" panose="02040503050406030204" pitchFamily="18" charset="0"/>
                                </a:rPr>
                                <m:t>𝑉</m:t>
                              </m:r>
                            </m:e>
                            <m:sub>
                              <m:r>
                                <a:rPr lang="en-US" sz="2000" i="1">
                                  <a:latin typeface="Cambria Math" panose="02040503050406030204" pitchFamily="18" charset="0"/>
                                  <a:ea typeface="Cambria" panose="02040503050406030204" pitchFamily="18" charset="0"/>
                                </a:rPr>
                                <m:t>𝑐</m:t>
                              </m:r>
                            </m:sub>
                          </m:sSub>
                        </m:num>
                        <m:den>
                          <m:r>
                            <a:rPr lang="en-US" sz="2000" i="1">
                              <a:latin typeface="Cambria Math" panose="02040503050406030204" pitchFamily="18" charset="0"/>
                              <a:ea typeface="Cambria" panose="02040503050406030204" pitchFamily="18" charset="0"/>
                            </a:rPr>
                            <m:t>2</m:t>
                          </m:r>
                        </m:den>
                      </m:f>
                      <m:func>
                        <m:funcPr>
                          <m:ctrlPr>
                            <a:rPr lang="en-US" sz="2000" i="1">
                              <a:latin typeface="Cambria Math" panose="02040503050406030204" pitchFamily="18" charset="0"/>
                              <a:ea typeface="Cambria" panose="02040503050406030204" pitchFamily="18" charset="0"/>
                            </a:rPr>
                          </m:ctrlPr>
                        </m:funcPr>
                        <m:fName>
                          <m:r>
                            <m:rPr>
                              <m:sty m:val="p"/>
                            </m:rPr>
                            <a:rPr lang="en-US" sz="2000">
                              <a:latin typeface="Cambria Math" panose="02040503050406030204" pitchFamily="18" charset="0"/>
                              <a:ea typeface="Cambria" panose="02040503050406030204" pitchFamily="18" charset="0"/>
                            </a:rPr>
                            <m:t>cos</m:t>
                          </m:r>
                        </m:fName>
                        <m:e>
                          <m:d>
                            <m:dPr>
                              <m:ctrlPr>
                                <a:rPr lang="en-US" sz="2000" i="1">
                                  <a:latin typeface="Cambria Math" panose="02040503050406030204" pitchFamily="18" charset="0"/>
                                  <a:ea typeface="Cambria" panose="02040503050406030204" pitchFamily="18" charset="0"/>
                                </a:rPr>
                              </m:ctrlPr>
                            </m:dPr>
                            <m:e>
                              <m:sSub>
                                <m:sSubPr>
                                  <m:ctrlPr>
                                    <a:rPr lang="en-US" sz="2000" i="1">
                                      <a:latin typeface="Cambria Math" panose="02040503050406030204" pitchFamily="18" charset="0"/>
                                      <a:ea typeface="Cambria"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ea typeface="Cambria" panose="02040503050406030204" pitchFamily="18" charset="0"/>
                                    </a:rPr>
                                    <m:t>𝑚</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ea typeface="Cambria" panose="02040503050406030204" pitchFamily="18" charset="0"/>
                                    </a:rPr>
                                    <m:t>𝑐</m:t>
                                  </m:r>
                                </m:sub>
                              </m:sSub>
                            </m:e>
                          </m:d>
                        </m:e>
                      </m:func>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𝑚</m:t>
                          </m:r>
                          <m:sSub>
                            <m:sSubPr>
                              <m:ctrlPr>
                                <a:rPr lang="en-US" sz="2000" i="1">
                                  <a:latin typeface="Cambria Math" panose="02040503050406030204" pitchFamily="18" charset="0"/>
                                  <a:ea typeface="Cambria" panose="02040503050406030204" pitchFamily="18" charset="0"/>
                                </a:rPr>
                              </m:ctrlPr>
                            </m:sSubPr>
                            <m:e>
                              <m:r>
                                <a:rPr lang="en-US" sz="2000" i="1">
                                  <a:latin typeface="Cambria Math" panose="02040503050406030204" pitchFamily="18" charset="0"/>
                                  <a:ea typeface="Cambria" panose="02040503050406030204" pitchFamily="18" charset="0"/>
                                </a:rPr>
                                <m:t>𝑉</m:t>
                              </m:r>
                            </m:e>
                            <m:sub>
                              <m:r>
                                <a:rPr lang="en-US" sz="2000" i="1">
                                  <a:latin typeface="Cambria Math" panose="02040503050406030204" pitchFamily="18" charset="0"/>
                                  <a:ea typeface="Cambria" panose="02040503050406030204" pitchFamily="18" charset="0"/>
                                </a:rPr>
                                <m:t>𝑐</m:t>
                              </m:r>
                            </m:sub>
                          </m:sSub>
                        </m:num>
                        <m:den>
                          <m:r>
                            <a:rPr lang="en-US" sz="2000" i="1">
                              <a:latin typeface="Cambria Math" panose="02040503050406030204" pitchFamily="18" charset="0"/>
                              <a:ea typeface="Cambria" panose="02040503050406030204" pitchFamily="18" charset="0"/>
                            </a:rPr>
                            <m:t>2</m:t>
                          </m:r>
                        </m:den>
                      </m:f>
                      <m:r>
                        <m:rPr>
                          <m:sty m:val="p"/>
                        </m:rPr>
                        <a:rPr lang="en-US" sz="2000">
                          <a:latin typeface="Cambria Math" panose="02040503050406030204" pitchFamily="18" charset="0"/>
                          <a:ea typeface="Cambria" panose="02040503050406030204" pitchFamily="18" charset="0"/>
                        </a:rPr>
                        <m:t>cos</m:t>
                      </m:r>
                      <m:r>
                        <a:rPr lang="en-US" sz="2000" i="1">
                          <a:latin typeface="Cambria Math" panose="02040503050406030204" pitchFamily="18" charset="0"/>
                          <a:ea typeface="Cambria" panose="02040503050406030204" pitchFamily="18" charset="0"/>
                        </a:rPr>
                        <m:t>(</m:t>
                      </m:r>
                      <m:sSub>
                        <m:sSubPr>
                          <m:ctrlPr>
                            <a:rPr lang="en-US" sz="2000" i="1">
                              <a:latin typeface="Cambria Math" panose="02040503050406030204" pitchFamily="18" charset="0"/>
                              <a:ea typeface="Cambria"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ea typeface="Cambria" panose="02040503050406030204" pitchFamily="18" charset="0"/>
                            </a:rPr>
                            <m:t>𝑚</m:t>
                          </m:r>
                        </m:sub>
                      </m:sSub>
                      <m:r>
                        <a:rPr lang="en-US" sz="2000" i="1">
                          <a:latin typeface="Cambria Math" panose="02040503050406030204" pitchFamily="18" charset="0"/>
                          <a:ea typeface="Cambria" panose="02040503050406030204" pitchFamily="18" charset="0"/>
                        </a:rPr>
                        <m:t>+</m:t>
                      </m:r>
                      <m:sSub>
                        <m:sSubPr>
                          <m:ctrlPr>
                            <a:rPr lang="en-US" sz="2000" i="1">
                              <a:latin typeface="Cambria Math" panose="02040503050406030204" pitchFamily="18" charset="0"/>
                              <a:ea typeface="Cambria"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ea typeface="Cambria" panose="02040503050406030204" pitchFamily="18" charset="0"/>
                            </a:rPr>
                            <m:t>𝑐</m:t>
                          </m:r>
                        </m:sub>
                      </m:sSub>
                      <m:r>
                        <a:rPr lang="en-US" sz="2000" i="1">
                          <a:latin typeface="Cambria Math" panose="02040503050406030204" pitchFamily="18" charset="0"/>
                          <a:ea typeface="Cambria" panose="02040503050406030204" pitchFamily="18" charset="0"/>
                        </a:rPr>
                        <m:t>)</m:t>
                      </m:r>
                      <m:r>
                        <a:rPr lang="en-US" sz="2000" i="1">
                          <a:latin typeface="Cambria Math" panose="02040503050406030204" pitchFamily="18" charset="0"/>
                          <a:ea typeface="Cambria Math" panose="02040503050406030204" pitchFamily="18" charset="0"/>
                        </a:rPr>
                        <m:t>𝑡</m:t>
                      </m:r>
                    </m:oMath>
                  </m:oMathPara>
                </a14:m>
                <a:endParaRPr lang="en-US" sz="2000" dirty="0">
                  <a:ea typeface="Cambria" panose="02040503050406030204" pitchFamily="18" charset="0"/>
                </a:endParaRPr>
              </a:p>
            </p:txBody>
          </p:sp>
        </mc:Choice>
        <mc:Fallback xmlns="">
          <p:sp>
            <p:nvSpPr>
              <p:cNvPr id="16" name="TextBox 15">
                <a:extLst>
                  <a:ext uri="{FF2B5EF4-FFF2-40B4-BE49-F238E27FC236}">
                    <a16:creationId xmlns:a16="http://schemas.microsoft.com/office/drawing/2014/main" id="{CD6A00A2-CB65-6C92-B4F4-8D98B98A58D8}"/>
                  </a:ext>
                </a:extLst>
              </p:cNvPr>
              <p:cNvSpPr txBox="1">
                <a:spLocks noRot="1" noChangeAspect="1" noMove="1" noResize="1" noEditPoints="1" noAdjustHandles="1" noChangeArrowheads="1" noChangeShapeType="1" noTextEdit="1"/>
              </p:cNvSpPr>
              <p:nvPr/>
            </p:nvSpPr>
            <p:spPr>
              <a:xfrm>
                <a:off x="2041160" y="939800"/>
                <a:ext cx="8229600" cy="666529"/>
              </a:xfrm>
              <a:prstGeom prst="rect">
                <a:avLst/>
              </a:prstGeom>
              <a:blipFill>
                <a:blip r:embed="rId4"/>
                <a:stretch>
                  <a:fillRect b="-5556"/>
                </a:stretch>
              </a:blipFill>
            </p:spPr>
            <p:txBody>
              <a:bodyPr/>
              <a:lstStyle/>
              <a:p>
                <a:r>
                  <a:rPr lang="en-US">
                    <a:noFill/>
                  </a:rPr>
                  <a:t> </a:t>
                </a:r>
              </a:p>
            </p:txBody>
          </p:sp>
        </mc:Fallback>
      </mc:AlternateContent>
    </p:spTree>
    <p:extLst>
      <p:ext uri="{BB962C8B-B14F-4D97-AF65-F5344CB8AC3E}">
        <p14:creationId xmlns:p14="http://schemas.microsoft.com/office/powerpoint/2010/main" val="122636680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36663D4-822B-1774-5087-28D145531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A83D3D5E-7F8B-48DA-C12F-C08E251E22E5}"/>
              </a:ext>
            </a:extLst>
          </p:cNvPr>
          <p:cNvSpPr>
            <a:spLocks noGrp="1"/>
          </p:cNvSpPr>
          <p:nvPr>
            <p:ph type="title"/>
          </p:nvPr>
        </p:nvSpPr>
        <p:spPr>
          <a:xfrm>
            <a:off x="1936750" y="190500"/>
            <a:ext cx="9645650" cy="582930"/>
          </a:xfrm>
        </p:spPr>
        <p:txBody>
          <a:bodyPr/>
          <a:lstStyle/>
          <a:p>
            <a:r>
              <a:rPr lang="en-US" altLang="en-US" b="1" dirty="0">
                <a:sym typeface="+mn-ea"/>
              </a:rPr>
              <a:t>Amplitude Modulation</a:t>
            </a:r>
            <a:endParaRPr lang="en-US" altLang="en-US" b="1" dirty="0"/>
          </a:p>
        </p:txBody>
      </p:sp>
      <p:sp>
        <p:nvSpPr>
          <p:cNvPr id="4" name="Slide Number Placeholder 3">
            <a:extLst>
              <a:ext uri="{FF2B5EF4-FFF2-40B4-BE49-F238E27FC236}">
                <a16:creationId xmlns:a16="http://schemas.microsoft.com/office/drawing/2014/main" xmlns="" id="{AE08E946-F24A-7038-66EF-E2863AF6B7E7}"/>
              </a:ext>
            </a:extLst>
          </p:cNvPr>
          <p:cNvSpPr>
            <a:spLocks noGrp="1"/>
          </p:cNvSpPr>
          <p:nvPr>
            <p:ph type="sldNum" sz="quarter" idx="12"/>
          </p:nvPr>
        </p:nvSpPr>
        <p:spPr/>
        <p:txBody>
          <a:bodyPr/>
          <a:lstStyle/>
          <a:p>
            <a:fld id="{50D97DBC-71BD-4B00-8F4D-DDC0A0D17A0C}" type="slidenum">
              <a:rPr lang="en-US" smtClean="0"/>
              <a:t>21</a:t>
            </a:fld>
            <a:endParaRPr lang="en-US" dirty="0"/>
          </a:p>
        </p:txBody>
      </p:sp>
      <p:sp>
        <p:nvSpPr>
          <p:cNvPr id="5" name="Date Placeholder 4">
            <a:extLst>
              <a:ext uri="{FF2B5EF4-FFF2-40B4-BE49-F238E27FC236}">
                <a16:creationId xmlns:a16="http://schemas.microsoft.com/office/drawing/2014/main" xmlns="" id="{48B4A4C0-6F03-AE3A-2D42-83608162A15C}"/>
              </a:ext>
            </a:extLst>
          </p:cNvPr>
          <p:cNvSpPr>
            <a:spLocks noGrp="1"/>
          </p:cNvSpPr>
          <p:nvPr>
            <p:ph type="dt" sz="half" idx="10"/>
          </p:nvPr>
        </p:nvSpPr>
        <p:spPr/>
        <p:txBody>
          <a:bodyPr/>
          <a:lstStyle/>
          <a:p>
            <a:fld id="{F0B4034D-A911-A642-B8E1-BA081BB67D6F}" type="datetime1">
              <a:rPr lang="en-AU" smtClean="0"/>
              <a:t>16/02/2026</a:t>
            </a:fld>
            <a:endParaRPr lang="en-US" dirty="0"/>
          </a:p>
        </p:txBody>
      </p:sp>
      <p:sp>
        <p:nvSpPr>
          <p:cNvPr id="6" name="Footer Placeholder 5">
            <a:extLst>
              <a:ext uri="{FF2B5EF4-FFF2-40B4-BE49-F238E27FC236}">
                <a16:creationId xmlns:a16="http://schemas.microsoft.com/office/drawing/2014/main" xmlns="" id="{0302B78C-6560-077A-1C0D-DFF989612A0D}"/>
              </a:ext>
            </a:extLst>
          </p:cNvPr>
          <p:cNvSpPr>
            <a:spLocks noGrp="1"/>
          </p:cNvSpPr>
          <p:nvPr>
            <p:ph type="ftr" sz="quarter" idx="11"/>
          </p:nvPr>
        </p:nvSpPr>
        <p:spPr/>
        <p:txBody>
          <a:bodyPr/>
          <a:lstStyle/>
          <a:p>
            <a:r>
              <a:rPr lang="en-US"/>
              <a:t>@Foez Ahmed, CSE, VU</a:t>
            </a:r>
          </a:p>
        </p:txBody>
      </p:sp>
      <p:sp>
        <p:nvSpPr>
          <p:cNvPr id="10" name="Content Placeholder 2">
            <a:extLst>
              <a:ext uri="{FF2B5EF4-FFF2-40B4-BE49-F238E27FC236}">
                <a16:creationId xmlns:a16="http://schemas.microsoft.com/office/drawing/2014/main" xmlns="" id="{B837EBDF-BE2E-61D2-A585-2B71B87BF9AC}"/>
              </a:ext>
            </a:extLst>
          </p:cNvPr>
          <p:cNvSpPr>
            <a:spLocks noGrp="1" noChangeAspect="1"/>
          </p:cNvSpPr>
          <p:nvPr>
            <p:ph idx="1"/>
          </p:nvPr>
        </p:nvSpPr>
        <p:spPr>
          <a:xfrm>
            <a:off x="874954" y="1017066"/>
            <a:ext cx="10431314" cy="476250"/>
          </a:xfrm>
        </p:spPr>
        <p:txBody>
          <a:bodyPr/>
          <a:lstStyle/>
          <a:p>
            <a:pPr>
              <a:buFont typeface="Wingdings" pitchFamily="2" charset="2"/>
              <a:buChar char="q"/>
            </a:pPr>
            <a:r>
              <a:rPr lang="en-US" altLang="en-US" sz="2400" b="1" dirty="0"/>
              <a:t>Advantages of SSB-SC:</a:t>
            </a:r>
            <a:endParaRPr lang="en-US" altLang="en-US" sz="2400" dirty="0"/>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xmlns="" id="{8A871AFB-42EE-6C03-23B4-895D70DA56C1}"/>
                  </a:ext>
                </a:extLst>
              </p:cNvPr>
              <p:cNvSpPr txBox="1"/>
              <p:nvPr/>
            </p:nvSpPr>
            <p:spPr>
              <a:xfrm>
                <a:off x="1524000" y="1569982"/>
                <a:ext cx="10058400" cy="4619150"/>
              </a:xfrm>
              <a:prstGeom prst="rect">
                <a:avLst/>
              </a:prstGeom>
              <a:noFill/>
            </p:spPr>
            <p:txBody>
              <a:bodyPr wrap="square" rtlCol="0">
                <a:spAutoFit/>
              </a:bodyPr>
              <a:lstStyle/>
              <a:p>
                <a:r>
                  <a:rPr lang="en-US" sz="2400" dirty="0">
                    <a:ea typeface="Cambria" panose="02040503050406030204" pitchFamily="18" charset="0"/>
                  </a:rPr>
                  <a:t>Total power of a Double Sideband Full Carrier (DSBFC) AM signal is</a:t>
                </a:r>
              </a:p>
              <a:p>
                <a:endParaRPr lang="en-US" sz="2400" dirty="0">
                  <a:ea typeface="Cambria" panose="02040503050406030204" pitchFamily="18" charset="0"/>
                </a:endParaRPr>
              </a:p>
              <a:p>
                <a:pPr/>
                <a14:m>
                  <m:oMathPara xmlns:m="http://schemas.openxmlformats.org/officeDocument/2006/math">
                    <m:oMathParaPr>
                      <m:jc m:val="center"/>
                    </m:oMathParaPr>
                    <m:oMath xmlns:m="http://schemas.openxmlformats.org/officeDocument/2006/math">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𝑃</m:t>
                          </m:r>
                        </m:e>
                        <m:sub>
                          <m:r>
                            <a:rPr lang="en-US" sz="2400" i="1">
                              <a:latin typeface="Cambria Math" panose="02040503050406030204" pitchFamily="18" charset="0"/>
                              <a:ea typeface="Cambria" panose="02040503050406030204" pitchFamily="18" charset="0"/>
                            </a:rPr>
                            <m:t>𝑡</m:t>
                          </m:r>
                          <m:r>
                            <a:rPr lang="en-US" sz="2400" i="1">
                              <a:latin typeface="Cambria Math" panose="02040503050406030204" pitchFamily="18" charset="0"/>
                              <a:ea typeface="Cambria" panose="02040503050406030204" pitchFamily="18" charset="0"/>
                            </a:rPr>
                            <m:t>(</m:t>
                          </m:r>
                          <m:r>
                            <a:rPr lang="en-US" sz="2400" i="1">
                              <a:latin typeface="Cambria Math" panose="02040503050406030204" pitchFamily="18" charset="0"/>
                              <a:ea typeface="Cambria" panose="02040503050406030204" pitchFamily="18" charset="0"/>
                            </a:rPr>
                            <m:t>𝐷𝑆𝐵𝐹𝐶</m:t>
                          </m:r>
                          <m:r>
                            <a:rPr lang="en-US" sz="2400" i="1">
                              <a:latin typeface="Cambria Math" panose="02040503050406030204" pitchFamily="18" charset="0"/>
                              <a:ea typeface="Cambria" panose="02040503050406030204" pitchFamily="18" charset="0"/>
                            </a:rPr>
                            <m:t>)</m:t>
                          </m:r>
                        </m:sub>
                      </m:sSub>
                      <m:r>
                        <a:rPr lang="en-US" sz="2400" i="1">
                          <a:latin typeface="Cambria Math" panose="02040503050406030204" pitchFamily="18" charset="0"/>
                          <a:ea typeface="Cambria" panose="02040503050406030204" pitchFamily="18" charset="0"/>
                        </a:rPr>
                        <m:t>=</m:t>
                      </m:r>
                      <m:f>
                        <m:fPr>
                          <m:ctrlPr>
                            <a:rPr lang="en-US" sz="2400" i="1">
                              <a:latin typeface="Cambria Math" panose="02040503050406030204" pitchFamily="18" charset="0"/>
                              <a:ea typeface="Cambria" panose="02040503050406030204" pitchFamily="18" charset="0"/>
                            </a:rPr>
                          </m:ctrlPr>
                        </m:fPr>
                        <m:num>
                          <m:sSup>
                            <m:sSupPr>
                              <m:ctrlPr>
                                <a:rPr lang="en-US" sz="2400" i="1">
                                  <a:latin typeface="Cambria Math" panose="02040503050406030204" pitchFamily="18" charset="0"/>
                                  <a:ea typeface="Cambria" panose="02040503050406030204" pitchFamily="18" charset="0"/>
                                </a:rPr>
                              </m:ctrlPr>
                            </m:sSupPr>
                            <m:e>
                              <m:d>
                                <m:dPr>
                                  <m:ctrlPr>
                                    <a:rPr lang="en-US" sz="2400" i="1">
                                      <a:latin typeface="Cambria Math" panose="02040503050406030204" pitchFamily="18" charset="0"/>
                                      <a:ea typeface="Cambria" panose="02040503050406030204" pitchFamily="18" charset="0"/>
                                    </a:rPr>
                                  </m:ctrlPr>
                                </m:d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𝐶𝑎𝑟𝑟𝑖𝑒𝑟</m:t>
                                      </m:r>
                                    </m:sub>
                                  </m:sSub>
                                </m:e>
                              </m:d>
                            </m:e>
                            <m:sup>
                              <m:r>
                                <a:rPr lang="en-US" sz="2400" i="1">
                                  <a:latin typeface="Cambria Math" panose="02040503050406030204" pitchFamily="18" charset="0"/>
                                  <a:ea typeface="Cambria" panose="02040503050406030204" pitchFamily="18" charset="0"/>
                                </a:rPr>
                                <m:t>2</m:t>
                              </m:r>
                            </m:sup>
                          </m:sSup>
                        </m:num>
                        <m:den>
                          <m:r>
                            <a:rPr lang="en-US" sz="2400" i="1">
                              <a:latin typeface="Cambria Math" panose="02040503050406030204" pitchFamily="18" charset="0"/>
                              <a:ea typeface="Cambria" panose="02040503050406030204" pitchFamily="18" charset="0"/>
                            </a:rPr>
                            <m:t>𝑅</m:t>
                          </m:r>
                        </m:den>
                      </m:f>
                      <m:r>
                        <a:rPr lang="en-US" sz="2400" i="1">
                          <a:latin typeface="Cambria Math" panose="02040503050406030204" pitchFamily="18" charset="0"/>
                          <a:ea typeface="Cambria" panose="02040503050406030204" pitchFamily="18" charset="0"/>
                        </a:rPr>
                        <m:t>+</m:t>
                      </m:r>
                      <m:f>
                        <m:fPr>
                          <m:ctrlPr>
                            <a:rPr lang="en-US" sz="2400" i="1">
                              <a:latin typeface="Cambria Math" panose="02040503050406030204" pitchFamily="18" charset="0"/>
                              <a:ea typeface="Cambria" panose="02040503050406030204" pitchFamily="18" charset="0"/>
                            </a:rPr>
                          </m:ctrlPr>
                        </m:fPr>
                        <m:num>
                          <m:sSup>
                            <m:sSupPr>
                              <m:ctrlPr>
                                <a:rPr lang="en-US" sz="2400" i="1">
                                  <a:latin typeface="Cambria Math" panose="02040503050406030204" pitchFamily="18" charset="0"/>
                                  <a:ea typeface="Cambria" panose="02040503050406030204" pitchFamily="18" charset="0"/>
                                </a:rPr>
                              </m:ctrlPr>
                            </m:sSupPr>
                            <m:e>
                              <m:d>
                                <m:dPr>
                                  <m:ctrlPr>
                                    <a:rPr lang="en-US" sz="2400" i="1">
                                      <a:latin typeface="Cambria Math" panose="02040503050406030204" pitchFamily="18" charset="0"/>
                                      <a:ea typeface="Cambria" panose="02040503050406030204" pitchFamily="18" charset="0"/>
                                    </a:rPr>
                                  </m:ctrlPr>
                                </m:d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𝑈𝑆𝐵</m:t>
                                      </m:r>
                                    </m:sub>
                                  </m:sSub>
                                </m:e>
                              </m:d>
                            </m:e>
                            <m:sup>
                              <m:r>
                                <a:rPr lang="en-US" sz="2400" i="1">
                                  <a:latin typeface="Cambria Math" panose="02040503050406030204" pitchFamily="18" charset="0"/>
                                  <a:ea typeface="Cambria" panose="02040503050406030204" pitchFamily="18" charset="0"/>
                                </a:rPr>
                                <m:t>2</m:t>
                              </m:r>
                            </m:sup>
                          </m:sSup>
                        </m:num>
                        <m:den>
                          <m:r>
                            <a:rPr lang="en-US" sz="2400" i="1">
                              <a:latin typeface="Cambria Math" panose="02040503050406030204" pitchFamily="18" charset="0"/>
                              <a:ea typeface="Cambria" panose="02040503050406030204" pitchFamily="18" charset="0"/>
                            </a:rPr>
                            <m:t>𝑅</m:t>
                          </m:r>
                        </m:den>
                      </m:f>
                      <m:r>
                        <a:rPr lang="en-US" sz="2400" i="1">
                          <a:latin typeface="Cambria Math" panose="02040503050406030204" pitchFamily="18" charset="0"/>
                          <a:ea typeface="Cambria" panose="02040503050406030204" pitchFamily="18" charset="0"/>
                        </a:rPr>
                        <m:t>+</m:t>
                      </m:r>
                      <m:f>
                        <m:fPr>
                          <m:ctrlPr>
                            <a:rPr lang="en-US" sz="2400" i="1">
                              <a:latin typeface="Cambria Math" panose="02040503050406030204" pitchFamily="18" charset="0"/>
                              <a:ea typeface="Cambria" panose="02040503050406030204" pitchFamily="18" charset="0"/>
                            </a:rPr>
                          </m:ctrlPr>
                        </m:fPr>
                        <m:num>
                          <m:sSup>
                            <m:sSupPr>
                              <m:ctrlPr>
                                <a:rPr lang="en-US" sz="2400" i="1">
                                  <a:latin typeface="Cambria Math" panose="02040503050406030204" pitchFamily="18" charset="0"/>
                                  <a:ea typeface="Cambria" panose="02040503050406030204" pitchFamily="18" charset="0"/>
                                </a:rPr>
                              </m:ctrlPr>
                            </m:sSupPr>
                            <m:e>
                              <m:d>
                                <m:dPr>
                                  <m:ctrlPr>
                                    <a:rPr lang="en-US" sz="2400" i="1">
                                      <a:latin typeface="Cambria Math" panose="02040503050406030204" pitchFamily="18" charset="0"/>
                                      <a:ea typeface="Cambria" panose="02040503050406030204" pitchFamily="18" charset="0"/>
                                    </a:rPr>
                                  </m:ctrlPr>
                                </m:dPr>
                                <m:e>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𝑉</m:t>
                                      </m:r>
                                    </m:e>
                                    <m:sub>
                                      <m:r>
                                        <a:rPr lang="en-US" sz="2400" i="1">
                                          <a:latin typeface="Cambria Math" panose="02040503050406030204" pitchFamily="18" charset="0"/>
                                          <a:ea typeface="Cambria" panose="02040503050406030204" pitchFamily="18" charset="0"/>
                                        </a:rPr>
                                        <m:t>𝐿𝑆𝐵</m:t>
                                      </m:r>
                                    </m:sub>
                                  </m:sSub>
                                </m:e>
                              </m:d>
                            </m:e>
                            <m:sup>
                              <m:r>
                                <a:rPr lang="en-US" sz="2400" i="1">
                                  <a:latin typeface="Cambria Math" panose="02040503050406030204" pitchFamily="18" charset="0"/>
                                  <a:ea typeface="Cambria" panose="02040503050406030204" pitchFamily="18" charset="0"/>
                                </a:rPr>
                                <m:t>2</m:t>
                              </m:r>
                            </m:sup>
                          </m:sSup>
                        </m:num>
                        <m:den>
                          <m:r>
                            <a:rPr lang="en-US" sz="2400" i="1">
                              <a:latin typeface="Cambria Math" panose="02040503050406030204" pitchFamily="18" charset="0"/>
                              <a:ea typeface="Cambria" panose="02040503050406030204" pitchFamily="18" charset="0"/>
                            </a:rPr>
                            <m:t>𝑅</m:t>
                          </m:r>
                        </m:den>
                      </m:f>
                    </m:oMath>
                  </m:oMathPara>
                </a14:m>
                <a:endParaRPr lang="en-US" sz="2400" dirty="0">
                  <a:ea typeface="Cambria" panose="02040503050406030204" pitchFamily="18" charset="0"/>
                </a:endParaRPr>
              </a:p>
              <a:p>
                <a:endParaRPr lang="en-US" sz="2400" dirty="0">
                  <a:ea typeface="Cambria" panose="02040503050406030204" pitchFamily="18" charset="0"/>
                </a:endParaRPr>
              </a:p>
              <a:p>
                <a:pPr/>
                <a14:m>
                  <m:oMathPara xmlns:m="http://schemas.openxmlformats.org/officeDocument/2006/math">
                    <m:oMathParaPr>
                      <m:jc m:val="center"/>
                    </m:oMathParaPr>
                    <m:oMath xmlns:m="http://schemas.openxmlformats.org/officeDocument/2006/math">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𝑃</m:t>
                          </m:r>
                        </m:e>
                        <m:sub>
                          <m:r>
                            <a:rPr lang="en-US" sz="2400" i="1">
                              <a:latin typeface="Cambria Math" panose="02040503050406030204" pitchFamily="18" charset="0"/>
                              <a:ea typeface="Cambria" panose="02040503050406030204" pitchFamily="18" charset="0"/>
                            </a:rPr>
                            <m:t>𝑡</m:t>
                          </m:r>
                          <m:r>
                            <a:rPr lang="en-US" sz="2400" i="1">
                              <a:latin typeface="Cambria Math" panose="02040503050406030204" pitchFamily="18" charset="0"/>
                              <a:ea typeface="Cambria" panose="02040503050406030204" pitchFamily="18" charset="0"/>
                            </a:rPr>
                            <m:t>(</m:t>
                          </m:r>
                          <m:r>
                            <a:rPr lang="en-US" sz="2400" i="1">
                              <a:latin typeface="Cambria Math" panose="02040503050406030204" pitchFamily="18" charset="0"/>
                              <a:ea typeface="Cambria" panose="02040503050406030204" pitchFamily="18" charset="0"/>
                            </a:rPr>
                            <m:t>𝐷𝑆𝐵𝐹𝐶</m:t>
                          </m:r>
                          <m:r>
                            <a:rPr lang="en-US" sz="2400" i="1">
                              <a:latin typeface="Cambria Math" panose="02040503050406030204" pitchFamily="18" charset="0"/>
                              <a:ea typeface="Cambria" panose="02040503050406030204" pitchFamily="18" charset="0"/>
                            </a:rPr>
                            <m:t>)</m:t>
                          </m:r>
                        </m:sub>
                      </m:sSub>
                      <m:r>
                        <a:rPr lang="en-US" sz="2400" i="1">
                          <a:latin typeface="Cambria Math" panose="02040503050406030204" pitchFamily="18" charset="0"/>
                          <a:ea typeface="Cambria" panose="02040503050406030204" pitchFamily="18" charset="0"/>
                        </a:rPr>
                        <m:t>=</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𝑃</m:t>
                          </m:r>
                        </m:e>
                        <m:sub>
                          <m:r>
                            <a:rPr lang="en-US" sz="2400" i="1">
                              <a:latin typeface="Cambria Math" panose="02040503050406030204" pitchFamily="18" charset="0"/>
                              <a:ea typeface="Cambria" panose="02040503050406030204" pitchFamily="18" charset="0"/>
                            </a:rPr>
                            <m:t>𝑐</m:t>
                          </m:r>
                        </m:sub>
                      </m:sSub>
                      <m:d>
                        <m:dPr>
                          <m:begChr m:val="["/>
                          <m:endChr m:val="]"/>
                          <m:ctrlPr>
                            <a:rPr lang="en-US" sz="2400" i="1">
                              <a:latin typeface="Cambria Math" panose="02040503050406030204" pitchFamily="18" charset="0"/>
                              <a:ea typeface="Cambria" panose="02040503050406030204" pitchFamily="18" charset="0"/>
                            </a:rPr>
                          </m:ctrlPr>
                        </m:dPr>
                        <m:e>
                          <m:r>
                            <a:rPr lang="en-US" sz="2400" i="1">
                              <a:latin typeface="Cambria Math" panose="02040503050406030204" pitchFamily="18" charset="0"/>
                              <a:ea typeface="Cambria" panose="02040503050406030204" pitchFamily="18" charset="0"/>
                            </a:rPr>
                            <m:t>1</m:t>
                          </m:r>
                          <m:r>
                            <a:rPr lang="en-US" sz="2400" i="1">
                              <a:latin typeface="Cambria Math" panose="02040503050406030204" pitchFamily="18" charset="0"/>
                              <a:ea typeface="Cambria" panose="02040503050406030204" pitchFamily="18" charset="0"/>
                            </a:rPr>
                            <m:t>+</m:t>
                          </m:r>
                          <m:f>
                            <m:fPr>
                              <m:ctrlPr>
                                <a:rPr lang="en-US" sz="2400" i="1">
                                  <a:latin typeface="Cambria Math" panose="02040503050406030204" pitchFamily="18" charset="0"/>
                                  <a:ea typeface="Cambria" panose="02040503050406030204" pitchFamily="18" charset="0"/>
                                </a:rPr>
                              </m:ctrlPr>
                            </m:fPr>
                            <m:num>
                              <m:sSup>
                                <m:sSupPr>
                                  <m:ctrlPr>
                                    <a:rPr lang="en-US" sz="2400" i="1">
                                      <a:latin typeface="Cambria Math" panose="02040503050406030204" pitchFamily="18" charset="0"/>
                                      <a:ea typeface="Cambria" panose="02040503050406030204" pitchFamily="18" charset="0"/>
                                    </a:rPr>
                                  </m:ctrlPr>
                                </m:sSupPr>
                                <m:e>
                                  <m:r>
                                    <a:rPr lang="en-US" sz="2400" i="1">
                                      <a:latin typeface="Cambria Math" panose="02040503050406030204" pitchFamily="18" charset="0"/>
                                      <a:ea typeface="Cambria" panose="02040503050406030204" pitchFamily="18" charset="0"/>
                                    </a:rPr>
                                    <m:t>𝑚</m:t>
                                  </m:r>
                                </m:e>
                                <m:sup>
                                  <m:r>
                                    <a:rPr lang="en-US" sz="2400" i="1">
                                      <a:latin typeface="Cambria Math" panose="02040503050406030204" pitchFamily="18" charset="0"/>
                                      <a:ea typeface="Cambria" panose="02040503050406030204" pitchFamily="18" charset="0"/>
                                    </a:rPr>
                                    <m:t>2</m:t>
                                  </m:r>
                                </m:sup>
                              </m:sSup>
                            </m:num>
                            <m:den>
                              <m:r>
                                <a:rPr lang="en-US" sz="2400" i="1">
                                  <a:latin typeface="Cambria Math" panose="02040503050406030204" pitchFamily="18" charset="0"/>
                                  <a:ea typeface="Cambria" panose="02040503050406030204" pitchFamily="18" charset="0"/>
                                </a:rPr>
                                <m:t>4</m:t>
                              </m:r>
                            </m:den>
                          </m:f>
                          <m:r>
                            <a:rPr lang="en-US" sz="2400" i="1">
                              <a:latin typeface="Cambria Math" panose="02040503050406030204" pitchFamily="18" charset="0"/>
                              <a:ea typeface="Cambria" panose="02040503050406030204" pitchFamily="18" charset="0"/>
                            </a:rPr>
                            <m:t>+</m:t>
                          </m:r>
                          <m:f>
                            <m:fPr>
                              <m:ctrlPr>
                                <a:rPr lang="en-US" sz="2400" i="1">
                                  <a:latin typeface="Cambria Math" panose="02040503050406030204" pitchFamily="18" charset="0"/>
                                  <a:ea typeface="Cambria" panose="02040503050406030204" pitchFamily="18" charset="0"/>
                                </a:rPr>
                              </m:ctrlPr>
                            </m:fPr>
                            <m:num>
                              <m:sSup>
                                <m:sSupPr>
                                  <m:ctrlPr>
                                    <a:rPr lang="en-US" sz="2400" i="1">
                                      <a:latin typeface="Cambria Math" panose="02040503050406030204" pitchFamily="18" charset="0"/>
                                      <a:ea typeface="Cambria" panose="02040503050406030204" pitchFamily="18" charset="0"/>
                                    </a:rPr>
                                  </m:ctrlPr>
                                </m:sSupPr>
                                <m:e>
                                  <m:r>
                                    <a:rPr lang="en-US" sz="2400" i="1">
                                      <a:latin typeface="Cambria Math" panose="02040503050406030204" pitchFamily="18" charset="0"/>
                                      <a:ea typeface="Cambria" panose="02040503050406030204" pitchFamily="18" charset="0"/>
                                    </a:rPr>
                                    <m:t>𝑚</m:t>
                                  </m:r>
                                </m:e>
                                <m:sup>
                                  <m:r>
                                    <a:rPr lang="en-US" sz="2400" i="1">
                                      <a:latin typeface="Cambria Math" panose="02040503050406030204" pitchFamily="18" charset="0"/>
                                      <a:ea typeface="Cambria" panose="02040503050406030204" pitchFamily="18" charset="0"/>
                                    </a:rPr>
                                    <m:t>2</m:t>
                                  </m:r>
                                </m:sup>
                              </m:sSup>
                            </m:num>
                            <m:den>
                              <m:r>
                                <a:rPr lang="en-US" sz="2400" i="1">
                                  <a:latin typeface="Cambria Math" panose="02040503050406030204" pitchFamily="18" charset="0"/>
                                  <a:ea typeface="Cambria" panose="02040503050406030204" pitchFamily="18" charset="0"/>
                                </a:rPr>
                                <m:t>4</m:t>
                              </m:r>
                            </m:den>
                          </m:f>
                        </m:e>
                      </m:d>
                    </m:oMath>
                  </m:oMathPara>
                </a14:m>
                <a:endParaRPr lang="en-US" sz="2400" dirty="0">
                  <a:ea typeface="Cambria" panose="02040503050406030204" pitchFamily="18" charset="0"/>
                </a:endParaRPr>
              </a:p>
              <a:p>
                <a:endParaRPr lang="en-US" sz="2400" dirty="0">
                  <a:ea typeface="Cambria" panose="02040503050406030204" pitchFamily="18" charset="0"/>
                </a:endParaRPr>
              </a:p>
              <a:p>
                <a:r>
                  <a:rPr lang="en-US" sz="2400" dirty="0">
                    <a:ea typeface="Cambria" panose="02040503050406030204" pitchFamily="18" charset="0"/>
                  </a:rPr>
                  <a:t>So, </a:t>
                </a:r>
                <a:r>
                  <a:rPr lang="en-US" sz="2400" dirty="0">
                    <a:solidFill>
                      <a:srgbClr val="FF0000"/>
                    </a:solidFill>
                    <a:ea typeface="Cambria" panose="02040503050406030204" pitchFamily="18" charset="0"/>
                  </a:rPr>
                  <a:t>total power of SSB AM signal is</a:t>
                </a:r>
              </a:p>
              <a:p>
                <a:endParaRPr lang="en-US" sz="2400" dirty="0">
                  <a:solidFill>
                    <a:srgbClr val="FF0000"/>
                  </a:solidFill>
                  <a:ea typeface="Cambria" panose="02040503050406030204" pitchFamily="18" charset="0"/>
                </a:endParaRPr>
              </a:p>
              <a:p>
                <a:pPr/>
                <a14:m>
                  <m:oMathPara xmlns:m="http://schemas.openxmlformats.org/officeDocument/2006/math">
                    <m:oMathParaPr>
                      <m:jc m:val="center"/>
                    </m:oMathParaPr>
                    <m:oMath xmlns:m="http://schemas.openxmlformats.org/officeDocument/2006/math">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𝑃</m:t>
                          </m:r>
                        </m:e>
                        <m:sub>
                          <m:r>
                            <a:rPr lang="en-US" sz="2400" i="1">
                              <a:latin typeface="Cambria Math" panose="02040503050406030204" pitchFamily="18" charset="0"/>
                              <a:ea typeface="Cambria" panose="02040503050406030204" pitchFamily="18" charset="0"/>
                            </a:rPr>
                            <m:t>𝑡</m:t>
                          </m:r>
                          <m:r>
                            <a:rPr lang="en-US" sz="2400" i="1">
                              <a:latin typeface="Cambria Math" panose="02040503050406030204" pitchFamily="18" charset="0"/>
                              <a:ea typeface="Cambria" panose="02040503050406030204" pitchFamily="18" charset="0"/>
                            </a:rPr>
                            <m:t>(</m:t>
                          </m:r>
                          <m:r>
                            <a:rPr lang="en-US" sz="2400" i="1">
                              <a:latin typeface="Cambria Math" panose="02040503050406030204" pitchFamily="18" charset="0"/>
                              <a:ea typeface="Cambria" panose="02040503050406030204" pitchFamily="18" charset="0"/>
                            </a:rPr>
                            <m:t>𝑆𝑆𝐵</m:t>
                          </m:r>
                          <m:r>
                            <a:rPr lang="en-US" sz="2400" i="1">
                              <a:latin typeface="Cambria Math" panose="02040503050406030204" pitchFamily="18" charset="0"/>
                              <a:ea typeface="Cambria" panose="02040503050406030204" pitchFamily="18" charset="0"/>
                            </a:rPr>
                            <m:t>)</m:t>
                          </m:r>
                        </m:sub>
                      </m:sSub>
                      <m:r>
                        <a:rPr lang="en-US" sz="2400" i="1">
                          <a:latin typeface="Cambria Math" panose="02040503050406030204" pitchFamily="18" charset="0"/>
                          <a:ea typeface="Cambria" panose="02040503050406030204" pitchFamily="18" charset="0"/>
                        </a:rPr>
                        <m:t>=</m:t>
                      </m:r>
                      <m:sSub>
                        <m:sSubPr>
                          <m:ctrlPr>
                            <a:rPr lang="en-US" sz="2400" i="1">
                              <a:latin typeface="Cambria Math" panose="02040503050406030204" pitchFamily="18" charset="0"/>
                              <a:ea typeface="Cambria" panose="02040503050406030204" pitchFamily="18" charset="0"/>
                            </a:rPr>
                          </m:ctrlPr>
                        </m:sSubPr>
                        <m:e>
                          <m:r>
                            <a:rPr lang="en-US" sz="2400" i="1">
                              <a:latin typeface="Cambria Math" panose="02040503050406030204" pitchFamily="18" charset="0"/>
                              <a:ea typeface="Cambria" panose="02040503050406030204" pitchFamily="18" charset="0"/>
                            </a:rPr>
                            <m:t>𝑃</m:t>
                          </m:r>
                        </m:e>
                        <m:sub>
                          <m:r>
                            <a:rPr lang="en-US" sz="2400" i="1">
                              <a:latin typeface="Cambria Math" panose="02040503050406030204" pitchFamily="18" charset="0"/>
                              <a:ea typeface="Cambria" panose="02040503050406030204" pitchFamily="18" charset="0"/>
                            </a:rPr>
                            <m:t>𝑐</m:t>
                          </m:r>
                        </m:sub>
                      </m:sSub>
                      <m:f>
                        <m:fPr>
                          <m:ctrlPr>
                            <a:rPr lang="en-US" sz="2400" i="1">
                              <a:latin typeface="Cambria Math" panose="02040503050406030204" pitchFamily="18" charset="0"/>
                              <a:ea typeface="Cambria" panose="02040503050406030204" pitchFamily="18" charset="0"/>
                            </a:rPr>
                          </m:ctrlPr>
                        </m:fPr>
                        <m:num>
                          <m:sSup>
                            <m:sSupPr>
                              <m:ctrlPr>
                                <a:rPr lang="en-US" sz="2400" i="1">
                                  <a:latin typeface="Cambria Math" panose="02040503050406030204" pitchFamily="18" charset="0"/>
                                  <a:ea typeface="Cambria" panose="02040503050406030204" pitchFamily="18" charset="0"/>
                                </a:rPr>
                              </m:ctrlPr>
                            </m:sSupPr>
                            <m:e>
                              <m:r>
                                <a:rPr lang="en-US" sz="2400" i="1">
                                  <a:latin typeface="Cambria Math" panose="02040503050406030204" pitchFamily="18" charset="0"/>
                                  <a:ea typeface="Cambria" panose="02040503050406030204" pitchFamily="18" charset="0"/>
                                </a:rPr>
                                <m:t>𝑚</m:t>
                              </m:r>
                            </m:e>
                            <m:sup>
                              <m:r>
                                <a:rPr lang="en-US" sz="2400" i="1">
                                  <a:latin typeface="Cambria Math" panose="02040503050406030204" pitchFamily="18" charset="0"/>
                                  <a:ea typeface="Cambria" panose="02040503050406030204" pitchFamily="18" charset="0"/>
                                </a:rPr>
                                <m:t>2</m:t>
                              </m:r>
                            </m:sup>
                          </m:sSup>
                        </m:num>
                        <m:den>
                          <m:r>
                            <a:rPr lang="en-US" sz="2400" i="1">
                              <a:latin typeface="Cambria Math" panose="02040503050406030204" pitchFamily="18" charset="0"/>
                              <a:ea typeface="Cambria" panose="02040503050406030204" pitchFamily="18" charset="0"/>
                            </a:rPr>
                            <m:t>4</m:t>
                          </m:r>
                        </m:den>
                      </m:f>
                    </m:oMath>
                  </m:oMathPara>
                </a14:m>
                <a:endParaRPr lang="en-US" sz="2400" dirty="0">
                  <a:ea typeface="Cambria" panose="02040503050406030204" pitchFamily="18" charset="0"/>
                </a:endParaRPr>
              </a:p>
            </p:txBody>
          </p:sp>
        </mc:Choice>
        <mc:Fallback xmlns="">
          <p:sp>
            <p:nvSpPr>
              <p:cNvPr id="17" name="TextBox 16">
                <a:extLst>
                  <a:ext uri="{FF2B5EF4-FFF2-40B4-BE49-F238E27FC236}">
                    <a16:creationId xmlns:a16="http://schemas.microsoft.com/office/drawing/2014/main" id="{8A871AFB-42EE-6C03-23B4-895D70DA56C1}"/>
                  </a:ext>
                </a:extLst>
              </p:cNvPr>
              <p:cNvSpPr txBox="1">
                <a:spLocks noRot="1" noChangeAspect="1" noMove="1" noResize="1" noEditPoints="1" noAdjustHandles="1" noChangeArrowheads="1" noChangeShapeType="1" noTextEdit="1"/>
              </p:cNvSpPr>
              <p:nvPr/>
            </p:nvSpPr>
            <p:spPr>
              <a:xfrm>
                <a:off x="1524000" y="1569982"/>
                <a:ext cx="10058400" cy="4619150"/>
              </a:xfrm>
              <a:prstGeom prst="rect">
                <a:avLst/>
              </a:prstGeom>
              <a:blipFill>
                <a:blip r:embed="rId3"/>
                <a:stretch>
                  <a:fillRect l="-1009" t="-1096" b="-822"/>
                </a:stretch>
              </a:blipFill>
            </p:spPr>
            <p:txBody>
              <a:bodyPr/>
              <a:lstStyle/>
              <a:p>
                <a:r>
                  <a:rPr lang="en-US">
                    <a:noFill/>
                  </a:rPr>
                  <a:t> </a:t>
                </a:r>
              </a:p>
            </p:txBody>
          </p:sp>
        </mc:Fallback>
      </mc:AlternateContent>
    </p:spTree>
    <p:extLst>
      <p:ext uri="{BB962C8B-B14F-4D97-AF65-F5344CB8AC3E}">
        <p14:creationId xmlns:p14="http://schemas.microsoft.com/office/powerpoint/2010/main" val="319642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5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xEl>
                                              <p:pRg st="2" end="2"/>
                                            </p:txEl>
                                          </p:spTgt>
                                        </p:tgtEl>
                                        <p:attrNameLst>
                                          <p:attrName>style.visibility</p:attrName>
                                        </p:attrNameLst>
                                      </p:cBhvr>
                                      <p:to>
                                        <p:strVal val="visible"/>
                                      </p:to>
                                    </p:set>
                                    <p:animEffect transition="in" filter="fade">
                                      <p:cBhvr>
                                        <p:cTn id="12" dur="500"/>
                                        <p:tgtEl>
                                          <p:spTgt spid="1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xEl>
                                              <p:pRg st="4" end="4"/>
                                            </p:txEl>
                                          </p:spTgt>
                                        </p:tgtEl>
                                        <p:attrNameLst>
                                          <p:attrName>style.visibility</p:attrName>
                                        </p:attrNameLst>
                                      </p:cBhvr>
                                      <p:to>
                                        <p:strVal val="visible"/>
                                      </p:to>
                                    </p:set>
                                    <p:animEffect transition="in" filter="fade">
                                      <p:cBhvr>
                                        <p:cTn id="17" dur="500"/>
                                        <p:tgtEl>
                                          <p:spTgt spid="1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xEl>
                                              <p:pRg st="6" end="6"/>
                                            </p:txEl>
                                          </p:spTgt>
                                        </p:tgtEl>
                                        <p:attrNameLst>
                                          <p:attrName>style.visibility</p:attrName>
                                        </p:attrNameLst>
                                      </p:cBhvr>
                                      <p:to>
                                        <p:strVal val="visible"/>
                                      </p:to>
                                    </p:set>
                                    <p:animEffect transition="in" filter="fade">
                                      <p:cBhvr>
                                        <p:cTn id="22" dur="500"/>
                                        <p:tgtEl>
                                          <p:spTgt spid="17">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
                                            <p:txEl>
                                              <p:pRg st="8" end="8"/>
                                            </p:txEl>
                                          </p:spTgt>
                                        </p:tgtEl>
                                        <p:attrNameLst>
                                          <p:attrName>style.visibility</p:attrName>
                                        </p:attrNameLst>
                                      </p:cBhvr>
                                      <p:to>
                                        <p:strVal val="visible"/>
                                      </p:to>
                                    </p:set>
                                    <p:animEffect transition="in" filter="fade">
                                      <p:cBhvr>
                                        <p:cTn id="27" dur="500"/>
                                        <p:tgtEl>
                                          <p:spTgt spid="1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AE90EB6-6A48-13F2-8D41-50755A1331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AD56B0A3-F0DC-2C4E-03D6-F778AF4B28CF}"/>
              </a:ext>
            </a:extLst>
          </p:cNvPr>
          <p:cNvSpPr>
            <a:spLocks noGrp="1"/>
          </p:cNvSpPr>
          <p:nvPr>
            <p:ph type="title"/>
          </p:nvPr>
        </p:nvSpPr>
        <p:spPr>
          <a:xfrm>
            <a:off x="1936750" y="190500"/>
            <a:ext cx="9645650" cy="582930"/>
          </a:xfrm>
        </p:spPr>
        <p:txBody>
          <a:bodyPr/>
          <a:lstStyle/>
          <a:p>
            <a:r>
              <a:rPr lang="en-US" altLang="en-US" b="1" dirty="0">
                <a:sym typeface="+mn-ea"/>
              </a:rPr>
              <a:t>Amplitude Modulation</a:t>
            </a:r>
            <a:endParaRPr lang="en-US" altLang="en-US" b="1" dirty="0"/>
          </a:p>
        </p:txBody>
      </p:sp>
      <p:sp>
        <p:nvSpPr>
          <p:cNvPr id="4" name="Slide Number Placeholder 3">
            <a:extLst>
              <a:ext uri="{FF2B5EF4-FFF2-40B4-BE49-F238E27FC236}">
                <a16:creationId xmlns:a16="http://schemas.microsoft.com/office/drawing/2014/main" xmlns="" id="{BC201AC2-F719-1E50-4B0C-5929900DAE13}"/>
              </a:ext>
            </a:extLst>
          </p:cNvPr>
          <p:cNvSpPr>
            <a:spLocks noGrp="1"/>
          </p:cNvSpPr>
          <p:nvPr>
            <p:ph type="sldNum" sz="quarter" idx="12"/>
          </p:nvPr>
        </p:nvSpPr>
        <p:spPr/>
        <p:txBody>
          <a:bodyPr/>
          <a:lstStyle/>
          <a:p>
            <a:fld id="{50D97DBC-71BD-4B00-8F4D-DDC0A0D17A0C}" type="slidenum">
              <a:rPr lang="en-US" smtClean="0"/>
              <a:t>22</a:t>
            </a:fld>
            <a:endParaRPr lang="en-US" dirty="0"/>
          </a:p>
        </p:txBody>
      </p:sp>
      <p:sp>
        <p:nvSpPr>
          <p:cNvPr id="5" name="Date Placeholder 4">
            <a:extLst>
              <a:ext uri="{FF2B5EF4-FFF2-40B4-BE49-F238E27FC236}">
                <a16:creationId xmlns:a16="http://schemas.microsoft.com/office/drawing/2014/main" xmlns="" id="{4F433EFF-259A-C397-2BC3-F24FFDCE231E}"/>
              </a:ext>
            </a:extLst>
          </p:cNvPr>
          <p:cNvSpPr>
            <a:spLocks noGrp="1"/>
          </p:cNvSpPr>
          <p:nvPr>
            <p:ph type="dt" sz="half" idx="10"/>
          </p:nvPr>
        </p:nvSpPr>
        <p:spPr/>
        <p:txBody>
          <a:bodyPr/>
          <a:lstStyle/>
          <a:p>
            <a:fld id="{F0B4034D-A911-A642-B8E1-BA081BB67D6F}" type="datetime1">
              <a:rPr lang="en-AU" smtClean="0"/>
              <a:t>16/02/2026</a:t>
            </a:fld>
            <a:endParaRPr lang="en-US" dirty="0"/>
          </a:p>
        </p:txBody>
      </p:sp>
      <p:sp>
        <p:nvSpPr>
          <p:cNvPr id="6" name="Footer Placeholder 5">
            <a:extLst>
              <a:ext uri="{FF2B5EF4-FFF2-40B4-BE49-F238E27FC236}">
                <a16:creationId xmlns:a16="http://schemas.microsoft.com/office/drawing/2014/main" xmlns="" id="{3A2D67A2-BBD5-34B9-537F-14AFA7BCCBF2}"/>
              </a:ext>
            </a:extLst>
          </p:cNvPr>
          <p:cNvSpPr>
            <a:spLocks noGrp="1"/>
          </p:cNvSpPr>
          <p:nvPr>
            <p:ph type="ftr" sz="quarter" idx="11"/>
          </p:nvPr>
        </p:nvSpPr>
        <p:spPr/>
        <p:txBody>
          <a:bodyPr/>
          <a:lstStyle/>
          <a:p>
            <a:r>
              <a:rPr lang="en-US"/>
              <a:t>@Foez Ahmed, CSE, VU</a:t>
            </a:r>
          </a:p>
        </p:txBody>
      </p:sp>
      <p:sp>
        <p:nvSpPr>
          <p:cNvPr id="10" name="Content Placeholder 2">
            <a:extLst>
              <a:ext uri="{FF2B5EF4-FFF2-40B4-BE49-F238E27FC236}">
                <a16:creationId xmlns:a16="http://schemas.microsoft.com/office/drawing/2014/main" xmlns="" id="{5BC80D23-470B-BA49-088E-8FB19ABAA52A}"/>
              </a:ext>
            </a:extLst>
          </p:cNvPr>
          <p:cNvSpPr>
            <a:spLocks noGrp="1" noChangeAspect="1"/>
          </p:cNvSpPr>
          <p:nvPr>
            <p:ph idx="1"/>
          </p:nvPr>
        </p:nvSpPr>
        <p:spPr>
          <a:xfrm>
            <a:off x="874954" y="1017066"/>
            <a:ext cx="10431314" cy="476250"/>
          </a:xfrm>
        </p:spPr>
        <p:txBody>
          <a:bodyPr/>
          <a:lstStyle/>
          <a:p>
            <a:pPr>
              <a:buFont typeface="Wingdings" pitchFamily="2" charset="2"/>
              <a:buChar char="q"/>
            </a:pPr>
            <a:r>
              <a:rPr lang="en-US" altLang="en-US" sz="2400" b="1" dirty="0"/>
              <a:t>SSB-SC: Is removing of a band and carrier allowed?</a:t>
            </a:r>
            <a:endParaRPr lang="en-US" altLang="en-US" sz="2400" dirty="0"/>
          </a:p>
        </p:txBody>
      </p:sp>
      <p:sp>
        <p:nvSpPr>
          <p:cNvPr id="11" name="TextBox 10">
            <a:extLst>
              <a:ext uri="{FF2B5EF4-FFF2-40B4-BE49-F238E27FC236}">
                <a16:creationId xmlns:a16="http://schemas.microsoft.com/office/drawing/2014/main" xmlns="" id="{537DFF75-A361-AA84-2E2A-B21ADBE677D7}"/>
              </a:ext>
            </a:extLst>
          </p:cNvPr>
          <p:cNvSpPr txBox="1"/>
          <p:nvPr/>
        </p:nvSpPr>
        <p:spPr>
          <a:xfrm>
            <a:off x="1505694" y="2078166"/>
            <a:ext cx="9289306" cy="3323987"/>
          </a:xfrm>
          <a:prstGeom prst="rect">
            <a:avLst/>
          </a:prstGeom>
          <a:noFill/>
        </p:spPr>
        <p:txBody>
          <a:bodyPr wrap="square" rtlCol="0">
            <a:spAutoFit/>
          </a:bodyPr>
          <a:lstStyle/>
          <a:p>
            <a:pPr marL="342900" indent="-342900" algn="just">
              <a:spcAft>
                <a:spcPts val="1800"/>
              </a:spcAft>
              <a:buFont typeface="Wingdings" pitchFamily="2" charset="2"/>
              <a:buChar char="ü"/>
            </a:pPr>
            <a:r>
              <a:rPr lang="en-US" sz="3000" dirty="0"/>
              <a:t>The carrier is removed because it does not transmit any information.</a:t>
            </a:r>
          </a:p>
          <a:p>
            <a:pPr marL="342900" indent="-342900" algn="just">
              <a:spcAft>
                <a:spcPts val="1800"/>
              </a:spcAft>
              <a:buFont typeface="Wingdings" pitchFamily="2" charset="2"/>
              <a:buChar char="ü"/>
            </a:pPr>
            <a:r>
              <a:rPr lang="en-US" sz="3000" dirty="0"/>
              <a:t>The remaining sidebands are actually mirror to each other, transmitting the same information.</a:t>
            </a:r>
          </a:p>
          <a:p>
            <a:pPr marL="342900" indent="-342900" algn="just">
              <a:spcAft>
                <a:spcPts val="1800"/>
              </a:spcAft>
              <a:buFont typeface="Wingdings" pitchFamily="2" charset="2"/>
              <a:buChar char="ü"/>
            </a:pPr>
            <a:r>
              <a:rPr lang="en-US" sz="3000" dirty="0"/>
              <a:t>So, information can be sent using a single side band.</a:t>
            </a:r>
          </a:p>
        </p:txBody>
      </p:sp>
    </p:spTree>
    <p:extLst>
      <p:ext uri="{BB962C8B-B14F-4D97-AF65-F5344CB8AC3E}">
        <p14:creationId xmlns:p14="http://schemas.microsoft.com/office/powerpoint/2010/main" val="269572178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921B70C-BE8E-D009-4F2E-F63FA110B0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3585F25D-ADF8-3365-D303-9F67FD0BE58B}"/>
              </a:ext>
            </a:extLst>
          </p:cNvPr>
          <p:cNvSpPr>
            <a:spLocks noGrp="1"/>
          </p:cNvSpPr>
          <p:nvPr>
            <p:ph type="title"/>
          </p:nvPr>
        </p:nvSpPr>
        <p:spPr>
          <a:xfrm>
            <a:off x="1936750" y="190500"/>
            <a:ext cx="9645650" cy="582930"/>
          </a:xfrm>
        </p:spPr>
        <p:txBody>
          <a:bodyPr/>
          <a:lstStyle/>
          <a:p>
            <a:r>
              <a:rPr lang="en-US" altLang="en-US" b="1" dirty="0">
                <a:sym typeface="+mn-ea"/>
              </a:rPr>
              <a:t>Amplitude Modulation</a:t>
            </a:r>
            <a:endParaRPr lang="en-US" altLang="en-US" b="1" dirty="0"/>
          </a:p>
        </p:txBody>
      </p:sp>
      <p:sp>
        <p:nvSpPr>
          <p:cNvPr id="4" name="Slide Number Placeholder 3">
            <a:extLst>
              <a:ext uri="{FF2B5EF4-FFF2-40B4-BE49-F238E27FC236}">
                <a16:creationId xmlns:a16="http://schemas.microsoft.com/office/drawing/2014/main" xmlns="" id="{79A291DC-B624-8328-8D8B-85AE2BE58BFE}"/>
              </a:ext>
            </a:extLst>
          </p:cNvPr>
          <p:cNvSpPr>
            <a:spLocks noGrp="1"/>
          </p:cNvSpPr>
          <p:nvPr>
            <p:ph type="sldNum" sz="quarter" idx="12"/>
          </p:nvPr>
        </p:nvSpPr>
        <p:spPr>
          <a:xfrm>
            <a:off x="8737600" y="6381750"/>
            <a:ext cx="2844800" cy="476250"/>
          </a:xfrm>
        </p:spPr>
        <p:txBody>
          <a:bodyPr/>
          <a:lstStyle/>
          <a:p>
            <a:fld id="{50D97DBC-71BD-4B00-8F4D-DDC0A0D17A0C}" type="slidenum">
              <a:rPr lang="en-US" sz="1200" smtClean="0"/>
              <a:t>23</a:t>
            </a:fld>
            <a:endParaRPr lang="en-US" sz="1200" dirty="0"/>
          </a:p>
        </p:txBody>
      </p:sp>
      <p:sp>
        <p:nvSpPr>
          <p:cNvPr id="5" name="Date Placeholder 4">
            <a:extLst>
              <a:ext uri="{FF2B5EF4-FFF2-40B4-BE49-F238E27FC236}">
                <a16:creationId xmlns:a16="http://schemas.microsoft.com/office/drawing/2014/main" xmlns="" id="{68B45A34-A759-5774-85F5-CA70DFE6F73D}"/>
              </a:ext>
            </a:extLst>
          </p:cNvPr>
          <p:cNvSpPr>
            <a:spLocks noGrp="1"/>
          </p:cNvSpPr>
          <p:nvPr>
            <p:ph type="dt" sz="half" idx="10"/>
          </p:nvPr>
        </p:nvSpPr>
        <p:spPr>
          <a:xfrm>
            <a:off x="609600" y="6381750"/>
            <a:ext cx="2844800" cy="476250"/>
          </a:xfrm>
        </p:spPr>
        <p:txBody>
          <a:bodyPr/>
          <a:lstStyle/>
          <a:p>
            <a:fld id="{F0B4034D-A911-A642-B8E1-BA081BB67D6F}" type="datetime1">
              <a:rPr lang="en-AU" sz="1200" smtClean="0"/>
              <a:t>16/02/2026</a:t>
            </a:fld>
            <a:endParaRPr lang="en-US" sz="1200" dirty="0"/>
          </a:p>
        </p:txBody>
      </p:sp>
      <p:sp>
        <p:nvSpPr>
          <p:cNvPr id="6" name="Footer Placeholder 5">
            <a:extLst>
              <a:ext uri="{FF2B5EF4-FFF2-40B4-BE49-F238E27FC236}">
                <a16:creationId xmlns:a16="http://schemas.microsoft.com/office/drawing/2014/main" xmlns="" id="{B823A3A7-3406-2FD8-E6E1-4D1C9DB210E7}"/>
              </a:ext>
            </a:extLst>
          </p:cNvPr>
          <p:cNvSpPr>
            <a:spLocks noGrp="1"/>
          </p:cNvSpPr>
          <p:nvPr>
            <p:ph type="ftr" sz="quarter" idx="11"/>
          </p:nvPr>
        </p:nvSpPr>
        <p:spPr>
          <a:xfrm>
            <a:off x="4165600" y="6381750"/>
            <a:ext cx="3860800" cy="476250"/>
          </a:xfrm>
        </p:spPr>
        <p:txBody>
          <a:bodyPr/>
          <a:lstStyle/>
          <a:p>
            <a:r>
              <a:rPr lang="en-US" sz="1200"/>
              <a:t>@Foez Ahmed, CSE, VU</a:t>
            </a:r>
          </a:p>
        </p:txBody>
      </p:sp>
      <p:sp>
        <p:nvSpPr>
          <p:cNvPr id="10" name="Content Placeholder 2">
            <a:extLst>
              <a:ext uri="{FF2B5EF4-FFF2-40B4-BE49-F238E27FC236}">
                <a16:creationId xmlns:a16="http://schemas.microsoft.com/office/drawing/2014/main" xmlns="" id="{81512DAF-3FD1-AB8D-65E1-97D9C62E03F0}"/>
              </a:ext>
            </a:extLst>
          </p:cNvPr>
          <p:cNvSpPr>
            <a:spLocks noGrp="1" noChangeAspect="1"/>
          </p:cNvSpPr>
          <p:nvPr>
            <p:ph idx="1"/>
          </p:nvPr>
        </p:nvSpPr>
        <p:spPr>
          <a:xfrm>
            <a:off x="874954" y="1017066"/>
            <a:ext cx="10431314" cy="476250"/>
          </a:xfrm>
        </p:spPr>
        <p:txBody>
          <a:bodyPr/>
          <a:lstStyle/>
          <a:p>
            <a:pPr>
              <a:buFont typeface="Wingdings" pitchFamily="2" charset="2"/>
              <a:buChar char="q"/>
            </a:pPr>
            <a:r>
              <a:rPr lang="en-US" altLang="en-US" sz="2400" b="1" dirty="0"/>
              <a:t>Advantages of SSB-SC:</a:t>
            </a:r>
            <a:endParaRPr lang="en-US" altLang="en-US" sz="2400" dirty="0"/>
          </a:p>
        </p:txBody>
      </p:sp>
      <p:sp>
        <p:nvSpPr>
          <p:cNvPr id="11" name="TextBox 10">
            <a:extLst>
              <a:ext uri="{FF2B5EF4-FFF2-40B4-BE49-F238E27FC236}">
                <a16:creationId xmlns:a16="http://schemas.microsoft.com/office/drawing/2014/main" xmlns="" id="{61F38846-A660-CC18-03F5-9EFC67141FFD}"/>
              </a:ext>
            </a:extLst>
          </p:cNvPr>
          <p:cNvSpPr txBox="1"/>
          <p:nvPr/>
        </p:nvSpPr>
        <p:spPr>
          <a:xfrm>
            <a:off x="1859288" y="1953361"/>
            <a:ext cx="9800574" cy="3831818"/>
          </a:xfrm>
          <a:prstGeom prst="rect">
            <a:avLst/>
          </a:prstGeom>
          <a:noFill/>
        </p:spPr>
        <p:txBody>
          <a:bodyPr wrap="square" rtlCol="0">
            <a:spAutoFit/>
          </a:bodyPr>
          <a:lstStyle/>
          <a:p>
            <a:pPr marL="457200" indent="-457200">
              <a:spcAft>
                <a:spcPts val="1800"/>
              </a:spcAft>
              <a:buFont typeface="Wingdings" pitchFamily="2" charset="2"/>
              <a:buChar char="ü"/>
            </a:pPr>
            <a:r>
              <a:rPr lang="en-US" sz="2400" dirty="0">
                <a:ea typeface="Cambria" panose="02040503050406030204" pitchFamily="18" charset="0"/>
              </a:rPr>
              <a:t>Power is saved.</a:t>
            </a:r>
          </a:p>
          <a:p>
            <a:pPr marL="457200" indent="-457200">
              <a:spcAft>
                <a:spcPts val="1800"/>
              </a:spcAft>
              <a:buFont typeface="Wingdings" pitchFamily="2" charset="2"/>
              <a:buChar char="ü"/>
            </a:pPr>
            <a:r>
              <a:rPr lang="en-US" sz="2400" dirty="0">
                <a:ea typeface="Cambria" panose="02040503050406030204" pitchFamily="18" charset="0"/>
              </a:rPr>
              <a:t>High power signal can be transmitted.</a:t>
            </a:r>
          </a:p>
          <a:p>
            <a:pPr marL="457200" indent="-457200">
              <a:spcAft>
                <a:spcPts val="1800"/>
              </a:spcAft>
              <a:buFont typeface="Wingdings" pitchFamily="2" charset="2"/>
              <a:buChar char="ü"/>
            </a:pPr>
            <a:r>
              <a:rPr lang="en-US" sz="2400" dirty="0">
                <a:ea typeface="Cambria" panose="02040503050406030204" pitchFamily="18" charset="0"/>
              </a:rPr>
              <a:t>Bandwidth or spectrum space occupied is lesser than standard AM and DSB-SC waves.</a:t>
            </a:r>
          </a:p>
          <a:p>
            <a:pPr marL="457200" indent="-457200">
              <a:spcAft>
                <a:spcPts val="1800"/>
              </a:spcAft>
              <a:buFont typeface="Wingdings" pitchFamily="2" charset="2"/>
              <a:buChar char="ü"/>
            </a:pPr>
            <a:r>
              <a:rPr lang="en-US" sz="2400" dirty="0">
                <a:ea typeface="Cambria" panose="02040503050406030204" pitchFamily="18" charset="0"/>
              </a:rPr>
              <a:t>Transmission of a greater number of signals is allowed.</a:t>
            </a:r>
          </a:p>
          <a:p>
            <a:pPr marL="457200" indent="-457200">
              <a:spcAft>
                <a:spcPts val="1800"/>
              </a:spcAft>
              <a:buFont typeface="Wingdings" pitchFamily="2" charset="2"/>
              <a:buChar char="ü"/>
            </a:pPr>
            <a:r>
              <a:rPr lang="en-US" sz="2400" dirty="0">
                <a:ea typeface="Cambria" panose="02040503050406030204" pitchFamily="18" charset="0"/>
              </a:rPr>
              <a:t>Less amount of noise is present.</a:t>
            </a:r>
          </a:p>
          <a:p>
            <a:pPr marL="457200" indent="-457200">
              <a:spcAft>
                <a:spcPts val="1800"/>
              </a:spcAft>
              <a:buFont typeface="Wingdings" pitchFamily="2" charset="2"/>
              <a:buChar char="ü"/>
            </a:pPr>
            <a:r>
              <a:rPr lang="en-US" sz="2400" dirty="0">
                <a:ea typeface="Cambria" panose="02040503050406030204" pitchFamily="18" charset="0"/>
              </a:rPr>
              <a:t>Signal fading is less likely to occur.</a:t>
            </a:r>
          </a:p>
        </p:txBody>
      </p:sp>
    </p:spTree>
    <p:extLst>
      <p:ext uri="{BB962C8B-B14F-4D97-AF65-F5344CB8AC3E}">
        <p14:creationId xmlns:p14="http://schemas.microsoft.com/office/powerpoint/2010/main" val="68274903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0E675CC-89E8-E179-A618-ED62EB6EB7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F8FF681E-4B2C-5904-23B8-77C0FCB39127}"/>
              </a:ext>
            </a:extLst>
          </p:cNvPr>
          <p:cNvSpPr>
            <a:spLocks noGrp="1"/>
          </p:cNvSpPr>
          <p:nvPr>
            <p:ph type="title"/>
          </p:nvPr>
        </p:nvSpPr>
        <p:spPr>
          <a:xfrm>
            <a:off x="1936750" y="190500"/>
            <a:ext cx="9645650" cy="582930"/>
          </a:xfrm>
        </p:spPr>
        <p:txBody>
          <a:bodyPr/>
          <a:lstStyle/>
          <a:p>
            <a:r>
              <a:rPr lang="en-US" altLang="en-US" b="1" dirty="0">
                <a:sym typeface="+mn-ea"/>
              </a:rPr>
              <a:t>Amplitude Modulation</a:t>
            </a:r>
            <a:endParaRPr lang="en-US" altLang="en-US" b="1" dirty="0"/>
          </a:p>
        </p:txBody>
      </p:sp>
      <p:sp>
        <p:nvSpPr>
          <p:cNvPr id="4" name="Slide Number Placeholder 3">
            <a:extLst>
              <a:ext uri="{FF2B5EF4-FFF2-40B4-BE49-F238E27FC236}">
                <a16:creationId xmlns:a16="http://schemas.microsoft.com/office/drawing/2014/main" xmlns="" id="{DBBC32CB-67DF-C548-86E4-B870B9C1594A}"/>
              </a:ext>
            </a:extLst>
          </p:cNvPr>
          <p:cNvSpPr>
            <a:spLocks noGrp="1"/>
          </p:cNvSpPr>
          <p:nvPr>
            <p:ph type="sldNum" sz="quarter" idx="12"/>
          </p:nvPr>
        </p:nvSpPr>
        <p:spPr/>
        <p:txBody>
          <a:bodyPr/>
          <a:lstStyle/>
          <a:p>
            <a:fld id="{50D97DBC-71BD-4B00-8F4D-DDC0A0D17A0C}" type="slidenum">
              <a:rPr lang="en-US" smtClean="0"/>
              <a:t>24</a:t>
            </a:fld>
            <a:endParaRPr lang="en-US" dirty="0"/>
          </a:p>
        </p:txBody>
      </p:sp>
      <p:sp>
        <p:nvSpPr>
          <p:cNvPr id="5" name="Date Placeholder 4">
            <a:extLst>
              <a:ext uri="{FF2B5EF4-FFF2-40B4-BE49-F238E27FC236}">
                <a16:creationId xmlns:a16="http://schemas.microsoft.com/office/drawing/2014/main" xmlns="" id="{6D6517CB-213C-3C97-50C7-DCD2E1A1F714}"/>
              </a:ext>
            </a:extLst>
          </p:cNvPr>
          <p:cNvSpPr>
            <a:spLocks noGrp="1"/>
          </p:cNvSpPr>
          <p:nvPr>
            <p:ph type="dt" sz="half" idx="10"/>
          </p:nvPr>
        </p:nvSpPr>
        <p:spPr/>
        <p:txBody>
          <a:bodyPr/>
          <a:lstStyle/>
          <a:p>
            <a:fld id="{F0B4034D-A911-A642-B8E1-BA081BB67D6F}" type="datetime1">
              <a:rPr lang="en-AU" smtClean="0"/>
              <a:t>16/02/2026</a:t>
            </a:fld>
            <a:endParaRPr lang="en-US" dirty="0"/>
          </a:p>
        </p:txBody>
      </p:sp>
      <p:sp>
        <p:nvSpPr>
          <p:cNvPr id="6" name="Footer Placeholder 5">
            <a:extLst>
              <a:ext uri="{FF2B5EF4-FFF2-40B4-BE49-F238E27FC236}">
                <a16:creationId xmlns:a16="http://schemas.microsoft.com/office/drawing/2014/main" xmlns="" id="{C20DE9B8-1F66-5246-6DDC-6BB9593C5AD6}"/>
              </a:ext>
            </a:extLst>
          </p:cNvPr>
          <p:cNvSpPr>
            <a:spLocks noGrp="1"/>
          </p:cNvSpPr>
          <p:nvPr>
            <p:ph type="ftr" sz="quarter" idx="11"/>
          </p:nvPr>
        </p:nvSpPr>
        <p:spPr/>
        <p:txBody>
          <a:bodyPr/>
          <a:lstStyle/>
          <a:p>
            <a:r>
              <a:rPr lang="en-US"/>
              <a:t>@Foez Ahmed, CSE, VU</a:t>
            </a:r>
          </a:p>
        </p:txBody>
      </p:sp>
      <p:sp>
        <p:nvSpPr>
          <p:cNvPr id="10" name="Content Placeholder 2">
            <a:extLst>
              <a:ext uri="{FF2B5EF4-FFF2-40B4-BE49-F238E27FC236}">
                <a16:creationId xmlns:a16="http://schemas.microsoft.com/office/drawing/2014/main" xmlns="" id="{12EFD375-596C-55C4-C9E7-86431D9158B0}"/>
              </a:ext>
            </a:extLst>
          </p:cNvPr>
          <p:cNvSpPr>
            <a:spLocks noGrp="1" noChangeAspect="1"/>
          </p:cNvSpPr>
          <p:nvPr>
            <p:ph idx="1"/>
          </p:nvPr>
        </p:nvSpPr>
        <p:spPr>
          <a:xfrm>
            <a:off x="874954" y="1017066"/>
            <a:ext cx="10431314" cy="476250"/>
          </a:xfrm>
        </p:spPr>
        <p:txBody>
          <a:bodyPr/>
          <a:lstStyle/>
          <a:p>
            <a:pPr>
              <a:buFont typeface="Wingdings" pitchFamily="2" charset="2"/>
              <a:buChar char="q"/>
            </a:pPr>
            <a:r>
              <a:rPr lang="en-US" altLang="en-US" sz="2400" b="1" dirty="0"/>
              <a:t>Disadvantages of SSB-SC:</a:t>
            </a:r>
            <a:endParaRPr lang="en-US" altLang="en-US" sz="2400" dirty="0"/>
          </a:p>
        </p:txBody>
      </p:sp>
      <p:sp>
        <p:nvSpPr>
          <p:cNvPr id="11" name="TextBox 10">
            <a:extLst>
              <a:ext uri="{FF2B5EF4-FFF2-40B4-BE49-F238E27FC236}">
                <a16:creationId xmlns:a16="http://schemas.microsoft.com/office/drawing/2014/main" xmlns="" id="{8AC88A2E-4FB4-8CDC-9DBB-849B4933437A}"/>
              </a:ext>
            </a:extLst>
          </p:cNvPr>
          <p:cNvSpPr txBox="1"/>
          <p:nvPr/>
        </p:nvSpPr>
        <p:spPr>
          <a:xfrm>
            <a:off x="1936750" y="2170499"/>
            <a:ext cx="9035306" cy="2677656"/>
          </a:xfrm>
          <a:prstGeom prst="rect">
            <a:avLst/>
          </a:prstGeom>
          <a:noFill/>
        </p:spPr>
        <p:txBody>
          <a:bodyPr wrap="square" rtlCol="0">
            <a:spAutoFit/>
          </a:bodyPr>
          <a:lstStyle/>
          <a:p>
            <a:pPr marL="457200" indent="-457200" algn="just">
              <a:buFont typeface="Wingdings" pitchFamily="2" charset="2"/>
              <a:buChar char="ü"/>
            </a:pPr>
            <a:r>
              <a:rPr lang="en-US" sz="2400" dirty="0">
                <a:ea typeface="Cambria" panose="02040503050406030204" pitchFamily="18" charset="0"/>
              </a:rPr>
              <a:t>The discovery &amp; generation process of the single-sideband signal is complex. </a:t>
            </a:r>
          </a:p>
          <a:p>
            <a:pPr marL="457200" indent="-457200" algn="just">
              <a:buFont typeface="Wingdings" pitchFamily="2" charset="2"/>
              <a:buChar char="ü"/>
            </a:pPr>
            <a:endParaRPr lang="en-US" sz="2400" dirty="0">
              <a:ea typeface="Cambria" panose="02040503050406030204" pitchFamily="18" charset="0"/>
            </a:endParaRPr>
          </a:p>
          <a:p>
            <a:pPr marL="457200" indent="-457200" algn="just">
              <a:buFont typeface="Wingdings" pitchFamily="2" charset="2"/>
              <a:buChar char="ü"/>
            </a:pPr>
            <a:r>
              <a:rPr lang="en-US" sz="2400" dirty="0">
                <a:ea typeface="Cambria" panose="02040503050406030204" pitchFamily="18" charset="0"/>
              </a:rPr>
              <a:t>Higher Cost</a:t>
            </a:r>
          </a:p>
          <a:p>
            <a:pPr marL="457200" indent="-457200" algn="just">
              <a:buFont typeface="Wingdings" pitchFamily="2" charset="2"/>
              <a:buChar char="ü"/>
            </a:pPr>
            <a:endParaRPr lang="en-US" sz="2400" dirty="0">
              <a:ea typeface="Cambria" panose="02040503050406030204" pitchFamily="18" charset="0"/>
            </a:endParaRPr>
          </a:p>
          <a:p>
            <a:pPr marL="457200" indent="-457200" algn="just">
              <a:buFont typeface="Wingdings" pitchFamily="2" charset="2"/>
              <a:buChar char="ü"/>
            </a:pPr>
            <a:r>
              <a:rPr lang="en-US" sz="2400" dirty="0">
                <a:ea typeface="Cambria" panose="02040503050406030204" pitchFamily="18" charset="0"/>
              </a:rPr>
              <a:t>Signal quality will be affected when the transmitter &amp; receiver of SSB have outstanding frequency strength</a:t>
            </a:r>
          </a:p>
        </p:txBody>
      </p:sp>
    </p:spTree>
    <p:extLst>
      <p:ext uri="{BB962C8B-B14F-4D97-AF65-F5344CB8AC3E}">
        <p14:creationId xmlns:p14="http://schemas.microsoft.com/office/powerpoint/2010/main" val="399071472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F4B13CD-5A7F-7B37-0564-FC3AC974DE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1DE2F4FB-D265-0F2E-AFEF-B246FC4BCFF8}"/>
              </a:ext>
            </a:extLst>
          </p:cNvPr>
          <p:cNvSpPr>
            <a:spLocks noGrp="1"/>
          </p:cNvSpPr>
          <p:nvPr>
            <p:ph type="title"/>
          </p:nvPr>
        </p:nvSpPr>
        <p:spPr>
          <a:xfrm>
            <a:off x="1936750" y="190500"/>
            <a:ext cx="9645650" cy="582930"/>
          </a:xfrm>
        </p:spPr>
        <p:txBody>
          <a:bodyPr/>
          <a:lstStyle/>
          <a:p>
            <a:r>
              <a:rPr lang="en-US" altLang="en-US" b="1" dirty="0">
                <a:sym typeface="+mn-ea"/>
              </a:rPr>
              <a:t>Amplitude Modulation</a:t>
            </a:r>
            <a:endParaRPr lang="en-US" altLang="en-US" b="1" dirty="0"/>
          </a:p>
        </p:txBody>
      </p:sp>
      <p:sp>
        <p:nvSpPr>
          <p:cNvPr id="4" name="Slide Number Placeholder 3">
            <a:extLst>
              <a:ext uri="{FF2B5EF4-FFF2-40B4-BE49-F238E27FC236}">
                <a16:creationId xmlns:a16="http://schemas.microsoft.com/office/drawing/2014/main" xmlns="" id="{950970FC-69CF-B90D-2634-C518DEFFBC00}"/>
              </a:ext>
            </a:extLst>
          </p:cNvPr>
          <p:cNvSpPr>
            <a:spLocks noGrp="1"/>
          </p:cNvSpPr>
          <p:nvPr>
            <p:ph type="sldNum" sz="quarter" idx="12"/>
          </p:nvPr>
        </p:nvSpPr>
        <p:spPr/>
        <p:txBody>
          <a:bodyPr/>
          <a:lstStyle/>
          <a:p>
            <a:fld id="{50D97DBC-71BD-4B00-8F4D-DDC0A0D17A0C}" type="slidenum">
              <a:rPr lang="en-US" smtClean="0"/>
              <a:t>25</a:t>
            </a:fld>
            <a:endParaRPr lang="en-US" dirty="0"/>
          </a:p>
        </p:txBody>
      </p:sp>
      <p:sp>
        <p:nvSpPr>
          <p:cNvPr id="5" name="Date Placeholder 4">
            <a:extLst>
              <a:ext uri="{FF2B5EF4-FFF2-40B4-BE49-F238E27FC236}">
                <a16:creationId xmlns:a16="http://schemas.microsoft.com/office/drawing/2014/main" xmlns="" id="{1B83A243-CA76-9E2E-B76D-AE5D0F531CC8}"/>
              </a:ext>
            </a:extLst>
          </p:cNvPr>
          <p:cNvSpPr>
            <a:spLocks noGrp="1"/>
          </p:cNvSpPr>
          <p:nvPr>
            <p:ph type="dt" sz="half" idx="10"/>
          </p:nvPr>
        </p:nvSpPr>
        <p:spPr/>
        <p:txBody>
          <a:bodyPr/>
          <a:lstStyle/>
          <a:p>
            <a:fld id="{F0B4034D-A911-A642-B8E1-BA081BB67D6F}" type="datetime1">
              <a:rPr lang="en-AU" smtClean="0"/>
              <a:t>16/02/2026</a:t>
            </a:fld>
            <a:endParaRPr lang="en-US" dirty="0"/>
          </a:p>
        </p:txBody>
      </p:sp>
      <p:sp>
        <p:nvSpPr>
          <p:cNvPr id="6" name="Footer Placeholder 5">
            <a:extLst>
              <a:ext uri="{FF2B5EF4-FFF2-40B4-BE49-F238E27FC236}">
                <a16:creationId xmlns:a16="http://schemas.microsoft.com/office/drawing/2014/main" xmlns="" id="{3F06492D-E60F-FDBF-A8DA-EAEF2500B3E6}"/>
              </a:ext>
            </a:extLst>
          </p:cNvPr>
          <p:cNvSpPr>
            <a:spLocks noGrp="1"/>
          </p:cNvSpPr>
          <p:nvPr>
            <p:ph type="ftr" sz="quarter" idx="11"/>
          </p:nvPr>
        </p:nvSpPr>
        <p:spPr/>
        <p:txBody>
          <a:bodyPr/>
          <a:lstStyle/>
          <a:p>
            <a:r>
              <a:rPr lang="en-US"/>
              <a:t>@Foez Ahmed, CSE, VU</a:t>
            </a:r>
          </a:p>
        </p:txBody>
      </p:sp>
      <p:sp>
        <p:nvSpPr>
          <p:cNvPr id="10" name="Content Placeholder 2">
            <a:extLst>
              <a:ext uri="{FF2B5EF4-FFF2-40B4-BE49-F238E27FC236}">
                <a16:creationId xmlns:a16="http://schemas.microsoft.com/office/drawing/2014/main" xmlns="" id="{51F0ED49-A18F-380A-519E-F59D13747985}"/>
              </a:ext>
            </a:extLst>
          </p:cNvPr>
          <p:cNvSpPr>
            <a:spLocks noGrp="1" noChangeAspect="1"/>
          </p:cNvSpPr>
          <p:nvPr>
            <p:ph idx="1"/>
          </p:nvPr>
        </p:nvSpPr>
        <p:spPr>
          <a:xfrm>
            <a:off x="874954" y="1017066"/>
            <a:ext cx="10431314" cy="476250"/>
          </a:xfrm>
        </p:spPr>
        <p:txBody>
          <a:bodyPr/>
          <a:lstStyle/>
          <a:p>
            <a:pPr>
              <a:buFont typeface="Wingdings" pitchFamily="2" charset="2"/>
              <a:buChar char="q"/>
            </a:pPr>
            <a:r>
              <a:rPr lang="en-US" altLang="en-US" sz="2400" b="1" dirty="0"/>
              <a:t>Methods of Suppressing Carrier and Unwanted Sideband:</a:t>
            </a:r>
            <a:endParaRPr lang="en-US" altLang="en-US" sz="2400" dirty="0"/>
          </a:p>
        </p:txBody>
      </p:sp>
      <p:sp>
        <p:nvSpPr>
          <p:cNvPr id="11" name="TextBox 10">
            <a:extLst>
              <a:ext uri="{FF2B5EF4-FFF2-40B4-BE49-F238E27FC236}">
                <a16:creationId xmlns:a16="http://schemas.microsoft.com/office/drawing/2014/main" xmlns="" id="{7873E04A-5AF8-4EF7-C770-A4DC67B1EA3B}"/>
              </a:ext>
            </a:extLst>
          </p:cNvPr>
          <p:cNvSpPr txBox="1"/>
          <p:nvPr/>
        </p:nvSpPr>
        <p:spPr>
          <a:xfrm>
            <a:off x="1194088" y="1905506"/>
            <a:ext cx="9793046" cy="3416320"/>
          </a:xfrm>
          <a:prstGeom prst="rect">
            <a:avLst/>
          </a:prstGeom>
          <a:noFill/>
        </p:spPr>
        <p:txBody>
          <a:bodyPr wrap="square" rtlCol="0">
            <a:spAutoFit/>
          </a:bodyPr>
          <a:lstStyle/>
          <a:p>
            <a:pPr marL="342900" indent="-342900" algn="just">
              <a:buFont typeface="Wingdings" pitchFamily="2" charset="2"/>
              <a:buChar char="ü"/>
            </a:pPr>
            <a:r>
              <a:rPr lang="en-US" sz="2400" dirty="0">
                <a:ea typeface="Cambria" panose="02040503050406030204" pitchFamily="18" charset="0"/>
              </a:rPr>
              <a:t>Three (3) main systems are employed for the generation of SSB (i.e., for the suppression of carrier and unwanted sideband). They are:</a:t>
            </a:r>
          </a:p>
          <a:p>
            <a:endParaRPr lang="en-US" sz="2400" dirty="0">
              <a:ea typeface="Cambria" panose="02040503050406030204" pitchFamily="18" charset="0"/>
            </a:endParaRPr>
          </a:p>
          <a:p>
            <a:pPr marL="1196975" indent="-457200">
              <a:buAutoNum type="arabicPeriod"/>
            </a:pPr>
            <a:r>
              <a:rPr lang="en-US" sz="2400" b="1" dirty="0">
                <a:ea typeface="Cambria" panose="02040503050406030204" pitchFamily="18" charset="0"/>
              </a:rPr>
              <a:t>Filter Method</a:t>
            </a:r>
          </a:p>
          <a:p>
            <a:pPr marL="1196975" indent="-457200">
              <a:buAutoNum type="arabicPeriod"/>
            </a:pPr>
            <a:endParaRPr lang="en-US" sz="2400" b="1" dirty="0">
              <a:ea typeface="Cambria" panose="02040503050406030204" pitchFamily="18" charset="0"/>
            </a:endParaRPr>
          </a:p>
          <a:p>
            <a:pPr marL="1196975" indent="-457200">
              <a:buAutoNum type="arabicPeriod"/>
            </a:pPr>
            <a:r>
              <a:rPr lang="en-US" sz="2400" b="1" dirty="0">
                <a:ea typeface="Cambria" panose="02040503050406030204" pitchFamily="18" charset="0"/>
              </a:rPr>
              <a:t>Phase Shift (or Cancellation) Method</a:t>
            </a:r>
          </a:p>
          <a:p>
            <a:pPr marL="1196975" indent="-457200">
              <a:buAutoNum type="arabicPeriod"/>
            </a:pPr>
            <a:endParaRPr lang="en-US" sz="2400" b="1" dirty="0">
              <a:ea typeface="Cambria" panose="02040503050406030204" pitchFamily="18" charset="0"/>
            </a:endParaRPr>
          </a:p>
          <a:p>
            <a:pPr marL="1196975" indent="-457200">
              <a:buAutoNum type="arabicPeriod"/>
            </a:pPr>
            <a:r>
              <a:rPr lang="en-US" sz="2400" b="1" dirty="0">
                <a:ea typeface="Cambria" panose="02040503050406030204" pitchFamily="18" charset="0"/>
              </a:rPr>
              <a:t>The third Method</a:t>
            </a:r>
          </a:p>
        </p:txBody>
      </p:sp>
    </p:spTree>
    <p:extLst>
      <p:ext uri="{BB962C8B-B14F-4D97-AF65-F5344CB8AC3E}">
        <p14:creationId xmlns:p14="http://schemas.microsoft.com/office/powerpoint/2010/main" val="134833511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91AFC37-C521-669B-ADE1-58A89F0A39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771867B9-AE24-3148-D408-556D88B96BDC}"/>
              </a:ext>
            </a:extLst>
          </p:cNvPr>
          <p:cNvSpPr>
            <a:spLocks noGrp="1"/>
          </p:cNvSpPr>
          <p:nvPr>
            <p:ph type="title"/>
          </p:nvPr>
        </p:nvSpPr>
        <p:spPr>
          <a:xfrm>
            <a:off x="1936750" y="190500"/>
            <a:ext cx="9645650" cy="582930"/>
          </a:xfrm>
        </p:spPr>
        <p:txBody>
          <a:bodyPr/>
          <a:lstStyle/>
          <a:p>
            <a:r>
              <a:rPr lang="en-US" altLang="en-US" b="1" dirty="0">
                <a:sym typeface="+mn-ea"/>
              </a:rPr>
              <a:t>Amplitude Modulation</a:t>
            </a:r>
            <a:endParaRPr lang="en-US" altLang="en-US" b="1" dirty="0"/>
          </a:p>
        </p:txBody>
      </p:sp>
      <p:sp>
        <p:nvSpPr>
          <p:cNvPr id="4" name="Slide Number Placeholder 3">
            <a:extLst>
              <a:ext uri="{FF2B5EF4-FFF2-40B4-BE49-F238E27FC236}">
                <a16:creationId xmlns:a16="http://schemas.microsoft.com/office/drawing/2014/main" xmlns="" id="{2D2D7150-AB05-0720-F310-F706EC3B948F}"/>
              </a:ext>
            </a:extLst>
          </p:cNvPr>
          <p:cNvSpPr>
            <a:spLocks noGrp="1"/>
          </p:cNvSpPr>
          <p:nvPr>
            <p:ph type="sldNum" sz="quarter" idx="12"/>
          </p:nvPr>
        </p:nvSpPr>
        <p:spPr>
          <a:xfrm>
            <a:off x="8727209" y="6381750"/>
            <a:ext cx="2844800" cy="476250"/>
          </a:xfrm>
        </p:spPr>
        <p:txBody>
          <a:bodyPr/>
          <a:lstStyle/>
          <a:p>
            <a:fld id="{50D97DBC-71BD-4B00-8F4D-DDC0A0D17A0C}" type="slidenum">
              <a:rPr lang="en-US" sz="1200" smtClean="0"/>
              <a:t>26</a:t>
            </a:fld>
            <a:endParaRPr lang="en-US" sz="1200" dirty="0"/>
          </a:p>
        </p:txBody>
      </p:sp>
      <p:sp>
        <p:nvSpPr>
          <p:cNvPr id="5" name="Date Placeholder 4">
            <a:extLst>
              <a:ext uri="{FF2B5EF4-FFF2-40B4-BE49-F238E27FC236}">
                <a16:creationId xmlns:a16="http://schemas.microsoft.com/office/drawing/2014/main" xmlns="" id="{86C95832-8A1E-90C3-5B0D-727E82CED247}"/>
              </a:ext>
            </a:extLst>
          </p:cNvPr>
          <p:cNvSpPr>
            <a:spLocks noGrp="1"/>
          </p:cNvSpPr>
          <p:nvPr>
            <p:ph type="dt" sz="half" idx="10"/>
          </p:nvPr>
        </p:nvSpPr>
        <p:spPr>
          <a:xfrm>
            <a:off x="599209" y="6381750"/>
            <a:ext cx="2844800" cy="476250"/>
          </a:xfrm>
        </p:spPr>
        <p:txBody>
          <a:bodyPr/>
          <a:lstStyle/>
          <a:p>
            <a:fld id="{F0B4034D-A911-A642-B8E1-BA081BB67D6F}" type="datetime1">
              <a:rPr lang="en-AU" sz="1200" smtClean="0"/>
              <a:t>16/02/2026</a:t>
            </a:fld>
            <a:endParaRPr lang="en-US" sz="1200" dirty="0"/>
          </a:p>
        </p:txBody>
      </p:sp>
      <p:sp>
        <p:nvSpPr>
          <p:cNvPr id="6" name="Footer Placeholder 5">
            <a:extLst>
              <a:ext uri="{FF2B5EF4-FFF2-40B4-BE49-F238E27FC236}">
                <a16:creationId xmlns:a16="http://schemas.microsoft.com/office/drawing/2014/main" xmlns="" id="{79F0506E-6680-0EC0-7D6A-D7D00FCDE9AC}"/>
              </a:ext>
            </a:extLst>
          </p:cNvPr>
          <p:cNvSpPr>
            <a:spLocks noGrp="1"/>
          </p:cNvSpPr>
          <p:nvPr>
            <p:ph type="ftr" sz="quarter" idx="11"/>
          </p:nvPr>
        </p:nvSpPr>
        <p:spPr>
          <a:xfrm>
            <a:off x="4155209" y="6381750"/>
            <a:ext cx="3860800" cy="476250"/>
          </a:xfrm>
        </p:spPr>
        <p:txBody>
          <a:bodyPr/>
          <a:lstStyle/>
          <a:p>
            <a:r>
              <a:rPr lang="en-US" sz="1200" dirty="0"/>
              <a:t>@</a:t>
            </a:r>
            <a:r>
              <a:rPr lang="en-US" sz="1200" dirty="0" err="1"/>
              <a:t>Foez</a:t>
            </a:r>
            <a:r>
              <a:rPr lang="en-US" sz="1200" dirty="0"/>
              <a:t> Ahmed, CSE, VU</a:t>
            </a:r>
          </a:p>
        </p:txBody>
      </p:sp>
      <p:sp>
        <p:nvSpPr>
          <p:cNvPr id="10" name="Content Placeholder 2">
            <a:extLst>
              <a:ext uri="{FF2B5EF4-FFF2-40B4-BE49-F238E27FC236}">
                <a16:creationId xmlns:a16="http://schemas.microsoft.com/office/drawing/2014/main" xmlns="" id="{F2D3907D-65A6-3C39-5A92-359BFF688796}"/>
              </a:ext>
            </a:extLst>
          </p:cNvPr>
          <p:cNvSpPr>
            <a:spLocks noGrp="1" noChangeAspect="1"/>
          </p:cNvSpPr>
          <p:nvPr>
            <p:ph idx="1"/>
          </p:nvPr>
        </p:nvSpPr>
        <p:spPr>
          <a:xfrm>
            <a:off x="874954" y="1017066"/>
            <a:ext cx="10431314" cy="476250"/>
          </a:xfrm>
        </p:spPr>
        <p:txBody>
          <a:bodyPr/>
          <a:lstStyle/>
          <a:p>
            <a:pPr>
              <a:buFont typeface="Wingdings" pitchFamily="2" charset="2"/>
              <a:buChar char="q"/>
            </a:pPr>
            <a:r>
              <a:rPr lang="en-US" altLang="en-US" sz="2400" b="1" dirty="0"/>
              <a:t>Effect of Nonlinear Resistance on Added Signal</a:t>
            </a:r>
            <a:endParaRPr lang="en-US" altLang="en-US" sz="2400" dirty="0"/>
          </a:p>
        </p:txBody>
      </p:sp>
      <p:sp>
        <p:nvSpPr>
          <p:cNvPr id="8" name="TextBox 7">
            <a:extLst>
              <a:ext uri="{FF2B5EF4-FFF2-40B4-BE49-F238E27FC236}">
                <a16:creationId xmlns:a16="http://schemas.microsoft.com/office/drawing/2014/main" xmlns="" id="{39855F79-E295-5E1C-97C1-14CAEB424BB9}"/>
              </a:ext>
            </a:extLst>
          </p:cNvPr>
          <p:cNvSpPr txBox="1"/>
          <p:nvPr/>
        </p:nvSpPr>
        <p:spPr>
          <a:xfrm>
            <a:off x="955141" y="1610806"/>
            <a:ext cx="10431314" cy="461665"/>
          </a:xfrm>
          <a:prstGeom prst="rect">
            <a:avLst/>
          </a:prstGeom>
          <a:noFill/>
        </p:spPr>
        <p:txBody>
          <a:bodyPr wrap="square">
            <a:spAutoFit/>
          </a:bodyPr>
          <a:lstStyle/>
          <a:p>
            <a:pPr marL="342900" indent="-342900" algn="just">
              <a:buFont typeface="Wingdings" pitchFamily="2" charset="2"/>
              <a:buChar char="ü"/>
            </a:pPr>
            <a:r>
              <a:rPr lang="en-AU" sz="2400" dirty="0">
                <a:solidFill>
                  <a:srgbClr val="1F1F1F"/>
                </a:solidFill>
                <a:effectLst/>
              </a:rPr>
              <a:t>The relationship between </a:t>
            </a:r>
            <a:r>
              <a:rPr lang="en-AU" sz="2400" dirty="0">
                <a:solidFill>
                  <a:srgbClr val="2A2A2A"/>
                </a:solidFill>
                <a:effectLst/>
              </a:rPr>
              <a:t>voltage and </a:t>
            </a:r>
            <a:r>
              <a:rPr lang="en-AU" sz="2400" dirty="0">
                <a:solidFill>
                  <a:srgbClr val="373737"/>
                </a:solidFill>
                <a:effectLst/>
              </a:rPr>
              <a:t>c</a:t>
            </a:r>
            <a:r>
              <a:rPr lang="en-AU" sz="2400" dirty="0">
                <a:solidFill>
                  <a:srgbClr val="1F1F1F"/>
                </a:solidFill>
                <a:effectLst/>
              </a:rPr>
              <a:t>urrent </a:t>
            </a:r>
            <a:r>
              <a:rPr lang="en-AU" sz="2400" dirty="0">
                <a:solidFill>
                  <a:srgbClr val="373737"/>
                </a:solidFill>
                <a:effectLst/>
              </a:rPr>
              <a:t>i</a:t>
            </a:r>
            <a:r>
              <a:rPr lang="en-AU" sz="2400" dirty="0">
                <a:solidFill>
                  <a:srgbClr val="1F1F1F"/>
                </a:solidFill>
                <a:effectLst/>
              </a:rPr>
              <a:t>n </a:t>
            </a:r>
            <a:r>
              <a:rPr lang="en-AU" sz="2400" dirty="0">
                <a:solidFill>
                  <a:srgbClr val="2A2A2A"/>
                </a:solidFill>
                <a:effectLst/>
              </a:rPr>
              <a:t>a </a:t>
            </a:r>
            <a:r>
              <a:rPr lang="en-AU" sz="2400" dirty="0">
                <a:solidFill>
                  <a:srgbClr val="1F1F1F"/>
                </a:solidFill>
              </a:rPr>
              <a:t>li</a:t>
            </a:r>
            <a:r>
              <a:rPr lang="en-AU" sz="2400" dirty="0">
                <a:solidFill>
                  <a:srgbClr val="1F1F1F"/>
                </a:solidFill>
                <a:effectLst/>
              </a:rPr>
              <a:t>near </a:t>
            </a:r>
            <a:r>
              <a:rPr lang="en-AU" sz="2400" dirty="0">
                <a:solidFill>
                  <a:srgbClr val="2A2A2A"/>
                </a:solidFill>
                <a:effectLst/>
              </a:rPr>
              <a:t>res</a:t>
            </a:r>
            <a:r>
              <a:rPr lang="en-AU" sz="2400" dirty="0">
                <a:solidFill>
                  <a:srgbClr val="0E0E0E"/>
                </a:solidFill>
                <a:effectLst/>
              </a:rPr>
              <a:t>i</a:t>
            </a:r>
            <a:r>
              <a:rPr lang="en-AU" sz="2400" dirty="0">
                <a:solidFill>
                  <a:srgbClr val="2A2A2A"/>
                </a:solidFill>
                <a:effectLst/>
              </a:rPr>
              <a:t>stance is -</a:t>
            </a:r>
          </a:p>
        </p:txBody>
      </p:sp>
      <p:sp>
        <p:nvSpPr>
          <p:cNvPr id="13" name="TextBox 12">
            <a:extLst>
              <a:ext uri="{FF2B5EF4-FFF2-40B4-BE49-F238E27FC236}">
                <a16:creationId xmlns:a16="http://schemas.microsoft.com/office/drawing/2014/main" xmlns="" id="{97287F38-3C13-6C97-6522-241315D2A8CD}"/>
              </a:ext>
            </a:extLst>
          </p:cNvPr>
          <p:cNvSpPr txBox="1"/>
          <p:nvPr/>
        </p:nvSpPr>
        <p:spPr>
          <a:xfrm>
            <a:off x="874954" y="2436450"/>
            <a:ext cx="6908800" cy="3139321"/>
          </a:xfrm>
          <a:prstGeom prst="rect">
            <a:avLst/>
          </a:prstGeom>
          <a:noFill/>
        </p:spPr>
        <p:txBody>
          <a:bodyPr wrap="square">
            <a:spAutoFit/>
          </a:bodyPr>
          <a:lstStyle/>
          <a:p>
            <a:pPr algn="just">
              <a:buNone/>
            </a:pPr>
            <a:r>
              <a:rPr lang="en-AU" sz="2200" dirty="0">
                <a:solidFill>
                  <a:srgbClr val="2A2A2A"/>
                </a:solidFill>
                <a:effectLst/>
              </a:rPr>
              <a:t>		</a:t>
            </a:r>
            <a:r>
              <a:rPr lang="en-AU" sz="2000" dirty="0">
                <a:solidFill>
                  <a:srgbClr val="2A2A2A"/>
                </a:solidFill>
                <a:effectLst/>
              </a:rPr>
              <a:t>where </a:t>
            </a:r>
            <a:r>
              <a:rPr lang="en-AU" sz="2000" i="1" dirty="0">
                <a:solidFill>
                  <a:srgbClr val="2A2A2A"/>
                </a:solidFill>
                <a:effectLst/>
              </a:rPr>
              <a:t>b </a:t>
            </a:r>
            <a:r>
              <a:rPr lang="en-AU" sz="2000" dirty="0">
                <a:solidFill>
                  <a:srgbClr val="1F1F1F"/>
                </a:solidFill>
                <a:effectLst/>
              </a:rPr>
              <a:t>is </a:t>
            </a:r>
            <a:r>
              <a:rPr lang="en-AU" sz="2000" dirty="0">
                <a:solidFill>
                  <a:srgbClr val="2A2A2A"/>
                </a:solidFill>
                <a:effectLst/>
              </a:rPr>
              <a:t>some </a:t>
            </a:r>
            <a:r>
              <a:rPr lang="en-AU" sz="2000" dirty="0">
                <a:solidFill>
                  <a:srgbClr val="FF0000"/>
                </a:solidFill>
                <a:effectLst/>
              </a:rPr>
              <a:t>constant of proportionality.</a:t>
            </a:r>
          </a:p>
          <a:p>
            <a:pPr marL="342900" indent="-342900" algn="just">
              <a:buFont typeface="Wingdings" pitchFamily="2" charset="2"/>
              <a:buChar char="ü"/>
            </a:pPr>
            <a:r>
              <a:rPr lang="en-AU" sz="2200" dirty="0"/>
              <a:t>In-a nonlinear resistance (</a:t>
            </a:r>
            <a:r>
              <a:rPr lang="en-AU" sz="2200" i="1" dirty="0"/>
              <a:t>Using a Nonlinear Resistance Device, e.g., </a:t>
            </a:r>
            <a:r>
              <a:rPr lang="en-AU" sz="2200" b="1" i="1" dirty="0"/>
              <a:t>Diode, Transistor, FET</a:t>
            </a:r>
            <a:r>
              <a:rPr lang="en-AU" sz="2200" dirty="0"/>
              <a:t>), the current is still to a certain extent proportional to the applied voltage, but no longer directly as before.</a:t>
            </a:r>
            <a:endParaRPr lang="en-AU" sz="2200" dirty="0">
              <a:solidFill>
                <a:srgbClr val="2A2A2A"/>
              </a:solidFill>
            </a:endParaRPr>
          </a:p>
          <a:p>
            <a:pPr marL="342900" indent="-342900" algn="just">
              <a:buFont typeface="Wingdings" pitchFamily="2" charset="2"/>
              <a:buChar char="ü"/>
            </a:pPr>
            <a:r>
              <a:rPr lang="en-AU" sz="2200" dirty="0"/>
              <a:t>Current now becomes proportional not only to voltage but also to the square, cube and higher powers of voltage.</a:t>
            </a:r>
          </a:p>
        </p:txBody>
      </p:sp>
      <p:pic>
        <p:nvPicPr>
          <p:cNvPr id="14" name="Picture 13">
            <a:extLst>
              <a:ext uri="{FF2B5EF4-FFF2-40B4-BE49-F238E27FC236}">
                <a16:creationId xmlns:a16="http://schemas.microsoft.com/office/drawing/2014/main" xmlns="" id="{1C862FAD-13B3-75A1-8B93-AED131E509CF}"/>
              </a:ext>
            </a:extLst>
          </p:cNvPr>
          <p:cNvPicPr>
            <a:picLocks noChangeAspect="1"/>
          </p:cNvPicPr>
          <p:nvPr/>
        </p:nvPicPr>
        <p:blipFill>
          <a:blip r:embed="rId3"/>
          <a:stretch>
            <a:fillRect/>
          </a:stretch>
        </p:blipFill>
        <p:spPr>
          <a:xfrm>
            <a:off x="8026400" y="2357235"/>
            <a:ext cx="3658689" cy="2477720"/>
          </a:xfrm>
          <a:prstGeom prst="rect">
            <a:avLst/>
          </a:prstGeom>
        </p:spPr>
      </p:pic>
      <p:sp>
        <p:nvSpPr>
          <p:cNvPr id="17" name="TextBox 16">
            <a:extLst>
              <a:ext uri="{FF2B5EF4-FFF2-40B4-BE49-F238E27FC236}">
                <a16:creationId xmlns:a16="http://schemas.microsoft.com/office/drawing/2014/main" xmlns="" id="{544AE79C-2430-7636-737A-2F2D7D0DEB59}"/>
              </a:ext>
            </a:extLst>
          </p:cNvPr>
          <p:cNvSpPr txBox="1"/>
          <p:nvPr/>
        </p:nvSpPr>
        <p:spPr>
          <a:xfrm>
            <a:off x="874954" y="5479610"/>
            <a:ext cx="10348690" cy="430887"/>
          </a:xfrm>
          <a:prstGeom prst="rect">
            <a:avLst/>
          </a:prstGeom>
          <a:noFill/>
        </p:spPr>
        <p:txBody>
          <a:bodyPr wrap="square">
            <a:spAutoFit/>
          </a:bodyPr>
          <a:lstStyle/>
          <a:p>
            <a:pPr marL="342900" indent="-342900" algn="just">
              <a:buFont typeface="Wingdings" pitchFamily="2" charset="2"/>
              <a:buChar char="ü"/>
            </a:pPr>
            <a:r>
              <a:rPr lang="en-AU" sz="2200" dirty="0"/>
              <a:t>This nonlinear relation is most conveniently expressed as</a:t>
            </a:r>
          </a:p>
        </p:txBody>
      </p:sp>
      <mc:AlternateContent xmlns:mc="http://schemas.openxmlformats.org/markup-compatibility/2006" xmlns:a14="http://schemas.microsoft.com/office/drawing/2010/main">
        <mc:Choice Requires="a14">
          <p:sp>
            <p:nvSpPr>
              <p:cNvPr id="3" name="TextBox 2"/>
              <p:cNvSpPr txBox="1"/>
              <p:nvPr/>
            </p:nvSpPr>
            <p:spPr>
              <a:xfrm>
                <a:off x="5129874" y="2048366"/>
                <a:ext cx="1155509" cy="461665"/>
              </a:xfrm>
              <a:prstGeom prst="rect">
                <a:avLst/>
              </a:prstGeom>
              <a:noFill/>
              <a:ln>
                <a:solidFill>
                  <a:schemeClr val="tx1"/>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400" b="1" i="1" smtClean="0">
                          <a:latin typeface="Cambria Math" panose="02040503050406030204" pitchFamily="18" charset="0"/>
                        </a:rPr>
                        <m:t>𝒊</m:t>
                      </m:r>
                      <m:r>
                        <a:rPr lang="en-GB" sz="2400" b="1" i="1" smtClean="0">
                          <a:latin typeface="Cambria Math" panose="02040503050406030204" pitchFamily="18" charset="0"/>
                        </a:rPr>
                        <m:t>=</m:t>
                      </m:r>
                      <m:r>
                        <a:rPr lang="en-GB" sz="2400" b="1" i="1" smtClean="0">
                          <a:latin typeface="Cambria Math" panose="02040503050406030204" pitchFamily="18" charset="0"/>
                        </a:rPr>
                        <m:t>𝒃𝒗</m:t>
                      </m:r>
                    </m:oMath>
                  </m:oMathPara>
                </a14:m>
                <a:endParaRPr lang="en-GB" sz="2400" b="1" dirty="0"/>
              </a:p>
            </p:txBody>
          </p:sp>
        </mc:Choice>
        <mc:Fallback xmlns="">
          <p:sp>
            <p:nvSpPr>
              <p:cNvPr id="3" name="TextBox 2"/>
              <p:cNvSpPr txBox="1">
                <a:spLocks noRot="1" noChangeAspect="1" noMove="1" noResize="1" noEditPoints="1" noAdjustHandles="1" noChangeArrowheads="1" noChangeShapeType="1" noTextEdit="1"/>
              </p:cNvSpPr>
              <p:nvPr/>
            </p:nvSpPr>
            <p:spPr>
              <a:xfrm>
                <a:off x="5129874" y="2048366"/>
                <a:ext cx="1155509" cy="461665"/>
              </a:xfrm>
              <a:prstGeom prst="rect">
                <a:avLst/>
              </a:prstGeom>
              <a:blipFill rotWithShape="0">
                <a:blip r:embed="rId4"/>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6394923" y="5806195"/>
                <a:ext cx="4149406" cy="378565"/>
              </a:xfrm>
              <a:prstGeom prst="rect">
                <a:avLst/>
              </a:prstGeom>
              <a:noFill/>
            </p:spPr>
            <p:txBody>
              <a:bodyPr wrap="none" rtlCol="0">
                <a:spAutoFit/>
              </a:bodyPr>
              <a:lstStyle/>
              <a:p>
                <a:pPr>
                  <a:lnSpc>
                    <a:spcPct val="107000"/>
                  </a:lnSpc>
                  <a:spcAft>
                    <a:spcPts val="800"/>
                  </a:spcAft>
                </a:pPr>
                <a14:m>
                  <m:oMath xmlns:m="http://schemas.openxmlformats.org/officeDocument/2006/math">
                    <m:r>
                      <a:rPr lang="en-GB" b="1" i="1">
                        <a:latin typeface="Cambria Math" panose="02040503050406030204" pitchFamily="18" charset="0"/>
                        <a:ea typeface="Calibri" panose="020F0502020204030204" pitchFamily="34" charset="0"/>
                        <a:cs typeface="Times New Roman" panose="02020603050405020304" pitchFamily="18" charset="0"/>
                      </a:rPr>
                      <m:t>𝒊</m:t>
                    </m:r>
                    <m:r>
                      <a:rPr lang="en-GB" b="1" i="1">
                        <a:latin typeface="Cambria Math" panose="02040503050406030204" pitchFamily="18" charset="0"/>
                        <a:ea typeface="Calibri" panose="020F0502020204030204" pitchFamily="34" charset="0"/>
                        <a:cs typeface="Times New Roman" panose="02020603050405020304" pitchFamily="18" charset="0"/>
                      </a:rPr>
                      <m:t>=</m:t>
                    </m:r>
                    <m:r>
                      <a:rPr lang="en-GB" b="1" i="1">
                        <a:latin typeface="Cambria Math" panose="02040503050406030204" pitchFamily="18" charset="0"/>
                        <a:ea typeface="Calibri" panose="020F0502020204030204" pitchFamily="34" charset="0"/>
                        <a:cs typeface="Times New Roman" panose="02020603050405020304" pitchFamily="18" charset="0"/>
                      </a:rPr>
                      <m:t>𝒂</m:t>
                    </m:r>
                    <m:r>
                      <a:rPr lang="en-GB" b="1" i="1">
                        <a:latin typeface="Cambria Math" panose="02040503050406030204" pitchFamily="18" charset="0"/>
                        <a:ea typeface="Calibri" panose="020F0502020204030204" pitchFamily="34" charset="0"/>
                        <a:cs typeface="Times New Roman" panose="02020603050405020304" pitchFamily="18" charset="0"/>
                      </a:rPr>
                      <m:t>+</m:t>
                    </m:r>
                    <m:r>
                      <a:rPr lang="en-GB" b="1" i="1">
                        <a:latin typeface="Cambria Math" panose="02040503050406030204" pitchFamily="18" charset="0"/>
                        <a:ea typeface="Calibri" panose="020F0502020204030204" pitchFamily="34" charset="0"/>
                        <a:cs typeface="Times New Roman" panose="02020603050405020304" pitchFamily="18" charset="0"/>
                      </a:rPr>
                      <m:t>𝒃𝒗</m:t>
                    </m:r>
                    <m:r>
                      <a:rPr lang="en-GB" b="1" i="1">
                        <a:latin typeface="Cambria Math" panose="02040503050406030204" pitchFamily="18" charset="0"/>
                        <a:ea typeface="Calibri" panose="020F0502020204030204" pitchFamily="34" charset="0"/>
                        <a:cs typeface="Times New Roman" panose="02020603050405020304" pitchFamily="18" charset="0"/>
                      </a:rPr>
                      <m:t>+</m:t>
                    </m:r>
                    <m:r>
                      <a:rPr lang="en-GB" b="1" i="1">
                        <a:latin typeface="Cambria Math" panose="02040503050406030204" pitchFamily="18" charset="0"/>
                        <a:ea typeface="Calibri" panose="020F0502020204030204" pitchFamily="34" charset="0"/>
                        <a:cs typeface="Times New Roman" panose="02020603050405020304" pitchFamily="18" charset="0"/>
                      </a:rPr>
                      <m:t>𝒄</m:t>
                    </m:r>
                    <m:sSup>
                      <m:sSupPr>
                        <m:ctrlPr>
                          <a:rPr lang="en-GB" b="1" i="1">
                            <a:effectLst/>
                            <a:latin typeface="Cambria Math" panose="02040503050406030204" pitchFamily="18" charset="0"/>
                            <a:ea typeface="Calibri" panose="020F0502020204030204" pitchFamily="34" charset="0"/>
                            <a:cs typeface="Times New Roman" panose="02020603050405020304" pitchFamily="18" charset="0"/>
                          </a:rPr>
                        </m:ctrlPr>
                      </m:sSupPr>
                      <m:e>
                        <m:r>
                          <a:rPr lang="en-GB" b="1" i="1">
                            <a:effectLst/>
                            <a:latin typeface="Cambria Math" panose="02040503050406030204" pitchFamily="18" charset="0"/>
                            <a:ea typeface="Calibri" panose="020F0502020204030204" pitchFamily="34" charset="0"/>
                            <a:cs typeface="Times New Roman" panose="02020603050405020304" pitchFamily="18" charset="0"/>
                          </a:rPr>
                          <m:t>𝒗</m:t>
                        </m:r>
                      </m:e>
                      <m:sup>
                        <m:r>
                          <a:rPr lang="en-GB" b="1" i="1">
                            <a:effectLst/>
                            <a:latin typeface="Cambria Math" panose="02040503050406030204" pitchFamily="18" charset="0"/>
                            <a:ea typeface="Calibri" panose="020F0502020204030204" pitchFamily="34" charset="0"/>
                            <a:cs typeface="Times New Roman" panose="02020603050405020304" pitchFamily="18" charset="0"/>
                          </a:rPr>
                          <m:t>𝟐</m:t>
                        </m:r>
                      </m:sup>
                    </m:sSup>
                    <m:r>
                      <a:rPr lang="en-GB" b="1" i="1">
                        <a:effectLst/>
                        <a:latin typeface="Cambria Math" panose="02040503050406030204" pitchFamily="18" charset="0"/>
                        <a:ea typeface="Times New Roman" panose="02020603050405020304" pitchFamily="18" charset="0"/>
                        <a:cs typeface="Times New Roman" panose="02020603050405020304" pitchFamily="18" charset="0"/>
                      </a:rPr>
                      <m:t>+</m:t>
                    </m:r>
                    <m:r>
                      <a:rPr lang="en-GB" b="1" i="1">
                        <a:effectLst/>
                        <a:latin typeface="Cambria Math" panose="02040503050406030204" pitchFamily="18" charset="0"/>
                        <a:ea typeface="Times New Roman" panose="02020603050405020304" pitchFamily="18" charset="0"/>
                        <a:cs typeface="Times New Roman" panose="02020603050405020304" pitchFamily="18" charset="0"/>
                      </a:rPr>
                      <m:t>𝒅</m:t>
                    </m:r>
                    <m:sSup>
                      <m:sSupPr>
                        <m:ctrlPr>
                          <a:rPr lang="en-GB" b="1"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GB" b="1" i="1">
                            <a:effectLst/>
                            <a:latin typeface="Cambria Math" panose="02040503050406030204" pitchFamily="18" charset="0"/>
                            <a:ea typeface="Times New Roman" panose="02020603050405020304" pitchFamily="18" charset="0"/>
                            <a:cs typeface="Times New Roman" panose="02020603050405020304" pitchFamily="18" charset="0"/>
                          </a:rPr>
                          <m:t>𝒗</m:t>
                        </m:r>
                      </m:e>
                      <m:sup>
                        <m:r>
                          <a:rPr lang="en-GB" b="1" i="1">
                            <a:effectLst/>
                            <a:latin typeface="Cambria Math" panose="02040503050406030204" pitchFamily="18" charset="0"/>
                            <a:ea typeface="Times New Roman" panose="02020603050405020304" pitchFamily="18" charset="0"/>
                            <a:cs typeface="Times New Roman" panose="02020603050405020304" pitchFamily="18" charset="0"/>
                          </a:rPr>
                          <m:t>𝟑</m:t>
                        </m:r>
                      </m:sup>
                    </m:sSup>
                  </m:oMath>
                </a14:m>
                <a:r>
                  <a:rPr lang="en-GB" b="1" dirty="0">
                    <a:effectLst/>
                    <a:latin typeface="Calibri" panose="020F0502020204030204" pitchFamily="34" charset="0"/>
                    <a:ea typeface="Times New Roman" panose="02020603050405020304" pitchFamily="18" charset="0"/>
                    <a:cs typeface="Times New Roman" panose="02020603050405020304" pitchFamily="18" charset="0"/>
                  </a:rPr>
                  <a:t>+ </a:t>
                </a:r>
                <a:r>
                  <a:rPr lang="en-GB" b="1" dirty="0">
                    <a:effectLst/>
                    <a:latin typeface="Times New Roman" panose="02020603050405020304" pitchFamily="18" charset="0"/>
                    <a:ea typeface="Times New Roman" panose="02020603050405020304" pitchFamily="18" charset="0"/>
                    <a:cs typeface="Times New Roman" panose="02020603050405020304" pitchFamily="18" charset="0"/>
                  </a:rPr>
                  <a:t>higher powers</a:t>
                </a:r>
                <a:endParaRPr lang="en-GB" b="1"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6394923" y="5806195"/>
                <a:ext cx="4149406" cy="378565"/>
              </a:xfrm>
              <a:prstGeom prst="rect">
                <a:avLst/>
              </a:prstGeom>
              <a:blipFill rotWithShape="0">
                <a:blip r:embed="rId5"/>
                <a:stretch>
                  <a:fillRect t="-6349" r="-294" b="-23810"/>
                </a:stretch>
              </a:blipFill>
            </p:spPr>
            <p:txBody>
              <a:bodyPr/>
              <a:lstStyle/>
              <a:p>
                <a:r>
                  <a:rPr lang="en-GB">
                    <a:noFill/>
                  </a:rPr>
                  <a:t> </a:t>
                </a:r>
              </a:p>
            </p:txBody>
          </p:sp>
        </mc:Fallback>
      </mc:AlternateContent>
    </p:spTree>
    <p:extLst>
      <p:ext uri="{BB962C8B-B14F-4D97-AF65-F5344CB8AC3E}">
        <p14:creationId xmlns:p14="http://schemas.microsoft.com/office/powerpoint/2010/main" val="373473741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6E92AA1-175D-C013-11E0-2B4BA91AF4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2A4432E3-89C5-F7D3-3850-2115FB9B4E03}"/>
              </a:ext>
            </a:extLst>
          </p:cNvPr>
          <p:cNvSpPr>
            <a:spLocks noGrp="1"/>
          </p:cNvSpPr>
          <p:nvPr>
            <p:ph type="title"/>
          </p:nvPr>
        </p:nvSpPr>
        <p:spPr>
          <a:xfrm>
            <a:off x="1936750" y="190500"/>
            <a:ext cx="9645650" cy="582930"/>
          </a:xfrm>
        </p:spPr>
        <p:txBody>
          <a:bodyPr/>
          <a:lstStyle/>
          <a:p>
            <a:r>
              <a:rPr lang="en-US" altLang="en-US" b="1" dirty="0">
                <a:sym typeface="+mn-ea"/>
              </a:rPr>
              <a:t>Amplitude Modulation</a:t>
            </a:r>
            <a:endParaRPr lang="en-US" altLang="en-US" b="1" dirty="0"/>
          </a:p>
        </p:txBody>
      </p:sp>
      <p:sp>
        <p:nvSpPr>
          <p:cNvPr id="4" name="Slide Number Placeholder 3">
            <a:extLst>
              <a:ext uri="{FF2B5EF4-FFF2-40B4-BE49-F238E27FC236}">
                <a16:creationId xmlns:a16="http://schemas.microsoft.com/office/drawing/2014/main" xmlns="" id="{88E58C8D-7A8D-E9B4-5286-080F171C6950}"/>
              </a:ext>
            </a:extLst>
          </p:cNvPr>
          <p:cNvSpPr>
            <a:spLocks noGrp="1"/>
          </p:cNvSpPr>
          <p:nvPr>
            <p:ph type="sldNum" sz="quarter" idx="12"/>
          </p:nvPr>
        </p:nvSpPr>
        <p:spPr/>
        <p:txBody>
          <a:bodyPr/>
          <a:lstStyle/>
          <a:p>
            <a:fld id="{50D97DBC-71BD-4B00-8F4D-DDC0A0D17A0C}" type="slidenum">
              <a:rPr lang="en-US" smtClean="0"/>
              <a:t>27</a:t>
            </a:fld>
            <a:endParaRPr lang="en-US" dirty="0"/>
          </a:p>
        </p:txBody>
      </p:sp>
      <p:sp>
        <p:nvSpPr>
          <p:cNvPr id="5" name="Date Placeholder 4">
            <a:extLst>
              <a:ext uri="{FF2B5EF4-FFF2-40B4-BE49-F238E27FC236}">
                <a16:creationId xmlns:a16="http://schemas.microsoft.com/office/drawing/2014/main" xmlns="" id="{AB22D202-F1EB-23DE-1615-8B73707CDEE5}"/>
              </a:ext>
            </a:extLst>
          </p:cNvPr>
          <p:cNvSpPr>
            <a:spLocks noGrp="1"/>
          </p:cNvSpPr>
          <p:nvPr>
            <p:ph type="dt" sz="half" idx="10"/>
          </p:nvPr>
        </p:nvSpPr>
        <p:spPr/>
        <p:txBody>
          <a:bodyPr/>
          <a:lstStyle/>
          <a:p>
            <a:fld id="{F0B4034D-A911-A642-B8E1-BA081BB67D6F}" type="datetime1">
              <a:rPr lang="en-AU" smtClean="0"/>
              <a:t>16/02/2026</a:t>
            </a:fld>
            <a:endParaRPr lang="en-US" dirty="0"/>
          </a:p>
        </p:txBody>
      </p:sp>
      <p:sp>
        <p:nvSpPr>
          <p:cNvPr id="6" name="Footer Placeholder 5">
            <a:extLst>
              <a:ext uri="{FF2B5EF4-FFF2-40B4-BE49-F238E27FC236}">
                <a16:creationId xmlns:a16="http://schemas.microsoft.com/office/drawing/2014/main" xmlns="" id="{57C28B74-9B19-436C-C3B6-DB4A4E78CD11}"/>
              </a:ext>
            </a:extLst>
          </p:cNvPr>
          <p:cNvSpPr>
            <a:spLocks noGrp="1"/>
          </p:cNvSpPr>
          <p:nvPr>
            <p:ph type="ftr" sz="quarter" idx="11"/>
          </p:nvPr>
        </p:nvSpPr>
        <p:spPr/>
        <p:txBody>
          <a:bodyPr/>
          <a:lstStyle/>
          <a:p>
            <a:r>
              <a:rPr lang="en-US"/>
              <a:t>@Foez Ahmed, CSE, VU</a:t>
            </a:r>
          </a:p>
        </p:txBody>
      </p:sp>
      <p:sp>
        <p:nvSpPr>
          <p:cNvPr id="10" name="Content Placeholder 2">
            <a:extLst>
              <a:ext uri="{FF2B5EF4-FFF2-40B4-BE49-F238E27FC236}">
                <a16:creationId xmlns:a16="http://schemas.microsoft.com/office/drawing/2014/main" xmlns="" id="{B16A3C50-F424-FCE8-6EBE-5940F03AACDA}"/>
              </a:ext>
            </a:extLst>
          </p:cNvPr>
          <p:cNvSpPr>
            <a:spLocks noGrp="1" noChangeAspect="1"/>
          </p:cNvSpPr>
          <p:nvPr>
            <p:ph idx="1"/>
          </p:nvPr>
        </p:nvSpPr>
        <p:spPr>
          <a:xfrm>
            <a:off x="874954" y="1017066"/>
            <a:ext cx="10431314" cy="476250"/>
          </a:xfrm>
        </p:spPr>
        <p:txBody>
          <a:bodyPr/>
          <a:lstStyle/>
          <a:p>
            <a:pPr>
              <a:buFont typeface="Wingdings" pitchFamily="2" charset="2"/>
              <a:buChar char="q"/>
            </a:pPr>
            <a:r>
              <a:rPr lang="en-US" altLang="en-US" sz="2400" b="1" dirty="0"/>
              <a:t>Methods of Suppressing Carrier: The Balanced Modulator</a:t>
            </a:r>
            <a:endParaRPr lang="en-US" altLang="en-US" sz="2400" dirty="0"/>
          </a:p>
        </p:txBody>
      </p:sp>
      <p:pic>
        <p:nvPicPr>
          <p:cNvPr id="7" name="Picture 6">
            <a:extLst>
              <a:ext uri="{FF2B5EF4-FFF2-40B4-BE49-F238E27FC236}">
                <a16:creationId xmlns:a16="http://schemas.microsoft.com/office/drawing/2014/main" xmlns="" id="{3F18799A-8765-8812-FD1D-AA2B8BDEA177}"/>
              </a:ext>
            </a:extLst>
          </p:cNvPr>
          <p:cNvPicPr>
            <a:picLocks noChangeAspect="1"/>
          </p:cNvPicPr>
          <p:nvPr/>
        </p:nvPicPr>
        <p:blipFill rotWithShape="1">
          <a:blip r:embed="rId3"/>
          <a:srcRect b="22325"/>
          <a:stretch/>
        </p:blipFill>
        <p:spPr>
          <a:xfrm>
            <a:off x="1627282" y="1493316"/>
            <a:ext cx="8926657" cy="3525493"/>
          </a:xfrm>
          <a:prstGeom prst="rect">
            <a:avLst/>
          </a:prstGeom>
        </p:spPr>
      </p:pic>
      <p:sp>
        <p:nvSpPr>
          <p:cNvPr id="3" name="TextBox 2"/>
          <p:cNvSpPr txBox="1"/>
          <p:nvPr/>
        </p:nvSpPr>
        <p:spPr>
          <a:xfrm>
            <a:off x="2317174" y="5018809"/>
            <a:ext cx="8136082" cy="646331"/>
          </a:xfrm>
          <a:prstGeom prst="rect">
            <a:avLst/>
          </a:prstGeom>
          <a:noFill/>
        </p:spPr>
        <p:txBody>
          <a:bodyPr wrap="square" rtlCol="0">
            <a:spAutoFit/>
          </a:bodyPr>
          <a:lstStyle/>
          <a:p>
            <a:r>
              <a:rPr lang="en-GB" i="1" dirty="0" smtClean="0"/>
              <a:t>Fig. 3.16		Generation of DSBSC signal using balanced modulator based on nonlinear resistance characteristics of diode</a:t>
            </a:r>
            <a:endParaRPr lang="en-GB" i="1" dirty="0"/>
          </a:p>
        </p:txBody>
      </p:sp>
    </p:spTree>
    <p:extLst>
      <p:ext uri="{BB962C8B-B14F-4D97-AF65-F5344CB8AC3E}">
        <p14:creationId xmlns:p14="http://schemas.microsoft.com/office/powerpoint/2010/main" val="176275413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E02A147-5433-075B-9303-7318005FF8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F4CC037-DABC-18A5-D796-696DDAA242C4}"/>
              </a:ext>
            </a:extLst>
          </p:cNvPr>
          <p:cNvSpPr>
            <a:spLocks noGrp="1"/>
          </p:cNvSpPr>
          <p:nvPr>
            <p:ph type="title"/>
          </p:nvPr>
        </p:nvSpPr>
        <p:spPr>
          <a:xfrm>
            <a:off x="1936750" y="190500"/>
            <a:ext cx="9645650" cy="582930"/>
          </a:xfrm>
        </p:spPr>
        <p:txBody>
          <a:bodyPr/>
          <a:lstStyle/>
          <a:p>
            <a:r>
              <a:rPr lang="en-US" altLang="en-US" b="1" dirty="0">
                <a:sym typeface="+mn-ea"/>
              </a:rPr>
              <a:t>Amplitude Modulation</a:t>
            </a:r>
            <a:endParaRPr lang="en-US" altLang="en-US" b="1" dirty="0"/>
          </a:p>
        </p:txBody>
      </p:sp>
      <p:sp>
        <p:nvSpPr>
          <p:cNvPr id="4" name="Slide Number Placeholder 3">
            <a:extLst>
              <a:ext uri="{FF2B5EF4-FFF2-40B4-BE49-F238E27FC236}">
                <a16:creationId xmlns:a16="http://schemas.microsoft.com/office/drawing/2014/main" xmlns="" id="{D23338EC-6C05-D204-6A82-4BFDF9F70554}"/>
              </a:ext>
            </a:extLst>
          </p:cNvPr>
          <p:cNvSpPr>
            <a:spLocks noGrp="1"/>
          </p:cNvSpPr>
          <p:nvPr>
            <p:ph type="sldNum" sz="quarter" idx="12"/>
          </p:nvPr>
        </p:nvSpPr>
        <p:spPr>
          <a:xfrm>
            <a:off x="8771135" y="6451698"/>
            <a:ext cx="2844800" cy="476250"/>
          </a:xfrm>
        </p:spPr>
        <p:txBody>
          <a:bodyPr/>
          <a:lstStyle/>
          <a:p>
            <a:fld id="{50D97DBC-71BD-4B00-8F4D-DDC0A0D17A0C}" type="slidenum">
              <a:rPr lang="en-US" sz="1200" smtClean="0"/>
              <a:t>28</a:t>
            </a:fld>
            <a:endParaRPr lang="en-US" sz="1200" dirty="0"/>
          </a:p>
        </p:txBody>
      </p:sp>
      <p:sp>
        <p:nvSpPr>
          <p:cNvPr id="5" name="Date Placeholder 4">
            <a:extLst>
              <a:ext uri="{FF2B5EF4-FFF2-40B4-BE49-F238E27FC236}">
                <a16:creationId xmlns:a16="http://schemas.microsoft.com/office/drawing/2014/main" xmlns="" id="{62453518-2E1B-7AA3-8C60-2D358DA88BF2}"/>
              </a:ext>
            </a:extLst>
          </p:cNvPr>
          <p:cNvSpPr>
            <a:spLocks noGrp="1"/>
          </p:cNvSpPr>
          <p:nvPr>
            <p:ph type="dt" sz="half" idx="10"/>
          </p:nvPr>
        </p:nvSpPr>
        <p:spPr>
          <a:xfrm>
            <a:off x="643135" y="6451698"/>
            <a:ext cx="2844800" cy="476250"/>
          </a:xfrm>
        </p:spPr>
        <p:txBody>
          <a:bodyPr/>
          <a:lstStyle/>
          <a:p>
            <a:fld id="{F0B4034D-A911-A642-B8E1-BA081BB67D6F}" type="datetime1">
              <a:rPr lang="en-AU" sz="1200" smtClean="0"/>
              <a:t>16/02/2026</a:t>
            </a:fld>
            <a:endParaRPr lang="en-US" sz="1200" dirty="0"/>
          </a:p>
        </p:txBody>
      </p:sp>
      <p:sp>
        <p:nvSpPr>
          <p:cNvPr id="6" name="Footer Placeholder 5">
            <a:extLst>
              <a:ext uri="{FF2B5EF4-FFF2-40B4-BE49-F238E27FC236}">
                <a16:creationId xmlns:a16="http://schemas.microsoft.com/office/drawing/2014/main" xmlns="" id="{8C085246-D275-59F3-9270-30088592F0A6}"/>
              </a:ext>
            </a:extLst>
          </p:cNvPr>
          <p:cNvSpPr>
            <a:spLocks noGrp="1"/>
          </p:cNvSpPr>
          <p:nvPr>
            <p:ph type="ftr" sz="quarter" idx="11"/>
          </p:nvPr>
        </p:nvSpPr>
        <p:spPr>
          <a:xfrm>
            <a:off x="4199135" y="6451698"/>
            <a:ext cx="3860800" cy="476250"/>
          </a:xfrm>
        </p:spPr>
        <p:txBody>
          <a:bodyPr/>
          <a:lstStyle/>
          <a:p>
            <a:r>
              <a:rPr lang="en-US" sz="1200"/>
              <a:t>@Foez Ahmed, CSE, VU</a:t>
            </a:r>
          </a:p>
        </p:txBody>
      </p:sp>
      <p:sp>
        <p:nvSpPr>
          <p:cNvPr id="10" name="Content Placeholder 2">
            <a:extLst>
              <a:ext uri="{FF2B5EF4-FFF2-40B4-BE49-F238E27FC236}">
                <a16:creationId xmlns:a16="http://schemas.microsoft.com/office/drawing/2014/main" xmlns="" id="{E1CACB82-17DC-D305-8C4D-550B7A868C0E}"/>
              </a:ext>
            </a:extLst>
          </p:cNvPr>
          <p:cNvSpPr>
            <a:spLocks noGrp="1" noChangeAspect="1"/>
          </p:cNvSpPr>
          <p:nvPr>
            <p:ph idx="1"/>
          </p:nvPr>
        </p:nvSpPr>
        <p:spPr>
          <a:xfrm>
            <a:off x="874954" y="1017066"/>
            <a:ext cx="10431314" cy="476250"/>
          </a:xfrm>
        </p:spPr>
        <p:txBody>
          <a:bodyPr/>
          <a:lstStyle/>
          <a:p>
            <a:pPr>
              <a:buFont typeface="Wingdings" pitchFamily="2" charset="2"/>
              <a:buChar char="q"/>
            </a:pPr>
            <a:r>
              <a:rPr lang="en-US" altLang="en-US" sz="2400" b="1" dirty="0"/>
              <a:t>Methods of Suppressing Carrier: The Balanced Modulator</a:t>
            </a:r>
            <a:endParaRPr lang="en-US" altLang="en-US" sz="2400" dirty="0"/>
          </a:p>
        </p:txBody>
      </p:sp>
      <p:pic>
        <p:nvPicPr>
          <p:cNvPr id="7" name="Picture 6">
            <a:extLst>
              <a:ext uri="{FF2B5EF4-FFF2-40B4-BE49-F238E27FC236}">
                <a16:creationId xmlns:a16="http://schemas.microsoft.com/office/drawing/2014/main" xmlns="" id="{7E120233-2242-47D4-1012-214934BCAC6F}"/>
              </a:ext>
            </a:extLst>
          </p:cNvPr>
          <p:cNvPicPr>
            <a:picLocks noChangeAspect="1"/>
          </p:cNvPicPr>
          <p:nvPr/>
        </p:nvPicPr>
        <p:blipFill>
          <a:blip r:embed="rId3"/>
          <a:stretch>
            <a:fillRect/>
          </a:stretch>
        </p:blipFill>
        <p:spPr>
          <a:xfrm>
            <a:off x="6831874" y="1493316"/>
            <a:ext cx="4365099" cy="2496793"/>
          </a:xfrm>
          <a:prstGeom prst="rect">
            <a:avLst/>
          </a:prstGeom>
        </p:spPr>
      </p:pic>
      <p:sp>
        <p:nvSpPr>
          <p:cNvPr id="8" name="TextBox 7">
            <a:extLst>
              <a:ext uri="{FF2B5EF4-FFF2-40B4-BE49-F238E27FC236}">
                <a16:creationId xmlns:a16="http://schemas.microsoft.com/office/drawing/2014/main" xmlns="" id="{C9780891-E170-F94D-C0D5-D2DC6E2637AD}"/>
              </a:ext>
            </a:extLst>
          </p:cNvPr>
          <p:cNvSpPr txBox="1"/>
          <p:nvPr/>
        </p:nvSpPr>
        <p:spPr>
          <a:xfrm>
            <a:off x="741943" y="1847333"/>
            <a:ext cx="5854800" cy="1384995"/>
          </a:xfrm>
          <a:prstGeom prst="rect">
            <a:avLst/>
          </a:prstGeom>
          <a:noFill/>
        </p:spPr>
        <p:txBody>
          <a:bodyPr wrap="square">
            <a:spAutoFit/>
          </a:bodyPr>
          <a:lstStyle/>
          <a:p>
            <a:pPr marL="342900" indent="-342900" algn="just">
              <a:buFont typeface="Wingdings" pitchFamily="2" charset="2"/>
              <a:buChar char="ü"/>
            </a:pPr>
            <a:r>
              <a:rPr lang="en-AU" sz="2200" dirty="0">
                <a:solidFill>
                  <a:srgbClr val="232323"/>
                </a:solidFill>
                <a:effectLst/>
              </a:rPr>
              <a:t>As indicated</a:t>
            </a:r>
            <a:r>
              <a:rPr lang="en-AU" sz="2200" dirty="0">
                <a:solidFill>
                  <a:srgbClr val="232323"/>
                </a:solidFill>
              </a:rPr>
              <a:t>, </a:t>
            </a:r>
            <a:r>
              <a:rPr lang="en-AU" sz="2200" dirty="0">
                <a:solidFill>
                  <a:srgbClr val="232323"/>
                </a:solidFill>
                <a:effectLst/>
              </a:rPr>
              <a:t>the </a:t>
            </a:r>
            <a:r>
              <a:rPr lang="en-AU" sz="2200" dirty="0">
                <a:solidFill>
                  <a:srgbClr val="363636"/>
                </a:solidFill>
                <a:effectLst/>
              </a:rPr>
              <a:t>input voltage will </a:t>
            </a:r>
            <a:r>
              <a:rPr lang="en-AU" sz="2200" dirty="0">
                <a:solidFill>
                  <a:srgbClr val="232323"/>
                </a:solidFill>
                <a:effectLst/>
              </a:rPr>
              <a:t>be </a:t>
            </a:r>
            <a:r>
              <a:rPr lang="en-AU" sz="2200" dirty="0">
                <a:solidFill>
                  <a:srgbClr val="363636"/>
                </a:solidFill>
                <a:effectLst/>
              </a:rPr>
              <a:t>(</a:t>
            </a:r>
            <a:r>
              <a:rPr lang="en-AU" sz="2200" i="1" dirty="0" err="1">
                <a:solidFill>
                  <a:srgbClr val="363636"/>
                </a:solidFill>
                <a:effectLst/>
              </a:rPr>
              <a:t>v</a:t>
            </a:r>
            <a:r>
              <a:rPr lang="en-AU" sz="2200" i="1" baseline="-25000" dirty="0" err="1">
                <a:solidFill>
                  <a:srgbClr val="363636"/>
                </a:solidFill>
                <a:effectLst/>
              </a:rPr>
              <a:t>m</a:t>
            </a:r>
            <a:r>
              <a:rPr lang="en-AU" sz="2200" dirty="0">
                <a:solidFill>
                  <a:srgbClr val="363636"/>
                </a:solidFill>
                <a:effectLst/>
              </a:rPr>
              <a:t>+ </a:t>
            </a:r>
            <a:r>
              <a:rPr lang="en-AU" sz="2200" i="1" dirty="0" err="1">
                <a:solidFill>
                  <a:srgbClr val="4B4B4B"/>
                </a:solidFill>
                <a:effectLst/>
              </a:rPr>
              <a:t>v</a:t>
            </a:r>
            <a:r>
              <a:rPr lang="en-AU" sz="2200" i="1" baseline="-25000" dirty="0" err="1">
                <a:solidFill>
                  <a:srgbClr val="4B4B4B"/>
                </a:solidFill>
                <a:effectLst/>
              </a:rPr>
              <a:t>c</a:t>
            </a:r>
            <a:r>
              <a:rPr lang="en-AU" sz="2200" dirty="0">
                <a:solidFill>
                  <a:srgbClr val="363636"/>
                </a:solidFill>
                <a:effectLst/>
              </a:rPr>
              <a:t>) at the </a:t>
            </a:r>
            <a:r>
              <a:rPr lang="en-AU" sz="2200" dirty="0">
                <a:solidFill>
                  <a:srgbClr val="232323"/>
                </a:solidFill>
                <a:effectLst/>
              </a:rPr>
              <a:t>inpu</a:t>
            </a:r>
            <a:r>
              <a:rPr lang="en-AU" sz="2200" dirty="0">
                <a:solidFill>
                  <a:srgbClr val="4B4B4B"/>
                </a:solidFill>
                <a:effectLst/>
              </a:rPr>
              <a:t>t </a:t>
            </a:r>
            <a:r>
              <a:rPr lang="en-AU" sz="2200" dirty="0">
                <a:solidFill>
                  <a:srgbClr val="363636"/>
                </a:solidFill>
                <a:effectLst/>
              </a:rPr>
              <a:t>of diode D1 and </a:t>
            </a:r>
            <a:r>
              <a:rPr lang="en-AU" sz="2200" dirty="0">
                <a:solidFill>
                  <a:srgbClr val="363636"/>
                </a:solidFill>
              </a:rPr>
              <a:t>(</a:t>
            </a:r>
            <a:r>
              <a:rPr lang="en-AU" sz="2200" i="1" dirty="0" err="1">
                <a:solidFill>
                  <a:srgbClr val="363636"/>
                </a:solidFill>
              </a:rPr>
              <a:t>v</a:t>
            </a:r>
            <a:r>
              <a:rPr lang="en-AU" sz="2200" i="1" baseline="-25000" dirty="0" err="1">
                <a:solidFill>
                  <a:srgbClr val="363636"/>
                </a:solidFill>
              </a:rPr>
              <a:t>m</a:t>
            </a:r>
            <a:r>
              <a:rPr lang="en-AU" sz="2200" i="1" baseline="-25000" dirty="0">
                <a:solidFill>
                  <a:srgbClr val="363636"/>
                </a:solidFill>
              </a:rPr>
              <a:t> </a:t>
            </a:r>
            <a:r>
              <a:rPr lang="en-AU" sz="2200" dirty="0">
                <a:solidFill>
                  <a:srgbClr val="363636"/>
                </a:solidFill>
              </a:rPr>
              <a:t>- </a:t>
            </a:r>
            <a:r>
              <a:rPr lang="en-AU" sz="2200" i="1" dirty="0" err="1">
                <a:solidFill>
                  <a:srgbClr val="4B4B4B"/>
                </a:solidFill>
              </a:rPr>
              <a:t>v</a:t>
            </a:r>
            <a:r>
              <a:rPr lang="en-AU" sz="2200" i="1" baseline="-25000" dirty="0" err="1">
                <a:solidFill>
                  <a:srgbClr val="4B4B4B"/>
                </a:solidFill>
              </a:rPr>
              <a:t>c</a:t>
            </a:r>
            <a:r>
              <a:rPr lang="en-AU" sz="2200" dirty="0">
                <a:solidFill>
                  <a:srgbClr val="363636"/>
                </a:solidFill>
              </a:rPr>
              <a:t>) at </a:t>
            </a:r>
            <a:r>
              <a:rPr lang="en-AU" sz="2200" dirty="0">
                <a:solidFill>
                  <a:srgbClr val="4B4B4B"/>
                </a:solidFill>
                <a:effectLst/>
              </a:rPr>
              <a:t>t</a:t>
            </a:r>
            <a:r>
              <a:rPr lang="en-AU" sz="2200" dirty="0">
                <a:solidFill>
                  <a:srgbClr val="232323"/>
                </a:solidFill>
                <a:effectLst/>
              </a:rPr>
              <a:t>h</a:t>
            </a:r>
            <a:r>
              <a:rPr lang="en-AU" sz="2200" dirty="0">
                <a:solidFill>
                  <a:srgbClr val="4B4B4B"/>
                </a:solidFill>
                <a:effectLst/>
              </a:rPr>
              <a:t>e </a:t>
            </a:r>
            <a:r>
              <a:rPr lang="en-AU" sz="2200" dirty="0">
                <a:solidFill>
                  <a:srgbClr val="232323"/>
                </a:solidFill>
                <a:effectLst/>
              </a:rPr>
              <a:t>input </a:t>
            </a:r>
            <a:r>
              <a:rPr lang="en-AU" sz="2200" dirty="0">
                <a:solidFill>
                  <a:srgbClr val="363636"/>
                </a:solidFill>
                <a:effectLst/>
              </a:rPr>
              <a:t>of diode </a:t>
            </a:r>
            <a:r>
              <a:rPr lang="en-AU" sz="2200" i="1" dirty="0">
                <a:solidFill>
                  <a:srgbClr val="363636"/>
                </a:solidFill>
                <a:effectLst/>
              </a:rPr>
              <a:t>D2</a:t>
            </a:r>
            <a:r>
              <a:rPr lang="en-AU" sz="2200" i="1" dirty="0">
                <a:solidFill>
                  <a:srgbClr val="363636"/>
                </a:solidFill>
              </a:rPr>
              <a:t>.</a:t>
            </a:r>
          </a:p>
          <a:p>
            <a:pPr marL="342900" indent="-342900" algn="just">
              <a:buFont typeface="Wingdings" pitchFamily="2" charset="2"/>
              <a:buChar char="ü"/>
            </a:pPr>
            <a:r>
              <a:rPr lang="en-AU" dirty="0"/>
              <a:t>The two diode output currents will be</a:t>
            </a:r>
            <a:endParaRPr lang="en-AU" sz="2200" i="1" dirty="0">
              <a:solidFill>
                <a:srgbClr val="363636"/>
              </a:solidFill>
            </a:endParaRPr>
          </a:p>
        </p:txBody>
      </p:sp>
      <p:sp>
        <p:nvSpPr>
          <p:cNvPr id="13" name="TextBox 12">
            <a:extLst>
              <a:ext uri="{FF2B5EF4-FFF2-40B4-BE49-F238E27FC236}">
                <a16:creationId xmlns:a16="http://schemas.microsoft.com/office/drawing/2014/main" xmlns="" id="{4256E1C5-F473-E045-3567-CE3921BCF928}"/>
              </a:ext>
            </a:extLst>
          </p:cNvPr>
          <p:cNvSpPr txBox="1"/>
          <p:nvPr/>
        </p:nvSpPr>
        <p:spPr>
          <a:xfrm>
            <a:off x="6831874" y="4466359"/>
            <a:ext cx="4546255" cy="430887"/>
          </a:xfrm>
          <a:prstGeom prst="rect">
            <a:avLst/>
          </a:prstGeom>
          <a:noFill/>
        </p:spPr>
        <p:txBody>
          <a:bodyPr wrap="square">
            <a:spAutoFit/>
          </a:bodyPr>
          <a:lstStyle/>
          <a:p>
            <a:pPr marL="342900" indent="-342900">
              <a:buFont typeface="Wingdings" pitchFamily="2" charset="2"/>
              <a:buChar char="ü"/>
            </a:pPr>
            <a:r>
              <a:rPr lang="en-AU" sz="2200" dirty="0"/>
              <a:t>Thus, the primary current will be</a:t>
            </a:r>
            <a:endParaRPr lang="en-US" sz="2200" dirty="0"/>
          </a:p>
        </p:txBody>
      </p:sp>
      <mc:AlternateContent xmlns:mc="http://schemas.openxmlformats.org/markup-compatibility/2006">
        <mc:Choice xmlns:a14="http://schemas.microsoft.com/office/drawing/2010/main" Requires="a14">
          <p:sp>
            <p:nvSpPr>
              <p:cNvPr id="3" name="TextBox 2"/>
              <p:cNvSpPr txBox="1"/>
              <p:nvPr/>
            </p:nvSpPr>
            <p:spPr>
              <a:xfrm>
                <a:off x="1137259" y="3337274"/>
                <a:ext cx="5124543" cy="2396425"/>
              </a:xfrm>
              <a:prstGeom prst="rect">
                <a:avLst/>
              </a:prstGeom>
              <a:noFill/>
            </p:spPr>
            <p:txBody>
              <a:bodyPr wrap="none" rtlCol="0">
                <a:spAutoFit/>
              </a:bodyPr>
              <a:lstStyle/>
              <a:p>
                <a:pPr>
                  <a:lnSpc>
                    <a:spcPct val="150000"/>
                  </a:lnSpc>
                  <a:spcAft>
                    <a:spcPts val="800"/>
                  </a:spcAft>
                </a:pPr>
                <a14:m>
                  <m:oMathPara xmlns:m="http://schemas.openxmlformats.org/officeDocument/2006/math">
                    <m:oMathParaPr>
                      <m:jc m:val="centerGroup"/>
                    </m:oMathParaPr>
                    <m:oMath xmlns:m="http://schemas.openxmlformats.org/officeDocument/2006/math">
                      <m:sSub>
                        <m:sSubPr>
                          <m:ctrlPr>
                            <a:rPr lang="en-GB" sz="2000" i="1" smtClean="0">
                              <a:latin typeface="Cambria Math" panose="02040503050406030204" pitchFamily="18" charset="0"/>
                              <a:ea typeface="Calibri" panose="020F0502020204030204" pitchFamily="34" charset="0"/>
                              <a:cs typeface="Times New Roman" panose="02020603050405020304" pitchFamily="18" charset="0"/>
                            </a:rPr>
                          </m:ctrlPr>
                        </m:sSubPr>
                        <m:e>
                          <m:r>
                            <a:rPr lang="en-GB" sz="20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n-GB" sz="2000" i="1">
                              <a:effectLst/>
                              <a:latin typeface="Cambria Math" panose="02040503050406030204" pitchFamily="18" charset="0"/>
                              <a:ea typeface="Calibri" panose="020F0502020204030204" pitchFamily="34" charset="0"/>
                              <a:cs typeface="Times New Roman" panose="02020603050405020304" pitchFamily="18" charset="0"/>
                            </a:rPr>
                            <m:t>𝑑</m:t>
                          </m:r>
                          <m:r>
                            <a:rPr lang="en-GB" sz="20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en-GB" sz="2000" i="1">
                          <a:effectLst/>
                          <a:latin typeface="Cambria Math" panose="02040503050406030204" pitchFamily="18" charset="0"/>
                          <a:ea typeface="Calibri" panose="020F0502020204030204" pitchFamily="34" charset="0"/>
                          <a:cs typeface="Times New Roman" panose="02020603050405020304" pitchFamily="18" charset="0"/>
                        </a:rPr>
                        <m:t>=</m:t>
                      </m:r>
                      <m:r>
                        <a:rPr lang="en-GB" sz="2000" i="1">
                          <a:effectLst/>
                          <a:latin typeface="Cambria Math" panose="02040503050406030204" pitchFamily="18" charset="0"/>
                          <a:ea typeface="Calibri" panose="020F0502020204030204" pitchFamily="34" charset="0"/>
                          <a:cs typeface="Times New Roman" panose="02020603050405020304" pitchFamily="18" charset="0"/>
                        </a:rPr>
                        <m:t>𝑎</m:t>
                      </m:r>
                      <m:r>
                        <a:rPr lang="en-GB" sz="2000" i="1">
                          <a:effectLst/>
                          <a:latin typeface="Cambria Math" panose="02040503050406030204" pitchFamily="18" charset="0"/>
                          <a:ea typeface="Calibri" panose="020F0502020204030204" pitchFamily="34" charset="0"/>
                          <a:cs typeface="Times New Roman" panose="02020603050405020304" pitchFamily="18" charset="0"/>
                        </a:rPr>
                        <m:t>+</m:t>
                      </m:r>
                      <m:r>
                        <a:rPr lang="en-GB" sz="2000" i="1">
                          <a:effectLst/>
                          <a:latin typeface="Cambria Math" panose="02040503050406030204" pitchFamily="18" charset="0"/>
                          <a:ea typeface="Calibri" panose="020F0502020204030204" pitchFamily="34" charset="0"/>
                          <a:cs typeface="Times New Roman" panose="02020603050405020304" pitchFamily="18" charset="0"/>
                        </a:rPr>
                        <m:t>𝑏</m:t>
                      </m:r>
                      <m:d>
                        <m:dPr>
                          <m:ctrlPr>
                            <a:rPr lang="en-GB" sz="2000" i="1">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GB"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GB" sz="2000" i="1">
                                  <a:effectLst/>
                                  <a:latin typeface="Cambria Math" panose="02040503050406030204" pitchFamily="18" charset="0"/>
                                  <a:ea typeface="Calibri" panose="020F0502020204030204" pitchFamily="34" charset="0"/>
                                  <a:cs typeface="Times New Roman" panose="02020603050405020304" pitchFamily="18" charset="0"/>
                                </a:rPr>
                                <m:t>𝑣</m:t>
                              </m:r>
                            </m:e>
                            <m:sub>
                              <m:r>
                                <a:rPr lang="en-GB" sz="2000" i="1">
                                  <a:effectLst/>
                                  <a:latin typeface="Cambria Math" panose="02040503050406030204" pitchFamily="18" charset="0"/>
                                  <a:ea typeface="Calibri" panose="020F0502020204030204" pitchFamily="34" charset="0"/>
                                  <a:cs typeface="Times New Roman" panose="02020603050405020304" pitchFamily="18" charset="0"/>
                                </a:rPr>
                                <m:t>𝑐</m:t>
                              </m:r>
                            </m:sub>
                          </m:sSub>
                          <m:r>
                            <a:rPr lang="en-GB" sz="2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GB"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GB" sz="2000" i="1">
                                  <a:effectLst/>
                                  <a:latin typeface="Cambria Math" panose="02040503050406030204" pitchFamily="18" charset="0"/>
                                  <a:ea typeface="Calibri" panose="020F0502020204030204" pitchFamily="34" charset="0"/>
                                  <a:cs typeface="Times New Roman" panose="02020603050405020304" pitchFamily="18" charset="0"/>
                                </a:rPr>
                                <m:t>𝑣</m:t>
                              </m:r>
                            </m:e>
                            <m:sub>
                              <m:r>
                                <a:rPr lang="en-GB" sz="2000" i="1">
                                  <a:effectLst/>
                                  <a:latin typeface="Cambria Math" panose="02040503050406030204" pitchFamily="18" charset="0"/>
                                  <a:ea typeface="Calibri" panose="020F0502020204030204" pitchFamily="34" charset="0"/>
                                  <a:cs typeface="Times New Roman" panose="02020603050405020304" pitchFamily="18" charset="0"/>
                                </a:rPr>
                                <m:t>𝑚</m:t>
                              </m:r>
                            </m:sub>
                          </m:sSub>
                        </m:e>
                      </m:d>
                      <m:r>
                        <a:rPr lang="en-GB" sz="2000" i="1">
                          <a:effectLst/>
                          <a:latin typeface="Cambria Math" panose="02040503050406030204" pitchFamily="18" charset="0"/>
                          <a:ea typeface="Calibri" panose="020F0502020204030204" pitchFamily="34" charset="0"/>
                          <a:cs typeface="Times New Roman" panose="02020603050405020304" pitchFamily="18" charset="0"/>
                        </a:rPr>
                        <m:t>+</m:t>
                      </m:r>
                      <m:r>
                        <a:rPr lang="en-GB" sz="2000" i="1">
                          <a:effectLst/>
                          <a:latin typeface="Cambria Math" panose="02040503050406030204" pitchFamily="18" charset="0"/>
                          <a:ea typeface="Calibri" panose="020F0502020204030204" pitchFamily="34" charset="0"/>
                          <a:cs typeface="Times New Roman" panose="02020603050405020304" pitchFamily="18" charset="0"/>
                        </a:rPr>
                        <m:t>𝑐</m:t>
                      </m:r>
                      <m:sSup>
                        <m:sSupPr>
                          <m:ctrlPr>
                            <a:rPr lang="en-GB" sz="2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GB" sz="2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GB"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GB" sz="2000" i="1">
                                  <a:effectLst/>
                                  <a:latin typeface="Cambria Math" panose="02040503050406030204" pitchFamily="18" charset="0"/>
                                  <a:ea typeface="Calibri" panose="020F0502020204030204" pitchFamily="34" charset="0"/>
                                  <a:cs typeface="Times New Roman" panose="02020603050405020304" pitchFamily="18" charset="0"/>
                                </a:rPr>
                                <m:t>𝑣</m:t>
                              </m:r>
                            </m:e>
                            <m:sub>
                              <m:r>
                                <a:rPr lang="en-GB" sz="2000" i="1">
                                  <a:effectLst/>
                                  <a:latin typeface="Cambria Math" panose="02040503050406030204" pitchFamily="18" charset="0"/>
                                  <a:ea typeface="Calibri" panose="020F0502020204030204" pitchFamily="34" charset="0"/>
                                  <a:cs typeface="Times New Roman" panose="02020603050405020304" pitchFamily="18" charset="0"/>
                                </a:rPr>
                                <m:t>𝐶</m:t>
                              </m:r>
                            </m:sub>
                          </m:sSub>
                          <m:r>
                            <a:rPr lang="en-GB" sz="2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GB"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GB" sz="2000" i="1">
                                  <a:effectLst/>
                                  <a:latin typeface="Cambria Math" panose="02040503050406030204" pitchFamily="18" charset="0"/>
                                  <a:ea typeface="Calibri" panose="020F0502020204030204" pitchFamily="34" charset="0"/>
                                  <a:cs typeface="Times New Roman" panose="02020603050405020304" pitchFamily="18" charset="0"/>
                                </a:rPr>
                                <m:t>𝑣</m:t>
                              </m:r>
                            </m:e>
                            <m:sub>
                              <m:r>
                                <a:rPr lang="en-GB" sz="2000" i="1">
                                  <a:effectLst/>
                                  <a:latin typeface="Cambria Math" panose="02040503050406030204" pitchFamily="18" charset="0"/>
                                  <a:ea typeface="Calibri" panose="020F0502020204030204" pitchFamily="34" charset="0"/>
                                  <a:cs typeface="Times New Roman" panose="02020603050405020304" pitchFamily="18" charset="0"/>
                                </a:rPr>
                                <m:t>𝑚</m:t>
                              </m:r>
                            </m:sub>
                          </m:sSub>
                          <m:r>
                            <a:rPr lang="en-GB" sz="2000" i="1">
                              <a:effectLst/>
                              <a:latin typeface="Cambria Math" panose="02040503050406030204" pitchFamily="18" charset="0"/>
                              <a:ea typeface="Calibri" panose="020F0502020204030204" pitchFamily="34" charset="0"/>
                              <a:cs typeface="Times New Roman" panose="02020603050405020304" pitchFamily="18" charset="0"/>
                            </a:rPr>
                            <m:t>)</m:t>
                          </m:r>
                        </m:e>
                        <m:sup>
                          <m:r>
                            <a:rPr lang="en-GB" sz="2000" i="1">
                              <a:effectLst/>
                              <a:latin typeface="Cambria Math" panose="02040503050406030204" pitchFamily="18" charset="0"/>
                              <a:ea typeface="Calibri" panose="020F0502020204030204" pitchFamily="34" charset="0"/>
                              <a:cs typeface="Times New Roman" panose="02020603050405020304" pitchFamily="18" charset="0"/>
                            </a:rPr>
                            <m:t>2</m:t>
                          </m:r>
                        </m:sup>
                      </m:sSup>
                    </m:oMath>
                  </m:oMathPara>
                </a14:m>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50000"/>
                  </a:lnSpc>
                  <a:spcAft>
                    <a:spcPts val="800"/>
                  </a:spcAft>
                </a:pPr>
                <a14:m>
                  <m:oMath xmlns:m="http://schemas.openxmlformats.org/officeDocument/2006/math">
                    <m:sSub>
                      <m:sSubPr>
                        <m:ctrlPr>
                          <a:rPr lang="en-GB"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GB" sz="20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n-GB" sz="2000" i="1">
                            <a:effectLst/>
                            <a:latin typeface="Cambria Math" panose="02040503050406030204" pitchFamily="18" charset="0"/>
                            <a:ea typeface="Calibri" panose="020F0502020204030204" pitchFamily="34" charset="0"/>
                            <a:cs typeface="Times New Roman" panose="02020603050405020304" pitchFamily="18" charset="0"/>
                          </a:rPr>
                          <m:t>𝑑</m:t>
                        </m:r>
                        <m:r>
                          <a:rPr lang="en-GB" sz="20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en-GB" sz="2000" i="1">
                        <a:effectLst/>
                        <a:latin typeface="Cambria Math" panose="02040503050406030204" pitchFamily="18" charset="0"/>
                        <a:ea typeface="Calibri" panose="020F0502020204030204" pitchFamily="34" charset="0"/>
                        <a:cs typeface="Times New Roman" panose="02020603050405020304" pitchFamily="18" charset="0"/>
                      </a:rPr>
                      <m:t>=</m:t>
                    </m:r>
                    <m:r>
                      <a:rPr lang="en-GB" sz="2000" i="1">
                        <a:effectLst/>
                        <a:latin typeface="Cambria Math" panose="02040503050406030204" pitchFamily="18" charset="0"/>
                        <a:ea typeface="Calibri" panose="020F0502020204030204" pitchFamily="34" charset="0"/>
                        <a:cs typeface="Times New Roman" panose="02020603050405020304" pitchFamily="18" charset="0"/>
                      </a:rPr>
                      <m:t>𝑎</m:t>
                    </m:r>
                    <m:r>
                      <a:rPr lang="en-GB" sz="2000" i="1">
                        <a:effectLst/>
                        <a:latin typeface="Cambria Math" panose="02040503050406030204" pitchFamily="18" charset="0"/>
                        <a:ea typeface="Calibri" panose="020F0502020204030204" pitchFamily="34" charset="0"/>
                        <a:cs typeface="Times New Roman" panose="02020603050405020304" pitchFamily="18" charset="0"/>
                      </a:rPr>
                      <m:t>+</m:t>
                    </m:r>
                    <m:r>
                      <a:rPr lang="en-GB" sz="2000" i="1">
                        <a:effectLst/>
                        <a:latin typeface="Cambria Math" panose="02040503050406030204" pitchFamily="18" charset="0"/>
                        <a:ea typeface="Calibri" panose="020F0502020204030204" pitchFamily="34" charset="0"/>
                        <a:cs typeface="Times New Roman" panose="02020603050405020304" pitchFamily="18" charset="0"/>
                      </a:rPr>
                      <m:t>𝑏</m:t>
                    </m:r>
                    <m:sSub>
                      <m:sSubPr>
                        <m:ctrlPr>
                          <a:rPr lang="en-GB"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GB" sz="2000" i="1">
                            <a:effectLst/>
                            <a:latin typeface="Cambria Math" panose="02040503050406030204" pitchFamily="18" charset="0"/>
                            <a:ea typeface="Calibri" panose="020F0502020204030204" pitchFamily="34" charset="0"/>
                            <a:cs typeface="Times New Roman" panose="02020603050405020304" pitchFamily="18" charset="0"/>
                          </a:rPr>
                          <m:t>𝑣</m:t>
                        </m:r>
                      </m:e>
                      <m:sub>
                        <m:r>
                          <a:rPr lang="en-GB" sz="2000" i="1">
                            <a:effectLst/>
                            <a:latin typeface="Cambria Math" panose="02040503050406030204" pitchFamily="18" charset="0"/>
                            <a:ea typeface="Calibri" panose="020F0502020204030204" pitchFamily="34" charset="0"/>
                            <a:cs typeface="Times New Roman" panose="02020603050405020304" pitchFamily="18" charset="0"/>
                          </a:rPr>
                          <m:t>𝑐</m:t>
                        </m:r>
                      </m:sub>
                    </m:sSub>
                    <m:r>
                      <a:rPr lang="en-GB" sz="2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GB"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GB" sz="2000" i="1">
                            <a:effectLst/>
                            <a:latin typeface="Cambria Math" panose="02040503050406030204" pitchFamily="18" charset="0"/>
                            <a:ea typeface="Calibri" panose="020F0502020204030204" pitchFamily="34" charset="0"/>
                            <a:cs typeface="Times New Roman" panose="02020603050405020304" pitchFamily="18" charset="0"/>
                          </a:rPr>
                          <m:t>𝑏𝑣</m:t>
                        </m:r>
                      </m:e>
                      <m:sub>
                        <m:r>
                          <a:rPr lang="en-GB" sz="2000" i="1">
                            <a:effectLst/>
                            <a:latin typeface="Cambria Math" panose="02040503050406030204" pitchFamily="18" charset="0"/>
                            <a:ea typeface="Calibri" panose="020F0502020204030204" pitchFamily="34" charset="0"/>
                            <a:cs typeface="Times New Roman" panose="02020603050405020304" pitchFamily="18" charset="0"/>
                          </a:rPr>
                          <m:t>𝑚</m:t>
                        </m:r>
                      </m:sub>
                    </m:sSub>
                    <m:r>
                      <a:rPr lang="en-GB" sz="2000" i="1">
                        <a:effectLst/>
                        <a:latin typeface="Cambria Math" panose="02040503050406030204" pitchFamily="18" charset="0"/>
                        <a:ea typeface="Calibri" panose="020F0502020204030204" pitchFamily="34" charset="0"/>
                        <a:cs typeface="Times New Roman" panose="02020603050405020304" pitchFamily="18" charset="0"/>
                      </a:rPr>
                      <m:t>+</m:t>
                    </m:r>
                    <m:r>
                      <a:rPr lang="en-GB" sz="2000" i="1">
                        <a:effectLst/>
                        <a:latin typeface="Cambria Math" panose="02040503050406030204" pitchFamily="18" charset="0"/>
                        <a:ea typeface="Calibri" panose="020F0502020204030204" pitchFamily="34" charset="0"/>
                        <a:cs typeface="Times New Roman" panose="02020603050405020304" pitchFamily="18" charset="0"/>
                      </a:rPr>
                      <m:t>𝑐</m:t>
                    </m:r>
                    <m:sSubSup>
                      <m:sSubSupPr>
                        <m:ctrlPr>
                          <a:rPr lang="en-GB" sz="2000" i="1">
                            <a:latin typeface="Cambria Math" panose="02040503050406030204" pitchFamily="18" charset="0"/>
                            <a:ea typeface="Calibri" panose="020F0502020204030204" pitchFamily="34" charset="0"/>
                            <a:cs typeface="Times New Roman" panose="02020603050405020304" pitchFamily="18" charset="0"/>
                          </a:rPr>
                        </m:ctrlPr>
                      </m:sSubSupPr>
                      <m:e>
                        <m:r>
                          <a:rPr lang="en-GB" sz="2000" i="1">
                            <a:latin typeface="Cambria Math" panose="02040503050406030204" pitchFamily="18" charset="0"/>
                            <a:ea typeface="Calibri" panose="020F0502020204030204" pitchFamily="34" charset="0"/>
                            <a:cs typeface="Times New Roman" panose="02020603050405020304" pitchFamily="18" charset="0"/>
                          </a:rPr>
                          <m:t>𝑣</m:t>
                        </m:r>
                      </m:e>
                      <m:sub>
                        <m:r>
                          <a:rPr lang="en-US" sz="2000" b="0" i="1" smtClean="0">
                            <a:latin typeface="Cambria Math" panose="02040503050406030204" pitchFamily="18" charset="0"/>
                            <a:ea typeface="Calibri" panose="020F0502020204030204" pitchFamily="34" charset="0"/>
                            <a:cs typeface="Times New Roman" panose="02020603050405020304" pitchFamily="18" charset="0"/>
                          </a:rPr>
                          <m:t>𝑐</m:t>
                        </m:r>
                      </m:sub>
                      <m:sup>
                        <m:r>
                          <a:rPr lang="en-GB" sz="2000" i="1">
                            <a:latin typeface="Cambria Math" panose="02040503050406030204" pitchFamily="18" charset="0"/>
                            <a:ea typeface="Calibri" panose="020F0502020204030204" pitchFamily="34" charset="0"/>
                            <a:cs typeface="Times New Roman" panose="02020603050405020304" pitchFamily="18" charset="0"/>
                          </a:rPr>
                          <m:t>2</m:t>
                        </m:r>
                      </m:sup>
                    </m:sSubSup>
                    <m:r>
                      <a:rPr lang="en-US" sz="2000" b="0" i="1" smtClean="0">
                        <a:latin typeface="Cambria Math" panose="02040503050406030204" pitchFamily="18" charset="0"/>
                        <a:ea typeface="Calibri" panose="020F0502020204030204" pitchFamily="34" charset="0"/>
                        <a:cs typeface="Times New Roman" panose="02020603050405020304" pitchFamily="18" charset="0"/>
                      </a:rPr>
                      <m:t>+</m:t>
                    </m:r>
                    <m:r>
                      <a:rPr lang="en-GB" sz="2000" i="1">
                        <a:effectLst/>
                        <a:latin typeface="Cambria Math" panose="02040503050406030204" pitchFamily="18" charset="0"/>
                        <a:ea typeface="Calibri" panose="020F0502020204030204" pitchFamily="34" charset="0"/>
                        <a:cs typeface="Times New Roman" panose="02020603050405020304" pitchFamily="18" charset="0"/>
                      </a:rPr>
                      <m:t> </m:t>
                    </m:r>
                    <m:r>
                      <a:rPr lang="en-GB" sz="2000" i="1">
                        <a:effectLst/>
                        <a:latin typeface="Cambria Math" panose="02040503050406030204" pitchFamily="18" charset="0"/>
                        <a:ea typeface="Calibri" panose="020F0502020204030204" pitchFamily="34" charset="0"/>
                        <a:cs typeface="Times New Roman" panose="02020603050405020304" pitchFamily="18" charset="0"/>
                      </a:rPr>
                      <m:t>𝑐</m:t>
                    </m:r>
                    <m:sSubSup>
                      <m:sSubSupPr>
                        <m:ctrlPr>
                          <a:rPr lang="en-GB" sz="20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GB" sz="2000" i="1">
                            <a:effectLst/>
                            <a:latin typeface="Cambria Math" panose="02040503050406030204" pitchFamily="18" charset="0"/>
                            <a:ea typeface="Calibri" panose="020F0502020204030204" pitchFamily="34" charset="0"/>
                            <a:cs typeface="Times New Roman" panose="02020603050405020304" pitchFamily="18" charset="0"/>
                          </a:rPr>
                          <m:t>𝑣</m:t>
                        </m:r>
                      </m:e>
                      <m:sub>
                        <m:r>
                          <a:rPr lang="en-GB" sz="2000" i="1">
                            <a:effectLst/>
                            <a:latin typeface="Cambria Math" panose="02040503050406030204" pitchFamily="18" charset="0"/>
                            <a:ea typeface="Calibri" panose="020F0502020204030204" pitchFamily="34" charset="0"/>
                            <a:cs typeface="Times New Roman" panose="02020603050405020304" pitchFamily="18" charset="0"/>
                          </a:rPr>
                          <m:t>𝑚</m:t>
                        </m:r>
                      </m:sub>
                      <m:sup>
                        <m:r>
                          <a:rPr lang="en-GB" sz="2000" i="1">
                            <a:effectLst/>
                            <a:latin typeface="Cambria Math" panose="02040503050406030204" pitchFamily="18" charset="0"/>
                            <a:ea typeface="Calibri" panose="020F0502020204030204" pitchFamily="34" charset="0"/>
                            <a:cs typeface="Times New Roman" panose="02020603050405020304" pitchFamily="18" charset="0"/>
                          </a:rPr>
                          <m:t>2</m:t>
                        </m:r>
                      </m:sup>
                    </m:sSubSup>
                    <m:r>
                      <a:rPr lang="en-US" sz="2000" b="0" i="0" smtClean="0">
                        <a:effectLst/>
                        <a:latin typeface="Cambria Math" panose="02040503050406030204" pitchFamily="18" charset="0"/>
                        <a:ea typeface="Calibri" panose="020F0502020204030204" pitchFamily="34" charset="0"/>
                        <a:cs typeface="Times New Roman" panose="02020603050405020304" pitchFamily="18" charset="0"/>
                      </a:rPr>
                      <m:t>+</m:t>
                    </m:r>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2</m:t>
                    </m:r>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𝑐</m:t>
                    </m:r>
                    <m:sSub>
                      <m:sSubPr>
                        <m:ctrlPr>
                          <a:rPr lang="en-GB"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sSub>
                      <m:sSubPr>
                        <m:ctrlPr>
                          <a:rPr lang="en-GB"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𝑐</m:t>
                        </m:r>
                      </m:sub>
                    </m:sSub>
                  </m:oMath>
                </a14:m>
                <a:r>
                  <a:rPr lang="en-GB" sz="20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50000"/>
                  </a:lnSpc>
                  <a:spcAft>
                    <a:spcPts val="800"/>
                  </a:spcAft>
                </a:pPr>
                <a14:m>
                  <m:oMathPara xmlns:m="http://schemas.openxmlformats.org/officeDocument/2006/math">
                    <m:oMathParaPr>
                      <m:jc m:val="centerGroup"/>
                    </m:oMathParaPr>
                    <m:oMath xmlns:m="http://schemas.openxmlformats.org/officeDocument/2006/math">
                      <m:sSub>
                        <m:sSubPr>
                          <m:ctrlPr>
                            <a:rPr lang="en-GB"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GB" sz="20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n-GB" sz="2000" i="1">
                              <a:effectLst/>
                              <a:latin typeface="Cambria Math" panose="02040503050406030204" pitchFamily="18" charset="0"/>
                              <a:ea typeface="Calibri" panose="020F0502020204030204" pitchFamily="34" charset="0"/>
                              <a:cs typeface="Times New Roman" panose="02020603050405020304" pitchFamily="18" charset="0"/>
                            </a:rPr>
                            <m:t>𝑑</m:t>
                          </m:r>
                          <m:r>
                            <a:rPr lang="en-GB" sz="20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en-GB" sz="2000" i="1">
                          <a:effectLst/>
                          <a:latin typeface="Cambria Math" panose="02040503050406030204" pitchFamily="18" charset="0"/>
                          <a:ea typeface="Calibri" panose="020F0502020204030204" pitchFamily="34" charset="0"/>
                          <a:cs typeface="Times New Roman" panose="02020603050405020304" pitchFamily="18" charset="0"/>
                        </a:rPr>
                        <m:t>=</m:t>
                      </m:r>
                      <m:r>
                        <a:rPr lang="en-GB" sz="2000" i="1">
                          <a:effectLst/>
                          <a:latin typeface="Cambria Math" panose="02040503050406030204" pitchFamily="18" charset="0"/>
                          <a:ea typeface="Calibri" panose="020F0502020204030204" pitchFamily="34" charset="0"/>
                          <a:cs typeface="Times New Roman" panose="02020603050405020304" pitchFamily="18" charset="0"/>
                        </a:rPr>
                        <m:t>𝑎</m:t>
                      </m:r>
                      <m:r>
                        <a:rPr lang="en-GB" sz="2000" i="1">
                          <a:effectLst/>
                          <a:latin typeface="Cambria Math" panose="02040503050406030204" pitchFamily="18" charset="0"/>
                          <a:ea typeface="Calibri" panose="020F0502020204030204" pitchFamily="34" charset="0"/>
                          <a:cs typeface="Times New Roman" panose="02020603050405020304" pitchFamily="18" charset="0"/>
                        </a:rPr>
                        <m:t>+</m:t>
                      </m:r>
                      <m:r>
                        <a:rPr lang="en-GB" sz="2000" i="1">
                          <a:effectLst/>
                          <a:latin typeface="Cambria Math" panose="02040503050406030204" pitchFamily="18" charset="0"/>
                          <a:ea typeface="Calibri" panose="020F0502020204030204" pitchFamily="34" charset="0"/>
                          <a:cs typeface="Times New Roman" panose="02020603050405020304" pitchFamily="18" charset="0"/>
                        </a:rPr>
                        <m:t>𝑏</m:t>
                      </m:r>
                      <m:d>
                        <m:dPr>
                          <m:ctrlPr>
                            <a:rPr lang="en-GB" sz="2000" i="1">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GB"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GB" sz="2000" i="1">
                                  <a:effectLst/>
                                  <a:latin typeface="Cambria Math" panose="02040503050406030204" pitchFamily="18" charset="0"/>
                                  <a:ea typeface="Calibri" panose="020F0502020204030204" pitchFamily="34" charset="0"/>
                                  <a:cs typeface="Times New Roman" panose="02020603050405020304" pitchFamily="18" charset="0"/>
                                </a:rPr>
                                <m:t>𝑣</m:t>
                              </m:r>
                            </m:e>
                            <m:sub>
                              <m:r>
                                <a:rPr lang="en-GB" sz="2000" i="1">
                                  <a:effectLst/>
                                  <a:latin typeface="Cambria Math" panose="02040503050406030204" pitchFamily="18" charset="0"/>
                                  <a:ea typeface="Calibri" panose="020F0502020204030204" pitchFamily="34" charset="0"/>
                                  <a:cs typeface="Times New Roman" panose="02020603050405020304" pitchFamily="18" charset="0"/>
                                </a:rPr>
                                <m:t>𝑐</m:t>
                              </m:r>
                            </m:sub>
                          </m:sSub>
                          <m:r>
                            <a:rPr lang="en-GB" sz="2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GB"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GB" sz="2000" i="1">
                                  <a:effectLst/>
                                  <a:latin typeface="Cambria Math" panose="02040503050406030204" pitchFamily="18" charset="0"/>
                                  <a:ea typeface="Calibri" panose="020F0502020204030204" pitchFamily="34" charset="0"/>
                                  <a:cs typeface="Times New Roman" panose="02020603050405020304" pitchFamily="18" charset="0"/>
                                </a:rPr>
                                <m:t>𝑣</m:t>
                              </m:r>
                            </m:e>
                            <m:sub>
                              <m:r>
                                <a:rPr lang="en-GB" sz="2000" i="1">
                                  <a:effectLst/>
                                  <a:latin typeface="Cambria Math" panose="02040503050406030204" pitchFamily="18" charset="0"/>
                                  <a:ea typeface="Calibri" panose="020F0502020204030204" pitchFamily="34" charset="0"/>
                                  <a:cs typeface="Times New Roman" panose="02020603050405020304" pitchFamily="18" charset="0"/>
                                </a:rPr>
                                <m:t>𝑚</m:t>
                              </m:r>
                            </m:sub>
                          </m:sSub>
                        </m:e>
                      </m:d>
                      <m:r>
                        <a:rPr lang="en-GB" sz="2000" i="1">
                          <a:effectLst/>
                          <a:latin typeface="Cambria Math" panose="02040503050406030204" pitchFamily="18" charset="0"/>
                          <a:ea typeface="Calibri" panose="020F0502020204030204" pitchFamily="34" charset="0"/>
                          <a:cs typeface="Times New Roman" panose="02020603050405020304" pitchFamily="18" charset="0"/>
                        </a:rPr>
                        <m:t>+</m:t>
                      </m:r>
                      <m:r>
                        <a:rPr lang="en-GB" sz="2000" i="1">
                          <a:effectLst/>
                          <a:latin typeface="Cambria Math" panose="02040503050406030204" pitchFamily="18" charset="0"/>
                          <a:ea typeface="Calibri" panose="020F0502020204030204" pitchFamily="34" charset="0"/>
                          <a:cs typeface="Times New Roman" panose="02020603050405020304" pitchFamily="18" charset="0"/>
                        </a:rPr>
                        <m:t>𝑐</m:t>
                      </m:r>
                      <m:sSup>
                        <m:sSupPr>
                          <m:ctrlPr>
                            <a:rPr lang="en-GB" sz="2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GB" sz="2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GB"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GB" sz="2000" i="1">
                                  <a:effectLst/>
                                  <a:latin typeface="Cambria Math" panose="02040503050406030204" pitchFamily="18" charset="0"/>
                                  <a:ea typeface="Calibri" panose="020F0502020204030204" pitchFamily="34" charset="0"/>
                                  <a:cs typeface="Times New Roman" panose="02020603050405020304" pitchFamily="18" charset="0"/>
                                </a:rPr>
                                <m:t>𝑣</m:t>
                              </m:r>
                            </m:e>
                            <m:sub>
                              <m:r>
                                <a:rPr lang="en-GB" sz="2000" i="1">
                                  <a:effectLst/>
                                  <a:latin typeface="Cambria Math" panose="02040503050406030204" pitchFamily="18" charset="0"/>
                                  <a:ea typeface="Calibri" panose="020F0502020204030204" pitchFamily="34" charset="0"/>
                                  <a:cs typeface="Times New Roman" panose="02020603050405020304" pitchFamily="18" charset="0"/>
                                </a:rPr>
                                <m:t>𝐶</m:t>
                              </m:r>
                            </m:sub>
                          </m:sSub>
                          <m:r>
                            <a:rPr lang="en-GB" sz="2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GB"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GB" sz="2000" i="1">
                                  <a:effectLst/>
                                  <a:latin typeface="Cambria Math" panose="02040503050406030204" pitchFamily="18" charset="0"/>
                                  <a:ea typeface="Calibri" panose="020F0502020204030204" pitchFamily="34" charset="0"/>
                                  <a:cs typeface="Times New Roman" panose="02020603050405020304" pitchFamily="18" charset="0"/>
                                </a:rPr>
                                <m:t>𝑣</m:t>
                              </m:r>
                            </m:e>
                            <m:sub>
                              <m:r>
                                <a:rPr lang="en-GB" sz="2000" i="1">
                                  <a:effectLst/>
                                  <a:latin typeface="Cambria Math" panose="02040503050406030204" pitchFamily="18" charset="0"/>
                                  <a:ea typeface="Calibri" panose="020F0502020204030204" pitchFamily="34" charset="0"/>
                                  <a:cs typeface="Times New Roman" panose="02020603050405020304" pitchFamily="18" charset="0"/>
                                </a:rPr>
                                <m:t>𝑚</m:t>
                              </m:r>
                            </m:sub>
                          </m:sSub>
                          <m:r>
                            <a:rPr lang="en-GB" sz="2000" i="1">
                              <a:effectLst/>
                              <a:latin typeface="Cambria Math" panose="02040503050406030204" pitchFamily="18" charset="0"/>
                              <a:ea typeface="Calibri" panose="020F0502020204030204" pitchFamily="34" charset="0"/>
                              <a:cs typeface="Times New Roman" panose="02020603050405020304" pitchFamily="18" charset="0"/>
                            </a:rPr>
                            <m:t>)</m:t>
                          </m:r>
                        </m:e>
                        <m:sup>
                          <m:r>
                            <a:rPr lang="en-GB" sz="2000" i="1">
                              <a:effectLst/>
                              <a:latin typeface="Cambria Math" panose="02040503050406030204" pitchFamily="18" charset="0"/>
                              <a:ea typeface="Calibri" panose="020F0502020204030204" pitchFamily="34" charset="0"/>
                              <a:cs typeface="Times New Roman" panose="02020603050405020304" pitchFamily="18" charset="0"/>
                            </a:rPr>
                            <m:t>2</m:t>
                          </m:r>
                        </m:sup>
                      </m:sSup>
                    </m:oMath>
                  </m:oMathPara>
                </a14:m>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50000"/>
                  </a:lnSpc>
                  <a:spcAft>
                    <a:spcPts val="800"/>
                  </a:spcAft>
                </a:pPr>
                <a14:m>
                  <m:oMathPara xmlns:m="http://schemas.openxmlformats.org/officeDocument/2006/math">
                    <m:oMathParaPr>
                      <m:jc m:val="centerGroup"/>
                    </m:oMathParaPr>
                    <m:oMath xmlns:m="http://schemas.openxmlformats.org/officeDocument/2006/math">
                      <m:sSub>
                        <m:sSubPr>
                          <m:ctrlPr>
                            <a:rPr lang="en-GB"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GB" sz="20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n-GB" sz="2000" i="1">
                              <a:effectLst/>
                              <a:latin typeface="Cambria Math" panose="02040503050406030204" pitchFamily="18" charset="0"/>
                              <a:ea typeface="Calibri" panose="020F0502020204030204" pitchFamily="34" charset="0"/>
                              <a:cs typeface="Times New Roman" panose="02020603050405020304" pitchFamily="18" charset="0"/>
                            </a:rPr>
                            <m:t>𝑑</m:t>
                          </m:r>
                          <m:r>
                            <a:rPr lang="en-GB" sz="20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en-GB" sz="2000" i="1">
                          <a:effectLst/>
                          <a:latin typeface="Cambria Math" panose="02040503050406030204" pitchFamily="18" charset="0"/>
                          <a:ea typeface="Calibri" panose="020F0502020204030204" pitchFamily="34" charset="0"/>
                          <a:cs typeface="Times New Roman" panose="02020603050405020304" pitchFamily="18" charset="0"/>
                        </a:rPr>
                        <m:t>=</m:t>
                      </m:r>
                      <m:r>
                        <a:rPr lang="en-GB" sz="2000" i="1">
                          <a:effectLst/>
                          <a:latin typeface="Cambria Math" panose="02040503050406030204" pitchFamily="18" charset="0"/>
                          <a:ea typeface="Calibri" panose="020F0502020204030204" pitchFamily="34" charset="0"/>
                          <a:cs typeface="Times New Roman" panose="02020603050405020304" pitchFamily="18" charset="0"/>
                        </a:rPr>
                        <m:t>𝑎</m:t>
                      </m:r>
                      <m:r>
                        <a:rPr lang="en-GB" sz="2000" i="1">
                          <a:effectLst/>
                          <a:latin typeface="Cambria Math" panose="02040503050406030204" pitchFamily="18" charset="0"/>
                          <a:ea typeface="Calibri" panose="020F0502020204030204" pitchFamily="34" charset="0"/>
                          <a:cs typeface="Times New Roman" panose="02020603050405020304" pitchFamily="18" charset="0"/>
                        </a:rPr>
                        <m:t>+</m:t>
                      </m:r>
                      <m:r>
                        <a:rPr lang="en-GB" sz="2000" i="1">
                          <a:effectLst/>
                          <a:latin typeface="Cambria Math" panose="02040503050406030204" pitchFamily="18" charset="0"/>
                          <a:ea typeface="Calibri" panose="020F0502020204030204" pitchFamily="34" charset="0"/>
                          <a:cs typeface="Times New Roman" panose="02020603050405020304" pitchFamily="18" charset="0"/>
                        </a:rPr>
                        <m:t>𝑏</m:t>
                      </m:r>
                      <m:sSub>
                        <m:sSubPr>
                          <m:ctrlPr>
                            <a:rPr lang="en-GB"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GB" sz="2000" i="1">
                              <a:effectLst/>
                              <a:latin typeface="Cambria Math" panose="02040503050406030204" pitchFamily="18" charset="0"/>
                              <a:ea typeface="Calibri" panose="020F0502020204030204" pitchFamily="34" charset="0"/>
                              <a:cs typeface="Times New Roman" panose="02020603050405020304" pitchFamily="18" charset="0"/>
                            </a:rPr>
                            <m:t>𝑣</m:t>
                          </m:r>
                        </m:e>
                        <m:sub>
                          <m:r>
                            <a:rPr lang="en-GB" sz="2000" i="1">
                              <a:effectLst/>
                              <a:latin typeface="Cambria Math" panose="02040503050406030204" pitchFamily="18" charset="0"/>
                              <a:ea typeface="Calibri" panose="020F0502020204030204" pitchFamily="34" charset="0"/>
                              <a:cs typeface="Times New Roman" panose="02020603050405020304" pitchFamily="18" charset="0"/>
                            </a:rPr>
                            <m:t>𝑐</m:t>
                          </m:r>
                        </m:sub>
                      </m:sSub>
                      <m:r>
                        <a:rPr lang="en-GB" sz="2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GB"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GB" sz="2000" i="1">
                              <a:effectLst/>
                              <a:latin typeface="Cambria Math" panose="02040503050406030204" pitchFamily="18" charset="0"/>
                              <a:ea typeface="Calibri" panose="020F0502020204030204" pitchFamily="34" charset="0"/>
                              <a:cs typeface="Times New Roman" panose="02020603050405020304" pitchFamily="18" charset="0"/>
                            </a:rPr>
                            <m:t>𝑏𝑣</m:t>
                          </m:r>
                        </m:e>
                        <m:sub>
                          <m:r>
                            <a:rPr lang="en-GB" sz="2000" i="1">
                              <a:effectLst/>
                              <a:latin typeface="Cambria Math" panose="02040503050406030204" pitchFamily="18" charset="0"/>
                              <a:ea typeface="Calibri" panose="020F0502020204030204" pitchFamily="34" charset="0"/>
                              <a:cs typeface="Times New Roman" panose="02020603050405020304" pitchFamily="18" charset="0"/>
                            </a:rPr>
                            <m:t>𝑚</m:t>
                          </m:r>
                        </m:sub>
                      </m:sSub>
                      <m:r>
                        <a:rPr lang="en-GB" sz="2000" i="1">
                          <a:effectLst/>
                          <a:latin typeface="Cambria Math" panose="02040503050406030204" pitchFamily="18" charset="0"/>
                          <a:ea typeface="Calibri" panose="020F0502020204030204" pitchFamily="34" charset="0"/>
                          <a:cs typeface="Times New Roman" panose="02020603050405020304" pitchFamily="18" charset="0"/>
                        </a:rPr>
                        <m:t>+</m:t>
                      </m:r>
                      <m:r>
                        <a:rPr lang="en-GB" sz="2000" i="1">
                          <a:effectLst/>
                          <a:latin typeface="Cambria Math" panose="02040503050406030204" pitchFamily="18" charset="0"/>
                          <a:ea typeface="Calibri" panose="020F0502020204030204" pitchFamily="34" charset="0"/>
                          <a:cs typeface="Times New Roman" panose="02020603050405020304" pitchFamily="18" charset="0"/>
                        </a:rPr>
                        <m:t>𝑐</m:t>
                      </m:r>
                      <m:sSubSup>
                        <m:sSubSupPr>
                          <m:ctrlPr>
                            <a:rPr lang="en-GB" sz="20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GB" sz="2000" i="1">
                              <a:effectLst/>
                              <a:latin typeface="Cambria Math" panose="02040503050406030204" pitchFamily="18" charset="0"/>
                              <a:ea typeface="Calibri" panose="020F0502020204030204" pitchFamily="34" charset="0"/>
                              <a:cs typeface="Times New Roman" panose="02020603050405020304" pitchFamily="18" charset="0"/>
                            </a:rPr>
                            <m:t>𝑣</m:t>
                          </m:r>
                        </m:e>
                        <m:sub>
                          <m:r>
                            <a:rPr lang="en-GB" sz="2000" i="1">
                              <a:effectLst/>
                              <a:latin typeface="Cambria Math" panose="02040503050406030204" pitchFamily="18" charset="0"/>
                              <a:ea typeface="Calibri" panose="020F0502020204030204" pitchFamily="34" charset="0"/>
                              <a:cs typeface="Times New Roman" panose="02020603050405020304" pitchFamily="18" charset="0"/>
                            </a:rPr>
                            <m:t>𝑐</m:t>
                          </m:r>
                        </m:sub>
                        <m:sup>
                          <m:r>
                            <a:rPr lang="en-GB" sz="2000" i="1">
                              <a:effectLst/>
                              <a:latin typeface="Cambria Math" panose="02040503050406030204" pitchFamily="18" charset="0"/>
                              <a:ea typeface="Calibri" panose="020F0502020204030204" pitchFamily="34" charset="0"/>
                              <a:cs typeface="Times New Roman" panose="02020603050405020304" pitchFamily="18" charset="0"/>
                            </a:rPr>
                            <m:t>2</m:t>
                          </m:r>
                        </m:sup>
                      </m:sSubSup>
                      <m:r>
                        <a:rPr lang="en-US" sz="2000" b="0" i="1" smtClean="0">
                          <a:effectLst/>
                          <a:latin typeface="Cambria Math" panose="02040503050406030204" pitchFamily="18" charset="0"/>
                          <a:ea typeface="Calibri" panose="020F0502020204030204" pitchFamily="34" charset="0"/>
                          <a:cs typeface="Times New Roman" panose="02020603050405020304" pitchFamily="18" charset="0"/>
                        </a:rPr>
                        <m:t>+</m:t>
                      </m:r>
                      <m:r>
                        <a:rPr lang="en-GB" sz="2000" i="1">
                          <a:effectLst/>
                          <a:latin typeface="Cambria Math" panose="02040503050406030204" pitchFamily="18" charset="0"/>
                          <a:ea typeface="Calibri" panose="020F0502020204030204" pitchFamily="34" charset="0"/>
                          <a:cs typeface="Times New Roman" panose="02020603050405020304" pitchFamily="18" charset="0"/>
                        </a:rPr>
                        <m:t> </m:t>
                      </m:r>
                      <m:r>
                        <a:rPr lang="en-GB" sz="2000" i="1">
                          <a:effectLst/>
                          <a:latin typeface="Cambria Math" panose="02040503050406030204" pitchFamily="18" charset="0"/>
                          <a:ea typeface="Calibri" panose="020F0502020204030204" pitchFamily="34" charset="0"/>
                          <a:cs typeface="Times New Roman" panose="02020603050405020304" pitchFamily="18" charset="0"/>
                        </a:rPr>
                        <m:t>𝑐</m:t>
                      </m:r>
                      <m:sSubSup>
                        <m:sSubSupPr>
                          <m:ctrlPr>
                            <a:rPr lang="en-GB" sz="20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GB" sz="2000" i="1">
                              <a:effectLst/>
                              <a:latin typeface="Cambria Math" panose="02040503050406030204" pitchFamily="18" charset="0"/>
                              <a:ea typeface="Calibri" panose="020F0502020204030204" pitchFamily="34" charset="0"/>
                              <a:cs typeface="Times New Roman" panose="02020603050405020304" pitchFamily="18" charset="0"/>
                            </a:rPr>
                            <m:t>𝑣</m:t>
                          </m:r>
                        </m:e>
                        <m:sub>
                          <m:r>
                            <a:rPr lang="en-GB" sz="2000" i="1">
                              <a:effectLst/>
                              <a:latin typeface="Cambria Math" panose="02040503050406030204" pitchFamily="18" charset="0"/>
                              <a:ea typeface="Calibri" panose="020F0502020204030204" pitchFamily="34" charset="0"/>
                              <a:cs typeface="Times New Roman" panose="02020603050405020304" pitchFamily="18" charset="0"/>
                            </a:rPr>
                            <m:t>𝑚</m:t>
                          </m:r>
                        </m:sub>
                        <m:sup>
                          <m:r>
                            <a:rPr lang="en-GB" sz="2000" i="1">
                              <a:effectLst/>
                              <a:latin typeface="Cambria Math" panose="02040503050406030204" pitchFamily="18" charset="0"/>
                              <a:ea typeface="Calibri" panose="020F0502020204030204" pitchFamily="34" charset="0"/>
                              <a:cs typeface="Times New Roman" panose="02020603050405020304" pitchFamily="18" charset="0"/>
                            </a:rPr>
                            <m:t>2</m:t>
                          </m:r>
                        </m:sup>
                      </m:sSubSup>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−2</m:t>
                      </m:r>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𝑐</m:t>
                      </m:r>
                      <m:sSub>
                        <m:sSubPr>
                          <m:ctrlPr>
                            <a:rPr lang="en-GB"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sSub>
                        <m:sSubPr>
                          <m:ctrlPr>
                            <a:rPr lang="en-GB"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𝑐</m:t>
                          </m:r>
                        </m:sub>
                      </m:sSub>
                    </m:oMath>
                  </m:oMathPara>
                </a14:m>
                <a:endParaRPr lang="en-GB"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3" name="TextBox 2"/>
              <p:cNvSpPr txBox="1">
                <a:spLocks noRot="1" noChangeAspect="1" noMove="1" noResize="1" noEditPoints="1" noAdjustHandles="1" noChangeArrowheads="1" noChangeShapeType="1" noTextEdit="1"/>
              </p:cNvSpPr>
              <p:nvPr/>
            </p:nvSpPr>
            <p:spPr>
              <a:xfrm>
                <a:off x="1137259" y="3337274"/>
                <a:ext cx="5124543" cy="2396425"/>
              </a:xfrm>
              <a:prstGeom prst="rect">
                <a:avLst/>
              </a:prstGeom>
              <a:blipFill rotWithShape="0">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7214611" y="5085920"/>
                <a:ext cx="3780779" cy="524246"/>
              </a:xfrm>
              <a:prstGeom prst="rect">
                <a:avLst/>
              </a:prstGeom>
              <a:noFill/>
            </p:spPr>
            <p:txBody>
              <a:bodyPr wrap="none" rtlCol="0">
                <a:spAutoFit/>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GB" sz="2000" i="1">
                              <a:latin typeface="Cambria Math" panose="02040503050406030204" pitchFamily="18" charset="0"/>
                              <a:ea typeface="Times New Roman" panose="02020603050405020304" pitchFamily="18" charset="0"/>
                              <a:cs typeface="Times New Roman" panose="02020603050405020304" pitchFamily="18" charset="0"/>
                            </a:rPr>
                          </m:ctrlPr>
                        </m:sSubPr>
                        <m:e>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𝑑</m:t>
                          </m:r>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𝑑</m:t>
                          </m:r>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=2</m:t>
                      </m:r>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𝑏</m:t>
                      </m:r>
                      <m:sSub>
                        <m:sSubPr>
                          <m:ctrlPr>
                            <a:rPr lang="en-GB"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+4</m:t>
                      </m:r>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𝑐</m:t>
                      </m:r>
                      <m:sSub>
                        <m:sSubPr>
                          <m:ctrlPr>
                            <a:rPr lang="en-GB"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sSub>
                        <m:sSubPr>
                          <m:ctrlPr>
                            <a:rPr lang="en-GB"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n-GB" sz="2000" i="1">
                              <a:effectLst/>
                              <a:latin typeface="Cambria Math" panose="02040503050406030204" pitchFamily="18" charset="0"/>
                              <a:ea typeface="Times New Roman" panose="02020603050405020304" pitchFamily="18" charset="0"/>
                              <a:cs typeface="Times New Roman" panose="02020603050405020304" pitchFamily="18" charset="0"/>
                            </a:rPr>
                            <m:t>𝑐</m:t>
                          </m:r>
                        </m:sub>
                      </m:sSub>
                    </m:oMath>
                  </m:oMathPara>
                </a14:m>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7214611" y="5085920"/>
                <a:ext cx="3780779" cy="524246"/>
              </a:xfrm>
              <a:prstGeom prst="rect">
                <a:avLst/>
              </a:prstGeom>
              <a:blipFill rotWithShape="0">
                <a:blip r:embed="rId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99925428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313340E-D055-69B9-669A-64B66C2FF1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8D5C64C4-1B3E-38B1-262A-E7CA60E27CA6}"/>
              </a:ext>
            </a:extLst>
          </p:cNvPr>
          <p:cNvSpPr>
            <a:spLocks noGrp="1"/>
          </p:cNvSpPr>
          <p:nvPr>
            <p:ph type="title"/>
          </p:nvPr>
        </p:nvSpPr>
        <p:spPr>
          <a:xfrm>
            <a:off x="1936750" y="190500"/>
            <a:ext cx="9645650" cy="582930"/>
          </a:xfrm>
        </p:spPr>
        <p:txBody>
          <a:bodyPr/>
          <a:lstStyle/>
          <a:p>
            <a:r>
              <a:rPr lang="en-US" altLang="en-US" b="1" dirty="0">
                <a:sym typeface="+mn-ea"/>
              </a:rPr>
              <a:t>Amplitude Modulation</a:t>
            </a:r>
            <a:endParaRPr lang="en-US" altLang="en-US" b="1" dirty="0"/>
          </a:p>
        </p:txBody>
      </p:sp>
      <p:sp>
        <p:nvSpPr>
          <p:cNvPr id="4" name="Slide Number Placeholder 3">
            <a:extLst>
              <a:ext uri="{FF2B5EF4-FFF2-40B4-BE49-F238E27FC236}">
                <a16:creationId xmlns:a16="http://schemas.microsoft.com/office/drawing/2014/main" xmlns="" id="{0A55DDB5-F0AC-9A1D-00D8-6300A2737F2A}"/>
              </a:ext>
            </a:extLst>
          </p:cNvPr>
          <p:cNvSpPr>
            <a:spLocks noGrp="1"/>
          </p:cNvSpPr>
          <p:nvPr>
            <p:ph type="sldNum" sz="quarter" idx="12"/>
          </p:nvPr>
        </p:nvSpPr>
        <p:spPr>
          <a:xfrm>
            <a:off x="8737600" y="6381750"/>
            <a:ext cx="2844800" cy="476250"/>
          </a:xfrm>
        </p:spPr>
        <p:txBody>
          <a:bodyPr/>
          <a:lstStyle/>
          <a:p>
            <a:fld id="{50D97DBC-71BD-4B00-8F4D-DDC0A0D17A0C}" type="slidenum">
              <a:rPr lang="en-US" sz="1200" smtClean="0"/>
              <a:t>29</a:t>
            </a:fld>
            <a:endParaRPr lang="en-US" sz="1200" dirty="0"/>
          </a:p>
        </p:txBody>
      </p:sp>
      <p:sp>
        <p:nvSpPr>
          <p:cNvPr id="5" name="Date Placeholder 4">
            <a:extLst>
              <a:ext uri="{FF2B5EF4-FFF2-40B4-BE49-F238E27FC236}">
                <a16:creationId xmlns:a16="http://schemas.microsoft.com/office/drawing/2014/main" xmlns="" id="{6A8EA230-4B4B-3480-7A16-58598C2E5322}"/>
              </a:ext>
            </a:extLst>
          </p:cNvPr>
          <p:cNvSpPr>
            <a:spLocks noGrp="1"/>
          </p:cNvSpPr>
          <p:nvPr>
            <p:ph type="dt" sz="half" idx="10"/>
          </p:nvPr>
        </p:nvSpPr>
        <p:spPr>
          <a:xfrm>
            <a:off x="609600" y="6381750"/>
            <a:ext cx="2844800" cy="476250"/>
          </a:xfrm>
        </p:spPr>
        <p:txBody>
          <a:bodyPr/>
          <a:lstStyle/>
          <a:p>
            <a:fld id="{F0B4034D-A911-A642-B8E1-BA081BB67D6F}" type="datetime1">
              <a:rPr lang="en-AU" sz="1200" smtClean="0"/>
              <a:t>16/02/2026</a:t>
            </a:fld>
            <a:endParaRPr lang="en-US" sz="1200" dirty="0"/>
          </a:p>
        </p:txBody>
      </p:sp>
      <p:sp>
        <p:nvSpPr>
          <p:cNvPr id="6" name="Footer Placeholder 5">
            <a:extLst>
              <a:ext uri="{FF2B5EF4-FFF2-40B4-BE49-F238E27FC236}">
                <a16:creationId xmlns:a16="http://schemas.microsoft.com/office/drawing/2014/main" xmlns="" id="{5E358541-17DF-D116-363B-2D4006E3A51F}"/>
              </a:ext>
            </a:extLst>
          </p:cNvPr>
          <p:cNvSpPr>
            <a:spLocks noGrp="1"/>
          </p:cNvSpPr>
          <p:nvPr>
            <p:ph type="ftr" sz="quarter" idx="11"/>
          </p:nvPr>
        </p:nvSpPr>
        <p:spPr>
          <a:xfrm>
            <a:off x="4165600" y="6381750"/>
            <a:ext cx="3860800" cy="476250"/>
          </a:xfrm>
        </p:spPr>
        <p:txBody>
          <a:bodyPr/>
          <a:lstStyle/>
          <a:p>
            <a:r>
              <a:rPr lang="en-US" sz="1200"/>
              <a:t>@Foez Ahmed, CSE, VU</a:t>
            </a:r>
          </a:p>
        </p:txBody>
      </p:sp>
      <p:sp>
        <p:nvSpPr>
          <p:cNvPr id="10" name="Content Placeholder 2">
            <a:extLst>
              <a:ext uri="{FF2B5EF4-FFF2-40B4-BE49-F238E27FC236}">
                <a16:creationId xmlns:a16="http://schemas.microsoft.com/office/drawing/2014/main" xmlns="" id="{6E6C4113-5429-029C-6896-50BCFBD09BA5}"/>
              </a:ext>
            </a:extLst>
          </p:cNvPr>
          <p:cNvSpPr>
            <a:spLocks noGrp="1" noChangeAspect="1"/>
          </p:cNvSpPr>
          <p:nvPr>
            <p:ph idx="1"/>
          </p:nvPr>
        </p:nvSpPr>
        <p:spPr>
          <a:xfrm>
            <a:off x="609600" y="1007745"/>
            <a:ext cx="10431314" cy="476250"/>
          </a:xfrm>
        </p:spPr>
        <p:txBody>
          <a:bodyPr/>
          <a:lstStyle/>
          <a:p>
            <a:pPr>
              <a:buFont typeface="Wingdings" pitchFamily="2" charset="2"/>
              <a:buChar char="q"/>
            </a:pPr>
            <a:r>
              <a:rPr lang="en-US" altLang="en-US" sz="2400" b="1" dirty="0"/>
              <a:t>Methods of Suppressing Carrier: The Balanced Modulator</a:t>
            </a:r>
            <a:endParaRPr lang="en-US" altLang="en-US" sz="2400" dirty="0"/>
          </a:p>
        </p:txBody>
      </p:sp>
      <mc:AlternateContent xmlns:mc="http://schemas.openxmlformats.org/markup-compatibility/2006" xmlns:a14="http://schemas.microsoft.com/office/drawing/2010/main">
        <mc:Choice Requires="a14">
          <p:sp>
            <p:nvSpPr>
              <p:cNvPr id="3" name="TextBox 2"/>
              <p:cNvSpPr txBox="1"/>
              <p:nvPr/>
            </p:nvSpPr>
            <p:spPr>
              <a:xfrm>
                <a:off x="700100" y="1718310"/>
                <a:ext cx="11187100" cy="4545796"/>
              </a:xfrm>
              <a:prstGeom prst="rect">
                <a:avLst/>
              </a:prstGeom>
              <a:noFill/>
            </p:spPr>
            <p:txBody>
              <a:bodyPr wrap="square" rtlCol="0">
                <a:spAutoFit/>
              </a:bodyPr>
              <a:lstStyle/>
              <a:p>
                <a:r>
                  <a:rPr lang="en-GB" dirty="0" smtClean="0"/>
                  <a:t>Substituting for </a:t>
                </a:r>
                <a14:m>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𝑣</m:t>
                        </m:r>
                      </m:e>
                      <m:sub>
                        <m:r>
                          <a:rPr lang="en-GB" b="0" i="1" smtClean="0">
                            <a:latin typeface="Cambria Math" panose="02040503050406030204" pitchFamily="18" charset="0"/>
                          </a:rPr>
                          <m:t>𝑚</m:t>
                        </m:r>
                      </m:sub>
                    </m:sSub>
                  </m:oMath>
                </a14:m>
                <a:r>
                  <a:rPr lang="en-GB" dirty="0" smtClean="0"/>
                  <a:t> and </a:t>
                </a:r>
                <a14:m>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𝑣</m:t>
                        </m:r>
                      </m:e>
                      <m:sub>
                        <m:r>
                          <a:rPr lang="en-GB" b="0" i="1" smtClean="0">
                            <a:latin typeface="Cambria Math" panose="02040503050406030204" pitchFamily="18" charset="0"/>
                          </a:rPr>
                          <m:t>𝑐</m:t>
                        </m:r>
                      </m:sub>
                    </m:sSub>
                  </m:oMath>
                </a14:m>
                <a:r>
                  <a:rPr lang="en-GB" dirty="0" smtClean="0"/>
                  <a:t> and simplifying we get,</a:t>
                </a:r>
              </a:p>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ea typeface="Calibri" panose="020F0502020204030204" pitchFamily="34" charset="0"/>
                              <a:cs typeface="Times New Roman" panose="02020603050405020304" pitchFamily="18" charset="0"/>
                            </a:rPr>
                          </m:ctrlPr>
                        </m:sSubPr>
                        <m:e>
                          <m:r>
                            <a:rPr lang="en-GB" i="1">
                              <a:effectLst/>
                              <a:latin typeface="Cambria Math" panose="02040503050406030204" pitchFamily="18" charset="0"/>
                              <a:ea typeface="Calibri" panose="020F0502020204030204" pitchFamily="34" charset="0"/>
                              <a:cs typeface="Times New Roman" panose="02020603050405020304" pitchFamily="18" charset="0"/>
                            </a:rPr>
                            <m:t>𝑖</m:t>
                          </m:r>
                        </m:e>
                        <m:sub>
                          <m:r>
                            <a:rPr lang="en-GB" i="1">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GB" i="1">
                          <a:effectLst/>
                          <a:latin typeface="Cambria Math" panose="02040503050406030204" pitchFamily="18" charset="0"/>
                          <a:ea typeface="Calibri" panose="020F0502020204030204" pitchFamily="34" charset="0"/>
                          <a:cs typeface="Times New Roman" panose="02020603050405020304" pitchFamily="18" charset="0"/>
                        </a:rPr>
                        <m:t>=</m:t>
                      </m:r>
                      <m:r>
                        <a:rPr lang="en-GB" i="1">
                          <a:effectLst/>
                          <a:latin typeface="Cambria Math" panose="02040503050406030204" pitchFamily="18" charset="0"/>
                          <a:ea typeface="Calibri" panose="020F0502020204030204" pitchFamily="34" charset="0"/>
                          <a:cs typeface="Times New Roman" panose="02020603050405020304" pitchFamily="18" charset="0"/>
                        </a:rPr>
                        <m:t>2</m:t>
                      </m:r>
                      <m:r>
                        <a:rPr lang="en-GB" i="1">
                          <a:effectLst/>
                          <a:latin typeface="Cambria Math" panose="02040503050406030204" pitchFamily="18" charset="0"/>
                          <a:ea typeface="Calibri" panose="020F0502020204030204" pitchFamily="34" charset="0"/>
                          <a:cs typeface="Times New Roman" panose="02020603050405020304" pitchFamily="18" charset="0"/>
                        </a:rPr>
                        <m:t>𝑏</m:t>
                      </m:r>
                      <m:sSub>
                        <m:sSubPr>
                          <m:ctrlPr>
                            <a:rPr lang="en-GB" i="1">
                              <a:effectLst/>
                              <a:latin typeface="Cambria Math" panose="02040503050406030204" pitchFamily="18" charset="0"/>
                              <a:ea typeface="Calibri" panose="020F0502020204030204" pitchFamily="34" charset="0"/>
                              <a:cs typeface="Times New Roman" panose="02020603050405020304" pitchFamily="18" charset="0"/>
                            </a:rPr>
                          </m:ctrlPr>
                        </m:sSubPr>
                        <m:e>
                          <m:r>
                            <a:rPr lang="en-GB" i="1">
                              <a:effectLst/>
                              <a:latin typeface="Cambria Math" panose="02040503050406030204" pitchFamily="18" charset="0"/>
                              <a:ea typeface="Calibri" panose="020F0502020204030204" pitchFamily="34" charset="0"/>
                              <a:cs typeface="Times New Roman" panose="02020603050405020304" pitchFamily="18" charset="0"/>
                            </a:rPr>
                            <m:t>𝑉</m:t>
                          </m:r>
                        </m:e>
                        <m:sub>
                          <m:r>
                            <a:rPr lang="en-GB" i="1">
                              <a:effectLst/>
                              <a:latin typeface="Cambria Math" panose="02040503050406030204" pitchFamily="18" charset="0"/>
                              <a:ea typeface="Calibri" panose="020F0502020204030204" pitchFamily="34" charset="0"/>
                              <a:cs typeface="Times New Roman" panose="02020603050405020304" pitchFamily="18" charset="0"/>
                            </a:rPr>
                            <m:t>𝑚</m:t>
                          </m:r>
                        </m:sub>
                      </m:sSub>
                      <m:r>
                        <a:rPr lang="en-GB" i="1">
                          <a:effectLst/>
                          <a:latin typeface="Cambria Math" panose="02040503050406030204" pitchFamily="18" charset="0"/>
                          <a:ea typeface="Calibri" panose="020F0502020204030204" pitchFamily="34" charset="0"/>
                          <a:cs typeface="Times New Roman" panose="02020603050405020304" pitchFamily="18" charset="0"/>
                        </a:rPr>
                        <m:t>𝑠𝑖𝑛</m:t>
                      </m:r>
                      <m:sSub>
                        <m:sSubPr>
                          <m:ctrlPr>
                            <a:rPr lang="en-GB" i="1">
                              <a:effectLst/>
                              <a:latin typeface="Cambria Math" panose="02040503050406030204" pitchFamily="18" charset="0"/>
                              <a:ea typeface="Calibri" panose="020F0502020204030204" pitchFamily="34" charset="0"/>
                              <a:cs typeface="Times New Roman" panose="02020603050405020304" pitchFamily="18" charset="0"/>
                            </a:rPr>
                          </m:ctrlPr>
                        </m:sSubPr>
                        <m:e>
                          <m:r>
                            <a:rPr lang="en-GB" i="1">
                              <a:effectLst/>
                              <a:latin typeface="Cambria Math" panose="02040503050406030204" pitchFamily="18" charset="0"/>
                              <a:ea typeface="Calibri" panose="020F0502020204030204" pitchFamily="34" charset="0"/>
                              <a:cs typeface="Times New Roman" panose="02020603050405020304" pitchFamily="18" charset="0"/>
                            </a:rPr>
                            <m:t>𝜔</m:t>
                          </m:r>
                        </m:e>
                        <m:sub>
                          <m:r>
                            <a:rPr lang="en-GB" i="1">
                              <a:effectLst/>
                              <a:latin typeface="Cambria Math" panose="02040503050406030204" pitchFamily="18" charset="0"/>
                              <a:ea typeface="Calibri" panose="020F0502020204030204" pitchFamily="34" charset="0"/>
                              <a:cs typeface="Times New Roman" panose="02020603050405020304" pitchFamily="18" charset="0"/>
                            </a:rPr>
                            <m:t>𝑚</m:t>
                          </m:r>
                        </m:sub>
                      </m:sSub>
                      <m:r>
                        <a:rPr lang="en-GB" i="1">
                          <a:effectLst/>
                          <a:latin typeface="Cambria Math" panose="02040503050406030204" pitchFamily="18" charset="0"/>
                          <a:ea typeface="Calibri" panose="020F0502020204030204" pitchFamily="34" charset="0"/>
                          <a:cs typeface="Times New Roman" panose="02020603050405020304" pitchFamily="18" charset="0"/>
                        </a:rPr>
                        <m:t>𝑡</m:t>
                      </m:r>
                      <m:r>
                        <a:rPr lang="en-GB" i="1">
                          <a:effectLst/>
                          <a:latin typeface="Cambria Math" panose="02040503050406030204" pitchFamily="18" charset="0"/>
                          <a:ea typeface="Calibri" panose="020F0502020204030204" pitchFamily="34" charset="0"/>
                          <a:cs typeface="Times New Roman" panose="02020603050405020304" pitchFamily="18" charset="0"/>
                        </a:rPr>
                        <m:t>+</m:t>
                      </m:r>
                      <m:r>
                        <a:rPr lang="en-GB" i="1">
                          <a:effectLst/>
                          <a:latin typeface="Cambria Math" panose="02040503050406030204" pitchFamily="18" charset="0"/>
                          <a:ea typeface="Calibri" panose="020F0502020204030204" pitchFamily="34" charset="0"/>
                          <a:cs typeface="Times New Roman" panose="02020603050405020304" pitchFamily="18" charset="0"/>
                        </a:rPr>
                        <m:t>4</m:t>
                      </m:r>
                      <m:r>
                        <a:rPr lang="en-GB" i="1">
                          <a:effectLst/>
                          <a:latin typeface="Cambria Math" panose="02040503050406030204" pitchFamily="18" charset="0"/>
                          <a:ea typeface="Calibri" panose="020F0502020204030204" pitchFamily="34" charset="0"/>
                          <a:cs typeface="Times New Roman" panose="02020603050405020304" pitchFamily="18" charset="0"/>
                        </a:rPr>
                        <m:t>𝑐</m:t>
                      </m:r>
                      <m:f>
                        <m:fPr>
                          <m:ctrlPr>
                            <a:rPr lang="en-GB" i="1">
                              <a:effectLst/>
                              <a:latin typeface="Cambria Math" panose="02040503050406030204" pitchFamily="18" charset="0"/>
                              <a:ea typeface="Calibri" panose="020F0502020204030204" pitchFamily="34" charset="0"/>
                              <a:cs typeface="Times New Roman" panose="02020603050405020304" pitchFamily="18" charset="0"/>
                            </a:rPr>
                          </m:ctrlPr>
                        </m:fPr>
                        <m:num>
                          <m:r>
                            <a:rPr lang="en-GB" i="1">
                              <a:effectLst/>
                              <a:latin typeface="Cambria Math" panose="02040503050406030204" pitchFamily="18" charset="0"/>
                              <a:ea typeface="Calibri" panose="020F0502020204030204" pitchFamily="34" charset="0"/>
                              <a:cs typeface="Times New Roman" panose="02020603050405020304" pitchFamily="18" charset="0"/>
                            </a:rPr>
                            <m:t>𝑚</m:t>
                          </m:r>
                          <m:sSub>
                            <m:sSubPr>
                              <m:ctrlPr>
                                <a:rPr lang="en-GB" i="1">
                                  <a:effectLst/>
                                  <a:latin typeface="Cambria Math" panose="02040503050406030204" pitchFamily="18" charset="0"/>
                                  <a:ea typeface="Calibri" panose="020F0502020204030204" pitchFamily="34" charset="0"/>
                                  <a:cs typeface="Times New Roman" panose="02020603050405020304" pitchFamily="18" charset="0"/>
                                </a:rPr>
                              </m:ctrlPr>
                            </m:sSubPr>
                            <m:e>
                              <m:r>
                                <a:rPr lang="en-GB" i="1">
                                  <a:effectLst/>
                                  <a:latin typeface="Cambria Math" panose="02040503050406030204" pitchFamily="18" charset="0"/>
                                  <a:ea typeface="Calibri" panose="020F0502020204030204" pitchFamily="34" charset="0"/>
                                  <a:cs typeface="Times New Roman" panose="02020603050405020304" pitchFamily="18" charset="0"/>
                                </a:rPr>
                                <m:t>𝑉</m:t>
                              </m:r>
                            </m:e>
                            <m:sub>
                              <m:r>
                                <a:rPr lang="en-GB" i="1">
                                  <a:effectLst/>
                                  <a:latin typeface="Cambria Math" panose="02040503050406030204" pitchFamily="18" charset="0"/>
                                  <a:ea typeface="Calibri" panose="020F0502020204030204" pitchFamily="34" charset="0"/>
                                  <a:cs typeface="Times New Roman" panose="02020603050405020304" pitchFamily="18" charset="0"/>
                                </a:rPr>
                                <m:t>𝑐</m:t>
                              </m:r>
                            </m:sub>
                          </m:sSub>
                        </m:num>
                        <m:den>
                          <m:r>
                            <a:rPr lang="en-GB" i="1">
                              <a:effectLst/>
                              <a:latin typeface="Cambria Math" panose="02040503050406030204" pitchFamily="18" charset="0"/>
                              <a:ea typeface="Calibri" panose="020F0502020204030204" pitchFamily="34" charset="0"/>
                              <a:cs typeface="Times New Roman" panose="02020603050405020304" pitchFamily="18" charset="0"/>
                            </a:rPr>
                            <m:t>2</m:t>
                          </m:r>
                        </m:den>
                      </m:f>
                      <m:func>
                        <m:funcPr>
                          <m:ctrlPr>
                            <a:rPr lang="en-GB" i="1">
                              <a:effectLst/>
                              <a:latin typeface="Cambria Math" panose="02040503050406030204" pitchFamily="18" charset="0"/>
                              <a:ea typeface="Calibri" panose="020F0502020204030204" pitchFamily="34" charset="0"/>
                              <a:cs typeface="Times New Roman" panose="02020603050405020304" pitchFamily="18" charset="0"/>
                            </a:rPr>
                          </m:ctrlPr>
                        </m:funcPr>
                        <m:fName>
                          <m:r>
                            <m:rPr>
                              <m:sty m:val="p"/>
                            </m:rPr>
                            <a:rPr lang="en-GB">
                              <a:effectLst/>
                              <a:latin typeface="Cambria Math" panose="02040503050406030204" pitchFamily="18" charset="0"/>
                              <a:ea typeface="Calibri" panose="020F0502020204030204" pitchFamily="34" charset="0"/>
                              <a:cs typeface="Times New Roman" panose="02020603050405020304" pitchFamily="18" charset="0"/>
                            </a:rPr>
                            <m:t>cos</m:t>
                          </m:r>
                        </m:fName>
                        <m:e>
                          <m:d>
                            <m:dPr>
                              <m:ctrlPr>
                                <a:rPr lang="en-GB" i="1">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GB" i="1">
                                      <a:effectLst/>
                                      <a:latin typeface="Cambria Math" panose="02040503050406030204" pitchFamily="18" charset="0"/>
                                      <a:ea typeface="Calibri" panose="020F0502020204030204" pitchFamily="34" charset="0"/>
                                      <a:cs typeface="Times New Roman" panose="02020603050405020304" pitchFamily="18" charset="0"/>
                                    </a:rPr>
                                  </m:ctrlPr>
                                </m:sSubPr>
                                <m:e>
                                  <m:r>
                                    <a:rPr lang="en-GB" i="1">
                                      <a:effectLst/>
                                      <a:latin typeface="Cambria Math" panose="02040503050406030204" pitchFamily="18" charset="0"/>
                                      <a:ea typeface="Calibri" panose="020F0502020204030204" pitchFamily="34" charset="0"/>
                                      <a:cs typeface="Times New Roman" panose="02020603050405020304" pitchFamily="18" charset="0"/>
                                    </a:rPr>
                                    <m:t>𝜔</m:t>
                                  </m:r>
                                </m:e>
                                <m:sub>
                                  <m:r>
                                    <a:rPr lang="en-GB" i="1">
                                      <a:effectLst/>
                                      <a:latin typeface="Cambria Math" panose="02040503050406030204" pitchFamily="18" charset="0"/>
                                      <a:ea typeface="Calibri" panose="020F0502020204030204" pitchFamily="34" charset="0"/>
                                      <a:cs typeface="Times New Roman" panose="02020603050405020304" pitchFamily="18" charset="0"/>
                                    </a:rPr>
                                    <m:t>𝑐</m:t>
                                  </m:r>
                                </m:sub>
                              </m:sSub>
                              <m:r>
                                <a:rPr lang="en-GB"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GB" i="1">
                                      <a:effectLst/>
                                      <a:latin typeface="Cambria Math" panose="02040503050406030204" pitchFamily="18" charset="0"/>
                                      <a:ea typeface="Calibri" panose="020F0502020204030204" pitchFamily="34" charset="0"/>
                                      <a:cs typeface="Times New Roman" panose="02020603050405020304" pitchFamily="18" charset="0"/>
                                    </a:rPr>
                                  </m:ctrlPr>
                                </m:sSubPr>
                                <m:e>
                                  <m:r>
                                    <a:rPr lang="en-GB" i="1">
                                      <a:effectLst/>
                                      <a:latin typeface="Cambria Math" panose="02040503050406030204" pitchFamily="18" charset="0"/>
                                      <a:ea typeface="Calibri" panose="020F0502020204030204" pitchFamily="34" charset="0"/>
                                      <a:cs typeface="Times New Roman" panose="02020603050405020304" pitchFamily="18" charset="0"/>
                                    </a:rPr>
                                    <m:t>𝜔</m:t>
                                  </m:r>
                                </m:e>
                                <m:sub>
                                  <m:r>
                                    <a:rPr lang="en-GB" i="1">
                                      <a:effectLst/>
                                      <a:latin typeface="Cambria Math" panose="02040503050406030204" pitchFamily="18" charset="0"/>
                                      <a:ea typeface="Calibri" panose="020F0502020204030204" pitchFamily="34" charset="0"/>
                                      <a:cs typeface="Times New Roman" panose="02020603050405020304" pitchFamily="18" charset="0"/>
                                    </a:rPr>
                                    <m:t>𝑚</m:t>
                                  </m:r>
                                </m:sub>
                              </m:sSub>
                            </m:e>
                          </m:d>
                        </m:e>
                      </m:func>
                      <m:r>
                        <a:rPr lang="en-GB" i="1">
                          <a:effectLst/>
                          <a:latin typeface="Cambria Math" panose="02040503050406030204" pitchFamily="18" charset="0"/>
                          <a:ea typeface="Calibri" panose="020F0502020204030204" pitchFamily="34" charset="0"/>
                          <a:cs typeface="Times New Roman" panose="02020603050405020304" pitchFamily="18" charset="0"/>
                        </a:rPr>
                        <m:t>𝑡</m:t>
                      </m:r>
                      <m:r>
                        <a:rPr lang="en-GB" i="1">
                          <a:effectLst/>
                          <a:latin typeface="Cambria Math" panose="02040503050406030204" pitchFamily="18" charset="0"/>
                          <a:ea typeface="Calibri" panose="020F0502020204030204" pitchFamily="34" charset="0"/>
                          <a:cs typeface="Times New Roman" panose="02020603050405020304" pitchFamily="18" charset="0"/>
                        </a:rPr>
                        <m:t>−</m:t>
                      </m:r>
                      <m:r>
                        <a:rPr lang="en-GB" i="1">
                          <a:effectLst/>
                          <a:latin typeface="Cambria Math" panose="02040503050406030204" pitchFamily="18" charset="0"/>
                          <a:ea typeface="Calibri" panose="020F0502020204030204" pitchFamily="34" charset="0"/>
                          <a:cs typeface="Times New Roman" panose="02020603050405020304" pitchFamily="18" charset="0"/>
                        </a:rPr>
                        <m:t>4</m:t>
                      </m:r>
                      <m:r>
                        <a:rPr lang="en-GB" i="1">
                          <a:effectLst/>
                          <a:latin typeface="Cambria Math" panose="02040503050406030204" pitchFamily="18" charset="0"/>
                          <a:ea typeface="Calibri" panose="020F0502020204030204" pitchFamily="34" charset="0"/>
                          <a:cs typeface="Times New Roman" panose="02020603050405020304" pitchFamily="18" charset="0"/>
                        </a:rPr>
                        <m:t>𝑐</m:t>
                      </m:r>
                      <m:f>
                        <m:fPr>
                          <m:ctrlPr>
                            <a:rPr lang="en-GB" i="1">
                              <a:effectLst/>
                              <a:latin typeface="Cambria Math" panose="02040503050406030204" pitchFamily="18" charset="0"/>
                              <a:ea typeface="Calibri" panose="020F0502020204030204" pitchFamily="34" charset="0"/>
                              <a:cs typeface="Times New Roman" panose="02020603050405020304" pitchFamily="18" charset="0"/>
                            </a:rPr>
                          </m:ctrlPr>
                        </m:fPr>
                        <m:num>
                          <m:r>
                            <a:rPr lang="en-GB" i="1">
                              <a:effectLst/>
                              <a:latin typeface="Cambria Math" panose="02040503050406030204" pitchFamily="18" charset="0"/>
                              <a:ea typeface="Calibri" panose="020F0502020204030204" pitchFamily="34" charset="0"/>
                              <a:cs typeface="Times New Roman" panose="02020603050405020304" pitchFamily="18" charset="0"/>
                            </a:rPr>
                            <m:t>𝑚</m:t>
                          </m:r>
                          <m:sSub>
                            <m:sSubPr>
                              <m:ctrlPr>
                                <a:rPr lang="en-GB" i="1">
                                  <a:effectLst/>
                                  <a:latin typeface="Cambria Math" panose="02040503050406030204" pitchFamily="18" charset="0"/>
                                  <a:ea typeface="Calibri" panose="020F0502020204030204" pitchFamily="34" charset="0"/>
                                  <a:cs typeface="Times New Roman" panose="02020603050405020304" pitchFamily="18" charset="0"/>
                                </a:rPr>
                              </m:ctrlPr>
                            </m:sSubPr>
                            <m:e>
                              <m:r>
                                <a:rPr lang="en-GB" i="1">
                                  <a:effectLst/>
                                  <a:latin typeface="Cambria Math" panose="02040503050406030204" pitchFamily="18" charset="0"/>
                                  <a:ea typeface="Calibri" panose="020F0502020204030204" pitchFamily="34" charset="0"/>
                                  <a:cs typeface="Times New Roman" panose="02020603050405020304" pitchFamily="18" charset="0"/>
                                </a:rPr>
                                <m:t>𝑉</m:t>
                              </m:r>
                            </m:e>
                            <m:sub>
                              <m:r>
                                <a:rPr lang="en-GB" i="1">
                                  <a:effectLst/>
                                  <a:latin typeface="Cambria Math" panose="02040503050406030204" pitchFamily="18" charset="0"/>
                                  <a:ea typeface="Calibri" panose="020F0502020204030204" pitchFamily="34" charset="0"/>
                                  <a:cs typeface="Times New Roman" panose="02020603050405020304" pitchFamily="18" charset="0"/>
                                </a:rPr>
                                <m:t>𝑐</m:t>
                              </m:r>
                            </m:sub>
                          </m:sSub>
                        </m:num>
                        <m:den>
                          <m:r>
                            <a:rPr lang="en-GB" i="1">
                              <a:effectLst/>
                              <a:latin typeface="Cambria Math" panose="02040503050406030204" pitchFamily="18" charset="0"/>
                              <a:ea typeface="Calibri" panose="020F0502020204030204" pitchFamily="34" charset="0"/>
                              <a:cs typeface="Times New Roman" panose="02020603050405020304" pitchFamily="18" charset="0"/>
                            </a:rPr>
                            <m:t>2</m:t>
                          </m:r>
                        </m:den>
                      </m:f>
                      <m:func>
                        <m:funcPr>
                          <m:ctrlPr>
                            <a:rPr lang="en-GB" i="1">
                              <a:effectLst/>
                              <a:latin typeface="Cambria Math" panose="02040503050406030204" pitchFamily="18" charset="0"/>
                              <a:ea typeface="Calibri" panose="020F0502020204030204" pitchFamily="34" charset="0"/>
                              <a:cs typeface="Times New Roman" panose="02020603050405020304" pitchFamily="18" charset="0"/>
                            </a:rPr>
                          </m:ctrlPr>
                        </m:funcPr>
                        <m:fName>
                          <m:r>
                            <m:rPr>
                              <m:sty m:val="p"/>
                            </m:rPr>
                            <a:rPr lang="en-GB">
                              <a:effectLst/>
                              <a:latin typeface="Cambria Math" panose="02040503050406030204" pitchFamily="18" charset="0"/>
                              <a:ea typeface="Calibri" panose="020F0502020204030204" pitchFamily="34" charset="0"/>
                              <a:cs typeface="Times New Roman" panose="02020603050405020304" pitchFamily="18" charset="0"/>
                            </a:rPr>
                            <m:t>cos</m:t>
                          </m:r>
                        </m:fName>
                        <m:e>
                          <m:d>
                            <m:dPr>
                              <m:ctrlPr>
                                <a:rPr lang="en-GB" i="1">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GB" i="1">
                                      <a:effectLst/>
                                      <a:latin typeface="Cambria Math" panose="02040503050406030204" pitchFamily="18" charset="0"/>
                                      <a:ea typeface="Calibri" panose="020F0502020204030204" pitchFamily="34" charset="0"/>
                                      <a:cs typeface="Times New Roman" panose="02020603050405020304" pitchFamily="18" charset="0"/>
                                    </a:rPr>
                                  </m:ctrlPr>
                                </m:sSubPr>
                                <m:e>
                                  <m:r>
                                    <a:rPr lang="en-GB" i="1">
                                      <a:effectLst/>
                                      <a:latin typeface="Cambria Math" panose="02040503050406030204" pitchFamily="18" charset="0"/>
                                      <a:ea typeface="Calibri" panose="020F0502020204030204" pitchFamily="34" charset="0"/>
                                      <a:cs typeface="Times New Roman" panose="02020603050405020304" pitchFamily="18" charset="0"/>
                                    </a:rPr>
                                    <m:t>𝜔</m:t>
                                  </m:r>
                                </m:e>
                                <m:sub>
                                  <m:r>
                                    <a:rPr lang="en-GB" i="1">
                                      <a:effectLst/>
                                      <a:latin typeface="Cambria Math" panose="02040503050406030204" pitchFamily="18" charset="0"/>
                                      <a:ea typeface="Calibri" panose="020F0502020204030204" pitchFamily="34" charset="0"/>
                                      <a:cs typeface="Times New Roman" panose="02020603050405020304" pitchFamily="18" charset="0"/>
                                    </a:rPr>
                                    <m:t>𝑐</m:t>
                                  </m:r>
                                </m:sub>
                              </m:sSub>
                              <m:r>
                                <a:rPr lang="en-GB"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GB" i="1">
                                      <a:effectLst/>
                                      <a:latin typeface="Cambria Math" panose="02040503050406030204" pitchFamily="18" charset="0"/>
                                      <a:ea typeface="Calibri" panose="020F0502020204030204" pitchFamily="34" charset="0"/>
                                      <a:cs typeface="Times New Roman" panose="02020603050405020304" pitchFamily="18" charset="0"/>
                                    </a:rPr>
                                  </m:ctrlPr>
                                </m:sSubPr>
                                <m:e>
                                  <m:r>
                                    <a:rPr lang="en-GB" i="1">
                                      <a:effectLst/>
                                      <a:latin typeface="Cambria Math" panose="02040503050406030204" pitchFamily="18" charset="0"/>
                                      <a:ea typeface="Calibri" panose="020F0502020204030204" pitchFamily="34" charset="0"/>
                                      <a:cs typeface="Times New Roman" panose="02020603050405020304" pitchFamily="18" charset="0"/>
                                    </a:rPr>
                                    <m:t>𝜔</m:t>
                                  </m:r>
                                </m:e>
                                <m:sub>
                                  <m:r>
                                    <a:rPr lang="en-GB" i="1">
                                      <a:effectLst/>
                                      <a:latin typeface="Cambria Math" panose="02040503050406030204" pitchFamily="18" charset="0"/>
                                      <a:ea typeface="Calibri" panose="020F0502020204030204" pitchFamily="34" charset="0"/>
                                      <a:cs typeface="Times New Roman" panose="02020603050405020304" pitchFamily="18" charset="0"/>
                                    </a:rPr>
                                    <m:t>𝑚</m:t>
                                  </m:r>
                                </m:sub>
                              </m:sSub>
                            </m:e>
                          </m:d>
                        </m:e>
                      </m:func>
                      <m:r>
                        <a:rPr lang="en-GB" i="1">
                          <a:effectLst/>
                          <a:latin typeface="Cambria Math" panose="02040503050406030204" pitchFamily="18" charset="0"/>
                          <a:ea typeface="Calibri" panose="020F0502020204030204" pitchFamily="34" charset="0"/>
                          <a:cs typeface="Times New Roman" panose="02020603050405020304" pitchFamily="18" charset="0"/>
                        </a:rPr>
                        <m:t>𝑡</m:t>
                      </m:r>
                    </m:oMath>
                  </m:oMathPara>
                </a14:m>
                <a:endParaRPr lang="en-GB" dirty="0" smtClean="0">
                  <a:effectLst/>
                  <a:ea typeface="Calibri" panose="020F0502020204030204" pitchFamily="34" charset="0"/>
                  <a:cs typeface="Times New Roman" panose="02020603050405020304" pitchFamily="18" charset="0"/>
                </a:endParaRPr>
              </a:p>
              <a:p>
                <a:pPr algn="just">
                  <a:lnSpc>
                    <a:spcPct val="107000"/>
                  </a:lnSpc>
                  <a:spcAft>
                    <a:spcPts val="800"/>
                  </a:spcAft>
                </a:pPr>
                <a:r>
                  <a:rPr lang="en-GB" dirty="0" smtClean="0">
                    <a:effectLst/>
                    <a:ea typeface="Calibri" panose="020F0502020204030204" pitchFamily="34" charset="0"/>
                    <a:cs typeface="Times New Roman" panose="02020603050405020304" pitchFamily="18" charset="0"/>
                  </a:rPr>
                  <a:t>The output voltage </a:t>
                </a:r>
                <a14:m>
                  <m:oMath xmlns:m="http://schemas.openxmlformats.org/officeDocument/2006/math">
                    <m:sSub>
                      <m:sSubPr>
                        <m:ctrlPr>
                          <a:rPr lang="en-GB" i="1" smtClean="0">
                            <a:effectLst/>
                            <a:latin typeface="Cambria Math" panose="02040503050406030204" pitchFamily="18" charset="0"/>
                            <a:cs typeface="Times New Roman" panose="02020603050405020304" pitchFamily="18" charset="0"/>
                          </a:rPr>
                        </m:ctrlPr>
                      </m:sSubPr>
                      <m:e>
                        <m:r>
                          <a:rPr lang="en-GB" b="0" i="1" smtClean="0">
                            <a:effectLst/>
                            <a:latin typeface="Cambria Math" panose="02040503050406030204" pitchFamily="18" charset="0"/>
                            <a:cs typeface="Times New Roman" panose="02020603050405020304" pitchFamily="18" charset="0"/>
                          </a:rPr>
                          <m:t>𝑣</m:t>
                        </m:r>
                      </m:e>
                      <m:sub>
                        <m:r>
                          <a:rPr lang="en-GB" b="0" i="1" smtClean="0">
                            <a:effectLst/>
                            <a:latin typeface="Cambria Math" panose="02040503050406030204" pitchFamily="18" charset="0"/>
                            <a:cs typeface="Times New Roman" panose="02020603050405020304" pitchFamily="18" charset="0"/>
                          </a:rPr>
                          <m:t>0</m:t>
                        </m:r>
                      </m:sub>
                    </m:sSub>
                  </m:oMath>
                </a14:m>
                <a:r>
                  <a:rPr lang="en-GB" dirty="0" smtClean="0">
                    <a:effectLst/>
                    <a:ea typeface="Calibri" panose="020F0502020204030204" pitchFamily="34" charset="0"/>
                    <a:cs typeface="Times New Roman" panose="02020603050405020304" pitchFamily="18" charset="0"/>
                  </a:rPr>
                  <a:t> is proportional to this primary current. Let the constant of proportionality be </a:t>
                </a:r>
                <a14:m>
                  <m:oMath xmlns:m="http://schemas.openxmlformats.org/officeDocument/2006/math">
                    <m:r>
                      <a:rPr lang="en-GB" i="1" smtClean="0">
                        <a:effectLst/>
                        <a:latin typeface="Cambria Math" panose="02040503050406030204" pitchFamily="18" charset="0"/>
                        <a:ea typeface="Cambria Math" panose="02040503050406030204" pitchFamily="18" charset="0"/>
                        <a:cs typeface="Times New Roman" panose="02020603050405020304" pitchFamily="18" charset="0"/>
                      </a:rPr>
                      <m:t>𝛼</m:t>
                    </m:r>
                  </m:oMath>
                </a14:m>
                <a:r>
                  <a:rPr lang="en-GB" dirty="0" smtClean="0">
                    <a:effectLst/>
                    <a:ea typeface="Calibri" panose="020F0502020204030204" pitchFamily="34" charset="0"/>
                    <a:cs typeface="Times New Roman" panose="02020603050405020304" pitchFamily="18" charset="0"/>
                  </a:rPr>
                  <a:t> then </a:t>
                </a:r>
              </a:p>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𝑣</m:t>
                          </m:r>
                        </m:e>
                        <m:sub>
                          <m:r>
                            <a:rPr lang="en-GB" i="1">
                              <a:latin typeface="Cambria Math" panose="02040503050406030204" pitchFamily="18" charset="0"/>
                            </a:rPr>
                            <m:t>0</m:t>
                          </m:r>
                        </m:sub>
                      </m:sSub>
                      <m:r>
                        <a:rPr lang="en-GB" i="1">
                          <a:latin typeface="Cambria Math" panose="02040503050406030204" pitchFamily="18" charset="0"/>
                        </a:rPr>
                        <m:t>=</m:t>
                      </m:r>
                      <m:r>
                        <a:rPr lang="en-GB" i="1">
                          <a:latin typeface="Cambria Math" panose="02040503050406030204" pitchFamily="18" charset="0"/>
                        </a:rPr>
                        <m:t>𝛼</m:t>
                      </m:r>
                      <m:sSub>
                        <m:sSubPr>
                          <m:ctrlPr>
                            <a:rPr lang="en-GB" i="1">
                              <a:latin typeface="Cambria Math" panose="02040503050406030204" pitchFamily="18" charset="0"/>
                            </a:rPr>
                          </m:ctrlPr>
                        </m:sSubPr>
                        <m:e>
                          <m:r>
                            <a:rPr lang="en-GB" i="1">
                              <a:latin typeface="Cambria Math" panose="02040503050406030204" pitchFamily="18" charset="0"/>
                            </a:rPr>
                            <m:t>𝑖</m:t>
                          </m:r>
                        </m:e>
                        <m:sub>
                          <m:r>
                            <a:rPr lang="en-GB" i="1">
                              <a:latin typeface="Cambria Math" panose="02040503050406030204" pitchFamily="18" charset="0"/>
                            </a:rPr>
                            <m:t>1</m:t>
                          </m:r>
                        </m:sub>
                      </m:sSub>
                      <m:r>
                        <a:rPr lang="en-GB" i="1">
                          <a:latin typeface="Cambria Math" panose="02040503050406030204" pitchFamily="18" charset="0"/>
                        </a:rPr>
                        <m:t>=</m:t>
                      </m:r>
                      <m:r>
                        <a:rPr lang="en-GB" i="1">
                          <a:latin typeface="Cambria Math" panose="02040503050406030204" pitchFamily="18" charset="0"/>
                        </a:rPr>
                        <m:t>2</m:t>
                      </m:r>
                      <m:r>
                        <a:rPr lang="en-GB" i="1">
                          <a:latin typeface="Cambria Math" panose="02040503050406030204" pitchFamily="18" charset="0"/>
                        </a:rPr>
                        <m:t>𝑏</m:t>
                      </m:r>
                      <m:r>
                        <a:rPr lang="en-GB" i="1">
                          <a:latin typeface="Cambria Math" panose="02040503050406030204" pitchFamily="18" charset="0"/>
                        </a:rPr>
                        <m:t>𝛼</m:t>
                      </m:r>
                      <m:sSub>
                        <m:sSubPr>
                          <m:ctrlPr>
                            <a:rPr lang="en-GB" i="1">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𝑚</m:t>
                          </m:r>
                        </m:sub>
                      </m:sSub>
                      <m:r>
                        <a:rPr lang="en-GB" i="1">
                          <a:latin typeface="Cambria Math" panose="02040503050406030204" pitchFamily="18" charset="0"/>
                        </a:rPr>
                        <m:t>𝑠𝑖𝑛</m:t>
                      </m:r>
                      <m:sSub>
                        <m:sSubPr>
                          <m:ctrlPr>
                            <a:rPr lang="en-GB" i="1">
                              <a:latin typeface="Cambria Math" panose="02040503050406030204" pitchFamily="18" charset="0"/>
                            </a:rPr>
                          </m:ctrlPr>
                        </m:sSubPr>
                        <m:e>
                          <m:r>
                            <a:rPr lang="en-GB" i="1">
                              <a:latin typeface="Cambria Math" panose="02040503050406030204" pitchFamily="18" charset="0"/>
                            </a:rPr>
                            <m:t>𝜔</m:t>
                          </m:r>
                        </m:e>
                        <m:sub>
                          <m:r>
                            <a:rPr lang="en-GB" i="1">
                              <a:latin typeface="Cambria Math" panose="02040503050406030204" pitchFamily="18" charset="0"/>
                            </a:rPr>
                            <m:t>𝑚</m:t>
                          </m:r>
                        </m:sub>
                      </m:sSub>
                      <m:r>
                        <a:rPr lang="en-GB" i="1">
                          <a:latin typeface="Cambria Math" panose="02040503050406030204" pitchFamily="18" charset="0"/>
                        </a:rPr>
                        <m:t>𝑡</m:t>
                      </m:r>
                      <m:r>
                        <a:rPr lang="en-GB" i="1">
                          <a:latin typeface="Cambria Math" panose="02040503050406030204" pitchFamily="18" charset="0"/>
                        </a:rPr>
                        <m:t>+</m:t>
                      </m:r>
                      <m:r>
                        <a:rPr lang="en-GB" i="1">
                          <a:latin typeface="Cambria Math" panose="02040503050406030204" pitchFamily="18" charset="0"/>
                        </a:rPr>
                        <m:t>4</m:t>
                      </m:r>
                      <m:r>
                        <a:rPr lang="en-GB" i="1">
                          <a:latin typeface="Cambria Math" panose="02040503050406030204" pitchFamily="18" charset="0"/>
                        </a:rPr>
                        <m:t>𝛼</m:t>
                      </m:r>
                      <m:r>
                        <a:rPr lang="en-GB" i="1">
                          <a:latin typeface="Cambria Math" panose="02040503050406030204" pitchFamily="18" charset="0"/>
                        </a:rPr>
                        <m:t>𝑐</m:t>
                      </m:r>
                      <m:f>
                        <m:fPr>
                          <m:ctrlPr>
                            <a:rPr lang="en-GB" i="1">
                              <a:latin typeface="Cambria Math" panose="02040503050406030204" pitchFamily="18" charset="0"/>
                            </a:rPr>
                          </m:ctrlPr>
                        </m:fPr>
                        <m:num>
                          <m:r>
                            <a:rPr lang="en-GB" i="1">
                              <a:latin typeface="Cambria Math" panose="02040503050406030204" pitchFamily="18" charset="0"/>
                            </a:rPr>
                            <m:t>𝑚</m:t>
                          </m:r>
                          <m:sSub>
                            <m:sSubPr>
                              <m:ctrlPr>
                                <a:rPr lang="en-GB" i="1">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𝑐</m:t>
                              </m:r>
                            </m:sub>
                          </m:sSub>
                        </m:num>
                        <m:den>
                          <m:r>
                            <a:rPr lang="en-GB" i="1">
                              <a:latin typeface="Cambria Math" panose="02040503050406030204" pitchFamily="18" charset="0"/>
                            </a:rPr>
                            <m:t>2</m:t>
                          </m:r>
                        </m:den>
                      </m:f>
                      <m:func>
                        <m:funcPr>
                          <m:ctrlPr>
                            <a:rPr lang="en-GB" i="1">
                              <a:latin typeface="Cambria Math" panose="02040503050406030204" pitchFamily="18" charset="0"/>
                            </a:rPr>
                          </m:ctrlPr>
                        </m:funcPr>
                        <m:fName>
                          <m:r>
                            <m:rPr>
                              <m:sty m:val="p"/>
                            </m:rPr>
                            <a:rPr lang="en-GB">
                              <a:latin typeface="Cambria Math" panose="02040503050406030204" pitchFamily="18" charset="0"/>
                            </a:rPr>
                            <m:t>cos</m:t>
                          </m:r>
                        </m:fName>
                        <m:e>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𝜔</m:t>
                                  </m:r>
                                </m:e>
                                <m:sub>
                                  <m:r>
                                    <a:rPr lang="en-GB" i="1">
                                      <a:latin typeface="Cambria Math" panose="02040503050406030204" pitchFamily="18" charset="0"/>
                                    </a:rPr>
                                    <m:t>𝑐</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𝜔</m:t>
                                  </m:r>
                                </m:e>
                                <m:sub>
                                  <m:r>
                                    <a:rPr lang="en-GB" i="1">
                                      <a:latin typeface="Cambria Math" panose="02040503050406030204" pitchFamily="18" charset="0"/>
                                    </a:rPr>
                                    <m:t>𝑚</m:t>
                                  </m:r>
                                </m:sub>
                              </m:sSub>
                            </m:e>
                          </m:d>
                        </m:e>
                      </m:func>
                      <m:r>
                        <a:rPr lang="en-GB" i="1">
                          <a:latin typeface="Cambria Math" panose="02040503050406030204" pitchFamily="18" charset="0"/>
                        </a:rPr>
                        <m:t>𝑡</m:t>
                      </m:r>
                      <m:r>
                        <a:rPr lang="en-GB" i="1">
                          <a:latin typeface="Cambria Math" panose="02040503050406030204" pitchFamily="18" charset="0"/>
                        </a:rPr>
                        <m:t>−</m:t>
                      </m:r>
                      <m:r>
                        <a:rPr lang="en-GB" i="1">
                          <a:latin typeface="Cambria Math" panose="02040503050406030204" pitchFamily="18" charset="0"/>
                        </a:rPr>
                        <m:t>4</m:t>
                      </m:r>
                      <m:r>
                        <a:rPr lang="en-GB" i="1">
                          <a:latin typeface="Cambria Math" panose="02040503050406030204" pitchFamily="18" charset="0"/>
                        </a:rPr>
                        <m:t>𝛼</m:t>
                      </m:r>
                      <m:r>
                        <a:rPr lang="en-GB" i="1">
                          <a:latin typeface="Cambria Math" panose="02040503050406030204" pitchFamily="18" charset="0"/>
                        </a:rPr>
                        <m:t>𝑐</m:t>
                      </m:r>
                      <m:f>
                        <m:fPr>
                          <m:ctrlPr>
                            <a:rPr lang="en-GB" i="1">
                              <a:latin typeface="Cambria Math" panose="02040503050406030204" pitchFamily="18" charset="0"/>
                            </a:rPr>
                          </m:ctrlPr>
                        </m:fPr>
                        <m:num>
                          <m:r>
                            <a:rPr lang="en-GB" i="1">
                              <a:latin typeface="Cambria Math" panose="02040503050406030204" pitchFamily="18" charset="0"/>
                            </a:rPr>
                            <m:t>𝑚</m:t>
                          </m:r>
                          <m:sSub>
                            <m:sSubPr>
                              <m:ctrlPr>
                                <a:rPr lang="en-GB" i="1">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𝑐</m:t>
                              </m:r>
                            </m:sub>
                          </m:sSub>
                        </m:num>
                        <m:den>
                          <m:r>
                            <a:rPr lang="en-GB" i="1">
                              <a:latin typeface="Cambria Math" panose="02040503050406030204" pitchFamily="18" charset="0"/>
                            </a:rPr>
                            <m:t>2</m:t>
                          </m:r>
                        </m:den>
                      </m:f>
                      <m:func>
                        <m:funcPr>
                          <m:ctrlPr>
                            <a:rPr lang="en-GB" i="1">
                              <a:latin typeface="Cambria Math" panose="02040503050406030204" pitchFamily="18" charset="0"/>
                            </a:rPr>
                          </m:ctrlPr>
                        </m:funcPr>
                        <m:fName>
                          <m:r>
                            <m:rPr>
                              <m:sty m:val="p"/>
                            </m:rPr>
                            <a:rPr lang="en-GB">
                              <a:latin typeface="Cambria Math" panose="02040503050406030204" pitchFamily="18" charset="0"/>
                            </a:rPr>
                            <m:t>cos</m:t>
                          </m:r>
                        </m:fName>
                        <m:e>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𝜔</m:t>
                                  </m:r>
                                </m:e>
                                <m:sub>
                                  <m:r>
                                    <a:rPr lang="en-GB" i="1">
                                      <a:latin typeface="Cambria Math" panose="02040503050406030204" pitchFamily="18" charset="0"/>
                                    </a:rPr>
                                    <m:t>𝑐</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𝜔</m:t>
                                  </m:r>
                                </m:e>
                                <m:sub>
                                  <m:r>
                                    <a:rPr lang="en-GB" i="1">
                                      <a:latin typeface="Cambria Math" panose="02040503050406030204" pitchFamily="18" charset="0"/>
                                    </a:rPr>
                                    <m:t>𝑚</m:t>
                                  </m:r>
                                </m:sub>
                              </m:sSub>
                            </m:e>
                          </m:d>
                        </m:e>
                      </m:func>
                      <m:r>
                        <a:rPr lang="en-GB" i="1">
                          <a:latin typeface="Cambria Math" panose="02040503050406030204" pitchFamily="18" charset="0"/>
                        </a:rPr>
                        <m:t>𝑡</m:t>
                      </m:r>
                    </m:oMath>
                  </m:oMathPara>
                </a14:m>
                <a:endParaRPr lang="en-GB" dirty="0"/>
              </a:p>
              <a:p>
                <a:pPr algn="ctr">
                  <a:lnSpc>
                    <a:spcPct val="107000"/>
                  </a:lnSpc>
                  <a:spcAft>
                    <a:spcPts val="800"/>
                  </a:spcAft>
                </a:pPr>
                <a:r>
                  <a:rPr lang="en-GB" dirty="0" smtClean="0">
                    <a:ea typeface="Calibri" panose="020F0502020204030204" pitchFamily="34" charset="0"/>
                    <a:cs typeface="Times New Roman" panose="02020603050405020304" pitchFamily="18" charset="0"/>
                  </a:rPr>
                  <a:t>Let </a:t>
                </a:r>
                <a14:m>
                  <m:oMath xmlns:m="http://schemas.openxmlformats.org/officeDocument/2006/math">
                    <m:r>
                      <a:rPr lang="en-GB" b="0" i="1" smtClean="0">
                        <a:latin typeface="Cambria Math" panose="02040503050406030204" pitchFamily="18" charset="0"/>
                        <a:ea typeface="Calibri" panose="020F0502020204030204" pitchFamily="34" charset="0"/>
                        <a:cs typeface="Times New Roman" panose="02020603050405020304" pitchFamily="18" charset="0"/>
                      </a:rPr>
                      <m:t>𝑃</m:t>
                    </m:r>
                    <m:r>
                      <a:rPr lang="en-GB" b="0" i="1" smtClean="0">
                        <a:latin typeface="Cambria Math" panose="02040503050406030204" pitchFamily="18" charset="0"/>
                        <a:ea typeface="Calibri" panose="020F0502020204030204" pitchFamily="34" charset="0"/>
                        <a:cs typeface="Times New Roman" panose="02020603050405020304" pitchFamily="18" charset="0"/>
                      </a:rPr>
                      <m:t>=</m:t>
                    </m:r>
                    <m:r>
                      <a:rPr lang="en-GB" b="0" i="1" smtClean="0">
                        <a:latin typeface="Cambria Math" panose="02040503050406030204" pitchFamily="18" charset="0"/>
                        <a:ea typeface="Calibri" panose="020F0502020204030204" pitchFamily="34" charset="0"/>
                        <a:cs typeface="Times New Roman" panose="02020603050405020304" pitchFamily="18" charset="0"/>
                      </a:rPr>
                      <m:t>2</m:t>
                    </m:r>
                    <m:r>
                      <a:rPr lang="en-GB" b="0" i="1" smtClean="0">
                        <a:latin typeface="Cambria Math" panose="02040503050406030204" pitchFamily="18" charset="0"/>
                        <a:ea typeface="Cambria Math" panose="02040503050406030204" pitchFamily="18" charset="0"/>
                        <a:cs typeface="Times New Roman" panose="02020603050405020304" pitchFamily="18" charset="0"/>
                      </a:rPr>
                      <m:t>𝛼</m:t>
                    </m:r>
                    <m:r>
                      <a:rPr lang="en-GB" b="0" i="1" smtClean="0">
                        <a:latin typeface="Cambria Math" panose="02040503050406030204" pitchFamily="18" charset="0"/>
                        <a:ea typeface="Cambria Math" panose="02040503050406030204" pitchFamily="18" charset="0"/>
                        <a:cs typeface="Times New Roman" panose="02020603050405020304" pitchFamily="18" charset="0"/>
                      </a:rPr>
                      <m:t>𝑏</m:t>
                    </m:r>
                    <m:sSub>
                      <m:sSubPr>
                        <m:ctrlPr>
                          <a:rPr lang="en-GB"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GB" b="0" i="1" smtClean="0">
                            <a:latin typeface="Cambria Math" panose="02040503050406030204" pitchFamily="18" charset="0"/>
                            <a:ea typeface="Cambria Math" panose="02040503050406030204" pitchFamily="18" charset="0"/>
                            <a:cs typeface="Times New Roman" panose="02020603050405020304" pitchFamily="18" charset="0"/>
                          </a:rPr>
                          <m:t>𝑉</m:t>
                        </m:r>
                      </m:e>
                      <m:sub>
                        <m:r>
                          <a:rPr lang="en-GB" b="0" i="1" smtClean="0">
                            <a:latin typeface="Cambria Math" panose="02040503050406030204" pitchFamily="18" charset="0"/>
                            <a:ea typeface="Cambria Math" panose="02040503050406030204" pitchFamily="18" charset="0"/>
                            <a:cs typeface="Times New Roman" panose="02020603050405020304" pitchFamily="18" charset="0"/>
                          </a:rPr>
                          <m:t>𝑚</m:t>
                        </m:r>
                      </m:sub>
                    </m:sSub>
                  </m:oMath>
                </a14:m>
                <a:r>
                  <a:rPr lang="en-GB" dirty="0" smtClean="0">
                    <a:effectLst/>
                    <a:ea typeface="Calibri" panose="020F0502020204030204" pitchFamily="34" charset="0"/>
                    <a:cs typeface="Times New Roman" panose="02020603050405020304" pitchFamily="18" charset="0"/>
                  </a:rPr>
                  <a:t> and </a:t>
                </a:r>
                <a14:m>
                  <m:oMath xmlns:m="http://schemas.openxmlformats.org/officeDocument/2006/math">
                    <m:r>
                      <a:rPr lang="en-GB" b="0" i="1" smtClean="0">
                        <a:effectLst/>
                        <a:latin typeface="Cambria Math" panose="02040503050406030204" pitchFamily="18" charset="0"/>
                        <a:ea typeface="Calibri" panose="020F0502020204030204" pitchFamily="34" charset="0"/>
                        <a:cs typeface="Times New Roman" panose="02020603050405020304" pitchFamily="18" charset="0"/>
                      </a:rPr>
                      <m:t>𝑄</m:t>
                    </m:r>
                    <m:r>
                      <a:rPr lang="en-GB" b="0" i="1" smtClean="0">
                        <a:effectLst/>
                        <a:latin typeface="Cambria Math" panose="02040503050406030204" pitchFamily="18" charset="0"/>
                        <a:ea typeface="Calibri" panose="020F0502020204030204" pitchFamily="34" charset="0"/>
                        <a:cs typeface="Times New Roman" panose="02020603050405020304" pitchFamily="18" charset="0"/>
                      </a:rPr>
                      <m:t>=</m:t>
                    </m:r>
                    <m:r>
                      <a:rPr lang="en-GB" b="0" i="1" smtClean="0">
                        <a:effectLst/>
                        <a:latin typeface="Cambria Math" panose="02040503050406030204" pitchFamily="18" charset="0"/>
                        <a:ea typeface="Calibri" panose="020F0502020204030204" pitchFamily="34" charset="0"/>
                        <a:cs typeface="Times New Roman" panose="02020603050405020304" pitchFamily="18" charset="0"/>
                      </a:rPr>
                      <m:t>2</m:t>
                    </m:r>
                    <m:r>
                      <a:rPr lang="en-GB" b="0" i="1" smtClean="0">
                        <a:effectLst/>
                        <a:latin typeface="Cambria Math" panose="02040503050406030204" pitchFamily="18" charset="0"/>
                        <a:ea typeface="Cambria Math" panose="02040503050406030204" pitchFamily="18" charset="0"/>
                        <a:cs typeface="Times New Roman" panose="02020603050405020304" pitchFamily="18" charset="0"/>
                      </a:rPr>
                      <m:t>𝛼</m:t>
                    </m:r>
                    <m:r>
                      <a:rPr lang="en-GB" b="0" i="1" smtClean="0">
                        <a:effectLst/>
                        <a:latin typeface="Cambria Math" panose="02040503050406030204" pitchFamily="18" charset="0"/>
                        <a:ea typeface="Cambria Math" panose="02040503050406030204" pitchFamily="18" charset="0"/>
                        <a:cs typeface="Times New Roman" panose="02020603050405020304" pitchFamily="18" charset="0"/>
                      </a:rPr>
                      <m:t>𝑐</m:t>
                    </m:r>
                    <m:f>
                      <m:fPr>
                        <m:ctrlPr>
                          <a:rPr lang="en-GB" b="0" i="1" smtClean="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GB" b="0" i="1" smtClean="0">
                            <a:effectLst/>
                            <a:latin typeface="Cambria Math" panose="02040503050406030204" pitchFamily="18" charset="0"/>
                            <a:ea typeface="Cambria Math" panose="02040503050406030204" pitchFamily="18" charset="0"/>
                            <a:cs typeface="Times New Roman" panose="02020603050405020304" pitchFamily="18" charset="0"/>
                          </a:rPr>
                          <m:t>𝑚</m:t>
                        </m:r>
                        <m:sSub>
                          <m:sSubPr>
                            <m:ctrlPr>
                              <a:rPr lang="en-GB" b="0" i="1"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GB" b="0" i="1" smtClean="0">
                                <a:effectLst/>
                                <a:latin typeface="Cambria Math" panose="02040503050406030204" pitchFamily="18" charset="0"/>
                                <a:ea typeface="Cambria Math" panose="02040503050406030204" pitchFamily="18" charset="0"/>
                                <a:cs typeface="Times New Roman" panose="02020603050405020304" pitchFamily="18" charset="0"/>
                              </a:rPr>
                              <m:t>𝑉</m:t>
                            </m:r>
                          </m:e>
                          <m:sub>
                            <m:r>
                              <a:rPr lang="en-GB" b="0" i="1" smtClean="0">
                                <a:effectLst/>
                                <a:latin typeface="Cambria Math" panose="02040503050406030204" pitchFamily="18" charset="0"/>
                                <a:ea typeface="Cambria Math" panose="02040503050406030204" pitchFamily="18" charset="0"/>
                                <a:cs typeface="Times New Roman" panose="02020603050405020304" pitchFamily="18" charset="0"/>
                              </a:rPr>
                              <m:t>𝑐</m:t>
                            </m:r>
                          </m:sub>
                        </m:sSub>
                      </m:num>
                      <m:den>
                        <m:r>
                          <a:rPr lang="en-GB" b="0" i="1" smtClean="0">
                            <a:effectLst/>
                            <a:latin typeface="Cambria Math" panose="02040503050406030204" pitchFamily="18" charset="0"/>
                            <a:ea typeface="Cambria Math" panose="02040503050406030204" pitchFamily="18" charset="0"/>
                            <a:cs typeface="Times New Roman" panose="02020603050405020304" pitchFamily="18" charset="0"/>
                          </a:rPr>
                          <m:t>2</m:t>
                        </m:r>
                      </m:den>
                    </m:f>
                    <m:r>
                      <a:rPr lang="en-GB" b="0" i="0" smtClean="0">
                        <a:effectLst/>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GB" b="0" i="0" smtClean="0">
                        <a:effectLst/>
                        <a:latin typeface="Cambria Math" panose="02040503050406030204" pitchFamily="18" charset="0"/>
                        <a:ea typeface="Cambria Math" panose="02040503050406030204" pitchFamily="18" charset="0"/>
                        <a:cs typeface="Times New Roman" panose="02020603050405020304" pitchFamily="18" charset="0"/>
                      </a:rPr>
                      <m:t>then</m:t>
                    </m:r>
                  </m:oMath>
                </a14:m>
                <a:endParaRPr lang="en-GB" dirty="0" smtClean="0">
                  <a:effectLst/>
                  <a:ea typeface="Calibri" panose="020F0502020204030204" pitchFamily="34" charset="0"/>
                  <a:cs typeface="Times New Roman" panose="02020603050405020304" pitchFamily="18" charset="0"/>
                </a:endParaRPr>
              </a:p>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ea typeface="Calibri" panose="020F0502020204030204" pitchFamily="34" charset="0"/>
                              <a:cs typeface="Times New Roman" panose="02020603050405020304" pitchFamily="18" charset="0"/>
                            </a:rPr>
                          </m:ctrlPr>
                        </m:sSubPr>
                        <m:e>
                          <m:r>
                            <a:rPr lang="en-GB" i="1">
                              <a:effectLst/>
                              <a:latin typeface="Cambria Math" panose="02040503050406030204" pitchFamily="18" charset="0"/>
                              <a:ea typeface="Calibri" panose="020F0502020204030204" pitchFamily="34" charset="0"/>
                              <a:cs typeface="Times New Roman" panose="02020603050405020304" pitchFamily="18" charset="0"/>
                            </a:rPr>
                            <m:t>𝑣</m:t>
                          </m:r>
                        </m:e>
                        <m:sub>
                          <m:r>
                            <a:rPr lang="en-GB" i="1">
                              <a:effectLst/>
                              <a:latin typeface="Cambria Math" panose="02040503050406030204" pitchFamily="18" charset="0"/>
                              <a:ea typeface="Calibri" panose="020F0502020204030204" pitchFamily="34" charset="0"/>
                              <a:cs typeface="Times New Roman" panose="02020603050405020304" pitchFamily="18" charset="0"/>
                            </a:rPr>
                            <m:t>0</m:t>
                          </m:r>
                        </m:sub>
                      </m:sSub>
                      <m:r>
                        <a:rPr lang="en-GB" i="1">
                          <a:effectLst/>
                          <a:latin typeface="Cambria Math" panose="02040503050406030204" pitchFamily="18" charset="0"/>
                          <a:ea typeface="Calibri" panose="020F0502020204030204" pitchFamily="34" charset="0"/>
                          <a:cs typeface="Times New Roman" panose="02020603050405020304" pitchFamily="18" charset="0"/>
                        </a:rPr>
                        <m:t>=</m:t>
                      </m:r>
                      <m:r>
                        <a:rPr lang="en-GB" i="1">
                          <a:effectLst/>
                          <a:latin typeface="Cambria Math" panose="02040503050406030204" pitchFamily="18" charset="0"/>
                          <a:ea typeface="Calibri" panose="020F0502020204030204" pitchFamily="34" charset="0"/>
                          <a:cs typeface="Times New Roman" panose="02020603050405020304" pitchFamily="18" charset="0"/>
                        </a:rPr>
                        <m:t>𝑃𝑠𝑖𝑛</m:t>
                      </m:r>
                      <m:sSub>
                        <m:sSubPr>
                          <m:ctrlPr>
                            <a:rPr lang="en-GB" i="1">
                              <a:effectLst/>
                              <a:latin typeface="Cambria Math" panose="02040503050406030204" pitchFamily="18" charset="0"/>
                              <a:ea typeface="Calibri" panose="020F0502020204030204" pitchFamily="34" charset="0"/>
                              <a:cs typeface="Times New Roman" panose="02020603050405020304" pitchFamily="18" charset="0"/>
                            </a:rPr>
                          </m:ctrlPr>
                        </m:sSubPr>
                        <m:e>
                          <m:r>
                            <a:rPr lang="en-GB" i="1">
                              <a:effectLst/>
                              <a:latin typeface="Cambria Math" panose="02040503050406030204" pitchFamily="18" charset="0"/>
                              <a:ea typeface="Calibri" panose="020F0502020204030204" pitchFamily="34" charset="0"/>
                              <a:cs typeface="Times New Roman" panose="02020603050405020304" pitchFamily="18" charset="0"/>
                            </a:rPr>
                            <m:t>𝜔</m:t>
                          </m:r>
                        </m:e>
                        <m:sub>
                          <m:r>
                            <a:rPr lang="en-GB" i="1">
                              <a:effectLst/>
                              <a:latin typeface="Cambria Math" panose="02040503050406030204" pitchFamily="18" charset="0"/>
                              <a:ea typeface="Calibri" panose="020F0502020204030204" pitchFamily="34" charset="0"/>
                              <a:cs typeface="Times New Roman" panose="02020603050405020304" pitchFamily="18" charset="0"/>
                            </a:rPr>
                            <m:t>𝑚</m:t>
                          </m:r>
                        </m:sub>
                      </m:sSub>
                      <m:r>
                        <a:rPr lang="en-GB" i="1">
                          <a:effectLst/>
                          <a:latin typeface="Cambria Math" panose="02040503050406030204" pitchFamily="18" charset="0"/>
                          <a:ea typeface="Calibri" panose="020F0502020204030204" pitchFamily="34" charset="0"/>
                          <a:cs typeface="Times New Roman" panose="02020603050405020304" pitchFamily="18" charset="0"/>
                        </a:rPr>
                        <m:t>𝑡</m:t>
                      </m:r>
                      <m:r>
                        <a:rPr lang="en-GB" i="1">
                          <a:effectLst/>
                          <a:latin typeface="Cambria Math" panose="02040503050406030204" pitchFamily="18" charset="0"/>
                          <a:ea typeface="Calibri" panose="020F0502020204030204" pitchFamily="34" charset="0"/>
                          <a:cs typeface="Times New Roman" panose="02020603050405020304" pitchFamily="18" charset="0"/>
                        </a:rPr>
                        <m:t>+</m:t>
                      </m:r>
                      <m:r>
                        <a:rPr lang="en-GB" i="1">
                          <a:effectLst/>
                          <a:latin typeface="Cambria Math" panose="02040503050406030204" pitchFamily="18" charset="0"/>
                          <a:ea typeface="Calibri" panose="020F0502020204030204" pitchFamily="34" charset="0"/>
                          <a:cs typeface="Times New Roman" panose="02020603050405020304" pitchFamily="18" charset="0"/>
                        </a:rPr>
                        <m:t>2</m:t>
                      </m:r>
                      <m:r>
                        <a:rPr lang="en-GB" i="1">
                          <a:effectLst/>
                          <a:latin typeface="Cambria Math" panose="02040503050406030204" pitchFamily="18" charset="0"/>
                          <a:ea typeface="Calibri" panose="020F0502020204030204" pitchFamily="34" charset="0"/>
                          <a:cs typeface="Times New Roman" panose="02020603050405020304" pitchFamily="18" charset="0"/>
                        </a:rPr>
                        <m:t>𝑄𝑐𝑜𝑠</m:t>
                      </m:r>
                      <m:d>
                        <m:dPr>
                          <m:ctrlPr>
                            <a:rPr lang="en-GB" i="1">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GB" i="1">
                                  <a:effectLst/>
                                  <a:latin typeface="Cambria Math" panose="02040503050406030204" pitchFamily="18" charset="0"/>
                                  <a:ea typeface="Calibri" panose="020F0502020204030204" pitchFamily="34" charset="0"/>
                                  <a:cs typeface="Times New Roman" panose="02020603050405020304" pitchFamily="18" charset="0"/>
                                </a:rPr>
                              </m:ctrlPr>
                            </m:sSubPr>
                            <m:e>
                              <m:r>
                                <a:rPr lang="en-GB" i="1">
                                  <a:effectLst/>
                                  <a:latin typeface="Cambria Math" panose="02040503050406030204" pitchFamily="18" charset="0"/>
                                  <a:ea typeface="Calibri" panose="020F0502020204030204" pitchFamily="34" charset="0"/>
                                  <a:cs typeface="Times New Roman" panose="02020603050405020304" pitchFamily="18" charset="0"/>
                                </a:rPr>
                                <m:t>𝜔</m:t>
                              </m:r>
                            </m:e>
                            <m:sub>
                              <m:r>
                                <a:rPr lang="en-GB" i="1">
                                  <a:effectLst/>
                                  <a:latin typeface="Cambria Math" panose="02040503050406030204" pitchFamily="18" charset="0"/>
                                  <a:ea typeface="Calibri" panose="020F0502020204030204" pitchFamily="34" charset="0"/>
                                  <a:cs typeface="Times New Roman" panose="02020603050405020304" pitchFamily="18" charset="0"/>
                                </a:rPr>
                                <m:t>𝑐</m:t>
                              </m:r>
                            </m:sub>
                          </m:sSub>
                          <m:r>
                            <a:rPr lang="en-GB"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GB" i="1">
                                  <a:effectLst/>
                                  <a:latin typeface="Cambria Math" panose="02040503050406030204" pitchFamily="18" charset="0"/>
                                  <a:ea typeface="Calibri" panose="020F0502020204030204" pitchFamily="34" charset="0"/>
                                  <a:cs typeface="Times New Roman" panose="02020603050405020304" pitchFamily="18" charset="0"/>
                                </a:rPr>
                              </m:ctrlPr>
                            </m:sSubPr>
                            <m:e>
                              <m:r>
                                <a:rPr lang="en-GB" i="1">
                                  <a:effectLst/>
                                  <a:latin typeface="Cambria Math" panose="02040503050406030204" pitchFamily="18" charset="0"/>
                                  <a:ea typeface="Calibri" panose="020F0502020204030204" pitchFamily="34" charset="0"/>
                                  <a:cs typeface="Times New Roman" panose="02020603050405020304" pitchFamily="18" charset="0"/>
                                </a:rPr>
                                <m:t>𝜔</m:t>
                              </m:r>
                            </m:e>
                            <m:sub>
                              <m:r>
                                <a:rPr lang="en-GB" i="1">
                                  <a:effectLst/>
                                  <a:latin typeface="Cambria Math" panose="02040503050406030204" pitchFamily="18" charset="0"/>
                                  <a:ea typeface="Calibri" panose="020F0502020204030204" pitchFamily="34" charset="0"/>
                                  <a:cs typeface="Times New Roman" panose="02020603050405020304" pitchFamily="18" charset="0"/>
                                </a:rPr>
                                <m:t>𝑚</m:t>
                              </m:r>
                            </m:sub>
                          </m:sSub>
                        </m:e>
                      </m:d>
                      <m:r>
                        <a:rPr lang="en-GB" i="1">
                          <a:effectLst/>
                          <a:latin typeface="Cambria Math" panose="02040503050406030204" pitchFamily="18" charset="0"/>
                          <a:ea typeface="Calibri" panose="020F0502020204030204" pitchFamily="34" charset="0"/>
                          <a:cs typeface="Times New Roman" panose="02020603050405020304" pitchFamily="18" charset="0"/>
                        </a:rPr>
                        <m:t>𝑡</m:t>
                      </m:r>
                      <m:r>
                        <a:rPr lang="en-GB" i="1">
                          <a:effectLst/>
                          <a:latin typeface="Cambria Math" panose="02040503050406030204" pitchFamily="18" charset="0"/>
                          <a:ea typeface="Calibri" panose="020F0502020204030204" pitchFamily="34" charset="0"/>
                          <a:cs typeface="Times New Roman" panose="02020603050405020304" pitchFamily="18" charset="0"/>
                        </a:rPr>
                        <m:t>−</m:t>
                      </m:r>
                      <m:r>
                        <a:rPr lang="en-GB" i="1">
                          <a:effectLst/>
                          <a:latin typeface="Cambria Math" panose="02040503050406030204" pitchFamily="18" charset="0"/>
                          <a:ea typeface="Calibri" panose="020F0502020204030204" pitchFamily="34" charset="0"/>
                          <a:cs typeface="Times New Roman" panose="02020603050405020304" pitchFamily="18" charset="0"/>
                        </a:rPr>
                        <m:t>2</m:t>
                      </m:r>
                      <m:r>
                        <a:rPr lang="en-GB" i="1">
                          <a:effectLst/>
                          <a:latin typeface="Cambria Math" panose="02040503050406030204" pitchFamily="18" charset="0"/>
                          <a:ea typeface="Calibri" panose="020F0502020204030204" pitchFamily="34" charset="0"/>
                          <a:cs typeface="Times New Roman" panose="02020603050405020304" pitchFamily="18" charset="0"/>
                        </a:rPr>
                        <m:t>𝑄𝑐𝑜𝑠</m:t>
                      </m:r>
                      <m:r>
                        <a:rPr lang="en-GB"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GB" i="1">
                              <a:effectLst/>
                              <a:latin typeface="Cambria Math" panose="02040503050406030204" pitchFamily="18" charset="0"/>
                              <a:ea typeface="Calibri" panose="020F0502020204030204" pitchFamily="34" charset="0"/>
                              <a:cs typeface="Times New Roman" panose="02020603050405020304" pitchFamily="18" charset="0"/>
                            </a:rPr>
                          </m:ctrlPr>
                        </m:sSubPr>
                        <m:e>
                          <m:r>
                            <a:rPr lang="en-GB" i="1">
                              <a:effectLst/>
                              <a:latin typeface="Cambria Math" panose="02040503050406030204" pitchFamily="18" charset="0"/>
                              <a:ea typeface="Calibri" panose="020F0502020204030204" pitchFamily="34" charset="0"/>
                              <a:cs typeface="Times New Roman" panose="02020603050405020304" pitchFamily="18" charset="0"/>
                            </a:rPr>
                            <m:t>𝜔</m:t>
                          </m:r>
                        </m:e>
                        <m:sub>
                          <m:r>
                            <a:rPr lang="en-GB" i="1">
                              <a:effectLst/>
                              <a:latin typeface="Cambria Math" panose="02040503050406030204" pitchFamily="18" charset="0"/>
                              <a:ea typeface="Calibri" panose="020F0502020204030204" pitchFamily="34" charset="0"/>
                              <a:cs typeface="Times New Roman" panose="02020603050405020304" pitchFamily="18" charset="0"/>
                            </a:rPr>
                            <m:t>𝑐</m:t>
                          </m:r>
                        </m:sub>
                      </m:sSub>
                      <m:r>
                        <a:rPr lang="en-GB" b="0" i="1" smtClean="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GB" i="1">
                              <a:effectLst/>
                              <a:latin typeface="Cambria Math" panose="02040503050406030204" pitchFamily="18" charset="0"/>
                              <a:ea typeface="Calibri" panose="020F0502020204030204" pitchFamily="34" charset="0"/>
                              <a:cs typeface="Times New Roman" panose="02020603050405020304" pitchFamily="18" charset="0"/>
                            </a:rPr>
                          </m:ctrlPr>
                        </m:sSubPr>
                        <m:e>
                          <m:r>
                            <a:rPr lang="en-GB" i="1">
                              <a:effectLst/>
                              <a:latin typeface="Cambria Math" panose="02040503050406030204" pitchFamily="18" charset="0"/>
                              <a:ea typeface="Calibri" panose="020F0502020204030204" pitchFamily="34" charset="0"/>
                              <a:cs typeface="Times New Roman" panose="02020603050405020304" pitchFamily="18" charset="0"/>
                            </a:rPr>
                            <m:t>𝜔</m:t>
                          </m:r>
                        </m:e>
                        <m:sub>
                          <m:r>
                            <a:rPr lang="en-GB" i="1">
                              <a:effectLst/>
                              <a:latin typeface="Cambria Math" panose="02040503050406030204" pitchFamily="18" charset="0"/>
                              <a:ea typeface="Calibri" panose="020F0502020204030204" pitchFamily="34" charset="0"/>
                              <a:cs typeface="Times New Roman" panose="02020603050405020304" pitchFamily="18" charset="0"/>
                            </a:rPr>
                            <m:t>𝑚</m:t>
                          </m:r>
                        </m:sub>
                      </m:sSub>
                      <m:r>
                        <a:rPr lang="en-GB" i="1">
                          <a:effectLst/>
                          <a:latin typeface="Cambria Math" panose="02040503050406030204" pitchFamily="18" charset="0"/>
                          <a:ea typeface="Calibri" panose="020F0502020204030204" pitchFamily="34" charset="0"/>
                          <a:cs typeface="Times New Roman" panose="02020603050405020304" pitchFamily="18" charset="0"/>
                        </a:rPr>
                        <m:t>)</m:t>
                      </m:r>
                      <m:r>
                        <a:rPr lang="en-GB" i="1">
                          <a:effectLst/>
                          <a:latin typeface="Cambria Math" panose="02040503050406030204" pitchFamily="18" charset="0"/>
                          <a:ea typeface="Calibri" panose="020F0502020204030204" pitchFamily="34" charset="0"/>
                          <a:cs typeface="Times New Roman" panose="02020603050405020304" pitchFamily="18" charset="0"/>
                        </a:rPr>
                        <m:t>𝑡</m:t>
                      </m:r>
                    </m:oMath>
                  </m:oMathPara>
                </a14:m>
                <a:endParaRPr lang="en-GB" dirty="0">
                  <a:effectLst/>
                  <a:ea typeface="Calibri" panose="020F0502020204030204" pitchFamily="34" charset="0"/>
                  <a:cs typeface="Times New Roman" panose="02020603050405020304" pitchFamily="18" charset="0"/>
                </a:endParaRPr>
              </a:p>
              <a:p>
                <a:pPr algn="just">
                  <a:lnSpc>
                    <a:spcPct val="107000"/>
                  </a:lnSpc>
                  <a:spcAft>
                    <a:spcPts val="800"/>
                  </a:spcAft>
                </a:pPr>
                <a:r>
                  <a:rPr lang="en-GB" dirty="0" smtClean="0">
                    <a:effectLst/>
                    <a:ea typeface="Calibri" panose="020F0502020204030204" pitchFamily="34" charset="0"/>
                    <a:cs typeface="Times New Roman" panose="02020603050405020304" pitchFamily="18" charset="0"/>
                  </a:rPr>
                  <a:t>This equation shows that the carrier has been cancelled out, leaving only the two sidebands and the modulating frequencies. The tuning of the output transformer will remove the modulating frequencies from the output.</a:t>
                </a:r>
                <a:endParaRPr lang="en-GB" dirty="0" smtClean="0"/>
              </a:p>
              <a:p>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ea typeface="Calibri" panose="020F0502020204030204" pitchFamily="34" charset="0"/>
                              <a:cs typeface="Times New Roman" panose="02020603050405020304" pitchFamily="18" charset="0"/>
                            </a:rPr>
                          </m:ctrlPr>
                        </m:sSubPr>
                        <m:e>
                          <m:r>
                            <a:rPr lang="en-GB" i="1">
                              <a:latin typeface="Cambria Math" panose="02040503050406030204" pitchFamily="18" charset="0"/>
                              <a:ea typeface="Calibri" panose="020F0502020204030204" pitchFamily="34" charset="0"/>
                              <a:cs typeface="Times New Roman" panose="02020603050405020304" pitchFamily="18" charset="0"/>
                            </a:rPr>
                            <m:t>𝑣</m:t>
                          </m:r>
                        </m:e>
                        <m:sub>
                          <m:r>
                            <a:rPr lang="en-GB" i="1">
                              <a:latin typeface="Cambria Math" panose="02040503050406030204" pitchFamily="18" charset="0"/>
                              <a:ea typeface="Calibri" panose="020F0502020204030204" pitchFamily="34" charset="0"/>
                              <a:cs typeface="Times New Roman" panose="02020603050405020304" pitchFamily="18" charset="0"/>
                            </a:rPr>
                            <m:t>0</m:t>
                          </m:r>
                        </m:sub>
                      </m:sSub>
                      <m:r>
                        <a:rPr lang="en-GB" i="1">
                          <a:latin typeface="Cambria Math" panose="02040503050406030204" pitchFamily="18" charset="0"/>
                          <a:ea typeface="Calibri" panose="020F0502020204030204" pitchFamily="34" charset="0"/>
                          <a:cs typeface="Times New Roman" panose="02020603050405020304" pitchFamily="18" charset="0"/>
                        </a:rPr>
                        <m:t>=</m:t>
                      </m:r>
                      <m:r>
                        <a:rPr lang="en-GB" i="1">
                          <a:latin typeface="Cambria Math" panose="02040503050406030204" pitchFamily="18" charset="0"/>
                          <a:ea typeface="Calibri" panose="020F0502020204030204" pitchFamily="34" charset="0"/>
                          <a:cs typeface="Times New Roman" panose="02020603050405020304" pitchFamily="18" charset="0"/>
                        </a:rPr>
                        <m:t>2</m:t>
                      </m:r>
                      <m:r>
                        <a:rPr lang="en-GB" i="1">
                          <a:latin typeface="Cambria Math" panose="02040503050406030204" pitchFamily="18" charset="0"/>
                          <a:ea typeface="Calibri" panose="020F0502020204030204" pitchFamily="34" charset="0"/>
                          <a:cs typeface="Times New Roman" panose="02020603050405020304" pitchFamily="18" charset="0"/>
                        </a:rPr>
                        <m:t>𝑄𝑐𝑜𝑠</m:t>
                      </m:r>
                      <m:d>
                        <m:dPr>
                          <m:ctrlPr>
                            <a:rPr lang="en-GB" i="1">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GB" i="1">
                                  <a:latin typeface="Cambria Math" panose="02040503050406030204" pitchFamily="18" charset="0"/>
                                  <a:ea typeface="Calibri" panose="020F0502020204030204" pitchFamily="34" charset="0"/>
                                  <a:cs typeface="Times New Roman" panose="02020603050405020304" pitchFamily="18" charset="0"/>
                                </a:rPr>
                              </m:ctrlPr>
                            </m:sSubPr>
                            <m:e>
                              <m:r>
                                <a:rPr lang="en-GB" i="1">
                                  <a:latin typeface="Cambria Math" panose="02040503050406030204" pitchFamily="18" charset="0"/>
                                  <a:ea typeface="Calibri" panose="020F0502020204030204" pitchFamily="34" charset="0"/>
                                  <a:cs typeface="Times New Roman" panose="02020603050405020304" pitchFamily="18" charset="0"/>
                                </a:rPr>
                                <m:t>𝜔</m:t>
                              </m:r>
                            </m:e>
                            <m:sub>
                              <m:r>
                                <a:rPr lang="en-GB" i="1">
                                  <a:latin typeface="Cambria Math" panose="02040503050406030204" pitchFamily="18" charset="0"/>
                                  <a:ea typeface="Calibri" panose="020F0502020204030204" pitchFamily="34" charset="0"/>
                                  <a:cs typeface="Times New Roman" panose="02020603050405020304" pitchFamily="18" charset="0"/>
                                </a:rPr>
                                <m:t>𝑐</m:t>
                              </m:r>
                            </m:sub>
                          </m:sSub>
                          <m:r>
                            <a:rPr lang="en-GB" i="1">
                              <a:latin typeface="Cambria Math" panose="02040503050406030204" pitchFamily="18" charset="0"/>
                              <a:ea typeface="Calibri" panose="020F0502020204030204" pitchFamily="34" charset="0"/>
                              <a:cs typeface="Times New Roman" panose="02020603050405020304" pitchFamily="18" charset="0"/>
                            </a:rPr>
                            <m:t>−</m:t>
                          </m:r>
                          <m:sSub>
                            <m:sSubPr>
                              <m:ctrlPr>
                                <a:rPr lang="en-GB" i="1">
                                  <a:latin typeface="Cambria Math" panose="02040503050406030204" pitchFamily="18" charset="0"/>
                                  <a:ea typeface="Calibri" panose="020F0502020204030204" pitchFamily="34" charset="0"/>
                                  <a:cs typeface="Times New Roman" panose="02020603050405020304" pitchFamily="18" charset="0"/>
                                </a:rPr>
                              </m:ctrlPr>
                            </m:sSubPr>
                            <m:e>
                              <m:r>
                                <a:rPr lang="en-GB" i="1">
                                  <a:latin typeface="Cambria Math" panose="02040503050406030204" pitchFamily="18" charset="0"/>
                                  <a:ea typeface="Calibri" panose="020F0502020204030204" pitchFamily="34" charset="0"/>
                                  <a:cs typeface="Times New Roman" panose="02020603050405020304" pitchFamily="18" charset="0"/>
                                </a:rPr>
                                <m:t>𝜔</m:t>
                              </m:r>
                            </m:e>
                            <m:sub>
                              <m:r>
                                <a:rPr lang="en-GB" i="1">
                                  <a:latin typeface="Cambria Math" panose="02040503050406030204" pitchFamily="18" charset="0"/>
                                  <a:ea typeface="Calibri" panose="020F0502020204030204" pitchFamily="34" charset="0"/>
                                  <a:cs typeface="Times New Roman" panose="02020603050405020304" pitchFamily="18" charset="0"/>
                                </a:rPr>
                                <m:t>𝑚</m:t>
                              </m:r>
                            </m:sub>
                          </m:sSub>
                        </m:e>
                      </m:d>
                      <m:r>
                        <a:rPr lang="en-GB" i="1">
                          <a:latin typeface="Cambria Math" panose="02040503050406030204" pitchFamily="18" charset="0"/>
                          <a:ea typeface="Calibri" panose="020F0502020204030204" pitchFamily="34" charset="0"/>
                          <a:cs typeface="Times New Roman" panose="02020603050405020304" pitchFamily="18" charset="0"/>
                        </a:rPr>
                        <m:t>𝑡</m:t>
                      </m:r>
                      <m:r>
                        <a:rPr lang="en-GB" i="1">
                          <a:latin typeface="Cambria Math" panose="02040503050406030204" pitchFamily="18" charset="0"/>
                          <a:ea typeface="Calibri" panose="020F0502020204030204" pitchFamily="34" charset="0"/>
                          <a:cs typeface="Times New Roman" panose="02020603050405020304" pitchFamily="18" charset="0"/>
                        </a:rPr>
                        <m:t>−</m:t>
                      </m:r>
                      <m:r>
                        <a:rPr lang="en-GB" i="1">
                          <a:latin typeface="Cambria Math" panose="02040503050406030204" pitchFamily="18" charset="0"/>
                          <a:ea typeface="Calibri" panose="020F0502020204030204" pitchFamily="34" charset="0"/>
                          <a:cs typeface="Times New Roman" panose="02020603050405020304" pitchFamily="18" charset="0"/>
                        </a:rPr>
                        <m:t>2</m:t>
                      </m:r>
                      <m:r>
                        <a:rPr lang="en-GB" i="1">
                          <a:latin typeface="Cambria Math" panose="02040503050406030204" pitchFamily="18" charset="0"/>
                          <a:ea typeface="Calibri" panose="020F0502020204030204" pitchFamily="34" charset="0"/>
                          <a:cs typeface="Times New Roman" panose="02020603050405020304" pitchFamily="18" charset="0"/>
                        </a:rPr>
                        <m:t>𝑄𝑐𝑜𝑠</m:t>
                      </m:r>
                      <m:r>
                        <a:rPr lang="en-GB" i="1">
                          <a:latin typeface="Cambria Math" panose="02040503050406030204" pitchFamily="18" charset="0"/>
                          <a:ea typeface="Calibri" panose="020F0502020204030204" pitchFamily="34" charset="0"/>
                          <a:cs typeface="Times New Roman" panose="02020603050405020304" pitchFamily="18" charset="0"/>
                        </a:rPr>
                        <m:t>(</m:t>
                      </m:r>
                      <m:sSub>
                        <m:sSubPr>
                          <m:ctrlPr>
                            <a:rPr lang="en-GB" i="1">
                              <a:latin typeface="Cambria Math" panose="02040503050406030204" pitchFamily="18" charset="0"/>
                              <a:ea typeface="Calibri" panose="020F0502020204030204" pitchFamily="34" charset="0"/>
                              <a:cs typeface="Times New Roman" panose="02020603050405020304" pitchFamily="18" charset="0"/>
                            </a:rPr>
                          </m:ctrlPr>
                        </m:sSubPr>
                        <m:e>
                          <m:r>
                            <a:rPr lang="en-GB" i="1">
                              <a:latin typeface="Cambria Math" panose="02040503050406030204" pitchFamily="18" charset="0"/>
                              <a:ea typeface="Calibri" panose="020F0502020204030204" pitchFamily="34" charset="0"/>
                              <a:cs typeface="Times New Roman" panose="02020603050405020304" pitchFamily="18" charset="0"/>
                            </a:rPr>
                            <m:t>𝜔</m:t>
                          </m:r>
                        </m:e>
                        <m:sub>
                          <m:r>
                            <a:rPr lang="en-GB" i="1">
                              <a:latin typeface="Cambria Math" panose="02040503050406030204" pitchFamily="18" charset="0"/>
                              <a:ea typeface="Calibri" panose="020F0502020204030204" pitchFamily="34" charset="0"/>
                              <a:cs typeface="Times New Roman" panose="02020603050405020304" pitchFamily="18" charset="0"/>
                            </a:rPr>
                            <m:t>𝑐</m:t>
                          </m:r>
                        </m:sub>
                      </m:sSub>
                      <m:r>
                        <a:rPr lang="en-GB" i="1">
                          <a:latin typeface="Cambria Math" panose="02040503050406030204" pitchFamily="18" charset="0"/>
                          <a:ea typeface="Calibri" panose="020F0502020204030204" pitchFamily="34" charset="0"/>
                          <a:cs typeface="Times New Roman" panose="02020603050405020304" pitchFamily="18" charset="0"/>
                        </a:rPr>
                        <m:t>+</m:t>
                      </m:r>
                      <m:sSub>
                        <m:sSubPr>
                          <m:ctrlPr>
                            <a:rPr lang="en-GB" i="1">
                              <a:latin typeface="Cambria Math" panose="02040503050406030204" pitchFamily="18" charset="0"/>
                              <a:ea typeface="Calibri" panose="020F0502020204030204" pitchFamily="34" charset="0"/>
                              <a:cs typeface="Times New Roman" panose="02020603050405020304" pitchFamily="18" charset="0"/>
                            </a:rPr>
                          </m:ctrlPr>
                        </m:sSubPr>
                        <m:e>
                          <m:r>
                            <a:rPr lang="en-GB" i="1">
                              <a:latin typeface="Cambria Math" panose="02040503050406030204" pitchFamily="18" charset="0"/>
                              <a:ea typeface="Calibri" panose="020F0502020204030204" pitchFamily="34" charset="0"/>
                              <a:cs typeface="Times New Roman" panose="02020603050405020304" pitchFamily="18" charset="0"/>
                            </a:rPr>
                            <m:t>𝜔</m:t>
                          </m:r>
                        </m:e>
                        <m:sub>
                          <m:r>
                            <a:rPr lang="en-GB" i="1">
                              <a:latin typeface="Cambria Math" panose="02040503050406030204" pitchFamily="18" charset="0"/>
                              <a:ea typeface="Calibri" panose="020F0502020204030204" pitchFamily="34" charset="0"/>
                              <a:cs typeface="Times New Roman" panose="02020603050405020304" pitchFamily="18" charset="0"/>
                            </a:rPr>
                            <m:t>𝑚</m:t>
                          </m:r>
                        </m:sub>
                      </m:sSub>
                      <m:r>
                        <a:rPr lang="en-GB" i="1">
                          <a:latin typeface="Cambria Math" panose="02040503050406030204" pitchFamily="18" charset="0"/>
                          <a:ea typeface="Calibri" panose="020F0502020204030204" pitchFamily="34" charset="0"/>
                          <a:cs typeface="Times New Roman" panose="02020603050405020304" pitchFamily="18" charset="0"/>
                        </a:rPr>
                        <m:t>)</m:t>
                      </m:r>
                      <m:r>
                        <a:rPr lang="en-GB" i="1">
                          <a:latin typeface="Cambria Math" panose="02040503050406030204" pitchFamily="18" charset="0"/>
                          <a:ea typeface="Calibri" panose="020F0502020204030204" pitchFamily="34" charset="0"/>
                          <a:cs typeface="Times New Roman" panose="02020603050405020304" pitchFamily="18" charset="0"/>
                        </a:rPr>
                        <m:t>𝑡</m:t>
                      </m:r>
                    </m:oMath>
                  </m:oMathPara>
                </a14:m>
                <a:endParaRPr lang="en-GB" dirty="0">
                  <a:ea typeface="Calibri" panose="020F0502020204030204" pitchFamily="34" charset="0"/>
                  <a:cs typeface="Times New Roman" panose="02020603050405020304" pitchFamily="18" charset="0"/>
                </a:endParaRPr>
              </a:p>
              <a:p>
                <a:endParaRPr lang="en-GB" sz="1600" dirty="0"/>
              </a:p>
            </p:txBody>
          </p:sp>
        </mc:Choice>
        <mc:Fallback xmlns="">
          <p:sp>
            <p:nvSpPr>
              <p:cNvPr id="3" name="TextBox 2"/>
              <p:cNvSpPr txBox="1">
                <a:spLocks noRot="1" noChangeAspect="1" noMove="1" noResize="1" noEditPoints="1" noAdjustHandles="1" noChangeArrowheads="1" noChangeShapeType="1" noTextEdit="1"/>
              </p:cNvSpPr>
              <p:nvPr/>
            </p:nvSpPr>
            <p:spPr>
              <a:xfrm>
                <a:off x="700100" y="1718310"/>
                <a:ext cx="11187100" cy="4545796"/>
              </a:xfrm>
              <a:prstGeom prst="rect">
                <a:avLst/>
              </a:prstGeom>
              <a:blipFill rotWithShape="0">
                <a:blip r:embed="rId3"/>
                <a:stretch>
                  <a:fillRect l="-490" t="-804" r="-436"/>
                </a:stretch>
              </a:blipFill>
            </p:spPr>
            <p:txBody>
              <a:bodyPr/>
              <a:lstStyle/>
              <a:p>
                <a:r>
                  <a:rPr lang="en-GB">
                    <a:noFill/>
                  </a:rPr>
                  <a:t> </a:t>
                </a:r>
              </a:p>
            </p:txBody>
          </p:sp>
        </mc:Fallback>
      </mc:AlternateContent>
    </p:spTree>
    <p:extLst>
      <p:ext uri="{BB962C8B-B14F-4D97-AF65-F5344CB8AC3E}">
        <p14:creationId xmlns:p14="http://schemas.microsoft.com/office/powerpoint/2010/main" val="94718591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BAB03E8-D71A-6742-D952-940DAD0553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950BAB44-A152-6BDB-A14E-D40A2EE8A6E7}"/>
              </a:ext>
            </a:extLst>
          </p:cNvPr>
          <p:cNvSpPr>
            <a:spLocks noGrp="1"/>
          </p:cNvSpPr>
          <p:nvPr>
            <p:ph type="title"/>
          </p:nvPr>
        </p:nvSpPr>
        <p:spPr>
          <a:xfrm>
            <a:off x="1936750" y="190500"/>
            <a:ext cx="9645650" cy="582930"/>
          </a:xfrm>
        </p:spPr>
        <p:txBody>
          <a:bodyPr/>
          <a:lstStyle/>
          <a:p>
            <a:r>
              <a:rPr lang="en-US" altLang="en-US" b="1" dirty="0">
                <a:sym typeface="+mn-ea"/>
              </a:rPr>
              <a:t>Amplitude Modulation</a:t>
            </a:r>
            <a:endParaRPr lang="en-US" altLang="en-US" b="1" dirty="0"/>
          </a:p>
        </p:txBody>
      </p:sp>
      <p:sp>
        <p:nvSpPr>
          <p:cNvPr id="4" name="Slide Number Placeholder 3">
            <a:extLst>
              <a:ext uri="{FF2B5EF4-FFF2-40B4-BE49-F238E27FC236}">
                <a16:creationId xmlns:a16="http://schemas.microsoft.com/office/drawing/2014/main" xmlns="" id="{411E6AE7-2AC3-7E37-DB69-D84BDC7F09A6}"/>
              </a:ext>
            </a:extLst>
          </p:cNvPr>
          <p:cNvSpPr>
            <a:spLocks noGrp="1"/>
          </p:cNvSpPr>
          <p:nvPr>
            <p:ph type="sldNum" sz="quarter" idx="12"/>
          </p:nvPr>
        </p:nvSpPr>
        <p:spPr>
          <a:xfrm>
            <a:off x="8737600" y="6410915"/>
            <a:ext cx="2844800" cy="476250"/>
          </a:xfrm>
        </p:spPr>
        <p:txBody>
          <a:bodyPr/>
          <a:lstStyle/>
          <a:p>
            <a:fld id="{50D97DBC-71BD-4B00-8F4D-DDC0A0D17A0C}" type="slidenum">
              <a:rPr lang="en-US" sz="1200" smtClean="0"/>
              <a:t>30</a:t>
            </a:fld>
            <a:endParaRPr lang="en-US" sz="1200" dirty="0"/>
          </a:p>
        </p:txBody>
      </p:sp>
      <p:sp>
        <p:nvSpPr>
          <p:cNvPr id="5" name="Date Placeholder 4">
            <a:extLst>
              <a:ext uri="{FF2B5EF4-FFF2-40B4-BE49-F238E27FC236}">
                <a16:creationId xmlns:a16="http://schemas.microsoft.com/office/drawing/2014/main" xmlns="" id="{DF7560E7-11C2-A9A6-1C5A-4ACA023506E9}"/>
              </a:ext>
            </a:extLst>
          </p:cNvPr>
          <p:cNvSpPr>
            <a:spLocks noGrp="1"/>
          </p:cNvSpPr>
          <p:nvPr>
            <p:ph type="dt" sz="half" idx="10"/>
          </p:nvPr>
        </p:nvSpPr>
        <p:spPr>
          <a:xfrm>
            <a:off x="609600" y="6410915"/>
            <a:ext cx="2844800" cy="476250"/>
          </a:xfrm>
        </p:spPr>
        <p:txBody>
          <a:bodyPr/>
          <a:lstStyle/>
          <a:p>
            <a:fld id="{F0B4034D-A911-A642-B8E1-BA081BB67D6F}" type="datetime1">
              <a:rPr lang="en-AU" sz="1200" smtClean="0"/>
              <a:t>16/02/2026</a:t>
            </a:fld>
            <a:endParaRPr lang="en-US" sz="1200" dirty="0"/>
          </a:p>
        </p:txBody>
      </p:sp>
      <p:sp>
        <p:nvSpPr>
          <p:cNvPr id="6" name="Footer Placeholder 5">
            <a:extLst>
              <a:ext uri="{FF2B5EF4-FFF2-40B4-BE49-F238E27FC236}">
                <a16:creationId xmlns:a16="http://schemas.microsoft.com/office/drawing/2014/main" xmlns="" id="{8E8524AE-7D65-83B7-4CF7-0A3FB2230F0F}"/>
              </a:ext>
            </a:extLst>
          </p:cNvPr>
          <p:cNvSpPr>
            <a:spLocks noGrp="1"/>
          </p:cNvSpPr>
          <p:nvPr>
            <p:ph type="ftr" sz="quarter" idx="11"/>
          </p:nvPr>
        </p:nvSpPr>
        <p:spPr>
          <a:xfrm>
            <a:off x="4165600" y="6410915"/>
            <a:ext cx="3860800" cy="476250"/>
          </a:xfrm>
        </p:spPr>
        <p:txBody>
          <a:bodyPr/>
          <a:lstStyle/>
          <a:p>
            <a:r>
              <a:rPr lang="en-US" sz="1200"/>
              <a:t>@Foez Ahmed, CSE, VU</a:t>
            </a:r>
          </a:p>
        </p:txBody>
      </p:sp>
      <p:sp>
        <p:nvSpPr>
          <p:cNvPr id="10" name="Content Placeholder 2">
            <a:extLst>
              <a:ext uri="{FF2B5EF4-FFF2-40B4-BE49-F238E27FC236}">
                <a16:creationId xmlns:a16="http://schemas.microsoft.com/office/drawing/2014/main" xmlns="" id="{31C54143-2024-8DB6-F060-F685A01F2BD5}"/>
              </a:ext>
            </a:extLst>
          </p:cNvPr>
          <p:cNvSpPr>
            <a:spLocks noGrp="1" noChangeAspect="1"/>
          </p:cNvSpPr>
          <p:nvPr>
            <p:ph idx="1"/>
          </p:nvPr>
        </p:nvSpPr>
        <p:spPr>
          <a:xfrm>
            <a:off x="874954" y="1017066"/>
            <a:ext cx="10431314" cy="476250"/>
          </a:xfrm>
        </p:spPr>
        <p:txBody>
          <a:bodyPr/>
          <a:lstStyle/>
          <a:p>
            <a:pPr>
              <a:buFont typeface="Wingdings" pitchFamily="2" charset="2"/>
              <a:buChar char="q"/>
            </a:pPr>
            <a:r>
              <a:rPr lang="en-US" altLang="en-US" sz="2400" b="1" dirty="0"/>
              <a:t>Methods of Suppressing SB: The Phase Shift Method</a:t>
            </a:r>
            <a:endParaRPr lang="en-US" altLang="en-US" sz="2400" dirty="0"/>
          </a:p>
        </p:txBody>
      </p:sp>
      <p:grpSp>
        <p:nvGrpSpPr>
          <p:cNvPr id="7" name="Group 6">
            <a:extLst>
              <a:ext uri="{FF2B5EF4-FFF2-40B4-BE49-F238E27FC236}">
                <a16:creationId xmlns:a16="http://schemas.microsoft.com/office/drawing/2014/main" xmlns="" id="{BD3E7BB2-6B2C-B9E1-8F0A-DEF7A5498D0E}"/>
              </a:ext>
            </a:extLst>
          </p:cNvPr>
          <p:cNvGrpSpPr/>
          <p:nvPr/>
        </p:nvGrpSpPr>
        <p:grpSpPr>
          <a:xfrm>
            <a:off x="1127394" y="1330235"/>
            <a:ext cx="9494488" cy="4947330"/>
            <a:chOff x="2660" y="1992"/>
            <a:chExt cx="13881" cy="7190"/>
          </a:xfrm>
        </p:grpSpPr>
        <p:pic>
          <p:nvPicPr>
            <p:cNvPr id="8" name="Picture 7">
              <a:extLst>
                <a:ext uri="{FF2B5EF4-FFF2-40B4-BE49-F238E27FC236}">
                  <a16:creationId xmlns:a16="http://schemas.microsoft.com/office/drawing/2014/main" xmlns="" id="{0010C776-AC8B-9821-40FA-21B098D9EB2B}"/>
                </a:ext>
              </a:extLst>
            </p:cNvPr>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2660" y="1992"/>
              <a:ext cx="13881" cy="6654"/>
            </a:xfrm>
            <a:prstGeom prst="rect">
              <a:avLst/>
            </a:prstGeom>
            <a:ln w="19050">
              <a:noFill/>
            </a:ln>
          </p:spPr>
        </p:pic>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xmlns="" id="{3DB0848C-CAFD-D8AB-4DAD-4B4A899F14B1}"/>
                    </a:ext>
                  </a:extLst>
                </p:cNvPr>
                <p:cNvSpPr/>
                <p:nvPr/>
              </p:nvSpPr>
              <p:spPr>
                <a:xfrm>
                  <a:off x="6737" y="8647"/>
                  <a:ext cx="3428" cy="53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1" i="1">
                                <a:solidFill>
                                  <a:srgbClr val="0070C0"/>
                                </a:solidFill>
                                <a:latin typeface="Cambria Math" panose="02040503050406030204" pitchFamily="18" charset="0"/>
                                <a:ea typeface="Cambria" panose="02040503050406030204" pitchFamily="18" charset="0"/>
                              </a:rPr>
                            </m:ctrlPr>
                          </m:sSubPr>
                          <m:e>
                            <m:r>
                              <a:rPr lang="en-US" b="1" i="1">
                                <a:solidFill>
                                  <a:srgbClr val="0070C0"/>
                                </a:solidFill>
                                <a:latin typeface="Cambria Math" panose="02040503050406030204" pitchFamily="18" charset="0"/>
                                <a:ea typeface="Cambria" panose="02040503050406030204" pitchFamily="18" charset="0"/>
                              </a:rPr>
                              <m:t>𝑽</m:t>
                            </m:r>
                          </m:e>
                          <m:sub>
                            <m:r>
                              <a:rPr lang="en-US" b="1" i="1">
                                <a:solidFill>
                                  <a:srgbClr val="0070C0"/>
                                </a:solidFill>
                                <a:latin typeface="Cambria Math" panose="02040503050406030204" pitchFamily="18" charset="0"/>
                                <a:ea typeface="Cambria" panose="02040503050406030204" pitchFamily="18" charset="0"/>
                              </a:rPr>
                              <m:t>𝒎</m:t>
                            </m:r>
                          </m:sub>
                        </m:sSub>
                        <m:r>
                          <a:rPr lang="en-US" b="1" i="1">
                            <a:solidFill>
                              <a:srgbClr val="0070C0"/>
                            </a:solidFill>
                            <a:latin typeface="Cambria Math" panose="02040503050406030204" pitchFamily="18" charset="0"/>
                            <a:ea typeface="Cambria" panose="02040503050406030204" pitchFamily="18" charset="0"/>
                          </a:rPr>
                          <m:t>𝒔𝒊𝒏</m:t>
                        </m:r>
                        <m:r>
                          <a:rPr lang="en-US" b="1" i="1">
                            <a:solidFill>
                              <a:srgbClr val="0070C0"/>
                            </a:solidFill>
                            <a:latin typeface="Cambria Math" panose="02040503050406030204" pitchFamily="18" charset="0"/>
                            <a:ea typeface="Cambria" panose="02040503050406030204" pitchFamily="18" charset="0"/>
                          </a:rPr>
                          <m:t>⁡(</m:t>
                        </m:r>
                        <m:sSub>
                          <m:sSubPr>
                            <m:ctrlPr>
                              <a:rPr lang="en-US" b="1" i="1">
                                <a:solidFill>
                                  <a:srgbClr val="0070C0"/>
                                </a:solidFill>
                                <a:latin typeface="Cambria Math" panose="02040503050406030204" pitchFamily="18" charset="0"/>
                                <a:ea typeface="Cambria" panose="02040503050406030204" pitchFamily="18" charset="0"/>
                              </a:rPr>
                            </m:ctrlPr>
                          </m:sSubPr>
                          <m:e>
                            <m:r>
                              <a:rPr lang="en-US" b="1" i="1">
                                <a:solidFill>
                                  <a:srgbClr val="0070C0"/>
                                </a:solidFill>
                                <a:latin typeface="Cambria Math" panose="02040503050406030204" pitchFamily="18" charset="0"/>
                                <a:ea typeface="Cambria Math" panose="02040503050406030204" pitchFamily="18" charset="0"/>
                              </a:rPr>
                              <m:t>𝝎</m:t>
                            </m:r>
                          </m:e>
                          <m:sub>
                            <m:r>
                              <a:rPr lang="en-US" b="1" i="1">
                                <a:solidFill>
                                  <a:srgbClr val="0070C0"/>
                                </a:solidFill>
                                <a:latin typeface="Cambria Math" panose="02040503050406030204" pitchFamily="18" charset="0"/>
                                <a:ea typeface="Cambria" panose="02040503050406030204" pitchFamily="18" charset="0"/>
                              </a:rPr>
                              <m:t>𝒎</m:t>
                            </m:r>
                          </m:sub>
                        </m:sSub>
                        <m:r>
                          <a:rPr lang="en-US" b="1" i="1">
                            <a:solidFill>
                              <a:srgbClr val="0070C0"/>
                            </a:solidFill>
                            <a:latin typeface="Cambria Math" panose="02040503050406030204" pitchFamily="18" charset="0"/>
                            <a:ea typeface="Cambria" panose="02040503050406030204" pitchFamily="18" charset="0"/>
                          </a:rPr>
                          <m:t>𝒕</m:t>
                        </m:r>
                        <m:r>
                          <a:rPr lang="en-US" b="1" i="1">
                            <a:solidFill>
                              <a:srgbClr val="0070C0"/>
                            </a:solidFill>
                            <a:latin typeface="Cambria Math" panose="02040503050406030204" pitchFamily="18" charset="0"/>
                            <a:ea typeface="Cambria" panose="02040503050406030204" pitchFamily="18" charset="0"/>
                          </a:rPr>
                          <m:t>+</m:t>
                        </m:r>
                        <m:r>
                          <a:rPr lang="en-US" b="1" i="1">
                            <a:solidFill>
                              <a:srgbClr val="0070C0"/>
                            </a:solidFill>
                            <a:latin typeface="Cambria Math" panose="02040503050406030204" pitchFamily="18" charset="0"/>
                            <a:ea typeface="Cambria" panose="02040503050406030204" pitchFamily="18" charset="0"/>
                          </a:rPr>
                          <m:t>𝟗𝟎</m:t>
                        </m:r>
                        <m:r>
                          <a:rPr lang="en-US" b="1" i="1">
                            <a:solidFill>
                              <a:srgbClr val="0070C0"/>
                            </a:solidFill>
                            <a:latin typeface="Cambria Math" panose="02040503050406030204" pitchFamily="18" charset="0"/>
                            <a:ea typeface="Cambria Math" panose="02040503050406030204" pitchFamily="18" charset="0"/>
                          </a:rPr>
                          <m:t>°</m:t>
                        </m:r>
                        <m:r>
                          <a:rPr lang="en-US" b="1" i="1">
                            <a:solidFill>
                              <a:srgbClr val="0070C0"/>
                            </a:solidFill>
                            <a:latin typeface="Cambria Math" panose="02040503050406030204" pitchFamily="18" charset="0"/>
                            <a:ea typeface="Cambria" panose="02040503050406030204" pitchFamily="18" charset="0"/>
                          </a:rPr>
                          <m:t>)</m:t>
                        </m:r>
                      </m:oMath>
                    </m:oMathPara>
                  </a14:m>
                  <a:endParaRPr lang="en-US" b="1" dirty="0">
                    <a:solidFill>
                      <a:srgbClr val="0070C0"/>
                    </a:solidFill>
                  </a:endParaRPr>
                </a:p>
              </p:txBody>
            </p:sp>
          </mc:Choice>
          <mc:Fallback xmlns="">
            <p:sp>
              <p:nvSpPr>
                <p:cNvPr id="25" name="Rectangle 24"/>
                <p:cNvSpPr>
                  <a:spLocks noRot="1" noChangeAspect="1" noMove="1" noResize="1" noEditPoints="1" noAdjustHandles="1" noChangeArrowheads="1" noChangeShapeType="1" noTextEdit="1"/>
                </p:cNvSpPr>
                <p:nvPr/>
              </p:nvSpPr>
              <p:spPr>
                <a:xfrm>
                  <a:off x="6737" y="8647"/>
                  <a:ext cx="3428" cy="535"/>
                </a:xfrm>
                <a:prstGeom prst="rect">
                  <a:avLst/>
                </a:prstGeom>
                <a:blipFill rotWithShape="1">
                  <a:blip r:embed="rId4"/>
                </a:blipFill>
              </p:spPr>
              <p:txBody>
                <a:bodyPr/>
                <a:lstStyle/>
                <a:p>
                  <a:r>
                    <a:rPr lang="en-US" altLang="en-US">
                      <a:noFill/>
                    </a:rPr>
                    <a:t> </a:t>
                  </a:r>
                </a:p>
              </p:txBody>
            </p:sp>
          </mc:Fallback>
        </mc:AlternateContent>
      </p:grpSp>
    </p:spTree>
    <p:extLst>
      <p:ext uri="{BB962C8B-B14F-4D97-AF65-F5344CB8AC3E}">
        <p14:creationId xmlns:p14="http://schemas.microsoft.com/office/powerpoint/2010/main" val="43447371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1B93753-AA72-4831-EA81-4706AE5CE2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3DA43DE1-3613-985E-9FBD-150F65E3956D}"/>
              </a:ext>
            </a:extLst>
          </p:cNvPr>
          <p:cNvSpPr>
            <a:spLocks noGrp="1"/>
          </p:cNvSpPr>
          <p:nvPr>
            <p:ph type="title"/>
          </p:nvPr>
        </p:nvSpPr>
        <p:spPr>
          <a:xfrm>
            <a:off x="1936750" y="190500"/>
            <a:ext cx="9645650" cy="582930"/>
          </a:xfrm>
        </p:spPr>
        <p:txBody>
          <a:bodyPr/>
          <a:lstStyle/>
          <a:p>
            <a:r>
              <a:rPr lang="en-US" altLang="en-US" b="1" dirty="0">
                <a:sym typeface="+mn-ea"/>
              </a:rPr>
              <a:t>Amplitude Modulation</a:t>
            </a:r>
            <a:endParaRPr lang="en-US" altLang="en-US" b="1" dirty="0"/>
          </a:p>
        </p:txBody>
      </p:sp>
      <p:sp>
        <p:nvSpPr>
          <p:cNvPr id="4" name="Slide Number Placeholder 3">
            <a:extLst>
              <a:ext uri="{FF2B5EF4-FFF2-40B4-BE49-F238E27FC236}">
                <a16:creationId xmlns:a16="http://schemas.microsoft.com/office/drawing/2014/main" xmlns="" id="{31483176-A43E-7A0D-E4EF-2A182BC830D0}"/>
              </a:ext>
            </a:extLst>
          </p:cNvPr>
          <p:cNvSpPr>
            <a:spLocks noGrp="1"/>
          </p:cNvSpPr>
          <p:nvPr>
            <p:ph type="sldNum" sz="quarter" idx="12"/>
          </p:nvPr>
        </p:nvSpPr>
        <p:spPr>
          <a:xfrm>
            <a:off x="8737600" y="6381750"/>
            <a:ext cx="2844800" cy="476250"/>
          </a:xfrm>
        </p:spPr>
        <p:txBody>
          <a:bodyPr/>
          <a:lstStyle/>
          <a:p>
            <a:fld id="{50D97DBC-71BD-4B00-8F4D-DDC0A0D17A0C}" type="slidenum">
              <a:rPr lang="en-US" sz="1200" smtClean="0"/>
              <a:t>31</a:t>
            </a:fld>
            <a:endParaRPr lang="en-US" sz="1200" dirty="0"/>
          </a:p>
        </p:txBody>
      </p:sp>
      <p:sp>
        <p:nvSpPr>
          <p:cNvPr id="5" name="Date Placeholder 4">
            <a:extLst>
              <a:ext uri="{FF2B5EF4-FFF2-40B4-BE49-F238E27FC236}">
                <a16:creationId xmlns:a16="http://schemas.microsoft.com/office/drawing/2014/main" xmlns="" id="{939E2948-9A20-95E9-F0FF-231B4AB0E425}"/>
              </a:ext>
            </a:extLst>
          </p:cNvPr>
          <p:cNvSpPr>
            <a:spLocks noGrp="1"/>
          </p:cNvSpPr>
          <p:nvPr>
            <p:ph type="dt" sz="half" idx="10"/>
          </p:nvPr>
        </p:nvSpPr>
        <p:spPr>
          <a:xfrm>
            <a:off x="609600" y="6381750"/>
            <a:ext cx="2844800" cy="476250"/>
          </a:xfrm>
        </p:spPr>
        <p:txBody>
          <a:bodyPr/>
          <a:lstStyle/>
          <a:p>
            <a:fld id="{F0B4034D-A911-A642-B8E1-BA081BB67D6F}" type="datetime1">
              <a:rPr lang="en-AU" sz="1200" smtClean="0"/>
              <a:t>16/02/2026</a:t>
            </a:fld>
            <a:endParaRPr lang="en-US" sz="1200" dirty="0"/>
          </a:p>
        </p:txBody>
      </p:sp>
      <p:sp>
        <p:nvSpPr>
          <p:cNvPr id="6" name="Footer Placeholder 5">
            <a:extLst>
              <a:ext uri="{FF2B5EF4-FFF2-40B4-BE49-F238E27FC236}">
                <a16:creationId xmlns:a16="http://schemas.microsoft.com/office/drawing/2014/main" xmlns="" id="{C14FD641-EE53-0C2E-E57B-0C7DE46038F8}"/>
              </a:ext>
            </a:extLst>
          </p:cNvPr>
          <p:cNvSpPr>
            <a:spLocks noGrp="1"/>
          </p:cNvSpPr>
          <p:nvPr>
            <p:ph type="ftr" sz="quarter" idx="11"/>
          </p:nvPr>
        </p:nvSpPr>
        <p:spPr>
          <a:xfrm>
            <a:off x="4165600" y="6381750"/>
            <a:ext cx="3860800" cy="476250"/>
          </a:xfrm>
        </p:spPr>
        <p:txBody>
          <a:bodyPr/>
          <a:lstStyle/>
          <a:p>
            <a:r>
              <a:rPr lang="en-US" sz="1200"/>
              <a:t>@Foez Ahmed, CSE, VU</a:t>
            </a:r>
          </a:p>
        </p:txBody>
      </p:sp>
      <p:sp>
        <p:nvSpPr>
          <p:cNvPr id="10" name="Content Placeholder 2">
            <a:extLst>
              <a:ext uri="{FF2B5EF4-FFF2-40B4-BE49-F238E27FC236}">
                <a16:creationId xmlns:a16="http://schemas.microsoft.com/office/drawing/2014/main" xmlns="" id="{F9CEC4D2-1A9E-F46E-2EAF-3434E73F75D4}"/>
              </a:ext>
            </a:extLst>
          </p:cNvPr>
          <p:cNvSpPr>
            <a:spLocks noGrp="1" noChangeAspect="1"/>
          </p:cNvSpPr>
          <p:nvPr>
            <p:ph idx="1"/>
          </p:nvPr>
        </p:nvSpPr>
        <p:spPr>
          <a:xfrm>
            <a:off x="874954" y="1017066"/>
            <a:ext cx="10431314" cy="476250"/>
          </a:xfrm>
        </p:spPr>
        <p:txBody>
          <a:bodyPr/>
          <a:lstStyle/>
          <a:p>
            <a:pPr>
              <a:buFont typeface="Wingdings" pitchFamily="2" charset="2"/>
              <a:buChar char="q"/>
            </a:pPr>
            <a:r>
              <a:rPr lang="en-US" altLang="en-US" sz="2400" b="1" dirty="0"/>
              <a:t>Methods of Suppressing SB: The Phase Shift Method</a:t>
            </a:r>
            <a:endParaRPr lang="en-US" altLang="en-US" sz="2400" dirty="0"/>
          </a:p>
        </p:txBody>
      </p:sp>
      <p:grpSp>
        <p:nvGrpSpPr>
          <p:cNvPr id="15" name="Group 14">
            <a:extLst>
              <a:ext uri="{FF2B5EF4-FFF2-40B4-BE49-F238E27FC236}">
                <a16:creationId xmlns:a16="http://schemas.microsoft.com/office/drawing/2014/main" xmlns="" id="{76DA6DC5-C9C4-BEDA-3E31-DF4BBE88D45A}"/>
              </a:ext>
            </a:extLst>
          </p:cNvPr>
          <p:cNvGrpSpPr/>
          <p:nvPr/>
        </p:nvGrpSpPr>
        <p:grpSpPr>
          <a:xfrm>
            <a:off x="4788115" y="1545832"/>
            <a:ext cx="7167482" cy="3934453"/>
            <a:chOff x="2660" y="1992"/>
            <a:chExt cx="13881" cy="7263"/>
          </a:xfrm>
        </p:grpSpPr>
        <p:pic>
          <p:nvPicPr>
            <p:cNvPr id="16" name="Picture 15">
              <a:extLst>
                <a:ext uri="{FF2B5EF4-FFF2-40B4-BE49-F238E27FC236}">
                  <a16:creationId xmlns:a16="http://schemas.microsoft.com/office/drawing/2014/main" xmlns="" id="{8709A14A-EDE2-34AE-2D68-243D7E70E6FC}"/>
                </a:ext>
              </a:extLst>
            </p:cNvPr>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2660" y="1992"/>
              <a:ext cx="13881" cy="6654"/>
            </a:xfrm>
            <a:prstGeom prst="rect">
              <a:avLst/>
            </a:prstGeom>
            <a:ln w="19050">
              <a:noFill/>
            </a:ln>
          </p:spPr>
        </p:pic>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xmlns="" id="{65D3903A-4DCD-41DE-B5C8-530E79CFBA2C}"/>
                    </a:ext>
                  </a:extLst>
                </p:cNvPr>
                <p:cNvSpPr/>
                <p:nvPr/>
              </p:nvSpPr>
              <p:spPr>
                <a:xfrm>
                  <a:off x="6216" y="8573"/>
                  <a:ext cx="4556" cy="68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1" i="1">
                                <a:solidFill>
                                  <a:srgbClr val="0070C0"/>
                                </a:solidFill>
                                <a:latin typeface="Cambria Math" panose="02040503050406030204" pitchFamily="18" charset="0"/>
                                <a:ea typeface="Cambria" panose="02040503050406030204" pitchFamily="18" charset="0"/>
                              </a:rPr>
                            </m:ctrlPr>
                          </m:sSubPr>
                          <m:e>
                            <m:r>
                              <a:rPr lang="en-US" b="1" i="1">
                                <a:solidFill>
                                  <a:srgbClr val="0070C0"/>
                                </a:solidFill>
                                <a:latin typeface="Cambria Math" panose="02040503050406030204" pitchFamily="18" charset="0"/>
                                <a:ea typeface="Cambria" panose="02040503050406030204" pitchFamily="18" charset="0"/>
                              </a:rPr>
                              <m:t>𝑽</m:t>
                            </m:r>
                          </m:e>
                          <m:sub>
                            <m:r>
                              <a:rPr lang="en-US" b="1" i="1">
                                <a:solidFill>
                                  <a:srgbClr val="0070C0"/>
                                </a:solidFill>
                                <a:latin typeface="Cambria Math" panose="02040503050406030204" pitchFamily="18" charset="0"/>
                                <a:ea typeface="Cambria" panose="02040503050406030204" pitchFamily="18" charset="0"/>
                              </a:rPr>
                              <m:t>𝒎</m:t>
                            </m:r>
                          </m:sub>
                        </m:sSub>
                        <m:r>
                          <a:rPr lang="en-US" b="1" i="1">
                            <a:solidFill>
                              <a:srgbClr val="0070C0"/>
                            </a:solidFill>
                            <a:latin typeface="Cambria Math" panose="02040503050406030204" pitchFamily="18" charset="0"/>
                            <a:ea typeface="Cambria" panose="02040503050406030204" pitchFamily="18" charset="0"/>
                          </a:rPr>
                          <m:t>𝒔𝒊𝒏</m:t>
                        </m:r>
                        <m:r>
                          <a:rPr lang="en-US" b="1" i="1">
                            <a:solidFill>
                              <a:srgbClr val="0070C0"/>
                            </a:solidFill>
                            <a:latin typeface="Cambria Math" panose="02040503050406030204" pitchFamily="18" charset="0"/>
                            <a:ea typeface="Cambria" panose="02040503050406030204" pitchFamily="18" charset="0"/>
                          </a:rPr>
                          <m:t>⁡(</m:t>
                        </m:r>
                        <m:sSub>
                          <m:sSubPr>
                            <m:ctrlPr>
                              <a:rPr lang="en-US" b="1" i="1">
                                <a:solidFill>
                                  <a:srgbClr val="0070C0"/>
                                </a:solidFill>
                                <a:latin typeface="Cambria Math" panose="02040503050406030204" pitchFamily="18" charset="0"/>
                                <a:ea typeface="Cambria" panose="02040503050406030204" pitchFamily="18" charset="0"/>
                              </a:rPr>
                            </m:ctrlPr>
                          </m:sSubPr>
                          <m:e>
                            <m:r>
                              <a:rPr lang="en-US" b="1" i="1">
                                <a:solidFill>
                                  <a:srgbClr val="0070C0"/>
                                </a:solidFill>
                                <a:latin typeface="Cambria Math" panose="02040503050406030204" pitchFamily="18" charset="0"/>
                                <a:ea typeface="Cambria Math" panose="02040503050406030204" pitchFamily="18" charset="0"/>
                              </a:rPr>
                              <m:t>𝝎</m:t>
                            </m:r>
                          </m:e>
                          <m:sub>
                            <m:r>
                              <a:rPr lang="en-US" b="1" i="1">
                                <a:solidFill>
                                  <a:srgbClr val="0070C0"/>
                                </a:solidFill>
                                <a:latin typeface="Cambria Math" panose="02040503050406030204" pitchFamily="18" charset="0"/>
                                <a:ea typeface="Cambria" panose="02040503050406030204" pitchFamily="18" charset="0"/>
                              </a:rPr>
                              <m:t>𝒎</m:t>
                            </m:r>
                          </m:sub>
                        </m:sSub>
                        <m:r>
                          <a:rPr lang="en-US" b="1" i="1">
                            <a:solidFill>
                              <a:srgbClr val="0070C0"/>
                            </a:solidFill>
                            <a:latin typeface="Cambria Math" panose="02040503050406030204" pitchFamily="18" charset="0"/>
                            <a:ea typeface="Cambria" panose="02040503050406030204" pitchFamily="18" charset="0"/>
                          </a:rPr>
                          <m:t>𝒕</m:t>
                        </m:r>
                        <m:r>
                          <a:rPr lang="en-US" b="1" i="1">
                            <a:solidFill>
                              <a:srgbClr val="0070C0"/>
                            </a:solidFill>
                            <a:latin typeface="Cambria Math" panose="02040503050406030204" pitchFamily="18" charset="0"/>
                            <a:ea typeface="Cambria" panose="02040503050406030204" pitchFamily="18" charset="0"/>
                          </a:rPr>
                          <m:t>+</m:t>
                        </m:r>
                        <m:r>
                          <a:rPr lang="en-US" b="1" i="1">
                            <a:solidFill>
                              <a:srgbClr val="0070C0"/>
                            </a:solidFill>
                            <a:latin typeface="Cambria Math" panose="02040503050406030204" pitchFamily="18" charset="0"/>
                            <a:ea typeface="Cambria" panose="02040503050406030204" pitchFamily="18" charset="0"/>
                          </a:rPr>
                          <m:t>𝟗𝟎</m:t>
                        </m:r>
                        <m:r>
                          <a:rPr lang="en-US" b="1" i="1">
                            <a:solidFill>
                              <a:srgbClr val="0070C0"/>
                            </a:solidFill>
                            <a:latin typeface="Cambria Math" panose="02040503050406030204" pitchFamily="18" charset="0"/>
                            <a:ea typeface="Cambria Math" panose="02040503050406030204" pitchFamily="18" charset="0"/>
                          </a:rPr>
                          <m:t>°</m:t>
                        </m:r>
                        <m:r>
                          <a:rPr lang="en-US" b="1" i="1">
                            <a:solidFill>
                              <a:srgbClr val="0070C0"/>
                            </a:solidFill>
                            <a:latin typeface="Cambria Math" panose="02040503050406030204" pitchFamily="18" charset="0"/>
                            <a:ea typeface="Cambria" panose="02040503050406030204" pitchFamily="18" charset="0"/>
                          </a:rPr>
                          <m:t>)</m:t>
                        </m:r>
                      </m:oMath>
                    </m:oMathPara>
                  </a14:m>
                  <a:endParaRPr lang="en-US" b="1" dirty="0">
                    <a:solidFill>
                      <a:srgbClr val="0070C0"/>
                    </a:solidFill>
                  </a:endParaRPr>
                </a:p>
              </p:txBody>
            </p:sp>
          </mc:Choice>
          <mc:Fallback xmlns="">
            <p:sp>
              <p:nvSpPr>
                <p:cNvPr id="17" name="Rectangle 16">
                  <a:extLst>
                    <a:ext uri="{FF2B5EF4-FFF2-40B4-BE49-F238E27FC236}">
                      <a16:creationId xmlns:a16="http://schemas.microsoft.com/office/drawing/2014/main" id="{65D3903A-4DCD-41DE-B5C8-530E79CFBA2C}"/>
                    </a:ext>
                  </a:extLst>
                </p:cNvPr>
                <p:cNvSpPr>
                  <a:spLocks noRot="1" noChangeAspect="1" noMove="1" noResize="1" noEditPoints="1" noAdjustHandles="1" noChangeArrowheads="1" noChangeShapeType="1" noTextEdit="1"/>
                </p:cNvSpPr>
                <p:nvPr/>
              </p:nvSpPr>
              <p:spPr>
                <a:xfrm>
                  <a:off x="6216" y="8573"/>
                  <a:ext cx="4556" cy="682"/>
                </a:xfrm>
                <a:prstGeom prst="rect">
                  <a:avLst/>
                </a:prstGeom>
                <a:blipFill>
                  <a:blip r:embed="rId6"/>
                  <a:stretch>
                    <a:fillRect b="-20000"/>
                  </a:stretch>
                </a:blipFill>
              </p:spPr>
              <p:txBody>
                <a:bodyPr/>
                <a:lstStyle/>
                <a:p>
                  <a:r>
                    <a:rPr lang="en-US">
                      <a:noFill/>
                    </a:rPr>
                    <a:t> </a:t>
                  </a:r>
                </a:p>
              </p:txBody>
            </p:sp>
          </mc:Fallback>
        </mc:AlternateContent>
      </p:grpSp>
      <mc:AlternateContent xmlns:mc="http://schemas.openxmlformats.org/markup-compatibility/2006">
        <mc:Choice xmlns:a14="http://schemas.microsoft.com/office/drawing/2010/main" Requires="a14">
          <p:sp>
            <p:nvSpPr>
              <p:cNvPr id="3" name="TextBox 2"/>
              <p:cNvSpPr txBox="1"/>
              <p:nvPr/>
            </p:nvSpPr>
            <p:spPr>
              <a:xfrm>
                <a:off x="87198" y="4611750"/>
                <a:ext cx="6861302" cy="6090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𝑚</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𝑐</m:t>
                          </m:r>
                        </m:sub>
                      </m:sSub>
                      <m:r>
                        <a:rPr lang="en-US" b="0" i="1" smtClean="0">
                          <a:latin typeface="Cambria Math" panose="02040503050406030204" pitchFamily="18" charset="0"/>
                        </a:rPr>
                        <m:t>𝑠𝑖𝑛</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𝑚</m:t>
                          </m:r>
                        </m:sub>
                      </m:sSub>
                      <m:r>
                        <a:rPr lang="en-US" b="0" i="1" smtClean="0">
                          <a:latin typeface="Cambria Math" panose="02040503050406030204" pitchFamily="18" charset="0"/>
                        </a:rPr>
                        <m:t>𝑡𝑐𝑜𝑠</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𝑐</m:t>
                          </m:r>
                        </m:sub>
                      </m:sSub>
                      <m:r>
                        <a:rPr lang="en-US" b="0" i="1" smtClean="0">
                          <a:latin typeface="Cambria Math" panose="02040503050406030204" pitchFamily="18" charset="0"/>
                        </a:rPr>
                        <m:t>𝑡</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𝑚</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𝑐</m:t>
                              </m:r>
                            </m:sub>
                          </m:sSub>
                        </m:num>
                        <m:den>
                          <m:r>
                            <a:rPr lang="en-US" b="0" i="1" smtClean="0">
                              <a:latin typeface="Cambria Math" panose="02040503050406030204" pitchFamily="18" charset="0"/>
                            </a:rPr>
                            <m:t>2</m:t>
                          </m:r>
                        </m:den>
                      </m:f>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𝑐</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𝑚</m:t>
                                  </m:r>
                                </m:sub>
                              </m:sSub>
                            </m:e>
                          </m:d>
                        </m:e>
                      </m:func>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𝑠𝑖𝑛</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rPr>
                                <m:t>𝑐</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rPr>
                                <m:t>𝑚</m:t>
                              </m:r>
                            </m:sub>
                          </m:sSub>
                        </m:e>
                      </m:d>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a:p>
            </p:txBody>
          </p:sp>
        </mc:Choice>
        <mc:Fallback>
          <p:sp>
            <p:nvSpPr>
              <p:cNvPr id="3" name="TextBox 2"/>
              <p:cNvSpPr txBox="1">
                <a:spLocks noRot="1" noChangeAspect="1" noMove="1" noResize="1" noEditPoints="1" noAdjustHandles="1" noChangeArrowheads="1" noChangeShapeType="1" noTextEdit="1"/>
              </p:cNvSpPr>
              <p:nvPr/>
            </p:nvSpPr>
            <p:spPr>
              <a:xfrm>
                <a:off x="87198" y="4611750"/>
                <a:ext cx="6861302" cy="609077"/>
              </a:xfrm>
              <a:prstGeom prst="rect">
                <a:avLst/>
              </a:prstGeom>
              <a:blipFill rotWithShape="0">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322730" y="2679141"/>
                <a:ext cx="6024282" cy="1477328"/>
              </a:xfrm>
              <a:prstGeom prst="rect">
                <a:avLst/>
              </a:prstGeom>
              <a:noFill/>
            </p:spPr>
            <p:txBody>
              <a:bodyPr wrap="square" rtlCol="0">
                <a:spAutoFit/>
              </a:bodyPr>
              <a:lstStyle/>
              <a:p>
                <a:r>
                  <a:rPr lang="en-US" dirty="0" smtClean="0"/>
                  <a:t>Let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𝑚</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𝑚</m:t>
                        </m:r>
                      </m:sub>
                    </m:sSub>
                    <m:r>
                      <a:rPr lang="en-US" b="0" i="1" smtClean="0">
                        <a:latin typeface="Cambria Math" panose="02040503050406030204" pitchFamily="18" charset="0"/>
                      </a:rPr>
                      <m:t>𝑠𝑖𝑛</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𝑚</m:t>
                        </m:r>
                      </m:sub>
                    </m:sSub>
                    <m:r>
                      <a:rPr lang="en-US" b="0" i="1" smtClean="0">
                        <a:latin typeface="Cambria Math" panose="02040503050406030204" pitchFamily="18" charset="0"/>
                      </a:rPr>
                      <m:t>𝑡</m:t>
                    </m:r>
                  </m:oMath>
                </a14:m>
                <a:r>
                  <a:rPr lang="en-US" dirty="0" smtClean="0"/>
                  <a:t> be the message </a:t>
                </a:r>
              </a:p>
              <a:p>
                <a:r>
                  <a:rPr lang="en-US" dirty="0" smtClean="0"/>
                  <a:t>and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𝑐</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𝑐</m:t>
                        </m:r>
                      </m:sub>
                    </m:sSub>
                    <m:r>
                      <a:rPr lang="en-US" b="0" i="1" smtClean="0">
                        <a:latin typeface="Cambria Math" panose="02040503050406030204" pitchFamily="18" charset="0"/>
                      </a:rPr>
                      <m:t>𝑠𝑖𝑛</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𝑐</m:t>
                        </m:r>
                      </m:sub>
                    </m:sSub>
                    <m:r>
                      <a:rPr lang="en-US" b="0" i="1" smtClean="0">
                        <a:latin typeface="Cambria Math" panose="02040503050406030204" pitchFamily="18" charset="0"/>
                      </a:rPr>
                      <m:t>𝑡</m:t>
                    </m:r>
                    <m:r>
                      <a:rPr lang="en-US" b="0" i="0" smtClean="0">
                        <a:latin typeface="Cambria Math" panose="02040503050406030204" pitchFamily="18" charset="0"/>
                      </a:rPr>
                      <m:t> </m:t>
                    </m:r>
                    <m:r>
                      <m:rPr>
                        <m:sty m:val="p"/>
                      </m:rPr>
                      <a:rPr lang="en-US" b="0" i="0" smtClean="0">
                        <a:latin typeface="Cambria Math" panose="02040503050406030204" pitchFamily="18" charset="0"/>
                      </a:rPr>
                      <m:t>be</m:t>
                    </m:r>
                    <m:r>
                      <a:rPr lang="en-US" b="0" i="0" smtClean="0">
                        <a:latin typeface="Cambria Math" panose="02040503050406030204" pitchFamily="18" charset="0"/>
                      </a:rPr>
                      <m:t> </m:t>
                    </m:r>
                    <m:r>
                      <m:rPr>
                        <m:sty m:val="p"/>
                      </m:rPr>
                      <a:rPr lang="en-US" b="0" i="0" smtClean="0">
                        <a:latin typeface="Cambria Math" panose="02040503050406030204" pitchFamily="18" charset="0"/>
                      </a:rPr>
                      <m:t>the</m:t>
                    </m:r>
                    <m:r>
                      <a:rPr lang="en-US" b="0" i="0" smtClean="0">
                        <a:latin typeface="Cambria Math" panose="02040503050406030204" pitchFamily="18" charset="0"/>
                      </a:rPr>
                      <m:t> </m:t>
                    </m:r>
                    <m:r>
                      <m:rPr>
                        <m:sty m:val="p"/>
                      </m:rPr>
                      <a:rPr lang="en-US" b="0" i="0" smtClean="0">
                        <a:latin typeface="Cambria Math" panose="02040503050406030204" pitchFamily="18" charset="0"/>
                      </a:rPr>
                      <m:t>carrier</m:t>
                    </m:r>
                    <m:r>
                      <a:rPr lang="en-US" b="0" i="0" smtClean="0">
                        <a:latin typeface="Cambria Math" panose="02040503050406030204" pitchFamily="18" charset="0"/>
                      </a:rPr>
                      <m:t>. </m:t>
                    </m:r>
                  </m:oMath>
                </a14:m>
                <a:endParaRPr lang="en-US" b="0" i="0" dirty="0" smtClean="0">
                  <a:latin typeface="Cambria Math" panose="02040503050406030204" pitchFamily="18" charset="0"/>
                </a:endParaRPr>
              </a:p>
              <a:p>
                <a14:m>
                  <m:oMath xmlns:m="http://schemas.openxmlformats.org/officeDocument/2006/math">
                    <m:r>
                      <m:rPr>
                        <m:sty m:val="p"/>
                      </m:rPr>
                      <a:rPr lang="en-US" b="0" i="0" smtClean="0">
                        <a:latin typeface="Cambria Math" panose="02040503050406030204" pitchFamily="18" charset="0"/>
                      </a:rPr>
                      <m:t>The</m:t>
                    </m:r>
                    <m:r>
                      <a:rPr lang="en-US" b="0" i="0" smtClean="0">
                        <a:latin typeface="Cambria Math" panose="02040503050406030204" pitchFamily="18" charset="0"/>
                      </a:rPr>
                      <m:t> </m:t>
                    </m:r>
                    <m:r>
                      <a:rPr lang="en-US" b="0" i="0" smtClean="0">
                        <a:latin typeface="Cambria Math" panose="02040503050406030204" pitchFamily="18" charset="0"/>
                      </a:rPr>
                      <m:t>90</m:t>
                    </m:r>
                    <m:r>
                      <a:rPr lang="en-US" b="0" i="1" smtClean="0">
                        <a:latin typeface="Cambria Math" panose="02040503050406030204" pitchFamily="18" charset="0"/>
                        <a:ea typeface="Cambria Math" panose="02040503050406030204" pitchFamily="18" charset="0"/>
                      </a:rPr>
                      <m:t>° </m:t>
                    </m:r>
                  </m:oMath>
                </a14:m>
                <a:r>
                  <a:rPr lang="en-US" dirty="0" smtClean="0"/>
                  <a:t>phase shifted version of them are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𝑚</m:t>
                        </m:r>
                      </m:sub>
                    </m:sSub>
                    <m:r>
                      <a:rPr lang="en-US" b="0" i="1" smtClean="0">
                        <a:latin typeface="Cambria Math" panose="02040503050406030204" pitchFamily="18" charset="0"/>
                      </a:rPr>
                      <m:t>𝑐𝑜𝑠</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rPr>
                          <m:t>𝑚</m:t>
                        </m:r>
                      </m:sub>
                    </m:sSub>
                    <m:r>
                      <a:rPr lang="en-US" i="1">
                        <a:latin typeface="Cambria Math" panose="02040503050406030204" pitchFamily="18" charset="0"/>
                      </a:rPr>
                      <m:t>𝑡</m:t>
                    </m:r>
                  </m:oMath>
                </a14:m>
                <a:r>
                  <a:rPr lang="en-US" dirty="0"/>
                  <a:t> </a:t>
                </a:r>
                <a:r>
                  <a:rPr lang="en-US" dirty="0" smtClean="0"/>
                  <a:t>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𝑐</m:t>
                        </m:r>
                      </m:sub>
                    </m:sSub>
                    <m:r>
                      <a:rPr lang="en-US" b="0" i="1" smtClean="0">
                        <a:latin typeface="Cambria Math" panose="02040503050406030204" pitchFamily="18" charset="0"/>
                      </a:rPr>
                      <m:t>𝑐𝑜𝑠</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rPr>
                          <m:t>𝑐</m:t>
                        </m:r>
                      </m:sub>
                    </m:sSub>
                    <m:r>
                      <a:rPr lang="en-US" i="1">
                        <a:latin typeface="Cambria Math" panose="02040503050406030204" pitchFamily="18" charset="0"/>
                      </a:rPr>
                      <m:t>𝑡</m:t>
                    </m:r>
                    <m:r>
                      <a:rPr lang="en-US">
                        <a:latin typeface="Cambria Math" panose="02040503050406030204" pitchFamily="18" charset="0"/>
                      </a:rPr>
                      <m:t> </m:t>
                    </m:r>
                  </m:oMath>
                </a14:m>
                <a:r>
                  <a:rPr lang="en-US" dirty="0" smtClean="0"/>
                  <a:t>respectively. The output of the balanced modulator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1</m:t>
                        </m:r>
                      </m:sub>
                    </m:sSub>
                  </m:oMath>
                </a14:m>
                <a:r>
                  <a:rPr lang="en-US" dirty="0" smtClean="0"/>
                  <a:t> is given by, </a:t>
                </a:r>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322730" y="2679141"/>
                <a:ext cx="6024282" cy="1477328"/>
              </a:xfrm>
              <a:prstGeom prst="rect">
                <a:avLst/>
              </a:prstGeom>
              <a:blipFill>
                <a:blip r:embed="rId8"/>
                <a:stretch>
                  <a:fillRect l="-911" t="-2058" b="-5350"/>
                </a:stretch>
              </a:blipFill>
            </p:spPr>
            <p:txBody>
              <a:bodyPr/>
              <a:lstStyle/>
              <a:p>
                <a:r>
                  <a:rPr lang="en-US">
                    <a:noFill/>
                  </a:rPr>
                  <a:t> </a:t>
                </a:r>
              </a:p>
            </p:txBody>
          </p:sp>
        </mc:Fallback>
      </mc:AlternateContent>
    </p:spTree>
    <p:extLst>
      <p:ext uri="{BB962C8B-B14F-4D97-AF65-F5344CB8AC3E}">
        <p14:creationId xmlns:p14="http://schemas.microsoft.com/office/powerpoint/2010/main" val="349881020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0C4D809-966A-AA17-7F65-EBA2DAE720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8956EF46-72F2-8626-EFE8-330F6A6B8E3C}"/>
              </a:ext>
            </a:extLst>
          </p:cNvPr>
          <p:cNvSpPr>
            <a:spLocks noGrp="1"/>
          </p:cNvSpPr>
          <p:nvPr>
            <p:ph type="title"/>
          </p:nvPr>
        </p:nvSpPr>
        <p:spPr>
          <a:xfrm>
            <a:off x="1936750" y="190500"/>
            <a:ext cx="9645650" cy="582930"/>
          </a:xfrm>
        </p:spPr>
        <p:txBody>
          <a:bodyPr/>
          <a:lstStyle/>
          <a:p>
            <a:r>
              <a:rPr lang="en-US" altLang="en-US" b="1" dirty="0">
                <a:sym typeface="+mn-ea"/>
              </a:rPr>
              <a:t>Amplitude Modulation</a:t>
            </a:r>
            <a:endParaRPr lang="en-US" altLang="en-US" b="1" dirty="0"/>
          </a:p>
        </p:txBody>
      </p:sp>
      <p:sp>
        <p:nvSpPr>
          <p:cNvPr id="4" name="Slide Number Placeholder 3">
            <a:extLst>
              <a:ext uri="{FF2B5EF4-FFF2-40B4-BE49-F238E27FC236}">
                <a16:creationId xmlns:a16="http://schemas.microsoft.com/office/drawing/2014/main" xmlns="" id="{70601B62-90CB-B56F-4528-284AC1E6980A}"/>
              </a:ext>
            </a:extLst>
          </p:cNvPr>
          <p:cNvSpPr>
            <a:spLocks noGrp="1"/>
          </p:cNvSpPr>
          <p:nvPr>
            <p:ph type="sldNum" sz="quarter" idx="12"/>
          </p:nvPr>
        </p:nvSpPr>
        <p:spPr/>
        <p:txBody>
          <a:bodyPr/>
          <a:lstStyle/>
          <a:p>
            <a:fld id="{50D97DBC-71BD-4B00-8F4D-DDC0A0D17A0C}" type="slidenum">
              <a:rPr lang="en-US" smtClean="0"/>
              <a:t>32</a:t>
            </a:fld>
            <a:endParaRPr lang="en-US" dirty="0"/>
          </a:p>
        </p:txBody>
      </p:sp>
      <p:sp>
        <p:nvSpPr>
          <p:cNvPr id="5" name="Date Placeholder 4">
            <a:extLst>
              <a:ext uri="{FF2B5EF4-FFF2-40B4-BE49-F238E27FC236}">
                <a16:creationId xmlns:a16="http://schemas.microsoft.com/office/drawing/2014/main" xmlns="" id="{3297694C-00D6-CFBE-7174-B1E46CA75724}"/>
              </a:ext>
            </a:extLst>
          </p:cNvPr>
          <p:cNvSpPr>
            <a:spLocks noGrp="1"/>
          </p:cNvSpPr>
          <p:nvPr>
            <p:ph type="dt" sz="half" idx="10"/>
          </p:nvPr>
        </p:nvSpPr>
        <p:spPr/>
        <p:txBody>
          <a:bodyPr/>
          <a:lstStyle/>
          <a:p>
            <a:fld id="{F0B4034D-A911-A642-B8E1-BA081BB67D6F}" type="datetime1">
              <a:rPr lang="en-AU" smtClean="0"/>
              <a:t>16/02/2026</a:t>
            </a:fld>
            <a:endParaRPr lang="en-US" dirty="0"/>
          </a:p>
        </p:txBody>
      </p:sp>
      <p:sp>
        <p:nvSpPr>
          <p:cNvPr id="6" name="Footer Placeholder 5">
            <a:extLst>
              <a:ext uri="{FF2B5EF4-FFF2-40B4-BE49-F238E27FC236}">
                <a16:creationId xmlns:a16="http://schemas.microsoft.com/office/drawing/2014/main" xmlns="" id="{CF96CC9F-BB5E-31CD-7F40-494500E99565}"/>
              </a:ext>
            </a:extLst>
          </p:cNvPr>
          <p:cNvSpPr>
            <a:spLocks noGrp="1"/>
          </p:cNvSpPr>
          <p:nvPr>
            <p:ph type="ftr" sz="quarter" idx="11"/>
          </p:nvPr>
        </p:nvSpPr>
        <p:spPr/>
        <p:txBody>
          <a:bodyPr/>
          <a:lstStyle/>
          <a:p>
            <a:r>
              <a:rPr lang="en-US"/>
              <a:t>@Foez Ahmed, CSE, VU</a:t>
            </a:r>
          </a:p>
        </p:txBody>
      </p:sp>
      <p:sp>
        <p:nvSpPr>
          <p:cNvPr id="10" name="Content Placeholder 2">
            <a:extLst>
              <a:ext uri="{FF2B5EF4-FFF2-40B4-BE49-F238E27FC236}">
                <a16:creationId xmlns:a16="http://schemas.microsoft.com/office/drawing/2014/main" xmlns="" id="{E100337E-3AA3-C30A-74C3-0A0D75D3BBDB}"/>
              </a:ext>
            </a:extLst>
          </p:cNvPr>
          <p:cNvSpPr>
            <a:spLocks noGrp="1" noChangeAspect="1"/>
          </p:cNvSpPr>
          <p:nvPr>
            <p:ph idx="1"/>
          </p:nvPr>
        </p:nvSpPr>
        <p:spPr>
          <a:xfrm>
            <a:off x="874954" y="1017066"/>
            <a:ext cx="10431314" cy="476250"/>
          </a:xfrm>
        </p:spPr>
        <p:txBody>
          <a:bodyPr/>
          <a:lstStyle/>
          <a:p>
            <a:pPr>
              <a:buFont typeface="Wingdings" pitchFamily="2" charset="2"/>
              <a:buChar char="q"/>
            </a:pPr>
            <a:r>
              <a:rPr lang="en-US" altLang="en-US" sz="2400" b="1" dirty="0"/>
              <a:t>Methods of Suppressing SB: The Phase Shift Method</a:t>
            </a:r>
            <a:endParaRPr lang="en-US" altLang="en-US" sz="2400" dirty="0"/>
          </a:p>
        </p:txBody>
      </p:sp>
      <mc:AlternateContent xmlns:mc="http://schemas.openxmlformats.org/markup-compatibility/2006" xmlns:a14="http://schemas.microsoft.com/office/drawing/2010/main">
        <mc:Choice Requires="a14">
          <p:sp>
            <p:nvSpPr>
              <p:cNvPr id="7" name="TextBox 6"/>
              <p:cNvSpPr txBox="1"/>
              <p:nvPr/>
            </p:nvSpPr>
            <p:spPr>
              <a:xfrm>
                <a:off x="2087105" y="1493316"/>
                <a:ext cx="8072895" cy="5262531"/>
              </a:xfrm>
              <a:prstGeom prst="rect">
                <a:avLst/>
              </a:prstGeom>
              <a:noFill/>
            </p:spPr>
            <p:txBody>
              <a:bodyPr wrap="square" rtlCol="0">
                <a:spAutoFit/>
              </a:bodyPr>
              <a:lstStyle/>
              <a:p>
                <a:pPr>
                  <a:lnSpc>
                    <a:spcPct val="150000"/>
                  </a:lnSpc>
                </a:pPr>
                <a:r>
                  <a:rPr lang="en-US" sz="2000" dirty="0" smtClean="0"/>
                  <a:t>The output of the balanced modulator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𝑀</m:t>
                        </m:r>
                      </m:e>
                      <m:sub>
                        <m:r>
                          <a:rPr lang="en-US" sz="2000" b="0" i="1" smtClean="0">
                            <a:latin typeface="Cambria Math" panose="02040503050406030204" pitchFamily="18" charset="0"/>
                          </a:rPr>
                          <m:t>2</m:t>
                        </m:r>
                      </m:sub>
                    </m:sSub>
                  </m:oMath>
                </a14:m>
                <a:r>
                  <a:rPr lang="en-US" sz="2000" dirty="0" smtClean="0"/>
                  <a:t> is given by,</a:t>
                </a:r>
              </a:p>
              <a:p>
                <a:pPr>
                  <a:lnSpc>
                    <a:spcPct val="150000"/>
                  </a:lnSpc>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𝑚</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𝑐</m:t>
                          </m:r>
                        </m:sub>
                      </m:sSub>
                      <m:r>
                        <a:rPr lang="en-US" sz="2000" b="0" i="1" smtClean="0">
                          <a:latin typeface="Cambria Math" panose="02040503050406030204" pitchFamily="18" charset="0"/>
                        </a:rPr>
                        <m:t>𝑐𝑜𝑠</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𝑚</m:t>
                          </m:r>
                        </m:sub>
                      </m:sSub>
                      <m:r>
                        <a:rPr lang="en-US" sz="2000" b="0" i="1" smtClean="0">
                          <a:latin typeface="Cambria Math" panose="02040503050406030204" pitchFamily="18" charset="0"/>
                        </a:rPr>
                        <m:t>𝑡𝑠𝑖𝑛</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𝑐</m:t>
                          </m:r>
                        </m:sub>
                      </m:sSub>
                      <m:r>
                        <a:rPr lang="en-US" sz="2000" b="0" i="1" smtClean="0">
                          <a:latin typeface="Cambria Math" panose="02040503050406030204" pitchFamily="18" charset="0"/>
                        </a:rPr>
                        <m:t>𝑡</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𝑚</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𝑐</m:t>
                              </m:r>
                            </m:sub>
                          </m:sSub>
                        </m:num>
                        <m:den>
                          <m:r>
                            <a:rPr lang="en-US" sz="2000" b="0" i="1" smtClean="0">
                              <a:latin typeface="Cambria Math" panose="02040503050406030204" pitchFamily="18" charset="0"/>
                            </a:rPr>
                            <m:t>2</m:t>
                          </m:r>
                        </m:den>
                      </m:f>
                      <m:d>
                        <m:dPr>
                          <m:ctrlPr>
                            <a:rPr lang="en-US" sz="2000" b="0" i="1" smtClean="0">
                              <a:latin typeface="Cambria Math" panose="02040503050406030204" pitchFamily="18" charset="0"/>
                            </a:rPr>
                          </m:ctrlPr>
                        </m:dPr>
                        <m:e>
                          <m:func>
                            <m:funcPr>
                              <m:ctrlPr>
                                <a:rPr lang="en-US" sz="2000" i="1">
                                  <a:latin typeface="Cambria Math" panose="02040503050406030204" pitchFamily="18" charset="0"/>
                                </a:rPr>
                              </m:ctrlPr>
                            </m:funcPr>
                            <m:fName>
                              <m:r>
                                <m:rPr>
                                  <m:sty m:val="p"/>
                                </m:rPr>
                                <a:rPr lang="en-US" sz="2000">
                                  <a:latin typeface="Cambria Math" panose="02040503050406030204" pitchFamily="18" charset="0"/>
                                </a:rPr>
                                <m:t>sin</m:t>
                              </m:r>
                            </m:fName>
                            <m:e>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rPr>
                                        <m:t>𝑐</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rPr>
                                        <m:t>𝑚</m:t>
                                      </m:r>
                                    </m:sub>
                                  </m:sSub>
                                </m:e>
                              </m:d>
                            </m:e>
                          </m:func>
                          <m:r>
                            <a:rPr lang="en-US" sz="2000" i="1">
                              <a:latin typeface="Cambria Math" panose="02040503050406030204" pitchFamily="18" charset="0"/>
                            </a:rPr>
                            <m:t>𝑡</m:t>
                          </m:r>
                          <m:r>
                            <a:rPr lang="en-US" sz="2000" b="0" i="1" smtClean="0">
                              <a:latin typeface="Cambria Math" panose="02040503050406030204" pitchFamily="18" charset="0"/>
                            </a:rPr>
                            <m:t>−</m:t>
                          </m:r>
                          <m:r>
                            <a:rPr lang="en-US" sz="2000" i="1">
                              <a:latin typeface="Cambria Math" panose="02040503050406030204" pitchFamily="18" charset="0"/>
                            </a:rPr>
                            <m:t>𝑠𝑖𝑛</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rPr>
                                    <m:t>𝑐</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rPr>
                                    <m:t>𝑚</m:t>
                                  </m:r>
                                </m:sub>
                              </m:sSub>
                            </m:e>
                          </m:d>
                          <m:r>
                            <a:rPr lang="en-US" sz="2000" i="1">
                              <a:latin typeface="Cambria Math" panose="02040503050406030204" pitchFamily="18" charset="0"/>
                            </a:rPr>
                            <m:t>𝑡</m:t>
                          </m:r>
                        </m:e>
                      </m:d>
                    </m:oMath>
                  </m:oMathPara>
                </a14:m>
                <a:endParaRPr lang="en-US" sz="2000" dirty="0" smtClean="0"/>
              </a:p>
              <a:p>
                <a:pPr>
                  <a:lnSpc>
                    <a:spcPct val="150000"/>
                  </a:lnSpc>
                </a:pPr>
                <a:r>
                  <a:rPr lang="en-US" sz="2000" dirty="0" smtClean="0"/>
                  <a:t>The output of the adder is </a:t>
                </a:r>
              </a:p>
              <a:p>
                <a:pPr>
                  <a:lnSpc>
                    <a:spcPct val="150000"/>
                  </a:lnSpc>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𝑣</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1</m:t>
                          </m:r>
                        </m:sub>
                      </m:sSub>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𝑣</m:t>
                          </m:r>
                        </m:e>
                        <m:sub>
                          <m:r>
                            <a:rPr lang="en-US" sz="2000" b="0" i="1" smtClean="0">
                              <a:latin typeface="Cambria Math" panose="02040503050406030204" pitchFamily="18" charset="0"/>
                              <a:ea typeface="Cambria Math" panose="02040503050406030204" pitchFamily="18" charset="0"/>
                            </a:rPr>
                            <m:t>2</m:t>
                          </m:r>
                        </m:sub>
                      </m:sSub>
                    </m:oMath>
                  </m:oMathPara>
                </a14:m>
                <a:endParaRPr lang="en-US" sz="2000" dirty="0" smtClean="0"/>
              </a:p>
              <a:p>
                <a:pPr>
                  <a:lnSpc>
                    <a:spcPct val="150000"/>
                  </a:lnSpc>
                </a:pPr>
                <a:r>
                  <a:rPr lang="en-US" sz="2000" dirty="0" smtClean="0"/>
                  <a:t>In one case we have</a:t>
                </a:r>
              </a:p>
              <a:p>
                <a:pPr>
                  <a:lnSpc>
                    <a:spcPct val="150000"/>
                  </a:lnSpc>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𝑣</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𝑚</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𝑐</m:t>
                          </m:r>
                        </m:sub>
                      </m:sSub>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sin</m:t>
                          </m:r>
                        </m:fName>
                        <m:e>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𝑐</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𝑚</m:t>
                                  </m:r>
                                </m:sub>
                              </m:sSub>
                            </m:e>
                          </m:d>
                        </m:e>
                      </m:func>
                      <m:r>
                        <a:rPr lang="en-US" sz="2000" b="0" i="1" smtClean="0">
                          <a:latin typeface="Cambria Math" panose="02040503050406030204" pitchFamily="18" charset="0"/>
                        </a:rPr>
                        <m:t>𝑡</m:t>
                      </m:r>
                    </m:oMath>
                  </m:oMathPara>
                </a14:m>
                <a:endParaRPr lang="en-US" sz="2000" b="0" dirty="0" smtClean="0"/>
              </a:p>
              <a:p>
                <a:pPr>
                  <a:lnSpc>
                    <a:spcPct val="150000"/>
                  </a:lnSpc>
                </a:pPr>
                <a:r>
                  <a:rPr lang="en-US" sz="2000" dirty="0" smtClean="0"/>
                  <a:t>In the other case we have </a:t>
                </a:r>
              </a:p>
              <a:p>
                <a:pPr>
                  <a:lnSpc>
                    <a:spcPct val="150000"/>
                  </a:lnSpc>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𝑣</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𝑉</m:t>
                          </m:r>
                        </m:e>
                        <m:sub>
                          <m:r>
                            <a:rPr lang="en-US" sz="2000" i="1">
                              <a:latin typeface="Cambria Math" panose="02040503050406030204" pitchFamily="18" charset="0"/>
                            </a:rPr>
                            <m:t>𝑚</m:t>
                          </m:r>
                        </m:sub>
                      </m:sSub>
                      <m:sSub>
                        <m:sSubPr>
                          <m:ctrlPr>
                            <a:rPr lang="en-US" sz="2000" i="1">
                              <a:latin typeface="Cambria Math" panose="02040503050406030204" pitchFamily="18" charset="0"/>
                            </a:rPr>
                          </m:ctrlPr>
                        </m:sSubPr>
                        <m:e>
                          <m:r>
                            <a:rPr lang="en-US" sz="2000" i="1">
                              <a:latin typeface="Cambria Math" panose="02040503050406030204" pitchFamily="18" charset="0"/>
                            </a:rPr>
                            <m:t>𝑉</m:t>
                          </m:r>
                        </m:e>
                        <m:sub>
                          <m:r>
                            <a:rPr lang="en-US" sz="2000" i="1">
                              <a:latin typeface="Cambria Math" panose="02040503050406030204" pitchFamily="18" charset="0"/>
                            </a:rPr>
                            <m:t>𝑐</m:t>
                          </m:r>
                        </m:sub>
                      </m:sSub>
                      <m:func>
                        <m:funcPr>
                          <m:ctrlPr>
                            <a:rPr lang="en-US" sz="2000" i="1">
                              <a:latin typeface="Cambria Math" panose="02040503050406030204" pitchFamily="18" charset="0"/>
                            </a:rPr>
                          </m:ctrlPr>
                        </m:funcPr>
                        <m:fName>
                          <m:r>
                            <m:rPr>
                              <m:sty m:val="p"/>
                            </m:rPr>
                            <a:rPr lang="en-US" sz="2000">
                              <a:latin typeface="Cambria Math" panose="02040503050406030204" pitchFamily="18" charset="0"/>
                            </a:rPr>
                            <m:t>sin</m:t>
                          </m:r>
                        </m:fName>
                        <m:e>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rPr>
                                    <m:t>𝑐</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rPr>
                                    <m:t>𝑚</m:t>
                                  </m:r>
                                </m:sub>
                              </m:sSub>
                            </m:e>
                          </m:d>
                        </m:e>
                      </m:func>
                      <m:r>
                        <a:rPr lang="en-US" sz="2000" i="1">
                          <a:latin typeface="Cambria Math" panose="02040503050406030204" pitchFamily="18" charset="0"/>
                        </a:rPr>
                        <m:t>𝑡</m:t>
                      </m:r>
                    </m:oMath>
                  </m:oMathPara>
                </a14:m>
                <a:endParaRPr lang="en-US" sz="2000" dirty="0" smtClean="0"/>
              </a:p>
              <a:p>
                <a:pPr>
                  <a:lnSpc>
                    <a:spcPct val="150000"/>
                  </a:lnSpc>
                </a:pPr>
                <a:r>
                  <a:rPr lang="en-US" sz="2000" dirty="0" smtClean="0"/>
                  <a:t>Thus resulting in the generation of SSB signa</a:t>
                </a:r>
                <a:r>
                  <a:rPr lang="en-US" sz="2000" dirty="0"/>
                  <a:t>l</a:t>
                </a:r>
              </a:p>
              <a:p>
                <a:endParaRPr lang="en-US" sz="2000" dirty="0"/>
              </a:p>
              <a:p>
                <a:endParaRPr lang="en-US" sz="2000" dirty="0"/>
              </a:p>
            </p:txBody>
          </p:sp>
        </mc:Choice>
        <mc:Fallback xmlns="">
          <p:sp>
            <p:nvSpPr>
              <p:cNvPr id="7" name="TextBox 6"/>
              <p:cNvSpPr txBox="1">
                <a:spLocks noRot="1" noChangeAspect="1" noMove="1" noResize="1" noEditPoints="1" noAdjustHandles="1" noChangeArrowheads="1" noChangeShapeType="1" noTextEdit="1"/>
              </p:cNvSpPr>
              <p:nvPr/>
            </p:nvSpPr>
            <p:spPr>
              <a:xfrm>
                <a:off x="2087105" y="1493316"/>
                <a:ext cx="8072895" cy="5262531"/>
              </a:xfrm>
              <a:prstGeom prst="rect">
                <a:avLst/>
              </a:prstGeom>
              <a:blipFill>
                <a:blip r:embed="rId3"/>
                <a:stretch>
                  <a:fillRect l="-755"/>
                </a:stretch>
              </a:blipFill>
            </p:spPr>
            <p:txBody>
              <a:bodyPr/>
              <a:lstStyle/>
              <a:p>
                <a:r>
                  <a:rPr lang="en-US">
                    <a:noFill/>
                  </a:rPr>
                  <a:t> </a:t>
                </a:r>
              </a:p>
            </p:txBody>
          </p:sp>
        </mc:Fallback>
      </mc:AlternateContent>
    </p:spTree>
    <p:extLst>
      <p:ext uri="{BB962C8B-B14F-4D97-AF65-F5344CB8AC3E}">
        <p14:creationId xmlns:p14="http://schemas.microsoft.com/office/powerpoint/2010/main" val="240873935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97AA2F6-7743-5853-AC6B-924B40B7A3F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C199001E-5ADB-BC02-6C97-2A06E3244767}"/>
              </a:ext>
            </a:extLst>
          </p:cNvPr>
          <p:cNvSpPr>
            <a:spLocks noGrp="1"/>
          </p:cNvSpPr>
          <p:nvPr>
            <p:ph type="sldNum" sz="quarter" idx="12"/>
          </p:nvPr>
        </p:nvSpPr>
        <p:spPr/>
        <p:txBody>
          <a:bodyPr/>
          <a:lstStyle/>
          <a:p>
            <a:fld id="{50D97DBC-71BD-4B00-8F4D-DDC0A0D17A0C}" type="slidenum">
              <a:rPr lang="en-US" smtClean="0"/>
              <a:t>33</a:t>
            </a:fld>
            <a:endParaRPr lang="en-US"/>
          </a:p>
        </p:txBody>
      </p:sp>
      <p:sp>
        <p:nvSpPr>
          <p:cNvPr id="2" name="Date Placeholder 1">
            <a:extLst>
              <a:ext uri="{FF2B5EF4-FFF2-40B4-BE49-F238E27FC236}">
                <a16:creationId xmlns:a16="http://schemas.microsoft.com/office/drawing/2014/main" xmlns="" id="{9F659BEA-B3A6-434C-BD61-8D7688300CD8}"/>
              </a:ext>
            </a:extLst>
          </p:cNvPr>
          <p:cNvSpPr>
            <a:spLocks noGrp="1"/>
          </p:cNvSpPr>
          <p:nvPr>
            <p:ph type="dt" sz="half" idx="10"/>
          </p:nvPr>
        </p:nvSpPr>
        <p:spPr/>
        <p:txBody>
          <a:bodyPr/>
          <a:lstStyle/>
          <a:p>
            <a:fld id="{63924AE0-5F0B-B547-A5AE-5FE43781D4F8}" type="datetime1">
              <a:rPr lang="en-AU" smtClean="0"/>
              <a:t>16/02/2026</a:t>
            </a:fld>
            <a:endParaRPr lang="en-US"/>
          </a:p>
        </p:txBody>
      </p:sp>
      <p:sp>
        <p:nvSpPr>
          <p:cNvPr id="3" name="Footer Placeholder 2">
            <a:extLst>
              <a:ext uri="{FF2B5EF4-FFF2-40B4-BE49-F238E27FC236}">
                <a16:creationId xmlns:a16="http://schemas.microsoft.com/office/drawing/2014/main" xmlns="" id="{7EA6D4D5-F1DD-F66F-7A17-420106745006}"/>
              </a:ext>
            </a:extLst>
          </p:cNvPr>
          <p:cNvSpPr>
            <a:spLocks noGrp="1"/>
          </p:cNvSpPr>
          <p:nvPr>
            <p:ph type="ftr" sz="quarter" idx="11"/>
          </p:nvPr>
        </p:nvSpPr>
        <p:spPr/>
        <p:txBody>
          <a:bodyPr/>
          <a:lstStyle/>
          <a:p>
            <a:r>
              <a:rPr lang="en-US"/>
              <a:t>@Foez Ahmed, CSE, VU</a:t>
            </a:r>
          </a:p>
        </p:txBody>
      </p:sp>
      <p:sp>
        <p:nvSpPr>
          <p:cNvPr id="7" name="TextBox 6">
            <a:extLst>
              <a:ext uri="{FF2B5EF4-FFF2-40B4-BE49-F238E27FC236}">
                <a16:creationId xmlns:a16="http://schemas.microsoft.com/office/drawing/2014/main" xmlns="" id="{8B75E483-AE94-DB75-370A-829CFF2737A5}"/>
              </a:ext>
            </a:extLst>
          </p:cNvPr>
          <p:cNvSpPr txBox="1"/>
          <p:nvPr/>
        </p:nvSpPr>
        <p:spPr>
          <a:xfrm>
            <a:off x="1371988" y="3105834"/>
            <a:ext cx="9448023" cy="646331"/>
          </a:xfrm>
          <a:prstGeom prst="rect">
            <a:avLst/>
          </a:prstGeom>
          <a:noFill/>
        </p:spPr>
        <p:txBody>
          <a:bodyPr wrap="square" rtlCol="0">
            <a:spAutoFit/>
          </a:bodyPr>
          <a:lstStyle/>
          <a:p>
            <a:pPr algn="ctr"/>
            <a:r>
              <a:rPr lang="en-US" sz="3600" b="1" dirty="0">
                <a:latin typeface="Sylfaen" pitchFamily="18" charset="0"/>
                <a:ea typeface="Cambria" panose="02040503050406030204" pitchFamily="18" charset="0"/>
              </a:rPr>
              <a:t>Thank You All</a:t>
            </a:r>
            <a:endParaRPr lang="en-US" sz="3000" dirty="0">
              <a:latin typeface="Sylfaen" pitchFamily="18" charset="0"/>
              <a:ea typeface="Cambria" panose="02040503050406030204" pitchFamily="18" charset="0"/>
            </a:endParaRPr>
          </a:p>
        </p:txBody>
      </p:sp>
      <p:sp>
        <p:nvSpPr>
          <p:cNvPr id="10" name="Title 1">
            <a:extLst>
              <a:ext uri="{FF2B5EF4-FFF2-40B4-BE49-F238E27FC236}">
                <a16:creationId xmlns:a16="http://schemas.microsoft.com/office/drawing/2014/main" xmlns="" id="{99196AF8-C236-40CF-5ABB-E7A7A41B48B2}"/>
              </a:ext>
            </a:extLst>
          </p:cNvPr>
          <p:cNvSpPr>
            <a:spLocks noGrp="1"/>
          </p:cNvSpPr>
          <p:nvPr>
            <p:ph type="title"/>
          </p:nvPr>
        </p:nvSpPr>
        <p:spPr>
          <a:xfrm>
            <a:off x="1936750" y="190500"/>
            <a:ext cx="9645650" cy="582930"/>
          </a:xfrm>
        </p:spPr>
        <p:txBody>
          <a:bodyPr/>
          <a:lstStyle/>
          <a:p>
            <a:r>
              <a:rPr lang="en-US" altLang="en-US" b="1" dirty="0">
                <a:sym typeface="+mn-ea"/>
              </a:rPr>
              <a:t>Communication Engineering</a:t>
            </a:r>
            <a:endParaRPr lang="en-US" altLang="en-US" b="1" dirty="0"/>
          </a:p>
        </p:txBody>
      </p:sp>
    </p:spTree>
    <p:extLst>
      <p:ext uri="{BB962C8B-B14F-4D97-AF65-F5344CB8AC3E}">
        <p14:creationId xmlns:p14="http://schemas.microsoft.com/office/powerpoint/2010/main" val="3423721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ommunications and Dialogues">
  <a:themeElements>
    <a:clrScheme name="Communications and Dialogu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Communications and Dialogu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Communications and Dialogu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ommunications and Dialogu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ommunications and Dialogu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ommunications and Dialogu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ommunications and Dialogu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ommunications and Dialogu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ommunications and Dialogu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ommunications and Dialogu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ommunications and Dialogu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ommunications and Dialogu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ommunications and Dialogu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ommunications and Dialogu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ommunications and Dialogu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5F7148A360D4D49BA4CDA9B44E53046" ma:contentTypeVersion="3" ma:contentTypeDescription="Create a new document." ma:contentTypeScope="" ma:versionID="113e9818f1407ecc5970b896650caddb">
  <xsd:schema xmlns:xsd="http://www.w3.org/2001/XMLSchema" xmlns:xs="http://www.w3.org/2001/XMLSchema" xmlns:p="http://schemas.microsoft.com/office/2006/metadata/properties" xmlns:ns2="8cab9493-1fdb-4eec-bb33-a383cde1cb43" targetNamespace="http://schemas.microsoft.com/office/2006/metadata/properties" ma:root="true" ma:fieldsID="bed8d42ed907ae2bb039944923eedf67" ns2:_="">
    <xsd:import namespace="8cab9493-1fdb-4eec-bb33-a383cde1cb4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ab9493-1fdb-4eec-bb33-a383cde1cb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732E746-BFBF-4243-BFD2-C592D5B15CC4}">
  <ds:schemaRefs/>
</ds:datastoreItem>
</file>

<file path=customXml/itemProps2.xml><?xml version="1.0" encoding="utf-8"?>
<ds:datastoreItem xmlns:ds="http://schemas.openxmlformats.org/officeDocument/2006/customXml" ds:itemID="{E627A557-0178-418F-AF51-D4AC6C747487}"/>
</file>

<file path=customXml/itemProps3.xml><?xml version="1.0" encoding="utf-8"?>
<ds:datastoreItem xmlns:ds="http://schemas.openxmlformats.org/officeDocument/2006/customXml" ds:itemID="{C2B71AD5-B525-40C3-BDBC-A123DD84B689}">
  <ds:schemaRefs/>
</ds:datastoreItem>
</file>

<file path=docProps/app.xml><?xml version="1.0" encoding="utf-8"?>
<Properties xmlns="http://schemas.openxmlformats.org/officeDocument/2006/extended-properties" xmlns:vt="http://schemas.openxmlformats.org/officeDocument/2006/docPropsVTypes">
  <Template>Wood Type</Template>
  <TotalTime>3413</TotalTime>
  <Words>1327</Words>
  <Application>Microsoft Office PowerPoint</Application>
  <PresentationFormat>Widescreen</PresentationFormat>
  <Paragraphs>377</Paragraphs>
  <Slides>33</Slides>
  <Notes>32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33</vt:i4>
      </vt:variant>
    </vt:vector>
  </HeadingPairs>
  <TitlesOfParts>
    <vt:vector size="43" baseType="lpstr">
      <vt:lpstr>SimSun</vt:lpstr>
      <vt:lpstr>Arial</vt:lpstr>
      <vt:lpstr>Calibri</vt:lpstr>
      <vt:lpstr>Cambria</vt:lpstr>
      <vt:lpstr>Cambria Math</vt:lpstr>
      <vt:lpstr>Sylfaen</vt:lpstr>
      <vt:lpstr>Tahoma</vt:lpstr>
      <vt:lpstr>Times New Roman</vt:lpstr>
      <vt:lpstr>Wingdings</vt:lpstr>
      <vt:lpstr>Communications and Dialogues</vt:lpstr>
      <vt:lpstr>Course Code: CSE 3107  Course Title: Communication Engineering</vt:lpstr>
      <vt:lpstr>Lecture # 04-05 Amplitude Modulation</vt:lpstr>
      <vt:lpstr>Modulation</vt:lpstr>
      <vt:lpstr>Modulation</vt:lpstr>
      <vt:lpstr>Modulation</vt:lpstr>
      <vt:lpstr>Amplitude Modulation</vt:lpstr>
      <vt:lpstr>Amplitude Modulation</vt:lpstr>
      <vt:lpstr>Amplitude Modulation</vt:lpstr>
      <vt:lpstr>Amplitude Modulation</vt:lpstr>
      <vt:lpstr>Amplitude Modulation</vt:lpstr>
      <vt:lpstr>Amplitude Modulation</vt:lpstr>
      <vt:lpstr>Amplitude Modulation</vt:lpstr>
      <vt:lpstr>Amplitude Modulation</vt:lpstr>
      <vt:lpstr>Amplitude Modulation</vt:lpstr>
      <vt:lpstr>Amplitude Modulation</vt:lpstr>
      <vt:lpstr>Amplitude Modulation</vt:lpstr>
      <vt:lpstr>Amplitude Modulation</vt:lpstr>
      <vt:lpstr>Amplitude Modulation</vt:lpstr>
      <vt:lpstr>Amplitude Modulation</vt:lpstr>
      <vt:lpstr>Amplitude Modulation</vt:lpstr>
      <vt:lpstr>Amplitude Modulation</vt:lpstr>
      <vt:lpstr>Amplitude Modulation</vt:lpstr>
      <vt:lpstr>Amplitude Modulation</vt:lpstr>
      <vt:lpstr>Amplitude Modulation</vt:lpstr>
      <vt:lpstr>Amplitude Modulation</vt:lpstr>
      <vt:lpstr>Amplitude Modulation</vt:lpstr>
      <vt:lpstr>Amplitude Modulation</vt:lpstr>
      <vt:lpstr>Amplitude Modulation</vt:lpstr>
      <vt:lpstr>Amplitude Modulation</vt:lpstr>
      <vt:lpstr>Amplitude Modulation</vt:lpstr>
      <vt:lpstr>Amplitude Modulation</vt:lpstr>
      <vt:lpstr>Amplitude Modulation</vt:lpstr>
      <vt:lpstr>Communication Engineering</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Communication Engineering Fundamentals</dc:title>
  <dc:creator>Tanver Ahmed</dc:creator>
  <cp:lastModifiedBy>Zannatul Mifta</cp:lastModifiedBy>
  <cp:revision>365</cp:revision>
  <dcterms:created xsi:type="dcterms:W3CDTF">2025-07-21T03:08:00Z</dcterms:created>
  <dcterms:modified xsi:type="dcterms:W3CDTF">2026-02-16T05:46:40Z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0x01010045F7148A360D4D49BA4CDA9B44E53046</vt:lpwstr>
  </property>
  <property fmtid="{D5CDD505-2E9C-101B-9397-08002B2CF9AE}" pid="3" name="ICV">
    <vt:lpwstr>32566F4C4D4C4920920AD19533F36439_13</vt:lpwstr>
  </property>
  <property fmtid="{D5CDD505-2E9C-101B-9397-08002B2CF9AE}" pid="4" name="KSOProductBuildVer">
    <vt:lpwstr>1033-12.2.0.23196</vt:lpwstr>
  </property>
  <property fmtid="{D5CDD505-2E9C-101B-9397-08002B2CF9AE}" pid="5" name="MSIP_Label_51a6c3db-1667-4f49-995a-8b9973972958_Enabled">
    <vt:lpwstr>true</vt:lpwstr>
  </property>
  <property fmtid="{D5CDD505-2E9C-101B-9397-08002B2CF9AE}" pid="6" name="MSIP_Label_51a6c3db-1667-4f49-995a-8b9973972958_SetDate">
    <vt:lpwstr>2026-01-20T00:55:42Z</vt:lpwstr>
  </property>
  <property fmtid="{D5CDD505-2E9C-101B-9397-08002B2CF9AE}" pid="7" name="MSIP_Label_51a6c3db-1667-4f49-995a-8b9973972958_Method">
    <vt:lpwstr>Standard</vt:lpwstr>
  </property>
  <property fmtid="{D5CDD505-2E9C-101B-9397-08002B2CF9AE}" pid="8" name="MSIP_Label_51a6c3db-1667-4f49-995a-8b9973972958_Name">
    <vt:lpwstr>UTS-Internal</vt:lpwstr>
  </property>
  <property fmtid="{D5CDD505-2E9C-101B-9397-08002B2CF9AE}" pid="9" name="MSIP_Label_51a6c3db-1667-4f49-995a-8b9973972958_SiteId">
    <vt:lpwstr>e8911c26-cf9f-4a9c-878e-527807be8791</vt:lpwstr>
  </property>
  <property fmtid="{D5CDD505-2E9C-101B-9397-08002B2CF9AE}" pid="10" name="MSIP_Label_51a6c3db-1667-4f49-995a-8b9973972958_ActionId">
    <vt:lpwstr>a09f5ff9-6a97-4d57-96fa-4fdea36fd7be</vt:lpwstr>
  </property>
  <property fmtid="{D5CDD505-2E9C-101B-9397-08002B2CF9AE}" pid="11" name="MSIP_Label_51a6c3db-1667-4f49-995a-8b9973972958_ContentBits">
    <vt:lpwstr>0</vt:lpwstr>
  </property>
  <property fmtid="{D5CDD505-2E9C-101B-9397-08002B2CF9AE}" pid="12" name="MSIP_Label_51a6c3db-1667-4f49-995a-8b9973972958_Tag">
    <vt:lpwstr>50, 3, 0, 1</vt:lpwstr>
  </property>
</Properties>
</file>