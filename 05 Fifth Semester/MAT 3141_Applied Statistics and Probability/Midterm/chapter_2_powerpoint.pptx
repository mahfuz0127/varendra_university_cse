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7.xml" ContentType="application/vnd.openxmlformats-officedocument.presentationml.slide+xml"/>
  <Override PartName="/ppt/slides/slide10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</p:sldMasterIdLst>
  <p:notesMasterIdLst>
    <p:notesMasterId r:id="rId32"/>
  </p:notesMasterIdLst>
  <p:handoutMasterIdLst>
    <p:handoutMasterId r:id="rId33"/>
  </p:handoutMasterIdLst>
  <p:sldIdLst>
    <p:sldId id="321" r:id="rId2"/>
    <p:sldId id="319" r:id="rId3"/>
    <p:sldId id="276" r:id="rId4"/>
    <p:sldId id="277" r:id="rId5"/>
    <p:sldId id="313" r:id="rId6"/>
    <p:sldId id="314" r:id="rId7"/>
    <p:sldId id="315" r:id="rId8"/>
    <p:sldId id="316" r:id="rId9"/>
    <p:sldId id="317" r:id="rId10"/>
    <p:sldId id="318" r:id="rId11"/>
    <p:sldId id="279" r:id="rId12"/>
    <p:sldId id="280" r:id="rId13"/>
    <p:sldId id="300" r:id="rId14"/>
    <p:sldId id="304" r:id="rId15"/>
    <p:sldId id="281" r:id="rId16"/>
    <p:sldId id="305" r:id="rId17"/>
    <p:sldId id="303" r:id="rId18"/>
    <p:sldId id="287" r:id="rId19"/>
    <p:sldId id="289" r:id="rId20"/>
    <p:sldId id="288" r:id="rId21"/>
    <p:sldId id="290" r:id="rId22"/>
    <p:sldId id="307" r:id="rId23"/>
    <p:sldId id="309" r:id="rId24"/>
    <p:sldId id="291" r:id="rId25"/>
    <p:sldId id="310" r:id="rId26"/>
    <p:sldId id="312" r:id="rId27"/>
    <p:sldId id="292" r:id="rId28"/>
    <p:sldId id="294" r:id="rId29"/>
    <p:sldId id="295" r:id="rId30"/>
    <p:sldId id="297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6B4335"/>
    <a:srgbClr val="7912EA"/>
    <a:srgbClr val="333333"/>
    <a:srgbClr val="147645"/>
    <a:srgbClr val="663300"/>
    <a:srgbClr val="996633"/>
    <a:srgbClr val="FFE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>
      <p:cViewPr>
        <p:scale>
          <a:sx n="80" d="100"/>
          <a:sy n="80" d="100"/>
        </p:scale>
        <p:origin x="-107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1B3F48E3-A270-4197-9B65-E8539124477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71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57DC083D-42ED-41A4-8676-A17F7A112C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37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13D455-C349-459C-8EAE-EC6202CA8B2E}" type="slidenum">
              <a:rPr lang="en-US"/>
              <a:pPr/>
              <a:t>4</a:t>
            </a:fld>
            <a:endParaRPr lang="en-US"/>
          </a:p>
        </p:txBody>
      </p:sp>
      <p:sp>
        <p:nvSpPr>
          <p:cNvPr id="26626" name="Rectangle 102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6627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558498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4F9DE5-4624-489A-BC18-30950B715573}" type="slidenum">
              <a:rPr lang="en-US"/>
              <a:pPr/>
              <a:t>11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415352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B3A93-CAE0-4635-A848-306543CF0BCA}" type="slidenum">
              <a:rPr lang="en-US"/>
              <a:pPr/>
              <a:t>12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364884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4445FF-080F-4470-9625-72061BB59D38}" type="slidenum">
              <a:rPr lang="en-US"/>
              <a:pPr/>
              <a:t>15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875093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D48960-1F94-4860-8150-435045E5D8F2}" type="slidenum">
              <a:rPr lang="en-US"/>
              <a:pPr/>
              <a:t>18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978697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E4750B-8AC8-4DFE-9347-BFB4CF815371}" type="slidenum">
              <a:rPr lang="en-US"/>
              <a:pPr/>
              <a:t>19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22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096244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117930-DCEC-483C-8BF1-46B14AB51A41}" type="slidenum">
              <a:rPr lang="en-US"/>
              <a:pPr/>
              <a:t>20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017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687607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29F1C2-CB0C-4753-94C6-D24B8B945770}" type="slidenum">
              <a:rPr lang="en-US"/>
              <a:pPr/>
              <a:t>21</a:t>
            </a:fld>
            <a:endParaRPr 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42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499156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D7BF9F-C15C-45CB-AC07-BA029001FAE0}" type="slidenum">
              <a:rPr lang="en-US"/>
              <a:pPr/>
              <a:t>24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058597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2A5BD1-9FFF-451A-95FC-C67735137D06}" type="slidenum">
              <a:rPr lang="en-US"/>
              <a:pPr/>
              <a:t>27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83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891654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686EB7-EDA8-48A4-8534-C739DF50EEC1}" type="slidenum">
              <a:rPr lang="en-US"/>
              <a:pPr/>
              <a:t>28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24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819264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7C2B34-C74D-4DCA-9C38-E63C6D42C030}" type="slidenum">
              <a:rPr lang="en-US"/>
              <a:pPr/>
              <a:t>29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45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963757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2D4810-900E-4ECD-8730-D60472AC1981}" type="slidenum">
              <a:rPr lang="en-US"/>
              <a:pPr/>
              <a:t>30</a:t>
            </a:fld>
            <a:endParaRPr 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807519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1693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120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6316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4765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07727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93349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05615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43539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35305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49025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5163" y="1825625"/>
            <a:ext cx="2128837" cy="48037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6234113" cy="4803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0336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81750" y="5734050"/>
            <a:ext cx="27622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97287" name="Text Box 7"/>
          <p:cNvSpPr txBox="1">
            <a:spLocks noChangeArrowheads="1"/>
          </p:cNvSpPr>
          <p:nvPr userDrawn="1"/>
        </p:nvSpPr>
        <p:spPr bwMode="auto">
          <a:xfrm>
            <a:off x="7219950" y="0"/>
            <a:ext cx="169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97288" name="Text Box 8"/>
          <p:cNvSpPr txBox="1">
            <a:spLocks noChangeArrowheads="1"/>
          </p:cNvSpPr>
          <p:nvPr userDrawn="1"/>
        </p:nvSpPr>
        <p:spPr bwMode="auto">
          <a:xfrm>
            <a:off x="7353300" y="342900"/>
            <a:ext cx="135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97289" name="Text Box 9"/>
          <p:cNvSpPr txBox="1">
            <a:spLocks noChangeArrowheads="1"/>
          </p:cNvSpPr>
          <p:nvPr userDrawn="1"/>
        </p:nvSpPr>
        <p:spPr bwMode="auto">
          <a:xfrm>
            <a:off x="7924800" y="0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  </a:t>
            </a:r>
            <a:r>
              <a:rPr lang="en-US" sz="1400" b="1" i="1">
                <a:solidFill>
                  <a:schemeClr val="hlink"/>
                </a:solidFill>
                <a:latin typeface="Times New Roman" panose="02020603050405020304" pitchFamily="18" charset="0"/>
              </a:rPr>
              <a:t>2- </a:t>
            </a:r>
            <a:fld id="{2B15D1D9-4912-4052-B094-5DDBB7BCCC83}" type="slidenum">
              <a:rPr lang="en-US" sz="1400" b="1" i="1">
                <a:solidFill>
                  <a:schemeClr val="hlink"/>
                </a:solidFill>
                <a:latin typeface="Times New Roman" panose="02020603050405020304" pitchFamily="18" charset="0"/>
              </a:rPr>
              <a:pPr eaLnBrk="0" hangingPunct="0">
                <a:spcBef>
                  <a:spcPct val="50000"/>
                </a:spcBef>
              </a:pPr>
              <a:t>‹#›</a:t>
            </a:fld>
            <a:endParaRPr lang="en-US" sz="14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ransition>
    <p:zoom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2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Microsoft_Word_97_-_2003_Document1.doc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2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3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5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6.xls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2.wmf"/><Relationship Id="rId4" Type="http://schemas.openxmlformats.org/officeDocument/2006/relationships/oleObject" Target="../embeddings/Microsoft_Word_97_-_2003_Document7.doc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4.emf"/><Relationship Id="rId4" Type="http://schemas.openxmlformats.org/officeDocument/2006/relationships/oleObject" Target="../embeddings/Microsoft_Word_97_-_2003_Document8.doc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1658983"/>
            <a:ext cx="8961119" cy="1009897"/>
          </a:xfrm>
        </p:spPr>
        <p:txBody>
          <a:bodyPr/>
          <a:lstStyle/>
          <a:p>
            <a:r>
              <a:rPr lang="en-GB" sz="4000" dirty="0" smtClean="0">
                <a:solidFill>
                  <a:srgbClr val="92D050"/>
                </a:solidFill>
              </a:rPr>
              <a:t>Frequency distribution and Chart Building</a:t>
            </a:r>
            <a:endParaRPr lang="en-GB" sz="4000" dirty="0">
              <a:solidFill>
                <a:srgbClr val="92D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72725" y="3634912"/>
            <a:ext cx="4870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00B0F0"/>
                </a:solidFill>
              </a:rPr>
              <a:t>Ahammad Hossain</a:t>
            </a:r>
          </a:p>
          <a:p>
            <a:r>
              <a:rPr lang="en-GB" sz="2000" dirty="0" smtClean="0">
                <a:solidFill>
                  <a:srgbClr val="00B0F0"/>
                </a:solidFill>
              </a:rPr>
              <a:t>Associate Professor</a:t>
            </a:r>
            <a:endParaRPr lang="en-GB" sz="2000" dirty="0" smtClean="0">
              <a:solidFill>
                <a:srgbClr val="00B0F0"/>
              </a:solidFill>
            </a:endParaRPr>
          </a:p>
          <a:p>
            <a:r>
              <a:rPr lang="en-GB" sz="2000" dirty="0" smtClean="0">
                <a:solidFill>
                  <a:srgbClr val="00B0F0"/>
                </a:solidFill>
              </a:rPr>
              <a:t>Department of </a:t>
            </a:r>
            <a:r>
              <a:rPr lang="en-GB" sz="2000" dirty="0" smtClean="0">
                <a:solidFill>
                  <a:srgbClr val="00B0F0"/>
                </a:solidFill>
              </a:rPr>
              <a:t>CSE</a:t>
            </a:r>
            <a:endParaRPr lang="en-GB" sz="2000" dirty="0" smtClean="0">
              <a:solidFill>
                <a:srgbClr val="00B0F0"/>
              </a:solidFill>
            </a:endParaRPr>
          </a:p>
          <a:p>
            <a:r>
              <a:rPr lang="en-GB" sz="2000" dirty="0" smtClean="0">
                <a:solidFill>
                  <a:srgbClr val="00B0F0"/>
                </a:solidFill>
              </a:rPr>
              <a:t>Varendra University, </a:t>
            </a:r>
            <a:r>
              <a:rPr lang="en-GB" sz="2000" dirty="0" smtClean="0">
                <a:solidFill>
                  <a:srgbClr val="00B0F0"/>
                </a:solidFill>
              </a:rPr>
              <a:t>Rajshahi-6204</a:t>
            </a:r>
            <a:endParaRPr lang="en-GB" sz="2000" dirty="0" smtClean="0">
              <a:solidFill>
                <a:srgbClr val="00B0F0"/>
              </a:solidFill>
            </a:endParaRPr>
          </a:p>
        </p:txBody>
      </p:sp>
      <p:pic>
        <p:nvPicPr>
          <p:cNvPr id="63490" name="Picture 2" descr="VU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051" y="469232"/>
            <a:ext cx="1201904" cy="1094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56544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533400" y="1541463"/>
            <a:ext cx="1992313" cy="1993900"/>
          </a:xfrm>
          <a:prstGeom prst="rect">
            <a:avLst/>
          </a:prstGeom>
          <a:solidFill>
            <a:srgbClr val="000099"/>
          </a:solidFill>
          <a:ln w="76200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4000" b="1">
                <a:solidFill>
                  <a:srgbClr val="FFFCF7"/>
                </a:solidFill>
                <a:latin typeface="Times New Roman" panose="02020603050405020304" pitchFamily="18" charset="0"/>
              </a:rPr>
              <a:t>Chapter</a:t>
            </a: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1028700" y="2932113"/>
            <a:ext cx="1866900" cy="1866900"/>
          </a:xfrm>
          <a:prstGeom prst="rect">
            <a:avLst/>
          </a:prstGeom>
          <a:solidFill>
            <a:srgbClr val="CC0000"/>
          </a:solidFill>
          <a:ln w="76200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4000" b="1">
                <a:solidFill>
                  <a:srgbClr val="FFFCF7"/>
                </a:solidFill>
                <a:latin typeface="Times New Roman" panose="02020603050405020304" pitchFamily="18" charset="0"/>
              </a:rPr>
              <a:t>Two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255588" y="368300"/>
            <a:ext cx="81200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000" b="1" i="1">
                <a:latin typeface="Book Antiqua" panose="02040602050305030304" pitchFamily="18" charset="0"/>
              </a:rPr>
              <a:t>Chapter Two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80988" y="449263"/>
            <a:ext cx="85772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G Times" pitchFamily="18" charset="0"/>
              </a:rPr>
              <a:t>		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G Times" pitchFamily="18" charset="0"/>
              </a:rPr>
              <a:t>Describing Data: Frequency Distributions and Graphic Presentation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66713" y="1552575"/>
            <a:ext cx="6845300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300" b="1">
                <a:solidFill>
                  <a:srgbClr val="147645"/>
                </a:solidFill>
              </a:rPr>
              <a:t>GOALS</a:t>
            </a:r>
          </a:p>
          <a:p>
            <a:pPr eaLnBrk="0" hangingPunct="0"/>
            <a:r>
              <a:rPr lang="en-US" b="1">
                <a:latin typeface="CG Times" pitchFamily="18" charset="0"/>
              </a:rPr>
              <a:t>When you have completed this chapter, you will be able to:</a:t>
            </a:r>
            <a:endParaRPr lang="en-US" sz="2300" b="1" i="1">
              <a:solidFill>
                <a:srgbClr val="EBA055"/>
              </a:solidFill>
              <a:latin typeface="Book Antiqua" panose="02040602050305030304" pitchFamily="18" charset="0"/>
            </a:endParaRP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247650" y="2513013"/>
            <a:ext cx="8064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Aft>
                <a:spcPct val="25000"/>
              </a:spcAft>
            </a:pPr>
            <a:r>
              <a:rPr lang="en-US" sz="2800" b="1">
                <a:solidFill>
                  <a:srgbClr val="FF3101"/>
                </a:solidFill>
              </a:rPr>
              <a:t> ONE</a:t>
            </a:r>
            <a:r>
              <a:rPr lang="en-US" sz="2800">
                <a:solidFill>
                  <a:srgbClr val="FF3101"/>
                </a:solidFill>
                <a:latin typeface="CG Times" pitchFamily="18" charset="0"/>
              </a:rPr>
              <a:t/>
            </a:r>
            <a:br>
              <a:rPr lang="en-US" sz="2800">
                <a:solidFill>
                  <a:srgbClr val="FF3101"/>
                </a:solidFill>
                <a:latin typeface="CG Times" pitchFamily="18" charset="0"/>
              </a:rPr>
            </a:br>
            <a:r>
              <a:rPr lang="en-US" sz="2800">
                <a:latin typeface="CG Times" pitchFamily="18" charset="0"/>
              </a:rPr>
              <a:t> </a:t>
            </a:r>
            <a:r>
              <a:rPr lang="en-US" sz="2800">
                <a:solidFill>
                  <a:srgbClr val="333333"/>
                </a:solidFill>
                <a:latin typeface="Times New Roman" panose="02020603050405020304" pitchFamily="18" charset="0"/>
              </a:rPr>
              <a:t>Organize data into a frequency distribution.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260350" y="2381250"/>
            <a:ext cx="8883650" cy="0"/>
          </a:xfrm>
          <a:prstGeom prst="line">
            <a:avLst/>
          </a:prstGeom>
          <a:noFill/>
          <a:ln w="28575">
            <a:solidFill>
              <a:srgbClr val="510C9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304800" y="3467100"/>
            <a:ext cx="8839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Aft>
                <a:spcPct val="25000"/>
              </a:spcAft>
            </a:pPr>
            <a:r>
              <a:rPr lang="en-US" sz="2800" b="1">
                <a:solidFill>
                  <a:schemeClr val="accent1"/>
                </a:solidFill>
              </a:rPr>
              <a:t> </a:t>
            </a:r>
            <a:r>
              <a:rPr lang="en-US" sz="2800" b="1">
                <a:solidFill>
                  <a:srgbClr val="FF3101"/>
                </a:solidFill>
              </a:rPr>
              <a:t>TWO</a:t>
            </a:r>
            <a:r>
              <a:rPr lang="en-US" sz="2800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br>
              <a:rPr lang="en-US" sz="2800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sz="2800">
                <a:solidFill>
                  <a:srgbClr val="333333"/>
                </a:solidFill>
                <a:latin typeface="Times New Roman" panose="02020603050405020304" pitchFamily="18" charset="0"/>
              </a:rPr>
              <a:t>Portray a frequency distribution in a histogram, frequency polygon, and cumulative frequency polygon.</a:t>
            </a:r>
            <a:endParaRPr lang="en-US" sz="2800">
              <a:latin typeface="Times New Roman" panose="02020603050405020304" pitchFamily="18" charset="0"/>
            </a:endParaRP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323850" y="5122863"/>
            <a:ext cx="851535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Aft>
                <a:spcPct val="25000"/>
              </a:spcAft>
            </a:pPr>
            <a:r>
              <a:rPr lang="en-US" sz="2800" b="1">
                <a:solidFill>
                  <a:srgbClr val="FF3101"/>
                </a:solidFill>
              </a:rPr>
              <a:t>THREE</a:t>
            </a:r>
            <a:r>
              <a:rPr lang="en-US" sz="2800">
                <a:solidFill>
                  <a:srgbClr val="FF3101"/>
                </a:solidFill>
                <a:latin typeface="Times New Roman" panose="02020603050405020304" pitchFamily="18" charset="0"/>
              </a:rPr>
              <a:t/>
            </a:r>
            <a:br>
              <a:rPr lang="en-US" sz="2800">
                <a:solidFill>
                  <a:srgbClr val="FF3101"/>
                </a:solidFill>
                <a:latin typeface="Times New Roman" panose="02020603050405020304" pitchFamily="18" charset="0"/>
              </a:rPr>
            </a:br>
            <a:r>
              <a:rPr lang="en-US" sz="2800">
                <a:solidFill>
                  <a:srgbClr val="333333"/>
                </a:solidFill>
                <a:latin typeface="Times New Roman" panose="02020603050405020304" pitchFamily="18" charset="0"/>
              </a:rPr>
              <a:t>Present data using such graphic techniques as line charts, bar charts, and pie charts.</a:t>
            </a: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3571" name="Rectangle 19"/>
          <p:cNvSpPr>
            <a:spLocks noGrp="1" noChangeArrowheads="1"/>
          </p:cNvSpPr>
          <p:nvPr>
            <p:ph type="title" idx="4294967295"/>
          </p:nvPr>
        </p:nvSpPr>
        <p:spPr>
          <a:xfrm>
            <a:off x="7543800" y="6592888"/>
            <a:ext cx="1600200" cy="265112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Goals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9063" y="6327775"/>
            <a:ext cx="2674937" cy="530225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/>
              <a:t>Frequency Distribution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911225" y="1608138"/>
            <a:ext cx="7378700" cy="2103437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A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PMingLiU" panose="02020500000000000000" pitchFamily="18" charset="-120"/>
              </a:rPr>
              <a:t>Frequency Distribution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  is a grouping of data into mutually exclusive categories showing the number of observations in each class.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936625" y="5172075"/>
            <a:ext cx="7234238" cy="1373188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Determining the question to be addressed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727075" y="447675"/>
            <a:ext cx="7496175" cy="547688"/>
          </a:xfrm>
          <a:prstGeom prst="rect">
            <a:avLst/>
          </a:prstGeom>
          <a:solidFill>
            <a:srgbClr val="FFFFFF"/>
          </a:solidFill>
          <a:ln w="28575">
            <a:solidFill>
              <a:srgbClr val="6B433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Constructing a frequency distribution involves:</a:t>
            </a:r>
          </a:p>
        </p:txBody>
      </p:sp>
      <p:pic>
        <p:nvPicPr>
          <p:cNvPr id="94214" name="Picture 6" descr="Man Reaching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00" y="2649538"/>
            <a:ext cx="1093788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215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4933950" y="6516688"/>
            <a:ext cx="4210050" cy="341312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936625" y="5172075"/>
            <a:ext cx="7234238" cy="1373188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Determining the question to be addressed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784225" y="619125"/>
            <a:ext cx="7585075" cy="547688"/>
          </a:xfrm>
          <a:prstGeom prst="rect">
            <a:avLst/>
          </a:prstGeom>
          <a:solidFill>
            <a:srgbClr val="FFFFFF"/>
          </a:solidFill>
          <a:ln w="28575">
            <a:solidFill>
              <a:srgbClr val="6B433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Constructing a frequency  distribution involves:</a:t>
            </a:r>
          </a:p>
        </p:txBody>
      </p:sp>
      <p:sp>
        <p:nvSpPr>
          <p:cNvPr id="95239" name="Text Box 7"/>
          <p:cNvSpPr txBox="1">
            <a:spLocks noChangeArrowheads="1"/>
          </p:cNvSpPr>
          <p:nvPr/>
        </p:nvSpPr>
        <p:spPr bwMode="auto">
          <a:xfrm>
            <a:off x="936625" y="4676775"/>
            <a:ext cx="7231063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Collecting raw data</a:t>
            </a:r>
          </a:p>
        </p:txBody>
      </p:sp>
      <p:pic>
        <p:nvPicPr>
          <p:cNvPr id="95240" name="Picture 8" descr="Man Reaching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1944688"/>
            <a:ext cx="1093788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24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4933950" y="6400800"/>
            <a:ext cx="4210050" cy="457200"/>
          </a:xfrm>
          <a:solidFill>
            <a:srgbClr val="FFE6B3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879475" y="5172075"/>
            <a:ext cx="7329488" cy="1373188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Determining the question to be addressed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955675" y="752475"/>
            <a:ext cx="7496175" cy="547688"/>
          </a:xfrm>
          <a:prstGeom prst="rect">
            <a:avLst/>
          </a:prstGeom>
          <a:solidFill>
            <a:srgbClr val="FFFFFF"/>
          </a:solidFill>
          <a:ln w="28575">
            <a:solidFill>
              <a:srgbClr val="6B433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Constructing a frequency distribution involves:</a:t>
            </a: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879475" y="4714875"/>
            <a:ext cx="7326313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Collecting raw data</a:t>
            </a: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876300" y="2952750"/>
            <a:ext cx="7315200" cy="18018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Organizing data (frequency distribution) </a:t>
            </a: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0360" name="Picture 8" descr="Man Reaching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458788"/>
            <a:ext cx="1093788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5105400" y="6400800"/>
            <a:ext cx="4038600" cy="457200"/>
          </a:xfrm>
          <a:solidFill>
            <a:srgbClr val="FFE6B3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936625" y="5172075"/>
            <a:ext cx="7310438" cy="1373188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Determining the question to be addressed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917575" y="561975"/>
            <a:ext cx="7496175" cy="547688"/>
          </a:xfrm>
          <a:prstGeom prst="rect">
            <a:avLst/>
          </a:prstGeom>
          <a:solidFill>
            <a:srgbClr val="FFFFFF"/>
          </a:solidFill>
          <a:ln w="28575">
            <a:solidFill>
              <a:srgbClr val="6B433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Constructing a frequency distribution involves: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936625" y="4714875"/>
            <a:ext cx="7307263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Collecting raw data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914400" y="2971800"/>
            <a:ext cx="7315200" cy="18018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Organizing data (frequency distribution) </a:t>
            </a: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917575" y="2562225"/>
            <a:ext cx="7329488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Presenting data (graph)</a:t>
            </a:r>
          </a:p>
        </p:txBody>
      </p:sp>
      <p:pic>
        <p:nvPicPr>
          <p:cNvPr id="101385" name="Picture 9" descr="Man Reaching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0"/>
            <a:ext cx="1093788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388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4876800" y="6191250"/>
            <a:ext cx="4267200" cy="666750"/>
          </a:xfrm>
          <a:solidFill>
            <a:srgbClr val="FFE6B3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936625" y="4943475"/>
            <a:ext cx="7272338" cy="1373188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Determining the question to be addressed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1089025" y="523875"/>
            <a:ext cx="74676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Constructing a frequency distribution involves:</a:t>
            </a: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936625" y="4486275"/>
            <a:ext cx="7269163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Collecting raw data</a:t>
            </a: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952500" y="2724150"/>
            <a:ext cx="7239000" cy="18018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Organizing data (frequency distribution) </a:t>
            </a: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936625" y="2352675"/>
            <a:ext cx="7272338" cy="519113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Presenting data (graph)</a:t>
            </a: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936625" y="1438275"/>
            <a:ext cx="7289800" cy="946150"/>
          </a:xfrm>
          <a:prstGeom prst="rect">
            <a:avLst/>
          </a:prstGeom>
          <a:solidFill>
            <a:srgbClr val="6B43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Drawing conclusions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2415" name="Picture 15" descr="Man Reaching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3602038"/>
            <a:ext cx="1093788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16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4819650" y="6343650"/>
            <a:ext cx="4324350" cy="5143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1031875" y="4676775"/>
            <a:ext cx="7269163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Collecting raw data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1066800" y="1790700"/>
            <a:ext cx="7181850" cy="37258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Organizing data (frequency distribution) </a:t>
            </a: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993775" y="1209675"/>
            <a:ext cx="7272338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Presenting data (graph)</a:t>
            </a: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1012825" y="447675"/>
            <a:ext cx="723265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Drawing conclusions</a:t>
            </a:r>
          </a:p>
          <a:p>
            <a:pPr algn="ctr" eaLnBrk="0" hangingPunct="0"/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34" name="Rectangle 10"/>
          <p:cNvSpPr>
            <a:spLocks noChangeArrowheads="1"/>
          </p:cNvSpPr>
          <p:nvPr/>
        </p:nvSpPr>
        <p:spPr bwMode="auto">
          <a:xfrm>
            <a:off x="1885950" y="1295400"/>
            <a:ext cx="266700" cy="3867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35" name="Rectangle 11"/>
          <p:cNvSpPr>
            <a:spLocks noChangeArrowheads="1"/>
          </p:cNvSpPr>
          <p:nvPr/>
        </p:nvSpPr>
        <p:spPr bwMode="auto">
          <a:xfrm>
            <a:off x="2876550" y="1047750"/>
            <a:ext cx="266700" cy="413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3619500" y="781050"/>
            <a:ext cx="323850" cy="4381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37" name="Rectangle 13"/>
          <p:cNvSpPr>
            <a:spLocks noChangeArrowheads="1"/>
          </p:cNvSpPr>
          <p:nvPr/>
        </p:nvSpPr>
        <p:spPr bwMode="auto">
          <a:xfrm>
            <a:off x="6457950" y="1028700"/>
            <a:ext cx="266700" cy="413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38" name="Rectangle 14"/>
          <p:cNvSpPr>
            <a:spLocks noChangeArrowheads="1"/>
          </p:cNvSpPr>
          <p:nvPr/>
        </p:nvSpPr>
        <p:spPr bwMode="auto">
          <a:xfrm>
            <a:off x="5562600" y="800100"/>
            <a:ext cx="323850" cy="4381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39" name="Rectangle 15"/>
          <p:cNvSpPr>
            <a:spLocks noChangeArrowheads="1"/>
          </p:cNvSpPr>
          <p:nvPr/>
        </p:nvSpPr>
        <p:spPr bwMode="auto">
          <a:xfrm>
            <a:off x="4552950" y="476250"/>
            <a:ext cx="304800" cy="4686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40" name="Rectangle 16"/>
          <p:cNvSpPr>
            <a:spLocks noChangeArrowheads="1"/>
          </p:cNvSpPr>
          <p:nvPr/>
        </p:nvSpPr>
        <p:spPr bwMode="auto">
          <a:xfrm>
            <a:off x="7372350" y="1295400"/>
            <a:ext cx="266700" cy="3867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41" name="Line 17"/>
          <p:cNvSpPr>
            <a:spLocks noChangeShapeType="1"/>
          </p:cNvSpPr>
          <p:nvPr/>
        </p:nvSpPr>
        <p:spPr bwMode="auto">
          <a:xfrm flipV="1">
            <a:off x="1085850" y="247650"/>
            <a:ext cx="3562350" cy="1257300"/>
          </a:xfrm>
          <a:prstGeom prst="line">
            <a:avLst/>
          </a:prstGeom>
          <a:noFill/>
          <a:ln w="76200">
            <a:solidFill>
              <a:srgbClr val="6B433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 flipH="1" flipV="1">
            <a:off x="4648200" y="209550"/>
            <a:ext cx="3619500" cy="1352550"/>
          </a:xfrm>
          <a:prstGeom prst="line">
            <a:avLst/>
          </a:prstGeom>
          <a:noFill/>
          <a:ln w="76200">
            <a:solidFill>
              <a:srgbClr val="6B433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43" name="Text Box 19"/>
          <p:cNvSpPr txBox="1">
            <a:spLocks noChangeArrowheads="1"/>
          </p:cNvSpPr>
          <p:nvPr/>
        </p:nvSpPr>
        <p:spPr bwMode="auto">
          <a:xfrm>
            <a:off x="1698625" y="548481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1.5</a:t>
            </a:r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2765425" y="548481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3.5</a:t>
            </a:r>
          </a:p>
        </p:txBody>
      </p: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3546475" y="548481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5.5</a:t>
            </a:r>
          </a:p>
        </p:txBody>
      </p:sp>
      <p:sp>
        <p:nvSpPr>
          <p:cNvPr id="103446" name="Text Box 22"/>
          <p:cNvSpPr txBox="1">
            <a:spLocks noChangeArrowheads="1"/>
          </p:cNvSpPr>
          <p:nvPr/>
        </p:nvSpPr>
        <p:spPr bwMode="auto">
          <a:xfrm>
            <a:off x="4498975" y="550386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7.5</a:t>
            </a:r>
          </a:p>
        </p:txBody>
      </p:sp>
      <p:sp>
        <p:nvSpPr>
          <p:cNvPr id="103447" name="Text Box 23"/>
          <p:cNvSpPr txBox="1">
            <a:spLocks noChangeArrowheads="1"/>
          </p:cNvSpPr>
          <p:nvPr/>
        </p:nvSpPr>
        <p:spPr bwMode="auto">
          <a:xfrm>
            <a:off x="5470525" y="5503863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9.5</a:t>
            </a:r>
          </a:p>
        </p:txBody>
      </p:sp>
      <p:sp>
        <p:nvSpPr>
          <p:cNvPr id="103448" name="Text Box 24"/>
          <p:cNvSpPr txBox="1">
            <a:spLocks noChangeArrowheads="1"/>
          </p:cNvSpPr>
          <p:nvPr/>
        </p:nvSpPr>
        <p:spPr bwMode="auto">
          <a:xfrm>
            <a:off x="6365875" y="5522913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11.5</a:t>
            </a:r>
          </a:p>
        </p:txBody>
      </p:sp>
      <p:sp>
        <p:nvSpPr>
          <p:cNvPr id="103449" name="Text Box 25"/>
          <p:cNvSpPr txBox="1">
            <a:spLocks noChangeArrowheads="1"/>
          </p:cNvSpPr>
          <p:nvPr/>
        </p:nvSpPr>
        <p:spPr bwMode="auto">
          <a:xfrm>
            <a:off x="7375525" y="5522913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13.5</a:t>
            </a:r>
          </a:p>
        </p:txBody>
      </p:sp>
      <p:sp>
        <p:nvSpPr>
          <p:cNvPr id="103453" name="Text Box 29"/>
          <p:cNvSpPr txBox="1">
            <a:spLocks noChangeArrowheads="1"/>
          </p:cNvSpPr>
          <p:nvPr/>
        </p:nvSpPr>
        <p:spPr bwMode="auto">
          <a:xfrm>
            <a:off x="1108075" y="4132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103454" name="Text Box 30"/>
          <p:cNvSpPr txBox="1">
            <a:spLocks noChangeArrowheads="1"/>
          </p:cNvSpPr>
          <p:nvPr/>
        </p:nvSpPr>
        <p:spPr bwMode="auto">
          <a:xfrm>
            <a:off x="974725" y="29321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103455" name="Text Box 31"/>
          <p:cNvSpPr txBox="1">
            <a:spLocks noChangeArrowheads="1"/>
          </p:cNvSpPr>
          <p:nvPr/>
        </p:nvSpPr>
        <p:spPr bwMode="auto">
          <a:xfrm>
            <a:off x="974725" y="150336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15</a:t>
            </a:r>
          </a:p>
        </p:txBody>
      </p:sp>
      <p:sp>
        <p:nvSpPr>
          <p:cNvPr id="103456" name="Text Box 32"/>
          <p:cNvSpPr txBox="1">
            <a:spLocks noChangeArrowheads="1"/>
          </p:cNvSpPr>
          <p:nvPr/>
        </p:nvSpPr>
        <p:spPr bwMode="auto">
          <a:xfrm>
            <a:off x="974725" y="2270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20</a:t>
            </a:r>
          </a:p>
        </p:txBody>
      </p:sp>
      <p:sp>
        <p:nvSpPr>
          <p:cNvPr id="103457" name="Line 33"/>
          <p:cNvSpPr>
            <a:spLocks noChangeShapeType="1"/>
          </p:cNvSpPr>
          <p:nvPr/>
        </p:nvSpPr>
        <p:spPr bwMode="auto">
          <a:xfrm flipH="1" flipV="1">
            <a:off x="1333500" y="361950"/>
            <a:ext cx="19050" cy="495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58" name="Line 34"/>
          <p:cNvSpPr>
            <a:spLocks noChangeShapeType="1"/>
          </p:cNvSpPr>
          <p:nvPr/>
        </p:nvSpPr>
        <p:spPr bwMode="auto">
          <a:xfrm>
            <a:off x="1333500" y="5200650"/>
            <a:ext cx="695325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59" name="Rectangle 35"/>
          <p:cNvSpPr>
            <a:spLocks noChangeArrowheads="1"/>
          </p:cNvSpPr>
          <p:nvPr/>
        </p:nvSpPr>
        <p:spPr bwMode="auto">
          <a:xfrm>
            <a:off x="990600" y="247650"/>
            <a:ext cx="7239000" cy="508635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460" name="Rectangle 36"/>
          <p:cNvSpPr>
            <a:spLocks noGrp="1" noChangeArrowheads="1"/>
          </p:cNvSpPr>
          <p:nvPr>
            <p:ph type="title" idx="4294967295"/>
          </p:nvPr>
        </p:nvSpPr>
        <p:spPr>
          <a:xfrm>
            <a:off x="5010150" y="6286500"/>
            <a:ext cx="4133850" cy="5715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Constructing a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1" grpId="0" animBg="1"/>
      <p:bldP spid="1034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476250"/>
            <a:ext cx="8115300" cy="1371600"/>
          </a:xfrm>
          <a:prstGeom prst="rect">
            <a:avLst/>
          </a:prstGeom>
          <a:solidFill>
            <a:srgbClr val="6B4335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rgbClr val="4DB14B"/>
                </a:solidFill>
                <a:latin typeface="Times New Roman" panose="02020603050405020304" pitchFamily="18" charset="0"/>
              </a:rPr>
              <a:t>	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Class Midpoint</a:t>
            </a:r>
            <a:r>
              <a:rPr lang="en-US" sz="360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:</a:t>
            </a:r>
            <a:r>
              <a:rPr lang="en-US" sz="2800"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A point that divides a class into two equal parts.  This is the average of the upper and lower class limits.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800100" y="36957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33400" y="2952750"/>
            <a:ext cx="3638550" cy="2103438"/>
          </a:xfrm>
          <a:prstGeom prst="rect">
            <a:avLst/>
          </a:prstGeom>
          <a:solidFill>
            <a:srgbClr val="510C9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Class Frequency</a:t>
            </a:r>
            <a:r>
              <a:rPr 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:</a:t>
            </a:r>
            <a:r>
              <a:rPr lang="en-US" sz="3200">
                <a:latin typeface="Times New Roman" panose="02020603050405020304" pitchFamily="18" charset="0"/>
              </a:rPr>
              <a:t>  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The number of  observations in each class.  	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4419600" y="2400300"/>
            <a:ext cx="4191000" cy="4052888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Class interval</a:t>
            </a:r>
            <a:r>
              <a:rPr 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:</a:t>
            </a:r>
            <a:r>
              <a:rPr lang="en-US" sz="3200">
                <a:solidFill>
                  <a:srgbClr val="4DB14B"/>
                </a:solidFill>
                <a:latin typeface="Times New Roman" panose="02020603050405020304" pitchFamily="18" charset="0"/>
              </a:rPr>
              <a:t>  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The class interval is obtained by subtracting the lower limit of a class from the lower limit of the next class. The class intervals should be equal.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1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7105650" y="6553200"/>
            <a:ext cx="2038350" cy="3048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800"/>
              <a:t>Definitions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 animBg="1" autoUpdateAnimBg="0"/>
      <p:bldP spid="3072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034213" y="6315075"/>
            <a:ext cx="2109787" cy="542925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 sz="1400"/>
              <a:t>EXAMPLE 1</a:t>
            </a:r>
            <a:endParaRPr lang="en-US" sz="1400">
              <a:solidFill>
                <a:srgbClr val="FF0033"/>
              </a:solidFill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692150" y="3417888"/>
            <a:ext cx="7753350" cy="1628775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15.0, 23.7, 19.7, 15.4, 18.3, 23.0, 14.2, 20.8, 13.5, 20.7, 17.4, 18.6, 12.9, 20.3, 13.7, 21.4, 18.3, 29.8, 17.1, 18.9, 10.3, 26.1, 15.7, 14.0, 17.8, 33.8, 23.2, 12.9, 27.1, 16.6.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663575" y="5434013"/>
            <a:ext cx="75707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2800"/>
              <a:t>Organize the data into a frequency distribution.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79425" y="395288"/>
            <a:ext cx="7954963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>
                <a:latin typeface="Times New Roman" panose="02020603050405020304" pitchFamily="18" charset="0"/>
              </a:rPr>
              <a:t>Dr. Tillman is Dean of the School of Business Socastee University.  He wishes prepare to a report  showing the number of hours per week students spend studying.  He selects a random sample of 30 students and determines the number of hours each student studied last week. 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nimBg="1" autoUpdateAnimBg="0"/>
      <p:bldP spid="327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553200" y="6115050"/>
            <a:ext cx="2590800" cy="7429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1 </a:t>
            </a:r>
            <a:r>
              <a:rPr lang="en-US" b="1" i="1"/>
              <a:t>continued</a:t>
            </a:r>
          </a:p>
        </p:txBody>
      </p:sp>
      <p:sp>
        <p:nvSpPr>
          <p:cNvPr id="72710" name="Rectangle 1030"/>
          <p:cNvSpPr>
            <a:spLocks noChangeArrowheads="1"/>
          </p:cNvSpPr>
          <p:nvPr/>
        </p:nvSpPr>
        <p:spPr bwMode="auto">
          <a:xfrm>
            <a:off x="0" y="247650"/>
            <a:ext cx="9144000" cy="2590800"/>
          </a:xfrm>
          <a:prstGeom prst="rect">
            <a:avLst/>
          </a:prstGeom>
          <a:solidFill>
            <a:srgbClr val="2869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3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Step One</a:t>
            </a:r>
            <a:r>
              <a:rPr lang="en-US" sz="32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en-US" sz="3200">
                <a:solidFill>
                  <a:schemeClr val="bg1"/>
                </a:solidFill>
              </a:rPr>
              <a:t>  Decide on the number of classes using the formula </a:t>
            </a:r>
          </a:p>
          <a:p>
            <a:r>
              <a:rPr lang="en-US" sz="3200">
                <a:solidFill>
                  <a:schemeClr val="bg1"/>
                </a:solidFill>
              </a:rPr>
              <a:t>			    </a:t>
            </a:r>
            <a:r>
              <a:rPr lang="en-US" sz="4000" b="1">
                <a:solidFill>
                  <a:srgbClr val="DDE21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sz="4000" b="1" baseline="30000">
                <a:solidFill>
                  <a:srgbClr val="DDE21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sz="4000" b="1">
                <a:solidFill>
                  <a:srgbClr val="DDE21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 &gt;  n</a:t>
            </a:r>
          </a:p>
          <a:p>
            <a:r>
              <a:rPr lang="en-US" sz="3200">
                <a:solidFill>
                  <a:schemeClr val="bg1"/>
                </a:solidFill>
              </a:rPr>
              <a:t>		</a:t>
            </a:r>
            <a:r>
              <a:rPr lang="en-US" sz="2800">
                <a:solidFill>
                  <a:schemeClr val="bg1"/>
                </a:solidFill>
              </a:rPr>
              <a:t>where k=number of classes </a:t>
            </a:r>
          </a:p>
          <a:p>
            <a:pPr algn="ctr"/>
            <a:r>
              <a:rPr lang="en-US" sz="2800">
                <a:solidFill>
                  <a:schemeClr val="bg1"/>
                </a:solidFill>
              </a:rPr>
              <a:t>          n=number of observations</a:t>
            </a:r>
          </a:p>
        </p:txBody>
      </p:sp>
      <p:sp>
        <p:nvSpPr>
          <p:cNvPr id="72711" name="Rectangle 1031"/>
          <p:cNvSpPr>
            <a:spLocks noChangeArrowheads="1"/>
          </p:cNvSpPr>
          <p:nvPr/>
        </p:nvSpPr>
        <p:spPr bwMode="auto">
          <a:xfrm>
            <a:off x="1543050" y="3271838"/>
            <a:ext cx="5886450" cy="2730500"/>
          </a:xfrm>
          <a:prstGeom prst="rect">
            <a:avLst/>
          </a:prstGeom>
          <a:noFill/>
          <a:ln w="76200">
            <a:solidFill>
              <a:srgbClr val="6B433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o"/>
            </a:pPr>
            <a:r>
              <a:rPr 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There are 30 observations so n=30.</a:t>
            </a:r>
          </a:p>
          <a:p>
            <a:pPr>
              <a:buFontTx/>
              <a:buChar char="o"/>
            </a:pPr>
            <a:endParaRPr lang="en-US" sz="2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buFontTx/>
              <a:buChar char="o"/>
            </a:pPr>
            <a:r>
              <a:rPr 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Two raised to the fifth power is 32.</a:t>
            </a:r>
          </a:p>
          <a:p>
            <a:pPr>
              <a:buFontTx/>
              <a:buChar char="o"/>
            </a:pPr>
            <a:endParaRPr lang="en-US" sz="2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buFontTx/>
              <a:buChar char="o"/>
            </a:pPr>
            <a:r>
              <a:rPr 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Therefore, we should have at least 5 classes, i.e., k=5.</a:t>
            </a:r>
            <a:r>
              <a:rPr lang="en-US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400050" y="3443288"/>
            <a:ext cx="8343900" cy="476250"/>
          </a:xfrm>
          <a:prstGeom prst="rect">
            <a:avLst/>
          </a:prstGeom>
          <a:solidFill>
            <a:srgbClr val="2869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2800">
                <a:solidFill>
                  <a:schemeClr val="bg1"/>
                </a:solidFill>
              </a:rPr>
              <a:t>where </a:t>
            </a:r>
            <a:r>
              <a:rPr lang="en-US" sz="2800" i="1">
                <a:solidFill>
                  <a:schemeClr val="bg1"/>
                </a:solidFill>
              </a:rPr>
              <a:t>H</a:t>
            </a:r>
            <a:r>
              <a:rPr lang="en-US" sz="2800">
                <a:solidFill>
                  <a:schemeClr val="bg1"/>
                </a:solidFill>
              </a:rPr>
              <a:t>=highest value, </a:t>
            </a:r>
            <a:r>
              <a:rPr lang="en-US" sz="2800" i="1">
                <a:solidFill>
                  <a:schemeClr val="bg1"/>
                </a:solidFill>
              </a:rPr>
              <a:t>L</a:t>
            </a:r>
            <a:r>
              <a:rPr lang="en-US" sz="2800">
                <a:solidFill>
                  <a:schemeClr val="bg1"/>
                </a:solidFill>
              </a:rPr>
              <a:t>=lowest value</a:t>
            </a:r>
            <a:endParaRPr 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3946525" y="2000250"/>
            <a:ext cx="2012950" cy="1066800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u="sng">
                <a:solidFill>
                  <a:schemeClr val="bg1"/>
                </a:solidFill>
                <a:latin typeface="Times New Roman" panose="02020603050405020304" pitchFamily="18" charset="0"/>
              </a:rPr>
              <a:t>33.8 – 10.3</a:t>
            </a:r>
          </a:p>
          <a:p>
            <a:pPr eaLnBrk="0" hangingPunct="0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          5</a:t>
            </a: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5946775" y="2228850"/>
            <a:ext cx="1041400" cy="579438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= 4.7</a:t>
            </a:r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574675" y="385763"/>
            <a:ext cx="8080375" cy="968375"/>
          </a:xfrm>
          <a:prstGeom prst="rect">
            <a:avLst/>
          </a:prstGeom>
          <a:solidFill>
            <a:srgbClr val="2869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3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Step Two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r>
              <a:rPr lang="en-US" sz="3200">
                <a:solidFill>
                  <a:schemeClr val="bg1"/>
                </a:solidFill>
              </a:rPr>
              <a:t>  Determine the class interval or width using the formula</a:t>
            </a:r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2362200" y="2022475"/>
            <a:ext cx="1200150" cy="1066800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3200" i="1" u="sng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 – L</a:t>
            </a:r>
          </a:p>
          <a:p>
            <a:r>
              <a:rPr lang="en-US" sz="3200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k	</a:t>
            </a:r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1581150" y="2181225"/>
            <a:ext cx="817563" cy="579438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3200" i="1">
                <a:solidFill>
                  <a:schemeClr val="bg1"/>
                </a:solidFill>
              </a:rPr>
              <a:t>i </a:t>
            </a:r>
            <a:r>
              <a:rPr lang="en-US" sz="3200" i="1" u="sng">
                <a:solidFill>
                  <a:schemeClr val="bg1"/>
                </a:solidFill>
              </a:rPr>
              <a:t>&gt;</a:t>
            </a:r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3546475" y="2160588"/>
            <a:ext cx="468313" cy="519112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/>
              <a:t>=</a:t>
            </a:r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304800" y="4243388"/>
            <a:ext cx="8477250" cy="1876425"/>
          </a:xfrm>
          <a:prstGeom prst="rect">
            <a:avLst/>
          </a:prstGeom>
          <a:solidFill>
            <a:schemeClr val="bg1"/>
          </a:solidFill>
          <a:ln w="76200">
            <a:solidFill>
              <a:srgbClr val="6B433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/>
              <a:t>Round up for an interval of 5 hours.</a:t>
            </a:r>
          </a:p>
          <a:p>
            <a:endParaRPr lang="en-US" sz="2800"/>
          </a:p>
          <a:p>
            <a:r>
              <a:rPr lang="en-US" sz="2800"/>
              <a:t>Set the lower limit of the first class at 7.5 hours,  giving a total of 6 classes.</a:t>
            </a:r>
          </a:p>
        </p:txBody>
      </p:sp>
      <p:sp>
        <p:nvSpPr>
          <p:cNvPr id="77840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6381750" y="6362700"/>
            <a:ext cx="2762250" cy="4953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1 continued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53150" y="6381750"/>
            <a:ext cx="2990850" cy="4762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lnSpc>
                <a:spcPct val="85000"/>
              </a:lnSpc>
            </a:pPr>
            <a:r>
              <a:rPr lang="en-US"/>
              <a:t>EXAMPLE 1 </a:t>
            </a:r>
            <a:r>
              <a:rPr lang="en-US" b="1" i="1"/>
              <a:t>continued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4819" name="Object 3"/>
          <p:cNvGraphicFramePr>
            <a:graphicFrameLocks noGrp="1"/>
          </p:cNvGraphicFramePr>
          <p:nvPr>
            <p:ph type="tbl" idx="4294967295"/>
          </p:nvPr>
        </p:nvGraphicFramePr>
        <p:xfrm>
          <a:off x="838200" y="1679575"/>
          <a:ext cx="7480300" cy="472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2" name="Document" r:id="rId4" imgW="7918704" imgH="4748784" progId="Word.Document.8">
                  <p:embed/>
                </p:oleObj>
              </mc:Choice>
              <mc:Fallback>
                <p:oleObj name="Document" r:id="rId4" imgW="7918704" imgH="4748784" progId="Word.Document.8">
                  <p:embed/>
                  <p:pic>
                    <p:nvPicPr>
                      <p:cNvPr id="0" name="Picture 1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79575"/>
                        <a:ext cx="7480300" cy="4725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23328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1554163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Step Three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:  Set the individual class limits and</a:t>
            </a:r>
          </a:p>
          <a:p>
            <a:pPr eaLnBrk="0" hangingPunct="0"/>
            <a:r>
              <a:rPr lang="en-US" sz="32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Steps Four and Five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:  Tally and count the number of items in each class.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2103438"/>
          </a:xfrm>
          <a:prstGeom prst="rect">
            <a:avLst/>
          </a:prstGeom>
          <a:solidFill>
            <a:srgbClr val="2869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Class Midpoint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: find the midpoint of each interval, use the following formula:</a:t>
            </a:r>
          </a:p>
          <a:p>
            <a:pPr eaLnBrk="0" hangingPunct="0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		     </a:t>
            </a:r>
            <a:r>
              <a:rPr lang="en-US" sz="3200" u="sng">
                <a:solidFill>
                  <a:schemeClr val="bg1"/>
                </a:solidFill>
                <a:latin typeface="Times New Roman" panose="02020603050405020304" pitchFamily="18" charset="0"/>
              </a:rPr>
              <a:t>Upper limit + lower limit</a:t>
            </a:r>
          </a:p>
          <a:p>
            <a:pPr eaLnBrk="0" hangingPunct="0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				     2</a:t>
            </a:r>
          </a:p>
        </p:txBody>
      </p:sp>
      <p:graphicFrame>
        <p:nvGraphicFramePr>
          <p:cNvPr id="78853" name="Object 5"/>
          <p:cNvGraphicFramePr>
            <a:graphicFrameLocks/>
          </p:cNvGraphicFramePr>
          <p:nvPr/>
        </p:nvGraphicFramePr>
        <p:xfrm>
          <a:off x="762000" y="2133600"/>
          <a:ext cx="7429500" cy="436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2" name="Document" r:id="rId3" imgW="7428759" imgH="4362840" progId="Word.Document.8">
                  <p:embed/>
                </p:oleObj>
              </mc:Choice>
              <mc:Fallback>
                <p:oleObj name="Document" r:id="rId3" imgW="7428759" imgH="4362840" progId="Word.Document.8">
                  <p:embed/>
                  <p:pic>
                    <p:nvPicPr>
                      <p:cNvPr id="0" name="Picture 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7429500" cy="4362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23328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6553200" y="6496050"/>
            <a:ext cx="2590800" cy="3619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1 continued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2" name="Object 6"/>
          <p:cNvGraphicFramePr>
            <a:graphicFrameLocks noGrp="1"/>
          </p:cNvGraphicFramePr>
          <p:nvPr>
            <p:ph sz="half" idx="4294967295"/>
          </p:nvPr>
        </p:nvGraphicFramePr>
        <p:xfrm>
          <a:off x="1055688" y="1562100"/>
          <a:ext cx="6765925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Document" r:id="rId3" imgW="6563360" imgH="4344480" progId="Word.Document.8">
                  <p:embed/>
                </p:oleObj>
              </mc:Choice>
              <mc:Fallback>
                <p:oleObj name="Document" r:id="rId3" imgW="6563360" imgH="4344480" progId="Word.Document.8">
                  <p:embed/>
                  <p:pic>
                    <p:nvPicPr>
                      <p:cNvPr id="0" name="Picture 1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1562100"/>
                        <a:ext cx="6765925" cy="4686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23328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381750" y="6305550"/>
            <a:ext cx="2762250" cy="5524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1 continued</a:t>
            </a:r>
          </a:p>
        </p:txBody>
      </p:sp>
      <p:sp>
        <p:nvSpPr>
          <p:cNvPr id="75786" name="Rectangle 10"/>
          <p:cNvSpPr>
            <a:spLocks noChangeArrowheads="1"/>
          </p:cNvSpPr>
          <p:nvPr/>
        </p:nvSpPr>
        <p:spPr bwMode="auto">
          <a:xfrm>
            <a:off x="0" y="266700"/>
            <a:ext cx="9144000" cy="1128713"/>
          </a:xfrm>
          <a:prstGeom prst="rect">
            <a:avLst/>
          </a:prstGeom>
          <a:solidFill>
            <a:srgbClr val="14764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Relative Frequency Distribution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shows the percent of observations in each class.</a:t>
            </a:r>
            <a:r>
              <a:rPr lang="en-US" sz="3200">
                <a:latin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43600" y="5943600"/>
            <a:ext cx="3200400" cy="9144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/>
              <a:t>Graphic Presentation of a Frequency Distribution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476250" y="2784475"/>
            <a:ext cx="8172450" cy="2816225"/>
          </a:xfrm>
          <a:prstGeom prst="rect">
            <a:avLst/>
          </a:prstGeom>
          <a:solidFill>
            <a:schemeClr val="bg1"/>
          </a:solidFill>
          <a:ln w="76200">
            <a:solidFill>
              <a:srgbClr val="52332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spcBef>
                <a:spcPct val="20000"/>
              </a:spcBef>
              <a:buClr>
                <a:srgbClr val="990000"/>
              </a:buClr>
              <a:buSzPct val="65000"/>
              <a:buFont typeface="Wingdings" panose="05000000000000000000" pitchFamily="2" charset="2"/>
              <a:buNone/>
            </a:pPr>
            <a:r>
              <a:rPr lang="en-US" sz="2800">
                <a:latin typeface="Times New Roman" panose="02020603050405020304" pitchFamily="18" charset="0"/>
              </a:rPr>
              <a:t>A</a:t>
            </a:r>
            <a:r>
              <a:rPr lang="en-US" sz="2800">
                <a:solidFill>
                  <a:srgbClr val="4DB14B"/>
                </a:solidFill>
                <a:latin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286923"/>
                </a:solidFill>
                <a:latin typeface="Times New Roman" panose="02020603050405020304" pitchFamily="18" charset="0"/>
              </a:rPr>
              <a:t>Histogram</a:t>
            </a:r>
            <a:r>
              <a:rPr lang="en-US" sz="2800">
                <a:solidFill>
                  <a:srgbClr val="4DB14B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</a:rPr>
              <a:t>is a graph in which the class midpoints or limits are marked on the horizontal axis and the class frequencies on the vertical axis.  </a:t>
            </a:r>
          </a:p>
          <a:p>
            <a:pPr lvl="1" eaLnBrk="0" hangingPunct="0">
              <a:spcBef>
                <a:spcPct val="20000"/>
              </a:spcBef>
              <a:buClr>
                <a:srgbClr val="990000"/>
              </a:buClr>
              <a:buSzPct val="65000"/>
              <a:buFont typeface="Wingdings" panose="05000000000000000000" pitchFamily="2" charset="2"/>
              <a:buNone/>
            </a:pPr>
            <a:r>
              <a:rPr lang="en-US" sz="2800">
                <a:latin typeface="Times New Roman" panose="02020603050405020304" pitchFamily="18" charset="0"/>
              </a:rPr>
              <a:t>The class frequencies are represented by the heights of the bars and the bars are drawn adjacent to each other.</a:t>
            </a: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292100" y="342900"/>
            <a:ext cx="8597900" cy="1677988"/>
          </a:xfrm>
          <a:prstGeom prst="rect">
            <a:avLst/>
          </a:prstGeom>
          <a:solidFill>
            <a:srgbClr val="7912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3200">
                <a:solidFill>
                  <a:schemeClr val="bg1"/>
                </a:solidFill>
              </a:rPr>
              <a:t>The three commonly used graphic forms are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Histograms, Frequency Polygons</a:t>
            </a:r>
            <a:r>
              <a:rPr lang="en-US" sz="3200">
                <a:solidFill>
                  <a:schemeClr val="bg1"/>
                </a:solidFill>
              </a:rPr>
              <a:t>, and a  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Cumulative Frequency</a:t>
            </a:r>
            <a:r>
              <a:rPr lang="en-US" sz="3200">
                <a:solidFill>
                  <a:schemeClr val="bg1"/>
                </a:solidFill>
              </a:rPr>
              <a:t> distribution.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0" y="5962650"/>
            <a:ext cx="2762250" cy="8953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/>
              <a:t>Histogram for Hours Spent Studying</a:t>
            </a:r>
          </a:p>
        </p:txBody>
      </p:sp>
      <p:graphicFrame>
        <p:nvGraphicFramePr>
          <p:cNvPr id="51203" name="Object 3"/>
          <p:cNvGraphicFramePr>
            <a:graphicFrameLocks noGrp="1"/>
          </p:cNvGraphicFramePr>
          <p:nvPr>
            <p:ph idx="1"/>
          </p:nvPr>
        </p:nvGraphicFramePr>
        <p:xfrm>
          <a:off x="554038" y="1041400"/>
          <a:ext cx="7734300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Chart" r:id="rId4" imgW="7772400" imgH="4114800" progId="MSGraph.Chart.8">
                  <p:embed followColorScheme="full"/>
                </p:oleObj>
              </mc:Choice>
              <mc:Fallback>
                <p:oleObj name="Chart" r:id="rId4" imgW="7772400" imgH="4114800" progId="MSGraph.Chart.8">
                  <p:embed followColorScheme="full"/>
                  <p:pic>
                    <p:nvPicPr>
                      <p:cNvPr id="0" name="Picture 1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1041400"/>
                        <a:ext cx="7734300" cy="409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479675" y="4632325"/>
            <a:ext cx="137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>
                <a:solidFill>
                  <a:srgbClr val="7912EA"/>
                </a:solidFill>
                <a:latin typeface="Times New Roman" panose="02020603050405020304" pitchFamily="18" charset="0"/>
              </a:rPr>
              <a:t>midpoint</a:t>
            </a:r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 flipV="1">
            <a:off x="3162300" y="4152900"/>
            <a:ext cx="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27038"/>
            <a:ext cx="8305800" cy="1752600"/>
          </a:xfrm>
          <a:solidFill>
            <a:schemeClr val="folHlink"/>
          </a:solidFill>
          <a:ln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p:spPr>
        <p:txBody>
          <a:bodyPr lIns="92075" tIns="46038" rIns="92075" bIns="46038">
            <a:flatTx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Graphic Presentation of a Frequency Distribution</a:t>
            </a:r>
            <a:b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3943350" y="6451600"/>
            <a:ext cx="5200650" cy="406400"/>
          </a:xfrm>
          <a:prstGeom prst="rect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Graphic Presentation of a Frequency Distribution</a:t>
            </a: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241425" y="2905125"/>
            <a:ext cx="6464300" cy="2103438"/>
          </a:xfrm>
          <a:prstGeom prst="rect">
            <a:avLst/>
          </a:prstGeom>
          <a:solidFill>
            <a:srgbClr val="66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Frequency Polygon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consists of line segments connecting the points formed by the </a:t>
            </a:r>
            <a:r>
              <a:rPr lang="en-US" sz="3200" u="sng">
                <a:solidFill>
                  <a:schemeClr val="bg1"/>
                </a:solidFill>
                <a:latin typeface="Times New Roman" panose="02020603050405020304" pitchFamily="18" charset="0"/>
              </a:rPr>
              <a:t>class midpoint 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and the</a:t>
            </a:r>
            <a:r>
              <a:rPr lang="en-US" sz="3200" u="sng">
                <a:solidFill>
                  <a:schemeClr val="bg1"/>
                </a:solidFill>
                <a:latin typeface="Times New Roman" panose="02020603050405020304" pitchFamily="18" charset="0"/>
              </a:rPr>
              <a:t> class frequency.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42900"/>
            <a:ext cx="6305550" cy="1447800"/>
          </a:xfrm>
          <a:solidFill>
            <a:schemeClr val="folHlink"/>
          </a:solidFill>
          <a:ln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p:spPr>
        <p:txBody>
          <a:bodyPr lIns="92075" tIns="46038" rIns="92075" bIns="46038">
            <a:flatTx/>
          </a:bodyPr>
          <a:lstStyle/>
          <a:p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Frequency Polygon</a:t>
            </a: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Hours Spent Studying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53254" name="Object 6"/>
          <p:cNvGraphicFramePr>
            <a:graphicFrameLocks noGrp="1"/>
          </p:cNvGraphicFramePr>
          <p:nvPr>
            <p:ph idx="1"/>
          </p:nvPr>
        </p:nvGraphicFramePr>
        <p:xfrm>
          <a:off x="896938" y="2049463"/>
          <a:ext cx="7410450" cy="365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2" name="Chart" r:id="rId4" imgW="7772400" imgH="4114800" progId="MSGraph.Chart.8">
                  <p:embed followColorScheme="full"/>
                </p:oleObj>
              </mc:Choice>
              <mc:Fallback>
                <p:oleObj name="Chart" r:id="rId4" imgW="7772400" imgH="4114800" progId="MSGraph.Chart.8">
                  <p:embed followColorScheme="full"/>
                  <p:pic>
                    <p:nvPicPr>
                      <p:cNvPr id="0" name="Picture 1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049463"/>
                        <a:ext cx="7410450" cy="3656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4305300" y="6451600"/>
            <a:ext cx="4838700" cy="406400"/>
          </a:xfrm>
          <a:prstGeom prst="rect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Frequency Polygon for Hours Spent Studying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532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762000" y="1428750"/>
            <a:ext cx="3467100" cy="5102225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A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Cumulative Frequency Distribution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is used to determine how many or what proportion of the data values are below or above a certain value.</a:t>
            </a:r>
          </a:p>
          <a:p>
            <a:pPr eaLnBrk="0" hangingPunct="0">
              <a:spcBef>
                <a:spcPct val="20000"/>
              </a:spcBef>
              <a:buClr>
                <a:srgbClr val="404960"/>
              </a:buClr>
              <a:buSzPct val="65000"/>
              <a:buFont typeface="Wingdings" panose="05000000000000000000" pitchFamily="2" charset="2"/>
              <a:buNone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511175" y="382588"/>
            <a:ext cx="7966075" cy="104775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flatTx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Cumulative Frequency Distribution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4746625" y="1409700"/>
            <a:ext cx="3578225" cy="4965700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To create a cumulative frequency polygon, scale the upper limit of each class along the X-axis and the corresponding cumulative frequencies along the Y-axis. 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105400" y="6381750"/>
            <a:ext cx="4038600" cy="4762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Cumulative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nimBg="1" autoUpdateAnimBg="0"/>
      <p:bldP spid="8192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568325" y="400050"/>
            <a:ext cx="7966075" cy="104775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flatTx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Cumulative Frequency Table for Hours Spent Studying</a:t>
            </a:r>
          </a:p>
        </p:txBody>
      </p:sp>
      <p:graphicFrame>
        <p:nvGraphicFramePr>
          <p:cNvPr id="83971" name="Object 3"/>
          <p:cNvGraphicFramePr>
            <a:graphicFrameLocks/>
          </p:cNvGraphicFramePr>
          <p:nvPr/>
        </p:nvGraphicFramePr>
        <p:xfrm>
          <a:off x="590550" y="1581150"/>
          <a:ext cx="7829550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" name="Document" r:id="rId3" imgW="7428759" imgH="4512240" progId="Word.Document.8">
                  <p:embed/>
                </p:oleObj>
              </mc:Choice>
              <mc:Fallback>
                <p:oleObj name="Document" r:id="rId3" imgW="7428759" imgH="4512240" progId="Word.Document.8">
                  <p:embed/>
                  <p:pic>
                    <p:nvPicPr>
                      <p:cNvPr id="0" name="Picture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581150"/>
                        <a:ext cx="7829550" cy="4819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5924550" y="6400800"/>
            <a:ext cx="3219450" cy="4572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Cumulative frequency table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400050"/>
            <a:ext cx="7086600" cy="1543050"/>
          </a:xfrm>
          <a:solidFill>
            <a:schemeClr val="folHlink"/>
          </a:solidFill>
          <a:ln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p:spPr>
        <p:txBody>
          <a:bodyPr lIns="92075" tIns="46038" rIns="92075" bIns="46038">
            <a:flatTx/>
          </a:bodyPr>
          <a:lstStyle/>
          <a:p>
            <a:pPr>
              <a:lnSpc>
                <a:spcPct val="75000"/>
              </a:lnSpc>
            </a:pP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Cumulative Frequency Distribution For Hours Studying</a:t>
            </a:r>
          </a:p>
        </p:txBody>
      </p:sp>
      <p:graphicFrame>
        <p:nvGraphicFramePr>
          <p:cNvPr id="55299" name="Object 3"/>
          <p:cNvGraphicFramePr>
            <a:graphicFrameLocks noGrp="1"/>
          </p:cNvGraphicFramePr>
          <p:nvPr>
            <p:ph idx="1"/>
          </p:nvPr>
        </p:nvGraphicFramePr>
        <p:xfrm>
          <a:off x="685800" y="2120900"/>
          <a:ext cx="7734300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Chart" r:id="rId4" imgW="7772400" imgH="4114800" progId="MSGraph.Chart.8">
                  <p:embed followColorScheme="full"/>
                </p:oleObj>
              </mc:Choice>
              <mc:Fallback>
                <p:oleObj name="Chart" r:id="rId4" imgW="7772400" imgH="4114800" progId="MSGraph.Chart.8">
                  <p:embed followColorScheme="full"/>
                  <p:pic>
                    <p:nvPicPr>
                      <p:cNvPr id="0" name="Picture 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20900"/>
                        <a:ext cx="7734300" cy="4095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5143500" y="6337300"/>
            <a:ext cx="4000500" cy="406400"/>
          </a:xfrm>
          <a:prstGeom prst="rect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</a:rPr>
              <a:t>Cumulative frequency distribution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708025" y="400050"/>
            <a:ext cx="7693025" cy="11287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eaLnBrk="0" hangingPunct="0"/>
            <a:r>
              <a:rPr lang="en-US" sz="3600" b="1">
                <a:solidFill>
                  <a:srgbClr val="DDE21C"/>
                </a:solidFill>
                <a:latin typeface="Times New Roman" panose="02020603050405020304" pitchFamily="18" charset="0"/>
              </a:rPr>
              <a:t>Line graphs</a:t>
            </a:r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 are typically used to show the change or trend in a variable over time.</a:t>
            </a: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2057400" y="1695450"/>
          <a:ext cx="4876800" cy="504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0" name="Worksheet" r:id="rId3" imgW="1838325" imgH="1952625" progId="Excel.Sheet.8">
                  <p:embed/>
                </p:oleObj>
              </mc:Choice>
              <mc:Fallback>
                <p:oleObj name="Worksheet" r:id="rId3" imgW="1838325" imgH="1952625" progId="Excel.Sheet.8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95450"/>
                        <a:ext cx="4876800" cy="5048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7372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7181850" y="6591300"/>
            <a:ext cx="1962150" cy="2667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800"/>
              <a:t>Line Graphs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66700" y="1085850"/>
          <a:ext cx="8648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2" name="Chart" r:id="rId3" imgW="4114935" imgH="1923934" progId="Excel.Sheet.8">
                  <p:embed/>
                </p:oleObj>
              </mc:Choice>
              <mc:Fallback>
                <p:oleObj name="Chart" r:id="rId3" imgW="4114935" imgH="1923934" progId="Excel.Sheet.8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1085850"/>
                        <a:ext cx="8648700" cy="4038600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6381750" y="6362700"/>
            <a:ext cx="2762250" cy="4953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3 continued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0" y="1570038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spcBef>
                <a:spcPct val="20000"/>
              </a:spcBef>
              <a:buClr>
                <a:srgbClr val="FF3101"/>
              </a:buClr>
            </a:pPr>
            <a:r>
              <a:rPr lang="en-US" sz="2800">
                <a:latin typeface="Times New Roman" panose="02020603050405020304" pitchFamily="18" charset="0"/>
              </a:rPr>
              <a:t>Construct a bar chart for the number of unemployed per 100,000 population for selected cities during 2001</a:t>
            </a:r>
          </a:p>
        </p:txBody>
      </p:sp>
      <p:graphicFrame>
        <p:nvGraphicFramePr>
          <p:cNvPr id="57350" name="Object 6"/>
          <p:cNvGraphicFramePr>
            <a:graphicFrameLocks/>
          </p:cNvGraphicFramePr>
          <p:nvPr/>
        </p:nvGraphicFramePr>
        <p:xfrm>
          <a:off x="595313" y="2554288"/>
          <a:ext cx="7580312" cy="390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Document" r:id="rId4" imgW="7933944" imgH="4343400" progId="Word.Document.8">
                  <p:embed/>
                </p:oleObj>
              </mc:Choice>
              <mc:Fallback>
                <p:oleObj name="Document" r:id="rId4" imgW="7933944" imgH="4343400" progId="Word.Document.8">
                  <p:embed/>
                  <p:pic>
                    <p:nvPicPr>
                      <p:cNvPr id="0" name="Picture 1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2554288"/>
                        <a:ext cx="7580312" cy="3903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7372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0" y="247650"/>
            <a:ext cx="9144000" cy="1421928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</a:rPr>
              <a:t>	A 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ar Chart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</a:rPr>
              <a:t>can be used to depict any of the levels of measurement (nominal, ordinal, interval, or ratio).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4300" y="6499225"/>
            <a:ext cx="1409700" cy="358775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 sz="1600">
                <a:solidFill>
                  <a:schemeClr val="tx1"/>
                </a:solidFill>
              </a:rPr>
              <a:t>Bar Chart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6267450"/>
            <a:ext cx="4267200" cy="59055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>
                <a:solidFill>
                  <a:schemeClr val="tx1"/>
                </a:solidFill>
              </a:rPr>
              <a:t>Bar Chart for the Unemployment Data</a:t>
            </a:r>
          </a:p>
        </p:txBody>
      </p:sp>
      <p:graphicFrame>
        <p:nvGraphicFramePr>
          <p:cNvPr id="61443" name="Object 3"/>
          <p:cNvGraphicFramePr>
            <a:graphicFrameLocks noGrp="1"/>
          </p:cNvGraphicFramePr>
          <p:nvPr>
            <p:ph idx="1"/>
          </p:nvPr>
        </p:nvGraphicFramePr>
        <p:xfrm>
          <a:off x="800100" y="582613"/>
          <a:ext cx="7620000" cy="46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2" name="Chart" r:id="rId4" imgW="6638925" imgH="4114800" progId="MSGraph.Chart.8">
                  <p:embed followColorScheme="full"/>
                </p:oleObj>
              </mc:Choice>
              <mc:Fallback>
                <p:oleObj name="Chart" r:id="rId4" imgW="6638925" imgH="4114800" progId="MSGraph.Chart.8">
                  <p:embed followColorScheme="full"/>
                  <p:pic>
                    <p:nvPicPr>
                      <p:cNvPr id="0" name="Picture 1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582613"/>
                        <a:ext cx="7620000" cy="4608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7372B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0" y="6604000"/>
            <a:ext cx="1524000" cy="2540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/>
              <a:t>Pie Chart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0" y="2090738"/>
            <a:ext cx="914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</a:rPr>
              <a:t>A sample of 200 runners were asked to indicate their favorite type of running shoe. Draw a pie chart based on the following information.</a:t>
            </a:r>
          </a:p>
        </p:txBody>
      </p:sp>
      <p:graphicFrame>
        <p:nvGraphicFramePr>
          <p:cNvPr id="63494" name="Object 6"/>
          <p:cNvGraphicFramePr>
            <a:graphicFrameLocks/>
          </p:cNvGraphicFramePr>
          <p:nvPr/>
        </p:nvGraphicFramePr>
        <p:xfrm>
          <a:off x="1333500" y="2933700"/>
          <a:ext cx="6572250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" name="Document" r:id="rId4" imgW="6575594" imgH="3821760" progId="Word.Document.8">
                  <p:embed/>
                </p:oleObj>
              </mc:Choice>
              <mc:Fallback>
                <p:oleObj name="Document" r:id="rId4" imgW="6575594" imgH="3821760" progId="Word.Document.8">
                  <p:embed/>
                  <p:pic>
                    <p:nvPicPr>
                      <p:cNvPr id="0" name="Picture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2933700"/>
                        <a:ext cx="6572250" cy="3619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76200">
                        <a:solidFill>
                          <a:srgbClr val="57372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0" y="228600"/>
            <a:ext cx="9144000" cy="1922463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A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Pie Chart</a:t>
            </a:r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</a:rPr>
              <a:t> is useful for displaying a relative frequency distribution.  A circle is divided proportionally to the relative frequency and portions of the circle are allocated for the different groups.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600700" y="6362700"/>
            <a:ext cx="3543300" cy="495300"/>
          </a:xfrm>
          <a:solidFill>
            <a:srgbClr val="FFCC99">
              <a:alpha val="50000"/>
            </a:srgb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en-US"/>
              <a:t>Pie Chart for Running Shoes</a:t>
            </a:r>
          </a:p>
        </p:txBody>
      </p:sp>
      <p:graphicFrame>
        <p:nvGraphicFramePr>
          <p:cNvPr id="67587" name="Object 3"/>
          <p:cNvGraphicFramePr>
            <a:graphicFrameLocks noGrp="1"/>
          </p:cNvGraphicFramePr>
          <p:nvPr>
            <p:ph idx="1"/>
          </p:nvPr>
        </p:nvGraphicFramePr>
        <p:xfrm>
          <a:off x="438150" y="1423988"/>
          <a:ext cx="7734300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8" name="Chart" r:id="rId4" imgW="7772535" imgH="4114890" progId="MSGraph.Chart.8">
                  <p:embed followColorScheme="full"/>
                </p:oleObj>
              </mc:Choice>
              <mc:Fallback>
                <p:oleObj name="Chart" r:id="rId4" imgW="7772535" imgH="4114890" progId="MSGraph.Chart.8">
                  <p:embed followColorScheme="full"/>
                  <p:pic>
                    <p:nvPicPr>
                      <p:cNvPr id="0" name="Picture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1423988"/>
                        <a:ext cx="7734300" cy="409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sz="1400" b="1" i="1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1355725" y="647700"/>
            <a:ext cx="4857750" cy="579438"/>
          </a:xfrm>
          <a:prstGeom prst="rect">
            <a:avLst/>
          </a:pr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Pie Chart for Running Shoes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7E0A197365045BAADC1BA69E208F6" ma:contentTypeVersion="7" ma:contentTypeDescription="Create a new document." ma:contentTypeScope="" ma:versionID="50e3b56ed0b5328d7e479d584526dd68">
  <xsd:schema xmlns:xsd="http://www.w3.org/2001/XMLSchema" xmlns:xs="http://www.w3.org/2001/XMLSchema" xmlns:p="http://schemas.microsoft.com/office/2006/metadata/properties" xmlns:ns2="ddefad68-299a-45a1-aeb7-e6ae0d2d3333" targetNamespace="http://schemas.microsoft.com/office/2006/metadata/properties" ma:root="true" ma:fieldsID="673c24554e710447af16be272b637f7f" ns2:_="">
    <xsd:import namespace="ddefad68-299a-45a1-aeb7-e6ae0d2d3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fad68-299a-45a1-aeb7-e6ae0d2d3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1595F9-1E07-4C97-8447-6F8367315D9C}"/>
</file>

<file path=customXml/itemProps2.xml><?xml version="1.0" encoding="utf-8"?>
<ds:datastoreItem xmlns:ds="http://schemas.openxmlformats.org/officeDocument/2006/customXml" ds:itemID="{7D1E14D6-64DE-4E28-BFD4-C0BFC29EF0B7}"/>
</file>

<file path=customXml/itemProps3.xml><?xml version="1.0" encoding="utf-8"?>
<ds:datastoreItem xmlns:ds="http://schemas.openxmlformats.org/officeDocument/2006/customXml" ds:itemID="{3840E1FC-FFC6-404E-8959-C869B57D5D6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3273</TotalTime>
  <Words>885</Words>
  <Application>Microsoft Office PowerPoint</Application>
  <PresentationFormat>On-screen Show (4:3)</PresentationFormat>
  <Paragraphs>154</Paragraphs>
  <Slides>30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Default Design</vt:lpstr>
      <vt:lpstr>Document</vt:lpstr>
      <vt:lpstr>Chart</vt:lpstr>
      <vt:lpstr>Worksheet</vt:lpstr>
      <vt:lpstr>Frequency distribution and Chart Building</vt:lpstr>
      <vt:lpstr>PowerPoint Presentation</vt:lpstr>
      <vt:lpstr>Goals</vt:lpstr>
      <vt:lpstr>Frequency Distribution</vt:lpstr>
      <vt:lpstr>Constructing a frequency distribution</vt:lpstr>
      <vt:lpstr>Constructing a frequency distribution</vt:lpstr>
      <vt:lpstr>Constructing a frequency distribution</vt:lpstr>
      <vt:lpstr>Constructing a frequency distribution</vt:lpstr>
      <vt:lpstr>Constructing a frequency distribution</vt:lpstr>
      <vt:lpstr>Constructing a frequency distribution</vt:lpstr>
      <vt:lpstr>Definitions</vt:lpstr>
      <vt:lpstr>EXAMPLE 1</vt:lpstr>
      <vt:lpstr>Example 1 continued</vt:lpstr>
      <vt:lpstr>Example 1 continued</vt:lpstr>
      <vt:lpstr>EXAMPLE 1 continued</vt:lpstr>
      <vt:lpstr>Example 1 continued</vt:lpstr>
      <vt:lpstr>Example 1 continued</vt:lpstr>
      <vt:lpstr>Graphic Presentation of a Frequency Distribution</vt:lpstr>
      <vt:lpstr>Histogram for Hours Spent Studying</vt:lpstr>
      <vt:lpstr> Graphic Presentation of a Frequency Distribution </vt:lpstr>
      <vt:lpstr>Frequency Polygon for Hours Spent Studying</vt:lpstr>
      <vt:lpstr>Cumulative Frequency distribution</vt:lpstr>
      <vt:lpstr>Cumulative frequency table</vt:lpstr>
      <vt:lpstr>Cumulative Frequency Distribution For Hours Studying</vt:lpstr>
      <vt:lpstr>Line Graphs</vt:lpstr>
      <vt:lpstr>Example 3 continued</vt:lpstr>
      <vt:lpstr>Bar Chart</vt:lpstr>
      <vt:lpstr>Bar Chart for the Unemployment Data</vt:lpstr>
      <vt:lpstr>Pie Chart</vt:lpstr>
      <vt:lpstr>Pie Chart for Running Shoes</vt:lpstr>
    </vt:vector>
  </TitlesOfParts>
  <Company>MCGRAW-HILL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bethany_stubbe</dc:creator>
  <cp:lastModifiedBy>Ahahmad Hossain</cp:lastModifiedBy>
  <cp:revision>115</cp:revision>
  <dcterms:created xsi:type="dcterms:W3CDTF">1998-07-27T15:17:12Z</dcterms:created>
  <dcterms:modified xsi:type="dcterms:W3CDTF">2026-02-04T07:28:39Z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0x010100FB07E0A197365045BAADC1BA69E208F6</vt:lpwstr>
  </property>
</Properties>
</file>