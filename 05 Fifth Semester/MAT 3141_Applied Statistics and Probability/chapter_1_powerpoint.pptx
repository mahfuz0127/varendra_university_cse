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13.xml" ContentType="application/vnd.openxmlformats-officedocument.presentationml.slide+xml"/>
  <Override PartName="/ppt/slides/slide26.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27.xml" ContentType="application/vnd.openxmlformats-officedocument.presentationml.slide+xml"/>
  <Override PartName="/ppt/slides/slide9.xml" ContentType="application/vnd.openxmlformats-officedocument.presentationml.slide+xml"/>
  <Override PartName="/ppt/slides/slide28.xml" ContentType="application/vnd.openxmlformats-officedocument.presentationml.slide+xml"/>
  <Override PartName="/ppt/slides/slide14.xml" ContentType="application/vnd.openxmlformats-officedocument.presentationml.slide+xml"/>
  <Override PartName="/ppt/slides/slide25.xml" ContentType="application/vnd.openxmlformats-officedocument.presentationml.slide+xml"/>
  <Override PartName="/ppt/slides/slide15.xml" ContentType="application/vnd.openxmlformats-officedocument.presentationml.slide+xml"/>
  <Override PartName="/ppt/slides/slide22.xml" ContentType="application/vnd.openxmlformats-officedocument.presentationml.slide+xml"/>
  <Override PartName="/ppt/slides/slide20.xml" ContentType="application/vnd.openxmlformats-officedocument.presentationml.slide+xml"/>
  <Override PartName="/ppt/slides/slide23.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1.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4.xml" ContentType="application/vnd.openxmlformats-officedocument.presentationml.slide+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4" r:id="rId1"/>
  </p:sldMasterIdLst>
  <p:notesMasterIdLst>
    <p:notesMasterId r:id="rId34"/>
  </p:notesMasterIdLst>
  <p:sldIdLst>
    <p:sldId id="280" r:id="rId2"/>
    <p:sldId id="298" r:id="rId3"/>
    <p:sldId id="299" r:id="rId4"/>
    <p:sldId id="279" r:id="rId5"/>
    <p:sldId id="276" r:id="rId6"/>
    <p:sldId id="260" r:id="rId7"/>
    <p:sldId id="261" r:id="rId8"/>
    <p:sldId id="292" r:id="rId9"/>
    <p:sldId id="293" r:id="rId10"/>
    <p:sldId id="296" r:id="rId11"/>
    <p:sldId id="294" r:id="rId12"/>
    <p:sldId id="264" r:id="rId13"/>
    <p:sldId id="263" r:id="rId14"/>
    <p:sldId id="289" r:id="rId15"/>
    <p:sldId id="288" r:id="rId16"/>
    <p:sldId id="265" r:id="rId17"/>
    <p:sldId id="266" r:id="rId18"/>
    <p:sldId id="267" r:id="rId19"/>
    <p:sldId id="277" r:id="rId20"/>
    <p:sldId id="269" r:id="rId21"/>
    <p:sldId id="271" r:id="rId22"/>
    <p:sldId id="278" r:id="rId23"/>
    <p:sldId id="273" r:id="rId24"/>
    <p:sldId id="274" r:id="rId25"/>
    <p:sldId id="275" r:id="rId26"/>
    <p:sldId id="281" r:id="rId27"/>
    <p:sldId id="286" r:id="rId28"/>
    <p:sldId id="282" r:id="rId29"/>
    <p:sldId id="283" r:id="rId30"/>
    <p:sldId id="284" r:id="rId31"/>
    <p:sldId id="285" r:id="rId32"/>
    <p:sldId id="287" r:id="rId33"/>
  </p:sldIdLst>
  <p:sldSz cx="9144000" cy="6858000" type="screen4x3"/>
  <p:notesSz cx="6858000" cy="9144000"/>
  <p:defaultTextStyle>
    <a:defPPr>
      <a:defRPr lang="en-US"/>
    </a:defPPr>
    <a:lvl1pPr algn="l" rtl="0" eaLnBrk="0" fontAlgn="base" hangingPunct="0">
      <a:spcBef>
        <a:spcPct val="0"/>
      </a:spcBef>
      <a:spcAft>
        <a:spcPct val="0"/>
      </a:spcAft>
      <a:defRPr sz="1400" b="1" i="1" kern="1200">
        <a:solidFill>
          <a:srgbClr val="FFCC00"/>
        </a:solidFill>
        <a:latin typeface="Times New Roman" panose="02020603050405020304" pitchFamily="18" charset="0"/>
        <a:ea typeface="+mn-ea"/>
        <a:cs typeface="+mn-cs"/>
      </a:defRPr>
    </a:lvl1pPr>
    <a:lvl2pPr marL="457200" algn="l" rtl="0" eaLnBrk="0" fontAlgn="base" hangingPunct="0">
      <a:spcBef>
        <a:spcPct val="0"/>
      </a:spcBef>
      <a:spcAft>
        <a:spcPct val="0"/>
      </a:spcAft>
      <a:defRPr sz="1400" b="1" i="1" kern="1200">
        <a:solidFill>
          <a:srgbClr val="FFCC00"/>
        </a:solidFill>
        <a:latin typeface="Times New Roman" panose="02020603050405020304" pitchFamily="18" charset="0"/>
        <a:ea typeface="+mn-ea"/>
        <a:cs typeface="+mn-cs"/>
      </a:defRPr>
    </a:lvl2pPr>
    <a:lvl3pPr marL="914400" algn="l" rtl="0" eaLnBrk="0" fontAlgn="base" hangingPunct="0">
      <a:spcBef>
        <a:spcPct val="0"/>
      </a:spcBef>
      <a:spcAft>
        <a:spcPct val="0"/>
      </a:spcAft>
      <a:defRPr sz="1400" b="1" i="1" kern="1200">
        <a:solidFill>
          <a:srgbClr val="FFCC00"/>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1400" b="1" i="1" kern="1200">
        <a:solidFill>
          <a:srgbClr val="FFCC00"/>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1400" b="1" i="1" kern="1200">
        <a:solidFill>
          <a:srgbClr val="FFCC00"/>
        </a:solidFill>
        <a:latin typeface="Times New Roman" panose="02020603050405020304" pitchFamily="18" charset="0"/>
        <a:ea typeface="+mn-ea"/>
        <a:cs typeface="+mn-cs"/>
      </a:defRPr>
    </a:lvl5pPr>
    <a:lvl6pPr marL="2286000" algn="l" defTabSz="914400" rtl="0" eaLnBrk="1" latinLnBrk="0" hangingPunct="1">
      <a:defRPr sz="1400" b="1" i="1" kern="1200">
        <a:solidFill>
          <a:srgbClr val="FFCC00"/>
        </a:solidFill>
        <a:latin typeface="Times New Roman" panose="02020603050405020304" pitchFamily="18" charset="0"/>
        <a:ea typeface="+mn-ea"/>
        <a:cs typeface="+mn-cs"/>
      </a:defRPr>
    </a:lvl6pPr>
    <a:lvl7pPr marL="2743200" algn="l" defTabSz="914400" rtl="0" eaLnBrk="1" latinLnBrk="0" hangingPunct="1">
      <a:defRPr sz="1400" b="1" i="1" kern="1200">
        <a:solidFill>
          <a:srgbClr val="FFCC00"/>
        </a:solidFill>
        <a:latin typeface="Times New Roman" panose="02020603050405020304" pitchFamily="18" charset="0"/>
        <a:ea typeface="+mn-ea"/>
        <a:cs typeface="+mn-cs"/>
      </a:defRPr>
    </a:lvl7pPr>
    <a:lvl8pPr marL="3200400" algn="l" defTabSz="914400" rtl="0" eaLnBrk="1" latinLnBrk="0" hangingPunct="1">
      <a:defRPr sz="1400" b="1" i="1" kern="1200">
        <a:solidFill>
          <a:srgbClr val="FFCC00"/>
        </a:solidFill>
        <a:latin typeface="Times New Roman" panose="02020603050405020304" pitchFamily="18" charset="0"/>
        <a:ea typeface="+mn-ea"/>
        <a:cs typeface="+mn-cs"/>
      </a:defRPr>
    </a:lvl8pPr>
    <a:lvl9pPr marL="3657600" algn="l" defTabSz="914400" rtl="0" eaLnBrk="1" latinLnBrk="0" hangingPunct="1">
      <a:defRPr sz="1400" b="1" i="1" kern="1200">
        <a:solidFill>
          <a:srgbClr val="FFCC00"/>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0"/>
      </p:ext>
    </p:extLst>
  </p:showPr>
  <p:clrMru>
    <a:srgbClr val="006600"/>
    <a:srgbClr val="993300"/>
    <a:srgbClr val="7912EA"/>
    <a:srgbClr val="FFCA7B"/>
    <a:srgbClr val="0066CC"/>
    <a:srgbClr val="000099"/>
    <a:srgbClr val="FF3300"/>
    <a:srgbClr val="FFFCF7"/>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40" autoAdjust="0"/>
    <p:restoredTop sz="94581" autoAdjust="0"/>
  </p:normalViewPr>
  <p:slideViewPr>
    <p:cSldViewPr snapToGrid="0">
      <p:cViewPr varScale="1">
        <p:scale>
          <a:sx n="73" d="100"/>
          <a:sy n="73" d="100"/>
        </p:scale>
        <p:origin x="-1746" y="-102"/>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402"/>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s>
</file>

<file path=ppt/_rels/viewProps.xml.rels><?xml version="1.0" encoding="UTF-8" standalone="yes"?>
<Relationships xmlns="http://schemas.openxmlformats.org/package/2006/relationships"><Relationship Id="rId1" Type="http://schemas.openxmlformats.org/officeDocument/2006/relationships/slide" Target="slides/slide4.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 Id="rId5" Type="http://schemas.openxmlformats.org/officeDocument/2006/relationships/image" Target="../media/image20.wmf"/><Relationship Id="rId4" Type="http://schemas.openxmlformats.org/officeDocument/2006/relationships/image" Target="../media/image19.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0" i="0">
                <a:solidFill>
                  <a:schemeClr val="tx1"/>
                </a:solidFill>
              </a:defRPr>
            </a:lvl1pPr>
          </a:lstStyle>
          <a:p>
            <a:endParaRPr lang="en-US"/>
          </a:p>
        </p:txBody>
      </p:sp>
      <p:sp>
        <p:nvSpPr>
          <p:cNvPr id="32771"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i="0">
                <a:solidFill>
                  <a:schemeClr val="tx1"/>
                </a:solidFill>
              </a:defRPr>
            </a:lvl1pPr>
          </a:lstStyle>
          <a:p>
            <a:endParaRPr lang="en-US"/>
          </a:p>
        </p:txBody>
      </p:sp>
      <p:sp>
        <p:nvSpPr>
          <p:cNvPr id="327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xmlns="">
                <a:effectLst>
                  <a:outerShdw dist="35921" dir="2700000" algn="ctr" rotWithShape="0">
                    <a:srgbClr val="808080"/>
                  </a:outerShdw>
                </a:effectLst>
              </a14:hiddenEffects>
            </a:ext>
            <a:ext uri="{53640926-AAD7-44D8-BBD7-CCE9431645EC}">
              <a14:shadowObscured xmlns:a14="http://schemas.microsoft.com/office/drawing/2010/main" xmlns="" val="1"/>
            </a:ext>
          </a:extLst>
        </p:spPr>
      </p:sp>
      <p:sp>
        <p:nvSpPr>
          <p:cNvPr id="32773"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32774"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0" i="0">
                <a:solidFill>
                  <a:schemeClr val="tx1"/>
                </a:solidFill>
              </a:defRPr>
            </a:lvl1pPr>
          </a:lstStyle>
          <a:p>
            <a:endParaRPr lang="en-US"/>
          </a:p>
        </p:txBody>
      </p:sp>
      <p:sp>
        <p:nvSpPr>
          <p:cNvPr id="32775"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i="0">
                <a:solidFill>
                  <a:schemeClr val="tx1"/>
                </a:solidFill>
              </a:defRPr>
            </a:lvl1pPr>
          </a:lstStyle>
          <a:p>
            <a:fld id="{A4059036-7A13-4F83-986E-767D04882526}" type="slidenum">
              <a:rPr lang="en-US"/>
              <a:pPr/>
              <a:t>‹#›</a:t>
            </a:fld>
            <a:endParaRPr lang="en-US"/>
          </a:p>
        </p:txBody>
      </p:sp>
    </p:spTree>
    <p:extLst>
      <p:ext uri="{BB962C8B-B14F-4D97-AF65-F5344CB8AC3E}">
        <p14:creationId xmlns:p14="http://schemas.microsoft.com/office/powerpoint/2010/main" xmlns="" val="46906790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143000" y="360203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Tree>
    <p:extLst>
      <p:ext uri="{BB962C8B-B14F-4D97-AF65-F5344CB8AC3E}">
        <p14:creationId xmlns:p14="http://schemas.microsoft.com/office/powerpoint/2010/main" xmlns="" val="3704835426"/>
      </p:ext>
    </p:extLst>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xmlns="" val="3643230759"/>
      </p:ext>
    </p:extLst>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Tree>
    <p:extLst>
      <p:ext uri="{BB962C8B-B14F-4D97-AF65-F5344CB8AC3E}">
        <p14:creationId xmlns:p14="http://schemas.microsoft.com/office/powerpoint/2010/main" xmlns="" val="3671414687"/>
      </p:ext>
    </p:extLst>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628650" y="1825625"/>
            <a:ext cx="3867150" cy="435133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825625"/>
            <a:ext cx="3867150" cy="435133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xmlns="" val="1458120227"/>
      </p:ext>
    </p:extLst>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2505075"/>
            <a:ext cx="3868737" cy="368458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788" cy="368458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xmlns="" val="232997652"/>
      </p:ext>
    </p:extLst>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Tree>
    <p:extLst>
      <p:ext uri="{BB962C8B-B14F-4D97-AF65-F5344CB8AC3E}">
        <p14:creationId xmlns:p14="http://schemas.microsoft.com/office/powerpoint/2010/main" xmlns="" val="3373800660"/>
      </p:ext>
    </p:extLst>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528630493"/>
      </p:ext>
    </p:extLst>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Tree>
    <p:extLst>
      <p:ext uri="{BB962C8B-B14F-4D97-AF65-F5344CB8AC3E}">
        <p14:creationId xmlns:p14="http://schemas.microsoft.com/office/powerpoint/2010/main" xmlns="" val="2542924930"/>
      </p:ext>
    </p:extLst>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Tree>
    <p:extLst>
      <p:ext uri="{BB962C8B-B14F-4D97-AF65-F5344CB8AC3E}">
        <p14:creationId xmlns:p14="http://schemas.microsoft.com/office/powerpoint/2010/main" xmlns="" val="138821017"/>
      </p:ext>
    </p:extLst>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xmlns="" val="2250401407"/>
      </p:ext>
    </p:extLst>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7988" y="1825625"/>
            <a:ext cx="2043112" cy="44037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28650" y="1825625"/>
            <a:ext cx="5976938" cy="44037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xmlns="" val="2785069731"/>
      </p:ext>
    </p:extLst>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5006975" y="5732463"/>
            <a:ext cx="3794125" cy="496887"/>
          </a:xfrm>
        </p:spPr>
        <p:txBody>
          <a:bodyPr/>
          <a:lstStyle/>
          <a:p>
            <a:r>
              <a:rPr lang="en-US" smtClean="0"/>
              <a:t>Click to edit Master title style</a:t>
            </a:r>
            <a:endParaRPr lang="en-GB"/>
          </a:p>
        </p:txBody>
      </p:sp>
      <p:sp>
        <p:nvSpPr>
          <p:cNvPr id="3" name="Content Placeholder 2"/>
          <p:cNvSpPr>
            <a:spLocks noGrp="1"/>
          </p:cNvSpPr>
          <p:nvPr>
            <p:ph sz="quarter" idx="1"/>
          </p:nvPr>
        </p:nvSpPr>
        <p:spPr>
          <a:xfrm>
            <a:off x="628650" y="1825625"/>
            <a:ext cx="3867150" cy="2098675"/>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quarter" idx="2"/>
          </p:nvPr>
        </p:nvSpPr>
        <p:spPr>
          <a:xfrm>
            <a:off x="4648200" y="1825625"/>
            <a:ext cx="3867150" cy="2098675"/>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Content Placeholder 4"/>
          <p:cNvSpPr>
            <a:spLocks noGrp="1"/>
          </p:cNvSpPr>
          <p:nvPr>
            <p:ph sz="quarter" idx="3"/>
          </p:nvPr>
        </p:nvSpPr>
        <p:spPr>
          <a:xfrm>
            <a:off x="628650" y="4076700"/>
            <a:ext cx="3867150" cy="21002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Content Placeholder 5"/>
          <p:cNvSpPr>
            <a:spLocks noGrp="1"/>
          </p:cNvSpPr>
          <p:nvPr>
            <p:ph sz="quarter" idx="4"/>
          </p:nvPr>
        </p:nvSpPr>
        <p:spPr>
          <a:xfrm>
            <a:off x="4648200" y="4076700"/>
            <a:ext cx="3867150" cy="21002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xmlns="" val="2723574768"/>
      </p:ext>
    </p:extLst>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5006975" y="5732463"/>
            <a:ext cx="3794125" cy="496887"/>
          </a:xfrm>
        </p:spPr>
        <p:txBody>
          <a:bodyPr/>
          <a:lstStyle/>
          <a:p>
            <a:r>
              <a:rPr lang="en-US" smtClean="0"/>
              <a:t>Click to edit Master title style</a:t>
            </a:r>
            <a:endParaRPr lang="en-GB"/>
          </a:p>
        </p:txBody>
      </p:sp>
      <p:sp>
        <p:nvSpPr>
          <p:cNvPr id="3" name="Content Placeholder 2"/>
          <p:cNvSpPr>
            <a:spLocks noGrp="1"/>
          </p:cNvSpPr>
          <p:nvPr>
            <p:ph sz="half" idx="1"/>
          </p:nvPr>
        </p:nvSpPr>
        <p:spPr>
          <a:xfrm>
            <a:off x="628650" y="1825625"/>
            <a:ext cx="3867150" cy="435133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quarter" idx="2"/>
          </p:nvPr>
        </p:nvSpPr>
        <p:spPr>
          <a:xfrm>
            <a:off x="4648200" y="1825625"/>
            <a:ext cx="3867150" cy="2098675"/>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Content Placeholder 4"/>
          <p:cNvSpPr>
            <a:spLocks noGrp="1"/>
          </p:cNvSpPr>
          <p:nvPr>
            <p:ph sz="quarter" idx="3"/>
          </p:nvPr>
        </p:nvSpPr>
        <p:spPr>
          <a:xfrm>
            <a:off x="4648200" y="4076700"/>
            <a:ext cx="3867150" cy="21002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xmlns="" val="1264303302"/>
      </p:ext>
    </p:extLst>
  </p:cSld>
  <p:clrMapOvr>
    <a:masterClrMapping/>
  </p:clrMapOvr>
  <p:transition>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dgm" preserve="1">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5006975" y="5732463"/>
            <a:ext cx="3794125" cy="496887"/>
          </a:xfrm>
        </p:spPr>
        <p:txBody>
          <a:bodyPr/>
          <a:lstStyle/>
          <a:p>
            <a:r>
              <a:rPr lang="en-US" smtClean="0"/>
              <a:t>Click to edit Master title style</a:t>
            </a:r>
            <a:endParaRPr lang="en-GB"/>
          </a:p>
        </p:txBody>
      </p:sp>
      <p:sp>
        <p:nvSpPr>
          <p:cNvPr id="3" name="SmartArt Placeholder 2"/>
          <p:cNvSpPr>
            <a:spLocks noGrp="1"/>
          </p:cNvSpPr>
          <p:nvPr>
            <p:ph type="dgm" idx="1"/>
          </p:nvPr>
        </p:nvSpPr>
        <p:spPr>
          <a:xfrm>
            <a:off x="628650" y="1825625"/>
            <a:ext cx="7886700" cy="4351338"/>
          </a:xfrm>
          <a:prstGeom prst="rect">
            <a:avLst/>
          </a:prstGeom>
        </p:spPr>
        <p:txBody>
          <a:bodyPr/>
          <a:lstStyle/>
          <a:p>
            <a:endParaRPr lang="en-GB"/>
          </a:p>
        </p:txBody>
      </p:sp>
    </p:spTree>
    <p:extLst>
      <p:ext uri="{BB962C8B-B14F-4D97-AF65-F5344CB8AC3E}">
        <p14:creationId xmlns:p14="http://schemas.microsoft.com/office/powerpoint/2010/main" xmlns="" val="649473204"/>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31779" name="Rectangle 1059"/>
          <p:cNvSpPr>
            <a:spLocks noGrp="1" noChangeArrowheads="1"/>
          </p:cNvSpPr>
          <p:nvPr>
            <p:ph type="title"/>
          </p:nvPr>
        </p:nvSpPr>
        <p:spPr bwMode="auto">
          <a:xfrm>
            <a:off x="5006975" y="5732463"/>
            <a:ext cx="3794125" cy="496887"/>
          </a:xfrm>
          <a:prstGeom prst="rect">
            <a:avLst/>
          </a:prstGeom>
          <a:solidFill>
            <a:srgbClr val="FFCC99">
              <a:alpha val="50000"/>
            </a:srgbClr>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31790" name="Text Box 1070"/>
          <p:cNvSpPr txBox="1">
            <a:spLocks noChangeArrowheads="1"/>
          </p:cNvSpPr>
          <p:nvPr userDrawn="1"/>
        </p:nvSpPr>
        <p:spPr bwMode="auto">
          <a:xfrm>
            <a:off x="7737475" y="150813"/>
            <a:ext cx="1114425"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endParaRPr lang="en-US"/>
          </a:p>
        </p:txBody>
      </p:sp>
      <p:sp>
        <p:nvSpPr>
          <p:cNvPr id="31794" name="Text Box 1074"/>
          <p:cNvSpPr txBox="1">
            <a:spLocks noChangeArrowheads="1"/>
          </p:cNvSpPr>
          <p:nvPr userDrawn="1"/>
        </p:nvSpPr>
        <p:spPr bwMode="auto">
          <a:xfrm>
            <a:off x="7432675" y="280988"/>
            <a:ext cx="1489075"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endParaRPr lang="en-US"/>
          </a:p>
        </p:txBody>
      </p:sp>
      <p:sp>
        <p:nvSpPr>
          <p:cNvPr id="31795" name="Text Box 1075"/>
          <p:cNvSpPr txBox="1">
            <a:spLocks noChangeArrowheads="1"/>
          </p:cNvSpPr>
          <p:nvPr userDrawn="1"/>
        </p:nvSpPr>
        <p:spPr bwMode="auto">
          <a:xfrm>
            <a:off x="7350125" y="257175"/>
            <a:ext cx="1793875"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endParaRPr lang="en-US"/>
          </a:p>
        </p:txBody>
      </p:sp>
      <p:sp>
        <p:nvSpPr>
          <p:cNvPr id="31796" name="Text Box 1076"/>
          <p:cNvSpPr txBox="1">
            <a:spLocks noChangeArrowheads="1"/>
          </p:cNvSpPr>
          <p:nvPr userDrawn="1"/>
        </p:nvSpPr>
        <p:spPr bwMode="auto">
          <a:xfrm>
            <a:off x="8053388" y="0"/>
            <a:ext cx="809625"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solidFill>
                  <a:srgbClr val="FF9900"/>
                </a:solidFill>
              </a:rPr>
              <a:t>1-</a:t>
            </a:r>
            <a:fld id="{C16D076D-2F82-452F-852E-34481761D2F9}" type="slidenum">
              <a:rPr lang="en-US">
                <a:solidFill>
                  <a:srgbClr val="FF9900"/>
                </a:solidFill>
              </a:rPr>
              <a:pPr>
                <a:spcBef>
                  <a:spcPct val="50000"/>
                </a:spcBef>
              </a:pPr>
              <a:t>‹#›</a:t>
            </a:fld>
            <a:endParaRPr lang="en-US">
              <a:solidFill>
                <a:srgbClr val="FF9900"/>
              </a:solidFill>
            </a:endParaRPr>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 id="2147483668" r:id="rId14"/>
  </p:sldLayoutIdLst>
  <p:transition>
    <p:zoom/>
  </p:transition>
  <p:txStyles>
    <p:titleStyle>
      <a:lvl1pPr algn="ctr" rtl="0" eaLnBrk="0" fontAlgn="base" hangingPunct="0">
        <a:spcBef>
          <a:spcPct val="0"/>
        </a:spcBef>
        <a:spcAft>
          <a:spcPct val="0"/>
        </a:spcAft>
        <a:defRPr sz="2000" kern="1200">
          <a:solidFill>
            <a:schemeClr val="tx1"/>
          </a:solidFill>
          <a:latin typeface="+mj-lt"/>
          <a:ea typeface="+mj-ea"/>
          <a:cs typeface="+mj-cs"/>
        </a:defRPr>
      </a:lvl1pPr>
      <a:lvl2pPr algn="ctr" rtl="0" eaLnBrk="0" fontAlgn="base" hangingPunct="0">
        <a:spcBef>
          <a:spcPct val="0"/>
        </a:spcBef>
        <a:spcAft>
          <a:spcPct val="0"/>
        </a:spcAft>
        <a:defRPr sz="2000">
          <a:solidFill>
            <a:schemeClr val="tx1"/>
          </a:solidFill>
          <a:latin typeface="Times New Roman" panose="02020603050405020304" pitchFamily="18" charset="0"/>
        </a:defRPr>
      </a:lvl2pPr>
      <a:lvl3pPr algn="ctr" rtl="0" eaLnBrk="0" fontAlgn="base" hangingPunct="0">
        <a:spcBef>
          <a:spcPct val="0"/>
        </a:spcBef>
        <a:spcAft>
          <a:spcPct val="0"/>
        </a:spcAft>
        <a:defRPr sz="2000">
          <a:solidFill>
            <a:schemeClr val="tx1"/>
          </a:solidFill>
          <a:latin typeface="Times New Roman" panose="02020603050405020304" pitchFamily="18" charset="0"/>
        </a:defRPr>
      </a:lvl3pPr>
      <a:lvl4pPr algn="ctr" rtl="0" eaLnBrk="0" fontAlgn="base" hangingPunct="0">
        <a:spcBef>
          <a:spcPct val="0"/>
        </a:spcBef>
        <a:spcAft>
          <a:spcPct val="0"/>
        </a:spcAft>
        <a:defRPr sz="2000">
          <a:solidFill>
            <a:schemeClr val="tx1"/>
          </a:solidFill>
          <a:latin typeface="Times New Roman" panose="02020603050405020304" pitchFamily="18" charset="0"/>
        </a:defRPr>
      </a:lvl4pPr>
      <a:lvl5pPr algn="ctr" rtl="0" eaLnBrk="0" fontAlgn="base" hangingPunct="0">
        <a:spcBef>
          <a:spcPct val="0"/>
        </a:spcBef>
        <a:spcAft>
          <a:spcPct val="0"/>
        </a:spcAft>
        <a:defRPr sz="2000">
          <a:solidFill>
            <a:schemeClr val="tx1"/>
          </a:solidFill>
          <a:latin typeface="Times New Roman" panose="02020603050405020304" pitchFamily="18" charset="0"/>
        </a:defRPr>
      </a:lvl5pPr>
      <a:lvl6pPr marL="457200" algn="ctr" rtl="0" eaLnBrk="0" fontAlgn="base" hangingPunct="0">
        <a:spcBef>
          <a:spcPct val="0"/>
        </a:spcBef>
        <a:spcAft>
          <a:spcPct val="0"/>
        </a:spcAft>
        <a:defRPr sz="2000">
          <a:solidFill>
            <a:schemeClr val="tx1"/>
          </a:solidFill>
          <a:latin typeface="Times New Roman" panose="02020603050405020304" pitchFamily="18" charset="0"/>
        </a:defRPr>
      </a:lvl6pPr>
      <a:lvl7pPr marL="914400" algn="ctr" rtl="0" eaLnBrk="0" fontAlgn="base" hangingPunct="0">
        <a:spcBef>
          <a:spcPct val="0"/>
        </a:spcBef>
        <a:spcAft>
          <a:spcPct val="0"/>
        </a:spcAft>
        <a:defRPr sz="2000">
          <a:solidFill>
            <a:schemeClr val="tx1"/>
          </a:solidFill>
          <a:latin typeface="Times New Roman" panose="02020603050405020304" pitchFamily="18" charset="0"/>
        </a:defRPr>
      </a:lvl7pPr>
      <a:lvl8pPr marL="1371600" algn="ctr" rtl="0" eaLnBrk="0" fontAlgn="base" hangingPunct="0">
        <a:spcBef>
          <a:spcPct val="0"/>
        </a:spcBef>
        <a:spcAft>
          <a:spcPct val="0"/>
        </a:spcAft>
        <a:defRPr sz="2000">
          <a:solidFill>
            <a:schemeClr val="tx1"/>
          </a:solidFill>
          <a:latin typeface="Times New Roman" panose="02020603050405020304" pitchFamily="18" charset="0"/>
        </a:defRPr>
      </a:lvl8pPr>
      <a:lvl9pPr marL="1828800" algn="ctr" rtl="0" eaLnBrk="0" fontAlgn="base" hangingPunct="0">
        <a:spcBef>
          <a:spcPct val="0"/>
        </a:spcBef>
        <a:spcAft>
          <a:spcPct val="0"/>
        </a:spcAft>
        <a:defRPr sz="2000">
          <a:solidFill>
            <a:schemeClr val="tx1"/>
          </a:solidFill>
          <a:latin typeface="Times New Roman" panose="02020603050405020304" pitchFamily="18" charset="0"/>
        </a:defRPr>
      </a:lvl9pPr>
    </p:titleStyle>
    <p:bodyStyle>
      <a:lvl1pPr marL="231775" indent="-231775" algn="l" rtl="0" eaLnBrk="0" fontAlgn="base" hangingPunct="0">
        <a:spcBef>
          <a:spcPct val="20000"/>
        </a:spcBef>
        <a:spcAft>
          <a:spcPct val="0"/>
        </a:spcAft>
        <a:buClr>
          <a:srgbClr val="404960"/>
        </a:buClr>
        <a:buSzPct val="65000"/>
        <a:buFont typeface="Wingdings" panose="05000000000000000000" pitchFamily="2" charset="2"/>
        <a:buChar char="m"/>
        <a:defRPr sz="2400" kern="1200">
          <a:solidFill>
            <a:schemeClr val="tx1"/>
          </a:solidFill>
          <a:latin typeface="+mn-lt"/>
          <a:ea typeface="+mn-ea"/>
          <a:cs typeface="+mn-cs"/>
        </a:defRPr>
      </a:lvl1pPr>
      <a:lvl2pPr marL="571500" indent="-225425" algn="l" rtl="0" eaLnBrk="0" fontAlgn="base" hangingPunct="0">
        <a:spcBef>
          <a:spcPct val="20000"/>
        </a:spcBef>
        <a:spcAft>
          <a:spcPct val="0"/>
        </a:spcAft>
        <a:buClr>
          <a:srgbClr val="990000"/>
        </a:buClr>
        <a:buSzPct val="65000"/>
        <a:buFont typeface="Wingdings" panose="05000000000000000000" pitchFamily="2" charset="2"/>
        <a:buChar char="m"/>
        <a:defRPr sz="2200" kern="1200">
          <a:solidFill>
            <a:schemeClr val="tx1"/>
          </a:solidFill>
          <a:latin typeface="+mn-lt"/>
          <a:ea typeface="+mn-ea"/>
          <a:cs typeface="+mn-cs"/>
        </a:defRPr>
      </a:lvl2pPr>
      <a:lvl3pPr marL="911225" indent="-225425" algn="l" rtl="0" eaLnBrk="0" fontAlgn="base" hangingPunct="0">
        <a:spcBef>
          <a:spcPct val="20000"/>
        </a:spcBef>
        <a:spcAft>
          <a:spcPct val="0"/>
        </a:spcAft>
        <a:buClr>
          <a:schemeClr val="tx1"/>
        </a:buClr>
        <a:buSzPct val="65000"/>
        <a:buFont typeface="Wingdings" panose="05000000000000000000" pitchFamily="2" charset="2"/>
        <a:buChar char="m"/>
        <a:defRPr sz="2000" kern="1200">
          <a:solidFill>
            <a:schemeClr val="tx1"/>
          </a:solidFill>
          <a:latin typeface="+mn-lt"/>
          <a:ea typeface="+mn-ea"/>
          <a:cs typeface="+mn-cs"/>
        </a:defRPr>
      </a:lvl3pPr>
      <a:lvl4pPr marL="1252538" indent="-219075" algn="l" rtl="0" eaLnBrk="0" fontAlgn="base" hangingPunct="0">
        <a:spcBef>
          <a:spcPct val="20000"/>
        </a:spcBef>
        <a:spcAft>
          <a:spcPct val="0"/>
        </a:spcAft>
        <a:buClr>
          <a:srgbClr val="990000"/>
        </a:buClr>
        <a:buSzPct val="65000"/>
        <a:buFont typeface="Wingdings" panose="05000000000000000000" pitchFamily="2" charset="2"/>
        <a:buChar char="m"/>
        <a:defRPr kern="1200">
          <a:solidFill>
            <a:schemeClr val="tx1"/>
          </a:solidFill>
          <a:latin typeface="+mn-lt"/>
          <a:ea typeface="+mn-ea"/>
          <a:cs typeface="+mn-cs"/>
        </a:defRPr>
      </a:lvl4pPr>
      <a:lvl5pPr marL="1604963" indent="-230188" algn="l" rtl="0" eaLnBrk="0" fontAlgn="base" hangingPunct="0">
        <a:spcBef>
          <a:spcPct val="20000"/>
        </a:spcBef>
        <a:spcAft>
          <a:spcPct val="0"/>
        </a:spcAft>
        <a:buClr>
          <a:srgbClr val="404960"/>
        </a:buClr>
        <a:buSzPct val="65000"/>
        <a:buFont typeface="Wingdings" panose="05000000000000000000" pitchFamily="2" charset="2"/>
        <a:buChar char="m"/>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4"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oleObject" Target="../embeddings/oleObject6.bin"/><Relationship Id="rId4" Type="http://schemas.openxmlformats.org/officeDocument/2006/relationships/oleObject" Target="../embeddings/oleObject5.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oleObject" Target="../embeddings/oleObject8.bin"/></Relationships>
</file>

<file path=ppt/slides/_rels/slide11.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4.xml"/><Relationship Id="rId1" Type="http://schemas.openxmlformats.org/officeDocument/2006/relationships/vmlDrawing" Target="../drawings/vmlDrawing5.vml"/><Relationship Id="rId4" Type="http://schemas.openxmlformats.org/officeDocument/2006/relationships/oleObject" Target="../embeddings/oleObject10.bin"/></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6.v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2.bin"/><Relationship Id="rId7" Type="http://schemas.openxmlformats.org/officeDocument/2006/relationships/oleObject" Target="../embeddings/oleObject16.bin"/><Relationship Id="rId2" Type="http://schemas.openxmlformats.org/officeDocument/2006/relationships/slideLayout" Target="../slideLayouts/slideLayout12.xml"/><Relationship Id="rId1" Type="http://schemas.openxmlformats.org/officeDocument/2006/relationships/vmlDrawing" Target="../drawings/vmlDrawing7.vml"/><Relationship Id="rId6" Type="http://schemas.openxmlformats.org/officeDocument/2006/relationships/oleObject" Target="../embeddings/oleObject15.bin"/><Relationship Id="rId5" Type="http://schemas.openxmlformats.org/officeDocument/2006/relationships/oleObject" Target="../embeddings/oleObject14.bin"/><Relationship Id="rId4" Type="http://schemas.openxmlformats.org/officeDocument/2006/relationships/oleObject" Target="../embeddings/oleObject13.bin"/></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3.xml"/><Relationship Id="rId1" Type="http://schemas.openxmlformats.org/officeDocument/2006/relationships/vmlDrawing" Target="../drawings/vmlDrawing8.vml"/><Relationship Id="rId5" Type="http://schemas.openxmlformats.org/officeDocument/2006/relationships/oleObject" Target="../embeddings/oleObject19.bin"/><Relationship Id="rId4" Type="http://schemas.openxmlformats.org/officeDocument/2006/relationships/oleObject" Target="../embeddings/oleObject18.bin"/></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12.xml"/><Relationship Id="rId1" Type="http://schemas.openxmlformats.org/officeDocument/2006/relationships/vmlDrawing" Target="../drawings/vmlDrawing9.vml"/><Relationship Id="rId6" Type="http://schemas.openxmlformats.org/officeDocument/2006/relationships/oleObject" Target="../embeddings/oleObject23.bin"/><Relationship Id="rId5" Type="http://schemas.openxmlformats.org/officeDocument/2006/relationships/oleObject" Target="../embeddings/oleObject22.bin"/><Relationship Id="rId4" Type="http://schemas.openxmlformats.org/officeDocument/2006/relationships/oleObject" Target="../embeddings/oleObject21.bin"/></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13.xml"/><Relationship Id="rId1" Type="http://schemas.openxmlformats.org/officeDocument/2006/relationships/vmlDrawing" Target="../drawings/vmlDrawing10.vml"/><Relationship Id="rId5" Type="http://schemas.openxmlformats.org/officeDocument/2006/relationships/oleObject" Target="../embeddings/oleObject26.bin"/><Relationship Id="rId4" Type="http://schemas.openxmlformats.org/officeDocument/2006/relationships/oleObject" Target="../embeddings/oleObject25.bin"/></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14.xml"/><Relationship Id="rId1" Type="http://schemas.openxmlformats.org/officeDocument/2006/relationships/vmlDrawing" Target="../drawings/vmlDrawing11.v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oleObject" Target="../embeddings/oleObject30.bin"/><Relationship Id="rId4" Type="http://schemas.openxmlformats.org/officeDocument/2006/relationships/oleObject" Target="../embeddings/oleObject29.bin"/></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13.v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2.xml"/><Relationship Id="rId1" Type="http://schemas.openxmlformats.org/officeDocument/2006/relationships/vmlDrawing" Target="../drawings/vmlDrawing14.v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13.xml"/><Relationship Id="rId1" Type="http://schemas.openxmlformats.org/officeDocument/2006/relationships/vmlDrawing" Target="../drawings/vmlDrawing15.vml"/><Relationship Id="rId5" Type="http://schemas.openxmlformats.org/officeDocument/2006/relationships/oleObject" Target="../embeddings/oleObject35.bin"/><Relationship Id="rId4" Type="http://schemas.openxmlformats.org/officeDocument/2006/relationships/oleObject" Target="../embeddings/oleObject34.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9979" y="1867987"/>
            <a:ext cx="6648994" cy="1201784"/>
          </a:xfrm>
        </p:spPr>
        <p:txBody>
          <a:bodyPr/>
          <a:lstStyle/>
          <a:p>
            <a:r>
              <a:rPr lang="en-GB" sz="4000" dirty="0" smtClean="0">
                <a:solidFill>
                  <a:srgbClr val="92D050"/>
                </a:solidFill>
              </a:rPr>
              <a:t>Basic Statistics </a:t>
            </a:r>
            <a:r>
              <a:rPr lang="en-GB" sz="4000" dirty="0" smtClean="0">
                <a:solidFill>
                  <a:srgbClr val="92D050"/>
                </a:solidFill>
              </a:rPr>
              <a:t>and Probability (</a:t>
            </a:r>
            <a:r>
              <a:rPr lang="en-GB" sz="4000" dirty="0" smtClean="0">
                <a:solidFill>
                  <a:srgbClr val="92D050"/>
                </a:solidFill>
              </a:rPr>
              <a:t>STA-231)</a:t>
            </a:r>
            <a:endParaRPr lang="en-GB" sz="4000" dirty="0">
              <a:solidFill>
                <a:srgbClr val="92D050"/>
              </a:solidFill>
            </a:endParaRPr>
          </a:p>
        </p:txBody>
      </p:sp>
      <p:sp>
        <p:nvSpPr>
          <p:cNvPr id="4" name="TextBox 3"/>
          <p:cNvSpPr txBox="1"/>
          <p:nvPr/>
        </p:nvSpPr>
        <p:spPr>
          <a:xfrm>
            <a:off x="3685788" y="3452032"/>
            <a:ext cx="4199021" cy="2554545"/>
          </a:xfrm>
          <a:prstGeom prst="rect">
            <a:avLst/>
          </a:prstGeom>
          <a:noFill/>
        </p:spPr>
        <p:txBody>
          <a:bodyPr wrap="square" rtlCol="0">
            <a:spAutoFit/>
          </a:bodyPr>
          <a:lstStyle/>
          <a:p>
            <a:r>
              <a:rPr lang="en-GB" sz="2000" b="0" i="0" dirty="0" smtClean="0">
                <a:solidFill>
                  <a:srgbClr val="00B0F0"/>
                </a:solidFill>
              </a:rPr>
              <a:t>Ahammad Hossain</a:t>
            </a:r>
          </a:p>
          <a:p>
            <a:r>
              <a:rPr lang="en-GB" sz="2000" b="0" i="0" dirty="0" smtClean="0">
                <a:solidFill>
                  <a:srgbClr val="00B0F0"/>
                </a:solidFill>
              </a:rPr>
              <a:t>Lecturer in Statistics</a:t>
            </a:r>
          </a:p>
          <a:p>
            <a:r>
              <a:rPr lang="en-GB" sz="2000" b="0" i="0" dirty="0" smtClean="0">
                <a:solidFill>
                  <a:srgbClr val="00B0F0"/>
                </a:solidFill>
              </a:rPr>
              <a:t>Department of Natural Science</a:t>
            </a:r>
          </a:p>
          <a:p>
            <a:r>
              <a:rPr lang="en-GB" sz="2000" b="0" i="0" dirty="0" smtClean="0">
                <a:solidFill>
                  <a:srgbClr val="00B0F0"/>
                </a:solidFill>
              </a:rPr>
              <a:t>Varendra University, Rajshahi-6204</a:t>
            </a:r>
          </a:p>
          <a:p>
            <a:r>
              <a:rPr lang="en-GB" sz="2000" b="0" i="0" dirty="0" smtClean="0">
                <a:solidFill>
                  <a:srgbClr val="00B0F0"/>
                </a:solidFill>
              </a:rPr>
              <a:t>E-mail: ahammadstatru@gmail.com</a:t>
            </a:r>
          </a:p>
          <a:p>
            <a:r>
              <a:rPr lang="en-GB" sz="2000" b="0" i="0" dirty="0" smtClean="0">
                <a:solidFill>
                  <a:srgbClr val="00B0F0"/>
                </a:solidFill>
              </a:rPr>
              <a:t>Cell: 01762327094</a:t>
            </a:r>
          </a:p>
          <a:p>
            <a:endParaRPr lang="en-GB" sz="2000" b="0" i="0" dirty="0" smtClean="0">
              <a:solidFill>
                <a:srgbClr val="00B0F0"/>
              </a:solidFill>
            </a:endParaRPr>
          </a:p>
          <a:p>
            <a:endParaRPr lang="en-GB" sz="2000" b="0" i="0" dirty="0">
              <a:solidFill>
                <a:srgbClr val="00B0F0"/>
              </a:solidFill>
            </a:endParaRPr>
          </a:p>
        </p:txBody>
      </p:sp>
      <p:pic>
        <p:nvPicPr>
          <p:cNvPr id="63490" name="Picture 2" descr="VU Logo"/>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753854" y="469232"/>
            <a:ext cx="1201904" cy="1094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1674088179"/>
      </p:ext>
    </p:extLst>
  </p:cSld>
  <p:clrMapOvr>
    <a:masterClrMapping/>
  </p:clrMapOvr>
  <p:transition>
    <p:zo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2420938"/>
            <a:ext cx="8458200" cy="4208462"/>
          </a:xfrm>
          <a:blipFill>
            <a:blip r:embed="rId2" cstate="print"/>
            <a:tile tx="0" ty="0" sx="100000" sy="100000" flip="none" algn="tl"/>
          </a:blipFill>
          <a:ln>
            <a:solidFill>
              <a:srgbClr val="7030A0"/>
            </a:solidFill>
          </a:ln>
        </p:spPr>
        <p:txBody>
          <a:bodyPr>
            <a:normAutofit fontScale="25000" lnSpcReduction="20000"/>
          </a:bodyPr>
          <a:lstStyle/>
          <a:p>
            <a:pPr>
              <a:buFontTx/>
              <a:buNone/>
              <a:defRPr/>
            </a:pPr>
            <a:r>
              <a:rPr lang="en-US" sz="7200" b="1" dirty="0" smtClean="0">
                <a:solidFill>
                  <a:srgbClr val="7030A0"/>
                </a:solidFill>
                <a:latin typeface="Comic Sans MS" pitchFamily="66" charset="0"/>
                <a:cs typeface="Times New Roman" pitchFamily="18" charset="0"/>
              </a:rPr>
              <a:t>Education</a:t>
            </a:r>
          </a:p>
          <a:p>
            <a:pPr>
              <a:buFontTx/>
              <a:buNone/>
              <a:defRPr/>
            </a:pPr>
            <a:endParaRPr lang="en-US" sz="3000" b="1" dirty="0" smtClean="0">
              <a:cs typeface="Times New Roman" pitchFamily="18" charset="0"/>
            </a:endParaRPr>
          </a:p>
          <a:p>
            <a:pPr>
              <a:buFont typeface="Wingdings" pitchFamily="2" charset="2"/>
              <a:buChar char="v"/>
              <a:defRPr/>
            </a:pPr>
            <a:r>
              <a:rPr lang="en-US" sz="5600" dirty="0" smtClean="0">
                <a:latin typeface="Comic Sans MS" pitchFamily="66" charset="0"/>
                <a:cs typeface="Times New Roman" pitchFamily="18" charset="0"/>
              </a:rPr>
              <a:t>PhD Fellow, Institute of Bangladesh Studies, Rajshahi University</a:t>
            </a:r>
          </a:p>
          <a:p>
            <a:pPr>
              <a:buFont typeface="Wingdings" pitchFamily="2" charset="2"/>
              <a:buChar char="v"/>
              <a:defRPr/>
            </a:pPr>
            <a:r>
              <a:rPr lang="en-US" sz="5600" dirty="0" smtClean="0">
                <a:latin typeface="Comic Sans MS" pitchFamily="66" charset="0"/>
              </a:rPr>
              <a:t>M.Sc. in Statistics, </a:t>
            </a:r>
            <a:r>
              <a:rPr lang="en-US" sz="5600" dirty="0" smtClean="0">
                <a:latin typeface="Comic Sans MS" pitchFamily="66" charset="0"/>
                <a:cs typeface="Times New Roman" pitchFamily="18" charset="0"/>
              </a:rPr>
              <a:t>Rajshahi University </a:t>
            </a:r>
            <a:endParaRPr lang="en-US" sz="5600" dirty="0" smtClean="0">
              <a:latin typeface="Comic Sans MS" pitchFamily="66" charset="0"/>
            </a:endParaRPr>
          </a:p>
          <a:p>
            <a:pPr>
              <a:buFont typeface="Wingdings" pitchFamily="2" charset="2"/>
              <a:buChar char="v"/>
              <a:defRPr/>
            </a:pPr>
            <a:r>
              <a:rPr lang="en-US" sz="5600" dirty="0" smtClean="0">
                <a:latin typeface="Comic Sans MS" pitchFamily="66" charset="0"/>
                <a:cs typeface="Times New Roman" pitchFamily="18" charset="0"/>
              </a:rPr>
              <a:t>B.Sc. (Hon’s) in Statistics, Rajshahi University</a:t>
            </a:r>
          </a:p>
          <a:p>
            <a:pPr marL="0" indent="0">
              <a:buFontTx/>
              <a:buNone/>
              <a:defRPr/>
            </a:pPr>
            <a:endParaRPr lang="en-US" sz="3000" b="1" dirty="0" smtClean="0">
              <a:latin typeface="Comic Sans MS" pitchFamily="66" charset="0"/>
            </a:endParaRPr>
          </a:p>
          <a:p>
            <a:pPr marL="0" indent="0">
              <a:buFontTx/>
              <a:buNone/>
              <a:defRPr/>
            </a:pPr>
            <a:r>
              <a:rPr lang="en-US" sz="7200" b="1" dirty="0" smtClean="0">
                <a:solidFill>
                  <a:srgbClr val="7030A0"/>
                </a:solidFill>
                <a:latin typeface="Comic Sans MS" pitchFamily="66" charset="0"/>
                <a:cs typeface="Times New Roman" pitchFamily="18" charset="0"/>
              </a:rPr>
              <a:t>Experience</a:t>
            </a:r>
          </a:p>
          <a:p>
            <a:pPr marL="0" indent="0">
              <a:buFontTx/>
              <a:buNone/>
              <a:defRPr/>
            </a:pPr>
            <a:endParaRPr lang="en-US" sz="1600" b="1" dirty="0" smtClean="0">
              <a:latin typeface="Comic Sans MS" pitchFamily="66" charset="0"/>
            </a:endParaRPr>
          </a:p>
          <a:p>
            <a:pPr algn="just">
              <a:lnSpc>
                <a:spcPct val="120000"/>
              </a:lnSpc>
              <a:defRPr/>
            </a:pPr>
            <a:r>
              <a:rPr lang="en-US" sz="5600" dirty="0" smtClean="0">
                <a:latin typeface="Comic Sans MS" pitchFamily="66" charset="0"/>
              </a:rPr>
              <a:t>Lecturer, Department of Natural Science, Varendra University</a:t>
            </a:r>
          </a:p>
          <a:p>
            <a:pPr algn="just">
              <a:lnSpc>
                <a:spcPct val="120000"/>
              </a:lnSpc>
              <a:buFontTx/>
              <a:buNone/>
              <a:defRPr/>
            </a:pPr>
            <a:endParaRPr lang="en-US" dirty="0" smtClean="0">
              <a:latin typeface="Comic Sans MS" pitchFamily="66" charset="0"/>
            </a:endParaRPr>
          </a:p>
          <a:p>
            <a:pPr algn="just">
              <a:lnSpc>
                <a:spcPct val="120000"/>
              </a:lnSpc>
              <a:buFontTx/>
              <a:buNone/>
              <a:defRPr/>
            </a:pPr>
            <a:r>
              <a:rPr lang="en-US" sz="7200" b="1" dirty="0" smtClean="0">
                <a:solidFill>
                  <a:srgbClr val="7030A0"/>
                </a:solidFill>
                <a:latin typeface="Comic Sans MS" pitchFamily="66" charset="0"/>
                <a:cs typeface="Times New Roman" pitchFamily="18" charset="0"/>
              </a:rPr>
              <a:t>Publications</a:t>
            </a:r>
          </a:p>
          <a:p>
            <a:pPr algn="just">
              <a:lnSpc>
                <a:spcPct val="120000"/>
              </a:lnSpc>
              <a:buFontTx/>
              <a:buNone/>
              <a:defRPr/>
            </a:pPr>
            <a:endParaRPr lang="en-US" sz="2000" dirty="0" smtClean="0">
              <a:latin typeface="Comic Sans MS" pitchFamily="66" charset="0"/>
            </a:endParaRPr>
          </a:p>
          <a:p>
            <a:pPr algn="just">
              <a:lnSpc>
                <a:spcPct val="120000"/>
              </a:lnSpc>
              <a:defRPr/>
            </a:pPr>
            <a:r>
              <a:rPr lang="en-US" sz="5600" dirty="0" smtClean="0">
                <a:latin typeface="Comic Sans MS" pitchFamily="66" charset="0"/>
              </a:rPr>
              <a:t>One national and three International</a:t>
            </a:r>
            <a:r>
              <a:rPr lang="en-US" sz="3000" dirty="0" smtClean="0">
                <a:latin typeface="Comic Sans MS" pitchFamily="66" charset="0"/>
              </a:rPr>
              <a:t>.</a:t>
            </a:r>
          </a:p>
          <a:p>
            <a:pPr algn="just">
              <a:lnSpc>
                <a:spcPct val="120000"/>
              </a:lnSpc>
              <a:buFontTx/>
              <a:buNone/>
              <a:defRPr/>
            </a:pPr>
            <a:endParaRPr lang="en-US" b="1" dirty="0" smtClean="0"/>
          </a:p>
          <a:p>
            <a:pPr algn="just">
              <a:lnSpc>
                <a:spcPct val="120000"/>
              </a:lnSpc>
              <a:buFontTx/>
              <a:buNone/>
              <a:defRPr/>
            </a:pPr>
            <a:r>
              <a:rPr lang="en-US" sz="7200" b="1" dirty="0" smtClean="0">
                <a:solidFill>
                  <a:srgbClr val="7030A0"/>
                </a:solidFill>
                <a:latin typeface="Comic Sans MS" pitchFamily="66" charset="0"/>
                <a:cs typeface="Times New Roman" pitchFamily="18" charset="0"/>
              </a:rPr>
              <a:t>Research Area </a:t>
            </a:r>
          </a:p>
          <a:p>
            <a:pPr algn="just">
              <a:lnSpc>
                <a:spcPct val="120000"/>
              </a:lnSpc>
              <a:buFontTx/>
              <a:buNone/>
              <a:defRPr/>
            </a:pPr>
            <a:endParaRPr lang="en-US" sz="3000" dirty="0" smtClean="0">
              <a:latin typeface="Comic Sans MS" pitchFamily="66" charset="0"/>
            </a:endParaRPr>
          </a:p>
          <a:p>
            <a:pPr algn="just">
              <a:lnSpc>
                <a:spcPct val="120000"/>
              </a:lnSpc>
              <a:defRPr/>
            </a:pPr>
            <a:r>
              <a:rPr lang="en-US" sz="5600" dirty="0" smtClean="0">
                <a:latin typeface="Comic Sans MS" pitchFamily="66" charset="0"/>
              </a:rPr>
              <a:t>Econometrics Modeling.</a:t>
            </a:r>
          </a:p>
          <a:p>
            <a:pPr algn="just">
              <a:lnSpc>
                <a:spcPct val="120000"/>
              </a:lnSpc>
              <a:defRPr/>
            </a:pPr>
            <a:r>
              <a:rPr lang="en-US" sz="5600" dirty="0" smtClean="0">
                <a:latin typeface="Comic Sans MS" pitchFamily="66" charset="0"/>
              </a:rPr>
              <a:t>Health Statistics</a:t>
            </a:r>
          </a:p>
          <a:p>
            <a:pPr algn="just">
              <a:lnSpc>
                <a:spcPct val="120000"/>
              </a:lnSpc>
              <a:defRPr/>
            </a:pPr>
            <a:r>
              <a:rPr lang="en-US" sz="5600" dirty="0" smtClean="0">
                <a:latin typeface="Comic Sans MS" pitchFamily="66" charset="0"/>
              </a:rPr>
              <a:t>Stock market Modeling and Prediction</a:t>
            </a:r>
          </a:p>
          <a:p>
            <a:pPr algn="just">
              <a:lnSpc>
                <a:spcPct val="120000"/>
              </a:lnSpc>
              <a:defRPr/>
            </a:pPr>
            <a:r>
              <a:rPr lang="en-US" sz="5600" dirty="0" smtClean="0">
                <a:latin typeface="Comic Sans MS" pitchFamily="66" charset="0"/>
              </a:rPr>
              <a:t>Business Informatics</a:t>
            </a:r>
          </a:p>
          <a:p>
            <a:pPr algn="just">
              <a:lnSpc>
                <a:spcPct val="120000"/>
              </a:lnSpc>
              <a:defRPr/>
            </a:pPr>
            <a:endParaRPr lang="en-US" sz="3000" dirty="0" smtClean="0">
              <a:solidFill>
                <a:srgbClr val="FF6600"/>
              </a:solidFill>
              <a:latin typeface="Comic Sans MS" pitchFamily="66" charset="0"/>
            </a:endParaRPr>
          </a:p>
          <a:p>
            <a:pPr algn="just">
              <a:lnSpc>
                <a:spcPct val="120000"/>
              </a:lnSpc>
              <a:defRPr/>
            </a:pPr>
            <a:endParaRPr lang="en-US" dirty="0" smtClean="0">
              <a:solidFill>
                <a:srgbClr val="FF6600"/>
              </a:solidFill>
              <a:latin typeface="Comic Sans MS" pitchFamily="66" charset="0"/>
            </a:endParaRPr>
          </a:p>
          <a:p>
            <a:pPr algn="just">
              <a:lnSpc>
                <a:spcPct val="120000"/>
              </a:lnSpc>
              <a:defRPr/>
            </a:pPr>
            <a:endParaRPr lang="en-US" dirty="0" smtClean="0">
              <a:latin typeface="Comic Sans MS" pitchFamily="66" charset="0"/>
            </a:endParaRPr>
          </a:p>
          <a:p>
            <a:pPr algn="just">
              <a:lnSpc>
                <a:spcPct val="120000"/>
              </a:lnSpc>
              <a:defRPr/>
            </a:pPr>
            <a:endParaRPr lang="en-US" dirty="0" smtClean="0">
              <a:solidFill>
                <a:srgbClr val="0070C0"/>
              </a:solidFill>
              <a:latin typeface="Comic Sans MS" pitchFamily="66" charset="0"/>
            </a:endParaRPr>
          </a:p>
          <a:p>
            <a:pPr marL="0" indent="0">
              <a:lnSpc>
                <a:spcPct val="120000"/>
              </a:lnSpc>
              <a:buFontTx/>
              <a:buNone/>
              <a:defRPr/>
            </a:pPr>
            <a:r>
              <a:rPr lang="en-US" dirty="0" smtClean="0">
                <a:latin typeface="Comic Sans MS" pitchFamily="66" charset="0"/>
              </a:rPr>
              <a:t> </a:t>
            </a:r>
          </a:p>
          <a:p>
            <a:pPr>
              <a:defRPr/>
            </a:pPr>
            <a:endParaRPr lang="en-US" dirty="0"/>
          </a:p>
          <a:p>
            <a:pPr>
              <a:defRPr/>
            </a:pPr>
            <a:endParaRPr lang="en-US" dirty="0"/>
          </a:p>
        </p:txBody>
      </p:sp>
      <p:sp>
        <p:nvSpPr>
          <p:cNvPr id="2051" name="Slide Number Placeholder 2"/>
          <p:cNvSpPr>
            <a:spLocks noGrp="1"/>
          </p:cNvSpPr>
          <p:nvPr>
            <p:ph type="sldNum" sz="quarter" idx="4294967295"/>
          </p:nvPr>
        </p:nvSpPr>
        <p:spPr>
          <a:xfrm>
            <a:off x="6553200" y="6248400"/>
            <a:ext cx="1905000" cy="457200"/>
          </a:xfrm>
          <a:prstGeom prst="rect">
            <a:avLst/>
          </a:prstGeom>
          <a:noFill/>
        </p:spPr>
        <p:txBody>
          <a:bodyPr/>
          <a:lstStyle/>
          <a:p>
            <a:fld id="{702330FA-5AD4-451A-9DD4-1A465972AE77}" type="slidenum">
              <a:rPr lang="en-US" smtClean="0"/>
              <a:pPr/>
              <a:t>2</a:t>
            </a:fld>
            <a:endParaRPr lang="en-US" smtClean="0"/>
          </a:p>
        </p:txBody>
      </p:sp>
      <p:sp>
        <p:nvSpPr>
          <p:cNvPr id="5" name="Title 1"/>
          <p:cNvSpPr txBox="1">
            <a:spLocks noGrp="1"/>
          </p:cNvSpPr>
          <p:nvPr>
            <p:ph type="title"/>
          </p:nvPr>
        </p:nvSpPr>
        <p:spPr>
          <a:xfrm>
            <a:off x="3492500" y="76200"/>
            <a:ext cx="5397500" cy="2273300"/>
          </a:xfrm>
          <a:blipFill>
            <a:blip r:embed="rId3" cstate="print"/>
            <a:tile tx="0" ty="0" sx="100000" sy="100000" flip="none" algn="tl"/>
          </a:blipFill>
          <a:ln>
            <a:solidFill>
              <a:schemeClr val="accent1"/>
            </a:solidFill>
          </a:ln>
        </p:spPr>
        <p:txBody>
          <a:bodyPr anchor="b">
            <a:noAutofit/>
          </a:bodyPr>
          <a:lstStyle/>
          <a:p>
            <a:pPr algn="r">
              <a:defRPr/>
            </a:pPr>
            <a:r>
              <a:rPr lang="en-US" sz="2000" dirty="0" smtClean="0">
                <a:solidFill>
                  <a:schemeClr val="accent5">
                    <a:lumMod val="10000"/>
                  </a:schemeClr>
                </a:solidFill>
              </a:rPr>
              <a:t>Ahammad Hossain</a:t>
            </a:r>
            <a:br>
              <a:rPr lang="en-US" sz="2000" dirty="0" smtClean="0">
                <a:solidFill>
                  <a:schemeClr val="accent5">
                    <a:lumMod val="10000"/>
                  </a:schemeClr>
                </a:solidFill>
              </a:rPr>
            </a:br>
            <a:r>
              <a:rPr lang="en-US" sz="2000" dirty="0" smtClean="0">
                <a:solidFill>
                  <a:schemeClr val="accent5">
                    <a:lumMod val="10000"/>
                  </a:schemeClr>
                </a:solidFill>
              </a:rPr>
              <a:t>Lecturer</a:t>
            </a:r>
            <a:br>
              <a:rPr lang="en-US" sz="2000" dirty="0" smtClean="0">
                <a:solidFill>
                  <a:schemeClr val="accent5">
                    <a:lumMod val="10000"/>
                  </a:schemeClr>
                </a:solidFill>
              </a:rPr>
            </a:br>
            <a:r>
              <a:rPr lang="en-US" sz="2000" dirty="0" smtClean="0">
                <a:solidFill>
                  <a:schemeClr val="accent5">
                    <a:lumMod val="10000"/>
                  </a:schemeClr>
                </a:solidFill>
              </a:rPr>
              <a:t>Department of Natural Science</a:t>
            </a:r>
            <a:br>
              <a:rPr lang="en-US" sz="2000" dirty="0" smtClean="0">
                <a:solidFill>
                  <a:schemeClr val="accent5">
                    <a:lumMod val="10000"/>
                  </a:schemeClr>
                </a:solidFill>
              </a:rPr>
            </a:br>
            <a:r>
              <a:rPr lang="en-US" sz="2000" dirty="0" smtClean="0">
                <a:solidFill>
                  <a:schemeClr val="accent5">
                    <a:lumMod val="10000"/>
                  </a:schemeClr>
                </a:solidFill>
              </a:rPr>
              <a:t>Email: </a:t>
            </a:r>
            <a:r>
              <a:rPr lang="en-US" sz="2000" b="1" dirty="0" smtClean="0">
                <a:solidFill>
                  <a:schemeClr val="accent5">
                    <a:lumMod val="10000"/>
                  </a:schemeClr>
                </a:solidFill>
              </a:rPr>
              <a:t>ahammadstatru@gmail.com</a:t>
            </a:r>
            <a:br>
              <a:rPr lang="en-US" sz="2000" b="1" dirty="0" smtClean="0">
                <a:solidFill>
                  <a:schemeClr val="accent5">
                    <a:lumMod val="10000"/>
                  </a:schemeClr>
                </a:solidFill>
              </a:rPr>
            </a:br>
            <a:r>
              <a:rPr lang="en-US" sz="2000" b="1" dirty="0" smtClean="0">
                <a:solidFill>
                  <a:schemeClr val="accent5">
                    <a:lumMod val="10000"/>
                  </a:schemeClr>
                </a:solidFill>
              </a:rPr>
              <a:t>ahammad@vu.edu.bd</a:t>
            </a:r>
            <a:br>
              <a:rPr lang="en-US" sz="2000" b="1" dirty="0" smtClean="0">
                <a:solidFill>
                  <a:schemeClr val="accent5">
                    <a:lumMod val="10000"/>
                  </a:schemeClr>
                </a:solidFill>
              </a:rPr>
            </a:br>
            <a:r>
              <a:rPr lang="en-US" sz="2000" b="1" dirty="0" smtClean="0">
                <a:solidFill>
                  <a:schemeClr val="accent5">
                    <a:lumMod val="10000"/>
                  </a:schemeClr>
                </a:solidFill>
              </a:rPr>
              <a:t>Website: www. ahammadvu.wix.com/profile</a:t>
            </a:r>
            <a:br>
              <a:rPr lang="en-US" sz="2000" b="1" dirty="0" smtClean="0">
                <a:solidFill>
                  <a:schemeClr val="accent5">
                    <a:lumMod val="10000"/>
                  </a:schemeClr>
                </a:solidFill>
              </a:rPr>
            </a:br>
            <a:r>
              <a:rPr lang="en-US" sz="2000" dirty="0" smtClean="0">
                <a:solidFill>
                  <a:schemeClr val="accent5">
                    <a:lumMod val="10000"/>
                  </a:schemeClr>
                </a:solidFill>
              </a:rPr>
              <a:t>Cell: 01762327094</a:t>
            </a:r>
            <a:endParaRPr lang="en-US" sz="2000" kern="1200" cap="small" dirty="0">
              <a:solidFill>
                <a:schemeClr val="accent5">
                  <a:lumMod val="10000"/>
                </a:schemeClr>
              </a:solidFill>
              <a:latin typeface="Comic Sans MS" pitchFamily="66" charset="0"/>
            </a:endParaRPr>
          </a:p>
        </p:txBody>
      </p:sp>
      <p:pic>
        <p:nvPicPr>
          <p:cNvPr id="2053" name="Picture 2" descr="VU Logo"/>
          <p:cNvPicPr>
            <a:picLocks noChangeAspect="1" noChangeArrowheads="1"/>
          </p:cNvPicPr>
          <p:nvPr/>
        </p:nvPicPr>
        <p:blipFill>
          <a:blip r:embed="rId4" cstate="print"/>
          <a:srcRect/>
          <a:stretch>
            <a:fillRect/>
          </a:stretch>
        </p:blipFill>
        <p:spPr bwMode="auto">
          <a:xfrm>
            <a:off x="323850" y="260350"/>
            <a:ext cx="1201738" cy="1093788"/>
          </a:xfrm>
          <a:prstGeom prst="rect">
            <a:avLst/>
          </a:prstGeom>
          <a:noFill/>
          <a:ln w="9525">
            <a:noFill/>
            <a:miter lim="800000"/>
            <a:headEnd/>
            <a:tailEnd/>
          </a:ln>
        </p:spPr>
      </p:pic>
    </p:spTree>
  </p:cSld>
  <p:clrMapOvr>
    <a:masterClrMapping/>
  </p:clrMapOvr>
  <p:transition>
    <p:whee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410789"/>
            <a:ext cx="7886700" cy="4180114"/>
          </a:xfrm>
        </p:spPr>
        <p:txBody>
          <a:bodyPr/>
          <a:lstStyle/>
          <a:p>
            <a:pPr>
              <a:buNone/>
            </a:pPr>
            <a:r>
              <a:rPr lang="en-US" sz="4000" dirty="0" smtClean="0"/>
              <a:t>Recommend Book: </a:t>
            </a:r>
          </a:p>
          <a:p>
            <a:pPr marL="514350" indent="-514350">
              <a:buFont typeface="Wingdings" pitchFamily="2" charset="2"/>
              <a:buChar char="q"/>
              <a:defRPr/>
            </a:pPr>
            <a:r>
              <a:rPr lang="en-US" sz="4000" dirty="0" smtClean="0">
                <a:solidFill>
                  <a:srgbClr val="002060"/>
                </a:solidFill>
              </a:rPr>
              <a:t>Schaum’s </a:t>
            </a:r>
            <a:r>
              <a:rPr lang="en-US" sz="4000" dirty="0" smtClean="0">
                <a:solidFill>
                  <a:srgbClr val="002060"/>
                </a:solidFill>
              </a:rPr>
              <a:t>outline of Statistics</a:t>
            </a:r>
          </a:p>
          <a:p>
            <a:pPr marL="514350" indent="-514350">
              <a:buFontTx/>
              <a:buNone/>
              <a:defRPr/>
            </a:pPr>
            <a:r>
              <a:rPr lang="en-US" sz="4000" dirty="0" smtClean="0">
                <a:solidFill>
                  <a:srgbClr val="002060"/>
                </a:solidFill>
              </a:rPr>
              <a:t>    Murray </a:t>
            </a:r>
            <a:r>
              <a:rPr lang="en-US" sz="4000" dirty="0" smtClean="0">
                <a:solidFill>
                  <a:srgbClr val="002060"/>
                </a:solidFill>
              </a:rPr>
              <a:t>R. Spiegel</a:t>
            </a:r>
          </a:p>
          <a:p>
            <a:pPr>
              <a:buNone/>
            </a:pPr>
            <a:endParaRPr lang="en-US" dirty="0"/>
          </a:p>
        </p:txBody>
      </p:sp>
    </p:spTree>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ChangeArrowheads="1"/>
          </p:cNvSpPr>
          <p:nvPr/>
        </p:nvSpPr>
        <p:spPr bwMode="auto">
          <a:xfrm>
            <a:off x="533400" y="1562100"/>
            <a:ext cx="1992313" cy="1993900"/>
          </a:xfrm>
          <a:prstGeom prst="rect">
            <a:avLst/>
          </a:prstGeom>
          <a:solidFill>
            <a:srgbClr val="000099"/>
          </a:solidFill>
          <a:ln w="76200">
            <a:solidFill>
              <a:srgbClr val="993300"/>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sz="4000" i="0">
                <a:solidFill>
                  <a:schemeClr val="tx2"/>
                </a:solidFill>
              </a:rPr>
              <a:t>Chapter</a:t>
            </a:r>
          </a:p>
        </p:txBody>
      </p:sp>
      <p:sp>
        <p:nvSpPr>
          <p:cNvPr id="62467" name="Rectangle 3"/>
          <p:cNvSpPr>
            <a:spLocks noChangeArrowheads="1"/>
          </p:cNvSpPr>
          <p:nvPr/>
        </p:nvSpPr>
        <p:spPr bwMode="auto">
          <a:xfrm>
            <a:off x="1028700" y="2952750"/>
            <a:ext cx="1866900" cy="1866900"/>
          </a:xfrm>
          <a:prstGeom prst="rect">
            <a:avLst/>
          </a:prstGeom>
          <a:solidFill>
            <a:srgbClr val="CC0000"/>
          </a:solidFill>
          <a:ln w="76200">
            <a:solidFill>
              <a:srgbClr val="000099"/>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sz="4000" i="0">
                <a:solidFill>
                  <a:schemeClr val="tx2"/>
                </a:solidFill>
              </a:rPr>
              <a:t>One</a:t>
            </a:r>
          </a:p>
        </p:txBody>
      </p:sp>
      <p:sp>
        <p:nvSpPr>
          <p:cNvPr id="62471" name="Rectangle 7"/>
          <p:cNvSpPr>
            <a:spLocks noChangeArrowheads="1"/>
          </p:cNvSpPr>
          <p:nvPr/>
        </p:nvSpPr>
        <p:spPr bwMode="auto">
          <a:xfrm>
            <a:off x="219075" y="6553200"/>
            <a:ext cx="1914525" cy="3016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0488" tIns="44450" rIns="90488" bIns="44450">
            <a:spAutoFit/>
          </a:bodyPr>
          <a:lstStyle/>
          <a:p>
            <a:r>
              <a:rPr lang="en-US">
                <a:solidFill>
                  <a:srgbClr val="000099"/>
                </a:solidFill>
                <a:latin typeface="Book Antiqua" panose="02040602050305030304" pitchFamily="18" charset="0"/>
              </a:rPr>
              <a:t>McGraw-Hill/Irwin</a:t>
            </a:r>
          </a:p>
        </p:txBody>
      </p:sp>
      <p:sp>
        <p:nvSpPr>
          <p:cNvPr id="62472" name="Text Box 8"/>
          <p:cNvSpPr txBox="1">
            <a:spLocks noChangeArrowheads="1"/>
          </p:cNvSpPr>
          <p:nvPr/>
        </p:nvSpPr>
        <p:spPr bwMode="auto">
          <a:xfrm>
            <a:off x="3886200" y="6592888"/>
            <a:ext cx="5257800" cy="2857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71731" tIns="35866" rIns="71731" bIns="35866">
            <a:spAutoFit/>
          </a:bodyPr>
          <a:lstStyle/>
          <a:p>
            <a:r>
              <a:rPr lang="en-US">
                <a:solidFill>
                  <a:srgbClr val="000099"/>
                </a:solidFill>
                <a:latin typeface="Book Antiqua" panose="02040602050305030304" pitchFamily="18" charset="0"/>
              </a:rPr>
              <a:t>© 2005 The McGraw-Hill Companies, Inc., All Rights Reserved.</a:t>
            </a:r>
            <a:endParaRPr lang="en-US" i="0">
              <a:solidFill>
                <a:srgbClr val="000099"/>
              </a:solidFill>
              <a:latin typeface="Book Antiqua" panose="02040602050305030304" pitchFamily="18" charset="0"/>
            </a:endParaRPr>
          </a:p>
        </p:txBody>
      </p:sp>
    </p:spTree>
  </p:cSld>
  <p:clrMapOvr>
    <a:masterClrMapping/>
  </p:clrMapOvr>
  <p:transition>
    <p:zo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8" name="Text Box 1030"/>
          <p:cNvSpPr txBox="1">
            <a:spLocks noChangeArrowheads="1"/>
          </p:cNvSpPr>
          <p:nvPr/>
        </p:nvSpPr>
        <p:spPr bwMode="auto">
          <a:xfrm>
            <a:off x="2179638" y="368300"/>
            <a:ext cx="6196012" cy="5032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r>
              <a:rPr lang="en-US" sz="3000">
                <a:solidFill>
                  <a:schemeClr val="tx1"/>
                </a:solidFill>
                <a:latin typeface="Book Antiqua" panose="02040602050305030304" pitchFamily="18" charset="0"/>
              </a:rPr>
              <a:t>Chapter One</a:t>
            </a:r>
          </a:p>
        </p:txBody>
      </p:sp>
      <p:sp>
        <p:nvSpPr>
          <p:cNvPr id="23559" name="Text Box 1031"/>
          <p:cNvSpPr txBox="1">
            <a:spLocks noChangeArrowheads="1"/>
          </p:cNvSpPr>
          <p:nvPr/>
        </p:nvSpPr>
        <p:spPr bwMode="auto">
          <a:xfrm>
            <a:off x="2205038" y="708025"/>
            <a:ext cx="5100637" cy="7016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r>
              <a:rPr lang="en-US" sz="4000" i="0">
                <a:solidFill>
                  <a:srgbClr val="993300"/>
                </a:solidFill>
                <a:effectLst>
                  <a:outerShdw blurRad="38100" dist="38100" dir="2700000" algn="tl">
                    <a:srgbClr val="C0C0C0"/>
                  </a:outerShdw>
                </a:effectLst>
                <a:latin typeface="CG Times" pitchFamily="18" charset="0"/>
              </a:rPr>
              <a:t>What is Statistics?</a:t>
            </a:r>
            <a:endParaRPr lang="en-US" sz="3000">
              <a:solidFill>
                <a:srgbClr val="993300"/>
              </a:solidFill>
              <a:effectLst>
                <a:outerShdw blurRad="38100" dist="38100" dir="2700000" algn="tl">
                  <a:srgbClr val="C0C0C0"/>
                </a:outerShdw>
              </a:effectLst>
              <a:latin typeface="CG Times" pitchFamily="18" charset="0"/>
            </a:endParaRPr>
          </a:p>
        </p:txBody>
      </p:sp>
      <p:sp>
        <p:nvSpPr>
          <p:cNvPr id="23560" name="Text Box 1032"/>
          <p:cNvSpPr txBox="1">
            <a:spLocks noChangeArrowheads="1"/>
          </p:cNvSpPr>
          <p:nvPr/>
        </p:nvSpPr>
        <p:spPr bwMode="auto">
          <a:xfrm>
            <a:off x="271463" y="1533525"/>
            <a:ext cx="6750050" cy="717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r>
              <a:rPr lang="en-US" sz="2300" i="0">
                <a:solidFill>
                  <a:schemeClr val="accent1"/>
                </a:solidFill>
                <a:latin typeface="Arial" panose="020B0604020202020204" pitchFamily="34" charset="0"/>
              </a:rPr>
              <a:t>GOALS</a:t>
            </a:r>
          </a:p>
          <a:p>
            <a:r>
              <a:rPr lang="en-US" sz="1800" i="0">
                <a:solidFill>
                  <a:schemeClr val="tx1"/>
                </a:solidFill>
                <a:latin typeface="CG Times" pitchFamily="18" charset="0"/>
              </a:rPr>
              <a:t>When you have completed this chapter, you will be able to:</a:t>
            </a:r>
            <a:endParaRPr lang="en-US" sz="2300">
              <a:solidFill>
                <a:srgbClr val="EBA055"/>
              </a:solidFill>
              <a:latin typeface="Book Antiqua" panose="02040602050305030304" pitchFamily="18" charset="0"/>
            </a:endParaRPr>
          </a:p>
        </p:txBody>
      </p:sp>
      <p:sp>
        <p:nvSpPr>
          <p:cNvPr id="23565" name="Text Box 1037"/>
          <p:cNvSpPr txBox="1">
            <a:spLocks noChangeArrowheads="1"/>
          </p:cNvSpPr>
          <p:nvPr/>
        </p:nvSpPr>
        <p:spPr bwMode="auto">
          <a:xfrm>
            <a:off x="249238" y="2164874"/>
            <a:ext cx="8894762" cy="40934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marL="342900" indent="-342900">
              <a:spcAft>
                <a:spcPct val="10000"/>
              </a:spcAft>
              <a:buFont typeface="Wingdings" panose="05000000000000000000" pitchFamily="2" charset="2"/>
              <a:buChar char="Ø"/>
            </a:pPr>
            <a:r>
              <a:rPr lang="en-US" sz="2000" b="0" i="0" dirty="0" smtClean="0">
                <a:solidFill>
                  <a:schemeClr val="tx1"/>
                </a:solidFill>
                <a:latin typeface="+mj-lt"/>
              </a:rPr>
              <a:t>Understand </a:t>
            </a:r>
            <a:r>
              <a:rPr lang="en-US" sz="2000" b="0" i="0" dirty="0">
                <a:solidFill>
                  <a:schemeClr val="tx1"/>
                </a:solidFill>
                <a:latin typeface="+mj-lt"/>
              </a:rPr>
              <a:t>why we study statistics</a:t>
            </a:r>
            <a:r>
              <a:rPr lang="en-US" sz="2000" b="0" i="0" dirty="0" smtClean="0">
                <a:solidFill>
                  <a:schemeClr val="tx1"/>
                </a:solidFill>
                <a:latin typeface="+mj-lt"/>
              </a:rPr>
              <a:t>.</a:t>
            </a:r>
          </a:p>
          <a:p>
            <a:pPr marL="342900" indent="-342900">
              <a:spcAft>
                <a:spcPct val="10000"/>
              </a:spcAft>
              <a:buFont typeface="Wingdings" panose="05000000000000000000" pitchFamily="2" charset="2"/>
              <a:buChar char="Ø"/>
            </a:pPr>
            <a:r>
              <a:rPr lang="en-US" sz="2000" b="0" i="0" dirty="0" smtClean="0">
                <a:solidFill>
                  <a:schemeClr val="tx1"/>
                </a:solidFill>
                <a:latin typeface="+mj-lt"/>
              </a:rPr>
              <a:t>Explain what is meant by descriptive statistics and inferential statistics.</a:t>
            </a:r>
          </a:p>
          <a:p>
            <a:pPr marL="342900" indent="-342900">
              <a:spcAft>
                <a:spcPct val="10000"/>
              </a:spcAft>
              <a:buFont typeface="Wingdings" panose="05000000000000000000" pitchFamily="2" charset="2"/>
              <a:buChar char="Ø"/>
            </a:pPr>
            <a:r>
              <a:rPr lang="en-US" sz="2000" b="0" i="0" dirty="0" smtClean="0">
                <a:solidFill>
                  <a:schemeClr val="tx1"/>
                </a:solidFill>
                <a:latin typeface="+mj-lt"/>
              </a:rPr>
              <a:t>Distinguish between a qualitative variable and a quantitative variable.</a:t>
            </a:r>
          </a:p>
          <a:p>
            <a:pPr marL="342900" indent="-342900">
              <a:spcAft>
                <a:spcPct val="10000"/>
              </a:spcAft>
              <a:buFont typeface="Wingdings" panose="05000000000000000000" pitchFamily="2" charset="2"/>
              <a:buChar char="Ø"/>
            </a:pPr>
            <a:r>
              <a:rPr lang="en-US" sz="2000" b="0" i="0" dirty="0" smtClean="0">
                <a:solidFill>
                  <a:schemeClr val="tx1"/>
                </a:solidFill>
                <a:latin typeface="+mj-lt"/>
              </a:rPr>
              <a:t>Distinguish between a discrete variable and a continuous variable.</a:t>
            </a:r>
          </a:p>
          <a:p>
            <a:pPr marL="342900" indent="-342900">
              <a:spcAft>
                <a:spcPct val="10000"/>
              </a:spcAft>
              <a:buFont typeface="Wingdings" panose="05000000000000000000" pitchFamily="2" charset="2"/>
              <a:buChar char="Ø"/>
            </a:pPr>
            <a:r>
              <a:rPr lang="en-US" sz="2000" b="0" i="0" dirty="0" smtClean="0">
                <a:solidFill>
                  <a:schemeClr val="tx1"/>
                </a:solidFill>
                <a:latin typeface="+mj-lt"/>
              </a:rPr>
              <a:t>Distinguish among the nominal, ordinal, interval, and ratio levels </a:t>
            </a:r>
            <a:br>
              <a:rPr lang="en-US" sz="2000" b="0" i="0" dirty="0" smtClean="0">
                <a:solidFill>
                  <a:schemeClr val="tx1"/>
                </a:solidFill>
                <a:latin typeface="+mj-lt"/>
              </a:rPr>
            </a:br>
            <a:r>
              <a:rPr lang="en-US" sz="2000" b="0" i="0" dirty="0" smtClean="0">
                <a:solidFill>
                  <a:schemeClr val="tx1"/>
                </a:solidFill>
                <a:latin typeface="+mj-lt"/>
              </a:rPr>
              <a:t>of measurement.</a:t>
            </a:r>
          </a:p>
          <a:p>
            <a:pPr marL="342900" indent="-342900">
              <a:spcAft>
                <a:spcPct val="10000"/>
              </a:spcAft>
              <a:buFont typeface="Wingdings" panose="05000000000000000000" pitchFamily="2" charset="2"/>
              <a:buChar char="Ø"/>
            </a:pPr>
            <a:r>
              <a:rPr lang="en-US" sz="2000" b="0" i="0" dirty="0" smtClean="0">
                <a:solidFill>
                  <a:schemeClr val="tx1"/>
                </a:solidFill>
                <a:latin typeface="+mj-lt"/>
              </a:rPr>
              <a:t>Define the terms mutually exclusive and exhaustive.</a:t>
            </a:r>
          </a:p>
          <a:p>
            <a:pPr marL="342900" indent="-342900">
              <a:spcAft>
                <a:spcPct val="10000"/>
              </a:spcAft>
              <a:buFont typeface="Wingdings" panose="05000000000000000000" pitchFamily="2" charset="2"/>
              <a:buChar char="Ø"/>
            </a:pPr>
            <a:r>
              <a:rPr lang="en-US" sz="2000" b="0" i="0" dirty="0" smtClean="0">
                <a:solidFill>
                  <a:schemeClr val="tx1"/>
                </a:solidFill>
                <a:latin typeface="+mj-lt"/>
              </a:rPr>
              <a:t>To know the scope of statistics</a:t>
            </a:r>
          </a:p>
          <a:p>
            <a:pPr marL="342900" indent="-342900">
              <a:spcAft>
                <a:spcPct val="10000"/>
              </a:spcAft>
              <a:buFont typeface="Wingdings" panose="05000000000000000000" pitchFamily="2" charset="2"/>
              <a:buChar char="Ø"/>
            </a:pPr>
            <a:r>
              <a:rPr lang="en-US" sz="2000" b="0" i="0" dirty="0" smtClean="0">
                <a:solidFill>
                  <a:schemeClr val="tx1"/>
                </a:solidFill>
                <a:latin typeface="+mj-lt"/>
              </a:rPr>
              <a:t>To know the function of statistics</a:t>
            </a:r>
          </a:p>
          <a:p>
            <a:pPr marL="342900" indent="-342900">
              <a:spcAft>
                <a:spcPct val="10000"/>
              </a:spcAft>
              <a:buFont typeface="Wingdings" panose="05000000000000000000" pitchFamily="2" charset="2"/>
              <a:buChar char="Ø"/>
            </a:pPr>
            <a:r>
              <a:rPr lang="en-US" sz="2000" b="0" i="0" dirty="0" smtClean="0">
                <a:solidFill>
                  <a:schemeClr val="tx1"/>
                </a:solidFill>
                <a:latin typeface="+mj-lt"/>
              </a:rPr>
              <a:t>To know the limitation of statistics</a:t>
            </a:r>
          </a:p>
          <a:p>
            <a:pPr marL="342900" indent="-342900">
              <a:spcAft>
                <a:spcPct val="10000"/>
              </a:spcAft>
              <a:buFont typeface="Wingdings" panose="05000000000000000000" pitchFamily="2" charset="2"/>
              <a:buChar char="Ø"/>
            </a:pPr>
            <a:r>
              <a:rPr lang="en-US" sz="2000" b="0" i="0" dirty="0" smtClean="0">
                <a:solidFill>
                  <a:schemeClr val="tx1"/>
                </a:solidFill>
                <a:latin typeface="+mj-lt"/>
              </a:rPr>
              <a:t>To know the uses of statistics in business.</a:t>
            </a:r>
          </a:p>
          <a:p>
            <a:pPr>
              <a:spcAft>
                <a:spcPct val="10000"/>
              </a:spcAft>
            </a:pPr>
            <a:endParaRPr lang="en-US" sz="2000" b="0" i="0" dirty="0">
              <a:solidFill>
                <a:schemeClr val="tx1"/>
              </a:solidFill>
            </a:endParaRPr>
          </a:p>
        </p:txBody>
      </p:sp>
      <p:sp>
        <p:nvSpPr>
          <p:cNvPr id="23567" name="Text Box 1039"/>
          <p:cNvSpPr txBox="1">
            <a:spLocks noChangeArrowheads="1"/>
          </p:cNvSpPr>
          <p:nvPr/>
        </p:nvSpPr>
        <p:spPr bwMode="auto">
          <a:xfrm>
            <a:off x="5368925" y="6548438"/>
            <a:ext cx="3089275" cy="2746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endParaRPr lang="en-US" sz="1200" i="0">
              <a:solidFill>
                <a:schemeClr val="tx1"/>
              </a:solidFill>
            </a:endParaRPr>
          </a:p>
        </p:txBody>
      </p:sp>
      <p:sp>
        <p:nvSpPr>
          <p:cNvPr id="23561" name="Line 1033"/>
          <p:cNvSpPr>
            <a:spLocks noChangeShapeType="1"/>
          </p:cNvSpPr>
          <p:nvPr/>
        </p:nvSpPr>
        <p:spPr bwMode="auto">
          <a:xfrm>
            <a:off x="260350" y="2228850"/>
            <a:ext cx="8883650" cy="0"/>
          </a:xfrm>
          <a:prstGeom prst="line">
            <a:avLst/>
          </a:prstGeom>
          <a:noFill/>
          <a:ln w="28575">
            <a:solidFill>
              <a:srgbClr val="510C9C"/>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GB"/>
          </a:p>
        </p:txBody>
      </p:sp>
      <p:sp>
        <p:nvSpPr>
          <p:cNvPr id="23573" name="Rectangle 1045"/>
          <p:cNvSpPr>
            <a:spLocks noGrp="1" noChangeArrowheads="1"/>
          </p:cNvSpPr>
          <p:nvPr>
            <p:ph type="title"/>
          </p:nvPr>
        </p:nvSpPr>
        <p:spPr>
          <a:xfrm>
            <a:off x="7807325" y="6094413"/>
            <a:ext cx="1031875" cy="363537"/>
          </a:xfrm>
          <a:ln/>
        </p:spPr>
        <p:txBody>
          <a:bodyPr/>
          <a:lstStyle/>
          <a:p>
            <a:r>
              <a:rPr lang="en-US" sz="1800"/>
              <a:t>Goals</a:t>
            </a:r>
          </a:p>
        </p:txBody>
      </p:sp>
    </p:spTree>
  </p:cSld>
  <p:clrMapOvr>
    <a:masterClrMapping/>
  </p:clrMapOvr>
  <p:transition>
    <p:zo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5502275" y="6227763"/>
            <a:ext cx="3375025" cy="344487"/>
          </a:xfrm>
          <a:ln/>
        </p:spPr>
        <p:txBody>
          <a:bodyPr lIns="92075" tIns="46038" rIns="92075" bIns="46038"/>
          <a:lstStyle/>
          <a:p>
            <a:r>
              <a:rPr lang="en-US" sz="1800"/>
              <a:t>What is Meant by Statistics?</a:t>
            </a:r>
            <a:endParaRPr lang="en-US" sz="1800">
              <a:solidFill>
                <a:srgbClr val="006633"/>
              </a:solidFill>
            </a:endParaRPr>
          </a:p>
        </p:txBody>
      </p:sp>
      <p:graphicFrame>
        <p:nvGraphicFramePr>
          <p:cNvPr id="7175" name="Object 7"/>
          <p:cNvGraphicFramePr>
            <a:graphicFrameLocks noGrp="1" noChangeAspect="1"/>
          </p:cNvGraphicFramePr>
          <p:nvPr>
            <p:ph sz="half" idx="1"/>
            <p:extLst>
              <p:ext uri="{D42A27DB-BD31-4B8C-83A1-F6EECF244321}">
                <p14:modId xmlns:p14="http://schemas.microsoft.com/office/powerpoint/2010/main" xmlns="" val="2542516098"/>
              </p:ext>
            </p:extLst>
          </p:nvPr>
        </p:nvGraphicFramePr>
        <p:xfrm>
          <a:off x="1658938" y="4157663"/>
          <a:ext cx="5219700" cy="1878013"/>
        </p:xfrm>
        <a:graphic>
          <a:graphicData uri="http://schemas.openxmlformats.org/presentationml/2006/ole">
            <p:oleObj spid="_x0000_s7255" name="Flash Document" r:id="rId3" imgW="5514840" imgH="1983240" progId="">
              <p:embed/>
            </p:oleObj>
          </a:graphicData>
        </a:graphic>
      </p:graphicFrame>
      <p:sp>
        <p:nvSpPr>
          <p:cNvPr id="7172" name="Rectangle 4"/>
          <p:cNvSpPr>
            <a:spLocks noChangeArrowheads="1"/>
          </p:cNvSpPr>
          <p:nvPr/>
        </p:nvSpPr>
        <p:spPr bwMode="auto">
          <a:xfrm>
            <a:off x="0" y="0"/>
            <a:ext cx="1841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50000"/>
              </a:spcBef>
            </a:pPr>
            <a:endParaRPr lang="en-US">
              <a:solidFill>
                <a:schemeClr val="bg1"/>
              </a:solidFill>
              <a:latin typeface="Book Antiqua" panose="02040602050305030304" pitchFamily="18" charset="0"/>
            </a:endParaRPr>
          </a:p>
        </p:txBody>
      </p:sp>
      <p:sp>
        <p:nvSpPr>
          <p:cNvPr id="7174" name="Rectangle 6"/>
          <p:cNvSpPr>
            <a:spLocks noChangeArrowheads="1"/>
          </p:cNvSpPr>
          <p:nvPr/>
        </p:nvSpPr>
        <p:spPr bwMode="auto">
          <a:xfrm>
            <a:off x="2513013" y="912813"/>
            <a:ext cx="3898900" cy="30813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20000"/>
              </a:spcBef>
              <a:buClr>
                <a:srgbClr val="404960"/>
              </a:buClr>
              <a:buSzPct val="65000"/>
              <a:buFont typeface="Wingdings" panose="05000000000000000000" pitchFamily="2" charset="2"/>
              <a:buNone/>
            </a:pPr>
            <a:r>
              <a:rPr lang="en-US" sz="2800">
                <a:solidFill>
                  <a:srgbClr val="993300"/>
                </a:solidFill>
              </a:rPr>
              <a:t>Statistics </a:t>
            </a:r>
            <a:r>
              <a:rPr lang="en-US" sz="2800" i="0">
                <a:solidFill>
                  <a:srgbClr val="993300"/>
                </a:solidFill>
              </a:rPr>
              <a:t>is the science of collecting, organizing, presenting, analyzing, and interpreting numerical data to assist in making more effective decisions.</a:t>
            </a:r>
            <a:r>
              <a:rPr lang="en-US" sz="2800">
                <a:solidFill>
                  <a:srgbClr val="993300"/>
                </a:solidFill>
              </a:rPr>
              <a:t> </a:t>
            </a:r>
          </a:p>
        </p:txBody>
      </p:sp>
      <p:graphicFrame>
        <p:nvGraphicFramePr>
          <p:cNvPr id="7177" name="Object 9"/>
          <p:cNvGraphicFramePr>
            <a:graphicFrameLocks noGrp="1" noChangeAspect="1"/>
          </p:cNvGraphicFramePr>
          <p:nvPr>
            <p:ph sz="half" idx="2"/>
          </p:nvPr>
        </p:nvGraphicFramePr>
        <p:xfrm>
          <a:off x="1658938" y="368300"/>
          <a:ext cx="5464175" cy="4360863"/>
        </p:xfrm>
        <a:graphic>
          <a:graphicData uri="http://schemas.openxmlformats.org/presentationml/2006/ole">
            <p:oleObj spid="_x0000_s7256" name="Flash Document" r:id="rId4" imgW="3844440" imgH="3637440" progId="">
              <p:embed/>
            </p:oleObj>
          </a:graphicData>
        </a:graphic>
      </p:graphicFrame>
      <p:sp>
        <p:nvSpPr>
          <p:cNvPr id="2" name="TextBox 1"/>
          <p:cNvSpPr txBox="1"/>
          <p:nvPr/>
        </p:nvSpPr>
        <p:spPr>
          <a:xfrm>
            <a:off x="7431110" y="3994150"/>
            <a:ext cx="824248" cy="1538883"/>
          </a:xfrm>
          <a:prstGeom prst="rect">
            <a:avLst/>
          </a:prstGeom>
          <a:noFill/>
        </p:spPr>
        <p:txBody>
          <a:bodyPr wrap="square" rtlCol="0">
            <a:spAutoFit/>
          </a:bodyPr>
          <a:lstStyle/>
          <a:p>
            <a:r>
              <a:rPr lang="en-GB" sz="4000" dirty="0" smtClean="0"/>
              <a:t>∂ </a:t>
            </a:r>
            <a:endParaRPr lang="en-GB" sz="5400" dirty="0"/>
          </a:p>
          <a:p>
            <a:r>
              <a:rPr lang="el-GR" sz="5400" dirty="0" smtClean="0"/>
              <a:t>ᵧ</a:t>
            </a:r>
            <a:endParaRPr lang="en-GB" sz="4000" dirty="0"/>
          </a:p>
        </p:txBody>
      </p:sp>
    </p:spTree>
  </p:cSld>
  <p:clrMapOvr>
    <a:masterClrMapping/>
  </p:clrMapOvr>
  <p:transition>
    <p:zo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5102225" y="5980113"/>
            <a:ext cx="3794125" cy="496887"/>
          </a:xfrm>
          <a:ln/>
        </p:spPr>
        <p:txBody>
          <a:bodyPr lIns="92075" tIns="46038" rIns="92075" bIns="46038"/>
          <a:lstStyle/>
          <a:p>
            <a:r>
              <a:rPr lang="en-US"/>
              <a:t>Who Uses Statistics?</a:t>
            </a:r>
          </a:p>
        </p:txBody>
      </p:sp>
      <p:sp>
        <p:nvSpPr>
          <p:cNvPr id="8196" name="Rectangle 4"/>
          <p:cNvSpPr>
            <a:spLocks noChangeArrowheads="1"/>
          </p:cNvSpPr>
          <p:nvPr/>
        </p:nvSpPr>
        <p:spPr bwMode="auto">
          <a:xfrm>
            <a:off x="0" y="0"/>
            <a:ext cx="1841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50000"/>
              </a:spcBef>
            </a:pPr>
            <a:endParaRPr lang="en-US">
              <a:solidFill>
                <a:schemeClr val="bg1"/>
              </a:solidFill>
              <a:latin typeface="Book Antiqua" panose="02040602050305030304" pitchFamily="18" charset="0"/>
            </a:endParaRPr>
          </a:p>
        </p:txBody>
      </p:sp>
      <p:sp>
        <p:nvSpPr>
          <p:cNvPr id="8199" name="Rectangle 7"/>
          <p:cNvSpPr>
            <a:spLocks noChangeArrowheads="1"/>
          </p:cNvSpPr>
          <p:nvPr/>
        </p:nvSpPr>
        <p:spPr bwMode="auto">
          <a:xfrm>
            <a:off x="519113" y="989013"/>
            <a:ext cx="3719512" cy="4362450"/>
          </a:xfrm>
          <a:prstGeom prst="rect">
            <a:avLst/>
          </a:prstGeom>
          <a:solidFill>
            <a:srgbClr val="008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20000"/>
              </a:spcBef>
              <a:buClr>
                <a:srgbClr val="404960"/>
              </a:buClr>
              <a:buSzPct val="65000"/>
              <a:buFont typeface="Wingdings" panose="05000000000000000000" pitchFamily="2" charset="2"/>
              <a:buNone/>
            </a:pPr>
            <a:r>
              <a:rPr lang="en-US" sz="2800" b="0" i="0">
                <a:solidFill>
                  <a:schemeClr val="tx2"/>
                </a:solidFill>
              </a:rPr>
              <a:t>Statistical techniques are used extensively by marketing, accounting, quality control, consumers, professional sports people, hospital administrators, educators, politicians, physicians, and many others.</a:t>
            </a:r>
          </a:p>
        </p:txBody>
      </p:sp>
      <p:graphicFrame>
        <p:nvGraphicFramePr>
          <p:cNvPr id="8200" name="Object 8"/>
          <p:cNvGraphicFramePr>
            <a:graphicFrameLocks noGrp="1" noChangeAspect="1"/>
          </p:cNvGraphicFramePr>
          <p:nvPr>
            <p:ph idx="1"/>
          </p:nvPr>
        </p:nvGraphicFramePr>
        <p:xfrm>
          <a:off x="4635500" y="1074738"/>
          <a:ext cx="3949700" cy="3708400"/>
        </p:xfrm>
        <a:graphic>
          <a:graphicData uri="http://schemas.openxmlformats.org/presentationml/2006/ole">
            <p:oleObj spid="_x0000_s8240" name="Flash Document" r:id="rId3" imgW="3949560" imgH="3708360" progId="">
              <p:embed/>
            </p:oleObj>
          </a:graphicData>
        </a:graphic>
      </p:graphicFrame>
    </p:spTree>
  </p:cSld>
  <p:clrMapOvr>
    <a:masterClrMapping/>
  </p:clrMapOvr>
  <p:transition>
    <p:zo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2347996" y="558884"/>
            <a:ext cx="4858920" cy="560053"/>
          </a:xfrm>
        </p:spPr>
        <p:txBody>
          <a:bodyPr/>
          <a:lstStyle/>
          <a:p>
            <a:r>
              <a:rPr lang="en-US" sz="3600" dirty="0" smtClean="0"/>
              <a:t>Types of Statistics</a:t>
            </a:r>
            <a:endParaRPr lang="en-US" sz="3600" dirty="0"/>
          </a:p>
        </p:txBody>
      </p:sp>
      <p:sp>
        <p:nvSpPr>
          <p:cNvPr id="57347" name="Rectangle 3"/>
          <p:cNvSpPr>
            <a:spLocks noGrp="1" noChangeArrowheads="1"/>
          </p:cNvSpPr>
          <p:nvPr>
            <p:ph type="body" idx="1"/>
          </p:nvPr>
        </p:nvSpPr>
        <p:spPr/>
        <p:txBody>
          <a:bodyPr/>
          <a:lstStyle/>
          <a:p>
            <a:pPr marL="0" indent="0">
              <a:lnSpc>
                <a:spcPct val="110000"/>
              </a:lnSpc>
              <a:buNone/>
            </a:pPr>
            <a:r>
              <a:rPr lang="en-US" sz="3600" dirty="0">
                <a:solidFill>
                  <a:schemeClr val="accent1"/>
                </a:solidFill>
                <a:effectLst>
                  <a:outerShdw blurRad="38100" dist="38100" dir="2700000" algn="tl">
                    <a:srgbClr val="C0C0C0"/>
                  </a:outerShdw>
                </a:effectLst>
              </a:rPr>
              <a:t>Descriptive statistics</a:t>
            </a:r>
          </a:p>
          <a:p>
            <a:pPr marL="0" indent="0">
              <a:lnSpc>
                <a:spcPct val="110000"/>
              </a:lnSpc>
              <a:buNone/>
            </a:pPr>
            <a:r>
              <a:rPr lang="en-GB" sz="2900" dirty="0" smtClean="0"/>
              <a:t>Methods of organizing, summarizing, and presenting data in an informative way.</a:t>
            </a:r>
          </a:p>
          <a:p>
            <a:pPr marL="0" indent="0">
              <a:lnSpc>
                <a:spcPct val="110000"/>
              </a:lnSpc>
              <a:buNone/>
            </a:pPr>
            <a:endParaRPr lang="en-GB" sz="2900" dirty="0" smtClean="0"/>
          </a:p>
          <a:p>
            <a:pPr>
              <a:buNone/>
            </a:pPr>
            <a:r>
              <a:rPr lang="en-US" sz="3600" dirty="0" smtClean="0">
                <a:solidFill>
                  <a:schemeClr val="accent1"/>
                </a:solidFill>
                <a:effectLst>
                  <a:outerShdw blurRad="38100" dist="38100" dir="2700000" algn="tl">
                    <a:srgbClr val="C0C0C0"/>
                  </a:outerShdw>
                </a:effectLst>
              </a:rPr>
              <a:t>Inferential </a:t>
            </a:r>
            <a:r>
              <a:rPr lang="en-US" sz="3600" dirty="0">
                <a:solidFill>
                  <a:schemeClr val="accent1"/>
                </a:solidFill>
                <a:effectLst>
                  <a:outerShdw blurRad="38100" dist="38100" dir="2700000" algn="tl">
                    <a:srgbClr val="C0C0C0"/>
                  </a:outerShdw>
                </a:effectLst>
              </a:rPr>
              <a:t>Statistics</a:t>
            </a:r>
            <a:r>
              <a:rPr lang="en-US" sz="3600" dirty="0">
                <a:effectLst>
                  <a:outerShdw blurRad="38100" dist="38100" dir="2700000" algn="tl">
                    <a:srgbClr val="C0C0C0"/>
                  </a:outerShdw>
                </a:effectLst>
              </a:rPr>
              <a:t>:</a:t>
            </a:r>
            <a:r>
              <a:rPr lang="en-US" sz="2800" dirty="0"/>
              <a:t> </a:t>
            </a:r>
            <a:endParaRPr lang="en-US" sz="2800" dirty="0" smtClean="0"/>
          </a:p>
          <a:p>
            <a:pPr>
              <a:buNone/>
            </a:pPr>
            <a:r>
              <a:rPr lang="en-US" sz="2800" dirty="0" smtClean="0"/>
              <a:t>A </a:t>
            </a:r>
            <a:r>
              <a:rPr lang="en-US" sz="2800" dirty="0"/>
              <a:t>decision, estimate, prediction, or generalization about a population, based on a sample.</a:t>
            </a:r>
          </a:p>
        </p:txBody>
      </p:sp>
    </p:spTree>
    <p:extLst>
      <p:ext uri="{BB962C8B-B14F-4D97-AF65-F5344CB8AC3E}">
        <p14:creationId xmlns:p14="http://schemas.microsoft.com/office/powerpoint/2010/main" xmlns="" val="3354348704"/>
      </p:ext>
    </p:extLst>
  </p:cSld>
  <p:clrMapOvr>
    <a:masterClrMapping/>
  </p:clrMapOvr>
  <p:transition>
    <p:zo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dirty="0" smtClean="0"/>
              <a:t>Example Descriptive </a:t>
            </a:r>
            <a:r>
              <a:rPr lang="en-US" dirty="0"/>
              <a:t>Statistics</a:t>
            </a:r>
          </a:p>
        </p:txBody>
      </p:sp>
      <p:sp>
        <p:nvSpPr>
          <p:cNvPr id="59395" name="Rectangle 3"/>
          <p:cNvSpPr>
            <a:spLocks noGrp="1" noChangeArrowheads="1"/>
          </p:cNvSpPr>
          <p:nvPr>
            <p:ph type="body" idx="1"/>
          </p:nvPr>
        </p:nvSpPr>
        <p:spPr/>
        <p:txBody>
          <a:bodyPr/>
          <a:lstStyle/>
          <a:p>
            <a:pPr>
              <a:lnSpc>
                <a:spcPct val="110000"/>
              </a:lnSpc>
            </a:pPr>
            <a:r>
              <a:rPr lang="en-US" sz="3300" dirty="0"/>
              <a:t>Collect data</a:t>
            </a:r>
          </a:p>
          <a:p>
            <a:pPr lvl="1">
              <a:lnSpc>
                <a:spcPct val="110000"/>
              </a:lnSpc>
            </a:pPr>
            <a:r>
              <a:rPr lang="en-US" sz="2900" dirty="0"/>
              <a:t>e.g. Survey</a:t>
            </a:r>
          </a:p>
          <a:p>
            <a:pPr>
              <a:lnSpc>
                <a:spcPct val="110000"/>
              </a:lnSpc>
            </a:pPr>
            <a:r>
              <a:rPr lang="en-US" sz="3300" dirty="0"/>
              <a:t>Present data</a:t>
            </a:r>
          </a:p>
          <a:p>
            <a:pPr lvl="1">
              <a:lnSpc>
                <a:spcPct val="110000"/>
              </a:lnSpc>
            </a:pPr>
            <a:r>
              <a:rPr lang="en-US" sz="2900" dirty="0"/>
              <a:t>e.g. Tables and graphs</a:t>
            </a:r>
          </a:p>
          <a:p>
            <a:pPr>
              <a:lnSpc>
                <a:spcPct val="110000"/>
              </a:lnSpc>
            </a:pPr>
            <a:r>
              <a:rPr lang="en-US" sz="3300" dirty="0"/>
              <a:t>Characterize data</a:t>
            </a:r>
          </a:p>
          <a:p>
            <a:pPr lvl="1">
              <a:lnSpc>
                <a:spcPct val="110000"/>
              </a:lnSpc>
            </a:pPr>
            <a:r>
              <a:rPr lang="en-US" sz="2900" dirty="0"/>
              <a:t>e.g. Sample mean = </a:t>
            </a:r>
          </a:p>
        </p:txBody>
      </p:sp>
      <p:graphicFrame>
        <p:nvGraphicFramePr>
          <p:cNvPr id="59396" name="Object 4"/>
          <p:cNvGraphicFramePr>
            <a:graphicFrameLocks noChangeAspect="1"/>
          </p:cNvGraphicFramePr>
          <p:nvPr/>
        </p:nvGraphicFramePr>
        <p:xfrm>
          <a:off x="5181600" y="4724400"/>
          <a:ext cx="887413" cy="914400"/>
        </p:xfrm>
        <a:graphic>
          <a:graphicData uri="http://schemas.openxmlformats.org/presentationml/2006/ole">
            <p:oleObj spid="_x0000_s65577" name="Equation" r:id="rId3" imgW="418918" imgH="431613" progId="">
              <p:embed/>
            </p:oleObj>
          </a:graphicData>
        </a:graphic>
      </p:graphicFrame>
      <p:graphicFrame>
        <p:nvGraphicFramePr>
          <p:cNvPr id="59397" name="Object 5">
            <a:hlinkClick r:id="" action="ppaction://ole?verb=0"/>
          </p:cNvPr>
          <p:cNvGraphicFramePr>
            <a:graphicFrameLocks/>
          </p:cNvGraphicFramePr>
          <p:nvPr/>
        </p:nvGraphicFramePr>
        <p:xfrm>
          <a:off x="4038600" y="1722438"/>
          <a:ext cx="1762125" cy="1592262"/>
        </p:xfrm>
        <a:graphic>
          <a:graphicData uri="http://schemas.openxmlformats.org/presentationml/2006/ole">
            <p:oleObj spid="_x0000_s65578" name="Clip" r:id="rId4" imgW="1759071" imgH="1589503" progId="">
              <p:embed/>
            </p:oleObj>
          </a:graphicData>
        </a:graphic>
      </p:graphicFrame>
      <p:graphicFrame>
        <p:nvGraphicFramePr>
          <p:cNvPr id="59398" name="Object 6">
            <a:hlinkClick r:id="" action="ppaction://ole?verb=0"/>
          </p:cNvPr>
          <p:cNvGraphicFramePr>
            <a:graphicFrameLocks/>
          </p:cNvGraphicFramePr>
          <p:nvPr/>
        </p:nvGraphicFramePr>
        <p:xfrm>
          <a:off x="6019800" y="3200400"/>
          <a:ext cx="1803400" cy="1274763"/>
        </p:xfrm>
        <a:graphic>
          <a:graphicData uri="http://schemas.openxmlformats.org/presentationml/2006/ole">
            <p:oleObj spid="_x0000_s65579" name="Clip" r:id="rId5" imgW="1800275" imgH="1272553" progId="">
              <p:embed/>
            </p:oleObj>
          </a:graphicData>
        </a:graphic>
      </p:graphicFrame>
      <p:sp>
        <p:nvSpPr>
          <p:cNvPr id="2" name="TextBox 1"/>
          <p:cNvSpPr txBox="1"/>
          <p:nvPr/>
        </p:nvSpPr>
        <p:spPr>
          <a:xfrm>
            <a:off x="1022684" y="517358"/>
            <a:ext cx="6003758" cy="646331"/>
          </a:xfrm>
          <a:prstGeom prst="rect">
            <a:avLst/>
          </a:prstGeom>
          <a:noFill/>
        </p:spPr>
        <p:txBody>
          <a:bodyPr wrap="square" rtlCol="0">
            <a:spAutoFit/>
          </a:bodyPr>
          <a:lstStyle/>
          <a:p>
            <a:pPr algn="ctr"/>
            <a:r>
              <a:rPr lang="en-GB" sz="3600" b="0" i="0" dirty="0" smtClean="0"/>
              <a:t>Descriptive Statistics</a:t>
            </a:r>
            <a:endParaRPr lang="en-GB" sz="3600" b="0" i="0" dirty="0"/>
          </a:p>
        </p:txBody>
      </p:sp>
    </p:spTree>
    <p:extLst>
      <p:ext uri="{BB962C8B-B14F-4D97-AF65-F5344CB8AC3E}">
        <p14:creationId xmlns:p14="http://schemas.microsoft.com/office/powerpoint/2010/main" xmlns="" val="1410522223"/>
      </p:ext>
    </p:extLst>
  </p:cSld>
  <p:clrMapOvr>
    <a:masterClrMapping/>
  </p:clrMapOvr>
  <p:transition>
    <p:zo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9"/>
          <p:cNvGraphicFramePr>
            <a:graphicFrameLocks noChangeAspect="1"/>
          </p:cNvGraphicFramePr>
          <p:nvPr/>
        </p:nvGraphicFramePr>
        <p:xfrm>
          <a:off x="2095500" y="5654675"/>
          <a:ext cx="1235075" cy="860425"/>
        </p:xfrm>
        <a:graphic>
          <a:graphicData uri="http://schemas.openxmlformats.org/presentationml/2006/ole">
            <p:oleObj spid="_x0000_s66570" name="Flash Document" r:id="rId3" imgW="4702680" imgH="3279240" progId="">
              <p:embed/>
            </p:oleObj>
          </a:graphicData>
        </a:graphic>
      </p:graphicFrame>
      <p:sp>
        <p:nvSpPr>
          <p:cNvPr id="3" name="Rectangle 4"/>
          <p:cNvSpPr>
            <a:spLocks noChangeArrowheads="1"/>
          </p:cNvSpPr>
          <p:nvPr/>
        </p:nvSpPr>
        <p:spPr bwMode="auto">
          <a:xfrm>
            <a:off x="0" y="0"/>
            <a:ext cx="1841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50000"/>
              </a:spcBef>
            </a:pPr>
            <a:endParaRPr lang="en-US">
              <a:solidFill>
                <a:schemeClr val="bg1"/>
              </a:solidFill>
              <a:latin typeface="Book Antiqua" panose="02040602050305030304" pitchFamily="18" charset="0"/>
            </a:endParaRPr>
          </a:p>
        </p:txBody>
      </p:sp>
      <p:sp>
        <p:nvSpPr>
          <p:cNvPr id="4" name="Text Box 5"/>
          <p:cNvSpPr txBox="1">
            <a:spLocks noChangeArrowheads="1"/>
          </p:cNvSpPr>
          <p:nvPr/>
        </p:nvSpPr>
        <p:spPr bwMode="auto">
          <a:xfrm>
            <a:off x="4335463" y="1622425"/>
            <a:ext cx="4257675" cy="39354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20000"/>
              </a:spcBef>
              <a:buClr>
                <a:srgbClr val="404960"/>
              </a:buClr>
              <a:buSzPct val="65000"/>
              <a:buFont typeface="Wingdings" panose="05000000000000000000" pitchFamily="2" charset="2"/>
              <a:buNone/>
            </a:pPr>
            <a:r>
              <a:rPr lang="en-US" sz="2800" i="0">
                <a:solidFill>
                  <a:srgbClr val="993300"/>
                </a:solidFill>
              </a:rPr>
              <a:t>EXAMPLE 2: According to Consumer Reports, General Electric washing machine owners reported 9 problems per 100 machines during 2001. The statistic 9 describes the number of problems out of every 100 machines.</a:t>
            </a:r>
            <a:endParaRPr lang="en-US" sz="2800">
              <a:solidFill>
                <a:srgbClr val="993300"/>
              </a:solidFill>
            </a:endParaRPr>
          </a:p>
        </p:txBody>
      </p:sp>
      <p:sp>
        <p:nvSpPr>
          <p:cNvPr id="5" name="Rectangle 7"/>
          <p:cNvSpPr>
            <a:spLocks noChangeArrowheads="1"/>
          </p:cNvSpPr>
          <p:nvPr/>
        </p:nvSpPr>
        <p:spPr bwMode="auto">
          <a:xfrm>
            <a:off x="357188" y="541338"/>
            <a:ext cx="8356600" cy="590931"/>
          </a:xfrm>
          <a:prstGeom prst="rect">
            <a:avLst/>
          </a:prstGeom>
          <a:solidFill>
            <a:srgbClr val="9933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nSpc>
                <a:spcPct val="90000"/>
              </a:lnSpc>
              <a:spcBef>
                <a:spcPct val="20000"/>
              </a:spcBef>
              <a:buClr>
                <a:srgbClr val="404960"/>
              </a:buClr>
              <a:buSzPct val="65000"/>
              <a:buFont typeface="Wingdings" panose="05000000000000000000" pitchFamily="2" charset="2"/>
              <a:buNone/>
            </a:pPr>
            <a:r>
              <a:rPr lang="en-US" sz="3600" i="0" dirty="0">
                <a:solidFill>
                  <a:schemeClr val="tx2"/>
                </a:solidFill>
                <a:effectLst>
                  <a:outerShdw blurRad="38100" dist="38100" dir="2700000" algn="tl">
                    <a:srgbClr val="000000"/>
                  </a:outerShdw>
                </a:effectLst>
              </a:rPr>
              <a:t>Descriptive Statistics</a:t>
            </a:r>
            <a:r>
              <a:rPr lang="en-US" sz="2800" b="0" i="0" dirty="0" smtClean="0">
                <a:solidFill>
                  <a:schemeClr val="tx2"/>
                </a:solidFill>
              </a:rPr>
              <a:t>:</a:t>
            </a:r>
            <a:endParaRPr lang="en-US" sz="2800" b="0" i="0" dirty="0">
              <a:solidFill>
                <a:schemeClr val="tx2"/>
              </a:solidFill>
            </a:endParaRPr>
          </a:p>
        </p:txBody>
      </p:sp>
      <p:sp>
        <p:nvSpPr>
          <p:cNvPr id="6" name="Rectangle 8"/>
          <p:cNvSpPr>
            <a:spLocks noChangeArrowheads="1"/>
          </p:cNvSpPr>
          <p:nvPr/>
        </p:nvSpPr>
        <p:spPr bwMode="auto">
          <a:xfrm>
            <a:off x="260350" y="1560513"/>
            <a:ext cx="3613150" cy="43624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r>
              <a:rPr lang="en-US" sz="2800" i="0">
                <a:solidFill>
                  <a:srgbClr val="993300"/>
                </a:solidFill>
              </a:rPr>
              <a:t>EXAMPLE 1: A Gallup poll found that 49% of the people in a survey knew the name of the first book of the Bible. The statistic 49 describes the number out of every 100 persons who knew the answer.</a:t>
            </a:r>
          </a:p>
        </p:txBody>
      </p:sp>
      <p:graphicFrame>
        <p:nvGraphicFramePr>
          <p:cNvPr id="7" name="Object 11"/>
          <p:cNvGraphicFramePr>
            <a:graphicFrameLocks noChangeAspect="1"/>
          </p:cNvGraphicFramePr>
          <p:nvPr/>
        </p:nvGraphicFramePr>
        <p:xfrm>
          <a:off x="7681913" y="3352800"/>
          <a:ext cx="1219200" cy="1287463"/>
        </p:xfrm>
        <a:graphic>
          <a:graphicData uri="http://schemas.openxmlformats.org/presentationml/2006/ole">
            <p:oleObj spid="_x0000_s66571" name="Flash Document" r:id="rId4" imgW="1399680" imgH="1478160" progId="">
              <p:embed/>
            </p:oleObj>
          </a:graphicData>
        </a:graphic>
      </p:graphicFrame>
    </p:spTree>
    <p:extLst>
      <p:ext uri="{BB962C8B-B14F-4D97-AF65-F5344CB8AC3E}">
        <p14:creationId xmlns:p14="http://schemas.microsoft.com/office/powerpoint/2010/main" xmlns="" val="2843343053"/>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4" presetClass="entr" presetSubtype="16"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ox(in)">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4">
                                            <p:txEl>
                                              <p:pRg st="0" end="0"/>
                                            </p:txEl>
                                          </p:spTgt>
                                        </p:tgtEl>
                                        <p:attrNameLst>
                                          <p:attrName>style.visibility</p:attrName>
                                        </p:attrNameLst>
                                      </p:cBhvr>
                                      <p:to>
                                        <p:strVal val="visible"/>
                                      </p:to>
                                    </p:set>
                                    <p:anim calcmode="lin" valueType="num">
                                      <p:cBhvr additive="base">
                                        <p:cTn id="16"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4">
                                            <p:txEl>
                                              <p:pRg st="0" end="0"/>
                                            </p:txEl>
                                          </p:spTgt>
                                        </p:tgtEl>
                                        <p:attrNameLst>
                                          <p:attrName>ppt_y</p:attrName>
                                        </p:attrNameLst>
                                      </p:cBhvr>
                                      <p:tavLst>
                                        <p:tav tm="0">
                                          <p:val>
                                            <p:strVal val="1+#ppt_h/2"/>
                                          </p:val>
                                        </p:tav>
                                        <p:tav tm="100000">
                                          <p:val>
                                            <p:strVal val="#ppt_y"/>
                                          </p:val>
                                        </p:tav>
                                      </p:tavLst>
                                    </p:anim>
                                  </p:childTnLst>
                                </p:cTn>
                              </p:par>
                              <p:par>
                                <p:cTn id="18" presetID="4" presetClass="entr" presetSubtype="16"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ox(in)">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en-US" dirty="0" smtClean="0"/>
              <a:t>Example of Inferential </a:t>
            </a:r>
            <a:r>
              <a:rPr lang="en-US" dirty="0"/>
              <a:t>Statistics</a:t>
            </a:r>
          </a:p>
        </p:txBody>
      </p:sp>
      <p:sp>
        <p:nvSpPr>
          <p:cNvPr id="61443" name="Rectangle 3"/>
          <p:cNvSpPr>
            <a:spLocks noGrp="1" noChangeArrowheads="1"/>
          </p:cNvSpPr>
          <p:nvPr>
            <p:ph type="body" idx="1"/>
          </p:nvPr>
        </p:nvSpPr>
        <p:spPr>
          <a:xfrm>
            <a:off x="381000" y="1676400"/>
            <a:ext cx="5029200" cy="4532313"/>
          </a:xfrm>
        </p:spPr>
        <p:txBody>
          <a:bodyPr/>
          <a:lstStyle/>
          <a:p>
            <a:pPr>
              <a:lnSpc>
                <a:spcPct val="110000"/>
              </a:lnSpc>
            </a:pPr>
            <a:r>
              <a:rPr lang="en-US" dirty="0"/>
              <a:t>Estimation</a:t>
            </a:r>
          </a:p>
          <a:p>
            <a:pPr lvl="1">
              <a:lnSpc>
                <a:spcPct val="110000"/>
              </a:lnSpc>
            </a:pPr>
            <a:r>
              <a:rPr lang="en-US" dirty="0"/>
              <a:t>e.g.: Estimate the population mean weight using the sample mean weight</a:t>
            </a:r>
          </a:p>
          <a:p>
            <a:pPr>
              <a:lnSpc>
                <a:spcPct val="110000"/>
              </a:lnSpc>
            </a:pPr>
            <a:r>
              <a:rPr lang="en-US" dirty="0"/>
              <a:t>Hypothesis testing</a:t>
            </a:r>
          </a:p>
          <a:p>
            <a:pPr lvl="1">
              <a:lnSpc>
                <a:spcPct val="110000"/>
              </a:lnSpc>
            </a:pPr>
            <a:r>
              <a:rPr lang="en-US" dirty="0"/>
              <a:t>e.g.: Test the claim that the population mean weight is </a:t>
            </a:r>
            <a:r>
              <a:rPr lang="en-US" dirty="0" smtClean="0"/>
              <a:t>6 feet.</a:t>
            </a:r>
            <a:endParaRPr lang="en-US" dirty="0"/>
          </a:p>
        </p:txBody>
      </p:sp>
      <p:pic>
        <p:nvPicPr>
          <p:cNvPr id="61445" name="Picture 5"/>
          <p:cNvPicPr>
            <a:picLocks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410200" y="1905000"/>
            <a:ext cx="3124200" cy="3048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TextBox 1"/>
          <p:cNvSpPr txBox="1"/>
          <p:nvPr/>
        </p:nvSpPr>
        <p:spPr>
          <a:xfrm>
            <a:off x="1311442" y="409074"/>
            <a:ext cx="5558590" cy="769441"/>
          </a:xfrm>
          <a:prstGeom prst="rect">
            <a:avLst/>
          </a:prstGeom>
          <a:noFill/>
        </p:spPr>
        <p:txBody>
          <a:bodyPr wrap="square" rtlCol="0">
            <a:spAutoFit/>
          </a:bodyPr>
          <a:lstStyle/>
          <a:p>
            <a:pPr algn="ctr"/>
            <a:r>
              <a:rPr lang="en-GB" sz="4400" b="0" i="0" dirty="0" smtClean="0"/>
              <a:t>Inferential Statistics</a:t>
            </a:r>
            <a:endParaRPr lang="en-GB" sz="4400" b="0" i="0" dirty="0"/>
          </a:p>
        </p:txBody>
      </p:sp>
    </p:spTree>
    <p:extLst>
      <p:ext uri="{BB962C8B-B14F-4D97-AF65-F5344CB8AC3E}">
        <p14:creationId xmlns:p14="http://schemas.microsoft.com/office/powerpoint/2010/main" xmlns="" val="428664543"/>
      </p:ext>
    </p:extLst>
  </p:cSld>
  <p:clrMapOvr>
    <a:masterClrMapping/>
  </p:clrMapOvr>
  <p:transition>
    <p:zo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5083175" y="5999163"/>
            <a:ext cx="3794125" cy="496887"/>
          </a:xfrm>
          <a:ln/>
        </p:spPr>
        <p:txBody>
          <a:bodyPr lIns="92075" tIns="46038" rIns="92075" bIns="46038"/>
          <a:lstStyle/>
          <a:p>
            <a:r>
              <a:rPr lang="en-US"/>
              <a:t>Types of Statistics</a:t>
            </a:r>
            <a:br>
              <a:rPr lang="en-US"/>
            </a:br>
            <a:r>
              <a:rPr lang="en-US" sz="1600"/>
              <a:t>(examples of inferential statistics)</a:t>
            </a:r>
          </a:p>
        </p:txBody>
      </p:sp>
      <p:graphicFrame>
        <p:nvGraphicFramePr>
          <p:cNvPr id="11275" name="Object 11"/>
          <p:cNvGraphicFramePr>
            <a:graphicFrameLocks noGrp="1" noChangeAspect="1"/>
          </p:cNvGraphicFramePr>
          <p:nvPr>
            <p:ph sz="half" idx="1"/>
          </p:nvPr>
        </p:nvGraphicFramePr>
        <p:xfrm>
          <a:off x="7618413" y="817563"/>
          <a:ext cx="1258887" cy="1644650"/>
        </p:xfrm>
        <a:graphic>
          <a:graphicData uri="http://schemas.openxmlformats.org/presentationml/2006/ole">
            <p:oleObj spid="_x0000_s11355" name="Flash Document" r:id="rId3" imgW="839520" imgH="1097280" progId="">
              <p:embed/>
            </p:oleObj>
          </a:graphicData>
        </a:graphic>
      </p:graphicFrame>
      <p:sp>
        <p:nvSpPr>
          <p:cNvPr id="11268" name="Rectangle 4"/>
          <p:cNvSpPr>
            <a:spLocks noChangeArrowheads="1"/>
          </p:cNvSpPr>
          <p:nvPr/>
        </p:nvSpPr>
        <p:spPr bwMode="auto">
          <a:xfrm>
            <a:off x="0" y="0"/>
            <a:ext cx="1841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50000"/>
              </a:spcBef>
            </a:pPr>
            <a:endParaRPr lang="en-US">
              <a:solidFill>
                <a:schemeClr val="bg1"/>
              </a:solidFill>
              <a:latin typeface="Book Antiqua" panose="02040602050305030304" pitchFamily="18" charset="0"/>
            </a:endParaRPr>
          </a:p>
        </p:txBody>
      </p:sp>
      <p:sp>
        <p:nvSpPr>
          <p:cNvPr id="11269" name="Text Box 5"/>
          <p:cNvSpPr txBox="1">
            <a:spLocks noChangeArrowheads="1"/>
          </p:cNvSpPr>
          <p:nvPr/>
        </p:nvSpPr>
        <p:spPr bwMode="auto">
          <a:xfrm>
            <a:off x="4252913" y="407988"/>
            <a:ext cx="3595687" cy="26543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20000"/>
              </a:spcBef>
              <a:buClr>
                <a:srgbClr val="404960"/>
              </a:buClr>
              <a:buSzPct val="65000"/>
              <a:buFont typeface="Wingdings" panose="05000000000000000000" pitchFamily="2" charset="2"/>
              <a:buNone/>
            </a:pPr>
            <a:r>
              <a:rPr lang="en-US" sz="2800" i="0">
                <a:solidFill>
                  <a:srgbClr val="008000"/>
                </a:solidFill>
              </a:rPr>
              <a:t>Example 2: Wine tasters sip a few drops of wine to make a decision with respect to all the wine waiting to be released for sale. </a:t>
            </a:r>
            <a:endParaRPr lang="en-US" sz="2800">
              <a:solidFill>
                <a:srgbClr val="008000"/>
              </a:solidFill>
            </a:endParaRPr>
          </a:p>
        </p:txBody>
      </p:sp>
      <p:sp>
        <p:nvSpPr>
          <p:cNvPr id="11270" name="Rectangle 6"/>
          <p:cNvSpPr>
            <a:spLocks noChangeArrowheads="1"/>
          </p:cNvSpPr>
          <p:nvPr/>
        </p:nvSpPr>
        <p:spPr bwMode="auto">
          <a:xfrm>
            <a:off x="247650" y="303213"/>
            <a:ext cx="3451225" cy="43624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20000"/>
              </a:spcBef>
              <a:buClr>
                <a:srgbClr val="404960"/>
              </a:buClr>
              <a:buSzPct val="65000"/>
              <a:buFont typeface="Wingdings" panose="05000000000000000000" pitchFamily="2" charset="2"/>
              <a:buNone/>
            </a:pPr>
            <a:r>
              <a:rPr lang="en-US" sz="2800" i="0">
                <a:solidFill>
                  <a:srgbClr val="993300"/>
                </a:solidFill>
              </a:rPr>
              <a:t>Example 1: TV networks constantly monitor the popularity of their programs by hiring Nielsen and other organizations to sample the preferences of TV viewers.</a:t>
            </a:r>
          </a:p>
        </p:txBody>
      </p:sp>
      <p:sp>
        <p:nvSpPr>
          <p:cNvPr id="11273" name="Rectangle 9"/>
          <p:cNvSpPr>
            <a:spLocks noChangeArrowheads="1"/>
          </p:cNvSpPr>
          <p:nvPr/>
        </p:nvSpPr>
        <p:spPr bwMode="auto">
          <a:xfrm>
            <a:off x="3749675" y="3255963"/>
            <a:ext cx="5165725" cy="2284412"/>
          </a:xfrm>
          <a:prstGeom prst="rect">
            <a:avLst/>
          </a:prstGeom>
          <a:noFill/>
          <a:ln w="57150">
            <a:solidFill>
              <a:srgbClr val="993300"/>
            </a:solidFill>
            <a:prstDash val="sysDot"/>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20000"/>
              </a:spcBef>
              <a:buClr>
                <a:srgbClr val="404960"/>
              </a:buClr>
              <a:buSzPct val="65000"/>
              <a:buFont typeface="Wingdings" panose="05000000000000000000" pitchFamily="2" charset="2"/>
              <a:buNone/>
            </a:pPr>
            <a:r>
              <a:rPr lang="en-US" sz="2800" i="0">
                <a:solidFill>
                  <a:srgbClr val="FF3300"/>
                </a:solidFill>
              </a:rPr>
              <a:t>Example 3: The accounting department of a large firm will select a sample of the invoices to check for accuracy for all the invoices of the company.</a:t>
            </a:r>
          </a:p>
        </p:txBody>
      </p:sp>
      <p:graphicFrame>
        <p:nvGraphicFramePr>
          <p:cNvPr id="11277" name="Object 13"/>
          <p:cNvGraphicFramePr>
            <a:graphicFrameLocks noGrp="1" noChangeAspect="1"/>
          </p:cNvGraphicFramePr>
          <p:nvPr>
            <p:ph sz="half" idx="2"/>
          </p:nvPr>
        </p:nvGraphicFramePr>
        <p:xfrm>
          <a:off x="811213" y="4872038"/>
          <a:ext cx="1311275" cy="1295400"/>
        </p:xfrm>
        <a:graphic>
          <a:graphicData uri="http://schemas.openxmlformats.org/presentationml/2006/ole">
            <p:oleObj spid="_x0000_s11356" name="Flash Document" r:id="rId4" imgW="1310760" imgH="1295280" progId="">
              <p:embed/>
            </p:oleObj>
          </a:graphicData>
        </a:graphic>
      </p:graphicFrame>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269">
                                            <p:txEl>
                                              <p:pRg st="0" end="0"/>
                                            </p:txEl>
                                          </p:spTgt>
                                        </p:tgtEl>
                                        <p:attrNameLst>
                                          <p:attrName>style.visibility</p:attrName>
                                        </p:attrNameLst>
                                      </p:cBhvr>
                                      <p:to>
                                        <p:strVal val="visible"/>
                                      </p:to>
                                    </p:set>
                                    <p:animEffect transition="in" filter="blinds(horizontal)">
                                      <p:cBhvr>
                                        <p:cTn id="7" dur="500"/>
                                        <p:tgtEl>
                                          <p:spTgt spid="11269">
                                            <p:txEl>
                                              <p:pRg st="0" end="0"/>
                                            </p:txEl>
                                          </p:spTgt>
                                        </p:tgtEl>
                                      </p:cBhvr>
                                    </p:animEffect>
                                  </p:childTnLst>
                                </p:cTn>
                              </p:par>
                              <p:par>
                                <p:cTn id="8" presetID="49" presetClass="entr" presetSubtype="0" decel="100000" fill="hold" nodeType="withEffect">
                                  <p:stCondLst>
                                    <p:cond delay="0"/>
                                  </p:stCondLst>
                                  <p:childTnLst>
                                    <p:set>
                                      <p:cBhvr>
                                        <p:cTn id="9" dur="1" fill="hold">
                                          <p:stCondLst>
                                            <p:cond delay="0"/>
                                          </p:stCondLst>
                                        </p:cTn>
                                        <p:tgtEl>
                                          <p:spTgt spid="11275"/>
                                        </p:tgtEl>
                                        <p:attrNameLst>
                                          <p:attrName>style.visibility</p:attrName>
                                        </p:attrNameLst>
                                      </p:cBhvr>
                                      <p:to>
                                        <p:strVal val="visible"/>
                                      </p:to>
                                    </p:set>
                                    <p:anim calcmode="lin" valueType="num">
                                      <p:cBhvr>
                                        <p:cTn id="10" dur="500" fill="hold"/>
                                        <p:tgtEl>
                                          <p:spTgt spid="11275"/>
                                        </p:tgtEl>
                                        <p:attrNameLst>
                                          <p:attrName>ppt_w</p:attrName>
                                        </p:attrNameLst>
                                      </p:cBhvr>
                                      <p:tavLst>
                                        <p:tav tm="0">
                                          <p:val>
                                            <p:fltVal val="0"/>
                                          </p:val>
                                        </p:tav>
                                        <p:tav tm="100000">
                                          <p:val>
                                            <p:strVal val="#ppt_w"/>
                                          </p:val>
                                        </p:tav>
                                      </p:tavLst>
                                    </p:anim>
                                    <p:anim calcmode="lin" valueType="num">
                                      <p:cBhvr>
                                        <p:cTn id="11" dur="500" fill="hold"/>
                                        <p:tgtEl>
                                          <p:spTgt spid="11275"/>
                                        </p:tgtEl>
                                        <p:attrNameLst>
                                          <p:attrName>ppt_h</p:attrName>
                                        </p:attrNameLst>
                                      </p:cBhvr>
                                      <p:tavLst>
                                        <p:tav tm="0">
                                          <p:val>
                                            <p:fltVal val="0"/>
                                          </p:val>
                                        </p:tav>
                                        <p:tav tm="100000">
                                          <p:val>
                                            <p:strVal val="#ppt_h"/>
                                          </p:val>
                                        </p:tav>
                                      </p:tavLst>
                                    </p:anim>
                                    <p:anim calcmode="lin" valueType="num">
                                      <p:cBhvr>
                                        <p:cTn id="12" dur="500" fill="hold"/>
                                        <p:tgtEl>
                                          <p:spTgt spid="11275"/>
                                        </p:tgtEl>
                                        <p:attrNameLst>
                                          <p:attrName>style.rotation</p:attrName>
                                        </p:attrNameLst>
                                      </p:cBhvr>
                                      <p:tavLst>
                                        <p:tav tm="0">
                                          <p:val>
                                            <p:fltVal val="360"/>
                                          </p:val>
                                        </p:tav>
                                        <p:tav tm="100000">
                                          <p:val>
                                            <p:fltVal val="0"/>
                                          </p:val>
                                        </p:tav>
                                      </p:tavLst>
                                    </p:anim>
                                    <p:animEffect transition="in" filter="fade">
                                      <p:cBhvr>
                                        <p:cTn id="13" dur="500"/>
                                        <p:tgtEl>
                                          <p:spTgt spid="1127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1273"/>
                                        </p:tgtEl>
                                        <p:attrNameLst>
                                          <p:attrName>style.visibility</p:attrName>
                                        </p:attrNameLst>
                                      </p:cBhvr>
                                      <p:to>
                                        <p:strVal val="visible"/>
                                      </p:to>
                                    </p:set>
                                    <p:animEffect transition="in" filter="box(in)">
                                      <p:cBhvr>
                                        <p:cTn id="18" dur="500"/>
                                        <p:tgtEl>
                                          <p:spTgt spid="112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9" grpId="0" build="p" autoUpdateAnimBg="0"/>
      <p:bldP spid="11273"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4" name="Rectangle 4"/>
          <p:cNvSpPr>
            <a:spLocks noChangeArrowheads="1"/>
          </p:cNvSpPr>
          <p:nvPr/>
        </p:nvSpPr>
        <p:spPr bwMode="auto">
          <a:xfrm>
            <a:off x="0" y="0"/>
            <a:ext cx="1841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50000"/>
              </a:spcBef>
            </a:pPr>
            <a:endParaRPr lang="en-US">
              <a:solidFill>
                <a:schemeClr val="bg1"/>
              </a:solidFill>
              <a:latin typeface="Book Antiqua" panose="02040602050305030304" pitchFamily="18" charset="0"/>
            </a:endParaRPr>
          </a:p>
        </p:txBody>
      </p:sp>
      <p:sp>
        <p:nvSpPr>
          <p:cNvPr id="10245" name="Text Box 5"/>
          <p:cNvSpPr txBox="1">
            <a:spLocks noChangeArrowheads="1"/>
          </p:cNvSpPr>
          <p:nvPr/>
        </p:nvSpPr>
        <p:spPr bwMode="auto">
          <a:xfrm>
            <a:off x="266700" y="2200275"/>
            <a:ext cx="3019425" cy="33734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114300">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lvl="1">
              <a:lnSpc>
                <a:spcPct val="90000"/>
              </a:lnSpc>
              <a:spcBef>
                <a:spcPct val="20000"/>
              </a:spcBef>
              <a:buClr>
                <a:srgbClr val="990000"/>
              </a:buClr>
              <a:buSzPct val="65000"/>
              <a:buFont typeface="Wingdings" panose="05000000000000000000" pitchFamily="2" charset="2"/>
              <a:buNone/>
            </a:pPr>
            <a:r>
              <a:rPr lang="en-US" sz="2800" b="0" i="0"/>
              <a:t>A</a:t>
            </a:r>
            <a:r>
              <a:rPr lang="en-US" sz="3200" b="0" i="0"/>
              <a:t> </a:t>
            </a:r>
            <a:r>
              <a:rPr lang="en-US" sz="3600" i="0">
                <a:solidFill>
                  <a:schemeClr val="accent1"/>
                </a:solidFill>
                <a:effectLst>
                  <a:outerShdw blurRad="38100" dist="38100" dir="2700000" algn="tl">
                    <a:srgbClr val="C0C0C0"/>
                  </a:outerShdw>
                </a:effectLst>
              </a:rPr>
              <a:t>Population</a:t>
            </a:r>
            <a:r>
              <a:rPr lang="en-US" sz="3200" b="0" i="0">
                <a:solidFill>
                  <a:srgbClr val="009900"/>
                </a:solidFill>
              </a:rPr>
              <a:t> </a:t>
            </a:r>
            <a:r>
              <a:rPr lang="en-US" sz="2800" b="0" i="0"/>
              <a:t>is a</a:t>
            </a:r>
            <a:r>
              <a:rPr lang="en-US" sz="3200" b="0" i="0"/>
              <a:t> </a:t>
            </a:r>
            <a:r>
              <a:rPr lang="en-US" sz="3600" i="0">
                <a:solidFill>
                  <a:schemeClr val="accent1"/>
                </a:solidFill>
                <a:effectLst>
                  <a:outerShdw blurRad="38100" dist="38100" dir="2700000" algn="tl">
                    <a:srgbClr val="C0C0C0"/>
                  </a:outerShdw>
                </a:effectLst>
              </a:rPr>
              <a:t>Collection</a:t>
            </a:r>
            <a:r>
              <a:rPr lang="en-US" sz="3200" b="0" i="0">
                <a:solidFill>
                  <a:schemeClr val="accent1"/>
                </a:solidFill>
              </a:rPr>
              <a:t> </a:t>
            </a:r>
            <a:r>
              <a:rPr lang="en-US" sz="2800" b="0" i="0"/>
              <a:t>of all possible individuals, objects, or measurements of interest</a:t>
            </a:r>
            <a:r>
              <a:rPr lang="en-US" sz="3200" b="0" i="0"/>
              <a:t>.</a:t>
            </a:r>
          </a:p>
          <a:p>
            <a:pPr>
              <a:spcBef>
                <a:spcPct val="50000"/>
              </a:spcBef>
            </a:pPr>
            <a:endParaRPr lang="en-US" sz="1400">
              <a:solidFill>
                <a:srgbClr val="FFCC00"/>
              </a:solidFill>
            </a:endParaRPr>
          </a:p>
        </p:txBody>
      </p:sp>
      <p:sp>
        <p:nvSpPr>
          <p:cNvPr id="10246" name="Text Box 6"/>
          <p:cNvSpPr txBox="1">
            <a:spLocks noChangeArrowheads="1"/>
          </p:cNvSpPr>
          <p:nvPr/>
        </p:nvSpPr>
        <p:spPr bwMode="auto">
          <a:xfrm>
            <a:off x="6080125" y="2241550"/>
            <a:ext cx="2706688" cy="19224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sz="2800" b="0" i="0">
                <a:solidFill>
                  <a:schemeClr val="tx1"/>
                </a:solidFill>
              </a:rPr>
              <a:t>A</a:t>
            </a:r>
            <a:r>
              <a:rPr lang="en-US" sz="3200" b="0" i="0">
                <a:solidFill>
                  <a:schemeClr val="accent1"/>
                </a:solidFill>
              </a:rPr>
              <a:t> </a:t>
            </a:r>
            <a:r>
              <a:rPr lang="en-US" sz="3600" i="0">
                <a:solidFill>
                  <a:schemeClr val="accent1"/>
                </a:solidFill>
                <a:effectLst>
                  <a:outerShdw blurRad="38100" dist="38100" dir="2700000" algn="tl">
                    <a:srgbClr val="C0C0C0"/>
                  </a:outerShdw>
                </a:effectLst>
              </a:rPr>
              <a:t>Sample</a:t>
            </a:r>
            <a:r>
              <a:rPr lang="en-US" sz="3200" b="0" i="0">
                <a:solidFill>
                  <a:schemeClr val="accent1"/>
                </a:solidFill>
              </a:rPr>
              <a:t> </a:t>
            </a:r>
            <a:r>
              <a:rPr lang="en-US" sz="2800" b="0" i="0">
                <a:solidFill>
                  <a:schemeClr val="tx1"/>
                </a:solidFill>
              </a:rPr>
              <a:t>is a portion, or part, of the population of interest</a:t>
            </a:r>
          </a:p>
        </p:txBody>
      </p:sp>
      <p:sp>
        <p:nvSpPr>
          <p:cNvPr id="10248" name="Rectangle 8"/>
          <p:cNvSpPr>
            <a:spLocks noChangeArrowheads="1"/>
          </p:cNvSpPr>
          <p:nvPr/>
        </p:nvSpPr>
        <p:spPr bwMode="auto">
          <a:xfrm>
            <a:off x="381000" y="398463"/>
            <a:ext cx="8477250"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20000"/>
              </a:spcBef>
              <a:buClr>
                <a:srgbClr val="404960"/>
              </a:buClr>
              <a:buSzPct val="65000"/>
              <a:buFont typeface="Wingdings" panose="05000000000000000000" pitchFamily="2" charset="2"/>
              <a:buNone/>
            </a:pPr>
            <a:r>
              <a:rPr lang="en-US" sz="3600" i="0" dirty="0" smtClean="0">
                <a:solidFill>
                  <a:schemeClr val="accent1"/>
                </a:solidFill>
                <a:effectLst>
                  <a:outerShdw blurRad="38100" dist="38100" dir="2700000" algn="tl">
                    <a:srgbClr val="C0C0C0"/>
                  </a:outerShdw>
                </a:effectLst>
              </a:rPr>
              <a:t>Basic Terms of Statistics</a:t>
            </a:r>
            <a:endParaRPr lang="en-US" sz="2800" i="0" dirty="0">
              <a:solidFill>
                <a:schemeClr val="tx1"/>
              </a:solidFill>
            </a:endParaRPr>
          </a:p>
        </p:txBody>
      </p:sp>
      <p:graphicFrame>
        <p:nvGraphicFramePr>
          <p:cNvPr id="10249" name="Object 9"/>
          <p:cNvGraphicFramePr>
            <a:graphicFrameLocks noGrp="1" noChangeAspect="1"/>
          </p:cNvGraphicFramePr>
          <p:nvPr>
            <p:ph idx="1"/>
          </p:nvPr>
        </p:nvGraphicFramePr>
        <p:xfrm>
          <a:off x="3373438" y="2274888"/>
          <a:ext cx="2395537" cy="3176587"/>
        </p:xfrm>
        <a:graphic>
          <a:graphicData uri="http://schemas.openxmlformats.org/presentationml/2006/ole">
            <p:oleObj spid="_x0000_s10289" name="Flash Document" r:id="rId3" imgW="2395080" imgH="3176280" progId="">
              <p:embed/>
            </p:oleObj>
          </a:graphicData>
        </a:graphic>
      </p:graphicFrame>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45"/>
                                        </p:tgtEl>
                                        <p:attrNameLst>
                                          <p:attrName>style.visibility</p:attrName>
                                        </p:attrNameLst>
                                      </p:cBhvr>
                                      <p:to>
                                        <p:strVal val="visible"/>
                                      </p:to>
                                    </p:set>
                                    <p:animEffect transition="in" filter="blinds(horizontal)">
                                      <p:cBhvr>
                                        <p:cTn id="7" dur="500"/>
                                        <p:tgtEl>
                                          <p:spTgt spid="102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246"/>
                                        </p:tgtEl>
                                        <p:attrNameLst>
                                          <p:attrName>style.visibility</p:attrName>
                                        </p:attrNameLst>
                                      </p:cBhvr>
                                      <p:to>
                                        <p:strVal val="visible"/>
                                      </p:to>
                                    </p:set>
                                    <p:animEffect transition="in" filter="blinds(horizontal)">
                                      <p:cBhvr>
                                        <p:cTn id="12" dur="500"/>
                                        <p:tgtEl>
                                          <p:spTgt spid="10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5" grpId="0" autoUpdateAnimBg="0"/>
      <p:bldP spid="10246"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457200" y="274638"/>
            <a:ext cx="8229600" cy="880394"/>
          </a:xfrm>
          <a:prstGeom prst="rect">
            <a:avLst/>
          </a:prstGeom>
        </p:spPr>
        <p:txBody>
          <a:bodyPr/>
          <a:lstStyle>
            <a:lvl1pPr algn="ctr" rtl="0" eaLnBrk="0" fontAlgn="base" hangingPunct="0">
              <a:spcBef>
                <a:spcPct val="0"/>
              </a:spcBef>
              <a:spcAft>
                <a:spcPct val="0"/>
              </a:spcAft>
              <a:defRPr sz="2000" kern="1200">
                <a:solidFill>
                  <a:schemeClr val="tx1"/>
                </a:solidFill>
                <a:latin typeface="+mj-lt"/>
                <a:ea typeface="+mj-ea"/>
                <a:cs typeface="+mj-cs"/>
              </a:defRPr>
            </a:lvl1pPr>
            <a:lvl2pPr algn="ctr" rtl="0" eaLnBrk="0" fontAlgn="base" hangingPunct="0">
              <a:spcBef>
                <a:spcPct val="0"/>
              </a:spcBef>
              <a:spcAft>
                <a:spcPct val="0"/>
              </a:spcAft>
              <a:defRPr sz="2000">
                <a:solidFill>
                  <a:schemeClr val="tx1"/>
                </a:solidFill>
                <a:latin typeface="Times New Roman" panose="02020603050405020304" pitchFamily="18" charset="0"/>
              </a:defRPr>
            </a:lvl2pPr>
            <a:lvl3pPr algn="ctr" rtl="0" eaLnBrk="0" fontAlgn="base" hangingPunct="0">
              <a:spcBef>
                <a:spcPct val="0"/>
              </a:spcBef>
              <a:spcAft>
                <a:spcPct val="0"/>
              </a:spcAft>
              <a:defRPr sz="2000">
                <a:solidFill>
                  <a:schemeClr val="tx1"/>
                </a:solidFill>
                <a:latin typeface="Times New Roman" panose="02020603050405020304" pitchFamily="18" charset="0"/>
              </a:defRPr>
            </a:lvl3pPr>
            <a:lvl4pPr algn="ctr" rtl="0" eaLnBrk="0" fontAlgn="base" hangingPunct="0">
              <a:spcBef>
                <a:spcPct val="0"/>
              </a:spcBef>
              <a:spcAft>
                <a:spcPct val="0"/>
              </a:spcAft>
              <a:defRPr sz="2000">
                <a:solidFill>
                  <a:schemeClr val="tx1"/>
                </a:solidFill>
                <a:latin typeface="Times New Roman" panose="02020603050405020304" pitchFamily="18" charset="0"/>
              </a:defRPr>
            </a:lvl4pPr>
            <a:lvl5pPr algn="ctr" rtl="0" eaLnBrk="0" fontAlgn="base" hangingPunct="0">
              <a:spcBef>
                <a:spcPct val="0"/>
              </a:spcBef>
              <a:spcAft>
                <a:spcPct val="0"/>
              </a:spcAft>
              <a:defRPr sz="2000">
                <a:solidFill>
                  <a:schemeClr val="tx1"/>
                </a:solidFill>
                <a:latin typeface="Times New Roman" panose="02020603050405020304" pitchFamily="18" charset="0"/>
              </a:defRPr>
            </a:lvl5pPr>
            <a:lvl6pPr marL="457200" algn="ctr" rtl="0" eaLnBrk="0" fontAlgn="base" hangingPunct="0">
              <a:spcBef>
                <a:spcPct val="0"/>
              </a:spcBef>
              <a:spcAft>
                <a:spcPct val="0"/>
              </a:spcAft>
              <a:defRPr sz="2000">
                <a:solidFill>
                  <a:schemeClr val="tx1"/>
                </a:solidFill>
                <a:latin typeface="Times New Roman" panose="02020603050405020304" pitchFamily="18" charset="0"/>
              </a:defRPr>
            </a:lvl6pPr>
            <a:lvl7pPr marL="914400" algn="ctr" rtl="0" eaLnBrk="0" fontAlgn="base" hangingPunct="0">
              <a:spcBef>
                <a:spcPct val="0"/>
              </a:spcBef>
              <a:spcAft>
                <a:spcPct val="0"/>
              </a:spcAft>
              <a:defRPr sz="2000">
                <a:solidFill>
                  <a:schemeClr val="tx1"/>
                </a:solidFill>
                <a:latin typeface="Times New Roman" panose="02020603050405020304" pitchFamily="18" charset="0"/>
              </a:defRPr>
            </a:lvl7pPr>
            <a:lvl8pPr marL="1371600" algn="ctr" rtl="0" eaLnBrk="0" fontAlgn="base" hangingPunct="0">
              <a:spcBef>
                <a:spcPct val="0"/>
              </a:spcBef>
              <a:spcAft>
                <a:spcPct val="0"/>
              </a:spcAft>
              <a:defRPr sz="2000">
                <a:solidFill>
                  <a:schemeClr val="tx1"/>
                </a:solidFill>
                <a:latin typeface="Times New Roman" panose="02020603050405020304" pitchFamily="18" charset="0"/>
              </a:defRPr>
            </a:lvl8pPr>
            <a:lvl9pPr marL="1828800" algn="ctr" rtl="0" eaLnBrk="0" fontAlgn="base" hangingPunct="0">
              <a:spcBef>
                <a:spcPct val="0"/>
              </a:spcBef>
              <a:spcAft>
                <a:spcPct val="0"/>
              </a:spcAft>
              <a:defRPr sz="2000">
                <a:solidFill>
                  <a:schemeClr val="tx1"/>
                </a:solidFill>
                <a:latin typeface="Times New Roman" panose="02020603050405020304" pitchFamily="18" charset="0"/>
              </a:defRPr>
            </a:lvl9pPr>
          </a:lstStyle>
          <a:p>
            <a:r>
              <a:rPr lang="en-US" sz="4000" b="0" i="0" dirty="0" smtClean="0"/>
              <a:t>Parameter and Statistic</a:t>
            </a:r>
            <a:endParaRPr lang="en-US" sz="4000" b="0" i="0" dirty="0"/>
          </a:p>
        </p:txBody>
      </p:sp>
      <p:sp>
        <p:nvSpPr>
          <p:cNvPr id="3" name="Rectangle 3"/>
          <p:cNvSpPr txBox="1">
            <a:spLocks noChangeArrowheads="1"/>
          </p:cNvSpPr>
          <p:nvPr/>
        </p:nvSpPr>
        <p:spPr>
          <a:xfrm>
            <a:off x="457200" y="1600200"/>
            <a:ext cx="8229600" cy="3621505"/>
          </a:xfrm>
          <a:prstGeom prst="rect">
            <a:avLst/>
          </a:prstGeom>
        </p:spPr>
        <p:txBody>
          <a:bodyPr/>
          <a:lstStyle>
            <a:lvl1pPr marL="231775" indent="-231775" algn="l" rtl="0" eaLnBrk="0" fontAlgn="base" hangingPunct="0">
              <a:spcBef>
                <a:spcPct val="20000"/>
              </a:spcBef>
              <a:spcAft>
                <a:spcPct val="0"/>
              </a:spcAft>
              <a:buClr>
                <a:srgbClr val="404960"/>
              </a:buClr>
              <a:buSzPct val="65000"/>
              <a:buFont typeface="Wingdings" panose="05000000000000000000" pitchFamily="2" charset="2"/>
              <a:buChar char="m"/>
              <a:defRPr sz="2400" kern="1200">
                <a:solidFill>
                  <a:schemeClr val="tx1"/>
                </a:solidFill>
                <a:latin typeface="+mn-lt"/>
                <a:ea typeface="+mn-ea"/>
                <a:cs typeface="+mn-cs"/>
              </a:defRPr>
            </a:lvl1pPr>
            <a:lvl2pPr marL="571500" indent="-225425" algn="l" rtl="0" eaLnBrk="0" fontAlgn="base" hangingPunct="0">
              <a:spcBef>
                <a:spcPct val="20000"/>
              </a:spcBef>
              <a:spcAft>
                <a:spcPct val="0"/>
              </a:spcAft>
              <a:buClr>
                <a:srgbClr val="990000"/>
              </a:buClr>
              <a:buSzPct val="65000"/>
              <a:buFont typeface="Wingdings" panose="05000000000000000000" pitchFamily="2" charset="2"/>
              <a:buChar char="m"/>
              <a:defRPr sz="2200" kern="1200">
                <a:solidFill>
                  <a:schemeClr val="tx1"/>
                </a:solidFill>
                <a:latin typeface="+mn-lt"/>
                <a:ea typeface="+mn-ea"/>
                <a:cs typeface="+mn-cs"/>
              </a:defRPr>
            </a:lvl2pPr>
            <a:lvl3pPr marL="911225" indent="-225425" algn="l" rtl="0" eaLnBrk="0" fontAlgn="base" hangingPunct="0">
              <a:spcBef>
                <a:spcPct val="20000"/>
              </a:spcBef>
              <a:spcAft>
                <a:spcPct val="0"/>
              </a:spcAft>
              <a:buClr>
                <a:schemeClr val="tx1"/>
              </a:buClr>
              <a:buSzPct val="65000"/>
              <a:buFont typeface="Wingdings" panose="05000000000000000000" pitchFamily="2" charset="2"/>
              <a:buChar char="m"/>
              <a:defRPr sz="2000" kern="1200">
                <a:solidFill>
                  <a:schemeClr val="tx1"/>
                </a:solidFill>
                <a:latin typeface="+mn-lt"/>
                <a:ea typeface="+mn-ea"/>
                <a:cs typeface="+mn-cs"/>
              </a:defRPr>
            </a:lvl3pPr>
            <a:lvl4pPr marL="1252538" indent="-219075" algn="l" rtl="0" eaLnBrk="0" fontAlgn="base" hangingPunct="0">
              <a:spcBef>
                <a:spcPct val="20000"/>
              </a:spcBef>
              <a:spcAft>
                <a:spcPct val="0"/>
              </a:spcAft>
              <a:buClr>
                <a:srgbClr val="990000"/>
              </a:buClr>
              <a:buSzPct val="65000"/>
              <a:buFont typeface="Wingdings" panose="05000000000000000000" pitchFamily="2" charset="2"/>
              <a:buChar char="m"/>
              <a:defRPr kern="1200">
                <a:solidFill>
                  <a:schemeClr val="tx1"/>
                </a:solidFill>
                <a:latin typeface="+mn-lt"/>
                <a:ea typeface="+mn-ea"/>
                <a:cs typeface="+mn-cs"/>
              </a:defRPr>
            </a:lvl4pPr>
            <a:lvl5pPr marL="1604963" indent="-230188" algn="l" rtl="0" eaLnBrk="0" fontAlgn="base" hangingPunct="0">
              <a:spcBef>
                <a:spcPct val="20000"/>
              </a:spcBef>
              <a:spcAft>
                <a:spcPct val="0"/>
              </a:spcAft>
              <a:buClr>
                <a:srgbClr val="404960"/>
              </a:buClr>
              <a:buSzPct val="65000"/>
              <a:buFont typeface="Wingdings" panose="05000000000000000000" pitchFamily="2" charset="2"/>
              <a:buChar char="m"/>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US" b="0" i="0" dirty="0"/>
              <a:t>A </a:t>
            </a:r>
            <a:r>
              <a:rPr lang="en-US" b="0" i="0" dirty="0">
                <a:solidFill>
                  <a:srgbClr val="00B050"/>
                </a:solidFill>
              </a:rPr>
              <a:t>parameter</a:t>
            </a:r>
            <a:r>
              <a:rPr lang="en-US" b="0" i="0" dirty="0"/>
              <a:t> is a summary measure computed to describe a characteristic of the </a:t>
            </a:r>
            <a:r>
              <a:rPr lang="en-US" b="0" i="0" dirty="0" smtClean="0"/>
              <a:t>population</a:t>
            </a:r>
          </a:p>
          <a:p>
            <a:pPr marL="0" indent="0">
              <a:lnSpc>
                <a:spcPct val="110000"/>
              </a:lnSpc>
              <a:buNone/>
            </a:pPr>
            <a:r>
              <a:rPr lang="en-US" b="0" i="0" dirty="0"/>
              <a:t> </a:t>
            </a:r>
            <a:r>
              <a:rPr lang="en-US" b="0" i="0" dirty="0" smtClean="0"/>
              <a:t>Example: The average height of the students in this university.</a:t>
            </a:r>
          </a:p>
          <a:p>
            <a:pPr marL="0" indent="0">
              <a:lnSpc>
                <a:spcPct val="110000"/>
              </a:lnSpc>
              <a:buNone/>
            </a:pPr>
            <a:endParaRPr lang="en-US" b="0" i="0" dirty="0"/>
          </a:p>
          <a:p>
            <a:pPr>
              <a:lnSpc>
                <a:spcPct val="110000"/>
              </a:lnSpc>
            </a:pPr>
            <a:r>
              <a:rPr lang="en-US" b="0" i="0" dirty="0"/>
              <a:t>A </a:t>
            </a:r>
            <a:r>
              <a:rPr lang="en-US" b="0" i="0" dirty="0">
                <a:solidFill>
                  <a:srgbClr val="00B050"/>
                </a:solidFill>
              </a:rPr>
              <a:t>statistic</a:t>
            </a:r>
            <a:r>
              <a:rPr lang="en-US" b="0" i="0" dirty="0"/>
              <a:t> is a summary measure computed to describe a characteristic of the </a:t>
            </a:r>
            <a:r>
              <a:rPr lang="en-US" b="0" i="0" dirty="0" smtClean="0"/>
              <a:t>sample.</a:t>
            </a:r>
          </a:p>
          <a:p>
            <a:pPr marL="0" indent="0">
              <a:lnSpc>
                <a:spcPct val="110000"/>
              </a:lnSpc>
              <a:buNone/>
            </a:pPr>
            <a:r>
              <a:rPr lang="en-US" b="0" i="0" dirty="0" smtClean="0"/>
              <a:t>Or, </a:t>
            </a:r>
            <a:r>
              <a:rPr lang="en-US" b="0" i="0" dirty="0" smtClean="0">
                <a:solidFill>
                  <a:srgbClr val="00B050"/>
                </a:solidFill>
              </a:rPr>
              <a:t>statistic</a:t>
            </a:r>
            <a:r>
              <a:rPr lang="en-US" b="0" i="0" dirty="0" smtClean="0"/>
              <a:t> is the function of sample observations.</a:t>
            </a:r>
          </a:p>
          <a:p>
            <a:pPr marL="0" indent="0">
              <a:lnSpc>
                <a:spcPct val="110000"/>
              </a:lnSpc>
              <a:buNone/>
            </a:pPr>
            <a:r>
              <a:rPr lang="en-US" b="0" i="0" dirty="0"/>
              <a:t> </a:t>
            </a:r>
            <a:r>
              <a:rPr lang="en-US" b="0" i="0" dirty="0" smtClean="0"/>
              <a:t>Example: The average height of student in this class.</a:t>
            </a:r>
            <a:endParaRPr lang="en-US" b="0" i="0" dirty="0"/>
          </a:p>
          <a:p>
            <a:pPr marL="0" indent="0">
              <a:buNone/>
            </a:pPr>
            <a:r>
              <a:rPr lang="en-US" b="0" i="0" dirty="0" smtClean="0"/>
              <a:t>  </a:t>
            </a:r>
            <a:endParaRPr lang="en-US" b="0" i="0" dirty="0"/>
          </a:p>
        </p:txBody>
      </p:sp>
    </p:spTree>
    <p:extLst>
      <p:ext uri="{BB962C8B-B14F-4D97-AF65-F5344CB8AC3E}">
        <p14:creationId xmlns:p14="http://schemas.microsoft.com/office/powerpoint/2010/main" xmlns="" val="4175797507"/>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1000"/>
                                        <p:tgtEl>
                                          <p:spTgt spid="3">
                                            <p:txEl>
                                              <p:pRg st="5" end="5"/>
                                            </p:txEl>
                                          </p:spTgt>
                                        </p:tgtEl>
                                      </p:cBhvr>
                                    </p:animEffect>
                                    <p:anim calcmode="lin" valueType="num">
                                      <p:cBhvr>
                                        <p:cTn id="3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1000"/>
                                        <p:tgtEl>
                                          <p:spTgt spid="3">
                                            <p:txEl>
                                              <p:pRg st="6" end="6"/>
                                            </p:txEl>
                                          </p:spTgt>
                                        </p:tgtEl>
                                      </p:cBhvr>
                                    </p:animEffect>
                                    <p:anim calcmode="lin" valueType="num">
                                      <p:cBhvr>
                                        <p:cTn id="4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457200" y="274638"/>
            <a:ext cx="8229600" cy="880394"/>
          </a:xfrm>
          <a:prstGeom prst="rect">
            <a:avLst/>
          </a:prstGeom>
        </p:spPr>
        <p:txBody>
          <a:bodyPr/>
          <a:lstStyle>
            <a:lvl1pPr algn="ctr" rtl="0" eaLnBrk="0" fontAlgn="base" hangingPunct="0">
              <a:spcBef>
                <a:spcPct val="0"/>
              </a:spcBef>
              <a:spcAft>
                <a:spcPct val="0"/>
              </a:spcAft>
              <a:defRPr sz="2000" kern="1200">
                <a:solidFill>
                  <a:schemeClr val="tx1"/>
                </a:solidFill>
                <a:latin typeface="+mj-lt"/>
                <a:ea typeface="+mj-ea"/>
                <a:cs typeface="+mj-cs"/>
              </a:defRPr>
            </a:lvl1pPr>
            <a:lvl2pPr algn="ctr" rtl="0" eaLnBrk="0" fontAlgn="base" hangingPunct="0">
              <a:spcBef>
                <a:spcPct val="0"/>
              </a:spcBef>
              <a:spcAft>
                <a:spcPct val="0"/>
              </a:spcAft>
              <a:defRPr sz="2000">
                <a:solidFill>
                  <a:schemeClr val="tx1"/>
                </a:solidFill>
                <a:latin typeface="Times New Roman" panose="02020603050405020304" pitchFamily="18" charset="0"/>
              </a:defRPr>
            </a:lvl2pPr>
            <a:lvl3pPr algn="ctr" rtl="0" eaLnBrk="0" fontAlgn="base" hangingPunct="0">
              <a:spcBef>
                <a:spcPct val="0"/>
              </a:spcBef>
              <a:spcAft>
                <a:spcPct val="0"/>
              </a:spcAft>
              <a:defRPr sz="2000">
                <a:solidFill>
                  <a:schemeClr val="tx1"/>
                </a:solidFill>
                <a:latin typeface="Times New Roman" panose="02020603050405020304" pitchFamily="18" charset="0"/>
              </a:defRPr>
            </a:lvl3pPr>
            <a:lvl4pPr algn="ctr" rtl="0" eaLnBrk="0" fontAlgn="base" hangingPunct="0">
              <a:spcBef>
                <a:spcPct val="0"/>
              </a:spcBef>
              <a:spcAft>
                <a:spcPct val="0"/>
              </a:spcAft>
              <a:defRPr sz="2000">
                <a:solidFill>
                  <a:schemeClr val="tx1"/>
                </a:solidFill>
                <a:latin typeface="Times New Roman" panose="02020603050405020304" pitchFamily="18" charset="0"/>
              </a:defRPr>
            </a:lvl4pPr>
            <a:lvl5pPr algn="ctr" rtl="0" eaLnBrk="0" fontAlgn="base" hangingPunct="0">
              <a:spcBef>
                <a:spcPct val="0"/>
              </a:spcBef>
              <a:spcAft>
                <a:spcPct val="0"/>
              </a:spcAft>
              <a:defRPr sz="2000">
                <a:solidFill>
                  <a:schemeClr val="tx1"/>
                </a:solidFill>
                <a:latin typeface="Times New Roman" panose="02020603050405020304" pitchFamily="18" charset="0"/>
              </a:defRPr>
            </a:lvl5pPr>
            <a:lvl6pPr marL="457200" algn="ctr" rtl="0" eaLnBrk="0" fontAlgn="base" hangingPunct="0">
              <a:spcBef>
                <a:spcPct val="0"/>
              </a:spcBef>
              <a:spcAft>
                <a:spcPct val="0"/>
              </a:spcAft>
              <a:defRPr sz="2000">
                <a:solidFill>
                  <a:schemeClr val="tx1"/>
                </a:solidFill>
                <a:latin typeface="Times New Roman" panose="02020603050405020304" pitchFamily="18" charset="0"/>
              </a:defRPr>
            </a:lvl6pPr>
            <a:lvl7pPr marL="914400" algn="ctr" rtl="0" eaLnBrk="0" fontAlgn="base" hangingPunct="0">
              <a:spcBef>
                <a:spcPct val="0"/>
              </a:spcBef>
              <a:spcAft>
                <a:spcPct val="0"/>
              </a:spcAft>
              <a:defRPr sz="2000">
                <a:solidFill>
                  <a:schemeClr val="tx1"/>
                </a:solidFill>
                <a:latin typeface="Times New Roman" panose="02020603050405020304" pitchFamily="18" charset="0"/>
              </a:defRPr>
            </a:lvl7pPr>
            <a:lvl8pPr marL="1371600" algn="ctr" rtl="0" eaLnBrk="0" fontAlgn="base" hangingPunct="0">
              <a:spcBef>
                <a:spcPct val="0"/>
              </a:spcBef>
              <a:spcAft>
                <a:spcPct val="0"/>
              </a:spcAft>
              <a:defRPr sz="2000">
                <a:solidFill>
                  <a:schemeClr val="tx1"/>
                </a:solidFill>
                <a:latin typeface="Times New Roman" panose="02020603050405020304" pitchFamily="18" charset="0"/>
              </a:defRPr>
            </a:lvl8pPr>
            <a:lvl9pPr marL="1828800" algn="ctr" rtl="0" eaLnBrk="0" fontAlgn="base" hangingPunct="0">
              <a:spcBef>
                <a:spcPct val="0"/>
              </a:spcBef>
              <a:spcAft>
                <a:spcPct val="0"/>
              </a:spcAft>
              <a:defRPr sz="2000">
                <a:solidFill>
                  <a:schemeClr val="tx1"/>
                </a:solidFill>
                <a:latin typeface="Times New Roman" panose="02020603050405020304" pitchFamily="18" charset="0"/>
              </a:defRPr>
            </a:lvl9pPr>
          </a:lstStyle>
          <a:p>
            <a:r>
              <a:rPr lang="en-US" sz="4000" b="0" i="0" dirty="0" smtClean="0"/>
              <a:t>Variables</a:t>
            </a:r>
            <a:endParaRPr lang="en-US" sz="4000" b="0" i="0" dirty="0"/>
          </a:p>
        </p:txBody>
      </p:sp>
      <p:sp>
        <p:nvSpPr>
          <p:cNvPr id="4" name="Rectangle 3"/>
          <p:cNvSpPr txBox="1">
            <a:spLocks noChangeArrowheads="1"/>
          </p:cNvSpPr>
          <p:nvPr/>
        </p:nvSpPr>
        <p:spPr>
          <a:xfrm>
            <a:off x="457200" y="1600201"/>
            <a:ext cx="8229600" cy="1359568"/>
          </a:xfrm>
          <a:prstGeom prst="rect">
            <a:avLst/>
          </a:prstGeom>
        </p:spPr>
        <p:txBody>
          <a:bodyPr/>
          <a:lstStyle>
            <a:lvl1pPr marL="231775" indent="-231775" algn="l" rtl="0" eaLnBrk="0" fontAlgn="base" hangingPunct="0">
              <a:spcBef>
                <a:spcPct val="20000"/>
              </a:spcBef>
              <a:spcAft>
                <a:spcPct val="0"/>
              </a:spcAft>
              <a:buClr>
                <a:srgbClr val="404960"/>
              </a:buClr>
              <a:buSzPct val="65000"/>
              <a:buFont typeface="Wingdings" panose="05000000000000000000" pitchFamily="2" charset="2"/>
              <a:buChar char="m"/>
              <a:defRPr sz="2400" kern="1200">
                <a:solidFill>
                  <a:schemeClr val="tx1"/>
                </a:solidFill>
                <a:latin typeface="+mn-lt"/>
                <a:ea typeface="+mn-ea"/>
                <a:cs typeface="+mn-cs"/>
              </a:defRPr>
            </a:lvl1pPr>
            <a:lvl2pPr marL="571500" indent="-225425" algn="l" rtl="0" eaLnBrk="0" fontAlgn="base" hangingPunct="0">
              <a:spcBef>
                <a:spcPct val="20000"/>
              </a:spcBef>
              <a:spcAft>
                <a:spcPct val="0"/>
              </a:spcAft>
              <a:buClr>
                <a:srgbClr val="990000"/>
              </a:buClr>
              <a:buSzPct val="65000"/>
              <a:buFont typeface="Wingdings" panose="05000000000000000000" pitchFamily="2" charset="2"/>
              <a:buChar char="m"/>
              <a:defRPr sz="2200" kern="1200">
                <a:solidFill>
                  <a:schemeClr val="tx1"/>
                </a:solidFill>
                <a:latin typeface="+mn-lt"/>
                <a:ea typeface="+mn-ea"/>
                <a:cs typeface="+mn-cs"/>
              </a:defRPr>
            </a:lvl2pPr>
            <a:lvl3pPr marL="911225" indent="-225425" algn="l" rtl="0" eaLnBrk="0" fontAlgn="base" hangingPunct="0">
              <a:spcBef>
                <a:spcPct val="20000"/>
              </a:spcBef>
              <a:spcAft>
                <a:spcPct val="0"/>
              </a:spcAft>
              <a:buClr>
                <a:schemeClr val="tx1"/>
              </a:buClr>
              <a:buSzPct val="65000"/>
              <a:buFont typeface="Wingdings" panose="05000000000000000000" pitchFamily="2" charset="2"/>
              <a:buChar char="m"/>
              <a:defRPr sz="2000" kern="1200">
                <a:solidFill>
                  <a:schemeClr val="tx1"/>
                </a:solidFill>
                <a:latin typeface="+mn-lt"/>
                <a:ea typeface="+mn-ea"/>
                <a:cs typeface="+mn-cs"/>
              </a:defRPr>
            </a:lvl3pPr>
            <a:lvl4pPr marL="1252538" indent="-219075" algn="l" rtl="0" eaLnBrk="0" fontAlgn="base" hangingPunct="0">
              <a:spcBef>
                <a:spcPct val="20000"/>
              </a:spcBef>
              <a:spcAft>
                <a:spcPct val="0"/>
              </a:spcAft>
              <a:buClr>
                <a:srgbClr val="990000"/>
              </a:buClr>
              <a:buSzPct val="65000"/>
              <a:buFont typeface="Wingdings" panose="05000000000000000000" pitchFamily="2" charset="2"/>
              <a:buChar char="m"/>
              <a:defRPr kern="1200">
                <a:solidFill>
                  <a:schemeClr val="tx1"/>
                </a:solidFill>
                <a:latin typeface="+mn-lt"/>
                <a:ea typeface="+mn-ea"/>
                <a:cs typeface="+mn-cs"/>
              </a:defRPr>
            </a:lvl4pPr>
            <a:lvl5pPr marL="1604963" indent="-230188" algn="l" rtl="0" eaLnBrk="0" fontAlgn="base" hangingPunct="0">
              <a:spcBef>
                <a:spcPct val="20000"/>
              </a:spcBef>
              <a:spcAft>
                <a:spcPct val="0"/>
              </a:spcAft>
              <a:buClr>
                <a:srgbClr val="404960"/>
              </a:buClr>
              <a:buSzPct val="65000"/>
              <a:buFont typeface="Wingdings" panose="05000000000000000000" pitchFamily="2" charset="2"/>
              <a:buChar char="m"/>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0" i="0" dirty="0" smtClean="0"/>
              <a:t>A </a:t>
            </a:r>
            <a:r>
              <a:rPr lang="en-US" b="1" i="0" dirty="0" smtClean="0"/>
              <a:t>variable</a:t>
            </a:r>
            <a:r>
              <a:rPr lang="en-US" b="0" i="0" dirty="0" smtClean="0"/>
              <a:t> is a characteristic or condition that can change or take on different values.  </a:t>
            </a:r>
          </a:p>
          <a:p>
            <a:pPr marL="0" indent="0">
              <a:buNone/>
            </a:pPr>
            <a:r>
              <a:rPr lang="en-US" b="0" i="0" dirty="0" smtClean="0"/>
              <a:t>  </a:t>
            </a:r>
            <a:endParaRPr lang="en-US" b="0" i="0" dirty="0"/>
          </a:p>
        </p:txBody>
      </p:sp>
      <p:sp>
        <p:nvSpPr>
          <p:cNvPr id="9" name="TextBox 8"/>
          <p:cNvSpPr txBox="1"/>
          <p:nvPr/>
        </p:nvSpPr>
        <p:spPr>
          <a:xfrm>
            <a:off x="920415" y="2959769"/>
            <a:ext cx="7303169" cy="2062103"/>
          </a:xfrm>
          <a:prstGeom prst="rect">
            <a:avLst/>
          </a:prstGeom>
          <a:noFill/>
        </p:spPr>
        <p:txBody>
          <a:bodyPr wrap="square" rtlCol="0">
            <a:spAutoFit/>
          </a:bodyPr>
          <a:lstStyle/>
          <a:p>
            <a:r>
              <a:rPr lang="en-GB" sz="2800" b="0" i="0" dirty="0" smtClean="0">
                <a:solidFill>
                  <a:schemeClr val="tx1"/>
                </a:solidFill>
              </a:rPr>
              <a:t>Types of Variable:</a:t>
            </a:r>
          </a:p>
          <a:p>
            <a:endParaRPr lang="en-GB" b="0" i="0" dirty="0" smtClean="0">
              <a:solidFill>
                <a:schemeClr val="tx1"/>
              </a:solidFill>
            </a:endParaRPr>
          </a:p>
          <a:p>
            <a:r>
              <a:rPr lang="en-GB" sz="2400" b="0" i="0" dirty="0" smtClean="0">
                <a:solidFill>
                  <a:schemeClr val="tx1"/>
                </a:solidFill>
              </a:rPr>
              <a:t>Mainly two types of variable are presents</a:t>
            </a:r>
          </a:p>
          <a:p>
            <a:pPr marL="342900" indent="-342900">
              <a:buFont typeface="Wingdings" panose="05000000000000000000" pitchFamily="2" charset="2"/>
              <a:buChar char="Ø"/>
            </a:pPr>
            <a:r>
              <a:rPr lang="en-GB" sz="2400" b="0" i="0" dirty="0" smtClean="0">
                <a:solidFill>
                  <a:schemeClr val="tx1"/>
                </a:solidFill>
              </a:rPr>
              <a:t>Qualitative variable</a:t>
            </a:r>
          </a:p>
          <a:p>
            <a:pPr marL="342900" indent="-342900">
              <a:buFont typeface="Wingdings" panose="05000000000000000000" pitchFamily="2" charset="2"/>
              <a:buChar char="Ø"/>
            </a:pPr>
            <a:r>
              <a:rPr lang="en-GB" sz="2400" b="0" i="0" dirty="0" smtClean="0">
                <a:solidFill>
                  <a:schemeClr val="tx1"/>
                </a:solidFill>
              </a:rPr>
              <a:t>Quantitative variable</a:t>
            </a:r>
            <a:endParaRPr lang="en-GB" sz="2400" b="0" i="0" dirty="0">
              <a:solidFill>
                <a:schemeClr val="tx1"/>
              </a:solidFill>
            </a:endParaRPr>
          </a:p>
          <a:p>
            <a:endParaRPr lang="en-GB" dirty="0"/>
          </a:p>
        </p:txBody>
      </p:sp>
    </p:spTree>
    <p:extLst>
      <p:ext uri="{BB962C8B-B14F-4D97-AF65-F5344CB8AC3E}">
        <p14:creationId xmlns:p14="http://schemas.microsoft.com/office/powerpoint/2010/main" xmlns="" val="3940645225"/>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sz="quarter"/>
          </p:nvPr>
        </p:nvSpPr>
        <p:spPr>
          <a:xfrm>
            <a:off x="5940425" y="6037263"/>
            <a:ext cx="2974975" cy="496887"/>
          </a:xfrm>
          <a:ln/>
        </p:spPr>
        <p:txBody>
          <a:bodyPr lIns="92075" tIns="46038" rIns="92075" bIns="46038"/>
          <a:lstStyle/>
          <a:p>
            <a:r>
              <a:rPr lang="en-US"/>
              <a:t>Types of Variables </a:t>
            </a:r>
          </a:p>
        </p:txBody>
      </p:sp>
      <p:graphicFrame>
        <p:nvGraphicFramePr>
          <p:cNvPr id="12304" name="Object 16"/>
          <p:cNvGraphicFramePr>
            <a:graphicFrameLocks noGrp="1" noChangeAspect="1"/>
          </p:cNvGraphicFramePr>
          <p:nvPr>
            <p:ph sz="quarter" idx="1"/>
          </p:nvPr>
        </p:nvGraphicFramePr>
        <p:xfrm>
          <a:off x="676275" y="1866900"/>
          <a:ext cx="1617663" cy="2185988"/>
        </p:xfrm>
        <a:graphic>
          <a:graphicData uri="http://schemas.openxmlformats.org/presentationml/2006/ole">
            <p:oleObj spid="_x0000_s12503" name="Flash Document" r:id="rId3" imgW="1850400" imgH="2502000" progId="">
              <p:embed/>
            </p:oleObj>
          </a:graphicData>
        </a:graphic>
      </p:graphicFrame>
      <p:graphicFrame>
        <p:nvGraphicFramePr>
          <p:cNvPr id="12306" name="Object 18"/>
          <p:cNvGraphicFramePr>
            <a:graphicFrameLocks noGrp="1" noChangeAspect="1"/>
          </p:cNvGraphicFramePr>
          <p:nvPr>
            <p:ph sz="quarter" idx="2"/>
          </p:nvPr>
        </p:nvGraphicFramePr>
        <p:xfrm>
          <a:off x="6599238" y="2076450"/>
          <a:ext cx="1317625" cy="2185988"/>
        </p:xfrm>
        <a:graphic>
          <a:graphicData uri="http://schemas.openxmlformats.org/presentationml/2006/ole">
            <p:oleObj spid="_x0000_s12504" name="Flash Document" r:id="rId4" imgW="1713240" imgH="2841480" progId="">
              <p:embed/>
            </p:oleObj>
          </a:graphicData>
        </a:graphic>
      </p:graphicFrame>
      <p:graphicFrame>
        <p:nvGraphicFramePr>
          <p:cNvPr id="12308" name="Object 20"/>
          <p:cNvGraphicFramePr>
            <a:graphicFrameLocks noGrp="1" noChangeAspect="1"/>
          </p:cNvGraphicFramePr>
          <p:nvPr>
            <p:ph sz="quarter" idx="3"/>
          </p:nvPr>
        </p:nvGraphicFramePr>
        <p:xfrm>
          <a:off x="3314700" y="1928813"/>
          <a:ext cx="2362200" cy="1863725"/>
        </p:xfrm>
        <a:graphic>
          <a:graphicData uri="http://schemas.openxmlformats.org/presentationml/2006/ole">
            <p:oleObj spid="_x0000_s12505" name="Flash Document" r:id="rId5" imgW="2362680" imgH="1864440" progId="">
              <p:embed/>
            </p:oleObj>
          </a:graphicData>
        </a:graphic>
      </p:graphicFrame>
      <p:sp>
        <p:nvSpPr>
          <p:cNvPr id="12292" name="Rectangle 4"/>
          <p:cNvSpPr>
            <a:spLocks noChangeArrowheads="1"/>
          </p:cNvSpPr>
          <p:nvPr/>
        </p:nvSpPr>
        <p:spPr bwMode="auto">
          <a:xfrm>
            <a:off x="0" y="0"/>
            <a:ext cx="1841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50000"/>
              </a:spcBef>
            </a:pPr>
            <a:endParaRPr lang="en-US">
              <a:solidFill>
                <a:schemeClr val="bg1"/>
              </a:solidFill>
              <a:latin typeface="Book Antiqua" panose="02040602050305030304" pitchFamily="18" charset="0"/>
            </a:endParaRPr>
          </a:p>
        </p:txBody>
      </p:sp>
      <p:sp>
        <p:nvSpPr>
          <p:cNvPr id="12295" name="Rectangle 7"/>
          <p:cNvSpPr>
            <a:spLocks noChangeArrowheads="1"/>
          </p:cNvSpPr>
          <p:nvPr/>
        </p:nvSpPr>
        <p:spPr bwMode="auto">
          <a:xfrm>
            <a:off x="241300" y="588963"/>
            <a:ext cx="8445500" cy="1068387"/>
          </a:xfrm>
          <a:prstGeom prst="rect">
            <a:avLst/>
          </a:prstGeom>
          <a:solidFill>
            <a:srgbClr val="9933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20000"/>
              </a:spcBef>
              <a:buClr>
                <a:srgbClr val="404960"/>
              </a:buClr>
              <a:buSzPct val="65000"/>
              <a:buFont typeface="Wingdings" panose="05000000000000000000" pitchFamily="2" charset="2"/>
              <a:buNone/>
            </a:pPr>
            <a:r>
              <a:rPr lang="en-US" sz="2800" b="0" i="0">
                <a:solidFill>
                  <a:schemeClr val="tx2"/>
                </a:solidFill>
              </a:rPr>
              <a:t>For a </a:t>
            </a:r>
            <a:r>
              <a:rPr lang="en-US" sz="3600" i="0">
                <a:solidFill>
                  <a:schemeClr val="tx2"/>
                </a:solidFill>
                <a:effectLst>
                  <a:outerShdw blurRad="38100" dist="38100" dir="2700000" algn="tl">
                    <a:srgbClr val="000000"/>
                  </a:outerShdw>
                </a:effectLst>
              </a:rPr>
              <a:t>Qualitative </a:t>
            </a:r>
            <a:r>
              <a:rPr lang="en-US" sz="2800" b="0" i="0">
                <a:solidFill>
                  <a:schemeClr val="tx2"/>
                </a:solidFill>
              </a:rPr>
              <a:t>or </a:t>
            </a:r>
            <a:r>
              <a:rPr lang="en-US" sz="3600" i="0">
                <a:solidFill>
                  <a:schemeClr val="tx2"/>
                </a:solidFill>
                <a:effectLst>
                  <a:outerShdw blurRad="38100" dist="38100" dir="2700000" algn="tl">
                    <a:srgbClr val="000000"/>
                  </a:outerShdw>
                </a:effectLst>
              </a:rPr>
              <a:t>Attribute Variable</a:t>
            </a:r>
            <a:r>
              <a:rPr lang="en-US" sz="2800" b="0" i="0">
                <a:solidFill>
                  <a:schemeClr val="tx2"/>
                </a:solidFill>
              </a:rPr>
              <a:t> the characteristic being studied is nonnumeric.</a:t>
            </a:r>
          </a:p>
        </p:txBody>
      </p:sp>
      <p:graphicFrame>
        <p:nvGraphicFramePr>
          <p:cNvPr id="12310" name="Object 22"/>
          <p:cNvGraphicFramePr>
            <a:graphicFrameLocks noGrp="1" noChangeAspect="1"/>
          </p:cNvGraphicFramePr>
          <p:nvPr>
            <p:ph sz="quarter" idx="4"/>
          </p:nvPr>
        </p:nvGraphicFramePr>
        <p:xfrm>
          <a:off x="754063" y="4398963"/>
          <a:ext cx="1995487" cy="1838325"/>
        </p:xfrm>
        <a:graphic>
          <a:graphicData uri="http://schemas.openxmlformats.org/presentationml/2006/ole">
            <p:oleObj spid="_x0000_s12506" name="Flash Document" r:id="rId6" imgW="1995120" imgH="1837800" progId="">
              <p:embed/>
            </p:oleObj>
          </a:graphicData>
        </a:graphic>
      </p:graphicFrame>
      <p:graphicFrame>
        <p:nvGraphicFramePr>
          <p:cNvPr id="12312" name="Object 24"/>
          <p:cNvGraphicFramePr>
            <a:graphicFrameLocks noChangeAspect="1"/>
          </p:cNvGraphicFramePr>
          <p:nvPr/>
        </p:nvGraphicFramePr>
        <p:xfrm>
          <a:off x="3375025" y="3878263"/>
          <a:ext cx="2508250" cy="2465387"/>
        </p:xfrm>
        <a:graphic>
          <a:graphicData uri="http://schemas.openxmlformats.org/presentationml/2006/ole">
            <p:oleObj spid="_x0000_s12507" name="Flash Document" r:id="rId7" imgW="2507760" imgH="2464920" progId="">
              <p:embed/>
            </p:oleObj>
          </a:graphicData>
        </a:graphic>
      </p:graphicFrame>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nodeType="clickEffect">
                                  <p:stCondLst>
                                    <p:cond delay="0"/>
                                  </p:stCondLst>
                                  <p:childTnLst>
                                    <p:set>
                                      <p:cBhvr>
                                        <p:cTn id="6" dur="1" fill="hold">
                                          <p:stCondLst>
                                            <p:cond delay="0"/>
                                          </p:stCondLst>
                                        </p:cTn>
                                        <p:tgtEl>
                                          <p:spTgt spid="12304"/>
                                        </p:tgtEl>
                                        <p:attrNameLst>
                                          <p:attrName>style.visibility</p:attrName>
                                        </p:attrNameLst>
                                      </p:cBhvr>
                                      <p:to>
                                        <p:strVal val="visible"/>
                                      </p:to>
                                    </p:set>
                                    <p:anim calcmode="lin" valueType="num">
                                      <p:cBhvr>
                                        <p:cTn id="7" dur="1000" fill="hold"/>
                                        <p:tgtEl>
                                          <p:spTgt spid="12304"/>
                                        </p:tgtEl>
                                        <p:attrNameLst>
                                          <p:attrName>ppt_w</p:attrName>
                                        </p:attrNameLst>
                                      </p:cBhvr>
                                      <p:tavLst>
                                        <p:tav tm="0">
                                          <p:val>
                                            <p:fltVal val="0"/>
                                          </p:val>
                                        </p:tav>
                                        <p:tav tm="100000">
                                          <p:val>
                                            <p:strVal val="#ppt_w"/>
                                          </p:val>
                                        </p:tav>
                                      </p:tavLst>
                                    </p:anim>
                                    <p:anim calcmode="lin" valueType="num">
                                      <p:cBhvr>
                                        <p:cTn id="8" dur="1000" fill="hold"/>
                                        <p:tgtEl>
                                          <p:spTgt spid="12304"/>
                                        </p:tgtEl>
                                        <p:attrNameLst>
                                          <p:attrName>ppt_h</p:attrName>
                                        </p:attrNameLst>
                                      </p:cBhvr>
                                      <p:tavLst>
                                        <p:tav tm="0">
                                          <p:val>
                                            <p:fltVal val="0"/>
                                          </p:val>
                                        </p:tav>
                                        <p:tav tm="100000">
                                          <p:val>
                                            <p:strVal val="#ppt_h"/>
                                          </p:val>
                                        </p:tav>
                                      </p:tavLst>
                                    </p:anim>
                                    <p:anim calcmode="lin" valueType="num">
                                      <p:cBhvr>
                                        <p:cTn id="9" dur="1000" fill="hold"/>
                                        <p:tgtEl>
                                          <p:spTgt spid="1230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230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5" presetClass="entr" presetSubtype="0" fill="hold" nodeType="clickEffect">
                                  <p:stCondLst>
                                    <p:cond delay="0"/>
                                  </p:stCondLst>
                                  <p:childTnLst>
                                    <p:set>
                                      <p:cBhvr>
                                        <p:cTn id="14" dur="1" fill="hold">
                                          <p:stCondLst>
                                            <p:cond delay="0"/>
                                          </p:stCondLst>
                                        </p:cTn>
                                        <p:tgtEl>
                                          <p:spTgt spid="12308"/>
                                        </p:tgtEl>
                                        <p:attrNameLst>
                                          <p:attrName>style.visibility</p:attrName>
                                        </p:attrNameLst>
                                      </p:cBhvr>
                                      <p:to>
                                        <p:strVal val="visible"/>
                                      </p:to>
                                    </p:set>
                                    <p:anim calcmode="lin" valueType="num">
                                      <p:cBhvr>
                                        <p:cTn id="15" dur="1000" fill="hold"/>
                                        <p:tgtEl>
                                          <p:spTgt spid="12308"/>
                                        </p:tgtEl>
                                        <p:attrNameLst>
                                          <p:attrName>ppt_w</p:attrName>
                                        </p:attrNameLst>
                                      </p:cBhvr>
                                      <p:tavLst>
                                        <p:tav tm="0">
                                          <p:val>
                                            <p:fltVal val="0"/>
                                          </p:val>
                                        </p:tav>
                                        <p:tav tm="100000">
                                          <p:val>
                                            <p:strVal val="#ppt_w"/>
                                          </p:val>
                                        </p:tav>
                                      </p:tavLst>
                                    </p:anim>
                                    <p:anim calcmode="lin" valueType="num">
                                      <p:cBhvr>
                                        <p:cTn id="16" dur="1000" fill="hold"/>
                                        <p:tgtEl>
                                          <p:spTgt spid="12308"/>
                                        </p:tgtEl>
                                        <p:attrNameLst>
                                          <p:attrName>ppt_h</p:attrName>
                                        </p:attrNameLst>
                                      </p:cBhvr>
                                      <p:tavLst>
                                        <p:tav tm="0">
                                          <p:val>
                                            <p:fltVal val="0"/>
                                          </p:val>
                                        </p:tav>
                                        <p:tav tm="100000">
                                          <p:val>
                                            <p:strVal val="#ppt_h"/>
                                          </p:val>
                                        </p:tav>
                                      </p:tavLst>
                                    </p:anim>
                                    <p:anim calcmode="lin" valueType="num">
                                      <p:cBhvr>
                                        <p:cTn id="17" dur="1000" fill="hold"/>
                                        <p:tgtEl>
                                          <p:spTgt spid="12308"/>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1230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0" presetClass="entr" presetSubtype="0" fill="hold" nodeType="clickEffect">
                                  <p:stCondLst>
                                    <p:cond delay="0"/>
                                  </p:stCondLst>
                                  <p:childTnLst>
                                    <p:set>
                                      <p:cBhvr>
                                        <p:cTn id="22" dur="1" fill="hold">
                                          <p:stCondLst>
                                            <p:cond delay="0"/>
                                          </p:stCondLst>
                                        </p:cTn>
                                        <p:tgtEl>
                                          <p:spTgt spid="12306"/>
                                        </p:tgtEl>
                                        <p:attrNameLst>
                                          <p:attrName>style.visibility</p:attrName>
                                        </p:attrNameLst>
                                      </p:cBhvr>
                                      <p:to>
                                        <p:strVal val="visible"/>
                                      </p:to>
                                    </p:set>
                                    <p:animEffect transition="in" filter="wedge">
                                      <p:cBhvr>
                                        <p:cTn id="23" dur="2000"/>
                                        <p:tgtEl>
                                          <p:spTgt spid="1230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4" presetClass="entr" presetSubtype="0" fill="hold" nodeType="clickEffect">
                                  <p:stCondLst>
                                    <p:cond delay="0"/>
                                  </p:stCondLst>
                                  <p:childTnLst>
                                    <p:set>
                                      <p:cBhvr>
                                        <p:cTn id="27" dur="1" fill="hold">
                                          <p:stCondLst>
                                            <p:cond delay="0"/>
                                          </p:stCondLst>
                                        </p:cTn>
                                        <p:tgtEl>
                                          <p:spTgt spid="12310"/>
                                        </p:tgtEl>
                                        <p:attrNameLst>
                                          <p:attrName>style.visibility</p:attrName>
                                        </p:attrNameLst>
                                      </p:cBhvr>
                                      <p:to>
                                        <p:strVal val="visible"/>
                                      </p:to>
                                    </p:set>
                                    <p:anim from="(-#ppt_w/2)" to="(#ppt_x)" calcmode="lin" valueType="num">
                                      <p:cBhvr>
                                        <p:cTn id="28" dur="600" fill="hold">
                                          <p:stCondLst>
                                            <p:cond delay="0"/>
                                          </p:stCondLst>
                                        </p:cTn>
                                        <p:tgtEl>
                                          <p:spTgt spid="12310"/>
                                        </p:tgtEl>
                                        <p:attrNameLst>
                                          <p:attrName>ppt_x</p:attrName>
                                        </p:attrNameLst>
                                      </p:cBhvr>
                                    </p:anim>
                                    <p:anim from="0" to="-1.0" calcmode="lin" valueType="num">
                                      <p:cBhvr>
                                        <p:cTn id="29" dur="200" decel="50000" autoRev="1" fill="hold">
                                          <p:stCondLst>
                                            <p:cond delay="600"/>
                                          </p:stCondLst>
                                        </p:cTn>
                                        <p:tgtEl>
                                          <p:spTgt spid="12310"/>
                                        </p:tgtEl>
                                        <p:attrNameLst>
                                          <p:attrName>xshear</p:attrName>
                                        </p:attrNameLst>
                                      </p:cBhvr>
                                    </p:anim>
                                    <p:animScale>
                                      <p:cBhvr>
                                        <p:cTn id="30" dur="200" decel="100000" autoRev="1" fill="hold">
                                          <p:stCondLst>
                                            <p:cond delay="600"/>
                                          </p:stCondLst>
                                        </p:cTn>
                                        <p:tgtEl>
                                          <p:spTgt spid="12310"/>
                                        </p:tgtEl>
                                      </p:cBhvr>
                                      <p:from x="100000" y="100000"/>
                                      <p:to x="80000" y="100000"/>
                                    </p:animScale>
                                    <p:anim by="(#ppt_h/3+#ppt_w*0.1)" calcmode="lin" valueType="num">
                                      <p:cBhvr additive="sum">
                                        <p:cTn id="31" dur="200" decel="100000" autoRev="1" fill="hold">
                                          <p:stCondLst>
                                            <p:cond delay="600"/>
                                          </p:stCondLst>
                                        </p:cTn>
                                        <p:tgtEl>
                                          <p:spTgt spid="12310"/>
                                        </p:tgtEl>
                                        <p:attrNameLst>
                                          <p:attrName>ppt_x</p:attrName>
                                        </p:attrNameLst>
                                      </p:cBhvr>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49" presetClass="entr" presetSubtype="0" decel="100000" fill="hold" nodeType="clickEffect">
                                  <p:stCondLst>
                                    <p:cond delay="0"/>
                                  </p:stCondLst>
                                  <p:childTnLst>
                                    <p:set>
                                      <p:cBhvr>
                                        <p:cTn id="35" dur="1" fill="hold">
                                          <p:stCondLst>
                                            <p:cond delay="0"/>
                                          </p:stCondLst>
                                        </p:cTn>
                                        <p:tgtEl>
                                          <p:spTgt spid="12312"/>
                                        </p:tgtEl>
                                        <p:attrNameLst>
                                          <p:attrName>style.visibility</p:attrName>
                                        </p:attrNameLst>
                                      </p:cBhvr>
                                      <p:to>
                                        <p:strVal val="visible"/>
                                      </p:to>
                                    </p:set>
                                    <p:anim calcmode="lin" valueType="num">
                                      <p:cBhvr>
                                        <p:cTn id="36" dur="500" fill="hold"/>
                                        <p:tgtEl>
                                          <p:spTgt spid="12312"/>
                                        </p:tgtEl>
                                        <p:attrNameLst>
                                          <p:attrName>ppt_w</p:attrName>
                                        </p:attrNameLst>
                                      </p:cBhvr>
                                      <p:tavLst>
                                        <p:tav tm="0">
                                          <p:val>
                                            <p:fltVal val="0"/>
                                          </p:val>
                                        </p:tav>
                                        <p:tav tm="100000">
                                          <p:val>
                                            <p:strVal val="#ppt_w"/>
                                          </p:val>
                                        </p:tav>
                                      </p:tavLst>
                                    </p:anim>
                                    <p:anim calcmode="lin" valueType="num">
                                      <p:cBhvr>
                                        <p:cTn id="37" dur="500" fill="hold"/>
                                        <p:tgtEl>
                                          <p:spTgt spid="12312"/>
                                        </p:tgtEl>
                                        <p:attrNameLst>
                                          <p:attrName>ppt_h</p:attrName>
                                        </p:attrNameLst>
                                      </p:cBhvr>
                                      <p:tavLst>
                                        <p:tav tm="0">
                                          <p:val>
                                            <p:fltVal val="0"/>
                                          </p:val>
                                        </p:tav>
                                        <p:tav tm="100000">
                                          <p:val>
                                            <p:strVal val="#ppt_h"/>
                                          </p:val>
                                        </p:tav>
                                      </p:tavLst>
                                    </p:anim>
                                    <p:anim calcmode="lin" valueType="num">
                                      <p:cBhvr>
                                        <p:cTn id="38" dur="500" fill="hold"/>
                                        <p:tgtEl>
                                          <p:spTgt spid="12312"/>
                                        </p:tgtEl>
                                        <p:attrNameLst>
                                          <p:attrName>style.rotation</p:attrName>
                                        </p:attrNameLst>
                                      </p:cBhvr>
                                      <p:tavLst>
                                        <p:tav tm="0">
                                          <p:val>
                                            <p:fltVal val="360"/>
                                          </p:val>
                                        </p:tav>
                                        <p:tav tm="100000">
                                          <p:val>
                                            <p:fltVal val="0"/>
                                          </p:val>
                                        </p:tav>
                                      </p:tavLst>
                                    </p:anim>
                                    <p:animEffect transition="in" filter="fade">
                                      <p:cBhvr>
                                        <p:cTn id="39" dur="500"/>
                                        <p:tgtEl>
                                          <p:spTgt spid="123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073775" y="6094413"/>
            <a:ext cx="2727325" cy="363537"/>
          </a:xfrm>
          <a:ln/>
        </p:spPr>
        <p:txBody>
          <a:bodyPr lIns="92075" tIns="46038" rIns="92075" bIns="46038"/>
          <a:lstStyle/>
          <a:p>
            <a:r>
              <a:rPr lang="en-US" sz="1800"/>
              <a:t>Types of Variables</a:t>
            </a:r>
          </a:p>
        </p:txBody>
      </p:sp>
      <p:graphicFrame>
        <p:nvGraphicFramePr>
          <p:cNvPr id="13321" name="Object 9"/>
          <p:cNvGraphicFramePr>
            <a:graphicFrameLocks noGrp="1" noChangeAspect="1"/>
          </p:cNvGraphicFramePr>
          <p:nvPr>
            <p:ph sz="half" idx="1"/>
          </p:nvPr>
        </p:nvGraphicFramePr>
        <p:xfrm>
          <a:off x="6986588" y="2141538"/>
          <a:ext cx="1608137" cy="1157287"/>
        </p:xfrm>
        <a:graphic>
          <a:graphicData uri="http://schemas.openxmlformats.org/presentationml/2006/ole">
            <p:oleObj spid="_x0000_s13442" name="Flash Document" r:id="rId3" imgW="1607760" imgH="1157040" progId="">
              <p:embed/>
            </p:oleObj>
          </a:graphicData>
        </a:graphic>
      </p:graphicFrame>
      <p:graphicFrame>
        <p:nvGraphicFramePr>
          <p:cNvPr id="13324" name="Object 12"/>
          <p:cNvGraphicFramePr>
            <a:graphicFrameLocks noGrp="1" noChangeAspect="1"/>
          </p:cNvGraphicFramePr>
          <p:nvPr>
            <p:ph sz="quarter" idx="2"/>
          </p:nvPr>
        </p:nvGraphicFramePr>
        <p:xfrm>
          <a:off x="6176963" y="3479800"/>
          <a:ext cx="1150937" cy="1150938"/>
        </p:xfrm>
        <a:graphic>
          <a:graphicData uri="http://schemas.openxmlformats.org/presentationml/2006/ole">
            <p:oleObj spid="_x0000_s13443" name="Flash Document" r:id="rId4" imgW="941040" imgH="941040" progId="">
              <p:embed/>
            </p:oleObj>
          </a:graphicData>
        </a:graphic>
      </p:graphicFrame>
      <p:sp>
        <p:nvSpPr>
          <p:cNvPr id="13316" name="Rectangle 4"/>
          <p:cNvSpPr>
            <a:spLocks noChangeArrowheads="1"/>
          </p:cNvSpPr>
          <p:nvPr/>
        </p:nvSpPr>
        <p:spPr bwMode="auto">
          <a:xfrm>
            <a:off x="0" y="0"/>
            <a:ext cx="1841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50000"/>
              </a:spcBef>
            </a:pPr>
            <a:endParaRPr lang="en-US">
              <a:solidFill>
                <a:schemeClr val="bg1"/>
              </a:solidFill>
              <a:latin typeface="Book Antiqua" panose="02040602050305030304" pitchFamily="18" charset="0"/>
            </a:endParaRPr>
          </a:p>
        </p:txBody>
      </p:sp>
      <p:sp>
        <p:nvSpPr>
          <p:cNvPr id="13317" name="Text Box 5"/>
          <p:cNvSpPr txBox="1">
            <a:spLocks noChangeArrowheads="1"/>
          </p:cNvSpPr>
          <p:nvPr/>
        </p:nvSpPr>
        <p:spPr bwMode="auto">
          <a:xfrm>
            <a:off x="439738" y="5078413"/>
            <a:ext cx="4967287" cy="51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20000"/>
              </a:spcBef>
              <a:buClr>
                <a:srgbClr val="404960"/>
              </a:buClr>
              <a:buSzPct val="65000"/>
              <a:buFont typeface="Wingdings" panose="05000000000000000000" pitchFamily="2" charset="2"/>
              <a:buNone/>
            </a:pPr>
            <a:r>
              <a:rPr lang="en-US" sz="2800" i="0">
                <a:solidFill>
                  <a:srgbClr val="000099"/>
                </a:solidFill>
              </a:rPr>
              <a:t>Number of children in a family</a:t>
            </a:r>
            <a:endParaRPr lang="en-US" sz="2800">
              <a:solidFill>
                <a:srgbClr val="000099"/>
              </a:solidFill>
            </a:endParaRPr>
          </a:p>
        </p:txBody>
      </p:sp>
      <p:sp>
        <p:nvSpPr>
          <p:cNvPr id="13319" name="Rectangle 7"/>
          <p:cNvSpPr>
            <a:spLocks noChangeArrowheads="1"/>
          </p:cNvSpPr>
          <p:nvPr/>
        </p:nvSpPr>
        <p:spPr bwMode="auto">
          <a:xfrm>
            <a:off x="644525" y="703263"/>
            <a:ext cx="7783513" cy="1068387"/>
          </a:xfrm>
          <a:prstGeom prst="rect">
            <a:avLst/>
          </a:prstGeom>
          <a:solidFill>
            <a:srgbClr val="9933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r>
              <a:rPr lang="en-US" sz="2800" b="0" i="0">
                <a:solidFill>
                  <a:schemeClr val="tx2"/>
                </a:solidFill>
              </a:rPr>
              <a:t>In a </a:t>
            </a:r>
            <a:r>
              <a:rPr lang="en-US" sz="3600" i="0">
                <a:solidFill>
                  <a:schemeClr val="tx2"/>
                </a:solidFill>
                <a:effectLst>
                  <a:outerShdw blurRad="38100" dist="38100" dir="2700000" algn="tl">
                    <a:srgbClr val="000000"/>
                  </a:outerShdw>
                </a:effectLst>
              </a:rPr>
              <a:t>Quantitative Variable</a:t>
            </a:r>
            <a:r>
              <a:rPr lang="en-US" sz="2800" b="0" i="0">
                <a:solidFill>
                  <a:schemeClr val="tx2"/>
                </a:solidFill>
              </a:rPr>
              <a:t> information is reported numerically.</a:t>
            </a:r>
          </a:p>
        </p:txBody>
      </p:sp>
      <p:sp>
        <p:nvSpPr>
          <p:cNvPr id="13320" name="Rectangle 8"/>
          <p:cNvSpPr>
            <a:spLocks noChangeArrowheads="1"/>
          </p:cNvSpPr>
          <p:nvPr/>
        </p:nvSpPr>
        <p:spPr bwMode="auto">
          <a:xfrm>
            <a:off x="1784350" y="2474913"/>
            <a:ext cx="5280025" cy="51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US" sz="2800" i="0">
                <a:solidFill>
                  <a:srgbClr val="000099"/>
                </a:solidFill>
              </a:rPr>
              <a:t>Balance in your checking account</a:t>
            </a:r>
          </a:p>
        </p:txBody>
      </p:sp>
      <p:sp>
        <p:nvSpPr>
          <p:cNvPr id="13323" name="Rectangle 11"/>
          <p:cNvSpPr>
            <a:spLocks noChangeArrowheads="1"/>
          </p:cNvSpPr>
          <p:nvPr/>
        </p:nvSpPr>
        <p:spPr bwMode="auto">
          <a:xfrm>
            <a:off x="1243013" y="3865563"/>
            <a:ext cx="4262437" cy="51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US" sz="2800" i="0">
                <a:solidFill>
                  <a:srgbClr val="000099"/>
                </a:solidFill>
              </a:rPr>
              <a:t>Minutes remaining in class</a:t>
            </a:r>
          </a:p>
        </p:txBody>
      </p:sp>
      <p:graphicFrame>
        <p:nvGraphicFramePr>
          <p:cNvPr id="13326" name="Object 14"/>
          <p:cNvGraphicFramePr>
            <a:graphicFrameLocks noGrp="1" noChangeAspect="1"/>
          </p:cNvGraphicFramePr>
          <p:nvPr>
            <p:ph sz="quarter" idx="3"/>
          </p:nvPr>
        </p:nvGraphicFramePr>
        <p:xfrm>
          <a:off x="5435600" y="4918075"/>
          <a:ext cx="1585913" cy="952500"/>
        </p:xfrm>
        <a:graphic>
          <a:graphicData uri="http://schemas.openxmlformats.org/presentationml/2006/ole">
            <p:oleObj spid="_x0000_s13444" name="Flash Document" r:id="rId5" imgW="1586160" imgH="952560" progId="">
              <p:embed/>
            </p:oleObj>
          </a:graphicData>
        </a:graphic>
      </p:graphicFrame>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3321"/>
                                        </p:tgtEl>
                                        <p:attrNameLst>
                                          <p:attrName>style.visibility</p:attrName>
                                        </p:attrNameLst>
                                      </p:cBhvr>
                                      <p:to>
                                        <p:strVal val="visible"/>
                                      </p:to>
                                    </p:set>
                                    <p:anim calcmode="lin" valueType="num">
                                      <p:cBhvr additive="base">
                                        <p:cTn id="7" dur="500" fill="hold"/>
                                        <p:tgtEl>
                                          <p:spTgt spid="13321"/>
                                        </p:tgtEl>
                                        <p:attrNameLst>
                                          <p:attrName>ppt_x</p:attrName>
                                        </p:attrNameLst>
                                      </p:cBhvr>
                                      <p:tavLst>
                                        <p:tav tm="0">
                                          <p:val>
                                            <p:strVal val="1+#ppt_w/2"/>
                                          </p:val>
                                        </p:tav>
                                        <p:tav tm="100000">
                                          <p:val>
                                            <p:strVal val="#ppt_x"/>
                                          </p:val>
                                        </p:tav>
                                      </p:tavLst>
                                    </p:anim>
                                    <p:anim calcmode="lin" valueType="num">
                                      <p:cBhvr additive="base">
                                        <p:cTn id="8" dur="500" fill="hold"/>
                                        <p:tgtEl>
                                          <p:spTgt spid="1332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320"/>
                                        </p:tgtEl>
                                        <p:attrNameLst>
                                          <p:attrName>style.visibility</p:attrName>
                                        </p:attrNameLst>
                                      </p:cBhvr>
                                      <p:to>
                                        <p:strVal val="visible"/>
                                      </p:to>
                                    </p:set>
                                    <p:anim calcmode="lin" valueType="num">
                                      <p:cBhvr additive="base">
                                        <p:cTn id="13" dur="500" fill="hold"/>
                                        <p:tgtEl>
                                          <p:spTgt spid="13320"/>
                                        </p:tgtEl>
                                        <p:attrNameLst>
                                          <p:attrName>ppt_x</p:attrName>
                                        </p:attrNameLst>
                                      </p:cBhvr>
                                      <p:tavLst>
                                        <p:tav tm="0">
                                          <p:val>
                                            <p:strVal val="0-#ppt_w/2"/>
                                          </p:val>
                                        </p:tav>
                                        <p:tav tm="100000">
                                          <p:val>
                                            <p:strVal val="#ppt_x"/>
                                          </p:val>
                                        </p:tav>
                                      </p:tavLst>
                                    </p:anim>
                                    <p:anim calcmode="lin" valueType="num">
                                      <p:cBhvr additive="base">
                                        <p:cTn id="14" dur="500" fill="hold"/>
                                        <p:tgtEl>
                                          <p:spTgt spid="1332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3324"/>
                                        </p:tgtEl>
                                        <p:attrNameLst>
                                          <p:attrName>style.visibility</p:attrName>
                                        </p:attrNameLst>
                                      </p:cBhvr>
                                      <p:to>
                                        <p:strVal val="visible"/>
                                      </p:to>
                                    </p:set>
                                    <p:anim calcmode="lin" valueType="num">
                                      <p:cBhvr additive="base">
                                        <p:cTn id="19" dur="500" fill="hold"/>
                                        <p:tgtEl>
                                          <p:spTgt spid="13324"/>
                                        </p:tgtEl>
                                        <p:attrNameLst>
                                          <p:attrName>ppt_x</p:attrName>
                                        </p:attrNameLst>
                                      </p:cBhvr>
                                      <p:tavLst>
                                        <p:tav tm="0">
                                          <p:val>
                                            <p:strVal val="1+#ppt_w/2"/>
                                          </p:val>
                                        </p:tav>
                                        <p:tav tm="100000">
                                          <p:val>
                                            <p:strVal val="#ppt_x"/>
                                          </p:val>
                                        </p:tav>
                                      </p:tavLst>
                                    </p:anim>
                                    <p:anim calcmode="lin" valueType="num">
                                      <p:cBhvr additive="base">
                                        <p:cTn id="20" dur="500" fill="hold"/>
                                        <p:tgtEl>
                                          <p:spTgt spid="1332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3323"/>
                                        </p:tgtEl>
                                        <p:attrNameLst>
                                          <p:attrName>style.visibility</p:attrName>
                                        </p:attrNameLst>
                                      </p:cBhvr>
                                      <p:to>
                                        <p:strVal val="visible"/>
                                      </p:to>
                                    </p:set>
                                    <p:anim calcmode="lin" valueType="num">
                                      <p:cBhvr additive="base">
                                        <p:cTn id="25" dur="500" fill="hold"/>
                                        <p:tgtEl>
                                          <p:spTgt spid="13323"/>
                                        </p:tgtEl>
                                        <p:attrNameLst>
                                          <p:attrName>ppt_x</p:attrName>
                                        </p:attrNameLst>
                                      </p:cBhvr>
                                      <p:tavLst>
                                        <p:tav tm="0">
                                          <p:val>
                                            <p:strVal val="0-#ppt_w/2"/>
                                          </p:val>
                                        </p:tav>
                                        <p:tav tm="100000">
                                          <p:val>
                                            <p:strVal val="#ppt_x"/>
                                          </p:val>
                                        </p:tav>
                                      </p:tavLst>
                                    </p:anim>
                                    <p:anim calcmode="lin" valueType="num">
                                      <p:cBhvr additive="base">
                                        <p:cTn id="26" dur="500" fill="hold"/>
                                        <p:tgtEl>
                                          <p:spTgt spid="13323"/>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nodeType="clickEffect">
                                  <p:stCondLst>
                                    <p:cond delay="0"/>
                                  </p:stCondLst>
                                  <p:childTnLst>
                                    <p:set>
                                      <p:cBhvr>
                                        <p:cTn id="30" dur="1" fill="hold">
                                          <p:stCondLst>
                                            <p:cond delay="0"/>
                                          </p:stCondLst>
                                        </p:cTn>
                                        <p:tgtEl>
                                          <p:spTgt spid="13326"/>
                                        </p:tgtEl>
                                        <p:attrNameLst>
                                          <p:attrName>style.visibility</p:attrName>
                                        </p:attrNameLst>
                                      </p:cBhvr>
                                      <p:to>
                                        <p:strVal val="visible"/>
                                      </p:to>
                                    </p:set>
                                    <p:anim calcmode="lin" valueType="num">
                                      <p:cBhvr additive="base">
                                        <p:cTn id="31" dur="500" fill="hold"/>
                                        <p:tgtEl>
                                          <p:spTgt spid="13326"/>
                                        </p:tgtEl>
                                        <p:attrNameLst>
                                          <p:attrName>ppt_x</p:attrName>
                                        </p:attrNameLst>
                                      </p:cBhvr>
                                      <p:tavLst>
                                        <p:tav tm="0">
                                          <p:val>
                                            <p:strVal val="1+#ppt_w/2"/>
                                          </p:val>
                                        </p:tav>
                                        <p:tav tm="100000">
                                          <p:val>
                                            <p:strVal val="#ppt_x"/>
                                          </p:val>
                                        </p:tav>
                                      </p:tavLst>
                                    </p:anim>
                                    <p:anim calcmode="lin" valueType="num">
                                      <p:cBhvr additive="base">
                                        <p:cTn id="32" dur="500" fill="hold"/>
                                        <p:tgtEl>
                                          <p:spTgt spid="13326"/>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1" nodeType="clickEffect">
                                  <p:stCondLst>
                                    <p:cond delay="0"/>
                                  </p:stCondLst>
                                  <p:childTnLst>
                                    <p:set>
                                      <p:cBhvr>
                                        <p:cTn id="36" dur="1" fill="hold">
                                          <p:stCondLst>
                                            <p:cond delay="0"/>
                                          </p:stCondLst>
                                        </p:cTn>
                                        <p:tgtEl>
                                          <p:spTgt spid="13317"/>
                                        </p:tgtEl>
                                        <p:attrNameLst>
                                          <p:attrName>style.visibility</p:attrName>
                                        </p:attrNameLst>
                                      </p:cBhvr>
                                      <p:to>
                                        <p:strVal val="visible"/>
                                      </p:to>
                                    </p:set>
                                    <p:anim calcmode="lin" valueType="num">
                                      <p:cBhvr additive="base">
                                        <p:cTn id="37" dur="500" fill="hold"/>
                                        <p:tgtEl>
                                          <p:spTgt spid="13317"/>
                                        </p:tgtEl>
                                        <p:attrNameLst>
                                          <p:attrName>ppt_x</p:attrName>
                                        </p:attrNameLst>
                                      </p:cBhvr>
                                      <p:tavLst>
                                        <p:tav tm="0">
                                          <p:val>
                                            <p:strVal val="0-#ppt_w/2"/>
                                          </p:val>
                                        </p:tav>
                                        <p:tav tm="100000">
                                          <p:val>
                                            <p:strVal val="#ppt_x"/>
                                          </p:val>
                                        </p:tav>
                                      </p:tavLst>
                                    </p:anim>
                                    <p:anim calcmode="lin" valueType="num">
                                      <p:cBhvr additive="base">
                                        <p:cTn id="38" dur="500" fill="hold"/>
                                        <p:tgtEl>
                                          <p:spTgt spid="133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7" grpId="1"/>
      <p:bldP spid="13320" grpId="0"/>
      <p:bldP spid="13323" grpId="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p:cNvSpPr>
            <a:spLocks noGrp="1" noChangeArrowheads="1"/>
          </p:cNvSpPr>
          <p:nvPr>
            <p:ph type="title" sz="quarter"/>
          </p:nvPr>
        </p:nvSpPr>
        <p:spPr>
          <a:xfrm>
            <a:off x="5921375" y="6208713"/>
            <a:ext cx="2936875" cy="306387"/>
          </a:xfrm>
          <a:solidFill>
            <a:schemeClr val="bg1">
              <a:alpha val="50000"/>
            </a:schemeClr>
          </a:solidFill>
          <a:ln/>
        </p:spPr>
        <p:txBody>
          <a:bodyPr lIns="92075" tIns="46038" rIns="92075" bIns="46038"/>
          <a:lstStyle/>
          <a:p>
            <a:r>
              <a:rPr lang="en-US" sz="1800"/>
              <a:t>Types of Variables</a:t>
            </a:r>
          </a:p>
        </p:txBody>
      </p:sp>
      <p:graphicFrame>
        <p:nvGraphicFramePr>
          <p:cNvPr id="14345" name="Object 9"/>
          <p:cNvGraphicFramePr>
            <a:graphicFrameLocks noGrp="1" noChangeAspect="1"/>
          </p:cNvGraphicFramePr>
          <p:nvPr>
            <p:ph sz="quarter" idx="1"/>
          </p:nvPr>
        </p:nvGraphicFramePr>
        <p:xfrm>
          <a:off x="7700963" y="3749675"/>
          <a:ext cx="1019175" cy="1201738"/>
        </p:xfrm>
        <a:graphic>
          <a:graphicData uri="http://schemas.openxmlformats.org/presentationml/2006/ole">
            <p:oleObj spid="_x0000_s14505" name="Flash Document" r:id="rId3" imgW="1019880" imgH="1201320" progId="">
              <p:embed/>
            </p:oleObj>
          </a:graphicData>
        </a:graphic>
      </p:graphicFrame>
      <p:graphicFrame>
        <p:nvGraphicFramePr>
          <p:cNvPr id="14347" name="Object 11"/>
          <p:cNvGraphicFramePr>
            <a:graphicFrameLocks noGrp="1" noChangeAspect="1"/>
          </p:cNvGraphicFramePr>
          <p:nvPr>
            <p:ph sz="quarter" idx="2"/>
          </p:nvPr>
        </p:nvGraphicFramePr>
        <p:xfrm>
          <a:off x="7053263" y="4035425"/>
          <a:ext cx="1019175" cy="1201738"/>
        </p:xfrm>
        <a:graphic>
          <a:graphicData uri="http://schemas.openxmlformats.org/presentationml/2006/ole">
            <p:oleObj spid="_x0000_s14506" name="Flash Document" r:id="rId4" imgW="1019880" imgH="1201320" progId="">
              <p:embed/>
            </p:oleObj>
          </a:graphicData>
        </a:graphic>
      </p:graphicFrame>
      <p:graphicFrame>
        <p:nvGraphicFramePr>
          <p:cNvPr id="14349" name="Object 13"/>
          <p:cNvGraphicFramePr>
            <a:graphicFrameLocks noGrp="1" noChangeAspect="1"/>
          </p:cNvGraphicFramePr>
          <p:nvPr>
            <p:ph sz="quarter" idx="3"/>
          </p:nvPr>
        </p:nvGraphicFramePr>
        <p:xfrm>
          <a:off x="5719763" y="4011613"/>
          <a:ext cx="1019175" cy="1201737"/>
        </p:xfrm>
        <a:graphic>
          <a:graphicData uri="http://schemas.openxmlformats.org/presentationml/2006/ole">
            <p:oleObj spid="_x0000_s14507" name="Flash Document" r:id="rId5" imgW="1019880" imgH="1201320" progId="">
              <p:embed/>
            </p:oleObj>
          </a:graphicData>
        </a:graphic>
      </p:graphicFrame>
      <p:sp>
        <p:nvSpPr>
          <p:cNvPr id="14340" name="Rectangle 4"/>
          <p:cNvSpPr>
            <a:spLocks noChangeArrowheads="1"/>
          </p:cNvSpPr>
          <p:nvPr/>
        </p:nvSpPr>
        <p:spPr bwMode="auto">
          <a:xfrm>
            <a:off x="0" y="0"/>
            <a:ext cx="1841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50000"/>
              </a:spcBef>
            </a:pPr>
            <a:endParaRPr lang="en-US">
              <a:solidFill>
                <a:schemeClr val="bg1"/>
              </a:solidFill>
              <a:latin typeface="Book Antiqua" panose="02040602050305030304" pitchFamily="18" charset="0"/>
            </a:endParaRPr>
          </a:p>
        </p:txBody>
      </p:sp>
      <p:sp>
        <p:nvSpPr>
          <p:cNvPr id="14341" name="Text Box 5"/>
          <p:cNvSpPr txBox="1">
            <a:spLocks noChangeArrowheads="1"/>
          </p:cNvSpPr>
          <p:nvPr/>
        </p:nvSpPr>
        <p:spPr bwMode="auto">
          <a:xfrm>
            <a:off x="476250" y="1814513"/>
            <a:ext cx="6765925" cy="14954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20000"/>
              </a:spcBef>
              <a:buClr>
                <a:srgbClr val="404960"/>
              </a:buClr>
              <a:buSzPct val="65000"/>
              <a:buFont typeface="Wingdings" panose="05000000000000000000" pitchFamily="2" charset="2"/>
              <a:buNone/>
            </a:pPr>
            <a:r>
              <a:rPr lang="en-US" sz="3600" i="0">
                <a:solidFill>
                  <a:schemeClr val="accent1"/>
                </a:solidFill>
                <a:effectLst>
                  <a:outerShdw blurRad="38100" dist="38100" dir="2700000" algn="tl">
                    <a:srgbClr val="C0C0C0"/>
                  </a:outerShdw>
                </a:effectLst>
              </a:rPr>
              <a:t>Discrete Variables</a:t>
            </a:r>
            <a:r>
              <a:rPr lang="en-US" sz="3600" i="0">
                <a:solidFill>
                  <a:srgbClr val="4DB14B"/>
                </a:solidFill>
                <a:effectLst>
                  <a:outerShdw blurRad="38100" dist="38100" dir="2700000" algn="tl">
                    <a:srgbClr val="C0C0C0"/>
                  </a:outerShdw>
                </a:effectLst>
              </a:rPr>
              <a:t>:</a:t>
            </a:r>
            <a:r>
              <a:rPr lang="en-US" sz="2800" b="0" i="0">
                <a:solidFill>
                  <a:schemeClr val="tx1"/>
                </a:solidFill>
              </a:rPr>
              <a:t> </a:t>
            </a:r>
            <a:r>
              <a:rPr lang="en-US" sz="2800" i="0">
                <a:solidFill>
                  <a:srgbClr val="993300"/>
                </a:solidFill>
              </a:rPr>
              <a:t>can only assume certain values and there are usually “gaps” between values.</a:t>
            </a:r>
            <a:endParaRPr lang="en-US">
              <a:solidFill>
                <a:srgbClr val="993300"/>
              </a:solidFill>
            </a:endParaRPr>
          </a:p>
        </p:txBody>
      </p:sp>
      <p:sp>
        <p:nvSpPr>
          <p:cNvPr id="14342" name="Text Box 6"/>
          <p:cNvSpPr txBox="1">
            <a:spLocks noChangeArrowheads="1"/>
          </p:cNvSpPr>
          <p:nvPr/>
        </p:nvSpPr>
        <p:spPr bwMode="auto">
          <a:xfrm>
            <a:off x="538163" y="3463925"/>
            <a:ext cx="4318000" cy="2546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20000"/>
              </a:spcBef>
              <a:buClr>
                <a:srgbClr val="404960"/>
              </a:buClr>
              <a:buSzPct val="65000"/>
              <a:buFont typeface="Wingdings" panose="05000000000000000000" pitchFamily="2" charset="2"/>
              <a:buNone/>
            </a:pPr>
            <a:r>
              <a:rPr lang="en-US" sz="2800" i="0" dirty="0">
                <a:solidFill>
                  <a:srgbClr val="993300"/>
                </a:solidFill>
              </a:rPr>
              <a:t>Example: the number of bedrooms in a house, or the number of hammers sold at the local Home Depot (1,2,3,…,</a:t>
            </a:r>
            <a:r>
              <a:rPr lang="en-US" sz="2800" i="0" dirty="0" err="1">
                <a:solidFill>
                  <a:srgbClr val="993300"/>
                </a:solidFill>
              </a:rPr>
              <a:t>etc</a:t>
            </a:r>
            <a:r>
              <a:rPr lang="en-US" sz="2800" i="0" dirty="0">
                <a:solidFill>
                  <a:srgbClr val="993300"/>
                </a:solidFill>
              </a:rPr>
              <a:t>).</a:t>
            </a:r>
          </a:p>
          <a:p>
            <a:pPr>
              <a:spcBef>
                <a:spcPct val="50000"/>
              </a:spcBef>
            </a:pPr>
            <a:endParaRPr lang="en-US" dirty="0">
              <a:solidFill>
                <a:srgbClr val="993300"/>
              </a:solidFill>
            </a:endParaRPr>
          </a:p>
        </p:txBody>
      </p:sp>
      <p:sp>
        <p:nvSpPr>
          <p:cNvPr id="14344" name="Rectangle 8"/>
          <p:cNvSpPr>
            <a:spLocks noChangeArrowheads="1"/>
          </p:cNvSpPr>
          <p:nvPr/>
        </p:nvSpPr>
        <p:spPr bwMode="auto">
          <a:xfrm>
            <a:off x="333375" y="522288"/>
            <a:ext cx="7937500" cy="996950"/>
          </a:xfrm>
          <a:prstGeom prst="rect">
            <a:avLst/>
          </a:prstGeom>
          <a:solidFill>
            <a:srgbClr val="9933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lnSpc>
                <a:spcPct val="90000"/>
              </a:lnSpc>
              <a:spcBef>
                <a:spcPct val="20000"/>
              </a:spcBef>
              <a:buClr>
                <a:srgbClr val="404960"/>
              </a:buClr>
              <a:buSzPct val="65000"/>
              <a:buFont typeface="Wingdings" panose="05000000000000000000" pitchFamily="2" charset="2"/>
              <a:buNone/>
            </a:pPr>
            <a:r>
              <a:rPr lang="en-US" sz="3000" b="0" i="0">
                <a:solidFill>
                  <a:schemeClr val="tx2"/>
                </a:solidFill>
              </a:rPr>
              <a:t>Quantitative variables can be classified as either</a:t>
            </a:r>
            <a:r>
              <a:rPr lang="en-US" sz="2800" b="0" i="0">
                <a:solidFill>
                  <a:schemeClr val="tx2"/>
                </a:solidFill>
              </a:rPr>
              <a:t> </a:t>
            </a:r>
            <a:r>
              <a:rPr lang="en-US" sz="3600" i="0">
                <a:solidFill>
                  <a:schemeClr val="tx2"/>
                </a:solidFill>
                <a:effectLst>
                  <a:outerShdw blurRad="38100" dist="38100" dir="2700000" algn="tl">
                    <a:srgbClr val="000000"/>
                  </a:outerShdw>
                </a:effectLst>
              </a:rPr>
              <a:t>Discrete</a:t>
            </a:r>
            <a:r>
              <a:rPr lang="en-US" sz="2800" b="0" i="0">
                <a:solidFill>
                  <a:schemeClr val="tx2"/>
                </a:solidFill>
              </a:rPr>
              <a:t> or </a:t>
            </a:r>
            <a:r>
              <a:rPr lang="en-US" sz="3600" i="0">
                <a:solidFill>
                  <a:schemeClr val="tx2"/>
                </a:solidFill>
                <a:effectLst>
                  <a:outerShdw blurRad="38100" dist="38100" dir="2700000" algn="tl">
                    <a:srgbClr val="000000"/>
                  </a:outerShdw>
                </a:effectLst>
              </a:rPr>
              <a:t>Continuous</a:t>
            </a:r>
            <a:r>
              <a:rPr lang="en-US" sz="2800" b="0" i="0">
                <a:solidFill>
                  <a:schemeClr val="tx2"/>
                </a:solidFill>
              </a:rPr>
              <a:t>.</a:t>
            </a:r>
          </a:p>
        </p:txBody>
      </p:sp>
      <p:graphicFrame>
        <p:nvGraphicFramePr>
          <p:cNvPr id="14351" name="Object 15"/>
          <p:cNvGraphicFramePr>
            <a:graphicFrameLocks noGrp="1" noChangeAspect="1"/>
          </p:cNvGraphicFramePr>
          <p:nvPr>
            <p:ph sz="quarter" idx="4"/>
          </p:nvPr>
        </p:nvGraphicFramePr>
        <p:xfrm>
          <a:off x="6291263" y="3725863"/>
          <a:ext cx="1019175" cy="1201737"/>
        </p:xfrm>
        <a:graphic>
          <a:graphicData uri="http://schemas.openxmlformats.org/presentationml/2006/ole">
            <p:oleObj spid="_x0000_s14508" name="Flash Document" r:id="rId6" imgW="1019880" imgH="1201320" progId="">
              <p:embed/>
            </p:oleObj>
          </a:graphicData>
        </a:graphic>
      </p:graphicFrame>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41"/>
                                        </p:tgtEl>
                                        <p:attrNameLst>
                                          <p:attrName>style.visibility</p:attrName>
                                        </p:attrNameLst>
                                      </p:cBhvr>
                                      <p:to>
                                        <p:strVal val="visible"/>
                                      </p:to>
                                    </p:set>
                                    <p:animEffect transition="in" filter="blinds(horizontal)">
                                      <p:cBhvr>
                                        <p:cTn id="7" dur="500"/>
                                        <p:tgtEl>
                                          <p:spTgt spid="1434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4342"/>
                                        </p:tgtEl>
                                        <p:attrNameLst>
                                          <p:attrName>style.visibility</p:attrName>
                                        </p:attrNameLst>
                                      </p:cBhvr>
                                      <p:to>
                                        <p:strVal val="visible"/>
                                      </p:to>
                                    </p:set>
                                    <p:anim calcmode="lin" valueType="num">
                                      <p:cBhvr additive="base">
                                        <p:cTn id="12" dur="500" fill="hold"/>
                                        <p:tgtEl>
                                          <p:spTgt spid="14342"/>
                                        </p:tgtEl>
                                        <p:attrNameLst>
                                          <p:attrName>ppt_x</p:attrName>
                                        </p:attrNameLst>
                                      </p:cBhvr>
                                      <p:tavLst>
                                        <p:tav tm="0">
                                          <p:val>
                                            <p:strVal val="#ppt_x"/>
                                          </p:val>
                                        </p:tav>
                                        <p:tav tm="100000">
                                          <p:val>
                                            <p:strVal val="#ppt_x"/>
                                          </p:val>
                                        </p:tav>
                                      </p:tavLst>
                                    </p:anim>
                                    <p:anim calcmode="lin" valueType="num">
                                      <p:cBhvr additive="base">
                                        <p:cTn id="13" dur="500" fill="hold"/>
                                        <p:tgtEl>
                                          <p:spTgt spid="14342"/>
                                        </p:tgtEl>
                                        <p:attrNameLst>
                                          <p:attrName>ppt_y</p:attrName>
                                        </p:attrNameLst>
                                      </p:cBhvr>
                                      <p:tavLst>
                                        <p:tav tm="0">
                                          <p:val>
                                            <p:strVal val="1+#ppt_h/2"/>
                                          </p:val>
                                        </p:tav>
                                        <p:tav tm="100000">
                                          <p:val>
                                            <p:strVal val="#ppt_y"/>
                                          </p:val>
                                        </p:tav>
                                      </p:tavLst>
                                    </p:anim>
                                  </p:childTnLst>
                                </p:cTn>
                              </p:par>
                              <p:par>
                                <p:cTn id="14" presetID="2" presetClass="entr" presetSubtype="2" fill="hold" nodeType="withEffect">
                                  <p:stCondLst>
                                    <p:cond delay="0"/>
                                  </p:stCondLst>
                                  <p:childTnLst>
                                    <p:set>
                                      <p:cBhvr>
                                        <p:cTn id="15" dur="1" fill="hold">
                                          <p:stCondLst>
                                            <p:cond delay="0"/>
                                          </p:stCondLst>
                                        </p:cTn>
                                        <p:tgtEl>
                                          <p:spTgt spid="14349"/>
                                        </p:tgtEl>
                                        <p:attrNameLst>
                                          <p:attrName>style.visibility</p:attrName>
                                        </p:attrNameLst>
                                      </p:cBhvr>
                                      <p:to>
                                        <p:strVal val="visible"/>
                                      </p:to>
                                    </p:set>
                                    <p:anim calcmode="lin" valueType="num">
                                      <p:cBhvr additive="base">
                                        <p:cTn id="16" dur="500" fill="hold"/>
                                        <p:tgtEl>
                                          <p:spTgt spid="14349"/>
                                        </p:tgtEl>
                                        <p:attrNameLst>
                                          <p:attrName>ppt_x</p:attrName>
                                        </p:attrNameLst>
                                      </p:cBhvr>
                                      <p:tavLst>
                                        <p:tav tm="0">
                                          <p:val>
                                            <p:strVal val="1+#ppt_w/2"/>
                                          </p:val>
                                        </p:tav>
                                        <p:tav tm="100000">
                                          <p:val>
                                            <p:strVal val="#ppt_x"/>
                                          </p:val>
                                        </p:tav>
                                      </p:tavLst>
                                    </p:anim>
                                    <p:anim calcmode="lin" valueType="num">
                                      <p:cBhvr additive="base">
                                        <p:cTn id="17" dur="500" fill="hold"/>
                                        <p:tgtEl>
                                          <p:spTgt spid="14349"/>
                                        </p:tgtEl>
                                        <p:attrNameLst>
                                          <p:attrName>ppt_y</p:attrName>
                                        </p:attrNameLst>
                                      </p:cBhvr>
                                      <p:tavLst>
                                        <p:tav tm="0">
                                          <p:val>
                                            <p:strVal val="#ppt_y"/>
                                          </p:val>
                                        </p:tav>
                                        <p:tav tm="100000">
                                          <p:val>
                                            <p:strVal val="#ppt_y"/>
                                          </p:val>
                                        </p:tav>
                                      </p:tavLst>
                                    </p:anim>
                                  </p:childTnLst>
                                </p:cTn>
                              </p:par>
                              <p:par>
                                <p:cTn id="18" presetID="2" presetClass="entr" presetSubtype="2" fill="hold" nodeType="withEffect">
                                  <p:stCondLst>
                                    <p:cond delay="0"/>
                                  </p:stCondLst>
                                  <p:childTnLst>
                                    <p:set>
                                      <p:cBhvr>
                                        <p:cTn id="19" dur="1" fill="hold">
                                          <p:stCondLst>
                                            <p:cond delay="0"/>
                                          </p:stCondLst>
                                        </p:cTn>
                                        <p:tgtEl>
                                          <p:spTgt spid="14351"/>
                                        </p:tgtEl>
                                        <p:attrNameLst>
                                          <p:attrName>style.visibility</p:attrName>
                                        </p:attrNameLst>
                                      </p:cBhvr>
                                      <p:to>
                                        <p:strVal val="visible"/>
                                      </p:to>
                                    </p:set>
                                    <p:anim calcmode="lin" valueType="num">
                                      <p:cBhvr additive="base">
                                        <p:cTn id="20" dur="500" fill="hold"/>
                                        <p:tgtEl>
                                          <p:spTgt spid="14351"/>
                                        </p:tgtEl>
                                        <p:attrNameLst>
                                          <p:attrName>ppt_x</p:attrName>
                                        </p:attrNameLst>
                                      </p:cBhvr>
                                      <p:tavLst>
                                        <p:tav tm="0">
                                          <p:val>
                                            <p:strVal val="1+#ppt_w/2"/>
                                          </p:val>
                                        </p:tav>
                                        <p:tav tm="100000">
                                          <p:val>
                                            <p:strVal val="#ppt_x"/>
                                          </p:val>
                                        </p:tav>
                                      </p:tavLst>
                                    </p:anim>
                                    <p:anim calcmode="lin" valueType="num">
                                      <p:cBhvr additive="base">
                                        <p:cTn id="21" dur="500" fill="hold"/>
                                        <p:tgtEl>
                                          <p:spTgt spid="14351"/>
                                        </p:tgtEl>
                                        <p:attrNameLst>
                                          <p:attrName>ppt_y</p:attrName>
                                        </p:attrNameLst>
                                      </p:cBhvr>
                                      <p:tavLst>
                                        <p:tav tm="0">
                                          <p:val>
                                            <p:strVal val="#ppt_y"/>
                                          </p:val>
                                        </p:tav>
                                        <p:tav tm="100000">
                                          <p:val>
                                            <p:strVal val="#ppt_y"/>
                                          </p:val>
                                        </p:tav>
                                      </p:tavLst>
                                    </p:anim>
                                  </p:childTnLst>
                                </p:cTn>
                              </p:par>
                              <p:par>
                                <p:cTn id="22" presetID="2" presetClass="entr" presetSubtype="2" fill="hold" nodeType="withEffect">
                                  <p:stCondLst>
                                    <p:cond delay="0"/>
                                  </p:stCondLst>
                                  <p:childTnLst>
                                    <p:set>
                                      <p:cBhvr>
                                        <p:cTn id="23" dur="1" fill="hold">
                                          <p:stCondLst>
                                            <p:cond delay="0"/>
                                          </p:stCondLst>
                                        </p:cTn>
                                        <p:tgtEl>
                                          <p:spTgt spid="14347"/>
                                        </p:tgtEl>
                                        <p:attrNameLst>
                                          <p:attrName>style.visibility</p:attrName>
                                        </p:attrNameLst>
                                      </p:cBhvr>
                                      <p:to>
                                        <p:strVal val="visible"/>
                                      </p:to>
                                    </p:set>
                                    <p:anim calcmode="lin" valueType="num">
                                      <p:cBhvr additive="base">
                                        <p:cTn id="24" dur="500" fill="hold"/>
                                        <p:tgtEl>
                                          <p:spTgt spid="14347"/>
                                        </p:tgtEl>
                                        <p:attrNameLst>
                                          <p:attrName>ppt_x</p:attrName>
                                        </p:attrNameLst>
                                      </p:cBhvr>
                                      <p:tavLst>
                                        <p:tav tm="0">
                                          <p:val>
                                            <p:strVal val="1+#ppt_w/2"/>
                                          </p:val>
                                        </p:tav>
                                        <p:tav tm="100000">
                                          <p:val>
                                            <p:strVal val="#ppt_x"/>
                                          </p:val>
                                        </p:tav>
                                      </p:tavLst>
                                    </p:anim>
                                    <p:anim calcmode="lin" valueType="num">
                                      <p:cBhvr additive="base">
                                        <p:cTn id="25" dur="500" fill="hold"/>
                                        <p:tgtEl>
                                          <p:spTgt spid="14347"/>
                                        </p:tgtEl>
                                        <p:attrNameLst>
                                          <p:attrName>ppt_y</p:attrName>
                                        </p:attrNameLst>
                                      </p:cBhvr>
                                      <p:tavLst>
                                        <p:tav tm="0">
                                          <p:val>
                                            <p:strVal val="#ppt_y"/>
                                          </p:val>
                                        </p:tav>
                                        <p:tav tm="100000">
                                          <p:val>
                                            <p:strVal val="#ppt_y"/>
                                          </p:val>
                                        </p:tav>
                                      </p:tavLst>
                                    </p:anim>
                                  </p:childTnLst>
                                </p:cTn>
                              </p:par>
                              <p:par>
                                <p:cTn id="26" presetID="2" presetClass="entr" presetSubtype="2" fill="hold" nodeType="withEffect">
                                  <p:stCondLst>
                                    <p:cond delay="0"/>
                                  </p:stCondLst>
                                  <p:childTnLst>
                                    <p:set>
                                      <p:cBhvr>
                                        <p:cTn id="27" dur="1" fill="hold">
                                          <p:stCondLst>
                                            <p:cond delay="0"/>
                                          </p:stCondLst>
                                        </p:cTn>
                                        <p:tgtEl>
                                          <p:spTgt spid="14345"/>
                                        </p:tgtEl>
                                        <p:attrNameLst>
                                          <p:attrName>style.visibility</p:attrName>
                                        </p:attrNameLst>
                                      </p:cBhvr>
                                      <p:to>
                                        <p:strVal val="visible"/>
                                      </p:to>
                                    </p:set>
                                    <p:anim calcmode="lin" valueType="num">
                                      <p:cBhvr additive="base">
                                        <p:cTn id="28" dur="500" fill="hold"/>
                                        <p:tgtEl>
                                          <p:spTgt spid="14345"/>
                                        </p:tgtEl>
                                        <p:attrNameLst>
                                          <p:attrName>ppt_x</p:attrName>
                                        </p:attrNameLst>
                                      </p:cBhvr>
                                      <p:tavLst>
                                        <p:tav tm="0">
                                          <p:val>
                                            <p:strVal val="1+#ppt_w/2"/>
                                          </p:val>
                                        </p:tav>
                                        <p:tav tm="100000">
                                          <p:val>
                                            <p:strVal val="#ppt_x"/>
                                          </p:val>
                                        </p:tav>
                                      </p:tavLst>
                                    </p:anim>
                                    <p:anim calcmode="lin" valueType="num">
                                      <p:cBhvr additive="base">
                                        <p:cTn id="29" dur="500" fill="hold"/>
                                        <p:tgtEl>
                                          <p:spTgt spid="1434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1" grpId="0" autoUpdateAnimBg="0"/>
      <p:bldP spid="14342"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5921375" y="6132513"/>
            <a:ext cx="2955925" cy="325437"/>
          </a:xfrm>
          <a:ln/>
        </p:spPr>
        <p:txBody>
          <a:bodyPr/>
          <a:lstStyle/>
          <a:p>
            <a:r>
              <a:rPr lang="en-US" sz="1800"/>
              <a:t>Types of Variables</a:t>
            </a:r>
          </a:p>
        </p:txBody>
      </p:sp>
      <p:graphicFrame>
        <p:nvGraphicFramePr>
          <p:cNvPr id="25607" name="Object 7"/>
          <p:cNvGraphicFramePr>
            <a:graphicFrameLocks noGrp="1" noChangeAspect="1"/>
          </p:cNvGraphicFramePr>
          <p:nvPr>
            <p:ph sz="half" idx="1"/>
          </p:nvPr>
        </p:nvGraphicFramePr>
        <p:xfrm>
          <a:off x="4338638" y="1990725"/>
          <a:ext cx="1228725" cy="1228725"/>
        </p:xfrm>
        <a:graphic>
          <a:graphicData uri="http://schemas.openxmlformats.org/presentationml/2006/ole">
            <p:oleObj spid="_x0000_s25729" name="Flash Document" r:id="rId3" imgW="1229400" imgH="1229400" progId="">
              <p:embed/>
            </p:oleObj>
          </a:graphicData>
        </a:graphic>
      </p:graphicFrame>
      <p:graphicFrame>
        <p:nvGraphicFramePr>
          <p:cNvPr id="25611" name="Object 11"/>
          <p:cNvGraphicFramePr>
            <a:graphicFrameLocks noGrp="1" noChangeAspect="1"/>
          </p:cNvGraphicFramePr>
          <p:nvPr>
            <p:ph sz="quarter" idx="2"/>
          </p:nvPr>
        </p:nvGraphicFramePr>
        <p:xfrm>
          <a:off x="6351588" y="3243263"/>
          <a:ext cx="1965325" cy="1679575"/>
        </p:xfrm>
        <a:graphic>
          <a:graphicData uri="http://schemas.openxmlformats.org/presentationml/2006/ole">
            <p:oleObj spid="_x0000_s25730" name="Flash Document" r:id="rId4" imgW="1965960" imgH="1679040" progId="">
              <p:embed/>
            </p:oleObj>
          </a:graphicData>
        </a:graphic>
      </p:graphicFrame>
      <p:sp>
        <p:nvSpPr>
          <p:cNvPr id="25605" name="Rectangle 5"/>
          <p:cNvSpPr>
            <a:spLocks noChangeArrowheads="1"/>
          </p:cNvSpPr>
          <p:nvPr/>
        </p:nvSpPr>
        <p:spPr bwMode="auto">
          <a:xfrm>
            <a:off x="2857500" y="4897438"/>
            <a:ext cx="5143500" cy="51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r>
              <a:rPr lang="en-US" sz="2800" b="0" i="0">
                <a:solidFill>
                  <a:srgbClr val="008000"/>
                </a:solidFill>
                <a:effectLst>
                  <a:outerShdw blurRad="38100" dist="38100" dir="2700000" algn="tl">
                    <a:srgbClr val="C0C0C0"/>
                  </a:outerShdw>
                </a:effectLst>
              </a:rPr>
              <a:t>The height of students in a class.</a:t>
            </a:r>
            <a:r>
              <a:rPr lang="en-US" sz="2800">
                <a:solidFill>
                  <a:srgbClr val="008000"/>
                </a:solidFill>
                <a:effectLst>
                  <a:outerShdw blurRad="38100" dist="38100" dir="2700000" algn="tl">
                    <a:srgbClr val="C0C0C0"/>
                  </a:outerShdw>
                </a:effectLst>
              </a:rPr>
              <a:t> </a:t>
            </a:r>
          </a:p>
        </p:txBody>
      </p:sp>
      <p:sp>
        <p:nvSpPr>
          <p:cNvPr id="25606" name="Rectangle 6"/>
          <p:cNvSpPr>
            <a:spLocks noChangeArrowheads="1"/>
          </p:cNvSpPr>
          <p:nvPr/>
        </p:nvSpPr>
        <p:spPr bwMode="auto">
          <a:xfrm>
            <a:off x="971550" y="431800"/>
            <a:ext cx="7077075" cy="1098550"/>
          </a:xfrm>
          <a:prstGeom prst="rect">
            <a:avLst/>
          </a:prstGeom>
          <a:solidFill>
            <a:srgbClr val="9933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r>
              <a:rPr lang="en-US" sz="3000" b="0" i="0">
                <a:solidFill>
                  <a:schemeClr val="tx2"/>
                </a:solidFill>
              </a:rPr>
              <a:t>A </a:t>
            </a:r>
            <a:r>
              <a:rPr lang="en-US" sz="3600" i="0">
                <a:solidFill>
                  <a:schemeClr val="tx2"/>
                </a:solidFill>
                <a:effectLst>
                  <a:outerShdw blurRad="38100" dist="38100" dir="2700000" algn="tl">
                    <a:srgbClr val="000000"/>
                  </a:outerShdw>
                </a:effectLst>
              </a:rPr>
              <a:t>Continuous Variable</a:t>
            </a:r>
            <a:r>
              <a:rPr lang="en-US" sz="3000" b="0" i="0">
                <a:solidFill>
                  <a:schemeClr val="tx2"/>
                </a:solidFill>
              </a:rPr>
              <a:t> can assume any value within a specified range.</a:t>
            </a:r>
          </a:p>
        </p:txBody>
      </p:sp>
      <p:sp>
        <p:nvSpPr>
          <p:cNvPr id="25609" name="Rectangle 9"/>
          <p:cNvSpPr>
            <a:spLocks noChangeArrowheads="1"/>
          </p:cNvSpPr>
          <p:nvPr/>
        </p:nvSpPr>
        <p:spPr bwMode="auto">
          <a:xfrm>
            <a:off x="566738" y="2360613"/>
            <a:ext cx="3440112" cy="51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US" sz="2800" i="0">
                <a:solidFill>
                  <a:srgbClr val="008000"/>
                </a:solidFill>
                <a:effectLst>
                  <a:outerShdw blurRad="38100" dist="38100" dir="2700000" algn="tl">
                    <a:srgbClr val="C0C0C0"/>
                  </a:outerShdw>
                </a:effectLst>
              </a:rPr>
              <a:t>The pressure in a tire</a:t>
            </a:r>
          </a:p>
        </p:txBody>
      </p:sp>
      <p:sp>
        <p:nvSpPr>
          <p:cNvPr id="25610" name="Rectangle 10"/>
          <p:cNvSpPr>
            <a:spLocks noChangeArrowheads="1"/>
          </p:cNvSpPr>
          <p:nvPr/>
        </p:nvSpPr>
        <p:spPr bwMode="auto">
          <a:xfrm>
            <a:off x="1435100" y="3484563"/>
            <a:ext cx="4167188" cy="51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US" sz="2800" i="0">
                <a:solidFill>
                  <a:srgbClr val="008000"/>
                </a:solidFill>
                <a:effectLst>
                  <a:outerShdw blurRad="38100" dist="38100" dir="2700000" algn="tl">
                    <a:srgbClr val="C0C0C0"/>
                  </a:outerShdw>
                </a:effectLst>
              </a:rPr>
              <a:t>The weight of a pork chop</a:t>
            </a:r>
          </a:p>
        </p:txBody>
      </p:sp>
      <p:graphicFrame>
        <p:nvGraphicFramePr>
          <p:cNvPr id="25613" name="Object 13"/>
          <p:cNvGraphicFramePr>
            <a:graphicFrameLocks noGrp="1" noChangeAspect="1"/>
          </p:cNvGraphicFramePr>
          <p:nvPr>
            <p:ph sz="quarter" idx="3"/>
          </p:nvPr>
        </p:nvGraphicFramePr>
        <p:xfrm>
          <a:off x="388938" y="4598988"/>
          <a:ext cx="2449512" cy="1055687"/>
        </p:xfrm>
        <a:graphic>
          <a:graphicData uri="http://schemas.openxmlformats.org/presentationml/2006/ole">
            <p:oleObj spid="_x0000_s25731" name="Flash Document" r:id="rId5" imgW="1830240" imgH="788760" progId="">
              <p:embed/>
            </p:oleObj>
          </a:graphicData>
        </a:graphic>
      </p:graphicFrame>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25607"/>
                                        </p:tgtEl>
                                        <p:attrNameLst>
                                          <p:attrName>style.visibility</p:attrName>
                                        </p:attrNameLst>
                                      </p:cBhvr>
                                      <p:to>
                                        <p:strVal val="visible"/>
                                      </p:to>
                                    </p:set>
                                    <p:anim calcmode="lin" valueType="num">
                                      <p:cBhvr additive="base">
                                        <p:cTn id="7" dur="500" fill="hold"/>
                                        <p:tgtEl>
                                          <p:spTgt spid="25607"/>
                                        </p:tgtEl>
                                        <p:attrNameLst>
                                          <p:attrName>ppt_x</p:attrName>
                                        </p:attrNameLst>
                                      </p:cBhvr>
                                      <p:tavLst>
                                        <p:tav tm="0">
                                          <p:val>
                                            <p:strVal val="1+#ppt_w/2"/>
                                          </p:val>
                                        </p:tav>
                                        <p:tav tm="100000">
                                          <p:val>
                                            <p:strVal val="#ppt_x"/>
                                          </p:val>
                                        </p:tav>
                                      </p:tavLst>
                                    </p:anim>
                                    <p:anim calcmode="lin" valueType="num">
                                      <p:cBhvr additive="base">
                                        <p:cTn id="8" dur="500" fill="hold"/>
                                        <p:tgtEl>
                                          <p:spTgt spid="2560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609"/>
                                        </p:tgtEl>
                                        <p:attrNameLst>
                                          <p:attrName>style.visibility</p:attrName>
                                        </p:attrNameLst>
                                      </p:cBhvr>
                                      <p:to>
                                        <p:strVal val="visible"/>
                                      </p:to>
                                    </p:set>
                                    <p:anim calcmode="lin" valueType="num">
                                      <p:cBhvr additive="base">
                                        <p:cTn id="13" dur="500" fill="hold"/>
                                        <p:tgtEl>
                                          <p:spTgt spid="25609"/>
                                        </p:tgtEl>
                                        <p:attrNameLst>
                                          <p:attrName>ppt_x</p:attrName>
                                        </p:attrNameLst>
                                      </p:cBhvr>
                                      <p:tavLst>
                                        <p:tav tm="0">
                                          <p:val>
                                            <p:strVal val="0-#ppt_w/2"/>
                                          </p:val>
                                        </p:tav>
                                        <p:tav tm="100000">
                                          <p:val>
                                            <p:strVal val="#ppt_x"/>
                                          </p:val>
                                        </p:tav>
                                      </p:tavLst>
                                    </p:anim>
                                    <p:anim calcmode="lin" valueType="num">
                                      <p:cBhvr additive="base">
                                        <p:cTn id="14" dur="500" fill="hold"/>
                                        <p:tgtEl>
                                          <p:spTgt spid="2560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25611"/>
                                        </p:tgtEl>
                                        <p:attrNameLst>
                                          <p:attrName>style.visibility</p:attrName>
                                        </p:attrNameLst>
                                      </p:cBhvr>
                                      <p:to>
                                        <p:strVal val="visible"/>
                                      </p:to>
                                    </p:set>
                                    <p:anim calcmode="lin" valueType="num">
                                      <p:cBhvr additive="base">
                                        <p:cTn id="19" dur="500" fill="hold"/>
                                        <p:tgtEl>
                                          <p:spTgt spid="25611"/>
                                        </p:tgtEl>
                                        <p:attrNameLst>
                                          <p:attrName>ppt_x</p:attrName>
                                        </p:attrNameLst>
                                      </p:cBhvr>
                                      <p:tavLst>
                                        <p:tav tm="0">
                                          <p:val>
                                            <p:strVal val="1+#ppt_w/2"/>
                                          </p:val>
                                        </p:tav>
                                        <p:tav tm="100000">
                                          <p:val>
                                            <p:strVal val="#ppt_x"/>
                                          </p:val>
                                        </p:tav>
                                      </p:tavLst>
                                    </p:anim>
                                    <p:anim calcmode="lin" valueType="num">
                                      <p:cBhvr additive="base">
                                        <p:cTn id="20" dur="500" fill="hold"/>
                                        <p:tgtEl>
                                          <p:spTgt spid="2561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5610"/>
                                        </p:tgtEl>
                                        <p:attrNameLst>
                                          <p:attrName>style.visibility</p:attrName>
                                        </p:attrNameLst>
                                      </p:cBhvr>
                                      <p:to>
                                        <p:strVal val="visible"/>
                                      </p:to>
                                    </p:set>
                                    <p:anim calcmode="lin" valueType="num">
                                      <p:cBhvr additive="base">
                                        <p:cTn id="25" dur="500" fill="hold"/>
                                        <p:tgtEl>
                                          <p:spTgt spid="25610"/>
                                        </p:tgtEl>
                                        <p:attrNameLst>
                                          <p:attrName>ppt_x</p:attrName>
                                        </p:attrNameLst>
                                      </p:cBhvr>
                                      <p:tavLst>
                                        <p:tav tm="0">
                                          <p:val>
                                            <p:strVal val="0-#ppt_w/2"/>
                                          </p:val>
                                        </p:tav>
                                        <p:tav tm="100000">
                                          <p:val>
                                            <p:strVal val="#ppt_x"/>
                                          </p:val>
                                        </p:tav>
                                      </p:tavLst>
                                    </p:anim>
                                    <p:anim calcmode="lin" valueType="num">
                                      <p:cBhvr additive="base">
                                        <p:cTn id="26" dur="500" fill="hold"/>
                                        <p:tgtEl>
                                          <p:spTgt spid="25610"/>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5605"/>
                                        </p:tgtEl>
                                        <p:attrNameLst>
                                          <p:attrName>style.visibility</p:attrName>
                                        </p:attrNameLst>
                                      </p:cBhvr>
                                      <p:to>
                                        <p:strVal val="visible"/>
                                      </p:to>
                                    </p:set>
                                    <p:anim calcmode="lin" valueType="num">
                                      <p:cBhvr additive="base">
                                        <p:cTn id="31" dur="500" fill="hold"/>
                                        <p:tgtEl>
                                          <p:spTgt spid="25605"/>
                                        </p:tgtEl>
                                        <p:attrNameLst>
                                          <p:attrName>ppt_x</p:attrName>
                                        </p:attrNameLst>
                                      </p:cBhvr>
                                      <p:tavLst>
                                        <p:tav tm="0">
                                          <p:val>
                                            <p:strVal val="0-#ppt_w/2"/>
                                          </p:val>
                                        </p:tav>
                                        <p:tav tm="100000">
                                          <p:val>
                                            <p:strVal val="#ppt_x"/>
                                          </p:val>
                                        </p:tav>
                                      </p:tavLst>
                                    </p:anim>
                                    <p:anim calcmode="lin" valueType="num">
                                      <p:cBhvr additive="base">
                                        <p:cTn id="32" dur="500" fill="hold"/>
                                        <p:tgtEl>
                                          <p:spTgt spid="25605"/>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25613"/>
                                        </p:tgtEl>
                                        <p:attrNameLst>
                                          <p:attrName>style.visibility</p:attrName>
                                        </p:attrNameLst>
                                      </p:cBhvr>
                                      <p:to>
                                        <p:strVal val="visible"/>
                                      </p:to>
                                    </p:set>
                                    <p:anim calcmode="lin" valueType="num">
                                      <p:cBhvr additive="base">
                                        <p:cTn id="37" dur="500" fill="hold"/>
                                        <p:tgtEl>
                                          <p:spTgt spid="25613"/>
                                        </p:tgtEl>
                                        <p:attrNameLst>
                                          <p:attrName>ppt_x</p:attrName>
                                        </p:attrNameLst>
                                      </p:cBhvr>
                                      <p:tavLst>
                                        <p:tav tm="0">
                                          <p:val>
                                            <p:strVal val="0-#ppt_w/2"/>
                                          </p:val>
                                        </p:tav>
                                        <p:tav tm="100000">
                                          <p:val>
                                            <p:strVal val="#ppt_x"/>
                                          </p:val>
                                        </p:tav>
                                      </p:tavLst>
                                    </p:anim>
                                    <p:anim calcmode="lin" valueType="num">
                                      <p:cBhvr additive="base">
                                        <p:cTn id="38" dur="500" fill="hold"/>
                                        <p:tgtEl>
                                          <p:spTgt spid="256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5" grpId="0"/>
      <p:bldP spid="25609" grpId="0"/>
      <p:bldP spid="256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5121275" y="5999163"/>
            <a:ext cx="3794125" cy="496887"/>
          </a:xfrm>
          <a:ln/>
        </p:spPr>
        <p:txBody>
          <a:bodyPr lIns="92075" tIns="46038" rIns="92075" bIns="46038"/>
          <a:lstStyle/>
          <a:p>
            <a:r>
              <a:rPr lang="en-US"/>
              <a:t>Summary of Types of Variables</a:t>
            </a:r>
          </a:p>
        </p:txBody>
      </p:sp>
      <p:graphicFrame>
        <p:nvGraphicFramePr>
          <p:cNvPr id="16387" name="Object 3"/>
          <p:cNvGraphicFramePr>
            <a:graphicFrameLocks noGrp="1"/>
          </p:cNvGraphicFramePr>
          <p:nvPr>
            <p:ph type="dgm" idx="1"/>
          </p:nvPr>
        </p:nvGraphicFramePr>
        <p:xfrm>
          <a:off x="303213" y="1055688"/>
          <a:ext cx="8478837" cy="3802062"/>
        </p:xfrm>
        <a:graphic>
          <a:graphicData uri="http://schemas.openxmlformats.org/presentationml/2006/ole">
            <p:oleObj spid="_x0000_s16427" name="MS Org Chart" r:id="rId3" imgW="7790688" imgH="2962656" progId="">
              <p:embed followColorScheme="full"/>
            </p:oleObj>
          </a:graphicData>
        </a:graphic>
      </p:graphicFrame>
      <p:sp>
        <p:nvSpPr>
          <p:cNvPr id="16388" name="Rectangle 4"/>
          <p:cNvSpPr>
            <a:spLocks noChangeArrowheads="1"/>
          </p:cNvSpPr>
          <p:nvPr/>
        </p:nvSpPr>
        <p:spPr bwMode="auto">
          <a:xfrm>
            <a:off x="0" y="0"/>
            <a:ext cx="1841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50000"/>
              </a:spcBef>
            </a:pPr>
            <a:endParaRPr lang="en-US">
              <a:solidFill>
                <a:schemeClr val="bg1"/>
              </a:solidFill>
              <a:latin typeface="Book Antiqua" panose="02040602050305030304" pitchFamily="18" charset="0"/>
            </a:endParaRPr>
          </a:p>
        </p:txBody>
      </p:sp>
    </p:spTree>
  </p:cSld>
  <p:clrMapOvr>
    <a:masterClrMapping/>
  </p:clrMapOvr>
  <p:transition>
    <p:zo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5730875" y="5961063"/>
            <a:ext cx="3146425" cy="496887"/>
          </a:xfrm>
          <a:ln/>
        </p:spPr>
        <p:txBody>
          <a:bodyPr lIns="92075" tIns="46038" rIns="92075" bIns="46038"/>
          <a:lstStyle/>
          <a:p>
            <a:r>
              <a:rPr lang="en-US"/>
              <a:t>Levels of Measurement</a:t>
            </a:r>
          </a:p>
        </p:txBody>
      </p:sp>
      <p:sp>
        <p:nvSpPr>
          <p:cNvPr id="18436" name="Rectangle 4"/>
          <p:cNvSpPr>
            <a:spLocks noChangeArrowheads="1"/>
          </p:cNvSpPr>
          <p:nvPr/>
        </p:nvSpPr>
        <p:spPr bwMode="auto">
          <a:xfrm>
            <a:off x="0" y="0"/>
            <a:ext cx="1841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50000"/>
              </a:spcBef>
            </a:pPr>
            <a:endParaRPr lang="en-US">
              <a:solidFill>
                <a:schemeClr val="bg1"/>
              </a:solidFill>
              <a:latin typeface="Book Antiqua" panose="02040602050305030304" pitchFamily="18" charset="0"/>
            </a:endParaRPr>
          </a:p>
        </p:txBody>
      </p:sp>
      <p:sp>
        <p:nvSpPr>
          <p:cNvPr id="18440" name="Rectangle 8"/>
          <p:cNvSpPr>
            <a:spLocks noChangeArrowheads="1"/>
          </p:cNvSpPr>
          <p:nvPr/>
        </p:nvSpPr>
        <p:spPr bwMode="auto">
          <a:xfrm>
            <a:off x="2214563" y="1303338"/>
            <a:ext cx="4349750" cy="3381375"/>
          </a:xfrm>
          <a:prstGeom prst="rect">
            <a:avLst/>
          </a:prstGeom>
          <a:solidFill>
            <a:srgbClr val="9933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lnSpc>
                <a:spcPct val="90000"/>
              </a:lnSpc>
              <a:spcBef>
                <a:spcPct val="20000"/>
              </a:spcBef>
              <a:buClr>
                <a:srgbClr val="404960"/>
              </a:buClr>
              <a:buSzPct val="65000"/>
              <a:buFont typeface="Wingdings" panose="05000000000000000000" pitchFamily="2" charset="2"/>
              <a:buNone/>
            </a:pPr>
            <a:r>
              <a:rPr lang="en-US" sz="3200" b="0" i="0">
                <a:solidFill>
                  <a:schemeClr val="tx2"/>
                </a:solidFill>
              </a:rPr>
              <a:t>There are four levels of data</a:t>
            </a:r>
            <a:r>
              <a:rPr lang="en-US" sz="2800" b="0" i="0">
                <a:solidFill>
                  <a:schemeClr val="tx2"/>
                </a:solidFill>
              </a:rPr>
              <a:t> </a:t>
            </a:r>
          </a:p>
          <a:p>
            <a:pPr algn="ctr">
              <a:lnSpc>
                <a:spcPct val="90000"/>
              </a:lnSpc>
              <a:spcBef>
                <a:spcPct val="20000"/>
              </a:spcBef>
              <a:buClr>
                <a:srgbClr val="404960"/>
              </a:buClr>
              <a:buSzPct val="65000"/>
              <a:buFont typeface="Wingdings" panose="05000000000000000000" pitchFamily="2" charset="2"/>
              <a:buNone/>
            </a:pPr>
            <a:r>
              <a:rPr lang="en-US" sz="3600" i="0">
                <a:solidFill>
                  <a:schemeClr val="tx2"/>
                </a:solidFill>
                <a:effectLst>
                  <a:outerShdw blurRad="38100" dist="38100" dir="2700000" algn="tl">
                    <a:srgbClr val="000000"/>
                  </a:outerShdw>
                </a:effectLst>
              </a:rPr>
              <a:t>Nominal </a:t>
            </a:r>
          </a:p>
          <a:p>
            <a:pPr algn="ctr">
              <a:lnSpc>
                <a:spcPct val="90000"/>
              </a:lnSpc>
              <a:spcBef>
                <a:spcPct val="20000"/>
              </a:spcBef>
              <a:buClr>
                <a:srgbClr val="404960"/>
              </a:buClr>
              <a:buSzPct val="65000"/>
              <a:buFont typeface="Wingdings" panose="05000000000000000000" pitchFamily="2" charset="2"/>
              <a:buNone/>
            </a:pPr>
            <a:r>
              <a:rPr lang="en-US" sz="3600" i="0">
                <a:solidFill>
                  <a:schemeClr val="tx2"/>
                </a:solidFill>
                <a:effectLst>
                  <a:outerShdw blurRad="38100" dist="38100" dir="2700000" algn="tl">
                    <a:srgbClr val="000000"/>
                  </a:outerShdw>
                </a:effectLst>
              </a:rPr>
              <a:t>Ordinal</a:t>
            </a:r>
          </a:p>
          <a:p>
            <a:pPr algn="ctr">
              <a:lnSpc>
                <a:spcPct val="90000"/>
              </a:lnSpc>
              <a:spcBef>
                <a:spcPct val="20000"/>
              </a:spcBef>
              <a:buClr>
                <a:srgbClr val="404960"/>
              </a:buClr>
              <a:buSzPct val="65000"/>
              <a:buFont typeface="Wingdings" panose="05000000000000000000" pitchFamily="2" charset="2"/>
              <a:buNone/>
            </a:pPr>
            <a:r>
              <a:rPr lang="en-US" sz="3600" i="0">
                <a:solidFill>
                  <a:schemeClr val="tx2"/>
                </a:solidFill>
                <a:effectLst>
                  <a:outerShdw blurRad="38100" dist="38100" dir="2700000" algn="tl">
                    <a:srgbClr val="000000"/>
                  </a:outerShdw>
                </a:effectLst>
              </a:rPr>
              <a:t>Interval</a:t>
            </a:r>
          </a:p>
          <a:p>
            <a:pPr algn="ctr">
              <a:lnSpc>
                <a:spcPct val="90000"/>
              </a:lnSpc>
              <a:spcBef>
                <a:spcPct val="20000"/>
              </a:spcBef>
              <a:buClr>
                <a:srgbClr val="404960"/>
              </a:buClr>
              <a:buSzPct val="65000"/>
              <a:buFont typeface="Wingdings" panose="05000000000000000000" pitchFamily="2" charset="2"/>
              <a:buNone/>
            </a:pPr>
            <a:r>
              <a:rPr lang="en-US" sz="3600" i="0">
                <a:solidFill>
                  <a:schemeClr val="tx2"/>
                </a:solidFill>
                <a:effectLst>
                  <a:outerShdw blurRad="38100" dist="38100" dir="2700000" algn="tl">
                    <a:srgbClr val="000000"/>
                  </a:outerShdw>
                </a:effectLst>
              </a:rPr>
              <a:t>Ratio</a:t>
            </a:r>
          </a:p>
        </p:txBody>
      </p:sp>
    </p:spTree>
  </p:cSld>
  <p:clrMapOvr>
    <a:masterClrMapping/>
  </p:clrMapOvr>
  <p:transition>
    <p:zo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5826125" y="6037263"/>
            <a:ext cx="2974975" cy="382587"/>
          </a:xfrm>
          <a:ln/>
        </p:spPr>
        <p:txBody>
          <a:bodyPr/>
          <a:lstStyle/>
          <a:p>
            <a:r>
              <a:rPr lang="en-US" sz="1800"/>
              <a:t>Nominal data</a:t>
            </a:r>
          </a:p>
        </p:txBody>
      </p:sp>
      <p:sp>
        <p:nvSpPr>
          <p:cNvPr id="60420" name="Text Box 4"/>
          <p:cNvSpPr txBox="1">
            <a:spLocks noChangeArrowheads="1"/>
          </p:cNvSpPr>
          <p:nvPr/>
        </p:nvSpPr>
        <p:spPr bwMode="auto">
          <a:xfrm>
            <a:off x="503238" y="492125"/>
            <a:ext cx="3359150" cy="3821113"/>
          </a:xfrm>
          <a:prstGeom prst="rect">
            <a:avLst/>
          </a:prstGeom>
          <a:solidFill>
            <a:srgbClr val="9933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20000"/>
              </a:spcBef>
              <a:buClr>
                <a:srgbClr val="404960"/>
              </a:buClr>
              <a:buSzPct val="65000"/>
              <a:buFont typeface="Wingdings" panose="05000000000000000000" pitchFamily="2" charset="2"/>
              <a:buNone/>
            </a:pPr>
            <a:r>
              <a:rPr lang="en-US" sz="3600" i="0">
                <a:solidFill>
                  <a:schemeClr val="tx2"/>
                </a:solidFill>
                <a:effectLst>
                  <a:outerShdw blurRad="38100" dist="38100" dir="2700000" algn="tl">
                    <a:srgbClr val="000000"/>
                  </a:outerShdw>
                </a:effectLst>
              </a:rPr>
              <a:t>Nominal level</a:t>
            </a:r>
            <a:r>
              <a:rPr lang="en-US" sz="3200" b="0" i="0">
                <a:solidFill>
                  <a:schemeClr val="tx2"/>
                </a:solidFill>
              </a:rPr>
              <a:t> Data that is classified into categories and cannot be arranged in any particular order.  </a:t>
            </a:r>
          </a:p>
          <a:p>
            <a:pPr>
              <a:spcBef>
                <a:spcPct val="20000"/>
              </a:spcBef>
              <a:buClr>
                <a:srgbClr val="404960"/>
              </a:buClr>
              <a:buSzPct val="65000"/>
              <a:buFont typeface="Wingdings" panose="05000000000000000000" pitchFamily="2" charset="2"/>
              <a:buNone/>
            </a:pPr>
            <a:endParaRPr lang="en-US">
              <a:solidFill>
                <a:schemeClr val="tx2"/>
              </a:solidFill>
            </a:endParaRPr>
          </a:p>
        </p:txBody>
      </p:sp>
      <p:graphicFrame>
        <p:nvGraphicFramePr>
          <p:cNvPr id="60421" name="Object 5"/>
          <p:cNvGraphicFramePr>
            <a:graphicFrameLocks noChangeAspect="1"/>
          </p:cNvGraphicFramePr>
          <p:nvPr/>
        </p:nvGraphicFramePr>
        <p:xfrm>
          <a:off x="4657725" y="576263"/>
          <a:ext cx="1617663" cy="2185987"/>
        </p:xfrm>
        <a:graphic>
          <a:graphicData uri="http://schemas.openxmlformats.org/presentationml/2006/ole">
            <p:oleObj spid="_x0000_s60538" name="Flash Document" r:id="rId3" imgW="1850400" imgH="2502000" progId="">
              <p:embed/>
            </p:oleObj>
          </a:graphicData>
        </a:graphic>
      </p:graphicFrame>
      <p:graphicFrame>
        <p:nvGraphicFramePr>
          <p:cNvPr id="60422" name="Object 6"/>
          <p:cNvGraphicFramePr>
            <a:graphicFrameLocks noChangeAspect="1"/>
          </p:cNvGraphicFramePr>
          <p:nvPr/>
        </p:nvGraphicFramePr>
        <p:xfrm>
          <a:off x="4579938" y="3471863"/>
          <a:ext cx="1317625" cy="2185987"/>
        </p:xfrm>
        <a:graphic>
          <a:graphicData uri="http://schemas.openxmlformats.org/presentationml/2006/ole">
            <p:oleObj spid="_x0000_s60539" name="Flash Document" r:id="rId4" imgW="1713240" imgH="2841480" progId="">
              <p:embed/>
            </p:oleObj>
          </a:graphicData>
        </a:graphic>
      </p:graphicFrame>
      <p:graphicFrame>
        <p:nvGraphicFramePr>
          <p:cNvPr id="60423" name="Object 7"/>
          <p:cNvGraphicFramePr>
            <a:graphicFrameLocks noChangeAspect="1"/>
          </p:cNvGraphicFramePr>
          <p:nvPr/>
        </p:nvGraphicFramePr>
        <p:xfrm>
          <a:off x="6210300" y="2619375"/>
          <a:ext cx="2362200" cy="1863725"/>
        </p:xfrm>
        <a:graphic>
          <a:graphicData uri="http://schemas.openxmlformats.org/presentationml/2006/ole">
            <p:oleObj spid="_x0000_s60540" name="Flash Document" r:id="rId5" imgW="2362680" imgH="1864440" progId="">
              <p:embed/>
            </p:oleObj>
          </a:graphicData>
        </a:graphic>
      </p:graphicFrame>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0420"/>
                                        </p:tgtEl>
                                        <p:attrNameLst>
                                          <p:attrName>style.visibility</p:attrName>
                                        </p:attrNameLst>
                                      </p:cBhvr>
                                      <p:to>
                                        <p:strVal val="visible"/>
                                      </p:to>
                                    </p:set>
                                    <p:animEffect transition="in" filter="blinds(horizontal)">
                                      <p:cBhvr>
                                        <p:cTn id="7" dur="500"/>
                                        <p:tgtEl>
                                          <p:spTgt spid="604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5" presetClass="entr" presetSubtype="0" fill="hold" nodeType="clickEffect">
                                  <p:stCondLst>
                                    <p:cond delay="0"/>
                                  </p:stCondLst>
                                  <p:childTnLst>
                                    <p:set>
                                      <p:cBhvr>
                                        <p:cTn id="11" dur="1" fill="hold">
                                          <p:stCondLst>
                                            <p:cond delay="0"/>
                                          </p:stCondLst>
                                        </p:cTn>
                                        <p:tgtEl>
                                          <p:spTgt spid="60421"/>
                                        </p:tgtEl>
                                        <p:attrNameLst>
                                          <p:attrName>style.visibility</p:attrName>
                                        </p:attrNameLst>
                                      </p:cBhvr>
                                      <p:to>
                                        <p:strVal val="visible"/>
                                      </p:to>
                                    </p:set>
                                    <p:anim calcmode="lin" valueType="num">
                                      <p:cBhvr>
                                        <p:cTn id="12" dur="1000" fill="hold"/>
                                        <p:tgtEl>
                                          <p:spTgt spid="60421"/>
                                        </p:tgtEl>
                                        <p:attrNameLst>
                                          <p:attrName>ppt_w</p:attrName>
                                        </p:attrNameLst>
                                      </p:cBhvr>
                                      <p:tavLst>
                                        <p:tav tm="0">
                                          <p:val>
                                            <p:fltVal val="0"/>
                                          </p:val>
                                        </p:tav>
                                        <p:tav tm="100000">
                                          <p:val>
                                            <p:strVal val="#ppt_w"/>
                                          </p:val>
                                        </p:tav>
                                      </p:tavLst>
                                    </p:anim>
                                    <p:anim calcmode="lin" valueType="num">
                                      <p:cBhvr>
                                        <p:cTn id="13" dur="1000" fill="hold"/>
                                        <p:tgtEl>
                                          <p:spTgt spid="60421"/>
                                        </p:tgtEl>
                                        <p:attrNameLst>
                                          <p:attrName>ppt_h</p:attrName>
                                        </p:attrNameLst>
                                      </p:cBhvr>
                                      <p:tavLst>
                                        <p:tav tm="0">
                                          <p:val>
                                            <p:fltVal val="0"/>
                                          </p:val>
                                        </p:tav>
                                        <p:tav tm="100000">
                                          <p:val>
                                            <p:strVal val="#ppt_h"/>
                                          </p:val>
                                        </p:tav>
                                      </p:tavLst>
                                    </p:anim>
                                    <p:anim calcmode="lin" valueType="num">
                                      <p:cBhvr>
                                        <p:cTn id="14" dur="1000" fill="hold"/>
                                        <p:tgtEl>
                                          <p:spTgt spid="60421"/>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60421"/>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5" presetClass="entr" presetSubtype="0" fill="hold" nodeType="clickEffect">
                                  <p:stCondLst>
                                    <p:cond delay="0"/>
                                  </p:stCondLst>
                                  <p:childTnLst>
                                    <p:set>
                                      <p:cBhvr>
                                        <p:cTn id="19" dur="1" fill="hold">
                                          <p:stCondLst>
                                            <p:cond delay="0"/>
                                          </p:stCondLst>
                                        </p:cTn>
                                        <p:tgtEl>
                                          <p:spTgt spid="60423"/>
                                        </p:tgtEl>
                                        <p:attrNameLst>
                                          <p:attrName>style.visibility</p:attrName>
                                        </p:attrNameLst>
                                      </p:cBhvr>
                                      <p:to>
                                        <p:strVal val="visible"/>
                                      </p:to>
                                    </p:set>
                                    <p:anim calcmode="lin" valueType="num">
                                      <p:cBhvr>
                                        <p:cTn id="20" dur="1000" fill="hold"/>
                                        <p:tgtEl>
                                          <p:spTgt spid="60423"/>
                                        </p:tgtEl>
                                        <p:attrNameLst>
                                          <p:attrName>ppt_w</p:attrName>
                                        </p:attrNameLst>
                                      </p:cBhvr>
                                      <p:tavLst>
                                        <p:tav tm="0">
                                          <p:val>
                                            <p:fltVal val="0"/>
                                          </p:val>
                                        </p:tav>
                                        <p:tav tm="100000">
                                          <p:val>
                                            <p:strVal val="#ppt_w"/>
                                          </p:val>
                                        </p:tav>
                                      </p:tavLst>
                                    </p:anim>
                                    <p:anim calcmode="lin" valueType="num">
                                      <p:cBhvr>
                                        <p:cTn id="21" dur="1000" fill="hold"/>
                                        <p:tgtEl>
                                          <p:spTgt spid="60423"/>
                                        </p:tgtEl>
                                        <p:attrNameLst>
                                          <p:attrName>ppt_h</p:attrName>
                                        </p:attrNameLst>
                                      </p:cBhvr>
                                      <p:tavLst>
                                        <p:tav tm="0">
                                          <p:val>
                                            <p:fltVal val="0"/>
                                          </p:val>
                                        </p:tav>
                                        <p:tav tm="100000">
                                          <p:val>
                                            <p:strVal val="#ppt_h"/>
                                          </p:val>
                                        </p:tav>
                                      </p:tavLst>
                                    </p:anim>
                                    <p:anim calcmode="lin" valueType="num">
                                      <p:cBhvr>
                                        <p:cTn id="22" dur="1000" fill="hold"/>
                                        <p:tgtEl>
                                          <p:spTgt spid="60423"/>
                                        </p:tgtEl>
                                        <p:attrNameLst>
                                          <p:attrName>ppt_x</p:attrName>
                                        </p:attrNameLst>
                                      </p:cBhvr>
                                      <p:tavLst>
                                        <p:tav tm="0" fmla="#ppt_x+(cos(-2*pi*(1-$))*-#ppt_x-sin(-2*pi*(1-$))*(1-#ppt_y))*(1-$)">
                                          <p:val>
                                            <p:fltVal val="0"/>
                                          </p:val>
                                        </p:tav>
                                        <p:tav tm="100000">
                                          <p:val>
                                            <p:fltVal val="1"/>
                                          </p:val>
                                        </p:tav>
                                      </p:tavLst>
                                    </p:anim>
                                    <p:anim calcmode="lin" valueType="num">
                                      <p:cBhvr>
                                        <p:cTn id="23" dur="1000" fill="hold"/>
                                        <p:tgtEl>
                                          <p:spTgt spid="6042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0" presetClass="entr" presetSubtype="0" fill="hold" nodeType="clickEffect">
                                  <p:stCondLst>
                                    <p:cond delay="0"/>
                                  </p:stCondLst>
                                  <p:childTnLst>
                                    <p:set>
                                      <p:cBhvr>
                                        <p:cTn id="27" dur="1" fill="hold">
                                          <p:stCondLst>
                                            <p:cond delay="0"/>
                                          </p:stCondLst>
                                        </p:cTn>
                                        <p:tgtEl>
                                          <p:spTgt spid="60422"/>
                                        </p:tgtEl>
                                        <p:attrNameLst>
                                          <p:attrName>style.visibility</p:attrName>
                                        </p:attrNameLst>
                                      </p:cBhvr>
                                      <p:to>
                                        <p:strVal val="visible"/>
                                      </p:to>
                                    </p:set>
                                    <p:animEffect transition="in" filter="wedge">
                                      <p:cBhvr>
                                        <p:cTn id="28" dur="2000"/>
                                        <p:tgtEl>
                                          <p:spTgt spid="604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0"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6149975" y="5942013"/>
            <a:ext cx="2651125" cy="534987"/>
          </a:xfrm>
          <a:ln/>
        </p:spPr>
        <p:txBody>
          <a:bodyPr lIns="92075" tIns="46038" rIns="92075" bIns="46038"/>
          <a:lstStyle/>
          <a:p>
            <a:r>
              <a:rPr lang="en-US"/>
              <a:t>Levels of Measurement</a:t>
            </a:r>
          </a:p>
        </p:txBody>
      </p:sp>
      <p:sp>
        <p:nvSpPr>
          <p:cNvPr id="20484" name="Rectangle 4"/>
          <p:cNvSpPr>
            <a:spLocks noChangeArrowheads="1"/>
          </p:cNvSpPr>
          <p:nvPr/>
        </p:nvSpPr>
        <p:spPr bwMode="auto">
          <a:xfrm>
            <a:off x="0" y="0"/>
            <a:ext cx="1841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50000"/>
              </a:spcBef>
            </a:pPr>
            <a:endParaRPr lang="en-US">
              <a:solidFill>
                <a:schemeClr val="bg1"/>
              </a:solidFill>
              <a:latin typeface="Book Antiqua" panose="02040602050305030304" pitchFamily="18" charset="0"/>
            </a:endParaRPr>
          </a:p>
        </p:txBody>
      </p:sp>
      <p:sp>
        <p:nvSpPr>
          <p:cNvPr id="20485" name="Text Box 5"/>
          <p:cNvSpPr txBox="1">
            <a:spLocks noChangeArrowheads="1"/>
          </p:cNvSpPr>
          <p:nvPr/>
        </p:nvSpPr>
        <p:spPr bwMode="auto">
          <a:xfrm>
            <a:off x="476250" y="2227263"/>
            <a:ext cx="3227388" cy="3508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20000"/>
              </a:spcBef>
              <a:buClr>
                <a:srgbClr val="404960"/>
              </a:buClr>
              <a:buSzPct val="65000"/>
              <a:buFont typeface="Wingdings" panose="05000000000000000000" pitchFamily="2" charset="2"/>
              <a:buNone/>
            </a:pPr>
            <a:r>
              <a:rPr lang="en-US" sz="2800" i="0">
                <a:solidFill>
                  <a:srgbClr val="993300"/>
                </a:solidFill>
              </a:rPr>
              <a:t>During a taste test of 4 soft drinks, Coca Cola was ranked number 1, Dr. Pepper number 2, Pepsi number 3, and Root Beer number 4.</a:t>
            </a:r>
            <a:endParaRPr lang="en-US" sz="2800">
              <a:solidFill>
                <a:srgbClr val="993300"/>
              </a:solidFill>
            </a:endParaRPr>
          </a:p>
        </p:txBody>
      </p:sp>
      <p:sp>
        <p:nvSpPr>
          <p:cNvPr id="20487" name="Rectangle 7"/>
          <p:cNvSpPr>
            <a:spLocks noChangeArrowheads="1"/>
          </p:cNvSpPr>
          <p:nvPr/>
        </p:nvSpPr>
        <p:spPr bwMode="auto">
          <a:xfrm>
            <a:off x="388938" y="322263"/>
            <a:ext cx="8074025" cy="1495425"/>
          </a:xfrm>
          <a:prstGeom prst="rect">
            <a:avLst/>
          </a:prstGeom>
          <a:solidFill>
            <a:srgbClr val="9933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20000"/>
              </a:spcBef>
              <a:buClr>
                <a:srgbClr val="404960"/>
              </a:buClr>
              <a:buSzPct val="65000"/>
              <a:buFont typeface="Wingdings" panose="05000000000000000000" pitchFamily="2" charset="2"/>
              <a:buNone/>
            </a:pPr>
            <a:r>
              <a:rPr lang="en-US" sz="3600" i="0">
                <a:solidFill>
                  <a:schemeClr val="tx2"/>
                </a:solidFill>
                <a:effectLst>
                  <a:outerShdw blurRad="38100" dist="38100" dir="2700000" algn="tl">
                    <a:srgbClr val="000000"/>
                  </a:outerShdw>
                </a:effectLst>
              </a:rPr>
              <a:t>Ordinal level</a:t>
            </a:r>
            <a:r>
              <a:rPr lang="en-US" sz="2800" b="0" i="0">
                <a:solidFill>
                  <a:schemeClr val="tx2"/>
                </a:solidFill>
              </a:rPr>
              <a:t>: involves data arranged in some order, but the differences between data values cannot be determined or are meaningless.</a:t>
            </a:r>
          </a:p>
        </p:txBody>
      </p:sp>
      <p:graphicFrame>
        <p:nvGraphicFramePr>
          <p:cNvPr id="20488" name="Object 8"/>
          <p:cNvGraphicFramePr>
            <a:graphicFrameLocks noGrp="1" noChangeAspect="1"/>
          </p:cNvGraphicFramePr>
          <p:nvPr>
            <p:ph idx="1"/>
          </p:nvPr>
        </p:nvGraphicFramePr>
        <p:xfrm>
          <a:off x="4384675" y="1733550"/>
          <a:ext cx="3994150" cy="3878263"/>
        </p:xfrm>
        <a:graphic>
          <a:graphicData uri="http://schemas.openxmlformats.org/presentationml/2006/ole">
            <p:oleObj spid="_x0000_s20528" name="Flash Document" r:id="rId3" imgW="3993480" imgH="3877920" progId="">
              <p:embed/>
            </p:oleObj>
          </a:graphicData>
        </a:graphic>
      </p:graphicFrame>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1" nodeType="clickEffect">
                                  <p:stCondLst>
                                    <p:cond delay="0"/>
                                  </p:stCondLst>
                                  <p:childTnLst>
                                    <p:set>
                                      <p:cBhvr>
                                        <p:cTn id="6" dur="1" fill="hold">
                                          <p:stCondLst>
                                            <p:cond delay="0"/>
                                          </p:stCondLst>
                                        </p:cTn>
                                        <p:tgtEl>
                                          <p:spTgt spid="20485"/>
                                        </p:tgtEl>
                                        <p:attrNameLst>
                                          <p:attrName>style.visibility</p:attrName>
                                        </p:attrNameLst>
                                      </p:cBhvr>
                                      <p:to>
                                        <p:strVal val="visible"/>
                                      </p:to>
                                    </p:set>
                                    <p:anim calcmode="lin" valueType="num">
                                      <p:cBhvr>
                                        <p:cTn id="7" dur="500" fill="hold"/>
                                        <p:tgtEl>
                                          <p:spTgt spid="20485"/>
                                        </p:tgtEl>
                                        <p:attrNameLst>
                                          <p:attrName>ppt_w</p:attrName>
                                        </p:attrNameLst>
                                      </p:cBhvr>
                                      <p:tavLst>
                                        <p:tav tm="0">
                                          <p:val>
                                            <p:fltVal val="0"/>
                                          </p:val>
                                        </p:tav>
                                        <p:tav tm="100000">
                                          <p:val>
                                            <p:strVal val="#ppt_w"/>
                                          </p:val>
                                        </p:tav>
                                      </p:tavLst>
                                    </p:anim>
                                    <p:anim calcmode="lin" valueType="num">
                                      <p:cBhvr>
                                        <p:cTn id="8" dur="500" fill="hold"/>
                                        <p:tgtEl>
                                          <p:spTgt spid="20485"/>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9" presetClass="entr" presetSubtype="0" decel="100000" fill="hold" nodeType="clickEffect">
                                  <p:stCondLst>
                                    <p:cond delay="0"/>
                                  </p:stCondLst>
                                  <p:childTnLst>
                                    <p:set>
                                      <p:cBhvr>
                                        <p:cTn id="12" dur="1" fill="hold">
                                          <p:stCondLst>
                                            <p:cond delay="0"/>
                                          </p:stCondLst>
                                        </p:cTn>
                                        <p:tgtEl>
                                          <p:spTgt spid="20488"/>
                                        </p:tgtEl>
                                        <p:attrNameLst>
                                          <p:attrName>style.visibility</p:attrName>
                                        </p:attrNameLst>
                                      </p:cBhvr>
                                      <p:to>
                                        <p:strVal val="visible"/>
                                      </p:to>
                                    </p:set>
                                    <p:anim calcmode="lin" valueType="num">
                                      <p:cBhvr>
                                        <p:cTn id="13" dur="500" fill="hold"/>
                                        <p:tgtEl>
                                          <p:spTgt spid="20488"/>
                                        </p:tgtEl>
                                        <p:attrNameLst>
                                          <p:attrName>ppt_w</p:attrName>
                                        </p:attrNameLst>
                                      </p:cBhvr>
                                      <p:tavLst>
                                        <p:tav tm="0">
                                          <p:val>
                                            <p:fltVal val="0"/>
                                          </p:val>
                                        </p:tav>
                                        <p:tav tm="100000">
                                          <p:val>
                                            <p:strVal val="#ppt_w"/>
                                          </p:val>
                                        </p:tav>
                                      </p:tavLst>
                                    </p:anim>
                                    <p:anim calcmode="lin" valueType="num">
                                      <p:cBhvr>
                                        <p:cTn id="14" dur="500" fill="hold"/>
                                        <p:tgtEl>
                                          <p:spTgt spid="20488"/>
                                        </p:tgtEl>
                                        <p:attrNameLst>
                                          <p:attrName>ppt_h</p:attrName>
                                        </p:attrNameLst>
                                      </p:cBhvr>
                                      <p:tavLst>
                                        <p:tav tm="0">
                                          <p:val>
                                            <p:fltVal val="0"/>
                                          </p:val>
                                        </p:tav>
                                        <p:tav tm="100000">
                                          <p:val>
                                            <p:strVal val="#ppt_h"/>
                                          </p:val>
                                        </p:tav>
                                      </p:tavLst>
                                    </p:anim>
                                    <p:anim calcmode="lin" valueType="num">
                                      <p:cBhvr>
                                        <p:cTn id="15" dur="500" fill="hold"/>
                                        <p:tgtEl>
                                          <p:spTgt spid="20488"/>
                                        </p:tgtEl>
                                        <p:attrNameLst>
                                          <p:attrName>style.rotation</p:attrName>
                                        </p:attrNameLst>
                                      </p:cBhvr>
                                      <p:tavLst>
                                        <p:tav tm="0">
                                          <p:val>
                                            <p:fltVal val="360"/>
                                          </p:val>
                                        </p:tav>
                                        <p:tav tm="100000">
                                          <p:val>
                                            <p:fltVal val="0"/>
                                          </p:val>
                                        </p:tav>
                                      </p:tavLst>
                                    </p:anim>
                                    <p:animEffect transition="in" filter="fade">
                                      <p:cBhvr>
                                        <p:cTn id="16" dur="500"/>
                                        <p:tgtEl>
                                          <p:spTgt spid="204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5" grpId="1"/>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359525" y="6056313"/>
            <a:ext cx="2517775" cy="496887"/>
          </a:xfrm>
          <a:ln/>
        </p:spPr>
        <p:txBody>
          <a:bodyPr lIns="92075" tIns="46038" rIns="92075" bIns="46038"/>
          <a:lstStyle/>
          <a:p>
            <a:r>
              <a:rPr lang="en-US" sz="1800"/>
              <a:t>Levels of Measurement</a:t>
            </a:r>
          </a:p>
        </p:txBody>
      </p:sp>
      <p:sp>
        <p:nvSpPr>
          <p:cNvPr id="21508" name="Rectangle 4"/>
          <p:cNvSpPr>
            <a:spLocks noChangeArrowheads="1"/>
          </p:cNvSpPr>
          <p:nvPr/>
        </p:nvSpPr>
        <p:spPr bwMode="auto">
          <a:xfrm>
            <a:off x="0" y="0"/>
            <a:ext cx="1841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50000"/>
              </a:spcBef>
            </a:pPr>
            <a:endParaRPr lang="en-US">
              <a:solidFill>
                <a:schemeClr val="bg1"/>
              </a:solidFill>
              <a:latin typeface="Book Antiqua" panose="02040602050305030304" pitchFamily="18" charset="0"/>
            </a:endParaRPr>
          </a:p>
        </p:txBody>
      </p:sp>
      <p:sp>
        <p:nvSpPr>
          <p:cNvPr id="21509" name="Text Box 5"/>
          <p:cNvSpPr txBox="1">
            <a:spLocks noChangeArrowheads="1"/>
          </p:cNvSpPr>
          <p:nvPr/>
        </p:nvSpPr>
        <p:spPr bwMode="auto">
          <a:xfrm>
            <a:off x="4103688" y="3741738"/>
            <a:ext cx="3373437" cy="1066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20000"/>
              </a:spcBef>
              <a:buClr>
                <a:srgbClr val="404960"/>
              </a:buClr>
              <a:buSzPct val="65000"/>
              <a:buFont typeface="Wingdings" panose="05000000000000000000" pitchFamily="2" charset="2"/>
              <a:buNone/>
            </a:pPr>
            <a:r>
              <a:rPr lang="en-US" sz="3200" i="0">
                <a:solidFill>
                  <a:srgbClr val="993300"/>
                </a:solidFill>
                <a:latin typeface="Monotype Corsiva" panose="03010101010201010101" pitchFamily="66" charset="0"/>
              </a:rPr>
              <a:t>Temperature on the Fahrenheit scale.</a:t>
            </a:r>
            <a:endParaRPr lang="en-US" sz="3200">
              <a:solidFill>
                <a:srgbClr val="993300"/>
              </a:solidFill>
              <a:latin typeface="Monotype Corsiva" panose="03010101010201010101" pitchFamily="66" charset="0"/>
            </a:endParaRPr>
          </a:p>
        </p:txBody>
      </p:sp>
      <p:sp>
        <p:nvSpPr>
          <p:cNvPr id="21511" name="Rectangle 7"/>
          <p:cNvSpPr>
            <a:spLocks noChangeArrowheads="1"/>
          </p:cNvSpPr>
          <p:nvPr/>
        </p:nvSpPr>
        <p:spPr bwMode="auto">
          <a:xfrm>
            <a:off x="401638" y="598488"/>
            <a:ext cx="7794625" cy="2208212"/>
          </a:xfrm>
          <a:prstGeom prst="rect">
            <a:avLst/>
          </a:prstGeom>
          <a:solidFill>
            <a:srgbClr val="9933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lnSpc>
                <a:spcPct val="90000"/>
              </a:lnSpc>
              <a:spcBef>
                <a:spcPct val="20000"/>
              </a:spcBef>
              <a:buClr>
                <a:srgbClr val="404960"/>
              </a:buClr>
              <a:buSzPct val="65000"/>
              <a:buFont typeface="Wingdings" panose="05000000000000000000" pitchFamily="2" charset="2"/>
              <a:buNone/>
            </a:pPr>
            <a:r>
              <a:rPr lang="en-US" sz="3600" i="0">
                <a:solidFill>
                  <a:schemeClr val="tx2"/>
                </a:solidFill>
                <a:effectLst>
                  <a:outerShdw blurRad="38100" dist="38100" dir="2700000" algn="tl">
                    <a:srgbClr val="000000"/>
                  </a:outerShdw>
                </a:effectLst>
              </a:rPr>
              <a:t>Interval level</a:t>
            </a:r>
            <a:r>
              <a:rPr lang="en-US" sz="2800" b="0" i="0">
                <a:solidFill>
                  <a:schemeClr val="tx2"/>
                </a:solidFill>
              </a:rPr>
              <a:t> </a:t>
            </a:r>
          </a:p>
          <a:p>
            <a:pPr>
              <a:lnSpc>
                <a:spcPct val="90000"/>
              </a:lnSpc>
              <a:spcBef>
                <a:spcPct val="20000"/>
              </a:spcBef>
              <a:buClr>
                <a:srgbClr val="404960"/>
              </a:buClr>
              <a:buSzPct val="65000"/>
              <a:buFont typeface="Wingdings" panose="05000000000000000000" pitchFamily="2" charset="2"/>
              <a:buNone/>
            </a:pPr>
            <a:r>
              <a:rPr lang="en-US" sz="2800" b="0" i="0">
                <a:solidFill>
                  <a:schemeClr val="tx2"/>
                </a:solidFill>
              </a:rPr>
              <a:t>Similar to the ordinal level, with the additional property that meaningful amounts of differences between data values can be determined. There is no natural zero point.</a:t>
            </a:r>
          </a:p>
        </p:txBody>
      </p:sp>
      <p:graphicFrame>
        <p:nvGraphicFramePr>
          <p:cNvPr id="21512" name="Object 8"/>
          <p:cNvGraphicFramePr>
            <a:graphicFrameLocks noGrp="1" noChangeAspect="1"/>
          </p:cNvGraphicFramePr>
          <p:nvPr>
            <p:ph idx="1"/>
          </p:nvPr>
        </p:nvGraphicFramePr>
        <p:xfrm>
          <a:off x="1676400" y="3294063"/>
          <a:ext cx="1255713" cy="2508250"/>
        </p:xfrm>
        <a:graphic>
          <a:graphicData uri="http://schemas.openxmlformats.org/presentationml/2006/ole">
            <p:oleObj spid="_x0000_s64550" name="Flash Document" r:id="rId3" imgW="1256040" imgH="2507760" progId="">
              <p:embed/>
            </p:oleObj>
          </a:graphicData>
        </a:graphic>
      </p:graphicFrame>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09"/>
                                        </p:tgtEl>
                                        <p:attrNameLst>
                                          <p:attrName>style.visibility</p:attrName>
                                        </p:attrNameLst>
                                      </p:cBhvr>
                                      <p:to>
                                        <p:strVal val="visible"/>
                                      </p:to>
                                    </p:set>
                                    <p:anim calcmode="lin" valueType="num">
                                      <p:cBhvr additive="base">
                                        <p:cTn id="7" dur="500" fill="hold"/>
                                        <p:tgtEl>
                                          <p:spTgt spid="21509"/>
                                        </p:tgtEl>
                                        <p:attrNameLst>
                                          <p:attrName>ppt_x</p:attrName>
                                        </p:attrNameLst>
                                      </p:cBhvr>
                                      <p:tavLst>
                                        <p:tav tm="0">
                                          <p:val>
                                            <p:strVal val="#ppt_x"/>
                                          </p:val>
                                        </p:tav>
                                        <p:tav tm="100000">
                                          <p:val>
                                            <p:strVal val="#ppt_x"/>
                                          </p:val>
                                        </p:tav>
                                      </p:tavLst>
                                    </p:anim>
                                    <p:anim calcmode="lin" valueType="num">
                                      <p:cBhvr additive="base">
                                        <p:cTn id="8" dur="500" fill="hold"/>
                                        <p:tgtEl>
                                          <p:spTgt spid="215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9"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6130925" y="6037263"/>
            <a:ext cx="2784475" cy="496887"/>
          </a:xfrm>
          <a:ln/>
        </p:spPr>
        <p:txBody>
          <a:bodyPr lIns="92075" tIns="46038" rIns="92075" bIns="46038"/>
          <a:lstStyle/>
          <a:p>
            <a:r>
              <a:rPr lang="en-US"/>
              <a:t>Levels of Measurement</a:t>
            </a:r>
          </a:p>
        </p:txBody>
      </p:sp>
      <p:graphicFrame>
        <p:nvGraphicFramePr>
          <p:cNvPr id="22537" name="Object 9"/>
          <p:cNvGraphicFramePr>
            <a:graphicFrameLocks noGrp="1" noChangeAspect="1"/>
          </p:cNvGraphicFramePr>
          <p:nvPr>
            <p:ph sz="half" idx="1"/>
          </p:nvPr>
        </p:nvGraphicFramePr>
        <p:xfrm>
          <a:off x="4610100" y="2159000"/>
          <a:ext cx="4268788" cy="2836863"/>
        </p:xfrm>
        <a:graphic>
          <a:graphicData uri="http://schemas.openxmlformats.org/presentationml/2006/ole">
            <p:oleObj spid="_x0000_s22657" name="Flash Document" r:id="rId3" imgW="3925080" imgH="2607840" progId="">
              <p:embed/>
            </p:oleObj>
          </a:graphicData>
        </a:graphic>
      </p:graphicFrame>
      <p:graphicFrame>
        <p:nvGraphicFramePr>
          <p:cNvPr id="22539" name="Object 11"/>
          <p:cNvGraphicFramePr>
            <a:graphicFrameLocks noGrp="1" noChangeAspect="1"/>
          </p:cNvGraphicFramePr>
          <p:nvPr>
            <p:ph sz="quarter" idx="2"/>
          </p:nvPr>
        </p:nvGraphicFramePr>
        <p:xfrm>
          <a:off x="266700" y="2019300"/>
          <a:ext cx="4445000" cy="3576638"/>
        </p:xfrm>
        <a:graphic>
          <a:graphicData uri="http://schemas.openxmlformats.org/presentationml/2006/ole">
            <p:oleObj spid="_x0000_s22658" name="Flash Document" r:id="rId4" imgW="4713120" imgH="3793320" progId="">
              <p:embed/>
            </p:oleObj>
          </a:graphicData>
        </a:graphic>
      </p:graphicFrame>
      <p:sp>
        <p:nvSpPr>
          <p:cNvPr id="22532" name="Rectangle 4"/>
          <p:cNvSpPr>
            <a:spLocks noChangeArrowheads="1"/>
          </p:cNvSpPr>
          <p:nvPr/>
        </p:nvSpPr>
        <p:spPr bwMode="auto">
          <a:xfrm>
            <a:off x="0" y="0"/>
            <a:ext cx="1841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50000"/>
              </a:spcBef>
            </a:pPr>
            <a:endParaRPr lang="en-US">
              <a:solidFill>
                <a:schemeClr val="bg1"/>
              </a:solidFill>
              <a:latin typeface="Book Antiqua" panose="02040602050305030304" pitchFamily="18" charset="0"/>
            </a:endParaRPr>
          </a:p>
        </p:txBody>
      </p:sp>
      <p:sp>
        <p:nvSpPr>
          <p:cNvPr id="22536" name="Rectangle 8"/>
          <p:cNvSpPr>
            <a:spLocks noChangeArrowheads="1"/>
          </p:cNvSpPr>
          <p:nvPr/>
        </p:nvSpPr>
        <p:spPr bwMode="auto">
          <a:xfrm>
            <a:off x="652463" y="388938"/>
            <a:ext cx="7559675" cy="1354137"/>
          </a:xfrm>
          <a:prstGeom prst="rect">
            <a:avLst/>
          </a:prstGeom>
          <a:solidFill>
            <a:srgbClr val="9933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nSpc>
                <a:spcPct val="90000"/>
              </a:lnSpc>
              <a:spcBef>
                <a:spcPct val="20000"/>
              </a:spcBef>
              <a:buClr>
                <a:srgbClr val="404960"/>
              </a:buClr>
              <a:buSzPct val="65000"/>
              <a:buFont typeface="Wingdings" panose="05000000000000000000" pitchFamily="2" charset="2"/>
              <a:buNone/>
            </a:pPr>
            <a:r>
              <a:rPr lang="en-US" sz="3600" i="0">
                <a:solidFill>
                  <a:schemeClr val="tx2"/>
                </a:solidFill>
                <a:effectLst>
                  <a:outerShdw blurRad="38100" dist="38100" dir="2700000" algn="tl">
                    <a:srgbClr val="000000"/>
                  </a:outerShdw>
                </a:effectLst>
              </a:rPr>
              <a:t>Ratio level:</a:t>
            </a:r>
            <a:r>
              <a:rPr lang="en-US" sz="2800" b="0" i="0">
                <a:solidFill>
                  <a:schemeClr val="tx2"/>
                </a:solidFill>
              </a:rPr>
              <a:t> the interval level with an inherent zero starting point.  Differences and ratios are meaningful for this level of measurement.</a:t>
            </a:r>
          </a:p>
        </p:txBody>
      </p:sp>
      <p:graphicFrame>
        <p:nvGraphicFramePr>
          <p:cNvPr id="22541" name="Object 13"/>
          <p:cNvGraphicFramePr>
            <a:graphicFrameLocks noGrp="1" noChangeAspect="1"/>
          </p:cNvGraphicFramePr>
          <p:nvPr>
            <p:ph sz="quarter" idx="3"/>
          </p:nvPr>
        </p:nvGraphicFramePr>
        <p:xfrm>
          <a:off x="2287588" y="3917950"/>
          <a:ext cx="1787525" cy="704850"/>
        </p:xfrm>
        <a:graphic>
          <a:graphicData uri="http://schemas.openxmlformats.org/presentationml/2006/ole">
            <p:oleObj spid="_x0000_s22659" name="Flash Document" r:id="rId5" imgW="1787040" imgH="705600" progId="">
              <p:embed/>
            </p:oleObj>
          </a:graphicData>
        </a:graphic>
      </p:graphicFrame>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7" presetClass="entr" presetSubtype="8" fill="hold" nodeType="clickEffect">
                                  <p:stCondLst>
                                    <p:cond delay="0"/>
                                  </p:stCondLst>
                                  <p:childTnLst>
                                    <p:set>
                                      <p:cBhvr>
                                        <p:cTn id="6" dur="1" fill="hold">
                                          <p:stCondLst>
                                            <p:cond delay="0"/>
                                          </p:stCondLst>
                                        </p:cTn>
                                        <p:tgtEl>
                                          <p:spTgt spid="22541"/>
                                        </p:tgtEl>
                                        <p:attrNameLst>
                                          <p:attrName>style.visibility</p:attrName>
                                        </p:attrNameLst>
                                      </p:cBhvr>
                                      <p:to>
                                        <p:strVal val="visible"/>
                                      </p:to>
                                    </p:set>
                                    <p:anim calcmode="lin" valueType="num">
                                      <p:cBhvr additive="base">
                                        <p:cTn id="7" dur="5000" fill="hold"/>
                                        <p:tgtEl>
                                          <p:spTgt spid="22541"/>
                                        </p:tgtEl>
                                        <p:attrNameLst>
                                          <p:attrName>ppt_x</p:attrName>
                                        </p:attrNameLst>
                                      </p:cBhvr>
                                      <p:tavLst>
                                        <p:tav tm="0">
                                          <p:val>
                                            <p:strVal val="0-#ppt_w/2"/>
                                          </p:val>
                                        </p:tav>
                                        <p:tav tm="100000">
                                          <p:val>
                                            <p:strVal val="#ppt_x"/>
                                          </p:val>
                                        </p:tav>
                                      </p:tavLst>
                                    </p:anim>
                                    <p:anim calcmode="lin" valueType="num">
                                      <p:cBhvr additive="base">
                                        <p:cTn id="8" dur="5000" fill="hold"/>
                                        <p:tgtEl>
                                          <p:spTgt spid="2254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0" presetClass="entr" presetSubtype="0" fill="hold" nodeType="clickEffect">
                                  <p:stCondLst>
                                    <p:cond delay="0"/>
                                  </p:stCondLst>
                                  <p:childTnLst>
                                    <p:set>
                                      <p:cBhvr>
                                        <p:cTn id="12" dur="1" fill="hold">
                                          <p:stCondLst>
                                            <p:cond delay="0"/>
                                          </p:stCondLst>
                                        </p:cTn>
                                        <p:tgtEl>
                                          <p:spTgt spid="22537"/>
                                        </p:tgtEl>
                                        <p:attrNameLst>
                                          <p:attrName>style.visibility</p:attrName>
                                        </p:attrNameLst>
                                      </p:cBhvr>
                                      <p:to>
                                        <p:strVal val="visible"/>
                                      </p:to>
                                    </p:set>
                                    <p:animEffect transition="in" filter="wedge">
                                      <p:cBhvr>
                                        <p:cTn id="13" dur="2000"/>
                                        <p:tgtEl>
                                          <p:spTgt spid="225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94750" y="1329865"/>
            <a:ext cx="8151795" cy="5368389"/>
          </a:xfrm>
        </p:spPr>
        <p:txBody>
          <a:bodyPr/>
          <a:lstStyle/>
          <a:p>
            <a:pPr marL="457200" indent="-457200">
              <a:buAutoNum type="arabicPeriod"/>
            </a:pPr>
            <a:r>
              <a:rPr lang="en-US" sz="2000" i="1" dirty="0" smtClean="0"/>
              <a:t>Statistics and planning:</a:t>
            </a:r>
            <a:r>
              <a:rPr lang="en-US" sz="2000" dirty="0" smtClean="0"/>
              <a:t> Statistics in indispensable into planning in the modern age which is termed as “the age of planning”. Almost all over the world the govt. are re-storing to planning for economic development.</a:t>
            </a:r>
            <a:br>
              <a:rPr lang="en-US" sz="2000" dirty="0" smtClean="0"/>
            </a:br>
            <a:endParaRPr lang="en-US" sz="2000" dirty="0" smtClean="0"/>
          </a:p>
          <a:p>
            <a:pPr marL="457200" indent="-457200">
              <a:buAutoNum type="arabicPeriod"/>
            </a:pPr>
            <a:r>
              <a:rPr lang="en-US" sz="2000" dirty="0" smtClean="0"/>
              <a:t> </a:t>
            </a:r>
            <a:r>
              <a:rPr lang="en-US" sz="2000" i="1" dirty="0" smtClean="0"/>
              <a:t>Statistics and economics:</a:t>
            </a:r>
            <a:r>
              <a:rPr lang="en-US" sz="2000" dirty="0" smtClean="0"/>
              <a:t> Statistical data and techniques of statistical analysis have to immensely useful involving economical problem. Such as wages, price, time series analysis, demand analysis.</a:t>
            </a:r>
            <a:br>
              <a:rPr lang="en-US" sz="2000" dirty="0" smtClean="0"/>
            </a:br>
            <a:endParaRPr lang="en-US" sz="2000" dirty="0" smtClean="0"/>
          </a:p>
          <a:p>
            <a:pPr marL="457200" indent="-457200">
              <a:buAutoNum type="arabicPeriod"/>
            </a:pPr>
            <a:r>
              <a:rPr lang="en-US" sz="2000" i="1" dirty="0" smtClean="0"/>
              <a:t>Statistics and business:</a:t>
            </a:r>
            <a:r>
              <a:rPr lang="en-US" sz="2000" dirty="0" smtClean="0"/>
              <a:t> Statistics is an irresponsible tool of production control. Business executive are relying more and more on statistical techniques for studying the much and desire of the valued customers.</a:t>
            </a:r>
          </a:p>
          <a:p>
            <a:pPr marL="457200" indent="-457200">
              <a:buFont typeface="Wingdings" panose="05000000000000000000" pitchFamily="2" charset="2"/>
              <a:buAutoNum type="arabicPeriod"/>
            </a:pPr>
            <a:endParaRPr lang="en-US" sz="1800" dirty="0" smtClean="0"/>
          </a:p>
          <a:p>
            <a:pPr marL="457200" indent="-457200">
              <a:buFont typeface="Wingdings" panose="05000000000000000000" pitchFamily="2" charset="2"/>
              <a:buAutoNum type="arabicPeriod"/>
            </a:pPr>
            <a:r>
              <a:rPr lang="en-US" sz="1800" dirty="0" smtClean="0"/>
              <a:t> </a:t>
            </a:r>
            <a:r>
              <a:rPr lang="en-US" sz="1800" i="1" dirty="0" smtClean="0"/>
              <a:t>Statistics and industry:</a:t>
            </a:r>
            <a:r>
              <a:rPr lang="en-US" sz="1800" dirty="0" smtClean="0"/>
              <a:t> In industry statistics is widely used inequality control. In production engineering to find out whether the product is confirming to the specifications or not. Statistical tools, such as inspection plan, control chart etc.</a:t>
            </a:r>
            <a:r>
              <a:rPr lang="en-US" dirty="0" smtClean="0"/>
              <a:t/>
            </a:r>
            <a:br>
              <a:rPr lang="en-US" dirty="0" smtClean="0"/>
            </a:br>
            <a:r>
              <a:rPr lang="en-US" dirty="0" smtClean="0"/>
              <a:t/>
            </a:r>
            <a:br>
              <a:rPr lang="en-US" dirty="0" smtClean="0"/>
            </a:br>
            <a:endParaRPr lang="en-US" dirty="0"/>
          </a:p>
        </p:txBody>
      </p:sp>
      <p:sp>
        <p:nvSpPr>
          <p:cNvPr id="4" name="Content Placeholder 3"/>
          <p:cNvSpPr>
            <a:spLocks noGrp="1"/>
          </p:cNvSpPr>
          <p:nvPr>
            <p:ph sz="quarter" idx="2"/>
          </p:nvPr>
        </p:nvSpPr>
        <p:spPr>
          <a:xfrm>
            <a:off x="2257540" y="481569"/>
            <a:ext cx="4826306" cy="642151"/>
          </a:xfrm>
        </p:spPr>
        <p:style>
          <a:lnRef idx="2">
            <a:schemeClr val="accent1"/>
          </a:lnRef>
          <a:fillRef idx="1">
            <a:schemeClr val="lt1"/>
          </a:fillRef>
          <a:effectRef idx="0">
            <a:schemeClr val="accent1"/>
          </a:effectRef>
          <a:fontRef idx="minor">
            <a:schemeClr val="dk1"/>
          </a:fontRef>
        </p:style>
        <p:txBody>
          <a:bodyPr/>
          <a:lstStyle/>
          <a:p>
            <a:pPr algn="ctr">
              <a:buNone/>
            </a:pPr>
            <a:r>
              <a:rPr lang="en-US" dirty="0" smtClean="0"/>
              <a:t>Scope and Importance of Statistics</a:t>
            </a:r>
            <a:endParaRPr lang="en-US" dirty="0"/>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fade">
                                      <p:cBhvr>
                                        <p:cTn id="7" dur="1000"/>
                                        <p:tgtEl>
                                          <p:spTgt spid="4">
                                            <p:bg/>
                                          </p:spTgt>
                                        </p:tgtEl>
                                      </p:cBhvr>
                                    </p:animEffect>
                                    <p:anim calcmode="lin" valueType="num">
                                      <p:cBhvr>
                                        <p:cTn id="8" dur="1000" fill="hold"/>
                                        <p:tgtEl>
                                          <p:spTgt spid="4">
                                            <p:bg/>
                                          </p:spTgt>
                                        </p:tgtEl>
                                        <p:attrNameLst>
                                          <p:attrName>ppt_x</p:attrName>
                                        </p:attrNameLst>
                                      </p:cBhvr>
                                      <p:tavLst>
                                        <p:tav tm="0">
                                          <p:val>
                                            <p:strVal val="#ppt_x"/>
                                          </p:val>
                                        </p:tav>
                                        <p:tav tm="100000">
                                          <p:val>
                                            <p:strVal val="#ppt_x"/>
                                          </p:val>
                                        </p:tav>
                                      </p:tavLst>
                                    </p:anim>
                                    <p:anim calcmode="lin" valueType="num">
                                      <p:cBhvr>
                                        <p:cTn id="9" dur="1000" fill="hold"/>
                                        <p:tgtEl>
                                          <p:spTgt spid="4">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1000"/>
                                        <p:tgtEl>
                                          <p:spTgt spid="4">
                                            <p:txEl>
                                              <p:pRg st="0" end="0"/>
                                            </p:txEl>
                                          </p:spTgt>
                                        </p:tgtEl>
                                      </p:cBhvr>
                                    </p:animEffect>
                                    <p:anim calcmode="lin" valueType="num">
                                      <p:cBhvr>
                                        <p:cTn id="15"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Effect transition="in" filter="fade">
                                      <p:cBhvr>
                                        <p:cTn id="21" dur="1000"/>
                                        <p:tgtEl>
                                          <p:spTgt spid="3">
                                            <p:txEl>
                                              <p:pRg st="0" end="0"/>
                                            </p:txEl>
                                          </p:spTgt>
                                        </p:tgtEl>
                                      </p:cBhvr>
                                    </p:animEffect>
                                    <p:anim calcmode="lin" valueType="num">
                                      <p:cBhvr>
                                        <p:cTn id="22"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animEffect transition="in" filter="fade">
                                      <p:cBhvr>
                                        <p:cTn id="28" dur="1000"/>
                                        <p:tgtEl>
                                          <p:spTgt spid="3">
                                            <p:txEl>
                                              <p:pRg st="1" end="1"/>
                                            </p:txEl>
                                          </p:spTgt>
                                        </p:tgtEl>
                                      </p:cBhvr>
                                    </p:animEffect>
                                    <p:anim calcmode="lin" valueType="num">
                                      <p:cBhvr>
                                        <p:cTn id="29"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animEffect transition="in" filter="fade">
                                      <p:cBhvr>
                                        <p:cTn id="35" dur="1000"/>
                                        <p:tgtEl>
                                          <p:spTgt spid="3">
                                            <p:txEl>
                                              <p:pRg st="2" end="2"/>
                                            </p:txEl>
                                          </p:spTgt>
                                        </p:tgtEl>
                                      </p:cBhvr>
                                    </p:animEffect>
                                    <p:anim calcmode="lin" valueType="num">
                                      <p:cBhvr>
                                        <p:cTn id="36"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1000"/>
                                        <p:tgtEl>
                                          <p:spTgt spid="3">
                                            <p:txEl>
                                              <p:pRg st="4" end="4"/>
                                            </p:txEl>
                                          </p:spTgt>
                                        </p:tgtEl>
                                      </p:cBhvr>
                                    </p:animEffect>
                                    <p:anim calcmode="lin" valueType="num">
                                      <p:cBhvr>
                                        <p:cTn id="4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28650" y="1825625"/>
            <a:ext cx="8107726" cy="4487040"/>
          </a:xfrm>
        </p:spPr>
        <p:txBody>
          <a:bodyPr/>
          <a:lstStyle/>
          <a:p>
            <a:pPr>
              <a:buNone/>
            </a:pPr>
            <a:r>
              <a:rPr lang="en-US" sz="2000" dirty="0" smtClean="0"/>
              <a:t>5. </a:t>
            </a:r>
            <a:r>
              <a:rPr lang="en-US" sz="2000" i="1" dirty="0" smtClean="0"/>
              <a:t>Statistics and mathematics:</a:t>
            </a:r>
            <a:r>
              <a:rPr lang="en-US" sz="2000" dirty="0" smtClean="0"/>
              <a:t> Statistics are intimately related recent advancements in statistical technique are the outcome of wide applications of mathematics.</a:t>
            </a:r>
          </a:p>
          <a:p>
            <a:pPr>
              <a:buNone/>
            </a:pPr>
            <a:r>
              <a:rPr lang="en-US" sz="2000" dirty="0" smtClean="0"/>
              <a:t>6. </a:t>
            </a:r>
            <a:r>
              <a:rPr lang="en-US" sz="2000" i="1" dirty="0" smtClean="0"/>
              <a:t>Statistics and modern science:</a:t>
            </a:r>
            <a:r>
              <a:rPr lang="en-US" sz="2000" dirty="0" smtClean="0"/>
              <a:t> In medical science the statistical tools for collection, presentation and analysis of observed facts relating to causes and incidence of dieses and the result of application various drugs and medicine are of great importance.</a:t>
            </a:r>
          </a:p>
          <a:p>
            <a:pPr>
              <a:buNone/>
            </a:pPr>
            <a:r>
              <a:rPr lang="en-US" sz="2000" dirty="0" smtClean="0"/>
              <a:t>7. </a:t>
            </a:r>
            <a:r>
              <a:rPr lang="en-US" sz="2000" i="1" dirty="0" smtClean="0"/>
              <a:t>Statistics, psychology and education: </a:t>
            </a:r>
            <a:r>
              <a:rPr lang="en-US" sz="2000" dirty="0" smtClean="0"/>
              <a:t>In education and physiology statistics has found wide application such as, determining or to determine the reliability and validity to a test, factor analysis etc.</a:t>
            </a:r>
          </a:p>
          <a:p>
            <a:pPr>
              <a:buNone/>
            </a:pPr>
            <a:r>
              <a:rPr lang="en-US" sz="2000" dirty="0" smtClean="0"/>
              <a:t>8. Statistics</a:t>
            </a:r>
            <a:r>
              <a:rPr lang="en-US" sz="2000" i="1" dirty="0" smtClean="0"/>
              <a:t> and war: </a:t>
            </a:r>
            <a:r>
              <a:rPr lang="en-US" sz="2000" dirty="0" smtClean="0"/>
              <a:t>In war the theory of decision function can be a great assistance to the military and personal to plan “maximum destruction with minimum effort.”</a:t>
            </a:r>
            <a:br>
              <a:rPr lang="en-US" sz="2000" dirty="0" smtClean="0"/>
            </a:br>
            <a:endParaRPr lang="en-US" sz="2000" dirty="0" smtClean="0"/>
          </a:p>
          <a:p>
            <a:pPr>
              <a:buNone/>
            </a:pPr>
            <a:endParaRPr lang="en-US" sz="2000" dirty="0"/>
          </a:p>
        </p:txBody>
      </p:sp>
      <p:sp>
        <p:nvSpPr>
          <p:cNvPr id="6" name="Content Placeholder 3"/>
          <p:cNvSpPr>
            <a:spLocks noGrp="1"/>
          </p:cNvSpPr>
          <p:nvPr>
            <p:ph sz="quarter" idx="2"/>
          </p:nvPr>
        </p:nvSpPr>
        <p:spPr>
          <a:xfrm>
            <a:off x="2257540" y="481569"/>
            <a:ext cx="4826306" cy="642151"/>
          </a:xfrm>
        </p:spPr>
        <p:style>
          <a:lnRef idx="2">
            <a:schemeClr val="accent1"/>
          </a:lnRef>
          <a:fillRef idx="1">
            <a:schemeClr val="lt1"/>
          </a:fillRef>
          <a:effectRef idx="0">
            <a:schemeClr val="accent1"/>
          </a:effectRef>
          <a:fontRef idx="minor">
            <a:schemeClr val="dk1"/>
          </a:fontRef>
        </p:style>
        <p:txBody>
          <a:bodyPr/>
          <a:lstStyle/>
          <a:p>
            <a:pPr algn="ctr">
              <a:buNone/>
            </a:pPr>
            <a:r>
              <a:rPr lang="en-US" dirty="0" smtClean="0"/>
              <a:t>Scope and Importance of Statistics</a:t>
            </a:r>
            <a:endParaRPr lang="en-US" dirty="0"/>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1000"/>
                                        <p:tgtEl>
                                          <p:spTgt spid="6">
                                            <p:bg/>
                                          </p:spTgt>
                                        </p:tgtEl>
                                      </p:cBhvr>
                                    </p:animEffect>
                                    <p:anim calcmode="lin" valueType="num">
                                      <p:cBhvr>
                                        <p:cTn id="8" dur="1000" fill="hold"/>
                                        <p:tgtEl>
                                          <p:spTgt spid="6">
                                            <p:bg/>
                                          </p:spTgt>
                                        </p:tgtEl>
                                        <p:attrNameLst>
                                          <p:attrName>ppt_x</p:attrName>
                                        </p:attrNameLst>
                                      </p:cBhvr>
                                      <p:tavLst>
                                        <p:tav tm="0">
                                          <p:val>
                                            <p:strVal val="#ppt_x"/>
                                          </p:val>
                                        </p:tav>
                                        <p:tav tm="100000">
                                          <p:val>
                                            <p:strVal val="#ppt_x"/>
                                          </p:val>
                                        </p:tav>
                                      </p:tavLst>
                                    </p:anim>
                                    <p:anim calcmode="lin" valueType="num">
                                      <p:cBhvr>
                                        <p:cTn id="9" dur="1000" fill="hold"/>
                                        <p:tgtEl>
                                          <p:spTgt spid="6">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anim calcmode="lin" valueType="num">
                                      <p:cBhvr>
                                        <p:cTn id="15"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Effect transition="in" filter="fade">
                                      <p:cBhvr>
                                        <p:cTn id="21" dur="1000"/>
                                        <p:tgtEl>
                                          <p:spTgt spid="3">
                                            <p:txEl>
                                              <p:pRg st="0" end="0"/>
                                            </p:txEl>
                                          </p:spTgt>
                                        </p:tgtEl>
                                      </p:cBhvr>
                                    </p:animEffect>
                                    <p:anim calcmode="lin" valueType="num">
                                      <p:cBhvr>
                                        <p:cTn id="22"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animEffect transition="in" filter="fade">
                                      <p:cBhvr>
                                        <p:cTn id="28" dur="1000"/>
                                        <p:tgtEl>
                                          <p:spTgt spid="3">
                                            <p:txEl>
                                              <p:pRg st="1" end="1"/>
                                            </p:txEl>
                                          </p:spTgt>
                                        </p:tgtEl>
                                      </p:cBhvr>
                                    </p:animEffect>
                                    <p:anim calcmode="lin" valueType="num">
                                      <p:cBhvr>
                                        <p:cTn id="29"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animEffect transition="in" filter="fade">
                                      <p:cBhvr>
                                        <p:cTn id="35" dur="1000"/>
                                        <p:tgtEl>
                                          <p:spTgt spid="3">
                                            <p:txEl>
                                              <p:pRg st="2" end="2"/>
                                            </p:txEl>
                                          </p:spTgt>
                                        </p:tgtEl>
                                      </p:cBhvr>
                                    </p:animEffect>
                                    <p:anim calcmode="lin" valueType="num">
                                      <p:cBhvr>
                                        <p:cTn id="36"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3" end="3"/>
                                            </p:txEl>
                                          </p:spTgt>
                                        </p:tgtEl>
                                        <p:attrNameLst>
                                          <p:attrName>style.visibility</p:attrName>
                                        </p:attrNameLst>
                                      </p:cBhvr>
                                      <p:to>
                                        <p:strVal val="visible"/>
                                      </p:to>
                                    </p:set>
                                    <p:animEffect transition="in" filter="fade">
                                      <p:cBhvr>
                                        <p:cTn id="42" dur="1000"/>
                                        <p:tgtEl>
                                          <p:spTgt spid="3">
                                            <p:txEl>
                                              <p:pRg st="3" end="3"/>
                                            </p:txEl>
                                          </p:spTgt>
                                        </p:tgtEl>
                                      </p:cBhvr>
                                    </p:animEffect>
                                    <p:anim calcmode="lin" valueType="num">
                                      <p:cBhvr>
                                        <p:cTn id="4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a:spLocks noGrp="1"/>
          </p:cNvSpPr>
          <p:nvPr>
            <p:ph sz="half" idx="1"/>
          </p:nvPr>
        </p:nvSpPr>
        <p:spPr>
          <a:xfrm>
            <a:off x="661700" y="1616305"/>
            <a:ext cx="7865355" cy="4586192"/>
          </a:xfrm>
        </p:spPr>
        <p:txBody>
          <a:bodyPr/>
          <a:lstStyle/>
          <a:p>
            <a:r>
              <a:rPr lang="en-US" dirty="0" smtClean="0"/>
              <a:t>Statistics enable realization of magnitude.</a:t>
            </a:r>
          </a:p>
          <a:p>
            <a:r>
              <a:rPr lang="en-US" dirty="0" smtClean="0"/>
              <a:t>Statistics simplifies complexity.</a:t>
            </a:r>
          </a:p>
          <a:p>
            <a:r>
              <a:rPr lang="en-US" dirty="0" smtClean="0"/>
              <a:t>Statistics enable comparison of simplified data.</a:t>
            </a:r>
          </a:p>
          <a:p>
            <a:r>
              <a:rPr lang="en-US" dirty="0" smtClean="0"/>
              <a:t>Statistics enables to study relationship b/w sets of phenomena and to discover casual connection b/w real facts.</a:t>
            </a:r>
          </a:p>
          <a:p>
            <a:r>
              <a:rPr lang="en-US" dirty="0" smtClean="0"/>
              <a:t>Statistics enlarge human experience.</a:t>
            </a:r>
          </a:p>
          <a:p>
            <a:pPr>
              <a:buNone/>
            </a:pPr>
            <a:endParaRPr lang="en-US" dirty="0"/>
          </a:p>
        </p:txBody>
      </p:sp>
      <p:sp>
        <p:nvSpPr>
          <p:cNvPr id="7" name="Content Placeholder 3"/>
          <p:cNvSpPr>
            <a:spLocks noGrp="1"/>
          </p:cNvSpPr>
          <p:nvPr>
            <p:ph sz="quarter" idx="2"/>
          </p:nvPr>
        </p:nvSpPr>
        <p:spPr>
          <a:xfrm>
            <a:off x="2257540" y="481569"/>
            <a:ext cx="3449197" cy="642151"/>
          </a:xfrm>
        </p:spPr>
        <p:style>
          <a:lnRef idx="2">
            <a:schemeClr val="accent1"/>
          </a:lnRef>
          <a:fillRef idx="1">
            <a:schemeClr val="lt1"/>
          </a:fillRef>
          <a:effectRef idx="0">
            <a:schemeClr val="accent1"/>
          </a:effectRef>
          <a:fontRef idx="minor">
            <a:schemeClr val="dk1"/>
          </a:fontRef>
        </p:style>
        <p:txBody>
          <a:bodyPr/>
          <a:lstStyle/>
          <a:p>
            <a:pPr algn="ctr">
              <a:buNone/>
            </a:pPr>
            <a:r>
              <a:rPr lang="en-US" sz="2800" dirty="0" smtClean="0"/>
              <a:t>Function of Statistics</a:t>
            </a:r>
            <a:endParaRPr lang="en-US" sz="2800" dirty="0"/>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bg/>
                                          </p:spTgt>
                                        </p:tgtEl>
                                        <p:attrNameLst>
                                          <p:attrName>style.visibility</p:attrName>
                                        </p:attrNameLst>
                                      </p:cBhvr>
                                      <p:to>
                                        <p:strVal val="visible"/>
                                      </p:to>
                                    </p:set>
                                    <p:animEffect transition="in" filter="fade">
                                      <p:cBhvr>
                                        <p:cTn id="7" dur="1000"/>
                                        <p:tgtEl>
                                          <p:spTgt spid="7">
                                            <p:bg/>
                                          </p:spTgt>
                                        </p:tgtEl>
                                      </p:cBhvr>
                                    </p:animEffect>
                                    <p:anim calcmode="lin" valueType="num">
                                      <p:cBhvr>
                                        <p:cTn id="8" dur="1000" fill="hold"/>
                                        <p:tgtEl>
                                          <p:spTgt spid="7">
                                            <p:bg/>
                                          </p:spTgt>
                                        </p:tgtEl>
                                        <p:attrNameLst>
                                          <p:attrName>ppt_x</p:attrName>
                                        </p:attrNameLst>
                                      </p:cBhvr>
                                      <p:tavLst>
                                        <p:tav tm="0">
                                          <p:val>
                                            <p:strVal val="#ppt_x"/>
                                          </p:val>
                                        </p:tav>
                                        <p:tav tm="100000">
                                          <p:val>
                                            <p:strVal val="#ppt_x"/>
                                          </p:val>
                                        </p:tav>
                                      </p:tavLst>
                                    </p:anim>
                                    <p:anim calcmode="lin" valueType="num">
                                      <p:cBhvr>
                                        <p:cTn id="9" dur="1000" fill="hold"/>
                                        <p:tgtEl>
                                          <p:spTgt spid="7">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1000"/>
                                        <p:tgtEl>
                                          <p:spTgt spid="6">
                                            <p:txEl>
                                              <p:pRg st="0" end="0"/>
                                            </p:txEl>
                                          </p:spTgt>
                                        </p:tgtEl>
                                      </p:cBhvr>
                                    </p:animEffect>
                                    <p:anim calcmode="lin" valueType="num">
                                      <p:cBhvr>
                                        <p:cTn id="22"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0" end="0"/>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6">
                                            <p:txEl>
                                              <p:pRg st="1" end="1"/>
                                            </p:txEl>
                                          </p:spTgt>
                                        </p:tgtEl>
                                        <p:attrNameLst>
                                          <p:attrName>style.visibility</p:attrName>
                                        </p:attrNameLst>
                                      </p:cBhvr>
                                      <p:to>
                                        <p:strVal val="visible"/>
                                      </p:to>
                                    </p:set>
                                    <p:animEffect transition="in" filter="fade">
                                      <p:cBhvr>
                                        <p:cTn id="26" dur="1000"/>
                                        <p:tgtEl>
                                          <p:spTgt spid="6">
                                            <p:txEl>
                                              <p:pRg st="1" end="1"/>
                                            </p:txEl>
                                          </p:spTgt>
                                        </p:tgtEl>
                                      </p:cBhvr>
                                    </p:animEffect>
                                    <p:anim calcmode="lin" valueType="num">
                                      <p:cBhvr>
                                        <p:cTn id="27"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1" end="1"/>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6">
                                            <p:txEl>
                                              <p:pRg st="2" end="2"/>
                                            </p:txEl>
                                          </p:spTgt>
                                        </p:tgtEl>
                                        <p:attrNameLst>
                                          <p:attrName>style.visibility</p:attrName>
                                        </p:attrNameLst>
                                      </p:cBhvr>
                                      <p:to>
                                        <p:strVal val="visible"/>
                                      </p:to>
                                    </p:set>
                                    <p:animEffect transition="in" filter="fade">
                                      <p:cBhvr>
                                        <p:cTn id="31" dur="1000"/>
                                        <p:tgtEl>
                                          <p:spTgt spid="6">
                                            <p:txEl>
                                              <p:pRg st="2" end="2"/>
                                            </p:txEl>
                                          </p:spTgt>
                                        </p:tgtEl>
                                      </p:cBhvr>
                                    </p:animEffect>
                                    <p:anim calcmode="lin" valueType="num">
                                      <p:cBhvr>
                                        <p:cTn id="32"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33" dur="1000" fill="hold"/>
                                        <p:tgtEl>
                                          <p:spTgt spid="6">
                                            <p:txEl>
                                              <p:pRg st="2" end="2"/>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6">
                                            <p:txEl>
                                              <p:pRg st="3" end="3"/>
                                            </p:txEl>
                                          </p:spTgt>
                                        </p:tgtEl>
                                        <p:attrNameLst>
                                          <p:attrName>style.visibility</p:attrName>
                                        </p:attrNameLst>
                                      </p:cBhvr>
                                      <p:to>
                                        <p:strVal val="visible"/>
                                      </p:to>
                                    </p:set>
                                    <p:animEffect transition="in" filter="fade">
                                      <p:cBhvr>
                                        <p:cTn id="36" dur="1000"/>
                                        <p:tgtEl>
                                          <p:spTgt spid="6">
                                            <p:txEl>
                                              <p:pRg st="3" end="3"/>
                                            </p:txEl>
                                          </p:spTgt>
                                        </p:tgtEl>
                                      </p:cBhvr>
                                    </p:animEffect>
                                    <p:anim calcmode="lin" valueType="num">
                                      <p:cBhvr>
                                        <p:cTn id="37"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8" dur="1000" fill="hold"/>
                                        <p:tgtEl>
                                          <p:spTgt spid="6">
                                            <p:txEl>
                                              <p:pRg st="3" end="3"/>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6">
                                            <p:txEl>
                                              <p:pRg st="4" end="4"/>
                                            </p:txEl>
                                          </p:spTgt>
                                        </p:tgtEl>
                                        <p:attrNameLst>
                                          <p:attrName>style.visibility</p:attrName>
                                        </p:attrNameLst>
                                      </p:cBhvr>
                                      <p:to>
                                        <p:strVal val="visible"/>
                                      </p:to>
                                    </p:set>
                                    <p:animEffect transition="in" filter="fade">
                                      <p:cBhvr>
                                        <p:cTn id="41" dur="1000"/>
                                        <p:tgtEl>
                                          <p:spTgt spid="6">
                                            <p:txEl>
                                              <p:pRg st="4" end="4"/>
                                            </p:txEl>
                                          </p:spTgt>
                                        </p:tgtEl>
                                      </p:cBhvr>
                                    </p:animEffect>
                                    <p:anim calcmode="lin" valueType="num">
                                      <p:cBhvr>
                                        <p:cTn id="42"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43"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39667" y="1462067"/>
            <a:ext cx="7777220" cy="4696361"/>
          </a:xfrm>
        </p:spPr>
        <p:txBody>
          <a:bodyPr/>
          <a:lstStyle/>
          <a:p>
            <a:pPr>
              <a:buNone/>
            </a:pPr>
            <a:r>
              <a:rPr lang="en-US" dirty="0" smtClean="0"/>
              <a:t>Despite its power, Essential use fullness and universal applicability statistics has its own limitation and imperfections, which are as under,</a:t>
            </a:r>
          </a:p>
          <a:p>
            <a:r>
              <a:rPr lang="en-US" dirty="0" smtClean="0"/>
              <a:t>Statistics does not study individual.</a:t>
            </a:r>
          </a:p>
          <a:p>
            <a:r>
              <a:rPr lang="en-US" dirty="0" smtClean="0"/>
              <a:t>Statistics does not study qualitative phenomena</a:t>
            </a:r>
          </a:p>
          <a:p>
            <a:r>
              <a:rPr lang="en-US" dirty="0" smtClean="0"/>
              <a:t>Statistics data do not reveal the story</a:t>
            </a:r>
          </a:p>
          <a:p>
            <a:r>
              <a:rPr lang="en-US" dirty="0" smtClean="0"/>
              <a:t>Statistical results are not always unquestionable</a:t>
            </a:r>
          </a:p>
          <a:p>
            <a:r>
              <a:rPr lang="en-US" dirty="0" smtClean="0"/>
              <a:t>Statistical laws are true on the average or in the long run</a:t>
            </a:r>
          </a:p>
          <a:p>
            <a:r>
              <a:rPr lang="en-US" dirty="0" smtClean="0"/>
              <a:t>Statically result might leads to fallacious conclusions if they are quote without their context or If they are manipulated</a:t>
            </a:r>
          </a:p>
          <a:p>
            <a:r>
              <a:rPr lang="en-US" dirty="0" smtClean="0"/>
              <a:t>Statistical data are liable to be misused easily.</a:t>
            </a:r>
            <a:endParaRPr lang="en-US" dirty="0"/>
          </a:p>
        </p:txBody>
      </p:sp>
      <p:sp>
        <p:nvSpPr>
          <p:cNvPr id="6" name="Content Placeholder 3"/>
          <p:cNvSpPr>
            <a:spLocks noGrp="1"/>
          </p:cNvSpPr>
          <p:nvPr>
            <p:ph sz="quarter" idx="2"/>
          </p:nvPr>
        </p:nvSpPr>
        <p:spPr>
          <a:xfrm>
            <a:off x="2257540" y="481569"/>
            <a:ext cx="3449197" cy="642151"/>
          </a:xfrm>
        </p:spPr>
        <p:style>
          <a:lnRef idx="2">
            <a:schemeClr val="accent1"/>
          </a:lnRef>
          <a:fillRef idx="1">
            <a:schemeClr val="lt1"/>
          </a:fillRef>
          <a:effectRef idx="0">
            <a:schemeClr val="accent1"/>
          </a:effectRef>
          <a:fontRef idx="minor">
            <a:schemeClr val="dk1"/>
          </a:fontRef>
        </p:style>
        <p:txBody>
          <a:bodyPr/>
          <a:lstStyle/>
          <a:p>
            <a:pPr algn="ctr">
              <a:buNone/>
            </a:pPr>
            <a:r>
              <a:rPr lang="en-US" sz="2800" dirty="0" smtClean="0"/>
              <a:t>Limitation of Statistics</a:t>
            </a:r>
            <a:endParaRPr lang="en-US" sz="2800" dirty="0"/>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1000"/>
                                        <p:tgtEl>
                                          <p:spTgt spid="6">
                                            <p:bg/>
                                          </p:spTgt>
                                        </p:tgtEl>
                                      </p:cBhvr>
                                    </p:animEffect>
                                    <p:anim calcmode="lin" valueType="num">
                                      <p:cBhvr>
                                        <p:cTn id="8" dur="1000" fill="hold"/>
                                        <p:tgtEl>
                                          <p:spTgt spid="6">
                                            <p:bg/>
                                          </p:spTgt>
                                        </p:tgtEl>
                                        <p:attrNameLst>
                                          <p:attrName>ppt_x</p:attrName>
                                        </p:attrNameLst>
                                      </p:cBhvr>
                                      <p:tavLst>
                                        <p:tav tm="0">
                                          <p:val>
                                            <p:strVal val="#ppt_x"/>
                                          </p:val>
                                        </p:tav>
                                        <p:tav tm="100000">
                                          <p:val>
                                            <p:strVal val="#ppt_x"/>
                                          </p:val>
                                        </p:tav>
                                      </p:tavLst>
                                    </p:anim>
                                    <p:anim calcmode="lin" valueType="num">
                                      <p:cBhvr>
                                        <p:cTn id="9" dur="1000" fill="hold"/>
                                        <p:tgtEl>
                                          <p:spTgt spid="6">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anim calcmode="lin" valueType="num">
                                      <p:cBhvr>
                                        <p:cTn id="15"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Effect transition="in" filter="fade">
                                      <p:cBhvr>
                                        <p:cTn id="21" dur="1000"/>
                                        <p:tgtEl>
                                          <p:spTgt spid="3">
                                            <p:txEl>
                                              <p:pRg st="0" end="0"/>
                                            </p:txEl>
                                          </p:spTgt>
                                        </p:tgtEl>
                                      </p:cBhvr>
                                    </p:animEffect>
                                    <p:anim calcmode="lin" valueType="num">
                                      <p:cBhvr>
                                        <p:cTn id="22"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0" end="0"/>
                                            </p:txEl>
                                          </p:spTgt>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3">
                                            <p:txEl>
                                              <p:pRg st="1" end="1"/>
                                            </p:txEl>
                                          </p:spTgt>
                                        </p:tgtEl>
                                        <p:attrNameLst>
                                          <p:attrName>style.visibility</p:attrName>
                                        </p:attrNameLst>
                                      </p:cBhvr>
                                      <p:to>
                                        <p:strVal val="visible"/>
                                      </p:to>
                                    </p:set>
                                    <p:animEffect transition="in" filter="fade">
                                      <p:cBhvr>
                                        <p:cTn id="26" dur="1000"/>
                                        <p:tgtEl>
                                          <p:spTgt spid="3">
                                            <p:txEl>
                                              <p:pRg st="1" end="1"/>
                                            </p:txEl>
                                          </p:spTgt>
                                        </p:tgtEl>
                                      </p:cBhvr>
                                    </p:animEffect>
                                    <p:anim calcmode="lin" valueType="num">
                                      <p:cBhvr>
                                        <p:cTn id="27"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Effect transition="in" filter="fade">
                                      <p:cBhvr>
                                        <p:cTn id="31" dur="1000"/>
                                        <p:tgtEl>
                                          <p:spTgt spid="3">
                                            <p:txEl>
                                              <p:pRg st="2" end="2"/>
                                            </p:txEl>
                                          </p:spTgt>
                                        </p:tgtEl>
                                      </p:cBhvr>
                                    </p:animEffect>
                                    <p:anim calcmode="lin" valueType="num">
                                      <p:cBhvr>
                                        <p:cTn id="3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2" end="2"/>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3">
                                            <p:txEl>
                                              <p:pRg st="3" end="3"/>
                                            </p:txEl>
                                          </p:spTgt>
                                        </p:tgtEl>
                                        <p:attrNameLst>
                                          <p:attrName>style.visibility</p:attrName>
                                        </p:attrNameLst>
                                      </p:cBhvr>
                                      <p:to>
                                        <p:strVal val="visible"/>
                                      </p:to>
                                    </p:set>
                                    <p:animEffect transition="in" filter="fade">
                                      <p:cBhvr>
                                        <p:cTn id="36" dur="1000"/>
                                        <p:tgtEl>
                                          <p:spTgt spid="3">
                                            <p:txEl>
                                              <p:pRg st="3" end="3"/>
                                            </p:txEl>
                                          </p:spTgt>
                                        </p:tgtEl>
                                      </p:cBhvr>
                                    </p:animEffect>
                                    <p:anim calcmode="lin" valueType="num">
                                      <p:cBhvr>
                                        <p:cTn id="3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fade">
                                      <p:cBhvr>
                                        <p:cTn id="41" dur="1000"/>
                                        <p:tgtEl>
                                          <p:spTgt spid="3">
                                            <p:txEl>
                                              <p:pRg st="4" end="4"/>
                                            </p:txEl>
                                          </p:spTgt>
                                        </p:tgtEl>
                                      </p:cBhvr>
                                    </p:animEffect>
                                    <p:anim calcmode="lin" valueType="num">
                                      <p:cBhvr>
                                        <p:cTn id="4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4" end="4"/>
                                            </p:txEl>
                                          </p:spTgt>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3">
                                            <p:txEl>
                                              <p:pRg st="5" end="5"/>
                                            </p:txEl>
                                          </p:spTgt>
                                        </p:tgtEl>
                                        <p:attrNameLst>
                                          <p:attrName>style.visibility</p:attrName>
                                        </p:attrNameLst>
                                      </p:cBhvr>
                                      <p:to>
                                        <p:strVal val="visible"/>
                                      </p:to>
                                    </p:set>
                                    <p:animEffect transition="in" filter="fade">
                                      <p:cBhvr>
                                        <p:cTn id="46" dur="1000"/>
                                        <p:tgtEl>
                                          <p:spTgt spid="3">
                                            <p:txEl>
                                              <p:pRg st="5" end="5"/>
                                            </p:txEl>
                                          </p:spTgt>
                                        </p:tgtEl>
                                      </p:cBhvr>
                                    </p:animEffect>
                                    <p:anim calcmode="lin" valueType="num">
                                      <p:cBhvr>
                                        <p:cTn id="4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8" dur="1000" fill="hold"/>
                                        <p:tgtEl>
                                          <p:spTgt spid="3">
                                            <p:txEl>
                                              <p:pRg st="5" end="5"/>
                                            </p:txEl>
                                          </p:spTgt>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3">
                                            <p:txEl>
                                              <p:pRg st="6" end="6"/>
                                            </p:txEl>
                                          </p:spTgt>
                                        </p:tgtEl>
                                        <p:attrNameLst>
                                          <p:attrName>style.visibility</p:attrName>
                                        </p:attrNameLst>
                                      </p:cBhvr>
                                      <p:to>
                                        <p:strVal val="visible"/>
                                      </p:to>
                                    </p:set>
                                    <p:animEffect transition="in" filter="fade">
                                      <p:cBhvr>
                                        <p:cTn id="51" dur="1000"/>
                                        <p:tgtEl>
                                          <p:spTgt spid="3">
                                            <p:txEl>
                                              <p:pRg st="6" end="6"/>
                                            </p:txEl>
                                          </p:spTgt>
                                        </p:tgtEl>
                                      </p:cBhvr>
                                    </p:animEffect>
                                    <p:anim calcmode="lin" valueType="num">
                                      <p:cBhvr>
                                        <p:cTn id="5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3" dur="1000" fill="hold"/>
                                        <p:tgtEl>
                                          <p:spTgt spid="3">
                                            <p:txEl>
                                              <p:pRg st="6" end="6"/>
                                            </p:txEl>
                                          </p:spTgt>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build="p"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28649" y="1825625"/>
            <a:ext cx="7534849" cy="4509074"/>
          </a:xfrm>
        </p:spPr>
        <p:txBody>
          <a:bodyPr/>
          <a:lstStyle/>
          <a:p>
            <a:pPr algn="just">
              <a:buNone/>
            </a:pPr>
            <a:r>
              <a:rPr lang="en-US" dirty="0" smtClean="0"/>
              <a:t>Statistics clearly has real world applications in all of the subjects you list. </a:t>
            </a:r>
          </a:p>
          <a:p>
            <a:pPr algn="just">
              <a:buNone/>
            </a:pPr>
            <a:r>
              <a:rPr lang="en-US" i="1" dirty="0" smtClean="0"/>
              <a:t>Accounting</a:t>
            </a:r>
            <a:r>
              <a:rPr lang="en-US" dirty="0" smtClean="0"/>
              <a:t> - Random sampling is frequently used by accounting firms when accounts (like travel expenses) are relatively small and inconsequential. You can use a random sample to estimate the quality of the whole population of accounts. </a:t>
            </a:r>
            <a:br>
              <a:rPr lang="en-US" dirty="0" smtClean="0"/>
            </a:br>
            <a:endParaRPr lang="en-US" dirty="0" smtClean="0"/>
          </a:p>
          <a:p>
            <a:pPr algn="just">
              <a:buNone/>
            </a:pPr>
            <a:r>
              <a:rPr lang="en-US" i="1" dirty="0" smtClean="0"/>
              <a:t>Finance</a:t>
            </a:r>
            <a:r>
              <a:rPr lang="en-US" dirty="0" smtClean="0"/>
              <a:t> - Trend analysis and correlation are common when making economic forecasts. </a:t>
            </a:r>
            <a:br>
              <a:rPr lang="en-US" dirty="0" smtClean="0"/>
            </a:br>
            <a:r>
              <a:rPr lang="en-US" dirty="0" smtClean="0"/>
              <a:t/>
            </a:r>
            <a:br>
              <a:rPr lang="en-US" dirty="0" smtClean="0"/>
            </a:br>
            <a:endParaRPr lang="en-US" dirty="0"/>
          </a:p>
        </p:txBody>
      </p:sp>
      <p:sp>
        <p:nvSpPr>
          <p:cNvPr id="6" name="Content Placeholder 3"/>
          <p:cNvSpPr>
            <a:spLocks noGrp="1"/>
          </p:cNvSpPr>
          <p:nvPr>
            <p:ph sz="quarter" idx="2"/>
          </p:nvPr>
        </p:nvSpPr>
        <p:spPr>
          <a:xfrm>
            <a:off x="2257540" y="481569"/>
            <a:ext cx="4506817" cy="708253"/>
          </a:xfrm>
        </p:spPr>
        <p:style>
          <a:lnRef idx="2">
            <a:schemeClr val="accent1"/>
          </a:lnRef>
          <a:fillRef idx="1">
            <a:schemeClr val="lt1"/>
          </a:fillRef>
          <a:effectRef idx="0">
            <a:schemeClr val="accent1"/>
          </a:effectRef>
          <a:fontRef idx="minor">
            <a:schemeClr val="dk1"/>
          </a:fontRef>
        </p:style>
        <p:txBody>
          <a:bodyPr/>
          <a:lstStyle/>
          <a:p>
            <a:pPr algn="ctr">
              <a:buNone/>
            </a:pPr>
            <a:r>
              <a:rPr lang="en-US" sz="2800" dirty="0" smtClean="0"/>
              <a:t>Uses of Statistics in Business</a:t>
            </a:r>
            <a:endParaRPr lang="en-US" sz="2800" dirty="0"/>
          </a:p>
        </p:txBody>
      </p:sp>
    </p:spTree>
  </p:cSld>
  <p:clrMapOvr>
    <a:masterClrMapping/>
  </p:clrMapOvr>
  <p:transition>
    <p:zo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28650" y="1395967"/>
            <a:ext cx="7777220" cy="4971782"/>
          </a:xfrm>
        </p:spPr>
        <p:txBody>
          <a:bodyPr/>
          <a:lstStyle/>
          <a:p>
            <a:pPr algn="just">
              <a:buNone/>
            </a:pPr>
            <a:r>
              <a:rPr lang="en-US" i="1" dirty="0" smtClean="0"/>
              <a:t>Management</a:t>
            </a:r>
            <a:r>
              <a:rPr lang="en-US" dirty="0" smtClean="0"/>
              <a:t> - Sampling of opinion polls and data pertaining to personnel. These are often summarized with estimates of errors. </a:t>
            </a:r>
          </a:p>
          <a:p>
            <a:pPr algn="just">
              <a:buNone/>
            </a:pPr>
            <a:r>
              <a:rPr lang="en-US" i="1" dirty="0" smtClean="0"/>
              <a:t>Marketing</a:t>
            </a:r>
            <a:r>
              <a:rPr lang="en-US" dirty="0" smtClean="0"/>
              <a:t> - Customer surveys, correlations between advertising outlays and increased revenues. Estimates of market sizes uses sampling. Product quality is also a rich field for statistical analysis. </a:t>
            </a:r>
          </a:p>
          <a:p>
            <a:pPr algn="just">
              <a:buNone/>
            </a:pPr>
            <a:r>
              <a:rPr lang="en-US" i="1" dirty="0" smtClean="0"/>
              <a:t>Banking</a:t>
            </a:r>
            <a:r>
              <a:rPr lang="en-US" dirty="0" smtClean="0"/>
              <a:t>: Banking institute have found if increasingly to establish research department within their organization for the purpose of gathering and analysis information, not only regarding their own business but also regarding general economic situation and every segment of business in which they may have interest. </a:t>
            </a:r>
          </a:p>
          <a:p>
            <a:pPr>
              <a:buNone/>
            </a:pPr>
            <a:endParaRPr lang="en-US" dirty="0"/>
          </a:p>
        </p:txBody>
      </p:sp>
      <p:sp>
        <p:nvSpPr>
          <p:cNvPr id="6" name="Content Placeholder 3"/>
          <p:cNvSpPr>
            <a:spLocks noGrp="1"/>
          </p:cNvSpPr>
          <p:nvPr>
            <p:ph sz="quarter" idx="2"/>
          </p:nvPr>
        </p:nvSpPr>
        <p:spPr>
          <a:xfrm>
            <a:off x="2257540" y="481569"/>
            <a:ext cx="4506817" cy="708253"/>
          </a:xfrm>
        </p:spPr>
        <p:style>
          <a:lnRef idx="2">
            <a:schemeClr val="accent1"/>
          </a:lnRef>
          <a:fillRef idx="1">
            <a:schemeClr val="lt1"/>
          </a:fillRef>
          <a:effectRef idx="0">
            <a:schemeClr val="accent1"/>
          </a:effectRef>
          <a:fontRef idx="minor">
            <a:schemeClr val="dk1"/>
          </a:fontRef>
        </p:style>
        <p:txBody>
          <a:bodyPr/>
          <a:lstStyle/>
          <a:p>
            <a:pPr algn="ctr">
              <a:buNone/>
            </a:pPr>
            <a:r>
              <a:rPr lang="en-US" sz="2800" dirty="0" smtClean="0"/>
              <a:t>Uses of Statistics in Business</a:t>
            </a:r>
            <a:endParaRPr lang="en-US" sz="2800" dirty="0"/>
          </a:p>
        </p:txBody>
      </p:sp>
    </p:spTree>
  </p:cSld>
  <p:clrMapOvr>
    <a:masterClrMapping/>
  </p:clrMapOvr>
  <p:transition>
    <p:zo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21866" y="2239257"/>
            <a:ext cx="3794125" cy="1194642"/>
          </a:xfrm>
        </p:spPr>
        <p:txBody>
          <a:bodyPr/>
          <a:lstStyle/>
          <a:p>
            <a:r>
              <a:rPr lang="en-US" sz="2800" dirty="0" smtClean="0"/>
              <a:t>Thank You Very much</a:t>
            </a:r>
            <a:br>
              <a:rPr lang="en-US" sz="2800" dirty="0" smtClean="0"/>
            </a:br>
            <a:r>
              <a:rPr lang="en-US" sz="2800" dirty="0" smtClean="0"/>
              <a:t>See you later</a:t>
            </a:r>
            <a:endParaRPr lang="en-US" sz="2800" dirty="0"/>
          </a:p>
        </p:txBody>
      </p:sp>
    </p:spTree>
  </p:cSld>
  <p:clrMapOvr>
    <a:masterClrMapping/>
  </p:clrMapOvr>
  <p:transition>
    <p:zoom/>
  </p:transition>
  <p:timing>
    <p:tnLst>
      <p:par>
        <p:cTn id="1" dur="indefinite" restart="never" nodeType="tmRoot"/>
      </p:par>
    </p:tnLst>
  </p:timing>
</p:sld>
</file>

<file path=ppt/theme/theme1.xml><?xml version="1.0" encoding="utf-8"?>
<a:theme xmlns:a="http://schemas.openxmlformats.org/drawingml/2006/main" name="LINDT">
  <a:themeElements>
    <a:clrScheme name="">
      <a:dk1>
        <a:srgbClr val="000000"/>
      </a:dk1>
      <a:lt1>
        <a:srgbClr val="FFEAC5"/>
      </a:lt1>
      <a:dk2>
        <a:srgbClr val="FFFFFF"/>
      </a:dk2>
      <a:lt2>
        <a:srgbClr val="808080"/>
      </a:lt2>
      <a:accent1>
        <a:srgbClr val="FF6600"/>
      </a:accent1>
      <a:accent2>
        <a:srgbClr val="6A789C"/>
      </a:accent2>
      <a:accent3>
        <a:srgbClr val="FFF3DF"/>
      </a:accent3>
      <a:accent4>
        <a:srgbClr val="000000"/>
      </a:accent4>
      <a:accent5>
        <a:srgbClr val="FFB8AA"/>
      </a:accent5>
      <a:accent6>
        <a:srgbClr val="5F6C8D"/>
      </a:accent6>
      <a:hlink>
        <a:srgbClr val="EAFC9C"/>
      </a:hlink>
      <a:folHlink>
        <a:srgbClr val="B2B2B2"/>
      </a:folHlink>
    </a:clrScheme>
    <a:fontScheme name="LINDT">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1" u="none" strike="noStrike" cap="none" normalizeH="0" baseline="0" smtClean="0">
            <a:ln>
              <a:noFill/>
            </a:ln>
            <a:solidFill>
              <a:srgbClr val="FFCC00"/>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1" u="none" strike="noStrike" cap="none" normalizeH="0" baseline="0" smtClean="0">
            <a:ln>
              <a:noFill/>
            </a:ln>
            <a:solidFill>
              <a:srgbClr val="FFCC00"/>
            </a:solidFill>
            <a:effectLst/>
            <a:latin typeface="Times New Roman" panose="02020603050405020304" pitchFamily="18" charset="0"/>
          </a:defRPr>
        </a:defPPr>
      </a:lstStyle>
    </a:lnDef>
  </a:objectDefaults>
  <a:extraClrSchemeLst>
    <a:extraClrScheme>
      <a:clrScheme name="LIND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IND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INDT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INDT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INDT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INDT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INDT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B07E0A197365045BAADC1BA69E208F6" ma:contentTypeVersion="7" ma:contentTypeDescription="Create a new document." ma:contentTypeScope="" ma:versionID="50e3b56ed0b5328d7e479d584526dd68">
  <xsd:schema xmlns:xsd="http://www.w3.org/2001/XMLSchema" xmlns:xs="http://www.w3.org/2001/XMLSchema" xmlns:p="http://schemas.microsoft.com/office/2006/metadata/properties" xmlns:ns2="ddefad68-299a-45a1-aeb7-e6ae0d2d3333" targetNamespace="http://schemas.microsoft.com/office/2006/metadata/properties" ma:root="true" ma:fieldsID="673c24554e710447af16be272b637f7f" ns2:_="">
    <xsd:import namespace="ddefad68-299a-45a1-aeb7-e6ae0d2d333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efad68-299a-45a1-aeb7-e6ae0d2d333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1A92284-70ED-4148-84D7-487A08648BCE}"/>
</file>

<file path=customXml/itemProps2.xml><?xml version="1.0" encoding="utf-8"?>
<ds:datastoreItem xmlns:ds="http://schemas.openxmlformats.org/officeDocument/2006/customXml" ds:itemID="{4E2A9737-F2BE-46CE-972C-F1221B108472}"/>
</file>

<file path=customXml/itemProps3.xml><?xml version="1.0" encoding="utf-8"?>
<ds:datastoreItem xmlns:ds="http://schemas.openxmlformats.org/officeDocument/2006/customXml" ds:itemID="{14507CE1-2BCF-4E31-84B6-A52EEC530040}"/>
</file>

<file path=docProps/app.xml><?xml version="1.0" encoding="utf-8"?>
<Properties xmlns="http://schemas.openxmlformats.org/officeDocument/2006/extended-properties" xmlns:vt="http://schemas.openxmlformats.org/officeDocument/2006/docPropsVTypes">
  <Template>E:\July2001-PowerPoint\LindT.pot</Template>
  <TotalTime>907</TotalTime>
  <Words>1441</Words>
  <Application>Microsoft Office PowerPoint</Application>
  <PresentationFormat>On-screen Show (4:3)</PresentationFormat>
  <Paragraphs>177</Paragraphs>
  <Slides>32</Slides>
  <Notes>0</Notes>
  <HiddenSlides>0</HiddenSlides>
  <MMClips>0</MMClips>
  <ScaleCrop>false</ScaleCrop>
  <HeadingPairs>
    <vt:vector size="6" baseType="variant">
      <vt:variant>
        <vt:lpstr>Theme</vt:lpstr>
      </vt:variant>
      <vt:variant>
        <vt:i4>1</vt:i4>
      </vt:variant>
      <vt:variant>
        <vt:lpstr>Embedded OLE Servers</vt:lpstr>
      </vt:variant>
      <vt:variant>
        <vt:i4>4</vt:i4>
      </vt:variant>
      <vt:variant>
        <vt:lpstr>Slide Titles</vt:lpstr>
      </vt:variant>
      <vt:variant>
        <vt:i4>32</vt:i4>
      </vt:variant>
    </vt:vector>
  </HeadingPairs>
  <TitlesOfParts>
    <vt:vector size="37" baseType="lpstr">
      <vt:lpstr>LINDT</vt:lpstr>
      <vt:lpstr>Flash Document</vt:lpstr>
      <vt:lpstr>Equation</vt:lpstr>
      <vt:lpstr>Clip</vt:lpstr>
      <vt:lpstr>MS Org Chart</vt:lpstr>
      <vt:lpstr>Basic Statistics and Probability (STA-231)</vt:lpstr>
      <vt:lpstr>Ahammad Hossain Lecturer Department of Natural Science Email: ahammadstatru@gmail.com ahammad@vu.edu.bd Website: www. ahammadvu.wix.com/profile Cell: 01762327094</vt:lpstr>
      <vt:lpstr>Slide 3</vt:lpstr>
      <vt:lpstr>Slide 4</vt:lpstr>
      <vt:lpstr>Goals</vt:lpstr>
      <vt:lpstr>What is Meant by Statistics?</vt:lpstr>
      <vt:lpstr>Who Uses Statistics?</vt:lpstr>
      <vt:lpstr>Types of Statistics</vt:lpstr>
      <vt:lpstr>Example Descriptive Statistics</vt:lpstr>
      <vt:lpstr>Slide 10</vt:lpstr>
      <vt:lpstr>Example of Inferential Statistics</vt:lpstr>
      <vt:lpstr>Types of Statistics (examples of inferential statistics)</vt:lpstr>
      <vt:lpstr>Slide 13</vt:lpstr>
      <vt:lpstr>Slide 14</vt:lpstr>
      <vt:lpstr>Slide 15</vt:lpstr>
      <vt:lpstr>Types of Variables </vt:lpstr>
      <vt:lpstr>Types of Variables</vt:lpstr>
      <vt:lpstr>Types of Variables</vt:lpstr>
      <vt:lpstr>Types of Variables</vt:lpstr>
      <vt:lpstr>Summary of Types of Variables</vt:lpstr>
      <vt:lpstr>Levels of Measurement</vt:lpstr>
      <vt:lpstr>Nominal data</vt:lpstr>
      <vt:lpstr>Levels of Measurement</vt:lpstr>
      <vt:lpstr>Levels of Measurement</vt:lpstr>
      <vt:lpstr>Levels of Measurement</vt:lpstr>
      <vt:lpstr>Slide 26</vt:lpstr>
      <vt:lpstr>Slide 27</vt:lpstr>
      <vt:lpstr>Slide 28</vt:lpstr>
      <vt:lpstr>Slide 29</vt:lpstr>
      <vt:lpstr>Slide 30</vt:lpstr>
      <vt:lpstr>Slide 31</vt:lpstr>
      <vt:lpstr>Thank You Very much See you later</vt:lpstr>
    </vt:vector>
  </TitlesOfParts>
  <Company>MCGRAW-HILL</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bethany_stubbe</dc:creator>
  <cp:lastModifiedBy>Ahammad</cp:lastModifiedBy>
  <cp:revision>147</cp:revision>
  <dcterms:created xsi:type="dcterms:W3CDTF">1998-07-27T15:17:12Z</dcterms:created>
  <dcterms:modified xsi:type="dcterms:W3CDTF">2016-01-09T11:08:42Z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0x010100FB07E0A197365045BAADC1BA69E208F6</vt:lpwstr>
  </property>
</Properties>
</file>