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6" r:id="rId1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60" y="6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Gothic Uralic"/>
                <a:cs typeface="Gothic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Gothic Uralic"/>
                <a:cs typeface="Gothic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Gothic Uralic"/>
                <a:cs typeface="Gothic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218164" y="2930664"/>
            <a:ext cx="973834" cy="102259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276076" y="2962655"/>
            <a:ext cx="913130" cy="913130"/>
          </a:xfrm>
          <a:custGeom>
            <a:avLst/>
            <a:gdLst/>
            <a:ahLst/>
            <a:cxnLst/>
            <a:rect l="l" t="t" r="r" b="b"/>
            <a:pathLst>
              <a:path w="913129" h="913129">
                <a:moveTo>
                  <a:pt x="912876" y="0"/>
                </a:moveTo>
                <a:lnTo>
                  <a:pt x="0" y="912749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148571" y="3157727"/>
            <a:ext cx="3043427" cy="30921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206483" y="3189731"/>
            <a:ext cx="2981960" cy="2981960"/>
          </a:xfrm>
          <a:custGeom>
            <a:avLst/>
            <a:gdLst/>
            <a:ahLst/>
            <a:cxnLst/>
            <a:rect l="l" t="t" r="r" b="b"/>
            <a:pathLst>
              <a:path w="2981959" h="2981960">
                <a:moveTo>
                  <a:pt x="2981833" y="0"/>
                </a:moveTo>
                <a:lnTo>
                  <a:pt x="0" y="2981858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233659" y="3253740"/>
            <a:ext cx="1958339" cy="20071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291571" y="3285743"/>
            <a:ext cx="1896745" cy="1896745"/>
          </a:xfrm>
          <a:custGeom>
            <a:avLst/>
            <a:gdLst/>
            <a:ahLst/>
            <a:cxnLst/>
            <a:rect l="l" t="t" r="r" b="b"/>
            <a:pathLst>
              <a:path w="1896745" h="1896745">
                <a:moveTo>
                  <a:pt x="1896491" y="0"/>
                </a:moveTo>
                <a:lnTo>
                  <a:pt x="0" y="189649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5392" y="3093720"/>
            <a:ext cx="1816607" cy="18729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443209" y="3132581"/>
            <a:ext cx="1746250" cy="1746250"/>
          </a:xfrm>
          <a:custGeom>
            <a:avLst/>
            <a:gdLst/>
            <a:ahLst/>
            <a:cxnLst/>
            <a:rect l="l" t="t" r="r" b="b"/>
            <a:pathLst>
              <a:path w="1746250" h="1746250">
                <a:moveTo>
                  <a:pt x="1745742" y="0"/>
                </a:moveTo>
                <a:lnTo>
                  <a:pt x="0" y="174574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0852404" y="3645408"/>
            <a:ext cx="1339594" cy="139750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920221" y="368427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1270000" y="0"/>
                </a:moveTo>
                <a:lnTo>
                  <a:pt x="0" y="1269999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25314" y="699008"/>
            <a:ext cx="236855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Gothic Uralic"/>
                <a:cs typeface="Gothic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7719" y="1416867"/>
            <a:ext cx="9805670" cy="408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46074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48755" y="0"/>
            <a:ext cx="6157595" cy="6253480"/>
            <a:chOff x="6048755" y="0"/>
            <a:chExt cx="6157595" cy="6253480"/>
          </a:xfrm>
        </p:grpSpPr>
        <p:sp>
          <p:nvSpPr>
            <p:cNvPr id="4" name="object 4"/>
            <p:cNvSpPr/>
            <p:nvPr/>
          </p:nvSpPr>
          <p:spPr>
            <a:xfrm>
              <a:off x="8168639" y="0"/>
              <a:ext cx="3922776" cy="38999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8076" y="9144"/>
              <a:ext cx="3810000" cy="3810000"/>
            </a:xfrm>
            <a:custGeom>
              <a:avLst/>
              <a:gdLst/>
              <a:ahLst/>
              <a:cxnLst/>
              <a:rect l="l" t="t" r="r" b="b"/>
              <a:pathLst>
                <a:path w="3810000" h="3810000">
                  <a:moveTo>
                    <a:pt x="3810000" y="0"/>
                  </a:moveTo>
                  <a:lnTo>
                    <a:pt x="0" y="38100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755" y="57911"/>
              <a:ext cx="6143243" cy="61950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08191" y="91439"/>
              <a:ext cx="6080760" cy="6080760"/>
            </a:xfrm>
            <a:custGeom>
              <a:avLst/>
              <a:gdLst/>
              <a:ahLst/>
              <a:cxnLst/>
              <a:rect l="l" t="t" r="r" b="b"/>
              <a:pathLst>
                <a:path w="6080759" h="6080760">
                  <a:moveTo>
                    <a:pt x="6080633" y="0"/>
                  </a:moveTo>
                  <a:lnTo>
                    <a:pt x="0" y="6080658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76516" y="195071"/>
              <a:ext cx="5015483" cy="50673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5952" y="228600"/>
              <a:ext cx="4953000" cy="4953000"/>
            </a:xfrm>
            <a:custGeom>
              <a:avLst/>
              <a:gdLst/>
              <a:ahLst/>
              <a:cxnLst/>
              <a:rect l="l" t="t" r="r" b="b"/>
              <a:pathLst>
                <a:path w="4953000" h="4953000">
                  <a:moveTo>
                    <a:pt x="4953000" y="0"/>
                  </a:moveTo>
                  <a:lnTo>
                    <a:pt x="0" y="49530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67955" y="0"/>
              <a:ext cx="4924043" cy="49758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37297" y="32765"/>
              <a:ext cx="4853305" cy="4853305"/>
            </a:xfrm>
            <a:custGeom>
              <a:avLst/>
              <a:gdLst/>
              <a:ahLst/>
              <a:cxnLst/>
              <a:rect l="l" t="t" r="r" b="b"/>
              <a:pathLst>
                <a:path w="4853305" h="4853305">
                  <a:moveTo>
                    <a:pt x="4853051" y="0"/>
                  </a:moveTo>
                  <a:lnTo>
                    <a:pt x="0" y="4853051"/>
                  </a:lnTo>
                </a:path>
              </a:pathLst>
            </a:custGeom>
            <a:ln w="317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76972" y="571500"/>
              <a:ext cx="4415028" cy="447141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46313" y="610362"/>
              <a:ext cx="4343400" cy="4343400"/>
            </a:xfrm>
            <a:custGeom>
              <a:avLst/>
              <a:gdLst/>
              <a:ahLst/>
              <a:cxnLst/>
              <a:rect l="l" t="t" r="r" b="b"/>
              <a:pathLst>
                <a:path w="4343400" h="4343400">
                  <a:moveTo>
                    <a:pt x="4343400" y="0"/>
                  </a:moveTo>
                  <a:lnTo>
                    <a:pt x="0" y="4343400"/>
                  </a:lnTo>
                </a:path>
              </a:pathLst>
            </a:custGeom>
            <a:ln w="317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925314" y="699008"/>
            <a:ext cx="261848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 smtClean="0"/>
              <a:t>CSE-4</a:t>
            </a:r>
            <a:r>
              <a:rPr lang="en-US" spc="-5" dirty="0" smtClean="0"/>
              <a:t>21</a:t>
            </a:r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xfrm>
            <a:off x="1207719" y="1416867"/>
            <a:ext cx="9805670" cy="4230004"/>
          </a:xfrm>
          <a:prstGeom prst="rect">
            <a:avLst/>
          </a:prstGeom>
        </p:spPr>
        <p:txBody>
          <a:bodyPr vert="horz" wrap="square" lIns="0" tIns="391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85"/>
              </a:spcBef>
            </a:pPr>
            <a:r>
              <a:rPr spc="-10" dirty="0" smtClean="0"/>
              <a:t>Computer </a:t>
            </a:r>
            <a:r>
              <a:rPr spc="-10" dirty="0"/>
              <a:t>Graphics</a:t>
            </a:r>
            <a:r>
              <a:rPr spc="-10" smtClean="0"/>
              <a:t>:</a:t>
            </a:r>
            <a:r>
              <a:rPr lang="en-US" spc="-10" smtClean="0"/>
              <a:t>  </a:t>
            </a:r>
          </a:p>
          <a:p>
            <a:pPr algn="ctr">
              <a:lnSpc>
                <a:spcPct val="100000"/>
              </a:lnSpc>
              <a:spcBef>
                <a:spcPts val="3085"/>
              </a:spcBef>
            </a:pPr>
            <a:r>
              <a:rPr spc="-10" smtClean="0"/>
              <a:t>2D</a:t>
            </a:r>
            <a:r>
              <a:rPr spc="-25" smtClean="0"/>
              <a:t> </a:t>
            </a:r>
            <a:r>
              <a:rPr spc="-40" dirty="0"/>
              <a:t>Transformations</a:t>
            </a:r>
          </a:p>
          <a:p>
            <a:pPr algn="ctr">
              <a:lnSpc>
                <a:spcPct val="100000"/>
              </a:lnSpc>
              <a:spcBef>
                <a:spcPts val="2745"/>
              </a:spcBef>
            </a:pPr>
            <a:r>
              <a:rPr sz="4400" b="1" spc="-5" dirty="0" smtClean="0">
                <a:solidFill>
                  <a:srgbClr val="303829"/>
                </a:solidFill>
                <a:latin typeface="Carlito"/>
                <a:cs typeface="Carlito"/>
              </a:rPr>
              <a:t>Lecture-01</a:t>
            </a:r>
            <a:endParaRPr sz="4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500"/>
              </a:spcBef>
            </a:pPr>
            <a:r>
              <a:rPr sz="4000" b="1" spc="-45" dirty="0">
                <a:latin typeface="Carlito"/>
                <a:cs typeface="Carlito"/>
              </a:rPr>
              <a:t>Lecturer, </a:t>
            </a:r>
            <a:r>
              <a:rPr sz="4000" b="1" spc="-50" dirty="0">
                <a:latin typeface="Carlito"/>
                <a:cs typeface="Carlito"/>
              </a:rPr>
              <a:t>Varendra</a:t>
            </a:r>
            <a:r>
              <a:rPr sz="4000" b="1" spc="85" dirty="0">
                <a:latin typeface="Carlito"/>
                <a:cs typeface="Carlito"/>
              </a:rPr>
              <a:t> </a:t>
            </a:r>
            <a:r>
              <a:rPr sz="4000" b="1" spc="-15" dirty="0">
                <a:latin typeface="Carlito"/>
                <a:cs typeface="Carlito"/>
              </a:rPr>
              <a:t>University</a:t>
            </a:r>
            <a:endParaRPr sz="4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9079" y="450850"/>
            <a:ext cx="3740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rlito"/>
                <a:cs typeface="Carlito"/>
              </a:rPr>
              <a:t>2D</a:t>
            </a:r>
            <a:r>
              <a:rPr sz="3600" b="1" spc="-30" dirty="0">
                <a:latin typeface="Carlito"/>
                <a:cs typeface="Carlito"/>
              </a:rPr>
              <a:t> Transformations</a:t>
            </a:r>
            <a:endParaRPr sz="36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079" y="1554606"/>
            <a:ext cx="10663555" cy="4440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rlito"/>
                <a:cs typeface="Carlito"/>
              </a:rPr>
              <a:t>“Transformations are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operations </a:t>
            </a:r>
            <a:r>
              <a:rPr sz="2800" spc="-5" dirty="0">
                <a:latin typeface="Carlito"/>
                <a:cs typeface="Carlito"/>
              </a:rPr>
              <a:t>applied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geometrical description</a:t>
            </a:r>
            <a:r>
              <a:rPr sz="2800" spc="2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of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Carlito"/>
                <a:cs typeface="Carlito"/>
              </a:rPr>
              <a:t>an object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change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0" dirty="0">
                <a:latin typeface="Carlito"/>
                <a:cs typeface="Carlito"/>
              </a:rPr>
              <a:t>position, </a:t>
            </a:r>
            <a:r>
              <a:rPr sz="2800" spc="-15" dirty="0">
                <a:latin typeface="Carlito"/>
                <a:cs typeface="Carlito"/>
              </a:rPr>
              <a:t>orientation,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25" dirty="0">
                <a:latin typeface="Carlito"/>
                <a:cs typeface="Carlito"/>
              </a:rPr>
              <a:t>size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called</a:t>
            </a:r>
            <a:r>
              <a:rPr sz="2800" spc="24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geometric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800" spc="-30" dirty="0">
                <a:latin typeface="Carlito"/>
                <a:cs typeface="Carlito"/>
              </a:rPr>
              <a:t>transformations”.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800" spc="-10" dirty="0">
                <a:latin typeface="Carlito"/>
                <a:cs typeface="Carlito"/>
              </a:rPr>
              <a:t>Given </a:t>
            </a:r>
            <a:r>
              <a:rPr sz="2800" spc="-5" dirty="0">
                <a:latin typeface="Carlito"/>
                <a:cs typeface="Carlito"/>
              </a:rPr>
              <a:t>a 2D </a:t>
            </a:r>
            <a:r>
              <a:rPr sz="2800" spc="-10" dirty="0">
                <a:latin typeface="Carlito"/>
                <a:cs typeface="Carlito"/>
              </a:rPr>
              <a:t>object, </a:t>
            </a:r>
            <a:r>
              <a:rPr sz="2800" spc="-20" dirty="0">
                <a:latin typeface="Carlito"/>
                <a:cs typeface="Carlito"/>
              </a:rPr>
              <a:t>transformation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change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15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object’s</a:t>
            </a:r>
            <a:endParaRPr sz="2800">
              <a:latin typeface="Carlito"/>
              <a:cs typeface="Carlito"/>
            </a:endParaRPr>
          </a:p>
          <a:p>
            <a:pPr marL="271780" indent="-259079">
              <a:lnSpc>
                <a:spcPct val="100000"/>
              </a:lnSpc>
              <a:spcBef>
                <a:spcPts val="1680"/>
              </a:spcBef>
              <a:buChar char="–"/>
              <a:tabLst>
                <a:tab pos="271780" algn="l"/>
              </a:tabLst>
            </a:pPr>
            <a:r>
              <a:rPr sz="2800" i="1" spc="-15" dirty="0">
                <a:latin typeface="Carlito"/>
                <a:cs typeface="Carlito"/>
              </a:rPr>
              <a:t>Position</a:t>
            </a:r>
            <a:r>
              <a:rPr sz="2800" i="1" spc="-5" dirty="0">
                <a:latin typeface="Carlito"/>
                <a:cs typeface="Carlito"/>
              </a:rPr>
              <a:t> (translation)</a:t>
            </a:r>
            <a:endParaRPr sz="2800">
              <a:latin typeface="Carlito"/>
              <a:cs typeface="Carlito"/>
            </a:endParaRPr>
          </a:p>
          <a:p>
            <a:pPr marL="271780" indent="-259079">
              <a:lnSpc>
                <a:spcPct val="100000"/>
              </a:lnSpc>
              <a:spcBef>
                <a:spcPts val="1680"/>
              </a:spcBef>
              <a:buChar char="–"/>
              <a:tabLst>
                <a:tab pos="271780" algn="l"/>
              </a:tabLst>
            </a:pPr>
            <a:r>
              <a:rPr sz="2800" i="1" spc="-20" dirty="0">
                <a:latin typeface="Carlito"/>
                <a:cs typeface="Carlito"/>
              </a:rPr>
              <a:t>Size</a:t>
            </a:r>
            <a:r>
              <a:rPr sz="2800" i="1" spc="-5" dirty="0">
                <a:latin typeface="Carlito"/>
                <a:cs typeface="Carlito"/>
              </a:rPr>
              <a:t> (scaling)</a:t>
            </a:r>
            <a:endParaRPr sz="2800">
              <a:latin typeface="Carlito"/>
              <a:cs typeface="Carlito"/>
            </a:endParaRPr>
          </a:p>
          <a:p>
            <a:pPr marL="271780" indent="-259079">
              <a:lnSpc>
                <a:spcPct val="100000"/>
              </a:lnSpc>
              <a:spcBef>
                <a:spcPts val="1685"/>
              </a:spcBef>
              <a:buChar char="–"/>
              <a:tabLst>
                <a:tab pos="271780" algn="l"/>
              </a:tabLst>
            </a:pPr>
            <a:r>
              <a:rPr sz="2800" i="1" spc="-15" dirty="0">
                <a:latin typeface="Carlito"/>
                <a:cs typeface="Carlito"/>
              </a:rPr>
              <a:t>Orientation</a:t>
            </a:r>
            <a:r>
              <a:rPr sz="2800" i="1" spc="5" dirty="0">
                <a:latin typeface="Carlito"/>
                <a:cs typeface="Carlito"/>
              </a:rPr>
              <a:t> </a:t>
            </a:r>
            <a:r>
              <a:rPr sz="2800" i="1" spc="-10" dirty="0">
                <a:latin typeface="Carlito"/>
                <a:cs typeface="Carlito"/>
              </a:rPr>
              <a:t>(rotation)</a:t>
            </a:r>
            <a:endParaRPr sz="2800">
              <a:latin typeface="Carlito"/>
              <a:cs typeface="Carlito"/>
            </a:endParaRPr>
          </a:p>
          <a:p>
            <a:pPr marL="271780" indent="-259079">
              <a:lnSpc>
                <a:spcPct val="100000"/>
              </a:lnSpc>
              <a:spcBef>
                <a:spcPts val="1680"/>
              </a:spcBef>
              <a:buChar char="–"/>
              <a:tabLst>
                <a:tab pos="271780" algn="l"/>
              </a:tabLst>
            </a:pPr>
            <a:r>
              <a:rPr sz="2800" i="1" spc="-10" dirty="0">
                <a:latin typeface="Carlito"/>
                <a:cs typeface="Carlito"/>
              </a:rPr>
              <a:t>Shapes</a:t>
            </a:r>
            <a:r>
              <a:rPr sz="2800" i="1" spc="-5" dirty="0">
                <a:latin typeface="Carlito"/>
                <a:cs typeface="Carlito"/>
              </a:rPr>
              <a:t> </a:t>
            </a:r>
            <a:r>
              <a:rPr sz="2800" i="1" spc="-10" dirty="0">
                <a:latin typeface="Carlito"/>
                <a:cs typeface="Carlito"/>
              </a:rPr>
              <a:t>(shear)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7316" y="640207"/>
            <a:ext cx="575208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5" dirty="0">
                <a:latin typeface="Carlito"/>
                <a:cs typeface="Carlito"/>
              </a:rPr>
              <a:t>Point</a:t>
            </a:r>
            <a:r>
              <a:rPr sz="4400" b="1" spc="-80" dirty="0">
                <a:latin typeface="Carlito"/>
                <a:cs typeface="Carlito"/>
              </a:rPr>
              <a:t> </a:t>
            </a:r>
            <a:r>
              <a:rPr sz="4400" b="1" spc="-20" dirty="0">
                <a:latin typeface="Carlito"/>
                <a:cs typeface="Carlito"/>
              </a:rPr>
              <a:t>Representation</a:t>
            </a:r>
            <a:endParaRPr sz="44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79291" y="3001264"/>
            <a:ext cx="36830" cy="750570"/>
          </a:xfrm>
          <a:custGeom>
            <a:avLst/>
            <a:gdLst/>
            <a:ahLst/>
            <a:cxnLst/>
            <a:rect l="l" t="t" r="r" b="b"/>
            <a:pathLst>
              <a:path w="36829" h="750570">
                <a:moveTo>
                  <a:pt x="36449" y="0"/>
                </a:moveTo>
                <a:lnTo>
                  <a:pt x="0" y="0"/>
                </a:lnTo>
                <a:lnTo>
                  <a:pt x="0" y="750188"/>
                </a:lnTo>
                <a:lnTo>
                  <a:pt x="36449" y="750188"/>
                </a:lnTo>
                <a:lnTo>
                  <a:pt x="36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69335" y="3001264"/>
            <a:ext cx="36830" cy="750570"/>
          </a:xfrm>
          <a:custGeom>
            <a:avLst/>
            <a:gdLst/>
            <a:ahLst/>
            <a:cxnLst/>
            <a:rect l="l" t="t" r="r" b="b"/>
            <a:pathLst>
              <a:path w="36830" h="750570">
                <a:moveTo>
                  <a:pt x="36449" y="0"/>
                </a:moveTo>
                <a:lnTo>
                  <a:pt x="0" y="0"/>
                </a:lnTo>
                <a:lnTo>
                  <a:pt x="0" y="750188"/>
                </a:lnTo>
                <a:lnTo>
                  <a:pt x="36449" y="750188"/>
                </a:lnTo>
                <a:lnTo>
                  <a:pt x="36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77316" y="1783924"/>
            <a:ext cx="9887585" cy="286258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234950" indent="-222885">
              <a:lnSpc>
                <a:spcPct val="100000"/>
              </a:lnSpc>
              <a:spcBef>
                <a:spcPts val="1780"/>
              </a:spcBef>
              <a:buFont typeface="Arial"/>
              <a:buChar char="•"/>
              <a:tabLst>
                <a:tab pos="235585" algn="l"/>
              </a:tabLst>
            </a:pPr>
            <a:r>
              <a:rPr sz="2800" spc="-60" dirty="0">
                <a:latin typeface="Carlito"/>
                <a:cs typeface="Carlito"/>
              </a:rPr>
              <a:t>We </a:t>
            </a:r>
            <a:r>
              <a:rPr sz="2800" spc="-10" dirty="0">
                <a:latin typeface="Carlito"/>
                <a:cs typeface="Carlito"/>
              </a:rPr>
              <a:t>can </a:t>
            </a:r>
            <a:r>
              <a:rPr sz="2800" spc="-5" dirty="0">
                <a:latin typeface="Carlito"/>
                <a:cs typeface="Carlito"/>
              </a:rPr>
              <a:t>use a </a:t>
            </a:r>
            <a:r>
              <a:rPr sz="2800" spc="-10" dirty="0">
                <a:latin typeface="Carlito"/>
                <a:cs typeface="Carlito"/>
              </a:rPr>
              <a:t>column </a:t>
            </a:r>
            <a:r>
              <a:rPr sz="2800" spc="-15" dirty="0">
                <a:latin typeface="Carlito"/>
                <a:cs typeface="Carlito"/>
              </a:rPr>
              <a:t>vector </a:t>
            </a:r>
            <a:r>
              <a:rPr sz="2800" spc="-5" dirty="0">
                <a:latin typeface="Carlito"/>
                <a:cs typeface="Carlito"/>
              </a:rPr>
              <a:t>(a 2x1 </a:t>
            </a:r>
            <a:r>
              <a:rPr sz="2800" spc="-10" dirty="0">
                <a:latin typeface="Carlito"/>
                <a:cs typeface="Carlito"/>
              </a:rPr>
              <a:t>matrix) </a:t>
            </a:r>
            <a:r>
              <a:rPr sz="2800" spc="-15" dirty="0">
                <a:latin typeface="Carlito"/>
                <a:cs typeface="Carlito"/>
              </a:rPr>
              <a:t>to represent </a:t>
            </a:r>
            <a:r>
              <a:rPr sz="2800" spc="-5" dirty="0">
                <a:latin typeface="Carlito"/>
                <a:cs typeface="Carlito"/>
              </a:rPr>
              <a:t>a 2D</a:t>
            </a:r>
            <a:r>
              <a:rPr sz="2800" spc="2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point.</a:t>
            </a:r>
            <a:endParaRPr sz="2800" dirty="0">
              <a:latin typeface="Carlito"/>
              <a:cs typeface="Carlito"/>
            </a:endParaRPr>
          </a:p>
          <a:p>
            <a:pPr marL="2286635">
              <a:lnSpc>
                <a:spcPts val="4270"/>
              </a:lnSpc>
              <a:spcBef>
                <a:spcPts val="2165"/>
              </a:spcBef>
            </a:pPr>
            <a:r>
              <a:rPr sz="3600" spc="-785" dirty="0">
                <a:latin typeface="Arial"/>
                <a:cs typeface="Arial"/>
              </a:rPr>
              <a:t>𝑥</a:t>
            </a:r>
            <a:endParaRPr sz="3600" dirty="0">
              <a:latin typeface="Arial"/>
              <a:cs typeface="Arial"/>
            </a:endParaRPr>
          </a:p>
          <a:p>
            <a:pPr marL="2283460">
              <a:lnSpc>
                <a:spcPts val="4270"/>
              </a:lnSpc>
            </a:pPr>
            <a:r>
              <a:rPr sz="3600" spc="-690" dirty="0">
                <a:latin typeface="Arial"/>
                <a:cs typeface="Arial"/>
              </a:rPr>
              <a:t>𝑦</a:t>
            </a:r>
            <a:endParaRPr sz="36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29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Carlito"/>
                <a:cs typeface="Carlito"/>
              </a:rPr>
              <a:t>Apply a </a:t>
            </a:r>
            <a:r>
              <a:rPr sz="2800" spc="-10" dirty="0">
                <a:latin typeface="Carlito"/>
                <a:cs typeface="Carlito"/>
              </a:rPr>
              <a:t>sequence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matrix multiplications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object</a:t>
            </a:r>
            <a:r>
              <a:rPr sz="2800" spc="229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vertices.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7400" y="609600"/>
            <a:ext cx="7865364" cy="5513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0580" y="362711"/>
            <a:ext cx="8138159" cy="5419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867" y="486917"/>
            <a:ext cx="10925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Gothic Uralic"/>
                <a:cs typeface="Gothic Uralic"/>
              </a:rPr>
              <a:t>Translation is </a:t>
            </a:r>
            <a:r>
              <a:rPr sz="2400" b="1" dirty="0">
                <a:latin typeface="Gothic Uralic"/>
                <a:cs typeface="Gothic Uralic"/>
              </a:rPr>
              <a:t>a </a:t>
            </a:r>
            <a:r>
              <a:rPr sz="2400" b="1" spc="-5" dirty="0">
                <a:latin typeface="Gothic Uralic"/>
                <a:cs typeface="Gothic Uralic"/>
              </a:rPr>
              <a:t>process of changing </a:t>
            </a:r>
            <a:r>
              <a:rPr sz="2400" b="1" dirty="0">
                <a:latin typeface="Gothic Uralic"/>
                <a:cs typeface="Gothic Uralic"/>
              </a:rPr>
              <a:t>the </a:t>
            </a:r>
            <a:r>
              <a:rPr sz="2400" b="1" spc="-5" dirty="0">
                <a:latin typeface="Gothic Uralic"/>
                <a:cs typeface="Gothic Uralic"/>
              </a:rPr>
              <a:t>position of an object in </a:t>
            </a:r>
            <a:r>
              <a:rPr sz="2400" b="1" dirty="0">
                <a:latin typeface="Gothic Uralic"/>
                <a:cs typeface="Gothic Uralic"/>
              </a:rPr>
              <a:t>a straight-  </a:t>
            </a:r>
            <a:r>
              <a:rPr sz="2400" b="1" spc="-5" dirty="0">
                <a:latin typeface="Gothic Uralic"/>
                <a:cs typeface="Gothic Uralic"/>
              </a:rPr>
              <a:t>line path from one coordinate </a:t>
            </a:r>
            <a:r>
              <a:rPr sz="2400" b="1" dirty="0">
                <a:latin typeface="Gothic Uralic"/>
                <a:cs typeface="Gothic Uralic"/>
              </a:rPr>
              <a:t>location to</a:t>
            </a:r>
            <a:r>
              <a:rPr sz="2400" b="1" spc="40" dirty="0">
                <a:latin typeface="Gothic Uralic"/>
                <a:cs typeface="Gothic Uralic"/>
              </a:rPr>
              <a:t> </a:t>
            </a:r>
            <a:r>
              <a:rPr sz="2400" b="1" spc="-5" dirty="0">
                <a:latin typeface="Gothic Uralic"/>
                <a:cs typeface="Gothic Uralic"/>
              </a:rPr>
              <a:t>another.</a:t>
            </a:r>
            <a:endParaRPr sz="2400">
              <a:latin typeface="Gothic Uralic"/>
              <a:cs typeface="Gothic Ural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86371" y="1726692"/>
            <a:ext cx="413003" cy="585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08431" y="1097280"/>
            <a:ext cx="11296650" cy="5099685"/>
            <a:chOff x="408431" y="1097280"/>
            <a:chExt cx="11296650" cy="5099685"/>
          </a:xfrm>
        </p:grpSpPr>
        <p:sp>
          <p:nvSpPr>
            <p:cNvPr id="5" name="object 5"/>
            <p:cNvSpPr/>
            <p:nvPr/>
          </p:nvSpPr>
          <p:spPr>
            <a:xfrm>
              <a:off x="8199120" y="1097280"/>
              <a:ext cx="2708148" cy="19446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2311" y="3745991"/>
              <a:ext cx="3416808" cy="24505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8431" y="3288791"/>
              <a:ext cx="11296650" cy="0"/>
            </a:xfrm>
            <a:custGeom>
              <a:avLst/>
              <a:gdLst/>
              <a:ahLst/>
              <a:cxnLst/>
              <a:rect l="l" t="t" r="r" b="b"/>
              <a:pathLst>
                <a:path w="11296650">
                  <a:moveTo>
                    <a:pt x="0" y="0"/>
                  </a:moveTo>
                  <a:lnTo>
                    <a:pt x="11296396" y="0"/>
                  </a:lnTo>
                </a:path>
              </a:pathLst>
            </a:custGeom>
            <a:ln w="114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739" y="656590"/>
            <a:ext cx="73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90909"/>
                </a:solidFill>
                <a:latin typeface="Trebuchet MS"/>
                <a:cs typeface="Trebuchet MS"/>
              </a:rPr>
              <a:t>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867" y="1488078"/>
            <a:ext cx="6219825" cy="1412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i="1" spc="-30" dirty="0">
                <a:solidFill>
                  <a:srgbClr val="7E0000"/>
                </a:solidFill>
                <a:latin typeface="Trebuchet MS"/>
                <a:cs typeface="Trebuchet MS"/>
              </a:rPr>
              <a:t>Example: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1600" spc="65" dirty="0">
                <a:solidFill>
                  <a:srgbClr val="090909"/>
                </a:solidFill>
                <a:latin typeface="Trebuchet MS"/>
                <a:cs typeface="Trebuchet MS"/>
              </a:rPr>
              <a:t>The </a:t>
            </a:r>
            <a:r>
              <a:rPr sz="1600" spc="40" dirty="0">
                <a:solidFill>
                  <a:srgbClr val="090909"/>
                </a:solidFill>
                <a:latin typeface="Trebuchet MS"/>
                <a:cs typeface="Trebuchet MS"/>
              </a:rPr>
              <a:t>triangle </a:t>
            </a:r>
            <a:r>
              <a:rPr sz="1650" i="1" spc="-15" dirty="0">
                <a:solidFill>
                  <a:srgbClr val="090909"/>
                </a:solidFill>
                <a:latin typeface="Trebuchet MS"/>
                <a:cs typeface="Trebuchet MS"/>
              </a:rPr>
              <a:t>P </a:t>
            </a:r>
            <a:r>
              <a:rPr sz="1600" spc="80" dirty="0">
                <a:solidFill>
                  <a:srgbClr val="090909"/>
                </a:solidFill>
                <a:latin typeface="Trebuchet MS"/>
                <a:cs typeface="Trebuchet MS"/>
              </a:rPr>
              <a:t>is </a:t>
            </a:r>
            <a:r>
              <a:rPr sz="1600" spc="90" dirty="0">
                <a:solidFill>
                  <a:srgbClr val="090909"/>
                </a:solidFill>
                <a:latin typeface="Trebuchet MS"/>
                <a:cs typeface="Trebuchet MS"/>
              </a:rPr>
              <a:t>mapped </a:t>
            </a:r>
            <a:r>
              <a:rPr sz="1600" spc="80" dirty="0">
                <a:solidFill>
                  <a:srgbClr val="090909"/>
                </a:solidFill>
                <a:latin typeface="Trebuchet MS"/>
                <a:cs typeface="Trebuchet MS"/>
              </a:rPr>
              <a:t>onto </a:t>
            </a:r>
            <a:r>
              <a:rPr sz="1600" spc="30" dirty="0">
                <a:solidFill>
                  <a:srgbClr val="090909"/>
                </a:solidFill>
                <a:latin typeface="Trebuchet MS"/>
                <a:cs typeface="Trebuchet MS"/>
              </a:rPr>
              <a:t>the </a:t>
            </a:r>
            <a:r>
              <a:rPr sz="1600" spc="40" dirty="0">
                <a:solidFill>
                  <a:srgbClr val="090909"/>
                </a:solidFill>
                <a:latin typeface="Trebuchet MS"/>
                <a:cs typeface="Trebuchet MS"/>
              </a:rPr>
              <a:t>triangle </a:t>
            </a:r>
            <a:r>
              <a:rPr sz="1650" i="1" spc="125" dirty="0">
                <a:solidFill>
                  <a:srgbClr val="090909"/>
                </a:solidFill>
                <a:latin typeface="Trebuchet MS"/>
                <a:cs typeface="Trebuchet MS"/>
              </a:rPr>
              <a:t>Q </a:t>
            </a:r>
            <a:r>
              <a:rPr sz="1600" spc="75" dirty="0">
                <a:solidFill>
                  <a:srgbClr val="090909"/>
                </a:solidFill>
                <a:latin typeface="Trebuchet MS"/>
                <a:cs typeface="Trebuchet MS"/>
              </a:rPr>
              <a:t>by </a:t>
            </a:r>
            <a:r>
              <a:rPr sz="1600" spc="30" dirty="0">
                <a:solidFill>
                  <a:srgbClr val="090909"/>
                </a:solidFill>
                <a:latin typeface="Trebuchet MS"/>
                <a:cs typeface="Trebuchet MS"/>
              </a:rPr>
              <a:t>the</a:t>
            </a:r>
            <a:r>
              <a:rPr sz="1600" spc="-235" dirty="0">
                <a:solidFill>
                  <a:srgbClr val="090909"/>
                </a:solidFill>
                <a:latin typeface="Trebuchet MS"/>
                <a:cs typeface="Trebuchet MS"/>
              </a:rPr>
              <a:t> </a:t>
            </a:r>
            <a:r>
              <a:rPr sz="1600" spc="45" dirty="0">
                <a:solidFill>
                  <a:srgbClr val="090909"/>
                </a:solidFill>
                <a:latin typeface="Trebuchet MS"/>
                <a:cs typeface="Trebuchet MS"/>
              </a:rPr>
              <a:t>translation</a:t>
            </a:r>
            <a:endParaRPr sz="1600">
              <a:latin typeface="Trebuchet MS"/>
              <a:cs typeface="Trebuchet MS"/>
            </a:endParaRPr>
          </a:p>
          <a:p>
            <a:pPr marL="255904" indent="-243840">
              <a:lnSpc>
                <a:spcPts val="1975"/>
              </a:lnSpc>
              <a:spcBef>
                <a:spcPts val="1055"/>
              </a:spcBef>
              <a:buAutoNum type="alphaLcParenR"/>
              <a:tabLst>
                <a:tab pos="256540" algn="l"/>
              </a:tabLst>
            </a:pPr>
            <a:r>
              <a:rPr sz="1600" spc="55" dirty="0">
                <a:solidFill>
                  <a:srgbClr val="090909"/>
                </a:solidFill>
                <a:latin typeface="Trebuchet MS"/>
                <a:cs typeface="Trebuchet MS"/>
              </a:rPr>
              <a:t>Find </a:t>
            </a:r>
            <a:r>
              <a:rPr sz="1600" spc="30" dirty="0">
                <a:solidFill>
                  <a:srgbClr val="090909"/>
                </a:solidFill>
                <a:latin typeface="Trebuchet MS"/>
                <a:cs typeface="Trebuchet MS"/>
              </a:rPr>
              <a:t>the </a:t>
            </a:r>
            <a:r>
              <a:rPr sz="1600" spc="60" dirty="0">
                <a:solidFill>
                  <a:srgbClr val="090909"/>
                </a:solidFill>
                <a:latin typeface="Trebuchet MS"/>
                <a:cs typeface="Trebuchet MS"/>
              </a:rPr>
              <a:t>coordinates </a:t>
            </a:r>
            <a:r>
              <a:rPr sz="1600" spc="55" dirty="0">
                <a:solidFill>
                  <a:srgbClr val="090909"/>
                </a:solidFill>
                <a:latin typeface="Trebuchet MS"/>
                <a:cs typeface="Trebuchet MS"/>
              </a:rPr>
              <a:t>of </a:t>
            </a:r>
            <a:r>
              <a:rPr sz="1600" spc="40" dirty="0">
                <a:solidFill>
                  <a:srgbClr val="090909"/>
                </a:solidFill>
                <a:latin typeface="Trebuchet MS"/>
                <a:cs typeface="Trebuchet MS"/>
              </a:rPr>
              <a:t>triangle</a:t>
            </a:r>
            <a:r>
              <a:rPr sz="1600" spc="25" dirty="0">
                <a:solidFill>
                  <a:srgbClr val="090909"/>
                </a:solidFill>
                <a:latin typeface="Trebuchet MS"/>
                <a:cs typeface="Trebuchet MS"/>
              </a:rPr>
              <a:t> </a:t>
            </a:r>
            <a:r>
              <a:rPr sz="1650" i="1" spc="20" dirty="0">
                <a:solidFill>
                  <a:srgbClr val="090909"/>
                </a:solidFill>
                <a:latin typeface="Trebuchet MS"/>
                <a:cs typeface="Trebuchet MS"/>
              </a:rPr>
              <a:t>Q</a:t>
            </a:r>
            <a:r>
              <a:rPr sz="1600" spc="20" dirty="0">
                <a:solidFill>
                  <a:srgbClr val="090909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  <a:p>
            <a:pPr marL="272415" indent="-260350">
              <a:lnSpc>
                <a:spcPts val="1975"/>
              </a:lnSpc>
              <a:buAutoNum type="alphaLcParenR"/>
              <a:tabLst>
                <a:tab pos="273050" algn="l"/>
              </a:tabLst>
            </a:pPr>
            <a:r>
              <a:rPr sz="1600" spc="135" dirty="0">
                <a:solidFill>
                  <a:srgbClr val="090909"/>
                </a:solidFill>
                <a:latin typeface="Trebuchet MS"/>
                <a:cs typeface="Trebuchet MS"/>
              </a:rPr>
              <a:t>On </a:t>
            </a:r>
            <a:r>
              <a:rPr sz="1600" spc="30" dirty="0">
                <a:solidFill>
                  <a:srgbClr val="090909"/>
                </a:solidFill>
                <a:latin typeface="Trebuchet MS"/>
                <a:cs typeface="Trebuchet MS"/>
              </a:rPr>
              <a:t>the </a:t>
            </a:r>
            <a:r>
              <a:rPr sz="1600" spc="55" dirty="0">
                <a:solidFill>
                  <a:srgbClr val="090909"/>
                </a:solidFill>
                <a:latin typeface="Trebuchet MS"/>
                <a:cs typeface="Trebuchet MS"/>
              </a:rPr>
              <a:t>diagram, </a:t>
            </a:r>
            <a:r>
              <a:rPr sz="1600" spc="50" dirty="0">
                <a:solidFill>
                  <a:srgbClr val="090909"/>
                </a:solidFill>
                <a:latin typeface="Trebuchet MS"/>
                <a:cs typeface="Trebuchet MS"/>
              </a:rPr>
              <a:t>draw </a:t>
            </a:r>
            <a:r>
              <a:rPr sz="1600" spc="85" dirty="0">
                <a:solidFill>
                  <a:srgbClr val="090909"/>
                </a:solidFill>
                <a:latin typeface="Trebuchet MS"/>
                <a:cs typeface="Trebuchet MS"/>
              </a:rPr>
              <a:t>and </a:t>
            </a:r>
            <a:r>
              <a:rPr sz="1600" spc="20" dirty="0">
                <a:solidFill>
                  <a:srgbClr val="090909"/>
                </a:solidFill>
                <a:latin typeface="Trebuchet MS"/>
                <a:cs typeface="Trebuchet MS"/>
              </a:rPr>
              <a:t>label </a:t>
            </a:r>
            <a:r>
              <a:rPr sz="1600" spc="40" dirty="0">
                <a:solidFill>
                  <a:srgbClr val="090909"/>
                </a:solidFill>
                <a:latin typeface="Trebuchet MS"/>
                <a:cs typeface="Trebuchet MS"/>
              </a:rPr>
              <a:t>triangle</a:t>
            </a:r>
            <a:r>
              <a:rPr sz="1600" spc="-40" dirty="0">
                <a:solidFill>
                  <a:srgbClr val="090909"/>
                </a:solidFill>
                <a:latin typeface="Trebuchet MS"/>
                <a:cs typeface="Trebuchet MS"/>
              </a:rPr>
              <a:t> </a:t>
            </a:r>
            <a:r>
              <a:rPr sz="1650" i="1" spc="20" dirty="0">
                <a:solidFill>
                  <a:srgbClr val="090909"/>
                </a:solidFill>
                <a:latin typeface="Trebuchet MS"/>
                <a:cs typeface="Trebuchet MS"/>
              </a:rPr>
              <a:t>Q</a:t>
            </a:r>
            <a:r>
              <a:rPr sz="1600" spc="20" dirty="0">
                <a:solidFill>
                  <a:srgbClr val="090909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867" y="3506351"/>
            <a:ext cx="790575" cy="5600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i="1" spc="-15" dirty="0">
                <a:solidFill>
                  <a:srgbClr val="7E0000"/>
                </a:solidFill>
                <a:latin typeface="Trebuchet MS"/>
                <a:cs typeface="Trebuchet MS"/>
              </a:rPr>
              <a:t>Solution: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000" spc="-5" dirty="0">
                <a:solidFill>
                  <a:srgbClr val="090909"/>
                </a:solidFill>
                <a:latin typeface="Carlito"/>
                <a:cs typeface="Carlito"/>
              </a:rPr>
              <a:t>a)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98219" y="3803903"/>
            <a:ext cx="2311908" cy="2363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12463" y="3659200"/>
            <a:ext cx="2152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90909"/>
                </a:solidFill>
                <a:latin typeface="Carlito"/>
                <a:cs typeface="Carlito"/>
              </a:rPr>
              <a:t>b)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381000"/>
            <a:ext cx="11430000" cy="617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1832" y="416051"/>
            <a:ext cx="7554468" cy="5829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37031"/>
            <a:ext cx="11052048" cy="5583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911" y="352043"/>
            <a:ext cx="7662672" cy="5672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172" y="580644"/>
            <a:ext cx="6638544" cy="56967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9787" y="281940"/>
            <a:ext cx="9628631" cy="5852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204215"/>
            <a:ext cx="9139428" cy="60594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6800" y="484631"/>
            <a:ext cx="8817864" cy="5297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0327" y="504444"/>
            <a:ext cx="8199120" cy="5484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744" y="390143"/>
            <a:ext cx="8017764" cy="5852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0476" y="265175"/>
            <a:ext cx="8369808" cy="6123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4C739D2-D8C3-4EA9-B963-8C7E779E003F}"/>
</file>

<file path=customXml/itemProps2.xml><?xml version="1.0" encoding="utf-8"?>
<ds:datastoreItem xmlns:ds="http://schemas.openxmlformats.org/officeDocument/2006/customXml" ds:itemID="{31CDEFF3-6C2A-497A-9E67-4F1D4C9AE14A}"/>
</file>

<file path=customXml/itemProps3.xml><?xml version="1.0" encoding="utf-8"?>
<ds:datastoreItem xmlns:ds="http://schemas.openxmlformats.org/officeDocument/2006/customXml" ds:itemID="{57D874F2-FD53-4A69-AFC2-6AD3D114ECA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</TotalTime>
  <Words>160</Words>
  <Application>Microsoft Office PowerPoint</Application>
  <PresentationFormat>Widescreen</PresentationFormat>
  <Paragraphs>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Carlito</vt:lpstr>
      <vt:lpstr>Gothic Uralic</vt:lpstr>
      <vt:lpstr>Times New Roman</vt:lpstr>
      <vt:lpstr>Trebuchet MS</vt:lpstr>
      <vt:lpstr>Office Theme</vt:lpstr>
      <vt:lpstr>CSE-421</vt:lpstr>
      <vt:lpstr>2D Transformations</vt:lpstr>
      <vt:lpstr>Point Representation</vt:lpstr>
      <vt:lpstr>PowerPoint Presentation</vt:lpstr>
      <vt:lpstr>PowerPoint Presentation</vt:lpstr>
      <vt:lpstr>Translation is a process of changing the position of an object in a straight-  line path from one coordinate location to another.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Salma Akter lima</dc:creator>
  <cp:lastModifiedBy>Ayesha Akter Lima</cp:lastModifiedBy>
  <cp:revision>15</cp:revision>
  <dcterms:created xsi:type="dcterms:W3CDTF">2020-10-04T17:03:44Z</dcterms:created>
  <dcterms:modified xsi:type="dcterms:W3CDTF">2026-05-11T08:46:54Z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2020-10-04T00:00:00Z</vt:filetime>
  </property>
  <property fmtid="{D5CDD505-2E9C-101B-9397-08002B2CF9AE}" pid="5" name="ContentTypeId">
    <vt:lpwstr>0x010100DA4C64532606B24FAB5D656F866C042E</vt:lpwstr>
  </property>
</Properties>
</file>