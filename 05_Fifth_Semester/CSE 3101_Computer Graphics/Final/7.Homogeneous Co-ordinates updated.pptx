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77" r:id="rId9"/>
    <p:sldId id="260" r:id="rId10"/>
    <p:sldId id="261" r:id="rId11"/>
    <p:sldId id="262" r:id="rId12"/>
    <p:sldId id="263" r:id="rId13"/>
    <p:sldId id="264" r:id="rId14"/>
    <p:sldId id="265" r:id="rId15"/>
    <p:sldId id="269" r:id="rId16"/>
    <p:sldId id="270" r:id="rId17"/>
    <p:sldId id="266" r:id="rId18"/>
    <p:sldId id="267" r:id="rId19"/>
    <p:sldId id="268" r:id="rId20"/>
    <p:sldId id="271" r:id="rId21"/>
    <p:sldId id="272" r:id="rId22"/>
    <p:sldId id="273" r:id="rId23"/>
    <p:sldId id="286" r:id="rId24"/>
    <p:sldId id="281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60" y="6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1999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8076" y="609600"/>
            <a:ext cx="10972800" cy="5638800"/>
          </a:xfrm>
          <a:custGeom>
            <a:avLst/>
            <a:gdLst/>
            <a:ahLst/>
            <a:cxnLst/>
            <a:rect l="l" t="t" r="r" b="b"/>
            <a:pathLst>
              <a:path w="10972800" h="5638800">
                <a:moveTo>
                  <a:pt x="0" y="5638800"/>
                </a:moveTo>
                <a:lnTo>
                  <a:pt x="10972800" y="5638800"/>
                </a:lnTo>
                <a:lnTo>
                  <a:pt x="10972800" y="0"/>
                </a:lnTo>
                <a:lnTo>
                  <a:pt x="0" y="0"/>
                </a:lnTo>
                <a:lnTo>
                  <a:pt x="0" y="5638800"/>
                </a:lnTo>
                <a:close/>
              </a:path>
            </a:pathLst>
          </a:custGeom>
          <a:ln w="15875">
            <a:solidFill>
              <a:srgbClr val="B05E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782055" y="0"/>
            <a:ext cx="606551" cy="7589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782055" y="6097523"/>
            <a:ext cx="606551" cy="7589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1999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8076" y="609600"/>
            <a:ext cx="10972800" cy="5638800"/>
          </a:xfrm>
          <a:custGeom>
            <a:avLst/>
            <a:gdLst/>
            <a:ahLst/>
            <a:cxnLst/>
            <a:rect l="l" t="t" r="r" b="b"/>
            <a:pathLst>
              <a:path w="10972800" h="5638800">
                <a:moveTo>
                  <a:pt x="0" y="5638800"/>
                </a:moveTo>
                <a:lnTo>
                  <a:pt x="10972800" y="5638800"/>
                </a:lnTo>
                <a:lnTo>
                  <a:pt x="10972800" y="0"/>
                </a:lnTo>
                <a:lnTo>
                  <a:pt x="0" y="0"/>
                </a:lnTo>
                <a:lnTo>
                  <a:pt x="0" y="5638800"/>
                </a:lnTo>
                <a:close/>
              </a:path>
            </a:pathLst>
          </a:custGeom>
          <a:ln w="15875">
            <a:solidFill>
              <a:srgbClr val="B05E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782055" y="0"/>
            <a:ext cx="606551" cy="7589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782055" y="6097523"/>
            <a:ext cx="606551" cy="7589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1999" cy="68579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28672" y="1540763"/>
            <a:ext cx="7543800" cy="3836035"/>
          </a:xfrm>
          <a:custGeom>
            <a:avLst/>
            <a:gdLst/>
            <a:ahLst/>
            <a:cxnLst/>
            <a:rect l="l" t="t" r="r" b="b"/>
            <a:pathLst>
              <a:path w="7543800" h="3836035">
                <a:moveTo>
                  <a:pt x="0" y="3835908"/>
                </a:moveTo>
                <a:lnTo>
                  <a:pt x="7543800" y="3835908"/>
                </a:lnTo>
                <a:lnTo>
                  <a:pt x="7543800" y="0"/>
                </a:lnTo>
                <a:lnTo>
                  <a:pt x="0" y="0"/>
                </a:lnTo>
                <a:lnTo>
                  <a:pt x="0" y="3835908"/>
                </a:lnTo>
                <a:close/>
              </a:path>
            </a:pathLst>
          </a:custGeom>
          <a:ln w="15875">
            <a:solidFill>
              <a:srgbClr val="B05E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775960" y="0"/>
            <a:ext cx="612648" cy="16733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775960" y="5234940"/>
            <a:ext cx="612648" cy="162305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692908" y="3521964"/>
            <a:ext cx="6816090" cy="0"/>
          </a:xfrm>
          <a:custGeom>
            <a:avLst/>
            <a:gdLst/>
            <a:ahLst/>
            <a:cxnLst/>
            <a:rect l="l" t="t" r="r" b="b"/>
            <a:pathLst>
              <a:path w="6816090">
                <a:moveTo>
                  <a:pt x="0" y="0"/>
                </a:moveTo>
                <a:lnTo>
                  <a:pt x="6815709" y="0"/>
                </a:lnTo>
              </a:path>
            </a:pathLst>
          </a:custGeom>
          <a:ln w="15875">
            <a:solidFill>
              <a:srgbClr val="B05E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13861" y="786511"/>
            <a:ext cx="5764276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8377" y="1601571"/>
            <a:ext cx="7101840" cy="2777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81753" y="790778"/>
            <a:ext cx="2738247" cy="7444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 dirty="0">
                <a:solidFill>
                  <a:srgbClr val="582E13"/>
                </a:solidFill>
                <a:latin typeface="Gothic Uralic"/>
                <a:cs typeface="Gothic Uralic"/>
              </a:rPr>
              <a:t>CSE-421</a:t>
            </a:r>
            <a:endParaRPr sz="4800" dirty="0">
              <a:latin typeface="Gothic Uralic"/>
              <a:cs typeface="Gothic Ural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9876" y="1535277"/>
            <a:ext cx="10849610" cy="3652282"/>
          </a:xfrm>
          <a:prstGeom prst="rect">
            <a:avLst/>
          </a:prstGeom>
        </p:spPr>
        <p:txBody>
          <a:bodyPr vert="horz" wrap="square" lIns="0" tIns="3479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40"/>
              </a:spcBef>
            </a:pPr>
            <a:r>
              <a:rPr sz="4400" spc="-10" dirty="0">
                <a:solidFill>
                  <a:srgbClr val="582E13"/>
                </a:solidFill>
                <a:latin typeface="Carlito"/>
                <a:cs typeface="Carlito"/>
              </a:rPr>
              <a:t>Computer Graphics: </a:t>
            </a:r>
            <a:r>
              <a:rPr sz="4400" spc="-5" dirty="0">
                <a:solidFill>
                  <a:srgbClr val="582E13"/>
                </a:solidFill>
                <a:latin typeface="Carlito"/>
                <a:cs typeface="Carlito"/>
              </a:rPr>
              <a:t>Homogeneous</a:t>
            </a:r>
            <a:r>
              <a:rPr sz="4400" spc="-10" dirty="0">
                <a:solidFill>
                  <a:srgbClr val="582E13"/>
                </a:solidFill>
                <a:latin typeface="Carlito"/>
                <a:cs typeface="Carlito"/>
              </a:rPr>
              <a:t> </a:t>
            </a:r>
            <a:r>
              <a:rPr sz="4400" spc="-15" dirty="0">
                <a:solidFill>
                  <a:srgbClr val="582E13"/>
                </a:solidFill>
                <a:latin typeface="Carlito"/>
                <a:cs typeface="Carlito"/>
              </a:rPr>
              <a:t>Coordinates</a:t>
            </a:r>
            <a:endParaRPr sz="4400" dirty="0">
              <a:latin typeface="Carlito"/>
              <a:cs typeface="Carlito"/>
            </a:endParaRPr>
          </a:p>
          <a:p>
            <a:pPr marL="2540" algn="ctr">
              <a:lnSpc>
                <a:spcPct val="100000"/>
              </a:lnSpc>
              <a:spcBef>
                <a:spcPts val="2645"/>
              </a:spcBef>
            </a:pPr>
            <a:r>
              <a:rPr sz="4400" b="1" spc="-5" dirty="0">
                <a:solidFill>
                  <a:srgbClr val="582E13"/>
                </a:solidFill>
                <a:latin typeface="Carlito"/>
                <a:cs typeface="Carlito"/>
              </a:rPr>
              <a:t>Lecture-02</a:t>
            </a:r>
            <a:endParaRPr sz="4400" dirty="0">
              <a:latin typeface="Times New Roman"/>
              <a:cs typeface="Times New Roman"/>
            </a:endParaRPr>
          </a:p>
          <a:p>
            <a:pPr marL="1905" algn="ctr">
              <a:lnSpc>
                <a:spcPct val="100000"/>
              </a:lnSpc>
              <a:spcBef>
                <a:spcPts val="2500"/>
              </a:spcBef>
            </a:pPr>
            <a:r>
              <a:rPr sz="4000" b="1" spc="-45" dirty="0">
                <a:solidFill>
                  <a:srgbClr val="582E13"/>
                </a:solidFill>
                <a:latin typeface="Carlito"/>
                <a:cs typeface="Carlito"/>
              </a:rPr>
              <a:t>Lecturer, </a:t>
            </a:r>
            <a:r>
              <a:rPr sz="4000" b="1" spc="-50" dirty="0">
                <a:solidFill>
                  <a:srgbClr val="582E13"/>
                </a:solidFill>
                <a:latin typeface="Carlito"/>
                <a:cs typeface="Carlito"/>
              </a:rPr>
              <a:t>Varendra</a:t>
            </a:r>
            <a:r>
              <a:rPr sz="4000" b="1" spc="80" dirty="0">
                <a:solidFill>
                  <a:srgbClr val="582E13"/>
                </a:solidFill>
                <a:latin typeface="Carlito"/>
                <a:cs typeface="Carlito"/>
              </a:rPr>
              <a:t> </a:t>
            </a:r>
            <a:r>
              <a:rPr sz="4000" b="1" spc="-15" dirty="0">
                <a:solidFill>
                  <a:srgbClr val="582E13"/>
                </a:solidFill>
                <a:latin typeface="Carlito"/>
                <a:cs typeface="Carlito"/>
              </a:rPr>
              <a:t>University</a:t>
            </a:r>
            <a:endParaRPr sz="4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400" y="-228600"/>
            <a:ext cx="10363200" cy="7239000"/>
            <a:chOff x="2156460" y="0"/>
            <a:chExt cx="7879080" cy="6858000"/>
          </a:xfrm>
        </p:grpSpPr>
        <p:sp>
          <p:nvSpPr>
            <p:cNvPr id="3" name="object 3"/>
            <p:cNvSpPr/>
            <p:nvPr/>
          </p:nvSpPr>
          <p:spPr>
            <a:xfrm>
              <a:off x="3272027" y="1376172"/>
              <a:ext cx="5647944" cy="41056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156460" y="787908"/>
              <a:ext cx="7879080" cy="52821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200" y="381000"/>
            <a:ext cx="9994393" cy="60838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AutoShape 2" descr="data:image/pjpeg;base64,/9j/4AAQSkZJRgABAQEAYABgAAD/2wBDAAEBAQEBAQEBAQEBAQEBAQEBAQEBAQEBAQEBAQEBAQEBAQEBAQEBAQEBAQEBAQEBAQEBAQEBAQEBAQEBAQEBAQH/2wBDAQEBAQEBAQEBAQEBAQEBAQEBAQEBAQEBAQEBAQEBAQEBAQEBAQEBAQEBAQEBAQEBAQEBAQEBAQEBAQEBAQEBAQH/wAARCABAAEA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+vXUfgt4y+IXg62ufin4z1O31LT9ZX4mSDwda6O08ni+1k0nU9K0r7FonhhPGug/8K7t9Ct/Aunaj8MvibpnjfxlpMmtT3XijTr/WktrTu5/hWPHHwl+K/wAJdY13xTa2Xi5Ne8PW3iaTW9QuvEkWk614b0saJdzeIrHR/CF34nOj2U9lpl6b3XfHCa5b6ZceH/FPjTxIr6xpdp694N1bSta0aW90WG2XTv7b8S2sdzZGzez1W7s/EGpW2razbvZLHDKdV1eK/vbq4MMTXV9NdXQNzHNHe3M/hrwf4S8GWk+n+D/DHh7wrYXNx9ruLHw5o2naJZz3XkxW/wBplttNt7aGSfyIIYfNZC/lQxR7tkagebRwOHUYtR541KMqVaU6lSc6kJQ5eVzl70k03eTcZP4m5Sk2evUxtaV4uSh7OpGpShClThCElJSbtHSNnFWjacfspRSSP54/+CqVrN/wTb/4JR+L7rw94x8Sax8T7z+zvgD4R+K1hpUM/jXQ/D3j7VviBqmrHT9YutQgh8Hapc+Gtf8AGNtqfjrRobLxPqs1zpmj3t/di08P3Okfxl/B/wDY6/4KO/tJW9h478KT+PtG+H3jfTbbW9G8beMfiZc6NpurQakxvbO60rTdP1671i0a8jY5it9LhtVM8ay/Z12rb/2b/wDB0X8BPjV8d/8Agm94dPwW+H3iz4lS/CT9o/wP8XPiVoPg20Gr6xpvww0b4c/FzwxrHio+HLdzrfiLTvD3iDxd4XuNZtdBsdVuNG0ObU/Fur2Vt4X8O69rej/lv8Jf2k/G/gT9jP4M2GnWvxG+AuoeBfgZ8FtY/tfTv2brn4+2fjW28TfD74feLby/0a107xb4VsNIjnPjaztbGwfU5NXtRb+MNS8Rabpdlog1CD5zPKlXKvYQwPsqXtFGhB1ZSl7OEIQ5eSMqkbyb5t+ZLk2ey+r4dwuHziVepmca9eFD9/ONJOEatSc5c6qypUZyUIxjTVqfs5Xq35kr3+bP2fv+CU3iPwXaL4k/aL+LPxZ8Va68Oy38NWPxL8bR+GbK7iZjK9xLaa5bXerjbHsiEzWUBEhaW3eQ+Ynjf/BR39ky98N/Ai/+Lvwf8XePvAV98KxFf6zHoXjrxtHZ6/4bivI4tUj1OD+1DE97ZWzNfpeyR7iInhaZo5Geb688d/8ABQH9qrxR8LpdQ0bwHqtv4Xg8YXnwwh/aFj8A+Fo9T8WfE0fDuz+JGk+DdF/Zw174kQ+I9I1OfQtTgvtf8XXHijxP8PdA0PSfEev+H9S8fQWmn6Pq3YeF2/aI+Nvww1fwnoXhDUfiv4V+KnhPxb4M8e+B/jfD8K/Dd5qKaz8Odddtf+G/xi+DOra/4KhsYfFM+jaJa+G/GngppNV02+j1JfHGl3Da9PoHxMcXnNPG0cdiMxl+7rwfsZ4pRVSmrc8YUYTnRjCcW4cs3GSuuZbM/UHhuHKuT4rLMPkdOPt6E4vEUsDP9zU5U41amJrU4Yr2tGXLUTTlB8vKpW9xffX/AAbB/tHXX7QP7IHxj+Bvi/U9d8QXnwV+IB1HQvFN94q8QT+I7Xwv8W9M8QWkGn6JrOItY0I6PNoPiC80zxBpfiaHVxJ4rvbS1sND/saK/wBY/pk8H6Hq+hf8JFFf3entpl94jvNQ8NaRYWew6DpEttZwzw3+rOVuvEWq6/rMGq+NNY1XUYRqEer+J7/TJb3VodPt9Uu/5W/+DS79k74rfBP9mP47fHH4gyadYeG/j/4t8G2nw78P2mu2OrakdN+HVr4ni1rxJrdrpb3tnpa6pd+KLLTdHs7q/i11To2s3GpaRZ6feaFdX/8AWrX67gYxlRp1FLnipVfZTjLSdNzlytuOk0k3y3vHaVnJRkvwXMOeniKlGdJ0akY0Y1qU4SjKnWjSpqquWfvQm5RTnopJ3houaL+fLz423sSutr4VaS4i1e3hliu9WhhZ9Na426lcqfs0aJcQL5os4WefzvK3yvjLNcvfjrpdrDBLFod5eEid7uK0uobia3SFn4ijt45jcz+XFI7w5hClCqyyMMV8jXuvwf2veXenabNqU1ywhlng1K8e1fbfXHk2K3N9LHpttc26yebqEoaye0iu4kH264jX7PysGoahpemzaouh2Hhe5vb9tQvF1m81C+nhinhkN2bMQHxbpV7d6hJa2cKaVo82kxBo7mNb7fInmfnL4xxsW0qvNFXcpewhaEYyVrNUeTmknyuLlotbt3kek8Jl+jVGt3S5rc17LVuq2ktdUvPTY+pfjF4stviZ8MfiF8ML7w5s0r4lfDrxd4F1Z7i/gufsMPjPwzqeh3P2m1t9jXVtBBfOsq286m6ZxBDPC4LH8p9C0TwePhHY+CtU1m00AfCvTtH8CapqNvZaHFpVm3wtsptAuV/sPxLaa7omhaZcPazz/bLaOHUjZwaXbLq5hs7Xy/qjU/Ejfb7gTWetCO4ktw+ox+FdR1G3FnbMrXr3ep/aBBDo5O57MvaR3486WRIZYv7P1Afzd/8ABaf9pbxB+zhr3iiy8M3eovofx9+Hnh3VfEtq90bHWvhxq/iCfXfDFq9xo0EFsdMsPE9v4G1PU9Be+1C+m1DXNI8d6bfxWEEOmxXvlYvMcVn+IhGnGdarH9zJOMFSVGdRR+zGCUozkt7yk5tJ9D7LhPG4PArE4Wq6lDDxUseqiTqOnXoxpxnF6ybjVpWV2uWLpxbjds+qPGn7WPgLR/C1x8KfDHwZ+KV94bHju21iP4w6TruvXvgdtV8Ra23j+PxZomp+GdA8U69q2hWWpLfaZZ+DJ9JbwPJ4P8Pz/DvXdX0/wbLaWV99h+BPjd8HNY+HcPxI8I6ppOtwy+FZ49K1Wxu7O5sLpbdbt5ItNlsnXT7QX17ATqV9Y29u93Fplj9tnmTRdNjsv5afC37R/wACbPwD4IWDxx8CjD/YbyNpXiv9nTwn468c3R0dEe7TxR8WfGet3OuazqEk11DD4Zu9Ws4LjR0S4MtzrMEdtbnp/wDgnV+1B4Lv/jBrHg/Xtc0P4b/sp6T8Sh4i8d+MNW/0fwXoSeMNc0DQPDej3OpPC+i6FofjLxxdeG/DJbWDY6B4O8PX+ta9f31voehvPbefVy7GKNWtCNTmockX7Si6acXJU9FJK9a6io+z9pz3kk3Kx+i4rNsnjRpU/ae0daFfFyhh60atZ1YUY1mkuad6Moxk5cypcmjtyN2/uN/Zgn1H9nf4CfDb4UaTp+lzaX4Q0SSI6hdaXqOl6nqX2++lv4ZtStLyeCa21KJNQis7t9VubnVryS1iW5c3kkxh90/4X5ryqGfTtICEqqTNbagscxeUwrhjeBUfzGijKZZd5LeYiMu35+h1e8igEOotCJ3jaJJ9cudOkvr2SFYzJIBpcgtiSxMHkR2sMwlSWRIBE/y0x4guFg/0m+tRdzJb3H2jTWmv7BpXuHcRSZkGoSiG0BaJLa1doIvJVzIFjMnq0OJ8Vh6NKhRrV4U6FOFGnCXs/djTjGMYtNRtok9bvduW9/xXFzo4/F4nG4nDRqVsXiKuIrtTcW51qjqTasrK8pOySUUrRSStbauUuhcXwudTS1Nit5MvmXdwIp2WCaDT2ulVYJ47Jri4thLKba2R0d7OW8YmDFDW7mWwt7bUJZpzHBatIulNp0F9rUrXs4hza2cyzS28d0PNniS7NrYW8BmluL2FUuLtOP1XW9Z+03urQj7Do/8Aa0Jt5Z4rbUdY8Q3mq3gtotXMniCLSks9J0ix1CPUtRg0yH+2r2e2vLPTryEaUp1b5e8b+PrfW4oxc6dp2qTedeSjUNW8HeL/AA5bahNazWfkvL4rsdVudDttT1NLzQb/AE6bV5r9YJ42SSOK4msvs22VcPe1oU8bjKk+WrGFSOHg5Rcot3hKrPSVno1GHK3e8pa2MMNhpVJQ52lF22tdJpWTvZXtq3ryp20eizPi18ffGzeHvGNl4HHhrwleaRHqiXOmy+I4bf4gXGmu0iQ6hpVrdeG4tItNWlhd7+za1urqS3ks2swdShnl1PS/y4/bc8Caj8fP2dl8aafBp3j/AMZ/ALxfr1j4m8NRRXV/ceJfhJ8Q7sHxv4YudDt1sfC+leJrDT/+EU8X+HoFbxxrGnWnhLXPCmi6hfP4/wBTab9FrTRLDWNNtZfFmm6to0upWlxo914W+Ni2HjbSbvTZEv5bB7bXvJuNYluLth9itrNbq3hTSbS3t9XgSC9jubj80Pj7+wVD4z0y8XR7G38KabqjzXeieG0tbj4rfDrSbyG5tlitPD3izQW0m++Gc+rXul6Vc2utQXbtocNtCmnR27+baR/Y08FhnhHho0qdCnVp8snCCi03ZqXMrTcotKSk25XV+a9mevhqn1LE0a1GKboVYy5Z/DUSfLOnNvmvCpG8ZJ3XK3dan4kal/wSh8H+MtY0jxL4DfxAfB2vGw1A6Zo80MkdpaSGFr1XuLyPVZBGoMiCG0mV4Y5JiATbRrP9k/HL9lHwv8Cf2QtW+F2h6BpFvf8AxB8T/CHStVfStPv728XSdP8Ain4N8SXU11dQldSuBjS28zyY4bi7kuGIBmijlj/X39mzxZ4L8Fyjwn+1F8Iovg54k8Qa1r+oad4kbWtC1P4fajHc3yXUdxp2v6HJp8cUNw2o3jWk0Gn3NpaaJpc2o+JNSsZfNlbuv2ltJ+HHjS58E+CfAV74ft5NY8ZR+Gxd+VqEv2KXT9M1HWv7fbVrC8iknisdTsdIg8i0uvtVxEt/Y3QfSb64WT4KGE4jq5ng8Pjca54bCYiNeLcpTUqVCrGXtWklzOyhFXk5KclGXU/U5ZhwdQy/MMRleT+wr47CVMNWnGFOChVxNH2boQfPJ00m6knyxUZRi5JJLlfu37Kv7Rl94o+Efg6C18T6J478SeE/Cfgrwz4vs7vUjq3jeLXtL8MaQGm1jXtOtpI59Z8QWD6f4ptn1fQUfWbbxdpWpR6tHpuswXtp9l+APirF470K31Tw5LNpf2uJHmg1LTvsU1tqT2lub63mtpbORGktryVElMqLPd2cMdyunwW1wmpT/mX8JfDdtpmiW1rpOmQX3hPxT4NmjsNR8BXdlehPFnhDxXHa3IsLDXINY1Z9auItOi1IQ395q9vfXXhqyhZJ71G1WD1XU9U8Q/C/4l+HtRubTUtS8G6t4N1eDXtS0/S9D0eG38W+BdM1vXBr+pXi3Fg9kNZ0W3sopYZrG2kj03Urz+2IRbxywx+/i8mw1Xm5Iewk037Sl7nvNp8zh8Em3q1a/wDe6n5ZPCYfEKq1+7qyk3FwfuN3TcXC6TtffR9b66fXfxG8RpYahaaFbRMljpLSRR31zHGtjA+lWqOtzPPdabqkDeRYm4a4lvJdPgjFwrzazZSym4t/xw1X42Rf8LX1O81Zbi6l0w+HtU8SR6tpFvqNlo+nP40bwXq8NlceB4rHT4bu81Pw7JM9zf8AibxxazHVNOgt4UsvB+u6m/2t8V9X1fW9Q8dXX2HXLvX7O/1m48P6Ze2mkaFpPluPEVnoMUUutJezxafb2SnxTqV9OIDrNpts5BaoIIZPwA+KvxRh8E/GX4LzeIrnwX4d0jxN4/i8K6p4e1HW/h3p/gXRLXxj4avPCuuW+rWtprNneaZFe+NVj0PXdcvvFI0zwho+r3dm7btP0G10X3Va0acFZKPLGPdQS5YpekUkkZ0IKnTTk7Jez1tpFScdb+Terasrfd+4Y8Z+N5NY0zT7nWdVHwFn05BceKfEotrXxDf2epx7LnWIV8kanZjxAsSaL4Z0sTDVodJhs7jULaw1J5UPdX+ha54E13SLnwa//CL/AASuoFTUNJEctxqGspKJS88sAtyzQzqyq6Na5Z4INrFt8DfLng7x34q8XfCe11DwrZeHfjBAl7qV/wDDyBbfxVb+GPB+oWt9e6RP4u1Hx34m8P8AhXUPGWg6G9q+keD72Lw74d0XxpbXFzceHdXms9Jmu5/pXwLP418ffCbUfD8/je/8XfEK3s2W5+x2sWjaJpN8iQzR2eiwRQNfyWtsUVppNU1LVJCybZJRG/kJvDSO0ru3N0tay5eiVr25Y66PuKXxaSio7RSV27NXbsr+bcrLor7Gd45+H+m6XPB4a8P+CPCPjH4e+Okn1LR9J8YyRXWlafqtratqFlfWllezRf2bewzWcU+l3Fn9luIbuOCaCfTZoYLquI+H3hfwJeeH/AepeFNE8J6Z4r0fw3pvjnwRrnjiR9Lj1Ky1q3bRdR0SCwubu/vtMvdK0vRF0EWyI2n6MlnFo2jrYeHbWys7fTvvD+teMfgtF4d8U6pPd+NfAzx3U2j6JJLHqkxtPss13bwrZRw3cstzKsyP5EsMiMxt4pI08oCX4K2OkeKPCfw81ObT21X4jeGPhT8MbrUPD3iSW10GPT7XWdJf+0PD13prW1jBJrMFnHp17r3k2bm216a40+W6kFhFZWL9mnZuMVJSfLfV62++9tX028ylOXK0pSaTTkkrbWS0bst3b/go9M0SHT7i+t7Pwtqvgi18B+LYbq0k0LRtBinXw34+0vUL3X9Yga8to1tzb3ljD9lszHDDtu/tNxMU8pEg8T+NnjnxL8IprSb4taBofi/4XeJpvE7aXeaha6hrM+l/EePw7f8AimOyvjoUGv3d54Tv9SsvEOgP4b07wlIun6da3muTavctDHpmoe2aXpf/AAj+reJdK8M/DrQ9M0DxFa6b8Q9KM2urbC31XSp7WTV7G5vLC11N4bnTL+0W21M+VI0Nq9xPGJofIWT44/4KVeNrjwB8EbWfUPD8unXGp/EXSPD3g/TNK1a0E1/q0lncQwapeafdSxwXelWuk6l4gspl0e5s72LxRdeGf7Q1CM3FjJXPXtzJqL1stL23V76bd3b8EXQd5OLas9W7Ws3a9nu36N6XXVH/2Q=="/>
          <p:cNvSpPr>
            <a:spLocks noChangeAspect="1" noChangeArrowheads="1"/>
          </p:cNvSpPr>
          <p:nvPr/>
        </p:nvSpPr>
        <p:spPr bwMode="auto">
          <a:xfrm>
            <a:off x="155575" y="-7620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3000" y="381000"/>
            <a:ext cx="10006584" cy="61295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533400"/>
            <a:ext cx="10668000" cy="5821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609600"/>
            <a:ext cx="10413493" cy="57317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3000" y="609600"/>
            <a:ext cx="10111740" cy="5756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685800"/>
            <a:ext cx="10349484" cy="56951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96258" y="800176"/>
            <a:ext cx="35020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>
                <a:solidFill>
                  <a:srgbClr val="006FC0"/>
                </a:solidFill>
              </a:rPr>
              <a:t>Rotation</a:t>
            </a:r>
            <a:r>
              <a:rPr spc="-60" dirty="0">
                <a:solidFill>
                  <a:srgbClr val="006FC0"/>
                </a:solidFill>
              </a:rPr>
              <a:t> </a:t>
            </a:r>
            <a:r>
              <a:rPr spc="-15" dirty="0">
                <a:solidFill>
                  <a:srgbClr val="006FC0"/>
                </a:solidFill>
              </a:rPr>
              <a:t>Revisit</a:t>
            </a:r>
          </a:p>
        </p:txBody>
      </p:sp>
      <p:sp>
        <p:nvSpPr>
          <p:cNvPr id="3" name="object 3"/>
          <p:cNvSpPr/>
          <p:nvPr/>
        </p:nvSpPr>
        <p:spPr>
          <a:xfrm>
            <a:off x="2514600" y="1600200"/>
            <a:ext cx="7306056" cy="3863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319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Arbitrary </a:t>
            </a:r>
            <a:r>
              <a:rPr spc="-15" dirty="0"/>
              <a:t>Rotation</a:t>
            </a:r>
            <a:r>
              <a:rPr spc="-25" dirty="0"/>
              <a:t> </a:t>
            </a:r>
            <a:r>
              <a:rPr spc="-5" dirty="0"/>
              <a:t>Center</a:t>
            </a:r>
          </a:p>
        </p:txBody>
      </p:sp>
      <p:sp>
        <p:nvSpPr>
          <p:cNvPr id="3" name="object 3"/>
          <p:cNvSpPr/>
          <p:nvPr/>
        </p:nvSpPr>
        <p:spPr>
          <a:xfrm>
            <a:off x="2336292" y="1568196"/>
            <a:ext cx="7519416" cy="40827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319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Arbitrary </a:t>
            </a:r>
            <a:r>
              <a:rPr spc="-15" dirty="0"/>
              <a:t>Rotation</a:t>
            </a:r>
            <a:r>
              <a:rPr spc="-25" dirty="0"/>
              <a:t> </a:t>
            </a:r>
            <a:r>
              <a:rPr spc="-5" dirty="0"/>
              <a:t>Center</a:t>
            </a:r>
          </a:p>
        </p:txBody>
      </p:sp>
      <p:sp>
        <p:nvSpPr>
          <p:cNvPr id="3" name="object 3"/>
          <p:cNvSpPr/>
          <p:nvPr/>
        </p:nvSpPr>
        <p:spPr>
          <a:xfrm>
            <a:off x="2282951" y="1584960"/>
            <a:ext cx="7626096" cy="4050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000" y="457200"/>
            <a:ext cx="10896600" cy="59100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3400" y="457200"/>
            <a:ext cx="11201400" cy="5791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3000" y="457200"/>
            <a:ext cx="10035540" cy="59024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3000" y="609600"/>
            <a:ext cx="10239756" cy="5777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457200"/>
            <a:ext cx="10668000" cy="59527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457200"/>
            <a:ext cx="10439400" cy="58643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381000"/>
            <a:ext cx="10744200" cy="60472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3000" y="381000"/>
            <a:ext cx="10027921" cy="59954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1077" y="1101344"/>
            <a:ext cx="6577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B05E28"/>
                </a:solidFill>
                <a:latin typeface="Times New Roman"/>
                <a:cs typeface="Times New Roman"/>
              </a:rPr>
              <a:t>Reflection </a:t>
            </a:r>
            <a:r>
              <a:rPr sz="3600" dirty="0">
                <a:solidFill>
                  <a:srgbClr val="B05E28"/>
                </a:solidFill>
                <a:latin typeface="Times New Roman"/>
                <a:cs typeface="Times New Roman"/>
              </a:rPr>
              <a:t>About an Arbitrary</a:t>
            </a:r>
            <a:r>
              <a:rPr sz="3600" spc="-450" dirty="0">
                <a:solidFill>
                  <a:srgbClr val="B05E28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B05E28"/>
                </a:solidFill>
                <a:latin typeface="Times New Roman"/>
                <a:cs typeface="Times New Roman"/>
              </a:rPr>
              <a:t>Line: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50539" y="4028440"/>
            <a:ext cx="792480" cy="328930"/>
          </a:xfrm>
          <a:custGeom>
            <a:avLst/>
            <a:gdLst/>
            <a:ahLst/>
            <a:cxnLst/>
            <a:rect l="l" t="t" r="r" b="b"/>
            <a:pathLst>
              <a:path w="792479" h="328929">
                <a:moveTo>
                  <a:pt x="687197" y="0"/>
                </a:moveTo>
                <a:lnTo>
                  <a:pt x="682625" y="13462"/>
                </a:lnTo>
                <a:lnTo>
                  <a:pt x="701601" y="21705"/>
                </a:lnTo>
                <a:lnTo>
                  <a:pt x="717946" y="33115"/>
                </a:lnTo>
                <a:lnTo>
                  <a:pt x="742696" y="65532"/>
                </a:lnTo>
                <a:lnTo>
                  <a:pt x="757269" y="109219"/>
                </a:lnTo>
                <a:lnTo>
                  <a:pt x="762126" y="162814"/>
                </a:lnTo>
                <a:lnTo>
                  <a:pt x="760912" y="191863"/>
                </a:lnTo>
                <a:lnTo>
                  <a:pt x="751197" y="241913"/>
                </a:lnTo>
                <a:lnTo>
                  <a:pt x="731621" y="280965"/>
                </a:lnTo>
                <a:lnTo>
                  <a:pt x="701851" y="307306"/>
                </a:lnTo>
                <a:lnTo>
                  <a:pt x="683133" y="315595"/>
                </a:lnTo>
                <a:lnTo>
                  <a:pt x="687197" y="328930"/>
                </a:lnTo>
                <a:lnTo>
                  <a:pt x="732075" y="307895"/>
                </a:lnTo>
                <a:lnTo>
                  <a:pt x="765048" y="271526"/>
                </a:lnTo>
                <a:lnTo>
                  <a:pt x="785336" y="222726"/>
                </a:lnTo>
                <a:lnTo>
                  <a:pt x="792099" y="164592"/>
                </a:lnTo>
                <a:lnTo>
                  <a:pt x="790408" y="134471"/>
                </a:lnTo>
                <a:lnTo>
                  <a:pt x="776882" y="80992"/>
                </a:lnTo>
                <a:lnTo>
                  <a:pt x="749972" y="37486"/>
                </a:lnTo>
                <a:lnTo>
                  <a:pt x="711059" y="8669"/>
                </a:lnTo>
                <a:lnTo>
                  <a:pt x="687197" y="0"/>
                </a:lnTo>
                <a:close/>
              </a:path>
              <a:path w="792479" h="328929">
                <a:moveTo>
                  <a:pt x="104901" y="0"/>
                </a:moveTo>
                <a:lnTo>
                  <a:pt x="60229" y="21161"/>
                </a:lnTo>
                <a:lnTo>
                  <a:pt x="27177" y="57658"/>
                </a:lnTo>
                <a:lnTo>
                  <a:pt x="6826" y="106600"/>
                </a:lnTo>
                <a:lnTo>
                  <a:pt x="0" y="164592"/>
                </a:lnTo>
                <a:lnTo>
                  <a:pt x="1690" y="194837"/>
                </a:lnTo>
                <a:lnTo>
                  <a:pt x="15216" y="248281"/>
                </a:lnTo>
                <a:lnTo>
                  <a:pt x="42072" y="291621"/>
                </a:lnTo>
                <a:lnTo>
                  <a:pt x="81022" y="320335"/>
                </a:lnTo>
                <a:lnTo>
                  <a:pt x="104901" y="328930"/>
                </a:lnTo>
                <a:lnTo>
                  <a:pt x="109093" y="315595"/>
                </a:lnTo>
                <a:lnTo>
                  <a:pt x="90374" y="307306"/>
                </a:lnTo>
                <a:lnTo>
                  <a:pt x="74215" y="295767"/>
                </a:lnTo>
                <a:lnTo>
                  <a:pt x="49530" y="262890"/>
                </a:lnTo>
                <a:lnTo>
                  <a:pt x="34956" y="218233"/>
                </a:lnTo>
                <a:lnTo>
                  <a:pt x="30099" y="162814"/>
                </a:lnTo>
                <a:lnTo>
                  <a:pt x="31313" y="134790"/>
                </a:lnTo>
                <a:lnTo>
                  <a:pt x="41028" y="86125"/>
                </a:lnTo>
                <a:lnTo>
                  <a:pt x="60630" y="47716"/>
                </a:lnTo>
                <a:lnTo>
                  <a:pt x="90642" y="21705"/>
                </a:lnTo>
                <a:lnTo>
                  <a:pt x="109600" y="13462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68300" indent="-343535">
              <a:lnSpc>
                <a:spcPct val="100000"/>
              </a:lnSpc>
              <a:spcBef>
                <a:spcPts val="1300"/>
              </a:spcBef>
              <a:buAutoNum type="arabicPeriod"/>
              <a:tabLst>
                <a:tab pos="367665" algn="l"/>
                <a:tab pos="368935" algn="l"/>
              </a:tabLst>
            </a:pPr>
            <a:r>
              <a:rPr spc="-10" dirty="0"/>
              <a:t>Translate </a:t>
            </a:r>
            <a:r>
              <a:rPr spc="-5" dirty="0"/>
              <a:t>line </a:t>
            </a:r>
            <a:r>
              <a:rPr dirty="0"/>
              <a:t>to the</a:t>
            </a:r>
            <a:r>
              <a:rPr spc="-50" dirty="0"/>
              <a:t> </a:t>
            </a:r>
            <a:r>
              <a:rPr dirty="0"/>
              <a:t>Origin.</a:t>
            </a:r>
          </a:p>
          <a:p>
            <a:pPr marL="368300" indent="-34353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67665" algn="l"/>
                <a:tab pos="368935" algn="l"/>
              </a:tabLst>
            </a:pPr>
            <a:r>
              <a:rPr dirty="0"/>
              <a:t>Rotation about the</a:t>
            </a:r>
            <a:r>
              <a:rPr spc="-65" dirty="0"/>
              <a:t> </a:t>
            </a:r>
            <a:r>
              <a:rPr dirty="0"/>
              <a:t>Origin.</a:t>
            </a:r>
          </a:p>
          <a:p>
            <a:pPr marL="368300" indent="-34353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67665" algn="l"/>
                <a:tab pos="368935" algn="l"/>
              </a:tabLst>
            </a:pPr>
            <a:r>
              <a:rPr spc="-5" dirty="0"/>
              <a:t>Reflection</a:t>
            </a:r>
            <a:r>
              <a:rPr spc="-35" dirty="0"/>
              <a:t> </a:t>
            </a:r>
            <a:r>
              <a:rPr dirty="0"/>
              <a:t>Matrix.</a:t>
            </a:r>
          </a:p>
          <a:p>
            <a:pPr marL="368300" indent="-34353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367665" algn="l"/>
                <a:tab pos="368935" algn="l"/>
              </a:tabLst>
            </a:pPr>
            <a:r>
              <a:rPr dirty="0"/>
              <a:t>Reverse the</a:t>
            </a:r>
            <a:r>
              <a:rPr spc="-40" dirty="0"/>
              <a:t> </a:t>
            </a:r>
            <a:r>
              <a:rPr dirty="0"/>
              <a:t>rotation.</a:t>
            </a:r>
          </a:p>
          <a:p>
            <a:pPr marL="368300" indent="-343535">
              <a:lnSpc>
                <a:spcPct val="100000"/>
              </a:lnSpc>
              <a:spcBef>
                <a:spcPts val="1205"/>
              </a:spcBef>
              <a:buAutoNum type="arabicPeriod"/>
              <a:tabLst>
                <a:tab pos="367665" algn="l"/>
                <a:tab pos="368935" algn="l"/>
              </a:tabLst>
            </a:pPr>
            <a:r>
              <a:rPr spc="-10" dirty="0"/>
              <a:t>Translate </a:t>
            </a:r>
            <a:r>
              <a:rPr spc="-5" dirty="0"/>
              <a:t>line</a:t>
            </a:r>
            <a:r>
              <a:rPr spc="-35" dirty="0"/>
              <a:t> </a:t>
            </a:r>
            <a:r>
              <a:rPr spc="-5" dirty="0"/>
              <a:t>Back.</a:t>
            </a:r>
          </a:p>
          <a:p>
            <a:pPr marL="2358390">
              <a:lnSpc>
                <a:spcPct val="100000"/>
              </a:lnSpc>
              <a:spcBef>
                <a:spcPts val="305"/>
              </a:spcBef>
              <a:tabLst>
                <a:tab pos="2728595" algn="l"/>
                <a:tab pos="3437890" algn="l"/>
              </a:tabLst>
            </a:pPr>
            <a:r>
              <a:rPr sz="2800" spc="-360" dirty="0">
                <a:latin typeface="Arial"/>
                <a:cs typeface="Arial"/>
              </a:rPr>
              <a:t>𝑻	</a:t>
            </a:r>
            <a:r>
              <a:rPr sz="2800" spc="-315" dirty="0">
                <a:latin typeface="Arial"/>
                <a:cs typeface="Arial"/>
              </a:rPr>
              <a:t>𝟎,</a:t>
            </a:r>
            <a:r>
              <a:rPr sz="2800" spc="-320" dirty="0">
                <a:latin typeface="Arial"/>
                <a:cs typeface="Arial"/>
              </a:rPr>
              <a:t> </a:t>
            </a:r>
            <a:r>
              <a:rPr sz="2800" spc="-405" dirty="0">
                <a:latin typeface="Arial"/>
                <a:cs typeface="Arial"/>
              </a:rPr>
              <a:t>𝒃	</a:t>
            </a:r>
            <a:r>
              <a:rPr sz="2800" spc="-204" dirty="0">
                <a:latin typeface="Arial"/>
                <a:cs typeface="Arial"/>
              </a:rPr>
              <a:t>. </a:t>
            </a:r>
            <a:r>
              <a:rPr sz="2800" spc="-215" dirty="0">
                <a:latin typeface="Arial"/>
                <a:cs typeface="Arial"/>
              </a:rPr>
              <a:t>𝑹</a:t>
            </a:r>
            <a:r>
              <a:rPr sz="3075" spc="-322" baseline="-16260" dirty="0">
                <a:latin typeface="Arial"/>
                <a:cs typeface="Arial"/>
              </a:rPr>
              <a:t>𝜽 </a:t>
            </a:r>
            <a:r>
              <a:rPr sz="2800" spc="-204" dirty="0">
                <a:latin typeface="Arial"/>
                <a:cs typeface="Arial"/>
              </a:rPr>
              <a:t>. </a:t>
            </a:r>
            <a:r>
              <a:rPr sz="2800" spc="-350" dirty="0">
                <a:latin typeface="Arial"/>
                <a:cs typeface="Arial"/>
              </a:rPr>
              <a:t>𝑹𝒇</a:t>
            </a:r>
            <a:r>
              <a:rPr sz="3075" spc="-525" baseline="-16260" dirty="0">
                <a:latin typeface="Arial"/>
                <a:cs typeface="Arial"/>
              </a:rPr>
              <a:t>𝒙 </a:t>
            </a:r>
            <a:r>
              <a:rPr sz="2800" spc="-204" dirty="0">
                <a:latin typeface="Arial"/>
                <a:cs typeface="Arial"/>
              </a:rPr>
              <a:t>. </a:t>
            </a:r>
            <a:r>
              <a:rPr sz="2800" spc="-55" dirty="0">
                <a:latin typeface="Arial"/>
                <a:cs typeface="Arial"/>
              </a:rPr>
              <a:t>𝑹</a:t>
            </a:r>
            <a:r>
              <a:rPr sz="3075" spc="-82" baseline="-16260" dirty="0">
                <a:latin typeface="Arial"/>
                <a:cs typeface="Arial"/>
              </a:rPr>
              <a:t>−𝜽</a:t>
            </a:r>
            <a:r>
              <a:rPr sz="2800" spc="-55" dirty="0">
                <a:latin typeface="Arial"/>
                <a:cs typeface="Arial"/>
              </a:rPr>
              <a:t>. </a:t>
            </a:r>
            <a:r>
              <a:rPr sz="2800" spc="-190" dirty="0">
                <a:latin typeface="Arial"/>
                <a:cs typeface="Arial"/>
              </a:rPr>
              <a:t>𝑻(𝟎,</a:t>
            </a:r>
            <a:r>
              <a:rPr sz="2800" spc="-580" dirty="0">
                <a:latin typeface="Arial"/>
                <a:cs typeface="Arial"/>
              </a:rPr>
              <a:t> </a:t>
            </a:r>
            <a:r>
              <a:rPr sz="2800" spc="85" dirty="0">
                <a:latin typeface="Arial"/>
                <a:cs typeface="Arial"/>
              </a:rPr>
              <a:t>−𝒃)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47023" y="3927475"/>
            <a:ext cx="25044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75" dirty="0">
                <a:latin typeface="Times New Roman"/>
                <a:cs typeface="Times New Roman"/>
              </a:rPr>
              <a:t>[ </a:t>
            </a:r>
            <a:r>
              <a:rPr sz="2800" spc="-55" dirty="0">
                <a:latin typeface="Times New Roman"/>
                <a:cs typeface="Times New Roman"/>
              </a:rPr>
              <a:t>when, </a:t>
            </a:r>
            <a:r>
              <a:rPr sz="2800" b="1" i="1" spc="-5" dirty="0">
                <a:latin typeface="Times New Roman"/>
                <a:cs typeface="Times New Roman"/>
              </a:rPr>
              <a:t>y=mx+b</a:t>
            </a:r>
            <a:r>
              <a:rPr sz="2800" b="1" i="1" spc="135" dirty="0">
                <a:latin typeface="Times New Roman"/>
                <a:cs typeface="Times New Roman"/>
              </a:rPr>
              <a:t> </a:t>
            </a:r>
            <a:r>
              <a:rPr sz="2800" spc="-175" dirty="0">
                <a:latin typeface="Times New Roman"/>
                <a:cs typeface="Times New Roman"/>
              </a:rPr>
              <a:t>]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1077" y="4642230"/>
            <a:ext cx="970026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Note: If the line passes </a:t>
            </a:r>
            <a:r>
              <a:rPr sz="2400" dirty="0">
                <a:latin typeface="Times New Roman"/>
                <a:cs typeface="Times New Roman"/>
              </a:rPr>
              <a:t>the origin </a:t>
            </a:r>
            <a:r>
              <a:rPr sz="2400" spc="-5" dirty="0">
                <a:latin typeface="Times New Roman"/>
                <a:cs typeface="Times New Roman"/>
              </a:rPr>
              <a:t>we </a:t>
            </a:r>
            <a:r>
              <a:rPr sz="2400" dirty="0">
                <a:latin typeface="Times New Roman"/>
                <a:cs typeface="Times New Roman"/>
              </a:rPr>
              <a:t>need only 3 </a:t>
            </a:r>
            <a:r>
              <a:rPr sz="2400" spc="-5" dirty="0">
                <a:latin typeface="Times New Roman"/>
                <a:cs typeface="Times New Roman"/>
              </a:rPr>
              <a:t>Steps (remove </a:t>
            </a:r>
            <a:r>
              <a:rPr sz="2400" dirty="0">
                <a:latin typeface="Times New Roman"/>
                <a:cs typeface="Times New Roman"/>
              </a:rPr>
              <a:t>step 1 and step  5).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5400" y="381000"/>
            <a:ext cx="9633205" cy="5928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5773" y="786511"/>
            <a:ext cx="52044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6FC0"/>
                </a:solidFill>
              </a:rPr>
              <a:t>Why </a:t>
            </a:r>
            <a:r>
              <a:rPr spc="-5" dirty="0">
                <a:solidFill>
                  <a:srgbClr val="006FC0"/>
                </a:solidFill>
              </a:rPr>
              <a:t>use 3x3</a:t>
            </a:r>
            <a:r>
              <a:rPr spc="-15" dirty="0">
                <a:solidFill>
                  <a:srgbClr val="006FC0"/>
                </a:solidFill>
              </a:rPr>
              <a:t> </a:t>
            </a:r>
            <a:r>
              <a:rPr spc="-5" dirty="0">
                <a:solidFill>
                  <a:srgbClr val="006FC0"/>
                </a:solidFill>
              </a:rPr>
              <a:t>matrices?</a:t>
            </a:r>
          </a:p>
        </p:txBody>
      </p:sp>
      <p:sp>
        <p:nvSpPr>
          <p:cNvPr id="3" name="object 3"/>
          <p:cNvSpPr/>
          <p:nvPr/>
        </p:nvSpPr>
        <p:spPr>
          <a:xfrm>
            <a:off x="2322576" y="1661160"/>
            <a:ext cx="7546848" cy="4035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9463" y="758443"/>
            <a:ext cx="62998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Three-Dimensional</a:t>
            </a:r>
            <a:r>
              <a:rPr spc="-15" dirty="0"/>
              <a:t> Graphics</a:t>
            </a:r>
          </a:p>
        </p:txBody>
      </p:sp>
      <p:sp>
        <p:nvSpPr>
          <p:cNvPr id="3" name="object 3"/>
          <p:cNvSpPr/>
          <p:nvPr/>
        </p:nvSpPr>
        <p:spPr>
          <a:xfrm>
            <a:off x="2659379" y="1693164"/>
            <a:ext cx="7132319" cy="3989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9463" y="758443"/>
            <a:ext cx="67005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Right hand coordinate</a:t>
            </a:r>
            <a:r>
              <a:rPr spc="-65" dirty="0"/>
              <a:t> </a:t>
            </a:r>
            <a:r>
              <a:rPr spc="-5" dirty="0"/>
              <a:t>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2801111" y="1674876"/>
            <a:ext cx="7245096" cy="3782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9050" y="814273"/>
            <a:ext cx="40805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3D</a:t>
            </a:r>
            <a:r>
              <a:rPr spc="-70" dirty="0"/>
              <a:t> </a:t>
            </a:r>
            <a:r>
              <a:rPr spc="-10" dirty="0"/>
              <a:t>transformation</a:t>
            </a:r>
          </a:p>
        </p:txBody>
      </p:sp>
      <p:sp>
        <p:nvSpPr>
          <p:cNvPr id="3" name="object 3"/>
          <p:cNvSpPr/>
          <p:nvPr/>
        </p:nvSpPr>
        <p:spPr>
          <a:xfrm>
            <a:off x="2647188" y="1740407"/>
            <a:ext cx="6897623" cy="39151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9050" y="814273"/>
            <a:ext cx="40805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3D</a:t>
            </a:r>
            <a:r>
              <a:rPr spc="-70" dirty="0"/>
              <a:t> </a:t>
            </a:r>
            <a:r>
              <a:rPr spc="-10" dirty="0"/>
              <a:t>transformation</a:t>
            </a:r>
          </a:p>
        </p:txBody>
      </p:sp>
      <p:sp>
        <p:nvSpPr>
          <p:cNvPr id="3" name="object 3"/>
          <p:cNvSpPr/>
          <p:nvPr/>
        </p:nvSpPr>
        <p:spPr>
          <a:xfrm>
            <a:off x="2499360" y="1824227"/>
            <a:ext cx="7408164" cy="3451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9050" y="814273"/>
            <a:ext cx="40805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3D</a:t>
            </a:r>
            <a:r>
              <a:rPr spc="-70" dirty="0"/>
              <a:t> </a:t>
            </a:r>
            <a:r>
              <a:rPr spc="-10" dirty="0"/>
              <a:t>transformation</a:t>
            </a:r>
          </a:p>
        </p:txBody>
      </p:sp>
      <p:sp>
        <p:nvSpPr>
          <p:cNvPr id="3" name="object 3"/>
          <p:cNvSpPr/>
          <p:nvPr/>
        </p:nvSpPr>
        <p:spPr>
          <a:xfrm>
            <a:off x="2133600" y="1600200"/>
            <a:ext cx="7082028" cy="39532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9050" y="814273"/>
            <a:ext cx="40805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3D</a:t>
            </a:r>
            <a:r>
              <a:rPr spc="-70" dirty="0"/>
              <a:t> </a:t>
            </a:r>
            <a:r>
              <a:rPr spc="-10" dirty="0"/>
              <a:t>transformation</a:t>
            </a:r>
          </a:p>
        </p:txBody>
      </p:sp>
      <p:sp>
        <p:nvSpPr>
          <p:cNvPr id="3" name="object 3"/>
          <p:cNvSpPr/>
          <p:nvPr/>
        </p:nvSpPr>
        <p:spPr>
          <a:xfrm>
            <a:off x="2378964" y="918972"/>
            <a:ext cx="8122920" cy="47365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9050" y="814273"/>
            <a:ext cx="40805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3D</a:t>
            </a:r>
            <a:r>
              <a:rPr spc="-70" dirty="0"/>
              <a:t> </a:t>
            </a:r>
            <a:r>
              <a:rPr spc="-10" dirty="0"/>
              <a:t>transformation</a:t>
            </a:r>
          </a:p>
        </p:txBody>
      </p:sp>
      <p:sp>
        <p:nvSpPr>
          <p:cNvPr id="3" name="object 3"/>
          <p:cNvSpPr/>
          <p:nvPr/>
        </p:nvSpPr>
        <p:spPr>
          <a:xfrm>
            <a:off x="2356104" y="1141475"/>
            <a:ext cx="7898892" cy="45750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0945" y="2333320"/>
            <a:ext cx="466090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110" dirty="0">
                <a:solidFill>
                  <a:srgbClr val="582E13"/>
                </a:solidFill>
                <a:latin typeface="Arial"/>
                <a:cs typeface="Arial"/>
              </a:rPr>
              <a:t>Thank</a:t>
            </a:r>
            <a:r>
              <a:rPr sz="8000" spc="-325" dirty="0">
                <a:solidFill>
                  <a:srgbClr val="582E13"/>
                </a:solidFill>
                <a:latin typeface="Arial"/>
                <a:cs typeface="Arial"/>
              </a:rPr>
              <a:t> </a:t>
            </a:r>
            <a:r>
              <a:rPr sz="8000" spc="-480" dirty="0">
                <a:solidFill>
                  <a:srgbClr val="582E13"/>
                </a:solidFill>
                <a:latin typeface="Arial"/>
                <a:cs typeface="Arial"/>
              </a:rPr>
              <a:t>You</a:t>
            </a:r>
            <a:endParaRPr sz="8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4C64532606B24FAB5D656F866C042E" ma:contentTypeVersion="7" ma:contentTypeDescription="Create a new document." ma:contentTypeScope="" ma:versionID="e09d2cf455fbf8f69db67da1420b95fc">
  <xsd:schema xmlns:xsd="http://www.w3.org/2001/XMLSchema" xmlns:xs="http://www.w3.org/2001/XMLSchema" xmlns:p="http://schemas.microsoft.com/office/2006/metadata/properties" xmlns:ns2="f8536b80-1d83-40b8-bf9c-7fc7a3b1d835" targetNamespace="http://schemas.microsoft.com/office/2006/metadata/properties" ma:root="true" ma:fieldsID="2669715d9414c83cbf40c50fdf684965" ns2:_="">
    <xsd:import namespace="f8536b80-1d83-40b8-bf9c-7fc7a3b1d8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536b80-1d83-40b8-bf9c-7fc7a3b1d8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B6A1714-9407-4562-937D-855FB23D6E9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D570889-10AA-479C-954F-73E0215E26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98B25EB-379E-4468-8A6B-8DD0400177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536b80-1d83-40b8-bf9c-7fc7a3b1d8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1435</TotalTime>
  <Words>97</Words>
  <Application>Microsoft Office PowerPoint</Application>
  <PresentationFormat>Widescreen</PresentationFormat>
  <Paragraphs>25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CSE-421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Rotation Revisit</vt:lpstr>
      <vt:lpstr>Arbitrary Rotation Center</vt:lpstr>
      <vt:lpstr>Arbitrary Rotation Center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Reflection About an Arbitrary Line:</vt:lpstr>
      <vt:lpstr>PowerPoint Presentation</vt:lpstr>
      <vt:lpstr>Why use 3x3 matrices?</vt:lpstr>
      <vt:lpstr>Three-Dimensional Graphics</vt:lpstr>
      <vt:lpstr>Right hand coordinate system</vt:lpstr>
      <vt:lpstr>3D transformation</vt:lpstr>
      <vt:lpstr>3D transformation</vt:lpstr>
      <vt:lpstr>3D transformation</vt:lpstr>
      <vt:lpstr>3D transformation</vt:lpstr>
      <vt:lpstr>3D transformation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Salma Akter lima</dc:creator>
  <cp:lastModifiedBy>Ayesha Akter Lima</cp:lastModifiedBy>
  <cp:revision>34</cp:revision>
  <dcterms:created xsi:type="dcterms:W3CDTF">2020-10-04T17:06:41Z</dcterms:created>
  <dcterms:modified xsi:type="dcterms:W3CDTF">2026-05-21T15:21:57Z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2020-07-21T00:00:00Z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2020-10-04T00:00:00Z</vt:filetime>
  </property>
  <property fmtid="{D5CDD505-2E9C-101B-9397-08002B2CF9AE}" pid="5" name="ContentTypeId">
    <vt:lpwstr>0x010100DA4C64532606B24FAB5D656F866C042E</vt:lpwstr>
  </property>
</Properties>
</file>