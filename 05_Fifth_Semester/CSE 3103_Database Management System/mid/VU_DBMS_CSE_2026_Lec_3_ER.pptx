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93" r:id="rId1"/>
    <p:sldMasterId id="2147483714" r:id="rId2"/>
    <p:sldMasterId id="2147483726" r:id="rId3"/>
  </p:sldMasterIdLst>
  <p:notesMasterIdLst>
    <p:notesMasterId r:id="rId39"/>
  </p:notesMasterIdLst>
  <p:handoutMasterIdLst>
    <p:handoutMasterId r:id="rId40"/>
  </p:handoutMasterIdLst>
  <p:sldIdLst>
    <p:sldId id="256" r:id="rId4"/>
    <p:sldId id="475" r:id="rId5"/>
    <p:sldId id="299" r:id="rId6"/>
    <p:sldId id="426" r:id="rId7"/>
    <p:sldId id="259" r:id="rId8"/>
    <p:sldId id="417" r:id="rId9"/>
    <p:sldId id="425" r:id="rId10"/>
    <p:sldId id="418" r:id="rId11"/>
    <p:sldId id="301" r:id="rId12"/>
    <p:sldId id="260" r:id="rId13"/>
    <p:sldId id="399" r:id="rId14"/>
    <p:sldId id="261" r:id="rId15"/>
    <p:sldId id="457" r:id="rId16"/>
    <p:sldId id="264" r:id="rId17"/>
    <p:sldId id="302" r:id="rId18"/>
    <p:sldId id="303" r:id="rId19"/>
    <p:sldId id="363" r:id="rId20"/>
    <p:sldId id="360" r:id="rId21"/>
    <p:sldId id="424" r:id="rId22"/>
    <p:sldId id="434" r:id="rId23"/>
    <p:sldId id="384" r:id="rId24"/>
    <p:sldId id="385" r:id="rId25"/>
    <p:sldId id="387" r:id="rId26"/>
    <p:sldId id="389" r:id="rId27"/>
    <p:sldId id="306" r:id="rId28"/>
    <p:sldId id="333" r:id="rId29"/>
    <p:sldId id="334" r:id="rId30"/>
    <p:sldId id="390" r:id="rId31"/>
    <p:sldId id="460" r:id="rId32"/>
    <p:sldId id="391" r:id="rId33"/>
    <p:sldId id="461" r:id="rId34"/>
    <p:sldId id="392" r:id="rId35"/>
    <p:sldId id="462" r:id="rId36"/>
    <p:sldId id="393" r:id="rId37"/>
    <p:sldId id="396" r:id="rId38"/>
  </p:sldIdLst>
  <p:sldSz cx="9144000" cy="6858000" type="screen4x3"/>
  <p:notesSz cx="6858000" cy="91440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Helvetica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Helvetica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Helvetica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Helvetica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68" autoAdjust="0"/>
    <p:restoredTop sz="91294" autoAdjust="0"/>
  </p:normalViewPr>
  <p:slideViewPr>
    <p:cSldViewPr snapToGrid="0">
      <p:cViewPr varScale="1">
        <p:scale>
          <a:sx n="63" d="100"/>
          <a:sy n="63" d="100"/>
        </p:scale>
        <p:origin x="124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53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fld id="{E7B9068D-BA9E-43FF-A368-093BCE3D4E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8373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6-02-08T07:05:29.3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17692 9472 0,'0'-18'62,"17"18"-62,54 0 16,0-17-16,52-1 15,230-35 1,-177 53-16,-17-17 16,141 17-1,-71-18 1,-158-17 0,-36 17-1,18-17 1,-35 35 15</inkml:trace>
  <inkml:trace contextRef="#ctx0" brushRef="#br0" timeOffset="2139.94">17462 9437 0,'0'35'79,"18"71"-79,-18 17 15,35 54 1,-35-1-16,0 248 15,18-1 1,-18 18 0,18-35 15,-18-89-31,17-88 31,-17-158-31,0-54 16,36-17 78,-19 0-48,19 0-46,-19 0 16,54 0 0,17 0-16,141-52 15,71-1 1,18-18 15,-213 53-31,195-34 16,-194 34-16,71-17 31,-160 17-31,71 0 16,-70 18-1,0 0 32,17-17-16,0-19-31,0 19 32,-17-1-1,-18 1-31,0-19 31,35 1-31,-17-88 16,0-36-16,-18-35 31,35 17-31,-35 19 31,0 69-15,0-34 0,0-1-1,0-34 1,0-19-1,-71-105 1,54 247 0,-19-124 15,19 71-31,-18 0 31,-18-71-31,53 124 16,-18-18 15,18 35 32</inkml:trace>
  <inkml:trace contextRef="#ctx0" brushRef="#br0" timeOffset="3440.02">18274 9313 0,'0'-17'78,"18"17"-47,17 17-31,0 19 16,18 87-1,35 89 1,0 88 0,-35-36-1,53 18 1,-71-35-1,-17-158-15,0-19 16,17-17 0,-17 35-16,-18-35 31,0 0-31,0 35 31,17 0-31,-17 1 16,0 16 15,0-16-15,0 34-1,0 1 1,0 34 0,0-105-1,0 71 1,0-107-1,0 1 1,0 0 0,0-1 15,0 19-31,0-19 31,0 18-15,0-17 78,0-36-16,0-17-63</inkml:trace>
  <inkml:trace contextRef="#ctx0" brushRef="#br0" timeOffset="4479.96">17533 10619 0,'18'-18'0,"52"-17"15,18-18 1,71 0-1,0-18 1,35 36 0,0-36 15,18 54-31,70-36 31,-18 35-15,1 18-16,-124 0 31,-106 0-31,18 0 16,0 0-1,-35 0 1,17 0 0,-17 0 62,-1 0-78</inkml:trace>
  <inkml:trace contextRef="#ctx0" brushRef="#br0" timeOffset="5809.6">17868 11395 0,'-17'0'47,"17"-18"0,0-17-31,35 35-1,71-18-15,0 1 16,158-1 0,36 18-1,-53 0 1,-53 0-1,-71-18 1,19-17 0,-19 17 15,-70 18-31,53 0 16,17 0-1,-17 0 1,-35 0-1,-19 0 1,37 0 0,17 0-1,52 0 1,89 0 0,-211 0-1,-19 0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6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22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fld id="{C4D715CB-083A-4111-8E48-C9405A80A1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2048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230445E-A660-448A-B4DC-782AD0E5DA6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74893" y="0"/>
            <a:ext cx="6866726" cy="6858000"/>
          </a:xfrm>
          <a:custGeom>
            <a:avLst/>
            <a:gdLst>
              <a:gd name="connsiteX0" fmla="*/ 6450330 w 8969375"/>
              <a:gd name="connsiteY0" fmla="*/ 3511550 h 6858000"/>
              <a:gd name="connsiteX1" fmla="*/ 8969375 w 8969375"/>
              <a:gd name="connsiteY1" fmla="*/ 3511550 h 6858000"/>
              <a:gd name="connsiteX2" fmla="*/ 8969375 w 8969375"/>
              <a:gd name="connsiteY2" fmla="*/ 6858000 h 6858000"/>
              <a:gd name="connsiteX3" fmla="*/ 5010150 w 8969375"/>
              <a:gd name="connsiteY3" fmla="*/ 6858000 h 6858000"/>
              <a:gd name="connsiteX4" fmla="*/ 1915160 w 8969375"/>
              <a:gd name="connsiteY4" fmla="*/ 3511550 h 6858000"/>
              <a:gd name="connsiteX5" fmla="*/ 3404870 w 8969375"/>
              <a:gd name="connsiteY5" fmla="*/ 3511550 h 6858000"/>
              <a:gd name="connsiteX6" fmla="*/ 1964690 w 8969375"/>
              <a:gd name="connsiteY6" fmla="*/ 6858000 h 6858000"/>
              <a:gd name="connsiteX7" fmla="*/ 474980 w 8969375"/>
              <a:gd name="connsiteY7" fmla="*/ 6858000 h 6858000"/>
              <a:gd name="connsiteX8" fmla="*/ 7961630 w 8969375"/>
              <a:gd name="connsiteY8" fmla="*/ 0 h 6858000"/>
              <a:gd name="connsiteX9" fmla="*/ 8969375 w 8969375"/>
              <a:gd name="connsiteY9" fmla="*/ 0 h 6858000"/>
              <a:gd name="connsiteX10" fmla="*/ 8969375 w 8969375"/>
              <a:gd name="connsiteY10" fmla="*/ 3346450 h 6858000"/>
              <a:gd name="connsiteX11" fmla="*/ 6521450 w 8969375"/>
              <a:gd name="connsiteY11" fmla="*/ 3346450 h 6858000"/>
              <a:gd name="connsiteX12" fmla="*/ 5163820 w 8969375"/>
              <a:gd name="connsiteY12" fmla="*/ 0 h 6858000"/>
              <a:gd name="connsiteX13" fmla="*/ 7726680 w 8969375"/>
              <a:gd name="connsiteY13" fmla="*/ 0 h 6858000"/>
              <a:gd name="connsiteX14" fmla="*/ 4775200 w 8969375"/>
              <a:gd name="connsiteY14" fmla="*/ 6858000 h 6858000"/>
              <a:gd name="connsiteX15" fmla="*/ 2213610 w 8969375"/>
              <a:gd name="connsiteY15" fmla="*/ 6858000 h 6858000"/>
              <a:gd name="connsiteX16" fmla="*/ 3426460 w 8969375"/>
              <a:gd name="connsiteY16" fmla="*/ 0 h 6858000"/>
              <a:gd name="connsiteX17" fmla="*/ 4916170 w 8969375"/>
              <a:gd name="connsiteY17" fmla="*/ 0 h 6858000"/>
              <a:gd name="connsiteX18" fmla="*/ 3475990 w 8969375"/>
              <a:gd name="connsiteY18" fmla="*/ 3346450 h 6858000"/>
              <a:gd name="connsiteX19" fmla="*/ 1986280 w 8969375"/>
              <a:gd name="connsiteY19" fmla="*/ 3346450 h 6858000"/>
              <a:gd name="connsiteX20" fmla="*/ 0 w 8969375"/>
              <a:gd name="connsiteY20" fmla="*/ 0 h 6858000"/>
              <a:gd name="connsiteX21" fmla="*/ 3195320 w 8969375"/>
              <a:gd name="connsiteY21" fmla="*/ 0 h 6858000"/>
              <a:gd name="connsiteX22" fmla="*/ 243840 w 8969375"/>
              <a:gd name="connsiteY22" fmla="*/ 6858000 h 6858000"/>
              <a:gd name="connsiteX23" fmla="*/ 0 w 8969375"/>
              <a:gd name="connsiteY23" fmla="*/ 6858000 h 6858000"/>
              <a:gd name="connsiteX0" fmla="*/ 6604567 w 9123612"/>
              <a:gd name="connsiteY0" fmla="*/ 3511550 h 6858000"/>
              <a:gd name="connsiteX1" fmla="*/ 9123612 w 9123612"/>
              <a:gd name="connsiteY1" fmla="*/ 3511550 h 6858000"/>
              <a:gd name="connsiteX2" fmla="*/ 9123612 w 9123612"/>
              <a:gd name="connsiteY2" fmla="*/ 6858000 h 6858000"/>
              <a:gd name="connsiteX3" fmla="*/ 5164387 w 9123612"/>
              <a:gd name="connsiteY3" fmla="*/ 6858000 h 6858000"/>
              <a:gd name="connsiteX4" fmla="*/ 6604567 w 9123612"/>
              <a:gd name="connsiteY4" fmla="*/ 3511550 h 6858000"/>
              <a:gd name="connsiteX5" fmla="*/ 2069397 w 9123612"/>
              <a:gd name="connsiteY5" fmla="*/ 3511550 h 6858000"/>
              <a:gd name="connsiteX6" fmla="*/ 3559107 w 9123612"/>
              <a:gd name="connsiteY6" fmla="*/ 3511550 h 6858000"/>
              <a:gd name="connsiteX7" fmla="*/ 2118927 w 9123612"/>
              <a:gd name="connsiteY7" fmla="*/ 6858000 h 6858000"/>
              <a:gd name="connsiteX8" fmla="*/ 629217 w 9123612"/>
              <a:gd name="connsiteY8" fmla="*/ 6858000 h 6858000"/>
              <a:gd name="connsiteX9" fmla="*/ 2069397 w 9123612"/>
              <a:gd name="connsiteY9" fmla="*/ 3511550 h 6858000"/>
              <a:gd name="connsiteX10" fmla="*/ 8115867 w 9123612"/>
              <a:gd name="connsiteY10" fmla="*/ 0 h 6858000"/>
              <a:gd name="connsiteX11" fmla="*/ 9123612 w 9123612"/>
              <a:gd name="connsiteY11" fmla="*/ 0 h 6858000"/>
              <a:gd name="connsiteX12" fmla="*/ 9123612 w 9123612"/>
              <a:gd name="connsiteY12" fmla="*/ 3346450 h 6858000"/>
              <a:gd name="connsiteX13" fmla="*/ 6675687 w 9123612"/>
              <a:gd name="connsiteY13" fmla="*/ 3346450 h 6858000"/>
              <a:gd name="connsiteX14" fmla="*/ 8115867 w 9123612"/>
              <a:gd name="connsiteY14" fmla="*/ 0 h 6858000"/>
              <a:gd name="connsiteX15" fmla="*/ 5318057 w 9123612"/>
              <a:gd name="connsiteY15" fmla="*/ 0 h 6858000"/>
              <a:gd name="connsiteX16" fmla="*/ 7880917 w 9123612"/>
              <a:gd name="connsiteY16" fmla="*/ 0 h 6858000"/>
              <a:gd name="connsiteX17" fmla="*/ 4929437 w 9123612"/>
              <a:gd name="connsiteY17" fmla="*/ 6858000 h 6858000"/>
              <a:gd name="connsiteX18" fmla="*/ 2367847 w 9123612"/>
              <a:gd name="connsiteY18" fmla="*/ 6858000 h 6858000"/>
              <a:gd name="connsiteX19" fmla="*/ 5318057 w 9123612"/>
              <a:gd name="connsiteY19" fmla="*/ 0 h 6858000"/>
              <a:gd name="connsiteX20" fmla="*/ 3580697 w 9123612"/>
              <a:gd name="connsiteY20" fmla="*/ 0 h 6858000"/>
              <a:gd name="connsiteX21" fmla="*/ 5070407 w 9123612"/>
              <a:gd name="connsiteY21" fmla="*/ 0 h 6858000"/>
              <a:gd name="connsiteX22" fmla="*/ 3630227 w 9123612"/>
              <a:gd name="connsiteY22" fmla="*/ 3346450 h 6858000"/>
              <a:gd name="connsiteX23" fmla="*/ 2140517 w 9123612"/>
              <a:gd name="connsiteY23" fmla="*/ 3346450 h 6858000"/>
              <a:gd name="connsiteX24" fmla="*/ 3580697 w 9123612"/>
              <a:gd name="connsiteY24" fmla="*/ 0 h 6858000"/>
              <a:gd name="connsiteX25" fmla="*/ 154237 w 9123612"/>
              <a:gd name="connsiteY25" fmla="*/ 0 h 6858000"/>
              <a:gd name="connsiteX26" fmla="*/ 3349557 w 9123612"/>
              <a:gd name="connsiteY26" fmla="*/ 0 h 6858000"/>
              <a:gd name="connsiteX27" fmla="*/ 398077 w 9123612"/>
              <a:gd name="connsiteY27" fmla="*/ 6858000 h 6858000"/>
              <a:gd name="connsiteX28" fmla="*/ 0 w 9123612"/>
              <a:gd name="connsiteY28" fmla="*/ 6858000 h 6858000"/>
              <a:gd name="connsiteX29" fmla="*/ 154237 w 9123612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18625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186259 w 9155634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054197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054197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54365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54365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54365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54365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4724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47249 w 9155634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4724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47249 w 9155634"/>
              <a:gd name="connsiteY2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9155634" h="6858000">
                <a:moveTo>
                  <a:pt x="6636589" y="3511550"/>
                </a:moveTo>
                <a:lnTo>
                  <a:pt x="9155634" y="3511550"/>
                </a:lnTo>
                <a:lnTo>
                  <a:pt x="9155634" y="6858000"/>
                </a:lnTo>
                <a:lnTo>
                  <a:pt x="5196409" y="6858000"/>
                </a:lnTo>
                <a:lnTo>
                  <a:pt x="6636589" y="3511550"/>
                </a:lnTo>
                <a:close/>
                <a:moveTo>
                  <a:pt x="2101419" y="3511550"/>
                </a:moveTo>
                <a:lnTo>
                  <a:pt x="3591129" y="3511550"/>
                </a:lnTo>
                <a:lnTo>
                  <a:pt x="2150949" y="6858000"/>
                </a:lnTo>
                <a:lnTo>
                  <a:pt x="661239" y="6858000"/>
                </a:lnTo>
                <a:lnTo>
                  <a:pt x="2101419" y="3511550"/>
                </a:lnTo>
                <a:close/>
                <a:moveTo>
                  <a:pt x="8147889" y="0"/>
                </a:moveTo>
                <a:lnTo>
                  <a:pt x="9155634" y="0"/>
                </a:lnTo>
                <a:lnTo>
                  <a:pt x="9155634" y="3346450"/>
                </a:lnTo>
                <a:lnTo>
                  <a:pt x="6707709" y="3346450"/>
                </a:lnTo>
                <a:lnTo>
                  <a:pt x="8147889" y="0"/>
                </a:lnTo>
                <a:close/>
                <a:moveTo>
                  <a:pt x="5350079" y="0"/>
                </a:moveTo>
                <a:lnTo>
                  <a:pt x="7912939" y="0"/>
                </a:lnTo>
                <a:lnTo>
                  <a:pt x="4961459" y="6858000"/>
                </a:lnTo>
                <a:lnTo>
                  <a:pt x="2399869" y="6858000"/>
                </a:lnTo>
                <a:lnTo>
                  <a:pt x="5350079" y="0"/>
                </a:lnTo>
                <a:close/>
                <a:moveTo>
                  <a:pt x="3612719" y="0"/>
                </a:moveTo>
                <a:lnTo>
                  <a:pt x="5102429" y="0"/>
                </a:lnTo>
                <a:lnTo>
                  <a:pt x="3662249" y="3346450"/>
                </a:lnTo>
                <a:lnTo>
                  <a:pt x="2172539" y="3346450"/>
                </a:lnTo>
                <a:lnTo>
                  <a:pt x="3612719" y="0"/>
                </a:lnTo>
                <a:close/>
                <a:moveTo>
                  <a:pt x="2947249" y="0"/>
                </a:moveTo>
                <a:lnTo>
                  <a:pt x="3381579" y="0"/>
                </a:lnTo>
                <a:lnTo>
                  <a:pt x="430099" y="6858000"/>
                </a:lnTo>
                <a:lnTo>
                  <a:pt x="0" y="6858000"/>
                </a:lnTo>
                <a:lnTo>
                  <a:pt x="2947249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2" name="Graphic 19">
            <a:extLst>
              <a:ext uri="{FF2B5EF4-FFF2-40B4-BE49-F238E27FC236}">
                <a16:creationId xmlns:a16="http://schemas.microsoft.com/office/drawing/2014/main" id="{A6B740BD-8499-412C-AE4E-A4AD7F73100E}"/>
              </a:ext>
            </a:extLst>
          </p:cNvPr>
          <p:cNvSpPr/>
          <p:nvPr/>
        </p:nvSpPr>
        <p:spPr>
          <a:xfrm>
            <a:off x="-8139" y="3369468"/>
            <a:ext cx="2791800" cy="144000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310DFD8C-544F-465B-8315-8B3AA8B95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516" y="1096345"/>
            <a:ext cx="7883066" cy="2281355"/>
          </a:xfrm>
        </p:spPr>
        <p:txBody>
          <a:bodyPr>
            <a:noAutofit/>
          </a:bodyPr>
          <a:lstStyle>
            <a:lvl1pPr algn="l">
              <a:defRPr sz="525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ru-RU" dirty="0"/>
            </a:br>
            <a:r>
              <a:rPr lang="en-US" dirty="0"/>
              <a:t>TITLE</a:t>
            </a:r>
            <a:endParaRPr lang="ru-RU" dirty="0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A4843534-A750-4D01-BC62-26CD9AEA6A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7516" y="3773555"/>
            <a:ext cx="7567715" cy="1101897"/>
          </a:xfrm>
        </p:spPr>
        <p:txBody>
          <a:bodyPr>
            <a:noAutofit/>
          </a:bodyPr>
          <a:lstStyle>
            <a:lvl1pPr marL="0" indent="0" algn="l">
              <a:buNone/>
              <a:defRPr sz="2625" b="0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Tagline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F8E7B25A-0A4A-430B-903E-76193E2954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7516" y="5451785"/>
            <a:ext cx="3275648" cy="324417"/>
          </a:xfrm>
        </p:spPr>
        <p:txBody>
          <a:bodyPr>
            <a:noAutofit/>
          </a:bodyPr>
          <a:lstStyle>
            <a:lvl1pPr marL="0" indent="0" algn="l">
              <a:buNone/>
              <a:defRPr sz="1650" b="1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20XX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B88F3A2A-BD60-4F82-8064-8B157AF4DDC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7516" y="5105537"/>
            <a:ext cx="3275648" cy="324417"/>
          </a:xfrm>
        </p:spPr>
        <p:txBody>
          <a:bodyPr>
            <a:noAutofit/>
          </a:bodyPr>
          <a:lstStyle>
            <a:lvl1pPr marL="0" indent="0" algn="l">
              <a:buNone/>
              <a:defRPr sz="1650" b="0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Month</a:t>
            </a:r>
          </a:p>
        </p:txBody>
      </p:sp>
    </p:spTree>
    <p:extLst>
      <p:ext uri="{BB962C8B-B14F-4D97-AF65-F5344CB8AC3E}">
        <p14:creationId xmlns:p14="http://schemas.microsoft.com/office/powerpoint/2010/main" val="3028798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61FE90B3-361E-4150-BE53-368ADEA27D7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130966"/>
            <a:ext cx="9144000" cy="6602574"/>
          </a:xfrm>
          <a:custGeom>
            <a:avLst/>
            <a:gdLst>
              <a:gd name="connsiteX0" fmla="*/ 5864259 w 12192000"/>
              <a:gd name="connsiteY0" fmla="*/ 2895444 h 6602574"/>
              <a:gd name="connsiteX1" fmla="*/ 5864259 w 12192000"/>
              <a:gd name="connsiteY1" fmla="*/ 5383374 h 6602574"/>
              <a:gd name="connsiteX2" fmla="*/ 0 w 12192000"/>
              <a:gd name="connsiteY2" fmla="*/ 6602574 h 6602574"/>
              <a:gd name="connsiteX3" fmla="*/ 0 w 12192000"/>
              <a:gd name="connsiteY3" fmla="*/ 4114644 h 6602574"/>
              <a:gd name="connsiteX4" fmla="*/ 12192000 w 12192000"/>
              <a:gd name="connsiteY4" fmla="*/ 2726690 h 6602574"/>
              <a:gd name="connsiteX5" fmla="*/ 12192000 w 12192000"/>
              <a:gd name="connsiteY5" fmla="*/ 5214620 h 6602574"/>
              <a:gd name="connsiteX6" fmla="*/ 6104805 w 12192000"/>
              <a:gd name="connsiteY6" fmla="*/ 6470494 h 6602574"/>
              <a:gd name="connsiteX7" fmla="*/ 6104805 w 12192000"/>
              <a:gd name="connsiteY7" fmla="*/ 3982564 h 6602574"/>
              <a:gd name="connsiteX8" fmla="*/ 12192000 w 12192000"/>
              <a:gd name="connsiteY8" fmla="*/ 0 h 6602574"/>
              <a:gd name="connsiteX9" fmla="*/ 12192000 w 12192000"/>
              <a:gd name="connsiteY9" fmla="*/ 2487923 h 6602574"/>
              <a:gd name="connsiteX10" fmla="*/ 6104805 w 12192000"/>
              <a:gd name="connsiteY10" fmla="*/ 3742534 h 6602574"/>
              <a:gd name="connsiteX11" fmla="*/ 6104805 w 12192000"/>
              <a:gd name="connsiteY11" fmla="*/ 1255874 h 6602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602574">
                <a:moveTo>
                  <a:pt x="5864259" y="2895444"/>
                </a:moveTo>
                <a:lnTo>
                  <a:pt x="5864259" y="5383374"/>
                </a:lnTo>
                <a:lnTo>
                  <a:pt x="0" y="6602574"/>
                </a:lnTo>
                <a:lnTo>
                  <a:pt x="0" y="4114644"/>
                </a:lnTo>
                <a:close/>
                <a:moveTo>
                  <a:pt x="12192000" y="2726690"/>
                </a:moveTo>
                <a:lnTo>
                  <a:pt x="12192000" y="5214620"/>
                </a:lnTo>
                <a:lnTo>
                  <a:pt x="6104805" y="6470494"/>
                </a:lnTo>
                <a:lnTo>
                  <a:pt x="6104805" y="3982564"/>
                </a:lnTo>
                <a:close/>
                <a:moveTo>
                  <a:pt x="12192000" y="0"/>
                </a:moveTo>
                <a:lnTo>
                  <a:pt x="12192000" y="2487923"/>
                </a:lnTo>
                <a:lnTo>
                  <a:pt x="6104805" y="3742534"/>
                </a:lnTo>
                <a:lnTo>
                  <a:pt x="6104805" y="125587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97552-E3A8-41F6-B00B-4A39A247A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931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Graphic 4">
            <a:extLst>
              <a:ext uri="{FF2B5EF4-FFF2-40B4-BE49-F238E27FC236}">
                <a16:creationId xmlns:a16="http://schemas.microsoft.com/office/drawing/2014/main" id="{2095D1D4-8CA3-4CA3-825D-088EDB51A8AE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2DB5E70B-ECC9-4800-9DC0-5897EF3F16AB}"/>
              </a:ext>
            </a:extLst>
          </p:cNvPr>
          <p:cNvSpPr/>
          <p:nvPr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8AF4189-33DF-9B46-9624-C722FCE07D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2225393"/>
            <a:ext cx="3316392" cy="749047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8541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9D8367A5-C050-47FB-A1BD-54CD13DE3A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139804" y="0"/>
            <a:ext cx="4577716" cy="6858000"/>
          </a:xfrm>
          <a:custGeom>
            <a:avLst/>
            <a:gdLst>
              <a:gd name="connsiteX0" fmla="*/ 3914141 w 6103621"/>
              <a:gd name="connsiteY0" fmla="*/ 914400 h 6858000"/>
              <a:gd name="connsiteX1" fmla="*/ 6103621 w 6103621"/>
              <a:gd name="connsiteY1" fmla="*/ 914400 h 6858000"/>
              <a:gd name="connsiteX2" fmla="*/ 4339591 w 6103621"/>
              <a:gd name="connsiteY2" fmla="*/ 6858000 h 6858000"/>
              <a:gd name="connsiteX3" fmla="*/ 2150112 w 6103621"/>
              <a:gd name="connsiteY3" fmla="*/ 6858000 h 6858000"/>
              <a:gd name="connsiteX4" fmla="*/ 1769111 w 6103621"/>
              <a:gd name="connsiteY4" fmla="*/ 0 h 6858000"/>
              <a:gd name="connsiteX5" fmla="*/ 3958591 w 6103621"/>
              <a:gd name="connsiteY5" fmla="*/ 0 h 6858000"/>
              <a:gd name="connsiteX6" fmla="*/ 2189480 w 6103621"/>
              <a:gd name="connsiteY6" fmla="*/ 5943601 h 6858000"/>
              <a:gd name="connsiteX7" fmla="*/ 0 w 6103621"/>
              <a:gd name="connsiteY7" fmla="*/ 594360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03621" h="6858000">
                <a:moveTo>
                  <a:pt x="3914141" y="914400"/>
                </a:moveTo>
                <a:lnTo>
                  <a:pt x="6103621" y="914400"/>
                </a:lnTo>
                <a:lnTo>
                  <a:pt x="4339591" y="6858000"/>
                </a:lnTo>
                <a:lnTo>
                  <a:pt x="2150112" y="6858000"/>
                </a:lnTo>
                <a:close/>
                <a:moveTo>
                  <a:pt x="1769111" y="0"/>
                </a:moveTo>
                <a:lnTo>
                  <a:pt x="3958591" y="0"/>
                </a:lnTo>
                <a:lnTo>
                  <a:pt x="2189480" y="5943601"/>
                </a:lnTo>
                <a:lnTo>
                  <a:pt x="0" y="594360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302F0820-F94A-40EF-B3BE-26CD0CB551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524" y="3074530"/>
            <a:ext cx="3316392" cy="2588637"/>
          </a:xfrm>
        </p:spPr>
        <p:txBody>
          <a:bodyPr lIns="0"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 b="0" i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3528AEE-54AB-4366-9576-BBA1CE5F3A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1032746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 LAYOUT 1</a:t>
            </a:r>
            <a:endParaRPr lang="ru-RU" dirty="0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A1867536-E941-4FED-8B68-2609143C2A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2225393"/>
            <a:ext cx="3316392" cy="749047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6" name="Graphic 4">
            <a:extLst>
              <a:ext uri="{FF2B5EF4-FFF2-40B4-BE49-F238E27FC236}">
                <a16:creationId xmlns:a16="http://schemas.microsoft.com/office/drawing/2014/main" id="{7D57D3C0-DF85-4866-AC4B-ED6A0F6963A5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Graphic 15">
            <a:extLst>
              <a:ext uri="{FF2B5EF4-FFF2-40B4-BE49-F238E27FC236}">
                <a16:creationId xmlns:a16="http://schemas.microsoft.com/office/drawing/2014/main" id="{FA387E18-8CE1-1648-81B1-6F1A0F183C30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35592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B2044CCF-605D-4D6E-A41D-D6AED53B223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404811"/>
            <a:ext cx="4581654" cy="5485128"/>
          </a:xfrm>
          <a:custGeom>
            <a:avLst/>
            <a:gdLst>
              <a:gd name="connsiteX0" fmla="*/ 0 w 6108872"/>
              <a:gd name="connsiteY0" fmla="*/ 2203471 h 5485128"/>
              <a:gd name="connsiteX1" fmla="*/ 6108872 w 6108872"/>
              <a:gd name="connsiteY1" fmla="*/ 3505695 h 5485128"/>
              <a:gd name="connsiteX2" fmla="*/ 6108872 w 6108872"/>
              <a:gd name="connsiteY2" fmla="*/ 5485128 h 5485128"/>
              <a:gd name="connsiteX3" fmla="*/ 0 w 6108872"/>
              <a:gd name="connsiteY3" fmla="*/ 4182903 h 5485128"/>
              <a:gd name="connsiteX4" fmla="*/ 0 w 6108872"/>
              <a:gd name="connsiteY4" fmla="*/ 0 h 5485128"/>
              <a:gd name="connsiteX5" fmla="*/ 6108872 w 6108872"/>
              <a:gd name="connsiteY5" fmla="*/ 1302225 h 5485128"/>
              <a:gd name="connsiteX6" fmla="*/ 6108872 w 6108872"/>
              <a:gd name="connsiteY6" fmla="*/ 3281657 h 5485128"/>
              <a:gd name="connsiteX7" fmla="*/ 0 w 6108872"/>
              <a:gd name="connsiteY7" fmla="*/ 1979432 h 5485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08872" h="5485128">
                <a:moveTo>
                  <a:pt x="0" y="2203471"/>
                </a:moveTo>
                <a:lnTo>
                  <a:pt x="6108872" y="3505695"/>
                </a:lnTo>
                <a:lnTo>
                  <a:pt x="6108872" y="5485128"/>
                </a:lnTo>
                <a:lnTo>
                  <a:pt x="0" y="4182903"/>
                </a:lnTo>
                <a:close/>
                <a:moveTo>
                  <a:pt x="0" y="0"/>
                </a:moveTo>
                <a:lnTo>
                  <a:pt x="6108872" y="1302225"/>
                </a:lnTo>
                <a:lnTo>
                  <a:pt x="6108872" y="3281657"/>
                </a:lnTo>
                <a:lnTo>
                  <a:pt x="0" y="197943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E7F180F3-53B1-4A31-82A4-E6F9B5D8D8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60904" y="3090573"/>
            <a:ext cx="3316393" cy="2588637"/>
          </a:xfrm>
        </p:spPr>
        <p:txBody>
          <a:bodyPr lIns="0"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 b="0" i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D523330-9E96-4C6E-B5A4-6B543D365F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0905" y="1046140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 LAYOUT 2</a:t>
            </a:r>
            <a:endParaRPr lang="ru-R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A08F6B3-0ADA-4ECF-8D25-7DFE4A3641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60905" y="2241516"/>
            <a:ext cx="3316392" cy="749047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Graphic 15">
            <a:extLst>
              <a:ext uri="{FF2B5EF4-FFF2-40B4-BE49-F238E27FC236}">
                <a16:creationId xmlns:a16="http://schemas.microsoft.com/office/drawing/2014/main" id="{5CCECBFE-3C2B-4492-BCDA-1EFEB5E3E092}"/>
              </a:ext>
            </a:extLst>
          </p:cNvPr>
          <p:cNvSpPr/>
          <p:nvPr userDrawn="1"/>
        </p:nvSpPr>
        <p:spPr>
          <a:xfrm flipH="1">
            <a:off x="5235690" y="1947672"/>
            <a:ext cx="3915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3441B044-38F8-49ED-845B-5D926C811447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1050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ecti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3373955-AB5B-4186-8098-9DBA0AB2650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0524" y="2993042"/>
            <a:ext cx="3274219" cy="454353"/>
          </a:xfrm>
        </p:spPr>
        <p:txBody>
          <a:bodyPr>
            <a:noAutofit/>
          </a:bodyPr>
          <a:lstStyle>
            <a:lvl1pPr marL="0" indent="0">
              <a:buNone/>
              <a:defRPr sz="2025" b="1">
                <a:solidFill>
                  <a:schemeClr val="bg2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1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3A3472E-32B4-4CAD-B5D0-420AA3FB4CE3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4970340" y="2993042"/>
            <a:ext cx="3274219" cy="454353"/>
          </a:xfrm>
        </p:spPr>
        <p:txBody>
          <a:bodyPr>
            <a:noAutofit/>
          </a:bodyPr>
          <a:lstStyle>
            <a:lvl1pPr marL="0" indent="0">
              <a:buNone/>
              <a:defRPr sz="2025" b="1">
                <a:solidFill>
                  <a:schemeClr val="bg2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2 title</a:t>
            </a:r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1AEED068-3EA0-4BF4-875C-02473E9EB0C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0524" y="3563412"/>
            <a:ext cx="3274219" cy="2333625"/>
          </a:xfrm>
        </p:spPr>
        <p:txBody>
          <a:bodyPr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3590B9DA-A2DF-4AE1-9A98-C7B84F48C3A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970341" y="3563412"/>
            <a:ext cx="3274219" cy="2333625"/>
          </a:xfrm>
        </p:spPr>
        <p:txBody>
          <a:bodyPr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845E736-FB54-4B3D-821B-60C0AB9E1A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COMPARISON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FF98BA6-47F6-4796-B970-98EE605E81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2221993"/>
            <a:ext cx="7664035" cy="665713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8" name="Graphic 15">
            <a:extLst>
              <a:ext uri="{FF2B5EF4-FFF2-40B4-BE49-F238E27FC236}">
                <a16:creationId xmlns:a16="http://schemas.microsoft.com/office/drawing/2014/main" id="{5E78F6F2-1702-E74A-86B2-0C42A30F3378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40753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-9525" y="-12700"/>
            <a:ext cx="9163050" cy="6883400"/>
            <a:chOff x="-12700" y="-12700"/>
            <a:chExt cx="12217400" cy="68834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542021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8" name="Chart Placeholder 18">
            <a:extLst>
              <a:ext uri="{FF2B5EF4-FFF2-40B4-BE49-F238E27FC236}">
                <a16:creationId xmlns:a16="http://schemas.microsoft.com/office/drawing/2014/main" id="{68B512F2-EA3E-483F-B5D4-29DFD6C37B36}"/>
              </a:ext>
            </a:extLst>
          </p:cNvPr>
          <p:cNvSpPr>
            <a:spLocks noGrp="1"/>
          </p:cNvSpPr>
          <p:nvPr>
            <p:ph type="chart" sz="quarter" idx="32"/>
          </p:nvPr>
        </p:nvSpPr>
        <p:spPr>
          <a:xfrm>
            <a:off x="4572001" y="1246189"/>
            <a:ext cx="3877526" cy="4365625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chart</a:t>
            </a:r>
            <a:endParaRPr lang="ru-RU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D58E79F-20BB-644D-8C49-25B57E347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4" y="1317174"/>
            <a:ext cx="2119122" cy="1524185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CHART</a:t>
            </a:r>
            <a:br>
              <a:rPr lang="en-US" dirty="0"/>
            </a:br>
            <a:r>
              <a:rPr lang="en-US" dirty="0"/>
              <a:t>SLIDE</a:t>
            </a:r>
            <a:endParaRPr lang="ru-RU" dirty="0"/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EF8E92E6-C1C9-854A-93EE-FD201AF050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3198229"/>
            <a:ext cx="2119122" cy="2154741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4" name="Graphic 15">
            <a:extLst>
              <a:ext uri="{FF2B5EF4-FFF2-40B4-BE49-F238E27FC236}">
                <a16:creationId xmlns:a16="http://schemas.microsoft.com/office/drawing/2014/main" id="{C1F625F0-F98F-D244-9020-86C86C287112}"/>
              </a:ext>
            </a:extLst>
          </p:cNvPr>
          <p:cNvSpPr/>
          <p:nvPr userDrawn="1"/>
        </p:nvSpPr>
        <p:spPr>
          <a:xfrm>
            <a:off x="-8380" y="2899869"/>
            <a:ext cx="1971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3699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845E736-FB54-4B3D-821B-60C0AB9E1A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4" y="1317174"/>
            <a:ext cx="2119122" cy="1524185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TABLE</a:t>
            </a:r>
            <a:br>
              <a:rPr lang="en-US" dirty="0"/>
            </a:br>
            <a:r>
              <a:rPr lang="en-US" dirty="0"/>
              <a:t>SLIDE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FF98BA6-47F6-4796-B970-98EE605E81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3198229"/>
            <a:ext cx="2119122" cy="2154741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2" name="Graphic 15">
            <a:extLst>
              <a:ext uri="{FF2B5EF4-FFF2-40B4-BE49-F238E27FC236}">
                <a16:creationId xmlns:a16="http://schemas.microsoft.com/office/drawing/2014/main" id="{C8EF6174-FF5D-41C2-BF6B-9D6ECB281A1D}"/>
              </a:ext>
            </a:extLst>
          </p:cNvPr>
          <p:cNvSpPr/>
          <p:nvPr userDrawn="1"/>
        </p:nvSpPr>
        <p:spPr>
          <a:xfrm>
            <a:off x="-8380" y="2899869"/>
            <a:ext cx="1971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8" name="Table Placeholder 17">
            <a:extLst>
              <a:ext uri="{FF2B5EF4-FFF2-40B4-BE49-F238E27FC236}">
                <a16:creationId xmlns:a16="http://schemas.microsoft.com/office/drawing/2014/main" id="{D45BCEDF-86BB-41E2-9F09-5D3014AD1C45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3536843" y="1591500"/>
            <a:ext cx="4920854" cy="3761069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table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0612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itle Sli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E694C388-14E9-4848-A715-72B7DC6AF5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26" y="0"/>
            <a:ext cx="9121139" cy="6858000"/>
          </a:xfrm>
          <a:custGeom>
            <a:avLst/>
            <a:gdLst>
              <a:gd name="connsiteX0" fmla="*/ 12161519 w 12161519"/>
              <a:gd name="connsiteY0" fmla="*/ 638810 h 6858000"/>
              <a:gd name="connsiteX1" fmla="*/ 12161519 w 12161519"/>
              <a:gd name="connsiteY1" fmla="*/ 1922780 h 6858000"/>
              <a:gd name="connsiteX2" fmla="*/ 9531350 w 12161519"/>
              <a:gd name="connsiteY2" fmla="*/ 6858000 h 6858000"/>
              <a:gd name="connsiteX3" fmla="*/ 8846819 w 12161519"/>
              <a:gd name="connsiteY3" fmla="*/ 6858000 h 6858000"/>
              <a:gd name="connsiteX4" fmla="*/ 10704830 w 12161519"/>
              <a:gd name="connsiteY4" fmla="*/ 0 h 6858000"/>
              <a:gd name="connsiteX5" fmla="*/ 12161519 w 12161519"/>
              <a:gd name="connsiteY5" fmla="*/ 0 h 6858000"/>
              <a:gd name="connsiteX6" fmla="*/ 12161519 w 12161519"/>
              <a:gd name="connsiteY6" fmla="*/ 234950 h 6858000"/>
              <a:gd name="connsiteX7" fmla="*/ 8632190 w 12161519"/>
              <a:gd name="connsiteY7" fmla="*/ 6858000 h 6858000"/>
              <a:gd name="connsiteX8" fmla="*/ 7049770 w 12161519"/>
              <a:gd name="connsiteY8" fmla="*/ 6858000 h 6858000"/>
              <a:gd name="connsiteX9" fmla="*/ 5320030 w 12161519"/>
              <a:gd name="connsiteY9" fmla="*/ 0 h 6858000"/>
              <a:gd name="connsiteX10" fmla="*/ 10476230 w 12161519"/>
              <a:gd name="connsiteY10" fmla="*/ 0 h 6858000"/>
              <a:gd name="connsiteX11" fmla="*/ 6822440 w 12161519"/>
              <a:gd name="connsiteY11" fmla="*/ 6858000 h 6858000"/>
              <a:gd name="connsiteX12" fmla="*/ 1664970 w 12161519"/>
              <a:gd name="connsiteY12" fmla="*/ 6858000 h 6858000"/>
              <a:gd name="connsiteX13" fmla="*/ 3529330 w 12161519"/>
              <a:gd name="connsiteY13" fmla="*/ 0 h 6858000"/>
              <a:gd name="connsiteX14" fmla="*/ 5111750 w 12161519"/>
              <a:gd name="connsiteY14" fmla="*/ 0 h 6858000"/>
              <a:gd name="connsiteX15" fmla="*/ 1456690 w 12161519"/>
              <a:gd name="connsiteY15" fmla="*/ 6858000 h 6858000"/>
              <a:gd name="connsiteX16" fmla="*/ 0 w 12161519"/>
              <a:gd name="connsiteY16" fmla="*/ 6858000 h 6858000"/>
              <a:gd name="connsiteX17" fmla="*/ 0 w 12161519"/>
              <a:gd name="connsiteY17" fmla="*/ 6623050 h 6858000"/>
              <a:gd name="connsiteX18" fmla="*/ 2630170 w 12161519"/>
              <a:gd name="connsiteY18" fmla="*/ 0 h 6858000"/>
              <a:gd name="connsiteX19" fmla="*/ 3314700 w 12161519"/>
              <a:gd name="connsiteY19" fmla="*/ 0 h 6858000"/>
              <a:gd name="connsiteX20" fmla="*/ 0 w 12161519"/>
              <a:gd name="connsiteY20" fmla="*/ 6219190 h 6858000"/>
              <a:gd name="connsiteX21" fmla="*/ 0 w 12161519"/>
              <a:gd name="connsiteY21" fmla="*/ 493522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61519" h="6858000">
                <a:moveTo>
                  <a:pt x="12161519" y="638810"/>
                </a:moveTo>
                <a:lnTo>
                  <a:pt x="12161519" y="1922780"/>
                </a:lnTo>
                <a:lnTo>
                  <a:pt x="9531350" y="6858000"/>
                </a:lnTo>
                <a:lnTo>
                  <a:pt x="8846819" y="6858000"/>
                </a:lnTo>
                <a:close/>
                <a:moveTo>
                  <a:pt x="10704830" y="0"/>
                </a:moveTo>
                <a:lnTo>
                  <a:pt x="12161519" y="0"/>
                </a:lnTo>
                <a:lnTo>
                  <a:pt x="12161519" y="234950"/>
                </a:lnTo>
                <a:lnTo>
                  <a:pt x="8632190" y="6858000"/>
                </a:lnTo>
                <a:lnTo>
                  <a:pt x="7049770" y="6858000"/>
                </a:lnTo>
                <a:close/>
                <a:moveTo>
                  <a:pt x="5320030" y="0"/>
                </a:moveTo>
                <a:lnTo>
                  <a:pt x="10476230" y="0"/>
                </a:lnTo>
                <a:lnTo>
                  <a:pt x="6822440" y="6858000"/>
                </a:lnTo>
                <a:lnTo>
                  <a:pt x="1664970" y="6858000"/>
                </a:lnTo>
                <a:close/>
                <a:moveTo>
                  <a:pt x="3529330" y="0"/>
                </a:moveTo>
                <a:lnTo>
                  <a:pt x="5111750" y="0"/>
                </a:lnTo>
                <a:lnTo>
                  <a:pt x="1456690" y="6858000"/>
                </a:lnTo>
                <a:lnTo>
                  <a:pt x="0" y="6858000"/>
                </a:lnTo>
                <a:lnTo>
                  <a:pt x="0" y="6623050"/>
                </a:lnTo>
                <a:close/>
                <a:moveTo>
                  <a:pt x="2630170" y="0"/>
                </a:moveTo>
                <a:lnTo>
                  <a:pt x="3314700" y="0"/>
                </a:lnTo>
                <a:lnTo>
                  <a:pt x="0" y="6219190"/>
                </a:lnTo>
                <a:lnTo>
                  <a:pt x="0" y="493522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FD7B55F-CFD3-4921-BB2A-B14EB4E363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4" y="1033272"/>
            <a:ext cx="7886249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BIG IMAGE SLIDE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932204AA-73EE-4F85-898B-E747C5ACC0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1880795"/>
            <a:ext cx="7888949" cy="782639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Graphic 4">
            <a:extLst>
              <a:ext uri="{FF2B5EF4-FFF2-40B4-BE49-F238E27FC236}">
                <a16:creationId xmlns:a16="http://schemas.microsoft.com/office/drawing/2014/main" id="{38541361-4795-490E-8165-B4A338F8231D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2E78DA-7F75-294B-AECF-F02F6C41615D}"/>
              </a:ext>
            </a:extLst>
          </p:cNvPr>
          <p:cNvSpPr txBox="1"/>
          <p:nvPr userDrawn="1"/>
        </p:nvSpPr>
        <p:spPr>
          <a:xfrm>
            <a:off x="222569" y="30025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940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F5D581-F5B0-4701-B187-0D4FAB44900C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6"/>
          </a:solidFill>
          <a:ln w="127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ru-RU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E5F41AB-E2B9-45DD-B1C7-9F4DBA4946B9}"/>
              </a:ext>
            </a:extLst>
          </p:cNvPr>
          <p:cNvSpPr/>
          <p:nvPr userDrawn="1"/>
        </p:nvSpPr>
        <p:spPr>
          <a:xfrm>
            <a:off x="1834319" y="-12700"/>
            <a:ext cx="5467350" cy="6883400"/>
          </a:xfrm>
          <a:custGeom>
            <a:avLst/>
            <a:gdLst>
              <a:gd name="connsiteX0" fmla="*/ 5063490 w 7289800"/>
              <a:gd name="connsiteY0" fmla="*/ 12700 h 6883400"/>
              <a:gd name="connsiteX1" fmla="*/ 2499360 w 7289800"/>
              <a:gd name="connsiteY1" fmla="*/ 6870700 h 6883400"/>
              <a:gd name="connsiteX2" fmla="*/ 4721860 w 7289800"/>
              <a:gd name="connsiteY2" fmla="*/ 6870700 h 6883400"/>
              <a:gd name="connsiteX3" fmla="*/ 7285990 w 7289800"/>
              <a:gd name="connsiteY3" fmla="*/ 12700 h 6883400"/>
              <a:gd name="connsiteX4" fmla="*/ 5063490 w 7289800"/>
              <a:gd name="connsiteY4" fmla="*/ 12700 h 6883400"/>
              <a:gd name="connsiteX5" fmla="*/ 12700 w 7289800"/>
              <a:gd name="connsiteY5" fmla="*/ 6870700 h 6883400"/>
              <a:gd name="connsiteX6" fmla="*/ 2235200 w 7289800"/>
              <a:gd name="connsiteY6" fmla="*/ 6870700 h 6883400"/>
              <a:gd name="connsiteX7" fmla="*/ 4799331 w 7289800"/>
              <a:gd name="connsiteY7" fmla="*/ 12700 h 6883400"/>
              <a:gd name="connsiteX8" fmla="*/ 2576830 w 7289800"/>
              <a:gd name="connsiteY8" fmla="*/ 12700 h 6883400"/>
              <a:gd name="connsiteX9" fmla="*/ 12700 w 7289800"/>
              <a:gd name="connsiteY9" fmla="*/ 6870700 h 688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89800" h="6883400">
                <a:moveTo>
                  <a:pt x="5063490" y="12700"/>
                </a:moveTo>
                <a:lnTo>
                  <a:pt x="2499360" y="6870700"/>
                </a:lnTo>
                <a:lnTo>
                  <a:pt x="4721860" y="6870700"/>
                </a:lnTo>
                <a:lnTo>
                  <a:pt x="7285990" y="12700"/>
                </a:lnTo>
                <a:lnTo>
                  <a:pt x="5063490" y="12700"/>
                </a:lnTo>
                <a:close/>
                <a:moveTo>
                  <a:pt x="12700" y="6870700"/>
                </a:moveTo>
                <a:lnTo>
                  <a:pt x="2235200" y="6870700"/>
                </a:lnTo>
                <a:lnTo>
                  <a:pt x="4799331" y="12700"/>
                </a:lnTo>
                <a:lnTo>
                  <a:pt x="2576830" y="12700"/>
                </a:lnTo>
                <a:lnTo>
                  <a:pt x="12700" y="6870700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510C334-F1CE-4CEF-ADC6-D1BADB9947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156580"/>
            <a:ext cx="7886700" cy="1325563"/>
          </a:xfrm>
        </p:spPr>
        <p:txBody>
          <a:bodyPr lIns="0" rIns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VIDEO SLIDE</a:t>
            </a:r>
            <a:endParaRPr lang="ru-RU" dirty="0"/>
          </a:p>
        </p:txBody>
      </p:sp>
      <p:sp>
        <p:nvSpPr>
          <p:cNvPr id="16" name="Media Placeholder 7">
            <a:extLst>
              <a:ext uri="{FF2B5EF4-FFF2-40B4-BE49-F238E27FC236}">
                <a16:creationId xmlns:a16="http://schemas.microsoft.com/office/drawing/2014/main" id="{A11F77F4-4B16-4503-B9B6-AE22C686E3E3}"/>
              </a:ext>
            </a:extLst>
          </p:cNvPr>
          <p:cNvSpPr>
            <a:spLocks noGrp="1"/>
          </p:cNvSpPr>
          <p:nvPr>
            <p:ph type="media" sz="quarter" idx="17"/>
          </p:nvPr>
        </p:nvSpPr>
        <p:spPr>
          <a:xfrm>
            <a:off x="1046988" y="1497770"/>
            <a:ext cx="7050024" cy="4215384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media</a:t>
            </a:r>
            <a:endParaRPr lang="ru-RU" dirty="0"/>
          </a:p>
        </p:txBody>
      </p:sp>
      <p:sp>
        <p:nvSpPr>
          <p:cNvPr id="12" name="Graphic 4">
            <a:extLst>
              <a:ext uri="{FF2B5EF4-FFF2-40B4-BE49-F238E27FC236}">
                <a16:creationId xmlns:a16="http://schemas.microsoft.com/office/drawing/2014/main" id="{C7654E36-50FF-425E-B595-F3957610B5D8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5853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Layou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88BA6D96-EFE3-4743-8FB5-544E9692D11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" y="0"/>
            <a:ext cx="6866572" cy="6858000"/>
          </a:xfrm>
          <a:custGeom>
            <a:avLst/>
            <a:gdLst>
              <a:gd name="connsiteX0" fmla="*/ 5490209 w 9155429"/>
              <a:gd name="connsiteY0" fmla="*/ 3511550 h 6858000"/>
              <a:gd name="connsiteX1" fmla="*/ 6979919 w 9155429"/>
              <a:gd name="connsiteY1" fmla="*/ 3511550 h 6858000"/>
              <a:gd name="connsiteX2" fmla="*/ 5541009 w 9155429"/>
              <a:gd name="connsiteY2" fmla="*/ 6858000 h 6858000"/>
              <a:gd name="connsiteX3" fmla="*/ 4050029 w 9155429"/>
              <a:gd name="connsiteY3" fmla="*/ 6858000 h 6858000"/>
              <a:gd name="connsiteX4" fmla="*/ 0 w 9155429"/>
              <a:gd name="connsiteY4" fmla="*/ 3511550 h 6858000"/>
              <a:gd name="connsiteX5" fmla="*/ 2444750 w 9155429"/>
              <a:gd name="connsiteY5" fmla="*/ 3511550 h 6858000"/>
              <a:gd name="connsiteX6" fmla="*/ 1004570 w 9155429"/>
              <a:gd name="connsiteY6" fmla="*/ 6858000 h 6858000"/>
              <a:gd name="connsiteX7" fmla="*/ 0 w 9155429"/>
              <a:gd name="connsiteY7" fmla="*/ 6858000 h 6858000"/>
              <a:gd name="connsiteX8" fmla="*/ 7001509 w 9155429"/>
              <a:gd name="connsiteY8" fmla="*/ 1 h 6858000"/>
              <a:gd name="connsiteX9" fmla="*/ 8491219 w 9155429"/>
              <a:gd name="connsiteY9" fmla="*/ 1 h 6858000"/>
              <a:gd name="connsiteX10" fmla="*/ 7051039 w 9155429"/>
              <a:gd name="connsiteY10" fmla="*/ 3346450 h 6858000"/>
              <a:gd name="connsiteX11" fmla="*/ 5561329 w 9155429"/>
              <a:gd name="connsiteY11" fmla="*/ 3346450 h 6858000"/>
              <a:gd name="connsiteX12" fmla="*/ 8722359 w 9155429"/>
              <a:gd name="connsiteY12" fmla="*/ 0 h 6858000"/>
              <a:gd name="connsiteX13" fmla="*/ 9155429 w 9155429"/>
              <a:gd name="connsiteY13" fmla="*/ 0 h 6858000"/>
              <a:gd name="connsiteX14" fmla="*/ 6203949 w 9155429"/>
              <a:gd name="connsiteY14" fmla="*/ 6858000 h 6858000"/>
              <a:gd name="connsiteX15" fmla="*/ 5772149 w 9155429"/>
              <a:gd name="connsiteY15" fmla="*/ 6858000 h 6858000"/>
              <a:gd name="connsiteX16" fmla="*/ 4190999 w 9155429"/>
              <a:gd name="connsiteY16" fmla="*/ 0 h 6858000"/>
              <a:gd name="connsiteX17" fmla="*/ 6753859 w 9155429"/>
              <a:gd name="connsiteY17" fmla="*/ 0 h 6858000"/>
              <a:gd name="connsiteX18" fmla="*/ 3802379 w 9155429"/>
              <a:gd name="connsiteY18" fmla="*/ 6858000 h 6858000"/>
              <a:gd name="connsiteX19" fmla="*/ 1239520 w 9155429"/>
              <a:gd name="connsiteY19" fmla="*/ 6858000 h 6858000"/>
              <a:gd name="connsiteX20" fmla="*/ 0 w 9155429"/>
              <a:gd name="connsiteY20" fmla="*/ 0 h 6858000"/>
              <a:gd name="connsiteX21" fmla="*/ 3956050 w 9155429"/>
              <a:gd name="connsiteY21" fmla="*/ 0 h 6858000"/>
              <a:gd name="connsiteX22" fmla="*/ 2515869 w 9155429"/>
              <a:gd name="connsiteY22" fmla="*/ 3346450 h 6858000"/>
              <a:gd name="connsiteX23" fmla="*/ 0 w 9155429"/>
              <a:gd name="connsiteY23" fmla="*/ 33464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9155429" h="6858000">
                <a:moveTo>
                  <a:pt x="5490209" y="3511550"/>
                </a:moveTo>
                <a:lnTo>
                  <a:pt x="6979919" y="3511550"/>
                </a:lnTo>
                <a:lnTo>
                  <a:pt x="5541009" y="6858000"/>
                </a:lnTo>
                <a:lnTo>
                  <a:pt x="4050029" y="6858000"/>
                </a:lnTo>
                <a:close/>
                <a:moveTo>
                  <a:pt x="0" y="3511550"/>
                </a:moveTo>
                <a:lnTo>
                  <a:pt x="2444750" y="3511550"/>
                </a:lnTo>
                <a:lnTo>
                  <a:pt x="1004570" y="6858000"/>
                </a:lnTo>
                <a:lnTo>
                  <a:pt x="0" y="6858000"/>
                </a:lnTo>
                <a:close/>
                <a:moveTo>
                  <a:pt x="7001509" y="1"/>
                </a:moveTo>
                <a:lnTo>
                  <a:pt x="8491219" y="1"/>
                </a:lnTo>
                <a:lnTo>
                  <a:pt x="7051039" y="3346450"/>
                </a:lnTo>
                <a:lnTo>
                  <a:pt x="5561329" y="3346450"/>
                </a:lnTo>
                <a:close/>
                <a:moveTo>
                  <a:pt x="8722359" y="0"/>
                </a:moveTo>
                <a:lnTo>
                  <a:pt x="9155429" y="0"/>
                </a:lnTo>
                <a:lnTo>
                  <a:pt x="6203949" y="6858000"/>
                </a:lnTo>
                <a:lnTo>
                  <a:pt x="5772149" y="6858000"/>
                </a:lnTo>
                <a:close/>
                <a:moveTo>
                  <a:pt x="4190999" y="0"/>
                </a:moveTo>
                <a:lnTo>
                  <a:pt x="6753859" y="0"/>
                </a:lnTo>
                <a:lnTo>
                  <a:pt x="3802379" y="6858000"/>
                </a:lnTo>
                <a:lnTo>
                  <a:pt x="1239520" y="6858000"/>
                </a:lnTo>
                <a:close/>
                <a:moveTo>
                  <a:pt x="0" y="0"/>
                </a:moveTo>
                <a:lnTo>
                  <a:pt x="3956050" y="0"/>
                </a:lnTo>
                <a:lnTo>
                  <a:pt x="2515869" y="3346450"/>
                </a:lnTo>
                <a:lnTo>
                  <a:pt x="0" y="334645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14" name="Graphic 19">
            <a:extLst>
              <a:ext uri="{FF2B5EF4-FFF2-40B4-BE49-F238E27FC236}">
                <a16:creationId xmlns:a16="http://schemas.microsoft.com/office/drawing/2014/main" id="{97347B99-304D-468D-B6F0-9D59E6077A64}"/>
              </a:ext>
            </a:extLst>
          </p:cNvPr>
          <p:cNvSpPr/>
          <p:nvPr userDrawn="1"/>
        </p:nvSpPr>
        <p:spPr>
          <a:xfrm flipH="1">
            <a:off x="6753290" y="3285679"/>
            <a:ext cx="2393442" cy="146304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B615286-AF88-4751-9BF6-3F030092F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280" y="973513"/>
            <a:ext cx="3137954" cy="2281355"/>
          </a:xfrm>
        </p:spPr>
        <p:txBody>
          <a:bodyPr>
            <a:noAutofit/>
          </a:bodyPr>
          <a:lstStyle>
            <a:lvl1pPr algn="r">
              <a:defRPr sz="525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YOU!</a:t>
            </a:r>
            <a:endParaRPr lang="ru-RU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5E15D97E-2723-48C3-B835-65DB0286DB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0406" y="3675709"/>
            <a:ext cx="2351828" cy="1101897"/>
          </a:xfrm>
        </p:spPr>
        <p:txBody>
          <a:bodyPr>
            <a:noAutofit/>
          </a:bodyPr>
          <a:lstStyle>
            <a:lvl1pPr marL="0" indent="0" algn="r">
              <a:buNone/>
              <a:defRPr sz="2625" b="0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Alexander</a:t>
            </a:r>
            <a:br>
              <a:rPr lang="en-US" dirty="0"/>
            </a:br>
            <a:r>
              <a:rPr lang="en-US" dirty="0" err="1"/>
              <a:t>Martensson</a:t>
            </a:r>
            <a:endParaRPr lang="en-US" dirty="0"/>
          </a:p>
        </p:txBody>
      </p:sp>
      <p:sp>
        <p:nvSpPr>
          <p:cNvPr id="25" name="Text Placeholder 26">
            <a:extLst>
              <a:ext uri="{FF2B5EF4-FFF2-40B4-BE49-F238E27FC236}">
                <a16:creationId xmlns:a16="http://schemas.microsoft.com/office/drawing/2014/main" id="{4D45CEBA-121A-426A-897A-9E3CDC5F5CC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56586" y="5019265"/>
            <a:ext cx="3275648" cy="474519"/>
          </a:xfrm>
        </p:spPr>
        <p:txBody>
          <a:bodyPr>
            <a:noAutofit/>
          </a:bodyPr>
          <a:lstStyle>
            <a:lvl1pPr marL="0" indent="0" algn="r">
              <a:buNone/>
              <a:defRPr sz="1650" b="0" i="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678-555-0128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0767B0C7-7BD9-4BF1-8D3D-91DED23803E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56586" y="4805882"/>
            <a:ext cx="3275648" cy="288000"/>
          </a:xfrm>
        </p:spPr>
        <p:txBody>
          <a:bodyPr>
            <a:noAutofit/>
          </a:bodyPr>
          <a:lstStyle>
            <a:lvl1pPr marL="0" indent="0" algn="r">
              <a:buNone/>
              <a:defRPr sz="1050" b="0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Phone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26B74744-5435-47DD-B65F-16D8E7AC15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91816" y="5685823"/>
            <a:ext cx="4440417" cy="474519"/>
          </a:xfrm>
        </p:spPr>
        <p:txBody>
          <a:bodyPr>
            <a:noAutofit/>
          </a:bodyPr>
          <a:lstStyle>
            <a:lvl1pPr marL="0" indent="0" algn="r">
              <a:buNone/>
              <a:defRPr sz="1650" b="0" i="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martensson@example.com</a:t>
            </a:r>
          </a:p>
        </p:txBody>
      </p:sp>
      <p:sp>
        <p:nvSpPr>
          <p:cNvPr id="32" name="Text Placeholder 26">
            <a:extLst>
              <a:ext uri="{FF2B5EF4-FFF2-40B4-BE49-F238E27FC236}">
                <a16:creationId xmlns:a16="http://schemas.microsoft.com/office/drawing/2014/main" id="{20815411-0E43-4B6B-92C7-6E312091AB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56586" y="5466001"/>
            <a:ext cx="3275648" cy="288000"/>
          </a:xfrm>
        </p:spPr>
        <p:txBody>
          <a:bodyPr>
            <a:noAutofit/>
          </a:bodyPr>
          <a:lstStyle>
            <a:lvl1pPr marL="0" indent="0" algn="r">
              <a:buNone/>
              <a:defRPr sz="1050" b="0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2227313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43AF0D-28CB-4D3A-A944-CE3DCAAC5657}"/>
              </a:ext>
            </a:extLst>
          </p:cNvPr>
          <p:cNvSpPr/>
          <p:nvPr userDrawn="1"/>
        </p:nvSpPr>
        <p:spPr>
          <a:xfrm>
            <a:off x="2274893" y="0"/>
            <a:ext cx="6866726" cy="6858000"/>
          </a:xfrm>
          <a:custGeom>
            <a:avLst/>
            <a:gdLst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2101419 w 9155634"/>
              <a:gd name="connsiteY4" fmla="*/ 3511550 h 6858000"/>
              <a:gd name="connsiteX5" fmla="*/ 3591129 w 9155634"/>
              <a:gd name="connsiteY5" fmla="*/ 3511550 h 6858000"/>
              <a:gd name="connsiteX6" fmla="*/ 2150949 w 9155634"/>
              <a:gd name="connsiteY6" fmla="*/ 6858000 h 6858000"/>
              <a:gd name="connsiteX7" fmla="*/ 661239 w 9155634"/>
              <a:gd name="connsiteY7" fmla="*/ 6858000 h 6858000"/>
              <a:gd name="connsiteX8" fmla="*/ 8147889 w 9155634"/>
              <a:gd name="connsiteY8" fmla="*/ 0 h 6858000"/>
              <a:gd name="connsiteX9" fmla="*/ 9155634 w 9155634"/>
              <a:gd name="connsiteY9" fmla="*/ 0 h 6858000"/>
              <a:gd name="connsiteX10" fmla="*/ 9155634 w 9155634"/>
              <a:gd name="connsiteY10" fmla="*/ 3346450 h 6858000"/>
              <a:gd name="connsiteX11" fmla="*/ 6707709 w 9155634"/>
              <a:gd name="connsiteY11" fmla="*/ 3346450 h 6858000"/>
              <a:gd name="connsiteX12" fmla="*/ 5350079 w 9155634"/>
              <a:gd name="connsiteY12" fmla="*/ 0 h 6858000"/>
              <a:gd name="connsiteX13" fmla="*/ 7912939 w 9155634"/>
              <a:gd name="connsiteY13" fmla="*/ 0 h 6858000"/>
              <a:gd name="connsiteX14" fmla="*/ 4961459 w 9155634"/>
              <a:gd name="connsiteY14" fmla="*/ 6858000 h 6858000"/>
              <a:gd name="connsiteX15" fmla="*/ 2399869 w 9155634"/>
              <a:gd name="connsiteY15" fmla="*/ 6858000 h 6858000"/>
              <a:gd name="connsiteX16" fmla="*/ 3612719 w 9155634"/>
              <a:gd name="connsiteY16" fmla="*/ 0 h 6858000"/>
              <a:gd name="connsiteX17" fmla="*/ 5102429 w 9155634"/>
              <a:gd name="connsiteY17" fmla="*/ 0 h 6858000"/>
              <a:gd name="connsiteX18" fmla="*/ 3662249 w 9155634"/>
              <a:gd name="connsiteY18" fmla="*/ 3346450 h 6858000"/>
              <a:gd name="connsiteX19" fmla="*/ 2172539 w 9155634"/>
              <a:gd name="connsiteY19" fmla="*/ 3346450 h 6858000"/>
              <a:gd name="connsiteX20" fmla="*/ 2947249 w 9155634"/>
              <a:gd name="connsiteY20" fmla="*/ 0 h 6858000"/>
              <a:gd name="connsiteX21" fmla="*/ 3381579 w 9155634"/>
              <a:gd name="connsiteY21" fmla="*/ 0 h 6858000"/>
              <a:gd name="connsiteX22" fmla="*/ 430099 w 9155634"/>
              <a:gd name="connsiteY22" fmla="*/ 6858000 h 6858000"/>
              <a:gd name="connsiteX23" fmla="*/ 0 w 9155634"/>
              <a:gd name="connsiteY2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9155634" h="6858000">
                <a:moveTo>
                  <a:pt x="6636589" y="3511550"/>
                </a:moveTo>
                <a:lnTo>
                  <a:pt x="9155634" y="3511550"/>
                </a:lnTo>
                <a:lnTo>
                  <a:pt x="9155634" y="6858000"/>
                </a:lnTo>
                <a:lnTo>
                  <a:pt x="5196409" y="6858000"/>
                </a:lnTo>
                <a:close/>
                <a:moveTo>
                  <a:pt x="2101419" y="3511550"/>
                </a:moveTo>
                <a:lnTo>
                  <a:pt x="3591129" y="3511550"/>
                </a:lnTo>
                <a:lnTo>
                  <a:pt x="2150949" y="6858000"/>
                </a:lnTo>
                <a:lnTo>
                  <a:pt x="661239" y="6858000"/>
                </a:lnTo>
                <a:close/>
                <a:moveTo>
                  <a:pt x="8147889" y="0"/>
                </a:moveTo>
                <a:lnTo>
                  <a:pt x="9155634" y="0"/>
                </a:lnTo>
                <a:lnTo>
                  <a:pt x="9155634" y="3346450"/>
                </a:lnTo>
                <a:lnTo>
                  <a:pt x="6707709" y="3346450"/>
                </a:lnTo>
                <a:close/>
                <a:moveTo>
                  <a:pt x="5350079" y="0"/>
                </a:moveTo>
                <a:lnTo>
                  <a:pt x="7912939" y="0"/>
                </a:lnTo>
                <a:lnTo>
                  <a:pt x="4961459" y="6858000"/>
                </a:lnTo>
                <a:lnTo>
                  <a:pt x="2399869" y="6858000"/>
                </a:lnTo>
                <a:close/>
                <a:moveTo>
                  <a:pt x="3612719" y="0"/>
                </a:moveTo>
                <a:lnTo>
                  <a:pt x="5102429" y="0"/>
                </a:lnTo>
                <a:lnTo>
                  <a:pt x="3662249" y="3346450"/>
                </a:lnTo>
                <a:lnTo>
                  <a:pt x="2172539" y="3346450"/>
                </a:lnTo>
                <a:close/>
                <a:moveTo>
                  <a:pt x="2947249" y="0"/>
                </a:moveTo>
                <a:lnTo>
                  <a:pt x="3381579" y="0"/>
                </a:lnTo>
                <a:lnTo>
                  <a:pt x="4300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2" name="Graphic 19">
            <a:extLst>
              <a:ext uri="{FF2B5EF4-FFF2-40B4-BE49-F238E27FC236}">
                <a16:creationId xmlns:a16="http://schemas.microsoft.com/office/drawing/2014/main" id="{A6B740BD-8499-412C-AE4E-A4AD7F73100E}"/>
              </a:ext>
            </a:extLst>
          </p:cNvPr>
          <p:cNvSpPr/>
          <p:nvPr/>
        </p:nvSpPr>
        <p:spPr>
          <a:xfrm>
            <a:off x="-8139" y="3369468"/>
            <a:ext cx="2791800" cy="144000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310DFD8C-544F-465B-8315-8B3AA8B95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516" y="1096345"/>
            <a:ext cx="7883066" cy="2281355"/>
          </a:xfrm>
        </p:spPr>
        <p:txBody>
          <a:bodyPr>
            <a:noAutofit/>
          </a:bodyPr>
          <a:lstStyle>
            <a:lvl1pPr algn="l">
              <a:defRPr sz="525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ru-RU" dirty="0"/>
            </a:br>
            <a:r>
              <a:rPr lang="en-US" dirty="0"/>
              <a:t>TITLE</a:t>
            </a:r>
            <a:endParaRPr lang="ru-RU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8046DF3F-8EBA-4583-9F19-45C979FDAB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6" y="3773555"/>
            <a:ext cx="7567715" cy="110189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2625" b="0" i="0"/>
            </a:lvl1pPr>
          </a:lstStyle>
          <a:p>
            <a:pPr marL="171450" lvl="0" indent="-17145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176627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82713AA-FAF7-4D64-AB9D-53ACFDBF8B5B}"/>
              </a:ext>
            </a:extLst>
          </p:cNvPr>
          <p:cNvSpPr/>
          <p:nvPr userDrawn="1"/>
        </p:nvSpPr>
        <p:spPr>
          <a:xfrm>
            <a:off x="-1" y="172278"/>
            <a:ext cx="9144000" cy="6559826"/>
          </a:xfrm>
          <a:custGeom>
            <a:avLst/>
            <a:gdLst>
              <a:gd name="connsiteX0" fmla="*/ 5864259 w 12192000"/>
              <a:gd name="connsiteY0" fmla="*/ 2854132 h 6559826"/>
              <a:gd name="connsiteX1" fmla="*/ 5864259 w 12192000"/>
              <a:gd name="connsiteY1" fmla="*/ 5342062 h 6559826"/>
              <a:gd name="connsiteX2" fmla="*/ 6907 w 12192000"/>
              <a:gd name="connsiteY2" fmla="*/ 6559826 h 6559826"/>
              <a:gd name="connsiteX3" fmla="*/ 0 w 12192000"/>
              <a:gd name="connsiteY3" fmla="*/ 6559826 h 6559826"/>
              <a:gd name="connsiteX4" fmla="*/ 0 w 12192000"/>
              <a:gd name="connsiteY4" fmla="*/ 4073332 h 6559826"/>
              <a:gd name="connsiteX5" fmla="*/ 12192000 w 12192000"/>
              <a:gd name="connsiteY5" fmla="*/ 2685378 h 6559826"/>
              <a:gd name="connsiteX6" fmla="*/ 12192000 w 12192000"/>
              <a:gd name="connsiteY6" fmla="*/ 5173308 h 6559826"/>
              <a:gd name="connsiteX7" fmla="*/ 6104805 w 12192000"/>
              <a:gd name="connsiteY7" fmla="*/ 6429182 h 6559826"/>
              <a:gd name="connsiteX8" fmla="*/ 6104805 w 12192000"/>
              <a:gd name="connsiteY8" fmla="*/ 3941252 h 6559826"/>
              <a:gd name="connsiteX9" fmla="*/ 11991762 w 12192000"/>
              <a:gd name="connsiteY9" fmla="*/ 0 h 6559826"/>
              <a:gd name="connsiteX10" fmla="*/ 12192000 w 12192000"/>
              <a:gd name="connsiteY10" fmla="*/ 0 h 6559826"/>
              <a:gd name="connsiteX11" fmla="*/ 12192000 w 12192000"/>
              <a:gd name="connsiteY11" fmla="*/ 2446611 h 6559826"/>
              <a:gd name="connsiteX12" fmla="*/ 6104805 w 12192000"/>
              <a:gd name="connsiteY12" fmla="*/ 3701222 h 6559826"/>
              <a:gd name="connsiteX13" fmla="*/ 6104805 w 12192000"/>
              <a:gd name="connsiteY13" fmla="*/ 1214562 h 6559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559826">
                <a:moveTo>
                  <a:pt x="5864259" y="2854132"/>
                </a:moveTo>
                <a:lnTo>
                  <a:pt x="5864259" y="5342062"/>
                </a:lnTo>
                <a:lnTo>
                  <a:pt x="6907" y="6559826"/>
                </a:lnTo>
                <a:lnTo>
                  <a:pt x="0" y="6559826"/>
                </a:lnTo>
                <a:lnTo>
                  <a:pt x="0" y="4073332"/>
                </a:lnTo>
                <a:close/>
                <a:moveTo>
                  <a:pt x="12192000" y="2685378"/>
                </a:moveTo>
                <a:lnTo>
                  <a:pt x="12192000" y="5173308"/>
                </a:lnTo>
                <a:lnTo>
                  <a:pt x="6104805" y="6429182"/>
                </a:lnTo>
                <a:lnTo>
                  <a:pt x="6104805" y="3941252"/>
                </a:lnTo>
                <a:close/>
                <a:moveTo>
                  <a:pt x="11991762" y="0"/>
                </a:moveTo>
                <a:lnTo>
                  <a:pt x="12192000" y="0"/>
                </a:lnTo>
                <a:lnTo>
                  <a:pt x="12192000" y="2446611"/>
                </a:lnTo>
                <a:lnTo>
                  <a:pt x="6104805" y="3701222"/>
                </a:lnTo>
                <a:lnTo>
                  <a:pt x="6104805" y="1214562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97552-E3A8-41F6-B00B-4A39A247A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931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Graphic 4">
            <a:extLst>
              <a:ext uri="{FF2B5EF4-FFF2-40B4-BE49-F238E27FC236}">
                <a16:creationId xmlns:a16="http://schemas.microsoft.com/office/drawing/2014/main" id="{2095D1D4-8CA3-4CA3-825D-088EDB51A8AE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2DB5E70B-ECC9-4800-9DC0-5897EF3F16AB}"/>
              </a:ext>
            </a:extLst>
          </p:cNvPr>
          <p:cNvSpPr/>
          <p:nvPr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3B87DE7-6A4B-4A0E-8622-C9BA93F0B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930" y="2225393"/>
            <a:ext cx="3833020" cy="78263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50"/>
            </a:lvl1pPr>
          </a:lstStyle>
          <a:p>
            <a:pPr marL="171450" lvl="0" indent="-17145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00250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799919-7F2B-44B7-BF0B-B0CE733AC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77756"/>
            <a:ext cx="7886700" cy="389920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918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460D6CB-9BA0-4BA9-9CF5-9D21E9F570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2277756"/>
            <a:ext cx="3886200" cy="3899207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B0DDB5D-8949-4E45-A7CD-0402580BB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2277755"/>
            <a:ext cx="3886200" cy="389920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87200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2C817C4-D92F-4269-B22D-5C2E52241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2068513"/>
            <a:ext cx="3868340" cy="436562"/>
          </a:xfrm>
        </p:spPr>
        <p:txBody>
          <a:bodyPr anchor="b">
            <a:normAutofit/>
          </a:bodyPr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C61514A7-2DEE-47E3-BCB4-FB81E9981D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15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455C9D3-0938-4236-8E64-BBF582FCD2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2068512"/>
            <a:ext cx="3887391" cy="436563"/>
          </a:xfrm>
        </p:spPr>
        <p:txBody>
          <a:bodyPr anchor="b">
            <a:normAutofit/>
          </a:bodyPr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7331E254-1410-4989-81DE-84B684ACC7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15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71933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68ABD79-6AF5-4911-BEC2-A492F3ECD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34509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489A680-EBE7-45A3-B520-2C50F59C79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166148"/>
            <a:ext cx="2949178" cy="370284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02EEB9F-D255-46E9-AFBB-FCC4D93BE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500">
                <a:solidFill>
                  <a:schemeClr val="bg1"/>
                </a:solidFill>
              </a:defRPr>
            </a:lvl4pPr>
            <a:lvl5pPr>
              <a:defRPr sz="1500">
                <a:solidFill>
                  <a:schemeClr val="bg1"/>
                </a:solidFill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Graphic 15">
            <a:extLst>
              <a:ext uri="{FF2B5EF4-FFF2-40B4-BE49-F238E27FC236}">
                <a16:creationId xmlns:a16="http://schemas.microsoft.com/office/drawing/2014/main" id="{4F729341-632E-4151-9863-D40D91A16F84}"/>
              </a:ext>
            </a:extLst>
          </p:cNvPr>
          <p:cNvSpPr/>
          <p:nvPr userDrawn="1"/>
        </p:nvSpPr>
        <p:spPr>
          <a:xfrm>
            <a:off x="-8381" y="1947672"/>
            <a:ext cx="370332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358977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Graphic 4">
            <a:extLst>
              <a:ext uri="{FF2B5EF4-FFF2-40B4-BE49-F238E27FC236}">
                <a16:creationId xmlns:a16="http://schemas.microsoft.com/office/drawing/2014/main" id="{7D57D3C0-DF85-4866-AC4B-ED6A0F6963A5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Graphic 15">
            <a:extLst>
              <a:ext uri="{FF2B5EF4-FFF2-40B4-BE49-F238E27FC236}">
                <a16:creationId xmlns:a16="http://schemas.microsoft.com/office/drawing/2014/main" id="{FA387E18-8CE1-1648-81B1-6F1A0F183C30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4469CAF-CD13-4CCC-9569-14C8070AB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380744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6D4C583-322D-4347-807F-F6D6AF885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130500"/>
            <a:ext cx="2949178" cy="37384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138DBAD-2265-4E62-AB5B-F66A60D53F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39804" y="1"/>
            <a:ext cx="4577715" cy="6857999"/>
          </a:xfrm>
          <a:custGeom>
            <a:avLst/>
            <a:gdLst>
              <a:gd name="connsiteX0" fmla="*/ 3914141 w 6103620"/>
              <a:gd name="connsiteY0" fmla="*/ 914400 h 6857999"/>
              <a:gd name="connsiteX1" fmla="*/ 6103620 w 6103620"/>
              <a:gd name="connsiteY1" fmla="*/ 914400 h 6857999"/>
              <a:gd name="connsiteX2" fmla="*/ 6103620 w 6103620"/>
              <a:gd name="connsiteY2" fmla="*/ 914404 h 6857999"/>
              <a:gd name="connsiteX3" fmla="*/ 4339591 w 6103620"/>
              <a:gd name="connsiteY3" fmla="*/ 6857999 h 6857999"/>
              <a:gd name="connsiteX4" fmla="*/ 2150113 w 6103620"/>
              <a:gd name="connsiteY4" fmla="*/ 6857999 h 6857999"/>
              <a:gd name="connsiteX5" fmla="*/ 1769111 w 6103620"/>
              <a:gd name="connsiteY5" fmla="*/ 0 h 6857999"/>
              <a:gd name="connsiteX6" fmla="*/ 3958591 w 6103620"/>
              <a:gd name="connsiteY6" fmla="*/ 0 h 6857999"/>
              <a:gd name="connsiteX7" fmla="*/ 2189480 w 6103620"/>
              <a:gd name="connsiteY7" fmla="*/ 5943601 h 6857999"/>
              <a:gd name="connsiteX8" fmla="*/ 0 w 6103620"/>
              <a:gd name="connsiteY8" fmla="*/ 594360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03620" h="6857999">
                <a:moveTo>
                  <a:pt x="3914141" y="914400"/>
                </a:moveTo>
                <a:lnTo>
                  <a:pt x="6103620" y="914400"/>
                </a:lnTo>
                <a:lnTo>
                  <a:pt x="6103620" y="914404"/>
                </a:lnTo>
                <a:lnTo>
                  <a:pt x="4339591" y="6857999"/>
                </a:lnTo>
                <a:lnTo>
                  <a:pt x="2150113" y="6857999"/>
                </a:lnTo>
                <a:close/>
                <a:moveTo>
                  <a:pt x="1769111" y="0"/>
                </a:moveTo>
                <a:lnTo>
                  <a:pt x="3958591" y="0"/>
                </a:lnTo>
                <a:lnTo>
                  <a:pt x="2189480" y="5943601"/>
                </a:lnTo>
                <a:lnTo>
                  <a:pt x="0" y="594360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787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AD7B9076-7693-4C5F-8305-D5529FF80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EMPTY SLIDE</a:t>
            </a:r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08278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574197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ual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10000CCD-6AFF-4E65-8858-5502306E58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683" y="1974209"/>
            <a:ext cx="662015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5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</a:t>
            </a:r>
            <a:endParaRPr lang="ru-RU" dirty="0"/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5D777E5-98F6-416A-8D23-3399269D85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81901" y="1998210"/>
            <a:ext cx="2327333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165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C979BADF-99B5-4C91-AAE5-FC2C4DBEDE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15481" y="1974209"/>
            <a:ext cx="662015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5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  <a:endParaRPr lang="ru-RU" dirty="0"/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6706F6A2-1599-4D73-9288-3ECEACDDCAE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08454" y="1998210"/>
            <a:ext cx="1682939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165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BAE5E245-1702-4722-895D-0808BB0A86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30066" y="1991988"/>
            <a:ext cx="662015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5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  <a:endParaRPr lang="ru-RU" dirty="0"/>
          </a:p>
        </p:txBody>
      </p:sp>
      <p:sp>
        <p:nvSpPr>
          <p:cNvPr id="36" name="Text Placeholder 24">
            <a:extLst>
              <a:ext uri="{FF2B5EF4-FFF2-40B4-BE49-F238E27FC236}">
                <a16:creationId xmlns:a16="http://schemas.microsoft.com/office/drawing/2014/main" id="{3701E665-3CED-413C-BAC6-CE003B1494E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23039" y="2015989"/>
            <a:ext cx="2219337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165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4">
            <a:extLst>
              <a:ext uri="{FF2B5EF4-FFF2-40B4-BE49-F238E27FC236}">
                <a16:creationId xmlns:a16="http://schemas.microsoft.com/office/drawing/2014/main" id="{E01406B4-D44B-4D1E-91F3-D87541EAD4C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5045" y="2927531"/>
            <a:ext cx="1273969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9AAD5CF9-9A59-4C5F-8C29-B92AD60121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039013" y="2927531"/>
            <a:ext cx="1273969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4">
            <a:extLst>
              <a:ext uri="{FF2B5EF4-FFF2-40B4-BE49-F238E27FC236}">
                <a16:creationId xmlns:a16="http://schemas.microsoft.com/office/drawing/2014/main" id="{C6725172-65CC-4645-B23F-E77886468F3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96095" y="2927531"/>
            <a:ext cx="1949398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4">
            <a:extLst>
              <a:ext uri="{FF2B5EF4-FFF2-40B4-BE49-F238E27FC236}">
                <a16:creationId xmlns:a16="http://schemas.microsoft.com/office/drawing/2014/main" id="{0EA5E6CA-5C78-4B75-BA22-59750E7D450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907717" y="2925988"/>
            <a:ext cx="2794817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4">
            <a:extLst>
              <a:ext uri="{FF2B5EF4-FFF2-40B4-BE49-F238E27FC236}">
                <a16:creationId xmlns:a16="http://schemas.microsoft.com/office/drawing/2014/main" id="{E1C61752-F57C-4FBF-93F3-06F43CCA43C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3100" y="5751926"/>
            <a:ext cx="7217801" cy="470478"/>
          </a:xfrm>
        </p:spPr>
        <p:txBody>
          <a:bodyPr>
            <a:normAutofit/>
          </a:bodyPr>
          <a:lstStyle>
            <a:lvl1pPr marL="0" indent="0" algn="ctr"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4">
            <a:extLst>
              <a:ext uri="{FF2B5EF4-FFF2-40B4-BE49-F238E27FC236}">
                <a16:creationId xmlns:a16="http://schemas.microsoft.com/office/drawing/2014/main" id="{E0232175-FB97-4039-8136-B9DD27441C0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96094" y="4893792"/>
            <a:ext cx="1949399" cy="615026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4">
            <a:extLst>
              <a:ext uri="{FF2B5EF4-FFF2-40B4-BE49-F238E27FC236}">
                <a16:creationId xmlns:a16="http://schemas.microsoft.com/office/drawing/2014/main" id="{6E5262C3-0603-403F-AB36-FB4EB9FC7BC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18035" y="4893792"/>
            <a:ext cx="2784499" cy="615026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Picture Placeholder 12">
            <a:extLst>
              <a:ext uri="{FF2B5EF4-FFF2-40B4-BE49-F238E27FC236}">
                <a16:creationId xmlns:a16="http://schemas.microsoft.com/office/drawing/2014/main" id="{D2FBACFC-8B68-4A37-95A4-26BE5A23D759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65044" y="3800404"/>
            <a:ext cx="2455164" cy="161848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46" name="Picture Placeholder 12">
            <a:extLst>
              <a:ext uri="{FF2B5EF4-FFF2-40B4-BE49-F238E27FC236}">
                <a16:creationId xmlns:a16="http://schemas.microsoft.com/office/drawing/2014/main" id="{5A6A36C6-8489-4333-927A-141D8F98AE50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596095" y="3864572"/>
            <a:ext cx="1949399" cy="89611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47" name="Picture Placeholder 9">
            <a:extLst>
              <a:ext uri="{FF2B5EF4-FFF2-40B4-BE49-F238E27FC236}">
                <a16:creationId xmlns:a16="http://schemas.microsoft.com/office/drawing/2014/main" id="{BB2DF986-C446-4302-9099-B1512AD5D8CA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5907716" y="3864572"/>
            <a:ext cx="1949400" cy="896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BB58C539-3FDE-4755-BEB4-C953AA2926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741320"/>
            <a:ext cx="7880057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HOW TO USE THIS TEMPALTE</a:t>
            </a:r>
            <a:endParaRPr lang="ru-RU" dirty="0"/>
          </a:p>
        </p:txBody>
      </p:sp>
      <p:sp>
        <p:nvSpPr>
          <p:cNvPr id="23" name="Graphic 15">
            <a:extLst>
              <a:ext uri="{FF2B5EF4-FFF2-40B4-BE49-F238E27FC236}">
                <a16:creationId xmlns:a16="http://schemas.microsoft.com/office/drawing/2014/main" id="{8EDA54DA-ED01-4416-96BF-C8968F4684B4}"/>
              </a:ext>
            </a:extLst>
          </p:cNvPr>
          <p:cNvSpPr/>
          <p:nvPr userDrawn="1"/>
        </p:nvSpPr>
        <p:spPr>
          <a:xfrm>
            <a:off x="-8380" y="1610268"/>
            <a:ext cx="6939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50209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66275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gray">
          <a:xfrm>
            <a:off x="690563" y="3340100"/>
            <a:ext cx="7653337" cy="485775"/>
          </a:xfrm>
          <a:custGeom>
            <a:avLst/>
            <a:gdLst>
              <a:gd name="T0" fmla="*/ 302203 w 4128"/>
              <a:gd name="T1" fmla="*/ 202829 h 479"/>
              <a:gd name="T2" fmla="*/ 7653337 w 4128"/>
              <a:gd name="T3" fmla="*/ 202829 h 479"/>
              <a:gd name="T4" fmla="*/ 7653337 w 4128"/>
              <a:gd name="T5" fmla="*/ 435068 h 479"/>
              <a:gd name="T6" fmla="*/ 0 w 4128"/>
              <a:gd name="T7" fmla="*/ 447238 h 479"/>
              <a:gd name="T8" fmla="*/ 302203 w 4128"/>
              <a:gd name="T9" fmla="*/ 202829 h 4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Rectangle 8"/>
          <p:cNvGraphicFramePr>
            <a:graphicFrameLocks/>
          </p:cNvGraphicFramePr>
          <p:nvPr/>
        </p:nvGraphicFramePr>
        <p:xfrm>
          <a:off x="1524000" y="1397000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0" imgH="0" progId="MS_ClipArt_Gallery.2">
                  <p:embed/>
                </p:oleObj>
              </mc:Choice>
              <mc:Fallback>
                <p:oleObj name="Clip" r:id="rId2" imgW="0" imgH="0" progId="MS_ClipArt_Gallery.2">
                  <p:embed/>
                  <p:pic>
                    <p:nvPicPr>
                      <p:cNvPr id="5" name="Rectangle 8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397000"/>
                        <a:ext cx="6096000" cy="406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6" name="Date Placeholder 5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50000"/>
              </a:spcBef>
              <a:defRPr sz="1400" smtClean="0">
                <a:solidFill>
                  <a:srgbClr val="578963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Footer Placeholder 6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 smtClean="0">
                <a:solidFill>
                  <a:srgbClr val="578963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7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 smtClean="0">
                <a:solidFill>
                  <a:srgbClr val="578963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B8426CCB-D730-4957-A314-CCFBCBD4B00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62282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698081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641130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1500" y="1114425"/>
            <a:ext cx="3848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114425"/>
            <a:ext cx="3848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7556538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38744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4862821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31819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79370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1545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2460887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47625"/>
            <a:ext cx="203835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47625"/>
            <a:ext cx="5962650" cy="594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72555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66275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gray">
          <a:xfrm>
            <a:off x="690563" y="3340100"/>
            <a:ext cx="7653337" cy="485775"/>
          </a:xfrm>
          <a:custGeom>
            <a:avLst/>
            <a:gdLst>
              <a:gd name="T0" fmla="*/ 302203 w 4128"/>
              <a:gd name="T1" fmla="*/ 202829 h 479"/>
              <a:gd name="T2" fmla="*/ 7653337 w 4128"/>
              <a:gd name="T3" fmla="*/ 202829 h 479"/>
              <a:gd name="T4" fmla="*/ 7653337 w 4128"/>
              <a:gd name="T5" fmla="*/ 435068 h 479"/>
              <a:gd name="T6" fmla="*/ 0 w 4128"/>
              <a:gd name="T7" fmla="*/ 447238 h 479"/>
              <a:gd name="T8" fmla="*/ 302203 w 4128"/>
              <a:gd name="T9" fmla="*/ 202829 h 4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aphicFrame>
        <p:nvGraphicFramePr>
          <p:cNvPr id="5" name="Rectangle 8"/>
          <p:cNvGraphicFramePr>
            <a:graphicFrameLocks/>
          </p:cNvGraphicFramePr>
          <p:nvPr/>
        </p:nvGraphicFramePr>
        <p:xfrm>
          <a:off x="1524000" y="1397000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0" imgH="0" progId="MS_ClipArt_Gallery.2">
                  <p:embed/>
                </p:oleObj>
              </mc:Choice>
              <mc:Fallback>
                <p:oleObj name="Clip" r:id="rId2" imgW="0" imgH="0" progId="MS_ClipArt_Gallery.2">
                  <p:embed/>
                  <p:pic>
                    <p:nvPicPr>
                      <p:cNvPr id="5" name="Rectangle 8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397000"/>
                        <a:ext cx="6096000" cy="406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7680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6" name="Date Placeholder 5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50000"/>
              </a:spcBef>
              <a:defRPr sz="1400" smtClean="0">
                <a:solidFill>
                  <a:srgbClr val="578963"/>
                </a:solidFill>
                <a:latin typeface="Times New Roman" pitchFamily="18" charset="0"/>
                <a:ea typeface="SimSun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Footer Placeholder 6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 smtClean="0">
                <a:solidFill>
                  <a:srgbClr val="578963"/>
                </a:solidFill>
                <a:latin typeface="Times New Roman" pitchFamily="18" charset="0"/>
                <a:ea typeface="SimSun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Slide Number Placeholder 7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 smtClean="0">
                <a:solidFill>
                  <a:srgbClr val="578963"/>
                </a:solidFill>
                <a:latin typeface="Times New Roman" pitchFamily="18" charset="0"/>
                <a:ea typeface="SimSun" pitchFamily="2" charset="-122"/>
              </a:defRPr>
            </a:lvl1pPr>
          </a:lstStyle>
          <a:p>
            <a:pPr>
              <a:defRPr/>
            </a:pPr>
            <a:fld id="{950BDB86-0594-46E6-AF61-CDFB45A3EC8B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34661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268625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69592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1500" y="1114425"/>
            <a:ext cx="3848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114425"/>
            <a:ext cx="3848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7345185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2563406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2202500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862040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38794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680509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243990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47625"/>
            <a:ext cx="203835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47625"/>
            <a:ext cx="5962650" cy="594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28995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41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5097E-EB08-4475-9112-275B84027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47621" y="6002373"/>
            <a:ext cx="412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  <a:latin typeface="+mn-lt"/>
              </a:defRPr>
            </a:lvl1pPr>
          </a:lstStyle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B6A3A-74E6-4FE2-8AD2-CEB07044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128AA-FDF4-4DD5-A009-3C58D2457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048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C2DC0-7E13-4A66-9F9B-371BA9C6E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43300" y="600237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MM.DD.20XX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F296578-6D40-435B-861E-0904DDC10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8651" y="6002373"/>
            <a:ext cx="2549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ADD A FOOTER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2113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2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2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2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>
          <p15:clr>
            <a:srgbClr val="F26B43"/>
          </p15:clr>
        </p15:guide>
        <p15:guide id="2" pos="574">
          <p15:clr>
            <a:srgbClr val="F26B43"/>
          </p15:clr>
        </p15:guide>
        <p15:guide id="3" pos="7106">
          <p15:clr>
            <a:srgbClr val="F26B43"/>
          </p15:clr>
        </p15:guide>
        <p15:guide id="4" orient="horz" pos="3748">
          <p15:clr>
            <a:srgbClr val="F26B43"/>
          </p15:clr>
        </p15:guide>
        <p15:guide id="5" pos="4407">
          <p15:clr>
            <a:srgbClr val="F26B43"/>
          </p15:clr>
        </p15:guide>
        <p15:guide id="6" pos="3273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216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76078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-152400"/>
            <a:ext cx="9144000" cy="13144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71500" y="1114425"/>
            <a:ext cx="7848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9" name="Text Box 5"/>
          <p:cNvSpPr txBox="1">
            <a:spLocks noChangeArrowheads="1"/>
          </p:cNvSpPr>
          <p:nvPr/>
        </p:nvSpPr>
        <p:spPr bwMode="auto">
          <a:xfrm>
            <a:off x="3759200" y="6613525"/>
            <a:ext cx="1236663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sz="1100" b="1" dirty="0">
                <a:solidFill>
                  <a:srgbClr val="000000"/>
                </a:solidFill>
              </a:rPr>
              <a:t>www.ru.ac.bd/cse</a:t>
            </a:r>
          </a:p>
        </p:txBody>
      </p:sp>
    </p:spTree>
    <p:extLst>
      <p:ext uri="{BB962C8B-B14F-4D97-AF65-F5344CB8AC3E}">
        <p14:creationId xmlns:p14="http://schemas.microsoft.com/office/powerpoint/2010/main" val="1273565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90000"/>
        <a:buFont typeface="Monotype Sort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05000"/>
        <a:buFont typeface="Monotype Sorts" pitchFamily="2" charset="2"/>
        <a:buChar char="H"/>
        <a:defRPr kumimoji="1">
          <a:solidFill>
            <a:schemeClr val="tx1"/>
          </a:solidFill>
          <a:latin typeface="+mn-lt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0099"/>
        </a:buClr>
        <a:buSzPct val="85000"/>
        <a:buFont typeface="Monotype Sorts" pitchFamily="2" charset="2"/>
        <a:buChar char="4"/>
        <a:defRPr kumimoji="1">
          <a:solidFill>
            <a:schemeClr val="tx1"/>
          </a:solidFill>
          <a:latin typeface="+mn-lt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Char char="–"/>
        <a:defRPr kumimoji="1">
          <a:solidFill>
            <a:schemeClr val="tx1"/>
          </a:solidFill>
          <a:latin typeface="+mn-lt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76078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-152400"/>
            <a:ext cx="9144000" cy="13144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71500" y="1114425"/>
            <a:ext cx="7848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28" name="Text Box 41"/>
          <p:cNvSpPr txBox="1">
            <a:spLocks noChangeArrowheads="1"/>
          </p:cNvSpPr>
          <p:nvPr/>
        </p:nvSpPr>
        <p:spPr bwMode="auto">
          <a:xfrm>
            <a:off x="4559300" y="6613525"/>
            <a:ext cx="2889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000" b="1" dirty="0">
                <a:solidFill>
                  <a:schemeClr val="tx2"/>
                </a:solidFill>
                <a:ea typeface="SimSun" pitchFamily="2" charset="-122"/>
              </a:rPr>
              <a:t>2.</a:t>
            </a:r>
          </a:p>
        </p:txBody>
      </p:sp>
      <p:sp>
        <p:nvSpPr>
          <p:cNvPr id="75818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61862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90000"/>
        <a:buFont typeface="Monotype Sort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05000"/>
        <a:buFont typeface="Monotype Sorts" pitchFamily="2" charset="2"/>
        <a:buChar char="H"/>
        <a:defRPr kumimoji="1">
          <a:solidFill>
            <a:schemeClr val="tx1"/>
          </a:solidFill>
          <a:latin typeface="+mn-lt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0099"/>
        </a:buClr>
        <a:buSzPct val="85000"/>
        <a:buFont typeface="Monotype Sorts" pitchFamily="2" charset="2"/>
        <a:buChar char="4"/>
        <a:defRPr kumimoji="1">
          <a:solidFill>
            <a:schemeClr val="tx1"/>
          </a:solidFill>
          <a:latin typeface="+mn-lt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Char char="–"/>
        <a:defRPr kumimoji="1">
          <a:solidFill>
            <a:schemeClr val="tx1"/>
          </a:solidFill>
          <a:latin typeface="+mn-lt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Placeholder 18" descr="Building glass walls and sky">
            <a:extLst>
              <a:ext uri="{FF2B5EF4-FFF2-40B4-BE49-F238E27FC236}">
                <a16:creationId xmlns:a16="http://schemas.microsoft.com/office/drawing/2014/main" id="{873751CF-C490-45B5-B248-BF86A59ECF2E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 rotWithShape="1">
          <a:blip r:embed="rId2"/>
          <a:srcRect l="-48" t="6766" r="19843" b="3091"/>
          <a:stretch/>
        </p:blipFill>
        <p:spPr>
          <a:xfrm>
            <a:off x="2277274" y="818774"/>
            <a:ext cx="6866726" cy="51435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6E9371-6E05-45E0-803B-4C39AC28C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950" dirty="0"/>
              <a:t>Database Management Systems</a:t>
            </a:r>
            <a:endParaRPr lang="ru-RU" sz="495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0FE25-038A-4A14-B11A-432FECB7FA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Shamim Ahmad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0506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009FF-FBCD-48E9-9C14-6EF6F8136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Entity and Attribute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969D17-17D2-48E8-B3DE-4852C46DF0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63179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SimSun" pitchFamily="2" charset="-122"/>
              </a:rPr>
              <a:t>Entity Sets </a:t>
            </a:r>
            <a:r>
              <a:rPr lang="en-US" altLang="zh-CN" i="1">
                <a:ea typeface="SimSun" pitchFamily="2" charset="-122"/>
              </a:rPr>
              <a:t>customer</a:t>
            </a:r>
            <a:r>
              <a:rPr lang="en-US" altLang="zh-CN">
                <a:ea typeface="SimSun" pitchFamily="2" charset="-122"/>
              </a:rPr>
              <a:t> and </a:t>
            </a:r>
            <a:r>
              <a:rPr lang="en-US" altLang="zh-CN" i="1">
                <a:ea typeface="SimSun" pitchFamily="2" charset="-122"/>
              </a:rPr>
              <a:t>loan</a:t>
            </a:r>
            <a:endParaRPr lang="en-US" altLang="zh-CN">
              <a:ea typeface="SimSun" pitchFamily="2" charset="-122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8" t="7512" r="1233" b="9859"/>
          <a:stretch>
            <a:fillRect/>
          </a:stretch>
        </p:blipFill>
        <p:spPr bwMode="auto">
          <a:xfrm>
            <a:off x="317500" y="1549400"/>
            <a:ext cx="8572500" cy="4813300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252413" y="849313"/>
            <a:ext cx="87058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customer-id      customer-  customer-  customer-         loan-      amount</a:t>
            </a:r>
            <a:b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</a:b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                           name          street          city                    number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474562" y="2882096"/>
            <a:ext cx="5544273" cy="578734"/>
          </a:xfrm>
          <a:prstGeom prst="rect">
            <a:avLst/>
          </a:prstGeom>
          <a:noFill/>
          <a:ln w="571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 w="57150">
                <a:solidFill>
                  <a:srgbClr val="CC3300">
                    <a:satMod val="155000"/>
                  </a:srgbClr>
                </a:solidFill>
                <a:prstDash val="solid"/>
              </a:ln>
              <a:solidFill>
                <a:srgbClr val="666699">
                  <a:tint val="85000"/>
                  <a:satMod val="155000"/>
                </a:srgb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Helvetica" charset="0"/>
              <a:ea typeface="+mn-ea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3D0AB05-A35A-4EB4-85B0-B9DF3BB50A18}"/>
                  </a:ext>
                </a:extLst>
              </p14:cNvPr>
              <p14:cNvContentPartPr/>
              <p14:nvPr/>
            </p14:nvContentPartPr>
            <p14:xfrm>
              <a:off x="6286320" y="3327480"/>
              <a:ext cx="1149840" cy="1136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3D0AB05-A35A-4EB4-85B0-B9DF3BB50A1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76960" y="3318120"/>
                <a:ext cx="1168560" cy="1155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380" y="668819"/>
            <a:ext cx="5715000" cy="225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83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6767" y="3470061"/>
            <a:ext cx="2816225" cy="2249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34604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3600">
                <a:ea typeface="SimSun" pitchFamily="2" charset="-122"/>
              </a:rPr>
              <a:t>Basic Concepts </a:t>
            </a:r>
            <a:r>
              <a:rPr lang="en-US" altLang="zh-CN">
                <a:ea typeface="SimSun" pitchFamily="2" charset="-122"/>
              </a:rPr>
              <a:t>(Cont.)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9400" y="836613"/>
            <a:ext cx="8547100" cy="5626100"/>
          </a:xfrm>
        </p:spPr>
        <p:txBody>
          <a:bodyPr/>
          <a:lstStyle/>
          <a:p>
            <a:pPr>
              <a:tabLst>
                <a:tab pos="1536700" algn="ctr"/>
                <a:tab pos="3543300" algn="ctr"/>
                <a:tab pos="5481638" algn="ctr"/>
              </a:tabLst>
            </a:pPr>
            <a:r>
              <a:rPr lang="en-US" altLang="zh-CN" sz="2400" b="1" dirty="0">
                <a:ea typeface="SimSun" pitchFamily="2" charset="-122"/>
              </a:rPr>
              <a:t>Relationship Sets</a:t>
            </a:r>
          </a:p>
          <a:p>
            <a:pPr lvl="1">
              <a:tabLst>
                <a:tab pos="1536700" algn="ctr"/>
                <a:tab pos="3543300" algn="ctr"/>
                <a:tab pos="5481638" algn="ctr"/>
              </a:tabLst>
            </a:pPr>
            <a:r>
              <a:rPr lang="en-US" altLang="zh-CN" sz="2400" b="1" dirty="0">
                <a:ea typeface="SimSun" pitchFamily="2" charset="-122"/>
              </a:rPr>
              <a:t>A </a:t>
            </a:r>
            <a:r>
              <a:rPr lang="en-US" altLang="zh-CN" sz="2400" b="1" dirty="0">
                <a:solidFill>
                  <a:schemeClr val="tx2"/>
                </a:solidFill>
                <a:ea typeface="SimSun" pitchFamily="2" charset="-122"/>
              </a:rPr>
              <a:t>relationship</a:t>
            </a:r>
            <a:r>
              <a:rPr lang="en-US" altLang="zh-CN" sz="2400" b="1" dirty="0">
                <a:ea typeface="SimSun" pitchFamily="2" charset="-122"/>
              </a:rPr>
              <a:t> is an association among several entities</a:t>
            </a:r>
          </a:p>
          <a:p>
            <a:pPr>
              <a:buFont typeface="Monotype Sorts" pitchFamily="2" charset="2"/>
              <a:buNone/>
              <a:tabLst>
                <a:tab pos="1536700" algn="ctr"/>
                <a:tab pos="3543300" algn="ctr"/>
                <a:tab pos="5481638" algn="ctr"/>
              </a:tabLst>
            </a:pPr>
            <a:r>
              <a:rPr lang="en-US" altLang="zh-CN" sz="2400" b="1" dirty="0">
                <a:ea typeface="SimSun" pitchFamily="2" charset="-122"/>
              </a:rPr>
              <a:t>	Example:</a:t>
            </a:r>
            <a:br>
              <a:rPr lang="en-US" altLang="zh-CN" sz="2400" b="1" dirty="0">
                <a:ea typeface="SimSun" pitchFamily="2" charset="-122"/>
              </a:rPr>
            </a:br>
            <a:r>
              <a:rPr lang="en-US" altLang="zh-CN" sz="2400" b="1" dirty="0">
                <a:ea typeface="SimSun" pitchFamily="2" charset="-122"/>
              </a:rPr>
              <a:t>	</a:t>
            </a:r>
            <a:r>
              <a:rPr lang="en-US" altLang="zh-CN" sz="2400" b="1" u="sng" dirty="0">
                <a:ea typeface="SimSun" pitchFamily="2" charset="-122"/>
              </a:rPr>
              <a:t>Hayes</a:t>
            </a:r>
            <a:r>
              <a:rPr lang="en-US" altLang="zh-CN" sz="2400" b="1" dirty="0">
                <a:ea typeface="SimSun" pitchFamily="2" charset="-122"/>
              </a:rPr>
              <a:t>	</a:t>
            </a:r>
            <a:r>
              <a:rPr lang="en-US" altLang="zh-CN" sz="2400" b="1" i="1" u="sng" dirty="0">
                <a:ea typeface="SimSun" pitchFamily="2" charset="-122"/>
              </a:rPr>
              <a:t>depositor</a:t>
            </a:r>
            <a:r>
              <a:rPr lang="en-US" altLang="zh-CN" sz="2400" b="1" dirty="0">
                <a:ea typeface="SimSun" pitchFamily="2" charset="-122"/>
              </a:rPr>
              <a:t>	         </a:t>
            </a:r>
            <a:r>
              <a:rPr lang="en-US" altLang="zh-CN" sz="2400" b="1" u="sng" dirty="0">
                <a:ea typeface="SimSun" pitchFamily="2" charset="-122"/>
              </a:rPr>
              <a:t>A-102</a:t>
            </a:r>
            <a:br>
              <a:rPr lang="en-US" altLang="zh-CN" sz="2400" b="1" dirty="0">
                <a:ea typeface="SimSun" pitchFamily="2" charset="-122"/>
              </a:rPr>
            </a:br>
            <a:r>
              <a:rPr lang="en-US" altLang="zh-CN" sz="2400" b="1" dirty="0">
                <a:ea typeface="SimSun" pitchFamily="2" charset="-122"/>
              </a:rPr>
              <a:t>	</a:t>
            </a:r>
            <a:r>
              <a:rPr lang="en-US" altLang="zh-CN" sz="2400" b="1" i="1" dirty="0">
                <a:ea typeface="SimSun" pitchFamily="2" charset="-122"/>
              </a:rPr>
              <a:t>customer</a:t>
            </a:r>
            <a:r>
              <a:rPr lang="en-US" altLang="zh-CN" sz="2400" b="1" dirty="0">
                <a:ea typeface="SimSun" pitchFamily="2" charset="-122"/>
              </a:rPr>
              <a:t> entity	 relationship set	 </a:t>
            </a:r>
            <a:r>
              <a:rPr lang="en-US" altLang="zh-CN" sz="2400" b="1" i="1" dirty="0">
                <a:ea typeface="SimSun" pitchFamily="2" charset="-122"/>
              </a:rPr>
              <a:t>account</a:t>
            </a:r>
            <a:r>
              <a:rPr lang="en-US" altLang="zh-CN" sz="2400" b="1" dirty="0">
                <a:ea typeface="SimSun" pitchFamily="2" charset="-122"/>
              </a:rPr>
              <a:t> entity</a:t>
            </a:r>
          </a:p>
          <a:p>
            <a:pPr lvl="1">
              <a:tabLst>
                <a:tab pos="1536700" algn="ctr"/>
                <a:tab pos="3543300" algn="ctr"/>
                <a:tab pos="5481638" algn="ctr"/>
              </a:tabLst>
            </a:pPr>
            <a:r>
              <a:rPr lang="en-US" altLang="zh-CN" sz="2400" b="1" dirty="0">
                <a:ea typeface="SimSun" pitchFamily="2" charset="-122"/>
              </a:rPr>
              <a:t>A </a:t>
            </a:r>
            <a:r>
              <a:rPr lang="en-US" altLang="zh-CN" sz="2400" b="1" i="1" dirty="0">
                <a:solidFill>
                  <a:schemeClr val="tx2"/>
                </a:solidFill>
                <a:ea typeface="SimSun" pitchFamily="2" charset="-122"/>
              </a:rPr>
              <a:t>relationship </a:t>
            </a:r>
            <a:r>
              <a:rPr lang="en-US" altLang="zh-CN" sz="2400" b="1" dirty="0">
                <a:solidFill>
                  <a:schemeClr val="tx2"/>
                </a:solidFill>
                <a:ea typeface="SimSun" pitchFamily="2" charset="-122"/>
              </a:rPr>
              <a:t>set</a:t>
            </a:r>
            <a:r>
              <a:rPr lang="en-US" altLang="zh-CN" sz="2400" b="1" dirty="0">
                <a:ea typeface="SimSun" pitchFamily="2" charset="-122"/>
              </a:rPr>
              <a:t> is a mathematical relation among </a:t>
            </a:r>
            <a:r>
              <a:rPr lang="en-US" altLang="zh-CN" sz="2400" b="1" i="1" dirty="0">
                <a:ea typeface="SimSun" pitchFamily="2" charset="-122"/>
              </a:rPr>
              <a:t>n</a:t>
            </a:r>
            <a:r>
              <a:rPr lang="en-US" altLang="zh-CN" sz="2400" b="1" dirty="0">
                <a:ea typeface="SimSun" pitchFamily="2" charset="-122"/>
              </a:rPr>
              <a:t> </a:t>
            </a:r>
            <a:r>
              <a:rPr lang="en-US" altLang="zh-CN" sz="2400" b="1" dirty="0">
                <a:ea typeface="SimSun" pitchFamily="2" charset="-122"/>
                <a:sym typeface="Symbol" pitchFamily="18" charset="2"/>
              </a:rPr>
              <a:t> 2 entities, each taken from entity sets</a:t>
            </a:r>
          </a:p>
          <a:p>
            <a:pPr>
              <a:buFont typeface="Monotype Sorts" pitchFamily="2" charset="2"/>
              <a:buNone/>
              <a:tabLst>
                <a:tab pos="1536700" algn="ctr"/>
                <a:tab pos="3543300" algn="ctr"/>
                <a:tab pos="5481638" algn="ctr"/>
              </a:tabLst>
            </a:pPr>
            <a:r>
              <a:rPr lang="en-US" altLang="zh-CN" sz="2400" b="1" dirty="0">
                <a:ea typeface="SimSun" pitchFamily="2" charset="-122"/>
                <a:sym typeface="Symbol" pitchFamily="18" charset="2"/>
              </a:rPr>
              <a:t>		{(</a:t>
            </a:r>
            <a:r>
              <a:rPr lang="en-US" altLang="zh-CN" sz="2400" b="1" i="1" dirty="0">
                <a:ea typeface="SimSun" pitchFamily="2" charset="-122"/>
                <a:sym typeface="Symbol" pitchFamily="18" charset="2"/>
              </a:rPr>
              <a:t>e</a:t>
            </a:r>
            <a:r>
              <a:rPr lang="en-US" altLang="zh-CN" sz="2400" b="1" baseline="-25000" dirty="0">
                <a:ea typeface="SimSun" pitchFamily="2" charset="-122"/>
                <a:sym typeface="Symbol" pitchFamily="18" charset="2"/>
              </a:rPr>
              <a:t>1</a:t>
            </a:r>
            <a:r>
              <a:rPr lang="en-US" altLang="zh-CN" sz="2400" b="1" dirty="0">
                <a:ea typeface="SimSun" pitchFamily="2" charset="-122"/>
                <a:sym typeface="Symbol" pitchFamily="18" charset="2"/>
              </a:rPr>
              <a:t>, </a:t>
            </a:r>
            <a:r>
              <a:rPr lang="en-US" altLang="zh-CN" sz="2400" b="1" i="1" dirty="0">
                <a:ea typeface="SimSun" pitchFamily="2" charset="-122"/>
                <a:sym typeface="Symbol" pitchFamily="18" charset="2"/>
              </a:rPr>
              <a:t>e</a:t>
            </a:r>
            <a:r>
              <a:rPr lang="en-US" altLang="zh-CN" sz="2400" b="1" baseline="-25000" dirty="0">
                <a:ea typeface="SimSun" pitchFamily="2" charset="-122"/>
                <a:sym typeface="Symbol" pitchFamily="18" charset="2"/>
              </a:rPr>
              <a:t>2</a:t>
            </a:r>
            <a:r>
              <a:rPr lang="en-US" altLang="zh-CN" sz="2400" b="1" dirty="0">
                <a:ea typeface="SimSun" pitchFamily="2" charset="-122"/>
                <a:sym typeface="Symbol" pitchFamily="18" charset="2"/>
              </a:rPr>
              <a:t>, … </a:t>
            </a:r>
            <a:r>
              <a:rPr lang="en-US" altLang="zh-CN" sz="2400" b="1" i="1" dirty="0">
                <a:ea typeface="SimSun" pitchFamily="2" charset="-122"/>
                <a:sym typeface="Symbol" pitchFamily="18" charset="2"/>
              </a:rPr>
              <a:t>e</a:t>
            </a:r>
            <a:r>
              <a:rPr lang="en-US" altLang="zh-CN" sz="2400" b="1" i="1" baseline="-25000" dirty="0">
                <a:ea typeface="SimSun" pitchFamily="2" charset="-122"/>
                <a:sym typeface="Symbol" pitchFamily="18" charset="2"/>
              </a:rPr>
              <a:t>n</a:t>
            </a:r>
            <a:r>
              <a:rPr lang="en-US" altLang="zh-CN" sz="2400" b="1" dirty="0">
                <a:ea typeface="SimSun" pitchFamily="2" charset="-122"/>
                <a:sym typeface="Symbol" pitchFamily="18" charset="2"/>
              </a:rPr>
              <a:t>) | </a:t>
            </a:r>
            <a:r>
              <a:rPr lang="en-US" altLang="zh-CN" sz="2400" b="1" i="1" dirty="0">
                <a:ea typeface="SimSun" pitchFamily="2" charset="-122"/>
                <a:sym typeface="Symbol" pitchFamily="18" charset="2"/>
              </a:rPr>
              <a:t>e</a:t>
            </a:r>
            <a:r>
              <a:rPr lang="en-US" altLang="zh-CN" sz="2400" b="1" baseline="-25000" dirty="0">
                <a:ea typeface="SimSun" pitchFamily="2" charset="-122"/>
                <a:sym typeface="Symbol" pitchFamily="18" charset="2"/>
              </a:rPr>
              <a:t>1</a:t>
            </a:r>
            <a:r>
              <a:rPr lang="en-US" altLang="zh-CN" sz="2400" b="1" dirty="0">
                <a:ea typeface="SimSun" pitchFamily="2" charset="-122"/>
                <a:sym typeface="Symbol" pitchFamily="18" charset="2"/>
              </a:rPr>
              <a:t>   </a:t>
            </a:r>
            <a:r>
              <a:rPr lang="en-US" altLang="zh-CN" sz="2400" b="1" i="1" dirty="0">
                <a:ea typeface="SimSun" pitchFamily="2" charset="-122"/>
                <a:sym typeface="Symbol" pitchFamily="18" charset="2"/>
              </a:rPr>
              <a:t>E</a:t>
            </a:r>
            <a:r>
              <a:rPr lang="en-US" altLang="zh-CN" sz="2400" b="1" baseline="-25000" dirty="0">
                <a:ea typeface="SimSun" pitchFamily="2" charset="-122"/>
                <a:sym typeface="Symbol" pitchFamily="18" charset="2"/>
              </a:rPr>
              <a:t>1</a:t>
            </a:r>
            <a:r>
              <a:rPr lang="en-US" altLang="zh-CN" sz="2400" b="1" dirty="0">
                <a:ea typeface="SimSun" pitchFamily="2" charset="-122"/>
                <a:sym typeface="Symbol" pitchFamily="18" charset="2"/>
              </a:rPr>
              <a:t>, </a:t>
            </a:r>
            <a:r>
              <a:rPr lang="en-US" altLang="zh-CN" sz="2400" b="1" i="1" dirty="0">
                <a:ea typeface="SimSun" pitchFamily="2" charset="-122"/>
                <a:sym typeface="Symbol" pitchFamily="18" charset="2"/>
              </a:rPr>
              <a:t>e</a:t>
            </a:r>
            <a:r>
              <a:rPr lang="en-US" altLang="zh-CN" sz="2400" b="1" baseline="-25000" dirty="0">
                <a:ea typeface="SimSun" pitchFamily="2" charset="-122"/>
                <a:sym typeface="Symbol" pitchFamily="18" charset="2"/>
              </a:rPr>
              <a:t>2</a:t>
            </a:r>
            <a:r>
              <a:rPr lang="en-US" altLang="zh-CN" sz="2400" b="1" dirty="0">
                <a:ea typeface="SimSun" pitchFamily="2" charset="-122"/>
                <a:sym typeface="Symbol" pitchFamily="18" charset="2"/>
              </a:rPr>
              <a:t>   </a:t>
            </a:r>
            <a:r>
              <a:rPr lang="en-US" altLang="zh-CN" sz="2400" b="1" i="1" dirty="0">
                <a:ea typeface="SimSun" pitchFamily="2" charset="-122"/>
                <a:sym typeface="Symbol" pitchFamily="18" charset="2"/>
              </a:rPr>
              <a:t>E</a:t>
            </a:r>
            <a:r>
              <a:rPr lang="en-US" altLang="zh-CN" sz="2400" b="1" baseline="-25000" dirty="0">
                <a:ea typeface="SimSun" pitchFamily="2" charset="-122"/>
                <a:sym typeface="Symbol" pitchFamily="18" charset="2"/>
              </a:rPr>
              <a:t>2</a:t>
            </a:r>
            <a:r>
              <a:rPr lang="en-US" altLang="zh-CN" sz="2400" b="1" dirty="0">
                <a:ea typeface="SimSun" pitchFamily="2" charset="-122"/>
                <a:sym typeface="Symbol" pitchFamily="18" charset="2"/>
              </a:rPr>
              <a:t>, …, </a:t>
            </a:r>
            <a:r>
              <a:rPr lang="en-US" altLang="zh-CN" sz="2400" b="1" i="1" dirty="0">
                <a:ea typeface="SimSun" pitchFamily="2" charset="-122"/>
                <a:sym typeface="Symbol" pitchFamily="18" charset="2"/>
              </a:rPr>
              <a:t>e</a:t>
            </a:r>
            <a:r>
              <a:rPr lang="en-US" altLang="zh-CN" sz="2400" b="1" i="1" baseline="-25000" dirty="0">
                <a:ea typeface="SimSun" pitchFamily="2" charset="-122"/>
                <a:sym typeface="Symbol" pitchFamily="18" charset="2"/>
              </a:rPr>
              <a:t>n</a:t>
            </a:r>
            <a:r>
              <a:rPr lang="en-US" altLang="zh-CN" sz="2400" b="1" dirty="0">
                <a:ea typeface="SimSun" pitchFamily="2" charset="-122"/>
                <a:sym typeface="Symbol" pitchFamily="18" charset="2"/>
              </a:rPr>
              <a:t>   </a:t>
            </a:r>
            <a:r>
              <a:rPr lang="en-US" altLang="zh-CN" sz="2400" b="1" i="1" dirty="0">
                <a:ea typeface="SimSun" pitchFamily="2" charset="-122"/>
                <a:sym typeface="Symbol" pitchFamily="18" charset="2"/>
              </a:rPr>
              <a:t>E</a:t>
            </a:r>
            <a:r>
              <a:rPr lang="en-US" altLang="zh-CN" sz="2400" b="1" i="1" baseline="-25000" dirty="0">
                <a:ea typeface="SimSun" pitchFamily="2" charset="-122"/>
                <a:sym typeface="Symbol" pitchFamily="18" charset="2"/>
              </a:rPr>
              <a:t>n</a:t>
            </a:r>
            <a:r>
              <a:rPr lang="en-US" altLang="zh-CN" sz="2400" b="1" dirty="0">
                <a:ea typeface="SimSun" pitchFamily="2" charset="-122"/>
                <a:sym typeface="Symbol" pitchFamily="18" charset="2"/>
              </a:rPr>
              <a:t>}</a:t>
            </a:r>
            <a:br>
              <a:rPr lang="en-US" altLang="zh-CN" sz="2400" b="1" dirty="0">
                <a:ea typeface="SimSun" pitchFamily="2" charset="-122"/>
                <a:sym typeface="Symbol" pitchFamily="18" charset="2"/>
              </a:rPr>
            </a:br>
            <a:br>
              <a:rPr lang="en-US" altLang="zh-CN" sz="2400" b="1" dirty="0">
                <a:ea typeface="SimSun" pitchFamily="2" charset="-122"/>
                <a:sym typeface="Symbol" pitchFamily="18" charset="2"/>
              </a:rPr>
            </a:br>
            <a:r>
              <a:rPr lang="en-US" altLang="zh-CN" sz="2400" b="1" dirty="0">
                <a:ea typeface="SimSun" pitchFamily="2" charset="-122"/>
                <a:sym typeface="Symbol" pitchFamily="18" charset="2"/>
              </a:rPr>
              <a:t>where (</a:t>
            </a:r>
            <a:r>
              <a:rPr lang="en-US" altLang="zh-CN" sz="2400" b="1" i="1" dirty="0">
                <a:ea typeface="SimSun" pitchFamily="2" charset="-122"/>
                <a:sym typeface="Symbol" pitchFamily="18" charset="2"/>
              </a:rPr>
              <a:t>e</a:t>
            </a:r>
            <a:r>
              <a:rPr lang="en-US" altLang="zh-CN" sz="2400" b="1" baseline="-25000" dirty="0">
                <a:ea typeface="SimSun" pitchFamily="2" charset="-122"/>
                <a:sym typeface="Symbol" pitchFamily="18" charset="2"/>
              </a:rPr>
              <a:t>1</a:t>
            </a:r>
            <a:r>
              <a:rPr lang="en-US" altLang="zh-CN" sz="2400" b="1" dirty="0">
                <a:ea typeface="SimSun" pitchFamily="2" charset="-122"/>
                <a:sym typeface="Symbol" pitchFamily="18" charset="2"/>
              </a:rPr>
              <a:t>, </a:t>
            </a:r>
            <a:r>
              <a:rPr lang="en-US" altLang="zh-CN" sz="2400" b="1" i="1" dirty="0">
                <a:ea typeface="SimSun" pitchFamily="2" charset="-122"/>
                <a:sym typeface="Symbol" pitchFamily="18" charset="2"/>
              </a:rPr>
              <a:t>e</a:t>
            </a:r>
            <a:r>
              <a:rPr lang="en-US" altLang="zh-CN" sz="2400" b="1" baseline="-25000" dirty="0">
                <a:ea typeface="SimSun" pitchFamily="2" charset="-122"/>
                <a:sym typeface="Symbol" pitchFamily="18" charset="2"/>
              </a:rPr>
              <a:t>2</a:t>
            </a:r>
            <a:r>
              <a:rPr lang="en-US" altLang="zh-CN" sz="2400" b="1" dirty="0">
                <a:ea typeface="SimSun" pitchFamily="2" charset="-122"/>
                <a:sym typeface="Symbol" pitchFamily="18" charset="2"/>
              </a:rPr>
              <a:t>, …, </a:t>
            </a:r>
            <a:r>
              <a:rPr lang="en-US" altLang="zh-CN" sz="2400" b="1" i="1" dirty="0">
                <a:ea typeface="SimSun" pitchFamily="2" charset="-122"/>
                <a:sym typeface="Symbol" pitchFamily="18" charset="2"/>
              </a:rPr>
              <a:t>e</a:t>
            </a:r>
            <a:r>
              <a:rPr lang="en-US" altLang="zh-CN" sz="2400" b="1" i="1" baseline="-25000" dirty="0">
                <a:ea typeface="SimSun" pitchFamily="2" charset="-122"/>
                <a:sym typeface="Symbol" pitchFamily="18" charset="2"/>
              </a:rPr>
              <a:t>n</a:t>
            </a:r>
            <a:r>
              <a:rPr lang="en-US" altLang="zh-CN" sz="2400" b="1" dirty="0">
                <a:ea typeface="SimSun" pitchFamily="2" charset="-122"/>
                <a:sym typeface="Symbol" pitchFamily="18" charset="2"/>
              </a:rPr>
              <a:t>) is a relationship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3" t="11800" r="3009" b="12743"/>
          <a:stretch>
            <a:fillRect/>
          </a:stretch>
        </p:blipFill>
        <p:spPr bwMode="auto">
          <a:xfrm>
            <a:off x="1030287" y="1449316"/>
            <a:ext cx="7273925" cy="4097337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1816984" y="369205"/>
            <a:ext cx="570053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05000"/>
              <a:buFont typeface="Monotype Sorts" pitchFamily="2" charset="2"/>
              <a:buChar char="H"/>
              <a:tabLst>
                <a:tab pos="1536700" algn="ctr"/>
                <a:tab pos="3543300" algn="ctr"/>
                <a:tab pos="5481638" algn="ctr"/>
              </a:tabLst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SimSun" pitchFamily="2" charset="-122"/>
                <a:cs typeface="+mn-cs"/>
                <a:sym typeface="Symbol" pitchFamily="18" charset="2"/>
              </a:rPr>
              <a:t>Example:  			(Hayes, A-102)  </a:t>
            </a:r>
            <a:r>
              <a:rPr kumimoji="1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SimSun" pitchFamily="2" charset="-122"/>
                <a:cs typeface="+mn-cs"/>
                <a:sym typeface="Symbol" pitchFamily="18" charset="2"/>
              </a:rPr>
              <a:t>depositor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1475774" y="3295427"/>
            <a:ext cx="1886672" cy="428264"/>
          </a:xfrm>
          <a:prstGeom prst="rect">
            <a:avLst/>
          </a:prstGeom>
          <a:noFill/>
          <a:ln w="571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 w="57150">
                <a:solidFill>
                  <a:srgbClr val="CC3300">
                    <a:satMod val="155000"/>
                  </a:srgbClr>
                </a:solidFill>
                <a:prstDash val="solid"/>
              </a:ln>
              <a:solidFill>
                <a:srgbClr val="666699">
                  <a:tint val="85000"/>
                  <a:satMod val="155000"/>
                </a:srgb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Helvetica" charset="0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4791679" y="2987798"/>
            <a:ext cx="2772137" cy="542081"/>
          </a:xfrm>
          <a:prstGeom prst="rect">
            <a:avLst/>
          </a:prstGeom>
          <a:noFill/>
          <a:ln w="571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 w="57150">
                <a:solidFill>
                  <a:srgbClr val="CC3300">
                    <a:satMod val="155000"/>
                  </a:srgbClr>
                </a:solidFill>
                <a:prstDash val="solid"/>
              </a:ln>
              <a:solidFill>
                <a:srgbClr val="666699">
                  <a:tint val="85000"/>
                  <a:satMod val="155000"/>
                </a:srgb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Helvetic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0966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3" t="11800" r="3009" b="12743"/>
          <a:stretch>
            <a:fillRect/>
          </a:stretch>
        </p:blipFill>
        <p:spPr bwMode="auto">
          <a:xfrm>
            <a:off x="1030287" y="1449316"/>
            <a:ext cx="7273925" cy="4097337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1816984" y="369205"/>
            <a:ext cx="570053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05000"/>
              <a:buFont typeface="Monotype Sorts" pitchFamily="2" charset="2"/>
              <a:buChar char="H"/>
              <a:tabLst>
                <a:tab pos="1536700" algn="ctr"/>
                <a:tab pos="3543300" algn="ctr"/>
                <a:tab pos="5481638" algn="ctr"/>
              </a:tabLst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SimSun" pitchFamily="2" charset="-122"/>
                <a:cs typeface="+mn-cs"/>
                <a:sym typeface="Symbol" pitchFamily="18" charset="2"/>
              </a:rPr>
              <a:t>Example:  			(Hayes, A-102)  </a:t>
            </a:r>
            <a:r>
              <a:rPr kumimoji="1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SimSun" pitchFamily="2" charset="-122"/>
                <a:cs typeface="+mn-cs"/>
                <a:sym typeface="Symbol" pitchFamily="18" charset="2"/>
              </a:rPr>
              <a:t>depositor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1475774" y="2381027"/>
            <a:ext cx="1886672" cy="428264"/>
          </a:xfrm>
          <a:prstGeom prst="rect">
            <a:avLst/>
          </a:prstGeom>
          <a:noFill/>
          <a:ln w="571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 w="57150">
                <a:solidFill>
                  <a:srgbClr val="CC3300">
                    <a:satMod val="155000"/>
                  </a:srgbClr>
                </a:solidFill>
                <a:prstDash val="solid"/>
              </a:ln>
              <a:solidFill>
                <a:srgbClr val="666699">
                  <a:tint val="85000"/>
                  <a:satMod val="155000"/>
                </a:srgb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Helvetica" charset="0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4811999" y="3902198"/>
            <a:ext cx="2772137" cy="542081"/>
          </a:xfrm>
          <a:prstGeom prst="rect">
            <a:avLst/>
          </a:prstGeom>
          <a:noFill/>
          <a:ln w="571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 w="57150">
                <a:solidFill>
                  <a:srgbClr val="CC3300">
                    <a:satMod val="155000"/>
                  </a:srgbClr>
                </a:solidFill>
                <a:prstDash val="solid"/>
              </a:ln>
              <a:solidFill>
                <a:srgbClr val="666699">
                  <a:tint val="85000"/>
                  <a:satMod val="155000"/>
                </a:srgb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Helvetica" charset="0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4822159" y="2073398"/>
            <a:ext cx="2772137" cy="542081"/>
          </a:xfrm>
          <a:prstGeom prst="rect">
            <a:avLst/>
          </a:prstGeom>
          <a:noFill/>
          <a:ln w="571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 w="57150">
                <a:solidFill>
                  <a:srgbClr val="CC3300">
                    <a:satMod val="155000"/>
                  </a:srgbClr>
                </a:solidFill>
                <a:prstDash val="solid"/>
              </a:ln>
              <a:solidFill>
                <a:srgbClr val="666699">
                  <a:tint val="85000"/>
                  <a:satMod val="155000"/>
                </a:srgb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Helvetic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478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The </a:t>
            </a:r>
            <a:r>
              <a:rPr lang="en-US" i="1"/>
              <a:t>depositor </a:t>
            </a:r>
            <a:r>
              <a:rPr lang="en-US"/>
              <a:t>Relation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2" t="7622" r="2599" b="6929"/>
          <a:stretch>
            <a:fillRect/>
          </a:stretch>
        </p:blipFill>
        <p:spPr bwMode="auto">
          <a:xfrm>
            <a:off x="1447800" y="1219200"/>
            <a:ext cx="6883400" cy="4635500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0303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SimSun" pitchFamily="2" charset="-122"/>
              </a:rPr>
              <a:t>Relationship Set </a:t>
            </a:r>
            <a:r>
              <a:rPr lang="en-US" altLang="zh-CN" i="1">
                <a:ea typeface="SimSun" pitchFamily="2" charset="-122"/>
              </a:rPr>
              <a:t>borrower</a:t>
            </a:r>
            <a:endParaRPr lang="en-US" altLang="zh-CN">
              <a:ea typeface="SimSun" pitchFamily="2" charset="-122"/>
            </a:endParaRPr>
          </a:p>
        </p:txBody>
      </p:sp>
      <p:pic>
        <p:nvPicPr>
          <p:cNvPr id="9219" name="Picture 102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" t="7619" r="1428" b="8809"/>
          <a:stretch>
            <a:fillRect/>
          </a:stretch>
        </p:blipFill>
        <p:spPr bwMode="auto">
          <a:xfrm>
            <a:off x="527050" y="854075"/>
            <a:ext cx="8007350" cy="5343525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3600">
                <a:ea typeface="SimSun" pitchFamily="2" charset="-122"/>
              </a:rPr>
              <a:t>Basic Concepts</a:t>
            </a:r>
            <a:r>
              <a:rPr lang="en-US" altLang="zh-CN">
                <a:ea typeface="SimSun" pitchFamily="2" charset="-122"/>
              </a:rPr>
              <a:t>(Cont.)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5975" y="828675"/>
            <a:ext cx="7848600" cy="11715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b="1" dirty="0">
                <a:ea typeface="SimSun" pitchFamily="2" charset="-122"/>
              </a:rPr>
              <a:t>An </a:t>
            </a:r>
            <a:r>
              <a:rPr lang="en-US" altLang="zh-CN" b="1" i="1" dirty="0">
                <a:ea typeface="SimSun" pitchFamily="2" charset="-122"/>
              </a:rPr>
              <a:t>attribute</a:t>
            </a:r>
            <a:r>
              <a:rPr lang="en-US" altLang="zh-CN" dirty="0">
                <a:ea typeface="SimSun" pitchFamily="2" charset="-122"/>
              </a:rPr>
              <a:t> can also be property of a </a:t>
            </a:r>
            <a:r>
              <a:rPr lang="en-US" altLang="zh-CN" b="1" dirty="0">
                <a:ea typeface="SimSun" pitchFamily="2" charset="-122"/>
              </a:rPr>
              <a:t>relationship set</a:t>
            </a:r>
            <a:r>
              <a:rPr lang="en-US" altLang="zh-CN" dirty="0">
                <a:ea typeface="SimSun" pitchFamily="2" charset="-122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ea typeface="SimSun" pitchFamily="2" charset="-122"/>
              </a:rPr>
              <a:t>For instance, the </a:t>
            </a:r>
            <a:r>
              <a:rPr lang="en-US" altLang="zh-CN" b="1" i="1" dirty="0">
                <a:ea typeface="SimSun" pitchFamily="2" charset="-122"/>
              </a:rPr>
              <a:t>depositor</a:t>
            </a:r>
            <a:r>
              <a:rPr lang="en-US" altLang="zh-CN" i="1" dirty="0">
                <a:ea typeface="SimSun" pitchFamily="2" charset="-122"/>
              </a:rPr>
              <a:t> </a:t>
            </a:r>
            <a:r>
              <a:rPr lang="en-US" altLang="zh-CN" dirty="0">
                <a:ea typeface="SimSun" pitchFamily="2" charset="-122"/>
              </a:rPr>
              <a:t>relationship set between entity sets </a:t>
            </a:r>
            <a:r>
              <a:rPr lang="en-US" altLang="zh-CN" i="1" dirty="0">
                <a:ea typeface="SimSun" pitchFamily="2" charset="-122"/>
              </a:rPr>
              <a:t>customer </a:t>
            </a:r>
            <a:r>
              <a:rPr lang="en-US" altLang="zh-CN" dirty="0">
                <a:ea typeface="SimSun" pitchFamily="2" charset="-122"/>
              </a:rPr>
              <a:t>and </a:t>
            </a:r>
            <a:r>
              <a:rPr lang="en-US" altLang="zh-CN" i="1" dirty="0">
                <a:ea typeface="SimSun" pitchFamily="2" charset="-122"/>
              </a:rPr>
              <a:t>account </a:t>
            </a:r>
            <a:r>
              <a:rPr lang="en-US" altLang="zh-CN" dirty="0">
                <a:ea typeface="SimSun" pitchFamily="2" charset="-122"/>
              </a:rPr>
              <a:t>may have the attribute </a:t>
            </a:r>
            <a:r>
              <a:rPr lang="en-US" altLang="zh-CN" sz="2400" b="1" i="1" dirty="0">
                <a:ea typeface="SimSun" pitchFamily="2" charset="-122"/>
              </a:rPr>
              <a:t>access-date</a:t>
            </a:r>
            <a:endParaRPr lang="en-US" altLang="zh-CN" sz="2400" b="1" dirty="0">
              <a:ea typeface="SimSun" pitchFamily="2" charset="-122"/>
            </a:endParaRPr>
          </a:p>
        </p:txBody>
      </p:sp>
      <p:pic>
        <p:nvPicPr>
          <p:cNvPr id="1024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7312" r="3548" b="7742"/>
          <a:stretch>
            <a:fillRect/>
          </a:stretch>
        </p:blipFill>
        <p:spPr bwMode="auto">
          <a:xfrm>
            <a:off x="1230313" y="2143023"/>
            <a:ext cx="6907212" cy="4386263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3"/>
          <p:cNvSpPr txBox="1">
            <a:spLocks noChangeArrowheads="1"/>
          </p:cNvSpPr>
          <p:nvPr/>
        </p:nvSpPr>
        <p:spPr bwMode="auto">
          <a:xfrm>
            <a:off x="981389" y="279400"/>
            <a:ext cx="613982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Role: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Recursive Relationship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charset="0"/>
              <a:ea typeface="+mn-ea"/>
              <a:cs typeface="+mn-cs"/>
            </a:endParaRPr>
          </a:p>
        </p:txBody>
      </p:sp>
      <p:grpSp>
        <p:nvGrpSpPr>
          <p:cNvPr id="11267" name="Group 11"/>
          <p:cNvGrpSpPr>
            <a:grpSpLocks/>
          </p:cNvGrpSpPr>
          <p:nvPr/>
        </p:nvGrpSpPr>
        <p:grpSpPr bwMode="auto">
          <a:xfrm>
            <a:off x="1625136" y="1253259"/>
            <a:ext cx="6002594" cy="3156513"/>
            <a:chOff x="288" y="768"/>
            <a:chExt cx="5232" cy="2592"/>
          </a:xfrm>
        </p:grpSpPr>
        <p:pic>
          <p:nvPicPr>
            <p:cNvPr id="1126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" y="768"/>
              <a:ext cx="5232" cy="25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269" name="Text Box 6"/>
            <p:cNvSpPr txBox="1">
              <a:spLocks noChangeArrowheads="1"/>
            </p:cNvSpPr>
            <p:nvPr/>
          </p:nvSpPr>
          <p:spPr bwMode="auto">
            <a:xfrm>
              <a:off x="3922" y="1943"/>
              <a:ext cx="756" cy="1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Employee</a:t>
              </a:r>
            </a:p>
          </p:txBody>
        </p:sp>
        <p:sp>
          <p:nvSpPr>
            <p:cNvPr id="11270" name="Text Box 8"/>
            <p:cNvSpPr txBox="1">
              <a:spLocks noChangeArrowheads="1"/>
            </p:cNvSpPr>
            <p:nvPr/>
          </p:nvSpPr>
          <p:spPr bwMode="auto">
            <a:xfrm>
              <a:off x="1178" y="1935"/>
              <a:ext cx="756" cy="1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Employee</a:t>
              </a:r>
            </a:p>
          </p:txBody>
        </p:sp>
        <p:sp>
          <p:nvSpPr>
            <p:cNvPr id="11271" name="Text Box 9"/>
            <p:cNvSpPr txBox="1">
              <a:spLocks noChangeArrowheads="1"/>
            </p:cNvSpPr>
            <p:nvPr/>
          </p:nvSpPr>
          <p:spPr bwMode="auto">
            <a:xfrm>
              <a:off x="2552" y="1279"/>
              <a:ext cx="658" cy="1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Manager</a:t>
              </a:r>
            </a:p>
          </p:txBody>
        </p:sp>
        <p:sp>
          <p:nvSpPr>
            <p:cNvPr id="11272" name="Text Box 10"/>
            <p:cNvSpPr txBox="1">
              <a:spLocks noChangeArrowheads="1"/>
            </p:cNvSpPr>
            <p:nvPr/>
          </p:nvSpPr>
          <p:spPr bwMode="auto">
            <a:xfrm>
              <a:off x="2581" y="2935"/>
              <a:ext cx="551" cy="1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Worker</a:t>
              </a:r>
            </a:p>
          </p:txBody>
        </p:sp>
      </p:grpSp>
      <p:sp>
        <p:nvSpPr>
          <p:cNvPr id="2" name="Rectangle 1"/>
          <p:cNvSpPr/>
          <p:nvPr/>
        </p:nvSpPr>
        <p:spPr>
          <a:xfrm>
            <a:off x="1897992" y="4787153"/>
            <a:ext cx="559419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A relationship Set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works-for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that is modeled by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ordered pair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s of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employee entities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3600">
                <a:ea typeface="SimSun" pitchFamily="2" charset="-122"/>
              </a:rPr>
              <a:t>Basic Concepts</a:t>
            </a:r>
            <a:r>
              <a:rPr lang="en-US" altLang="zh-CN">
                <a:ea typeface="SimSun" pitchFamily="2" charset="-122"/>
              </a:rPr>
              <a:t>(Cont.)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3375" y="650875"/>
            <a:ext cx="8466138" cy="58134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400" b="1" dirty="0">
                <a:ea typeface="SimSun" pitchFamily="2" charset="-122"/>
              </a:rPr>
              <a:t>Degree of a Relationship Set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ea typeface="SimSun" pitchFamily="2" charset="-122"/>
              </a:rPr>
              <a:t>Refers to number of </a:t>
            </a:r>
            <a:r>
              <a:rPr lang="en-US" altLang="zh-CN" sz="2400" b="1" dirty="0">
                <a:ea typeface="SimSun" pitchFamily="2" charset="-122"/>
              </a:rPr>
              <a:t>entity sets </a:t>
            </a:r>
            <a:r>
              <a:rPr lang="en-US" altLang="zh-CN" sz="2400" dirty="0">
                <a:ea typeface="SimSun" pitchFamily="2" charset="-122"/>
              </a:rPr>
              <a:t>that participate in a </a:t>
            </a:r>
            <a:r>
              <a:rPr lang="en-US" altLang="zh-CN" sz="2400" b="1" dirty="0">
                <a:ea typeface="SimSun" pitchFamily="2" charset="-122"/>
              </a:rPr>
              <a:t>relationship set.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ea typeface="SimSun" pitchFamily="2" charset="-122"/>
              </a:rPr>
              <a:t>Relationship sets that </a:t>
            </a:r>
            <a:r>
              <a:rPr lang="en-US" altLang="zh-CN" sz="2400" b="1" dirty="0">
                <a:ea typeface="SimSun" pitchFamily="2" charset="-122"/>
              </a:rPr>
              <a:t>involve two entity sets</a:t>
            </a:r>
            <a:r>
              <a:rPr lang="en-US" altLang="zh-CN" sz="2400" dirty="0">
                <a:ea typeface="SimSun" pitchFamily="2" charset="-122"/>
              </a:rPr>
              <a:t> are </a:t>
            </a:r>
            <a:r>
              <a:rPr lang="en-US" altLang="zh-CN" sz="2400" b="1" i="1" dirty="0">
                <a:solidFill>
                  <a:schemeClr val="tx2"/>
                </a:solidFill>
                <a:ea typeface="SimSun" pitchFamily="2" charset="-122"/>
              </a:rPr>
              <a:t>binary</a:t>
            </a:r>
            <a:r>
              <a:rPr lang="en-US" altLang="zh-CN" sz="2400" b="1" dirty="0">
                <a:ea typeface="SimSun" pitchFamily="2" charset="-122"/>
              </a:rPr>
              <a:t> </a:t>
            </a:r>
            <a:r>
              <a:rPr lang="en-US" altLang="zh-CN" sz="2400" dirty="0">
                <a:ea typeface="SimSun" pitchFamily="2" charset="-122"/>
              </a:rPr>
              <a:t>(or degree two).  Generally, most relationship sets in a database system are binary.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ea typeface="SimSun" pitchFamily="2" charset="-122"/>
              </a:rPr>
              <a:t>Relationship sets may </a:t>
            </a:r>
            <a:r>
              <a:rPr lang="en-US" altLang="zh-CN" sz="2400" b="1" dirty="0">
                <a:ea typeface="SimSun" pitchFamily="2" charset="-122"/>
              </a:rPr>
              <a:t>involve more than two</a:t>
            </a:r>
            <a:r>
              <a:rPr lang="en-US" altLang="zh-CN" sz="2400" dirty="0">
                <a:ea typeface="SimSun" pitchFamily="2" charset="-122"/>
              </a:rPr>
              <a:t> entity sets.</a:t>
            </a:r>
            <a:r>
              <a:rPr lang="en-US" altLang="zh-CN" sz="2000" dirty="0">
                <a:ea typeface="SimSun" pitchFamily="2" charset="-122"/>
              </a:rPr>
              <a:t> </a:t>
            </a:r>
          </a:p>
          <a:p>
            <a:pPr>
              <a:lnSpc>
                <a:spcPct val="90000"/>
              </a:lnSpc>
            </a:pPr>
            <a:endParaRPr lang="en-US" altLang="zh-CN" sz="2400" dirty="0">
              <a:ea typeface="SimSun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z="2400" dirty="0">
              <a:ea typeface="SimSun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z="2400" dirty="0">
              <a:ea typeface="SimSun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z="2400" dirty="0">
              <a:ea typeface="SimSun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ea typeface="SimSun" pitchFamily="2" charset="-122"/>
              </a:rPr>
              <a:t>Relationships between more than two entity sets are rare.  Most relationships are binary. (More on this later.)</a:t>
            </a:r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682625" y="3757613"/>
            <a:ext cx="821372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Helvetica" charset="0"/>
              </a:defRPr>
            </a:lvl1pPr>
            <a:lvl2pPr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05000"/>
              <a:buFont typeface="Monotype Sorts" pitchFamily="2" charset="2"/>
              <a:buChar char="H"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E.g.  Suppose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employee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s of a bank may have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jobs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 (responsibilities) at multiple branches,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with different jobs at different branches.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  Then there is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a ternary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 relationship set between entity sets 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  <a:hlinkClick r:id="" action="ppaction://noaction"/>
              </a:rPr>
              <a:t>employee,  job and branch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3100">
                <a:ea typeface="SimSun" pitchFamily="2" charset="-122"/>
              </a:rPr>
              <a:t>E-R</a:t>
            </a:r>
            <a:r>
              <a:rPr lang="en-US" altLang="zh-CN">
                <a:ea typeface="SimSun" pitchFamily="2" charset="-122"/>
              </a:rPr>
              <a:t> Diagram with a Ternary Relationship</a:t>
            </a:r>
          </a:p>
        </p:txBody>
      </p:sp>
      <p:pic>
        <p:nvPicPr>
          <p:cNvPr id="2457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0" t="27061" r="774" b="26804"/>
          <a:stretch>
            <a:fillRect/>
          </a:stretch>
        </p:blipFill>
        <p:spPr bwMode="auto">
          <a:xfrm>
            <a:off x="533400" y="1333500"/>
            <a:ext cx="8278813" cy="2921000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37108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3600">
                <a:ea typeface="SimSun" pitchFamily="2" charset="-122"/>
              </a:rPr>
              <a:t>Constraints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3538" y="1031875"/>
            <a:ext cx="8483600" cy="5207000"/>
          </a:xfrm>
        </p:spPr>
        <p:txBody>
          <a:bodyPr/>
          <a:lstStyle/>
          <a:p>
            <a:r>
              <a:rPr lang="en-US" altLang="zh-CN" sz="2400" b="1" dirty="0">
                <a:ea typeface="SimSun" pitchFamily="2" charset="-122"/>
              </a:rPr>
              <a:t>Mapping Cardinalities</a:t>
            </a:r>
          </a:p>
          <a:p>
            <a:pPr lvl="1"/>
            <a:r>
              <a:rPr lang="en-US" altLang="zh-CN" sz="2400" dirty="0">
                <a:ea typeface="SimSun" pitchFamily="2" charset="-122"/>
              </a:rPr>
              <a:t>Express the </a:t>
            </a:r>
            <a:r>
              <a:rPr lang="en-US" altLang="zh-CN" sz="2400" b="1" dirty="0">
                <a:ea typeface="SimSun" pitchFamily="2" charset="-122"/>
              </a:rPr>
              <a:t>number of entities </a:t>
            </a:r>
            <a:r>
              <a:rPr lang="en-US" altLang="zh-CN" sz="2400" dirty="0">
                <a:ea typeface="SimSun" pitchFamily="2" charset="-122"/>
              </a:rPr>
              <a:t>to which </a:t>
            </a:r>
            <a:r>
              <a:rPr lang="en-US" altLang="zh-CN" sz="2400" b="1" dirty="0">
                <a:ea typeface="SimSun" pitchFamily="2" charset="-122"/>
              </a:rPr>
              <a:t>another entity </a:t>
            </a:r>
            <a:r>
              <a:rPr lang="en-US" altLang="zh-CN" sz="2400" dirty="0">
                <a:ea typeface="SimSun" pitchFamily="2" charset="-122"/>
              </a:rPr>
              <a:t>can be associated via a </a:t>
            </a:r>
            <a:r>
              <a:rPr lang="en-US" altLang="zh-CN" sz="2400" b="1" dirty="0">
                <a:ea typeface="SimSun" pitchFamily="2" charset="-122"/>
              </a:rPr>
              <a:t>relationship set</a:t>
            </a:r>
            <a:r>
              <a:rPr lang="en-US" altLang="zh-CN" sz="2400" dirty="0">
                <a:ea typeface="SimSun" pitchFamily="2" charset="-122"/>
              </a:rPr>
              <a:t>.</a:t>
            </a:r>
          </a:p>
          <a:p>
            <a:pPr lvl="1"/>
            <a:r>
              <a:rPr lang="en-US" altLang="zh-CN" sz="2400" dirty="0">
                <a:ea typeface="SimSun" pitchFamily="2" charset="-122"/>
              </a:rPr>
              <a:t>Most useful in </a:t>
            </a:r>
            <a:r>
              <a:rPr lang="en-US" altLang="zh-CN" sz="2400" b="1" dirty="0">
                <a:ea typeface="SimSun" pitchFamily="2" charset="-122"/>
              </a:rPr>
              <a:t>describing binary relationship </a:t>
            </a:r>
            <a:r>
              <a:rPr lang="en-US" altLang="zh-CN" sz="2400" dirty="0">
                <a:ea typeface="SimSun" pitchFamily="2" charset="-122"/>
              </a:rPr>
              <a:t>sets.</a:t>
            </a:r>
          </a:p>
          <a:p>
            <a:pPr lvl="1"/>
            <a:r>
              <a:rPr lang="en-US" altLang="zh-CN" sz="2400" dirty="0">
                <a:ea typeface="SimSun" pitchFamily="2" charset="-122"/>
              </a:rPr>
              <a:t>For a binary relationship set the mapping cardinality must be one of the following types:</a:t>
            </a:r>
          </a:p>
          <a:p>
            <a:pPr lvl="2"/>
            <a:r>
              <a:rPr lang="en-US" altLang="zh-CN" sz="2400" dirty="0">
                <a:ea typeface="SimSun" pitchFamily="2" charset="-122"/>
              </a:rPr>
              <a:t>One to one</a:t>
            </a:r>
          </a:p>
          <a:p>
            <a:pPr lvl="2"/>
            <a:r>
              <a:rPr lang="en-US" altLang="zh-CN" sz="2400" dirty="0">
                <a:ea typeface="SimSun" pitchFamily="2" charset="-122"/>
              </a:rPr>
              <a:t>One to many</a:t>
            </a:r>
          </a:p>
          <a:p>
            <a:pPr lvl="2"/>
            <a:r>
              <a:rPr lang="en-US" altLang="zh-CN" sz="2400" dirty="0">
                <a:ea typeface="SimSun" pitchFamily="2" charset="-122"/>
              </a:rPr>
              <a:t>Many to one</a:t>
            </a:r>
          </a:p>
          <a:p>
            <a:pPr lvl="2"/>
            <a:r>
              <a:rPr lang="en-US" altLang="zh-CN" sz="2400" dirty="0">
                <a:ea typeface="SimSun" pitchFamily="2" charset="-122"/>
              </a:rPr>
              <a:t>Many to many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3600">
                <a:ea typeface="SimSun" pitchFamily="2" charset="-122"/>
              </a:rPr>
              <a:t>Constraints </a:t>
            </a:r>
            <a:r>
              <a:rPr lang="en-US" altLang="zh-CN">
                <a:ea typeface="SimSun" pitchFamily="2" charset="-122"/>
              </a:rPr>
              <a:t>(Cont.)</a:t>
            </a:r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0" t="10025" r="1834" b="10269"/>
          <a:stretch>
            <a:fillRect/>
          </a:stretch>
        </p:blipFill>
        <p:spPr bwMode="auto">
          <a:xfrm>
            <a:off x="1155700" y="1016000"/>
            <a:ext cx="6756400" cy="4160838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1362075" y="5283200"/>
            <a:ext cx="1949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One to one</a:t>
            </a:r>
          </a:p>
        </p:txBody>
      </p:sp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5448300" y="5283200"/>
            <a:ext cx="1928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One to many</a:t>
            </a:r>
          </a:p>
        </p:txBody>
      </p:sp>
      <p:sp>
        <p:nvSpPr>
          <p:cNvPr id="14342" name="Text Box 6"/>
          <p:cNvSpPr txBox="1">
            <a:spLocks noChangeArrowheads="1"/>
          </p:cNvSpPr>
          <p:nvPr/>
        </p:nvSpPr>
        <p:spPr bwMode="auto">
          <a:xfrm>
            <a:off x="454025" y="5691188"/>
            <a:ext cx="83851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Note: Some elements in A and B may not be mapped to any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elements in the other set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3600">
                <a:ea typeface="SimSun" pitchFamily="2" charset="-122"/>
              </a:rPr>
              <a:t>Constraints </a:t>
            </a:r>
            <a:r>
              <a:rPr lang="en-US" altLang="zh-CN">
                <a:ea typeface="SimSun" pitchFamily="2" charset="-122"/>
              </a:rPr>
              <a:t>(Cont.)</a:t>
            </a:r>
          </a:p>
        </p:txBody>
      </p:sp>
      <p:pic>
        <p:nvPicPr>
          <p:cNvPr id="15363" name="Picture 205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2" t="10165" r="1236" b="8791"/>
          <a:stretch>
            <a:fillRect/>
          </a:stretch>
        </p:blipFill>
        <p:spPr bwMode="auto">
          <a:xfrm>
            <a:off x="1257300" y="1079500"/>
            <a:ext cx="6494463" cy="4098925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364" name="Text Box 2052"/>
          <p:cNvSpPr txBox="1">
            <a:spLocks noChangeArrowheads="1"/>
          </p:cNvSpPr>
          <p:nvPr/>
        </p:nvSpPr>
        <p:spPr bwMode="auto">
          <a:xfrm>
            <a:off x="1779588" y="5321300"/>
            <a:ext cx="1862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Many to one</a:t>
            </a:r>
          </a:p>
        </p:txBody>
      </p:sp>
      <p:sp>
        <p:nvSpPr>
          <p:cNvPr id="15365" name="Text Box 2053"/>
          <p:cNvSpPr txBox="1">
            <a:spLocks noChangeArrowheads="1"/>
          </p:cNvSpPr>
          <p:nvPr/>
        </p:nvSpPr>
        <p:spPr bwMode="auto">
          <a:xfrm>
            <a:off x="5345113" y="5321300"/>
            <a:ext cx="2098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Many to many</a:t>
            </a:r>
          </a:p>
        </p:txBody>
      </p:sp>
      <p:sp>
        <p:nvSpPr>
          <p:cNvPr id="15366" name="Text Box 2055"/>
          <p:cNvSpPr txBox="1">
            <a:spLocks noChangeArrowheads="1"/>
          </p:cNvSpPr>
          <p:nvPr/>
        </p:nvSpPr>
        <p:spPr bwMode="auto">
          <a:xfrm>
            <a:off x="454025" y="5700713"/>
            <a:ext cx="83851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Note: Some elements in A and B may not be mapped to any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elements in the other set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SimSun" pitchFamily="2" charset="-122"/>
              </a:rPr>
              <a:t>Constraints (Cont.)</a:t>
            </a:r>
          </a:p>
        </p:txBody>
      </p:sp>
      <p:sp>
        <p:nvSpPr>
          <p:cNvPr id="1638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15888" y="774700"/>
            <a:ext cx="8731250" cy="5721350"/>
          </a:xfrm>
          <a:noFill/>
        </p:spPr>
        <p:txBody>
          <a:bodyPr/>
          <a:lstStyle/>
          <a:p>
            <a:r>
              <a:rPr lang="en-US" altLang="zh-CN" sz="2400" b="1" dirty="0">
                <a:ea typeface="SimSun" pitchFamily="2" charset="-122"/>
              </a:rPr>
              <a:t>Participation Constraints</a:t>
            </a:r>
          </a:p>
          <a:p>
            <a:pPr lvl="1"/>
            <a:r>
              <a:rPr lang="en-US" altLang="zh-CN" sz="2400" dirty="0">
                <a:ea typeface="SimSun" pitchFamily="2" charset="-122"/>
              </a:rPr>
              <a:t>The participation of an </a:t>
            </a:r>
            <a:r>
              <a:rPr lang="en-US" altLang="zh-CN" sz="2400" b="1" dirty="0">
                <a:ea typeface="SimSun" pitchFamily="2" charset="-122"/>
              </a:rPr>
              <a:t>entity set </a:t>
            </a:r>
            <a:r>
              <a:rPr lang="en-US" altLang="zh-CN" sz="2400" b="1" i="1" dirty="0">
                <a:ea typeface="SimSun" pitchFamily="2" charset="-122"/>
              </a:rPr>
              <a:t>E</a:t>
            </a:r>
            <a:r>
              <a:rPr lang="en-US" altLang="zh-CN" sz="2400" b="1" dirty="0">
                <a:ea typeface="SimSun" pitchFamily="2" charset="-122"/>
              </a:rPr>
              <a:t> </a:t>
            </a:r>
            <a:r>
              <a:rPr lang="en-US" altLang="zh-CN" sz="2400" dirty="0">
                <a:ea typeface="SimSun" pitchFamily="2" charset="-122"/>
              </a:rPr>
              <a:t>in </a:t>
            </a:r>
            <a:r>
              <a:rPr lang="en-US" altLang="zh-CN" sz="2400" b="1" dirty="0">
                <a:ea typeface="SimSun" pitchFamily="2" charset="-122"/>
              </a:rPr>
              <a:t>a relationship set </a:t>
            </a:r>
            <a:r>
              <a:rPr lang="en-US" altLang="zh-CN" sz="2400" b="1" i="1" dirty="0">
                <a:ea typeface="SimSun" pitchFamily="2" charset="-122"/>
              </a:rPr>
              <a:t>R </a:t>
            </a:r>
            <a:r>
              <a:rPr lang="en-US" altLang="zh-CN" sz="2400" dirty="0">
                <a:ea typeface="SimSun" pitchFamily="2" charset="-122"/>
              </a:rPr>
              <a:t>is said to be </a:t>
            </a:r>
            <a:r>
              <a:rPr lang="en-US" altLang="zh-CN" sz="2400" dirty="0">
                <a:solidFill>
                  <a:srgbClr val="FF0000"/>
                </a:solidFill>
                <a:ea typeface="SimSun" pitchFamily="2" charset="-122"/>
              </a:rPr>
              <a:t>total</a:t>
            </a:r>
            <a:r>
              <a:rPr lang="en-US" altLang="zh-CN" sz="2400" dirty="0">
                <a:ea typeface="SimSun" pitchFamily="2" charset="-122"/>
              </a:rPr>
              <a:t> if every </a:t>
            </a:r>
            <a:r>
              <a:rPr lang="en-US" altLang="zh-CN" sz="2400" b="1" dirty="0">
                <a:ea typeface="SimSun" pitchFamily="2" charset="-122"/>
              </a:rPr>
              <a:t>entity in </a:t>
            </a:r>
            <a:r>
              <a:rPr lang="en-US" altLang="zh-CN" sz="2400" b="1" i="1" dirty="0">
                <a:ea typeface="SimSun" pitchFamily="2" charset="-122"/>
              </a:rPr>
              <a:t>E</a:t>
            </a:r>
            <a:r>
              <a:rPr lang="en-US" altLang="zh-CN" sz="2400" b="1" dirty="0">
                <a:ea typeface="SimSun" pitchFamily="2" charset="-122"/>
              </a:rPr>
              <a:t> </a:t>
            </a:r>
            <a:r>
              <a:rPr lang="en-US" altLang="zh-CN" sz="2400" dirty="0">
                <a:ea typeface="SimSun" pitchFamily="2" charset="-122"/>
              </a:rPr>
              <a:t>participates in </a:t>
            </a:r>
            <a:r>
              <a:rPr lang="en-US" altLang="zh-CN" sz="2400" b="1" dirty="0">
                <a:ea typeface="SimSun" pitchFamily="2" charset="-122"/>
              </a:rPr>
              <a:t>at least one relationship in </a:t>
            </a:r>
            <a:r>
              <a:rPr lang="en-US" altLang="zh-CN" sz="2400" b="1" i="1" dirty="0">
                <a:ea typeface="SimSun" pitchFamily="2" charset="-122"/>
              </a:rPr>
              <a:t>R</a:t>
            </a:r>
            <a:r>
              <a:rPr lang="en-US" altLang="zh-CN" sz="2400" b="1" dirty="0">
                <a:ea typeface="SimSun" pitchFamily="2" charset="-122"/>
              </a:rPr>
              <a:t>.</a:t>
            </a:r>
          </a:p>
          <a:p>
            <a:pPr lvl="2"/>
            <a:r>
              <a:rPr lang="en-US" altLang="zh-CN" sz="2400" dirty="0">
                <a:ea typeface="SimSun" pitchFamily="2" charset="-122"/>
              </a:rPr>
              <a:t>For example, we expect every </a:t>
            </a:r>
            <a:r>
              <a:rPr lang="en-US" altLang="zh-CN" sz="2400" dirty="0">
                <a:solidFill>
                  <a:srgbClr val="FF0000"/>
                </a:solidFill>
                <a:ea typeface="SimSun" pitchFamily="2" charset="-122"/>
              </a:rPr>
              <a:t>loan entity</a:t>
            </a:r>
            <a:r>
              <a:rPr lang="en-US" altLang="zh-CN" sz="2400" dirty="0">
                <a:ea typeface="SimSun" pitchFamily="2" charset="-122"/>
              </a:rPr>
              <a:t> to be related to </a:t>
            </a:r>
            <a:r>
              <a:rPr lang="en-US" altLang="zh-CN" sz="2400" dirty="0">
                <a:solidFill>
                  <a:srgbClr val="FF0000"/>
                </a:solidFill>
                <a:ea typeface="SimSun" pitchFamily="2" charset="-122"/>
              </a:rPr>
              <a:t>at least one customer</a:t>
            </a:r>
            <a:r>
              <a:rPr lang="en-US" altLang="zh-CN" sz="2400" dirty="0">
                <a:ea typeface="SimSun" pitchFamily="2" charset="-122"/>
              </a:rPr>
              <a:t> through the borrower relationship.</a:t>
            </a:r>
          </a:p>
          <a:p>
            <a:pPr lvl="1"/>
            <a:r>
              <a:rPr lang="en-US" altLang="zh-CN" sz="2400" dirty="0">
                <a:ea typeface="SimSun" pitchFamily="2" charset="-122"/>
              </a:rPr>
              <a:t>If only </a:t>
            </a:r>
            <a:r>
              <a:rPr lang="en-US" altLang="zh-CN" sz="2400" b="1" dirty="0">
                <a:ea typeface="SimSun" pitchFamily="2" charset="-122"/>
              </a:rPr>
              <a:t>some entities in E </a:t>
            </a:r>
            <a:r>
              <a:rPr lang="en-US" altLang="zh-CN" sz="2400" dirty="0">
                <a:ea typeface="SimSun" pitchFamily="2" charset="-122"/>
              </a:rPr>
              <a:t>participate in relationship in R, the participation of </a:t>
            </a:r>
            <a:r>
              <a:rPr lang="en-US" altLang="zh-CN" sz="2400" b="1" dirty="0">
                <a:ea typeface="SimSun" pitchFamily="2" charset="-122"/>
              </a:rPr>
              <a:t>entity set E </a:t>
            </a:r>
            <a:r>
              <a:rPr lang="en-US" altLang="zh-CN" sz="2400" dirty="0">
                <a:ea typeface="SimSun" pitchFamily="2" charset="-122"/>
              </a:rPr>
              <a:t>in </a:t>
            </a:r>
            <a:r>
              <a:rPr lang="en-US" altLang="zh-CN" sz="2400" b="1" dirty="0">
                <a:ea typeface="SimSun" pitchFamily="2" charset="-122"/>
              </a:rPr>
              <a:t>relationship R </a:t>
            </a:r>
            <a:r>
              <a:rPr lang="en-US" altLang="zh-CN" sz="2400" dirty="0">
                <a:ea typeface="SimSun" pitchFamily="2" charset="-122"/>
              </a:rPr>
              <a:t>is said to be </a:t>
            </a:r>
            <a:r>
              <a:rPr lang="en-US" altLang="zh-CN" sz="2400" b="1" dirty="0">
                <a:solidFill>
                  <a:srgbClr val="FF0000"/>
                </a:solidFill>
                <a:ea typeface="SimSun" pitchFamily="2" charset="-122"/>
              </a:rPr>
              <a:t>partial</a:t>
            </a:r>
            <a:r>
              <a:rPr lang="en-US" altLang="zh-CN" sz="2400" b="1" dirty="0">
                <a:ea typeface="SimSun" pitchFamily="2" charset="-122"/>
              </a:rPr>
              <a:t>.</a:t>
            </a:r>
          </a:p>
          <a:p>
            <a:pPr lvl="2"/>
            <a:r>
              <a:rPr lang="en-US" altLang="zh-CN" sz="2400" dirty="0">
                <a:ea typeface="SimSun" pitchFamily="2" charset="-122"/>
              </a:rPr>
              <a:t>For example, the participation of </a:t>
            </a:r>
            <a:r>
              <a:rPr lang="en-US" altLang="zh-CN" sz="2400" dirty="0">
                <a:solidFill>
                  <a:srgbClr val="FF0000"/>
                </a:solidFill>
                <a:ea typeface="SimSun" pitchFamily="2" charset="-122"/>
              </a:rPr>
              <a:t>customer</a:t>
            </a:r>
            <a:r>
              <a:rPr lang="en-US" altLang="zh-CN" sz="2400" dirty="0">
                <a:ea typeface="SimSun" pitchFamily="2" charset="-122"/>
              </a:rPr>
              <a:t> in the </a:t>
            </a:r>
            <a:r>
              <a:rPr lang="en-US" altLang="zh-CN" sz="2400" dirty="0">
                <a:solidFill>
                  <a:srgbClr val="FF0000"/>
                </a:solidFill>
                <a:ea typeface="SimSun" pitchFamily="2" charset="-122"/>
              </a:rPr>
              <a:t>borrower</a:t>
            </a:r>
            <a:r>
              <a:rPr lang="en-US" altLang="zh-CN" sz="2400" dirty="0">
                <a:ea typeface="SimSun" pitchFamily="2" charset="-122"/>
              </a:rPr>
              <a:t> relationship set is therefore set is therefore partial.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0CEDDA-58C3-48D8-B09A-A0595F1754A3}"/>
              </a:ext>
            </a:extLst>
          </p:cNvPr>
          <p:cNvSpPr txBox="1"/>
          <p:nvPr/>
        </p:nvSpPr>
        <p:spPr>
          <a:xfrm>
            <a:off x="2286000" y="3242777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laimanLipi" panose="03000609000000000000" pitchFamily="65" charset="0"/>
                <a:ea typeface="Calibri" panose="020F0502020204030204" pitchFamily="34" charset="0"/>
                <a:cs typeface="+mn-cs"/>
              </a:rPr>
              <a:t>চিহ্ণতকরণকে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33C3F2-CB95-4D4D-BC7F-943990255139}"/>
              </a:ext>
            </a:extLst>
          </p:cNvPr>
          <p:cNvSpPr txBox="1"/>
          <p:nvPr/>
        </p:nvSpPr>
        <p:spPr>
          <a:xfrm>
            <a:off x="2286000" y="3242777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laimanLipi" panose="03000609000000000000" pitchFamily="65" charset="0"/>
                <a:ea typeface="Calibri" panose="020F0502020204030204" pitchFamily="34" charset="0"/>
                <a:cs typeface="+mn-cs"/>
              </a:rPr>
              <a:t>চিহ্ণতকরণকে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5" name="Rectangle 102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SimSun" pitchFamily="2" charset="-122"/>
              </a:rPr>
              <a:t>Keys</a:t>
            </a:r>
          </a:p>
        </p:txBody>
      </p:sp>
      <p:sp>
        <p:nvSpPr>
          <p:cNvPr id="17411" name="Rectangle 1030"/>
          <p:cNvSpPr>
            <a:spLocks noChangeArrowheads="1"/>
          </p:cNvSpPr>
          <p:nvPr/>
        </p:nvSpPr>
        <p:spPr bwMode="auto">
          <a:xfrm>
            <a:off x="355600" y="881063"/>
            <a:ext cx="8451850" cy="551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3300"/>
              </a:buClr>
              <a:buSzPct val="90000"/>
              <a:buFont typeface="Monotype Sorts" pitchFamily="2" charset="2"/>
              <a:buChar char="n"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Entity Sets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3300"/>
              </a:buClr>
              <a:buSzPct val="90000"/>
              <a:buFont typeface="Monotype Sorts" pitchFamily="2" charset="2"/>
              <a:buChar char="n"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A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super key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 of an entity set is a set of one or more attributes whose values uniquely determine each entity.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3300"/>
              </a:buClr>
              <a:buSzPct val="90000"/>
              <a:buFont typeface="Monotype Sorts" pitchFamily="2" charset="2"/>
              <a:buChar char="n"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A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candidate key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 of an entity set is a minimal super key</a:t>
            </a:r>
          </a:p>
          <a:p>
            <a:pPr marL="1085850" marR="0" lvl="2" indent="-2286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05000"/>
              <a:buFont typeface="Monotype Sorts" pitchFamily="2" charset="2"/>
              <a:buChar char="H"/>
              <a:tabLst/>
              <a:defRPr/>
            </a:pP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Customer-id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 is candidate key of 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customer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charset="0"/>
              <a:ea typeface="SimSun" pitchFamily="2" charset="-122"/>
              <a:cs typeface="+mn-cs"/>
            </a:endParaRPr>
          </a:p>
          <a:p>
            <a:pPr marL="1085850" marR="0" lvl="2" indent="-2286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05000"/>
              <a:buFont typeface="Monotype Sorts" pitchFamily="2" charset="2"/>
              <a:buChar char="H"/>
              <a:tabLst/>
              <a:defRPr/>
            </a:pP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account-number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 is candidate key of 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account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charset="0"/>
              <a:ea typeface="SimSun" pitchFamily="2" charset="-122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3300"/>
              </a:buClr>
              <a:buSzPct val="90000"/>
              <a:buFont typeface="Monotype Sorts" pitchFamily="2" charset="2"/>
              <a:buChar char="n"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Although several candidate keys may exist, one of the candidate keys is selected to be the 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primary key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239556"/>
            <a:ext cx="861568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-Italic"/>
                <a:ea typeface="+mn-ea"/>
                <a:cs typeface="+mn-cs"/>
              </a:rPr>
              <a:t>primary-key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-Roman"/>
                <a:ea typeface="+mn-ea"/>
                <a:cs typeface="+mn-cs"/>
              </a:rPr>
              <a:t>(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MI10"/>
                <a:ea typeface="+mn-ea"/>
                <a:cs typeface="+mn-cs"/>
              </a:rPr>
              <a:t>E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R7"/>
                <a:ea typeface="+mn-ea"/>
                <a:cs typeface="+mn-cs"/>
              </a:rPr>
              <a:t>1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-Roman"/>
                <a:ea typeface="+mn-ea"/>
                <a:cs typeface="+mn-cs"/>
              </a:rPr>
              <a:t>)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SY10"/>
                <a:ea typeface="+mn-ea"/>
                <a:cs typeface="+mn-cs"/>
              </a:rPr>
              <a:t>∪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-Italic"/>
                <a:ea typeface="+mn-ea"/>
                <a:cs typeface="+mn-cs"/>
              </a:rPr>
              <a:t>primary-key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-Roman"/>
                <a:ea typeface="+mn-ea"/>
                <a:cs typeface="+mn-cs"/>
              </a:rPr>
              <a:t>(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MI10"/>
                <a:ea typeface="+mn-ea"/>
                <a:cs typeface="+mn-cs"/>
              </a:rPr>
              <a:t>E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R7"/>
                <a:ea typeface="+mn-ea"/>
                <a:cs typeface="+mn-cs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-Roman"/>
                <a:ea typeface="+mn-ea"/>
                <a:cs typeface="+mn-cs"/>
              </a:rPr>
              <a:t>)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SY10"/>
                <a:ea typeface="+mn-ea"/>
                <a:cs typeface="+mn-cs"/>
              </a:rPr>
              <a:t>∪ · · · ∪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-Italic"/>
                <a:ea typeface="+mn-ea"/>
                <a:cs typeface="+mn-cs"/>
              </a:rPr>
              <a:t>primary-key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-Roman"/>
                <a:ea typeface="+mn-ea"/>
                <a:cs typeface="+mn-cs"/>
              </a:rPr>
              <a:t>(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MI10"/>
                <a:ea typeface="+mn-ea"/>
                <a:cs typeface="+mn-cs"/>
              </a:rPr>
              <a:t>E</a:t>
            </a: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MI7"/>
                <a:ea typeface="+mn-ea"/>
                <a:cs typeface="+mn-cs"/>
              </a:rPr>
              <a:t>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-Roman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-Roman"/>
                <a:ea typeface="+mn-ea"/>
                <a:cs typeface="+mn-cs"/>
              </a:rPr>
              <a:t>describes an individual relationship in set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MI10"/>
                <a:ea typeface="+mn-ea"/>
                <a:cs typeface="+mn-cs"/>
              </a:rPr>
              <a:t>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-Roman"/>
                <a:ea typeface="+mn-ea"/>
                <a:cs typeface="+mn-cs"/>
              </a:rPr>
              <a:t>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charset="0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588194"/>
            <a:ext cx="8087360" cy="1184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3300"/>
              </a:buClr>
              <a:buSzPct val="90000"/>
              <a:buFont typeface="Monotype Sorts" pitchFamily="2" charset="2"/>
              <a:buChar char="n"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Relationship Sets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3300"/>
              </a:buClr>
              <a:buSzPct val="90000"/>
              <a:buFont typeface="Monotype Sorts" pitchFamily="2" charset="2"/>
              <a:buChar char="n"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The combination of primary keys of the participating entity sets forms a super key of a relationship set.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345440" y="3429000"/>
            <a:ext cx="8534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primary-key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(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1)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∪ primary-key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(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2)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∪ · · · ∪ primary-key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(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)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∪ {a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1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, 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2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, . . . , am}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93356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" t="9653" r="426" b="10504"/>
          <a:stretch>
            <a:fillRect/>
          </a:stretch>
        </p:blipFill>
        <p:spPr bwMode="auto">
          <a:xfrm>
            <a:off x="532374" y="3259904"/>
            <a:ext cx="3955415" cy="2388727"/>
          </a:xfrm>
          <a:prstGeom prst="rect">
            <a:avLst/>
          </a:prstGeom>
          <a:noFill/>
          <a:ln w="38100" cmpd="dbl">
            <a:solidFill>
              <a:srgbClr val="CC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757680" y="5677103"/>
            <a:ext cx="3504801" cy="6096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/>
                <a:ea typeface="+mj-ea"/>
                <a:cs typeface="+mj-cs"/>
              </a:rPr>
              <a:t>The loan  relation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289" y="536082"/>
            <a:ext cx="5715000" cy="225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0679" y="3259904"/>
            <a:ext cx="3640650" cy="23832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8371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9776" y="5643151"/>
            <a:ext cx="5422456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287954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Times New Roman" pitchFamily="18" charset="0"/>
              </a:rPr>
              <a:t> Binary Relationships</a:t>
            </a:r>
            <a:r>
              <a:rPr lang="en-US"/>
              <a:t> 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>
                <a:cs typeface="Times New Roman" pitchFamily="18" charset="0"/>
              </a:rPr>
              <a:t>If there are two entity types involved it is a </a:t>
            </a:r>
            <a:r>
              <a:rPr lang="en-US" sz="2400" i="1">
                <a:cs typeface="Times New Roman" pitchFamily="18" charset="0"/>
              </a:rPr>
              <a:t>binary</a:t>
            </a:r>
            <a:r>
              <a:rPr lang="en-US" sz="2400">
                <a:cs typeface="Times New Roman" pitchFamily="18" charset="0"/>
              </a:rPr>
              <a:t> relationship type </a:t>
            </a:r>
          </a:p>
        </p:txBody>
      </p:sp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63" y="2871788"/>
            <a:ext cx="7918450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Times New Roman" pitchFamily="18" charset="0"/>
              </a:rPr>
              <a:t>Ternary relationship</a:t>
            </a:r>
            <a:r>
              <a:rPr lang="en-US"/>
              <a:t> 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>
                <a:cs typeface="Times New Roman" pitchFamily="18" charset="0"/>
              </a:rPr>
              <a:t>If there are three entity types involved it is a </a:t>
            </a:r>
            <a:r>
              <a:rPr lang="en-US" sz="2400" i="1">
                <a:cs typeface="Times New Roman" pitchFamily="18" charset="0"/>
              </a:rPr>
              <a:t>ternary</a:t>
            </a:r>
            <a:r>
              <a:rPr lang="en-US" sz="2400">
                <a:cs typeface="Times New Roman" pitchFamily="18" charset="0"/>
              </a:rPr>
              <a:t> relationship type </a:t>
            </a:r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63" y="2728913"/>
            <a:ext cx="8024812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Times New Roman" pitchFamily="18" charset="0"/>
              </a:rPr>
              <a:t>Replacing ternary relationships 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sz="2400" dirty="0">
                <a:cs typeface="Times New Roman" pitchFamily="18" charset="0"/>
              </a:rPr>
              <a:t>When ternary relationships occurs in an ER model they should always be removed before finishing the model. </a:t>
            </a:r>
          </a:p>
          <a:p>
            <a:pPr algn="just"/>
            <a:r>
              <a:rPr lang="en-US" sz="2400" dirty="0">
                <a:cs typeface="Times New Roman" pitchFamily="18" charset="0"/>
              </a:rPr>
              <a:t>Sometimes the relationships can be replaced by a series of </a:t>
            </a:r>
            <a:r>
              <a:rPr lang="en-US" sz="2400" b="1" dirty="0">
                <a:cs typeface="Times New Roman" pitchFamily="18" charset="0"/>
              </a:rPr>
              <a:t>binary relationships that link pairs </a:t>
            </a:r>
            <a:r>
              <a:rPr lang="en-US" sz="2400" dirty="0">
                <a:cs typeface="Times New Roman" pitchFamily="18" charset="0"/>
              </a:rPr>
              <a:t>of the original ternary relationship.</a:t>
            </a:r>
            <a:r>
              <a:rPr lang="en-US" sz="2400" dirty="0"/>
              <a:t>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Times New Roman" pitchFamily="18" charset="0"/>
              </a:rPr>
              <a:t>Replacing ternary relationships</a:t>
            </a:r>
            <a:r>
              <a:rPr lang="en-US"/>
              <a:t>  (Cont)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cs typeface="Times New Roman" pitchFamily="18" charset="0"/>
              </a:rPr>
              <a:t>Relationships are usually verbs,</a:t>
            </a:r>
            <a:r>
              <a:rPr lang="en-US" dirty="0"/>
              <a:t> </a:t>
            </a:r>
            <a:r>
              <a:rPr lang="en-US" dirty="0">
                <a:cs typeface="Times New Roman" pitchFamily="18" charset="0"/>
              </a:rPr>
              <a:t>so name the new entity type by the relationship verb rewritten as a noun. </a:t>
            </a:r>
          </a:p>
          <a:p>
            <a:r>
              <a:rPr lang="en-US" dirty="0">
                <a:cs typeface="Times New Roman" pitchFamily="18" charset="0"/>
              </a:rPr>
              <a:t>The relationship </a:t>
            </a:r>
            <a:r>
              <a:rPr lang="en-US" i="1" dirty="0">
                <a:cs typeface="Times New Roman" pitchFamily="18" charset="0"/>
              </a:rPr>
              <a:t>sells</a:t>
            </a:r>
            <a:r>
              <a:rPr lang="en-US" dirty="0">
                <a:cs typeface="Times New Roman" pitchFamily="18" charset="0"/>
              </a:rPr>
              <a:t> can become the entity type </a:t>
            </a:r>
            <a:r>
              <a:rPr lang="en-US" i="1" dirty="0">
                <a:cs typeface="Times New Roman" pitchFamily="18" charset="0"/>
              </a:rPr>
              <a:t>sale</a:t>
            </a:r>
            <a:r>
              <a:rPr lang="en-US" dirty="0">
                <a:cs typeface="Times New Roman" pitchFamily="18" charset="0"/>
              </a:rPr>
              <a:t>.</a:t>
            </a:r>
            <a:r>
              <a:rPr lang="en-US" dirty="0"/>
              <a:t> </a:t>
            </a:r>
          </a:p>
          <a:p>
            <a:r>
              <a:rPr lang="en-US" dirty="0">
                <a:cs typeface="Times New Roman" pitchFamily="18" charset="0"/>
              </a:rPr>
              <a:t>So a sales assistant can be linked to a specific customer and both of them to the sale of a particular product. </a:t>
            </a:r>
          </a:p>
          <a:p>
            <a:r>
              <a:rPr lang="en-US" dirty="0">
                <a:cs typeface="Times New Roman" pitchFamily="18" charset="0"/>
              </a:rPr>
              <a:t>This process also works for higher order relationships. </a:t>
            </a:r>
          </a:p>
        </p:txBody>
      </p:sp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3" y="3714750"/>
            <a:ext cx="8374062" cy="222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469900" y="0"/>
            <a:ext cx="8267700" cy="609600"/>
          </a:xfrm>
        </p:spPr>
        <p:txBody>
          <a:bodyPr/>
          <a:lstStyle/>
          <a:p>
            <a:pPr>
              <a:defRPr/>
            </a:pPr>
            <a:r>
              <a:rPr lang="en-US" altLang="zh-CN">
                <a:ea typeface="SimSun" pitchFamily="2" charset="-122"/>
              </a:rPr>
              <a:t>E-R Diagrams</a:t>
            </a:r>
          </a:p>
        </p:txBody>
      </p:sp>
      <p:sp>
        <p:nvSpPr>
          <p:cNvPr id="25604" name="Rectangle 7"/>
          <p:cNvSpPr>
            <a:spLocks noChangeArrowheads="1"/>
          </p:cNvSpPr>
          <p:nvPr/>
        </p:nvSpPr>
        <p:spPr bwMode="auto">
          <a:xfrm>
            <a:off x="190500" y="1113155"/>
            <a:ext cx="8953500" cy="320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3300"/>
              </a:buClr>
              <a:buSzPct val="90000"/>
              <a:buFont typeface="Monotype Sorts" pitchFamily="2" charset="2"/>
              <a:buChar char="n"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Rectangles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 represent entity sets.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3300"/>
              </a:buClr>
              <a:buSzPct val="90000"/>
              <a:buFont typeface="Monotype Sorts" pitchFamily="2" charset="2"/>
              <a:buChar char="n"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Diamonds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 represent relationship sets.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3300"/>
              </a:buClr>
              <a:buSzPct val="90000"/>
              <a:buFont typeface="Monotype Sorts" pitchFamily="2" charset="2"/>
              <a:buChar char="n"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Lines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 link attributes to entity sets and entity sets to relationship sets.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3300"/>
              </a:buClr>
              <a:buSzPct val="90000"/>
              <a:buFont typeface="Monotype Sorts" pitchFamily="2" charset="2"/>
              <a:buChar char="n"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Ellipses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 represent attributes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3300"/>
              </a:buClr>
              <a:buSzPct val="90000"/>
              <a:buFont typeface="Monotype Sorts" pitchFamily="2" charset="2"/>
              <a:buChar char="n"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Double ellipses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 represent multivalued attributes.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3300"/>
              </a:buClr>
              <a:buSzPct val="90000"/>
              <a:buFont typeface="Monotype Sorts" pitchFamily="2" charset="2"/>
              <a:buChar char="n"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Dashed ellipses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 denote derived attributes.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3300"/>
              </a:buClr>
              <a:buSzPct val="90000"/>
              <a:buFont typeface="Monotype Sorts" pitchFamily="2" charset="2"/>
              <a:buChar char="n"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Underline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 indicates primary key attributes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SimSun" pitchFamily="2" charset="-122"/>
              </a:rPr>
              <a:t>Relationship Sets with Attributes</a:t>
            </a:r>
          </a:p>
        </p:txBody>
      </p:sp>
      <p:pic>
        <p:nvPicPr>
          <p:cNvPr id="2765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0" t="28851" r="1651" b="28606"/>
          <a:stretch>
            <a:fillRect/>
          </a:stretch>
        </p:blipFill>
        <p:spPr bwMode="auto">
          <a:xfrm>
            <a:off x="234950" y="1535113"/>
            <a:ext cx="8716963" cy="3162300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SimSun" pitchFamily="2" charset="-122"/>
              </a:rPr>
              <a:t>Cardinality Constraints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800" y="936625"/>
            <a:ext cx="8724900" cy="2892425"/>
          </a:xfrm>
        </p:spPr>
        <p:txBody>
          <a:bodyPr/>
          <a:lstStyle/>
          <a:p>
            <a:r>
              <a:rPr lang="en-US" altLang="zh-CN" dirty="0">
                <a:ea typeface="SimSun" pitchFamily="2" charset="-122"/>
              </a:rPr>
              <a:t>We express cardinality constraints by drawing either a </a:t>
            </a:r>
            <a:r>
              <a:rPr lang="en-US" altLang="zh-CN" i="1" dirty="0">
                <a:ea typeface="SimSun" pitchFamily="2" charset="-122"/>
              </a:rPr>
              <a:t>directed line (</a:t>
            </a:r>
            <a:r>
              <a:rPr lang="en-US" altLang="zh-CN" i="1" dirty="0">
                <a:ea typeface="SimSun" pitchFamily="2" charset="-122"/>
                <a:sym typeface="Symbol" pitchFamily="18" charset="2"/>
              </a:rPr>
              <a:t>), signifying “</a:t>
            </a:r>
            <a:r>
              <a:rPr lang="en-US" altLang="zh-CN" dirty="0">
                <a:ea typeface="SimSun" pitchFamily="2" charset="-122"/>
                <a:sym typeface="Symbol" pitchFamily="18" charset="2"/>
              </a:rPr>
              <a:t>one,” or an </a:t>
            </a:r>
            <a:r>
              <a:rPr lang="en-US" altLang="zh-CN" b="1" dirty="0">
                <a:ea typeface="SimSun" pitchFamily="2" charset="-122"/>
                <a:sym typeface="Symbol" pitchFamily="18" charset="2"/>
              </a:rPr>
              <a:t>undirected line (—), signifying “many</a:t>
            </a:r>
            <a:r>
              <a:rPr lang="en-US" altLang="zh-CN" dirty="0">
                <a:ea typeface="SimSun" pitchFamily="2" charset="-122"/>
                <a:sym typeface="Symbol" pitchFamily="18" charset="2"/>
              </a:rPr>
              <a:t>,” between the relationship set and the entity set.</a:t>
            </a:r>
          </a:p>
          <a:p>
            <a:r>
              <a:rPr lang="en-US" altLang="zh-CN" b="1" dirty="0">
                <a:ea typeface="SimSun" pitchFamily="2" charset="-122"/>
              </a:rPr>
              <a:t>E.g.: One-to-one relationship:</a:t>
            </a:r>
          </a:p>
          <a:p>
            <a:pPr lvl="1"/>
            <a:r>
              <a:rPr lang="en-US" altLang="zh-CN" sz="2000" b="1" dirty="0">
                <a:ea typeface="SimSun" pitchFamily="2" charset="-122"/>
              </a:rPr>
              <a:t>A customer is associated with at most one loan </a:t>
            </a:r>
            <a:r>
              <a:rPr lang="en-US" altLang="zh-CN" sz="2000" dirty="0">
                <a:ea typeface="SimSun" pitchFamily="2" charset="-122"/>
              </a:rPr>
              <a:t>via the relationship </a:t>
            </a:r>
            <a:r>
              <a:rPr lang="en-US" altLang="zh-CN" sz="2000" i="1" dirty="0">
                <a:ea typeface="SimSun" pitchFamily="2" charset="-122"/>
              </a:rPr>
              <a:t>borrower</a:t>
            </a:r>
          </a:p>
          <a:p>
            <a:pPr lvl="1"/>
            <a:r>
              <a:rPr lang="en-US" altLang="zh-CN" sz="2000" dirty="0">
                <a:ea typeface="SimSun" pitchFamily="2" charset="-122"/>
              </a:rPr>
              <a:t>A loan is associated with </a:t>
            </a:r>
            <a:r>
              <a:rPr lang="en-US" altLang="zh-CN" sz="2000" b="1" dirty="0">
                <a:ea typeface="SimSun" pitchFamily="2" charset="-122"/>
              </a:rPr>
              <a:t>at most one </a:t>
            </a:r>
            <a:r>
              <a:rPr lang="en-US" altLang="zh-CN" sz="2000" dirty="0">
                <a:ea typeface="SimSun" pitchFamily="2" charset="-122"/>
              </a:rPr>
              <a:t>customer via </a:t>
            </a:r>
            <a:r>
              <a:rPr lang="en-US" altLang="zh-CN" sz="2000" i="1" dirty="0">
                <a:ea typeface="SimSun" pitchFamily="2" charset="-122"/>
              </a:rPr>
              <a:t>borrower</a:t>
            </a:r>
            <a:endParaRPr lang="en-US" altLang="zh-CN" sz="2000" dirty="0">
              <a:ea typeface="SimSun" pitchFamily="2" charset="-122"/>
            </a:endParaRPr>
          </a:p>
        </p:txBody>
      </p:sp>
      <p:pic>
        <p:nvPicPr>
          <p:cNvPr id="3072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25" t="63831" r="16737" b="5560"/>
          <a:stretch>
            <a:fillRect/>
          </a:stretch>
        </p:blipFill>
        <p:spPr bwMode="auto">
          <a:xfrm>
            <a:off x="1409700" y="3957638"/>
            <a:ext cx="6623050" cy="2278062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SimSun" pitchFamily="2" charset="-122"/>
              </a:rPr>
              <a:t>One-To-One Relationship</a:t>
            </a:r>
            <a:endParaRPr lang="en-US">
              <a:ea typeface="SimSun" pitchFamily="2" charset="-122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Times New Roman" pitchFamily="18" charset="0"/>
              </a:rPr>
              <a:t>A</a:t>
            </a:r>
            <a:r>
              <a:rPr lang="en-US" sz="2400">
                <a:cs typeface="Times New Roman" pitchFamily="18" charset="0"/>
              </a:rPr>
              <a:t> man can only marry one woman, and a woman can only marry one man, so it is a one to one (1:1) relationship </a:t>
            </a:r>
          </a:p>
        </p:txBody>
      </p:sp>
      <p:pic>
        <p:nvPicPr>
          <p:cNvPr id="317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3" y="3214688"/>
            <a:ext cx="8497887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819150" y="0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zh-CN">
                <a:ea typeface="SimSun" pitchFamily="2" charset="-122"/>
              </a:rPr>
              <a:t>One-To-Many Relationship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022350"/>
            <a:ext cx="7848600" cy="2324100"/>
          </a:xfrm>
        </p:spPr>
        <p:txBody>
          <a:bodyPr/>
          <a:lstStyle/>
          <a:p>
            <a:r>
              <a:rPr lang="en-US" altLang="zh-CN" sz="2400" dirty="0">
                <a:ea typeface="SimSun" pitchFamily="2" charset="-122"/>
              </a:rPr>
              <a:t>In the one-to-many relationship a loan is associated with </a:t>
            </a:r>
            <a:r>
              <a:rPr lang="en-US" altLang="zh-CN" sz="2400" b="1" dirty="0">
                <a:ea typeface="SimSun" pitchFamily="2" charset="-122"/>
              </a:rPr>
              <a:t>at most one customer </a:t>
            </a:r>
            <a:r>
              <a:rPr lang="en-US" altLang="zh-CN" sz="2400" dirty="0">
                <a:ea typeface="SimSun" pitchFamily="2" charset="-122"/>
              </a:rPr>
              <a:t>via </a:t>
            </a:r>
            <a:r>
              <a:rPr lang="en-US" altLang="zh-CN" sz="2400" i="1" dirty="0">
                <a:ea typeface="SimSun" pitchFamily="2" charset="-122"/>
              </a:rPr>
              <a:t>borrower</a:t>
            </a:r>
            <a:r>
              <a:rPr lang="en-US" altLang="zh-CN" sz="2400" dirty="0">
                <a:ea typeface="SimSun" pitchFamily="2" charset="-122"/>
              </a:rPr>
              <a:t>, a customer is </a:t>
            </a:r>
            <a:r>
              <a:rPr lang="en-US" altLang="zh-CN" sz="2400" b="1" dirty="0">
                <a:ea typeface="SimSun" pitchFamily="2" charset="-122"/>
              </a:rPr>
              <a:t>associated with several </a:t>
            </a:r>
            <a:r>
              <a:rPr lang="en-US" altLang="zh-CN" sz="2400" dirty="0">
                <a:ea typeface="SimSun" pitchFamily="2" charset="-122"/>
              </a:rPr>
              <a:t>(including 0) loans via </a:t>
            </a:r>
            <a:r>
              <a:rPr lang="en-US" altLang="zh-CN" sz="2400" i="1" dirty="0">
                <a:ea typeface="SimSun" pitchFamily="2" charset="-122"/>
              </a:rPr>
              <a:t>borrower</a:t>
            </a:r>
            <a:endParaRPr lang="en-US" altLang="zh-CN" sz="2400" dirty="0">
              <a:ea typeface="SimSun" pitchFamily="2" charset="-122"/>
            </a:endParaRPr>
          </a:p>
        </p:txBody>
      </p:sp>
      <p:pic>
        <p:nvPicPr>
          <p:cNvPr id="327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25" t="847" r="16737" b="72424"/>
          <a:stretch>
            <a:fillRect/>
          </a:stretch>
        </p:blipFill>
        <p:spPr bwMode="auto">
          <a:xfrm>
            <a:off x="669925" y="2847975"/>
            <a:ext cx="8037513" cy="2414588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SimSun" pitchFamily="2" charset="-122"/>
              </a:rPr>
              <a:t>One-To-Many Relationship</a:t>
            </a:r>
            <a:endParaRPr lang="en-US">
              <a:ea typeface="SimSun" pitchFamily="2" charset="-122"/>
            </a:endParaRP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sz="2400">
                <a:cs typeface="Times New Roman" pitchFamily="18" charset="0"/>
              </a:rPr>
              <a:t>One manager manages many employees, but each employee only has one manager, so it is a one to many (1:n) relationship</a:t>
            </a:r>
            <a:r>
              <a:rPr lang="en-US">
                <a:cs typeface="Times New Roman" pitchFamily="18" charset="0"/>
              </a:rPr>
              <a:t> </a:t>
            </a:r>
          </a:p>
        </p:txBody>
      </p:sp>
      <p:pic>
        <p:nvPicPr>
          <p:cNvPr id="3379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3" y="3138488"/>
            <a:ext cx="8982075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512763" y="495300"/>
            <a:ext cx="8113712" cy="457200"/>
          </a:xfrm>
        </p:spPr>
        <p:txBody>
          <a:bodyPr/>
          <a:lstStyle/>
          <a:p>
            <a:pPr>
              <a:defRPr/>
            </a:pPr>
            <a:r>
              <a:rPr lang="en-US" altLang="zh-CN">
                <a:ea typeface="SimSun" pitchFamily="2" charset="-122"/>
              </a:rPr>
              <a:t>Many-To-One Relationships</a:t>
            </a:r>
          </a:p>
        </p:txBody>
      </p:sp>
      <p:pic>
        <p:nvPicPr>
          <p:cNvPr id="3481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25" t="31747" r="16737" b="39993"/>
          <a:stretch>
            <a:fillRect/>
          </a:stretch>
        </p:blipFill>
        <p:spPr bwMode="auto">
          <a:xfrm>
            <a:off x="901700" y="3471863"/>
            <a:ext cx="7508875" cy="2384425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4820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666750" y="1504950"/>
            <a:ext cx="7848600" cy="1638300"/>
          </a:xfrm>
          <a:noFill/>
        </p:spPr>
        <p:txBody>
          <a:bodyPr/>
          <a:lstStyle/>
          <a:p>
            <a:r>
              <a:rPr lang="en-US" altLang="zh-CN" sz="2400" dirty="0">
                <a:ea typeface="SimSun" pitchFamily="2" charset="-122"/>
              </a:rPr>
              <a:t>In a many-to-one relationship a loan is associated with </a:t>
            </a:r>
            <a:r>
              <a:rPr lang="en-US" altLang="zh-CN" sz="2400" b="1" dirty="0">
                <a:ea typeface="SimSun" pitchFamily="2" charset="-122"/>
              </a:rPr>
              <a:t>several (including 0) customers </a:t>
            </a:r>
            <a:r>
              <a:rPr lang="en-US" altLang="zh-CN" sz="2400" dirty="0">
                <a:ea typeface="SimSun" pitchFamily="2" charset="-122"/>
              </a:rPr>
              <a:t>via </a:t>
            </a:r>
            <a:r>
              <a:rPr lang="en-US" altLang="zh-CN" sz="2400" i="1" dirty="0">
                <a:ea typeface="SimSun" pitchFamily="2" charset="-122"/>
              </a:rPr>
              <a:t>borrower</a:t>
            </a:r>
            <a:r>
              <a:rPr lang="en-US" altLang="zh-CN" sz="2400" dirty="0">
                <a:ea typeface="SimSun" pitchFamily="2" charset="-122"/>
              </a:rPr>
              <a:t>, a customer is associated </a:t>
            </a:r>
            <a:r>
              <a:rPr lang="en-US" altLang="zh-CN" sz="2400" b="1" dirty="0">
                <a:ea typeface="SimSun" pitchFamily="2" charset="-122"/>
              </a:rPr>
              <a:t>with at most one lo</a:t>
            </a:r>
            <a:r>
              <a:rPr lang="en-US" altLang="zh-CN" sz="2400" dirty="0">
                <a:ea typeface="SimSun" pitchFamily="2" charset="-122"/>
              </a:rPr>
              <a:t>an via </a:t>
            </a:r>
            <a:r>
              <a:rPr lang="en-US" altLang="zh-CN" sz="2400" i="1" dirty="0">
                <a:ea typeface="SimSun" pitchFamily="2" charset="-122"/>
              </a:rPr>
              <a:t>borrower</a:t>
            </a:r>
            <a:endParaRPr lang="en-US" altLang="zh-CN" sz="2400" dirty="0">
              <a:ea typeface="SimSun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SimSun" pitchFamily="2" charset="-122"/>
              </a:rPr>
              <a:t>Many-To-One Relationships</a:t>
            </a:r>
            <a:endParaRPr lang="en-US">
              <a:ea typeface="SimSun" pitchFamily="2" charset="-122"/>
            </a:endParaRP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sz="2400">
                <a:cs typeface="Times New Roman" pitchFamily="18" charset="0"/>
              </a:rPr>
              <a:t>many students study one course. They do not study more than one course, so it is a many to one (m:1) relationship </a:t>
            </a:r>
          </a:p>
        </p:txBody>
      </p:sp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513" y="3062288"/>
            <a:ext cx="8535987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SimSun" pitchFamily="2" charset="-122"/>
              </a:rPr>
              <a:t>Many-To-Many Relationship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2038" y="3727450"/>
            <a:ext cx="7029450" cy="1546225"/>
          </a:xfrm>
        </p:spPr>
        <p:txBody>
          <a:bodyPr/>
          <a:lstStyle/>
          <a:p>
            <a:r>
              <a:rPr lang="en-US" altLang="zh-CN" sz="2400">
                <a:ea typeface="SimSun" pitchFamily="2" charset="-122"/>
              </a:rPr>
              <a:t>A customer is associated with several (possibly 0) loans via borrower</a:t>
            </a:r>
          </a:p>
          <a:p>
            <a:r>
              <a:rPr lang="en-US" altLang="zh-CN" sz="2400">
                <a:ea typeface="SimSun" pitchFamily="2" charset="-122"/>
              </a:rPr>
              <a:t>A loan is associated with several (possibly 0) customers via borrower</a:t>
            </a:r>
          </a:p>
        </p:txBody>
      </p:sp>
      <p:pic>
        <p:nvPicPr>
          <p:cNvPr id="3686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4" t="30733" r="1064" b="30733"/>
          <a:stretch>
            <a:fillRect/>
          </a:stretch>
        </p:blipFill>
        <p:spPr bwMode="auto">
          <a:xfrm>
            <a:off x="622300" y="1079500"/>
            <a:ext cx="7956550" cy="2349500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SimSun" pitchFamily="2" charset="-122"/>
              </a:rPr>
              <a:t>Many-To-Many Relationship</a:t>
            </a:r>
            <a:endParaRPr lang="en-US">
              <a:ea typeface="SimSun" pitchFamily="2" charset="-122"/>
            </a:endParaRP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sz="2400">
                <a:cs typeface="Times New Roman" pitchFamily="18" charset="0"/>
              </a:rPr>
              <a:t>One lecturer teaches many students and a student is taught by many lecturers, so it is a many to many (m:n) relationship </a:t>
            </a:r>
          </a:p>
        </p:txBody>
      </p:sp>
      <p:pic>
        <p:nvPicPr>
          <p:cNvPr id="3789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63" y="3005138"/>
            <a:ext cx="8516937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Times New Roman" pitchFamily="18" charset="0"/>
              </a:rPr>
              <a:t>Deriving the relationship parameters 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500" y="1114425"/>
            <a:ext cx="8572500" cy="4876800"/>
          </a:xfrm>
        </p:spPr>
        <p:txBody>
          <a:bodyPr/>
          <a:lstStyle/>
          <a:p>
            <a:r>
              <a:rPr lang="en-US">
                <a:cs typeface="Times New Roman" pitchFamily="18" charset="0"/>
              </a:rPr>
              <a:t>To check we have the correct parameters (sometimes also known as the </a:t>
            </a:r>
            <a:r>
              <a:rPr lang="en-US" b="1">
                <a:cs typeface="Times New Roman" pitchFamily="18" charset="0"/>
              </a:rPr>
              <a:t>degree</a:t>
            </a:r>
            <a:r>
              <a:rPr lang="en-US">
                <a:cs typeface="Times New Roman" pitchFamily="18" charset="0"/>
              </a:rPr>
              <a:t>) of a </a:t>
            </a:r>
            <a:r>
              <a:rPr lang="en-US" b="1">
                <a:cs typeface="Times New Roman" pitchFamily="18" charset="0"/>
              </a:rPr>
              <a:t>relationship</a:t>
            </a:r>
            <a:r>
              <a:rPr lang="en-US">
                <a:cs typeface="Times New Roman" pitchFamily="18" charset="0"/>
              </a:rPr>
              <a:t>, ask two questions:</a:t>
            </a:r>
          </a:p>
          <a:p>
            <a:r>
              <a:rPr lang="en-US" b="1">
                <a:cs typeface="Times New Roman" pitchFamily="18" charset="0"/>
              </a:rPr>
              <a:t>One course</a:t>
            </a:r>
            <a:r>
              <a:rPr lang="en-US">
                <a:cs typeface="Times New Roman" pitchFamily="18" charset="0"/>
              </a:rPr>
              <a:t> is studied by </a:t>
            </a:r>
            <a:r>
              <a:rPr lang="en-US" b="1">
                <a:cs typeface="Times New Roman" pitchFamily="18" charset="0"/>
              </a:rPr>
              <a:t>how many</a:t>
            </a:r>
            <a:r>
              <a:rPr lang="en-US">
                <a:cs typeface="Times New Roman" pitchFamily="18" charset="0"/>
              </a:rPr>
              <a:t> students? </a:t>
            </a:r>
            <a:r>
              <a:rPr lang="en-US" b="1">
                <a:cs typeface="Times New Roman" pitchFamily="18" charset="0"/>
              </a:rPr>
              <a:t>Answer = `zero or more' </a:t>
            </a:r>
          </a:p>
          <a:p>
            <a:pPr lvl="1"/>
            <a:r>
              <a:rPr lang="en-US">
                <a:cs typeface="Times New Roman" pitchFamily="18" charset="0"/>
              </a:rPr>
              <a:t>This gives us the</a:t>
            </a:r>
            <a:r>
              <a:rPr lang="en-US" b="1">
                <a:cs typeface="Times New Roman" pitchFamily="18" charset="0"/>
              </a:rPr>
              <a:t> degree at the `student' end </a:t>
            </a:r>
          </a:p>
          <a:p>
            <a:pPr lvl="1"/>
            <a:r>
              <a:rPr lang="en-US" b="1">
                <a:cs typeface="Times New Roman" pitchFamily="18" charset="0"/>
              </a:rPr>
              <a:t>The `more' </a:t>
            </a:r>
            <a:r>
              <a:rPr lang="en-US">
                <a:cs typeface="Times New Roman" pitchFamily="18" charset="0"/>
              </a:rPr>
              <a:t>part means that the cardinality</a:t>
            </a:r>
            <a:r>
              <a:rPr lang="en-US" b="1">
                <a:cs typeface="Times New Roman" pitchFamily="18" charset="0"/>
              </a:rPr>
              <a:t> is `many </a:t>
            </a:r>
            <a:endParaRPr lang="en-US">
              <a:cs typeface="Times New Roman" pitchFamily="18" charset="0"/>
            </a:endParaRPr>
          </a:p>
          <a:p>
            <a:pPr lvl="1"/>
            <a:r>
              <a:rPr lang="en-US">
                <a:cs typeface="Times New Roman" pitchFamily="18" charset="0"/>
              </a:rPr>
              <a:t>The `</a:t>
            </a:r>
            <a:r>
              <a:rPr lang="en-US" b="1">
                <a:cs typeface="Times New Roman" pitchFamily="18" charset="0"/>
              </a:rPr>
              <a:t>zero' </a:t>
            </a:r>
            <a:r>
              <a:rPr lang="en-US">
                <a:cs typeface="Times New Roman" pitchFamily="18" charset="0"/>
              </a:rPr>
              <a:t>part means that the relationship is `</a:t>
            </a:r>
            <a:r>
              <a:rPr lang="en-US" b="1">
                <a:cs typeface="Times New Roman" pitchFamily="18" charset="0"/>
              </a:rPr>
              <a:t>optional'</a:t>
            </a:r>
            <a:r>
              <a:rPr lang="en-US">
                <a:cs typeface="Times New Roman" pitchFamily="18" charset="0"/>
              </a:rPr>
              <a:t>. (denoted y ‘O”</a:t>
            </a:r>
          </a:p>
          <a:p>
            <a:pPr lvl="1"/>
            <a:r>
              <a:rPr lang="en-US">
                <a:cs typeface="Times New Roman" pitchFamily="18" charset="0"/>
              </a:rPr>
              <a:t>If the answer was `</a:t>
            </a:r>
            <a:r>
              <a:rPr lang="en-US" b="1">
                <a:cs typeface="Times New Roman" pitchFamily="18" charset="0"/>
              </a:rPr>
              <a:t>one or more'</a:t>
            </a:r>
            <a:r>
              <a:rPr lang="en-US">
                <a:cs typeface="Times New Roman" pitchFamily="18" charset="0"/>
              </a:rPr>
              <a:t>, then the relationship would be `</a:t>
            </a:r>
            <a:r>
              <a:rPr lang="en-US" b="1">
                <a:cs typeface="Times New Roman" pitchFamily="18" charset="0"/>
              </a:rPr>
              <a:t>mandatory'. 						</a:t>
            </a:r>
          </a:p>
          <a:p>
            <a:r>
              <a:rPr lang="en-US" b="1">
                <a:cs typeface="Times New Roman" pitchFamily="18" charset="0"/>
              </a:rPr>
              <a:t>One student</a:t>
            </a:r>
            <a:r>
              <a:rPr lang="en-US">
                <a:cs typeface="Times New Roman" pitchFamily="18" charset="0"/>
              </a:rPr>
              <a:t> studies </a:t>
            </a:r>
            <a:r>
              <a:rPr lang="en-US" b="1">
                <a:cs typeface="Times New Roman" pitchFamily="18" charset="0"/>
              </a:rPr>
              <a:t>how many</a:t>
            </a:r>
            <a:r>
              <a:rPr lang="en-US">
                <a:cs typeface="Times New Roman" pitchFamily="18" charset="0"/>
              </a:rPr>
              <a:t> courses?</a:t>
            </a:r>
            <a:r>
              <a:rPr lang="en-US" b="1">
                <a:cs typeface="Times New Roman" pitchFamily="18" charset="0"/>
              </a:rPr>
              <a:t> Answer = `One' </a:t>
            </a:r>
          </a:p>
          <a:p>
            <a:pPr lvl="1"/>
            <a:r>
              <a:rPr lang="en-US">
                <a:cs typeface="Times New Roman" pitchFamily="18" charset="0"/>
              </a:rPr>
              <a:t>This gives us</a:t>
            </a:r>
            <a:r>
              <a:rPr lang="en-US" b="1">
                <a:cs typeface="Times New Roman" pitchFamily="18" charset="0"/>
              </a:rPr>
              <a:t> the degree at the `course' end </a:t>
            </a:r>
            <a:r>
              <a:rPr lang="en-US">
                <a:cs typeface="Times New Roman" pitchFamily="18" charset="0"/>
              </a:rPr>
              <a:t>of the relationship</a:t>
            </a:r>
            <a:r>
              <a:rPr lang="en-US" b="1">
                <a:cs typeface="Times New Roman" pitchFamily="18" charset="0"/>
              </a:rPr>
              <a:t>. </a:t>
            </a:r>
          </a:p>
          <a:p>
            <a:pPr lvl="1"/>
            <a:r>
              <a:rPr lang="en-US">
                <a:cs typeface="Times New Roman" pitchFamily="18" charset="0"/>
              </a:rPr>
              <a:t>The answer `</a:t>
            </a:r>
            <a:r>
              <a:rPr lang="en-US" b="1">
                <a:cs typeface="Times New Roman" pitchFamily="18" charset="0"/>
              </a:rPr>
              <a:t>one'</a:t>
            </a:r>
            <a:r>
              <a:rPr lang="en-US">
                <a:cs typeface="Times New Roman" pitchFamily="18" charset="0"/>
              </a:rPr>
              <a:t> means that the cardinality of this relationship is 1, and is `</a:t>
            </a:r>
            <a:r>
              <a:rPr lang="en-US" b="1">
                <a:cs typeface="Times New Roman" pitchFamily="18" charset="0"/>
              </a:rPr>
              <a:t>mandatory' </a:t>
            </a:r>
          </a:p>
          <a:p>
            <a:pPr lvl="1"/>
            <a:endParaRPr lang="en-US" b="1"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5">
      <a:dk1>
        <a:sysClr val="windowText" lastClr="000000"/>
      </a:dk1>
      <a:lt1>
        <a:sysClr val="window" lastClr="FFFFFF"/>
      </a:lt1>
      <a:dk2>
        <a:srgbClr val="FFCD00"/>
      </a:dk2>
      <a:lt2>
        <a:srgbClr val="00AEDE"/>
      </a:lt2>
      <a:accent1>
        <a:srgbClr val="002E62"/>
      </a:accent1>
      <a:accent2>
        <a:srgbClr val="004CB9"/>
      </a:accent2>
      <a:accent3>
        <a:srgbClr val="FF9D00"/>
      </a:accent3>
      <a:accent4>
        <a:srgbClr val="57A773"/>
      </a:accent4>
      <a:accent5>
        <a:srgbClr val="D11149"/>
      </a:accent5>
      <a:accent6>
        <a:srgbClr val="00111F"/>
      </a:accent6>
      <a:hlink>
        <a:srgbClr val="FFFFFF"/>
      </a:hlink>
      <a:folHlink>
        <a:srgbClr val="FFFFFF"/>
      </a:folHlink>
    </a:clrScheme>
    <a:fontScheme name="Custom 22">
      <a:majorFont>
        <a:latin typeface="Verdana"/>
        <a:ea typeface=""/>
        <a:cs typeface=""/>
      </a:majorFont>
      <a:minorFont>
        <a:latin typeface="Lucida Grand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12700" cap="flat">
          <a:noFill/>
          <a:prstDash val="solid"/>
          <a:miter/>
        </a:ln>
      </a:spPr>
      <a:bodyPr rtlCol="0" anchor="ctr"/>
      <a:lstStyle>
        <a:defPPr algn="l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NBPL_GeneralDesign02_MO - v4" id="{6FF23145-4007-4574-94C2-B80E45F46FD9}" vid="{0FB396FC-CF2E-452A-9B17-DA6C73B1359A}"/>
    </a:ext>
  </a:extLst>
</a:theme>
</file>

<file path=ppt/theme/theme2.xml><?xml version="1.0" encoding="utf-8"?>
<a:theme xmlns:a="http://schemas.openxmlformats.org/drawingml/2006/main" name="1_DBMS_Template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CCCC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E2E2"/>
      </a:accent5>
      <a:accent6>
        <a:srgbClr val="B9B900"/>
      </a:accent6>
      <a:hlink>
        <a:srgbClr val="FF9900"/>
      </a:hlink>
      <a:folHlink>
        <a:srgbClr val="FF9933"/>
      </a:folHlink>
    </a:clrScheme>
    <a:fontScheme name="DBMS_Templat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DBMS_Template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MS_Template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MS_Template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db-book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CCCC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E2E2"/>
      </a:accent5>
      <a:accent6>
        <a:srgbClr val="B9B900"/>
      </a:accent6>
      <a:hlink>
        <a:srgbClr val="FF9900"/>
      </a:hlink>
      <a:folHlink>
        <a:srgbClr val="FF9933"/>
      </a:folHlink>
    </a:clrScheme>
    <a:fontScheme name="db-book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db-book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book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book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Settings\shamim\Application Data\Microsoft\Templates\DBMS_Template.pot</Template>
  <TotalTime>9625</TotalTime>
  <Words>1322</Words>
  <Application>Microsoft Office PowerPoint</Application>
  <PresentationFormat>On-screen Show (4:3)</PresentationFormat>
  <Paragraphs>131</Paragraphs>
  <Slides>35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53" baseType="lpstr">
      <vt:lpstr>Arial</vt:lpstr>
      <vt:lpstr>CMMI10</vt:lpstr>
      <vt:lpstr>CMMI7</vt:lpstr>
      <vt:lpstr>CMR7</vt:lpstr>
      <vt:lpstr>CMSY10</vt:lpstr>
      <vt:lpstr>Helvetica</vt:lpstr>
      <vt:lpstr>Lucida Grande</vt:lpstr>
      <vt:lpstr>Monotype Sorts</vt:lpstr>
      <vt:lpstr>Palatino-Italic</vt:lpstr>
      <vt:lpstr>Palatino-Roman</vt:lpstr>
      <vt:lpstr>SolaimanLipi</vt:lpstr>
      <vt:lpstr>Times New Roman</vt:lpstr>
      <vt:lpstr>Verdana</vt:lpstr>
      <vt:lpstr>Wingdings</vt:lpstr>
      <vt:lpstr>Office Theme</vt:lpstr>
      <vt:lpstr>1_DBMS_Template</vt:lpstr>
      <vt:lpstr>db-book</vt:lpstr>
      <vt:lpstr>Clip</vt:lpstr>
      <vt:lpstr>Database Management Systems</vt:lpstr>
      <vt:lpstr>Entity and Attribute</vt:lpstr>
      <vt:lpstr>Entity Sets customer and loan</vt:lpstr>
      <vt:lpstr>PowerPoint Presentation</vt:lpstr>
      <vt:lpstr>Basic Concepts (Cont.)</vt:lpstr>
      <vt:lpstr>PowerPoint Presentation</vt:lpstr>
      <vt:lpstr>PowerPoint Presentation</vt:lpstr>
      <vt:lpstr>The depositor Relation</vt:lpstr>
      <vt:lpstr>Relationship Set borrower</vt:lpstr>
      <vt:lpstr>Basic Concepts(Cont.)</vt:lpstr>
      <vt:lpstr>PowerPoint Presentation</vt:lpstr>
      <vt:lpstr>Basic Concepts(Cont.)</vt:lpstr>
      <vt:lpstr>E-R Diagram with a Ternary Relationship</vt:lpstr>
      <vt:lpstr>Constraints</vt:lpstr>
      <vt:lpstr>Constraints (Cont.)</vt:lpstr>
      <vt:lpstr>Constraints (Cont.)</vt:lpstr>
      <vt:lpstr>Constraints (Cont.)</vt:lpstr>
      <vt:lpstr>Keys</vt:lpstr>
      <vt:lpstr>PowerPoint Presentation</vt:lpstr>
      <vt:lpstr>PowerPoint Presentation</vt:lpstr>
      <vt:lpstr> Binary Relationships </vt:lpstr>
      <vt:lpstr>Ternary relationship </vt:lpstr>
      <vt:lpstr>Replacing ternary relationships </vt:lpstr>
      <vt:lpstr>Replacing ternary relationships  (Cont)</vt:lpstr>
      <vt:lpstr>E-R Diagrams</vt:lpstr>
      <vt:lpstr>Relationship Sets with Attributes</vt:lpstr>
      <vt:lpstr>Cardinality Constraints</vt:lpstr>
      <vt:lpstr>One-To-One Relationship</vt:lpstr>
      <vt:lpstr>One-To-Many Relationship</vt:lpstr>
      <vt:lpstr>One-To-Many Relationship</vt:lpstr>
      <vt:lpstr>Many-To-One Relationships</vt:lpstr>
      <vt:lpstr>Many-To-One Relationships</vt:lpstr>
      <vt:lpstr>Many-To-Many Relationship</vt:lpstr>
      <vt:lpstr>Many-To-Many Relationship</vt:lpstr>
      <vt:lpstr>Deriving the relationship parameters 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 Introduction</dc:title>
  <dc:creator>Marilyn Turnamian</dc:creator>
  <cp:lastModifiedBy>CSE Head</cp:lastModifiedBy>
  <cp:revision>160</cp:revision>
  <cp:lastPrinted>2001-02-09T15:35:27Z</cp:lastPrinted>
  <dcterms:created xsi:type="dcterms:W3CDTF">1999-11-04T20:50:09Z</dcterms:created>
  <dcterms:modified xsi:type="dcterms:W3CDTF">2026-02-15T08:06:49Z</dcterms:modified>
</cp:coreProperties>
</file>