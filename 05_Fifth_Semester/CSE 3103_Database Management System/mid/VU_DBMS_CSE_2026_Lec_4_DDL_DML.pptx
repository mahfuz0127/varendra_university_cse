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1"/>
  </p:notesMasterIdLst>
  <p:handoutMasterIdLst>
    <p:handoutMasterId r:id="rId22"/>
  </p:handoutMasterIdLst>
  <p:sldIdLst>
    <p:sldId id="256" r:id="rId3"/>
    <p:sldId id="340" r:id="rId4"/>
    <p:sldId id="266" r:id="rId5"/>
    <p:sldId id="341" r:id="rId6"/>
    <p:sldId id="267" r:id="rId7"/>
    <p:sldId id="343" r:id="rId8"/>
    <p:sldId id="345" r:id="rId9"/>
    <p:sldId id="346" r:id="rId10"/>
    <p:sldId id="347" r:id="rId11"/>
    <p:sldId id="342" r:id="rId12"/>
    <p:sldId id="344" r:id="rId13"/>
    <p:sldId id="279" r:id="rId14"/>
    <p:sldId id="348" r:id="rId15"/>
    <p:sldId id="349" r:id="rId16"/>
    <p:sldId id="350" r:id="rId17"/>
    <p:sldId id="351" r:id="rId18"/>
    <p:sldId id="352" r:id="rId19"/>
    <p:sldId id="353" r:id="rId20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8" autoAdjust="0"/>
    <p:restoredTop sz="91294" autoAdjust="0"/>
  </p:normalViewPr>
  <p:slideViewPr>
    <p:cSldViewPr snapToGrid="0">
      <p:cViewPr>
        <p:scale>
          <a:sx n="75" d="100"/>
          <a:sy n="75" d="100"/>
        </p:scale>
        <p:origin x="888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53A9-F7A8-4D0E-8D3B-9A0481D6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</a:p>
        </p:txBody>
      </p:sp>
    </p:spTree>
    <p:extLst>
      <p:ext uri="{BB962C8B-B14F-4D97-AF65-F5344CB8AC3E}">
        <p14:creationId xmlns:p14="http://schemas.microsoft.com/office/powerpoint/2010/main" val="1457775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238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Definition Language (DDL)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52525"/>
            <a:ext cx="7848600" cy="4586288"/>
          </a:xfrm>
        </p:spPr>
        <p:txBody>
          <a:bodyPr/>
          <a:lstStyle/>
          <a:p>
            <a:r>
              <a:rPr lang="en-US"/>
              <a:t>Specification notation for defining the database schema</a:t>
            </a:r>
          </a:p>
          <a:p>
            <a:pPr lvl="1"/>
            <a:r>
              <a:rPr lang="en-US"/>
              <a:t>E.g.  </a:t>
            </a:r>
            <a:br>
              <a:rPr lang="en-US"/>
            </a:br>
            <a:r>
              <a:rPr lang="en-US"/>
              <a:t>	</a:t>
            </a:r>
            <a:r>
              <a:rPr lang="en-US" b="1"/>
              <a:t>create table</a:t>
            </a:r>
            <a:r>
              <a:rPr lang="en-US"/>
              <a:t> </a:t>
            </a:r>
            <a:r>
              <a:rPr lang="en-US" i="1"/>
              <a:t>account</a:t>
            </a:r>
            <a:r>
              <a:rPr lang="en-US"/>
              <a:t> (</a:t>
            </a:r>
            <a:br>
              <a:rPr lang="en-US"/>
            </a:br>
            <a:r>
              <a:rPr lang="en-US"/>
              <a:t>             </a:t>
            </a:r>
            <a:r>
              <a:rPr lang="en-US" i="1"/>
              <a:t>account-number</a:t>
            </a:r>
            <a:r>
              <a:rPr lang="en-US"/>
              <a:t>    </a:t>
            </a:r>
            <a:r>
              <a:rPr lang="en-US" b="1"/>
              <a:t>char</a:t>
            </a:r>
            <a:r>
              <a:rPr lang="en-US"/>
              <a:t>(10),</a:t>
            </a:r>
            <a:br>
              <a:rPr lang="en-US"/>
            </a:br>
            <a:r>
              <a:rPr lang="en-US"/>
              <a:t>             </a:t>
            </a:r>
            <a:r>
              <a:rPr lang="en-US" i="1"/>
              <a:t>balance</a:t>
            </a:r>
            <a:r>
              <a:rPr lang="en-US"/>
              <a:t>                 </a:t>
            </a:r>
            <a:r>
              <a:rPr lang="en-US" b="1"/>
              <a:t>integer</a:t>
            </a:r>
            <a:r>
              <a:rPr lang="en-US"/>
              <a:t>)</a:t>
            </a:r>
          </a:p>
          <a:p>
            <a:r>
              <a:rPr lang="en-US"/>
              <a:t>DDL compiler generates a set of tables stored in a </a:t>
            </a:r>
            <a:r>
              <a:rPr lang="en-US" i="1"/>
              <a:t>data dictionary</a:t>
            </a:r>
          </a:p>
          <a:p>
            <a:r>
              <a:rPr lang="en-US"/>
              <a:t>Data dictionary contains metadata (i.e., data about data)</a:t>
            </a:r>
          </a:p>
          <a:p>
            <a:pPr lvl="1"/>
            <a:r>
              <a:rPr lang="en-US"/>
              <a:t> database schema </a:t>
            </a:r>
          </a:p>
          <a:p>
            <a:pPr lvl="1"/>
            <a:r>
              <a:rPr lang="en-US"/>
              <a:t>Data </a:t>
            </a:r>
            <a:r>
              <a:rPr lang="en-US" i="1"/>
              <a:t>storage and definition</a:t>
            </a:r>
            <a:r>
              <a:rPr lang="en-US"/>
              <a:t> language </a:t>
            </a:r>
          </a:p>
          <a:p>
            <a:pPr lvl="2"/>
            <a:r>
              <a:rPr lang="en-US"/>
              <a:t> language in which the storage structure and access methods used by the database system are specified</a:t>
            </a:r>
          </a:p>
          <a:p>
            <a:pPr lvl="2"/>
            <a:r>
              <a:rPr lang="en-US"/>
              <a:t>Usually an extension of the data definition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A4FE-C32A-4E07-8503-16C68AE7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</p:txBody>
      </p:sp>
    </p:spTree>
    <p:extLst>
      <p:ext uri="{BB962C8B-B14F-4D97-AF65-F5344CB8AC3E}">
        <p14:creationId xmlns:p14="http://schemas.microsoft.com/office/powerpoint/2010/main" val="226856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Manipulation Language (DML)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Language for accessing and manipulating the data organized by the appropriate data model</a:t>
            </a:r>
          </a:p>
          <a:p>
            <a:pPr lvl="1"/>
            <a:r>
              <a:rPr lang="en-US"/>
              <a:t>DML also known as query language</a:t>
            </a:r>
          </a:p>
          <a:p>
            <a:r>
              <a:rPr lang="en-US"/>
              <a:t>Two classes of languages </a:t>
            </a:r>
          </a:p>
          <a:p>
            <a:pPr lvl="1"/>
            <a:r>
              <a:rPr lang="en-US"/>
              <a:t>Procedural – user specifies what data is required and how to get those data </a:t>
            </a:r>
          </a:p>
          <a:p>
            <a:pPr lvl="1"/>
            <a:r>
              <a:rPr lang="en-US"/>
              <a:t>Nonprocedural – user specifies what data is required without specifying how to get those data</a:t>
            </a:r>
          </a:p>
          <a:p>
            <a:r>
              <a:rPr lang="en-US"/>
              <a:t>SQL is the most widely used query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D380C-A4FD-44A7-9A88-6D6A0A741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045E8-B605-4BA0-8446-FD1BFE17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664"/>
            <a:ext cx="9144000" cy="69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65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81623C-92A4-4FF9-97B9-491F2491F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6277"/>
              </p:ext>
            </p:extLst>
          </p:nvPr>
        </p:nvGraphicFramePr>
        <p:xfrm>
          <a:off x="613130" y="398147"/>
          <a:ext cx="8149869" cy="5438770"/>
        </p:xfrm>
        <a:graphic>
          <a:graphicData uri="http://schemas.openxmlformats.org/drawingml/2006/table">
            <a:tbl>
              <a:tblPr/>
              <a:tblGrid>
                <a:gridCol w="2716623">
                  <a:extLst>
                    <a:ext uri="{9D8B030D-6E8A-4147-A177-3AD203B41FA5}">
                      <a16:colId xmlns:a16="http://schemas.microsoft.com/office/drawing/2014/main" val="80866490"/>
                    </a:ext>
                  </a:extLst>
                </a:gridCol>
                <a:gridCol w="2716623">
                  <a:extLst>
                    <a:ext uri="{9D8B030D-6E8A-4147-A177-3AD203B41FA5}">
                      <a16:colId xmlns:a16="http://schemas.microsoft.com/office/drawing/2014/main" val="1186131457"/>
                    </a:ext>
                  </a:extLst>
                </a:gridCol>
                <a:gridCol w="2716623">
                  <a:extLst>
                    <a:ext uri="{9D8B030D-6E8A-4147-A177-3AD203B41FA5}">
                      <a16:colId xmlns:a16="http://schemas.microsoft.com/office/drawing/2014/main" val="1250822080"/>
                    </a:ext>
                  </a:extLst>
                </a:gridCol>
              </a:tblGrid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Type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 Values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957321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Integer (whole number)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1, 42, -100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687615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TINYINT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small integer (-128 to 127)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0, 127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306869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SMALLINT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Small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-32,768 to 32,767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28575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MEDIUMINT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-8M to 8M approx.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87809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BIGINT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-2⁶³ to 2⁶³-1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903872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DECIMAL(p,s)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Fixed-point number (precision, scale)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DECIMAL(5,2): 123.45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86815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FLOAT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Single-precision floating point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3.14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711769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DOUBLE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Double-precision floating point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3.14159265359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8596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BIT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Stores bit-field values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BIT(1) = 0 or 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08670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BOOLEAN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Alias for TINYINT(1) (0 = false, 1 = true)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0, 1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6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58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4D5D2D-D588-4298-94F4-D4547CB83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22263"/>
              </p:ext>
            </p:extLst>
          </p:nvPr>
        </p:nvGraphicFramePr>
        <p:xfrm>
          <a:off x="480060" y="1693545"/>
          <a:ext cx="7848600" cy="246888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65360314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86037516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90851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661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(YYYY-MM-DD)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67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and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 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11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and time (with auto update)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 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4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403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Year (4 digits)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52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71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7EE14-C69F-44EE-805F-0C17DFDD8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18021"/>
              </p:ext>
            </p:extLst>
          </p:nvPr>
        </p:nvGraphicFramePr>
        <p:xfrm>
          <a:off x="647700" y="1007745"/>
          <a:ext cx="7848600" cy="448056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884312579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188393053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702022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03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Fixed-length string (padded)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'Hello 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9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VARCHAR(n)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Variable-length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'Hello'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Large text (up to 64 KB)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Article, paragraph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19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TINYTEXT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255 characters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Short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12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MEDIUMTEXT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16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928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LONGTEXT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Books, large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706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ENUM(...)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value from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'Male', 'Female'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36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SET(...)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values from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'Reading, Swimming'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3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BLOB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Binary data (e.g., images/files)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71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40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FE664-69DB-4A5C-B3CE-1EB1C15422D5}"/>
              </a:ext>
            </a:extLst>
          </p:cNvPr>
          <p:cNvSpPr txBox="1"/>
          <p:nvPr/>
        </p:nvSpPr>
        <p:spPr>
          <a:xfrm>
            <a:off x="2057400" y="485894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CREATE DATABASE university;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354DE-5082-4479-9BEA-C9A7D9A1866D}"/>
              </a:ext>
            </a:extLst>
          </p:cNvPr>
          <p:cNvSpPr txBox="1"/>
          <p:nvPr/>
        </p:nvSpPr>
        <p:spPr>
          <a:xfrm>
            <a:off x="800100" y="2090172"/>
            <a:ext cx="78181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CREATE TABLE students (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student_id</a:t>
            </a:r>
            <a:r>
              <a:rPr lang="en-US" sz="2400" dirty="0"/>
              <a:t> INT </a:t>
            </a:r>
            <a:r>
              <a:rPr lang="en-US" sz="2400" dirty="0">
                <a:solidFill>
                  <a:srgbClr val="FF0000"/>
                </a:solidFill>
              </a:rPr>
              <a:t>AUTO_INCREMENT PRIMARY KEY,</a:t>
            </a:r>
          </a:p>
          <a:p>
            <a:pPr algn="l"/>
            <a:r>
              <a:rPr lang="en-US" sz="2400" dirty="0"/>
              <a:t>    name VARCHAR(100),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birth_date</a:t>
            </a:r>
            <a:r>
              <a:rPr lang="en-US" sz="2400" dirty="0"/>
              <a:t> DATE,</a:t>
            </a:r>
          </a:p>
          <a:p>
            <a:pPr algn="l"/>
            <a:r>
              <a:rPr lang="en-US" sz="2400" dirty="0"/>
              <a:t>    email VARCHAR(100) </a:t>
            </a:r>
            <a:r>
              <a:rPr lang="en-US" sz="2400" dirty="0">
                <a:solidFill>
                  <a:srgbClr val="FF0000"/>
                </a:solidFill>
              </a:rPr>
              <a:t>UNIQUE,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gpa</a:t>
            </a:r>
            <a:r>
              <a:rPr lang="en-US" sz="2400" dirty="0"/>
              <a:t> DECIMAL(3,2)</a:t>
            </a:r>
          </a:p>
          <a:p>
            <a:pPr algn="l"/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3612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C8DBE-933B-4F6A-A23F-0D43C83469B8}"/>
              </a:ext>
            </a:extLst>
          </p:cNvPr>
          <p:cNvSpPr txBox="1"/>
          <p:nvPr/>
        </p:nvSpPr>
        <p:spPr>
          <a:xfrm>
            <a:off x="137160" y="1555879"/>
            <a:ext cx="9006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Add a new column</a:t>
            </a:r>
          </a:p>
          <a:p>
            <a:r>
              <a:rPr lang="en-US" sz="2400" b="1" dirty="0"/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ADD COLUMN </a:t>
            </a:r>
            <a:r>
              <a:rPr lang="en-US" sz="2400" dirty="0"/>
              <a:t>phone </a:t>
            </a:r>
            <a:r>
              <a:rPr lang="en-US" sz="2400" b="1" dirty="0"/>
              <a:t>VARCHAR(1</a:t>
            </a:r>
            <a:r>
              <a:rPr lang="en-US" sz="2400" dirty="0"/>
              <a:t>5);</a:t>
            </a:r>
          </a:p>
          <a:p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Modify a column</a:t>
            </a:r>
          </a:p>
          <a:p>
            <a:r>
              <a:rPr lang="en-US" sz="2400" b="1" dirty="0"/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MODIFY COLUMN </a:t>
            </a:r>
            <a:r>
              <a:rPr lang="en-US" sz="2400" dirty="0" err="1"/>
              <a:t>gpa</a:t>
            </a:r>
            <a:r>
              <a:rPr lang="en-US" sz="2400" dirty="0"/>
              <a:t> </a:t>
            </a:r>
            <a:r>
              <a:rPr lang="en-US" sz="2400" b="1" dirty="0"/>
              <a:t>DECIMA</a:t>
            </a:r>
            <a:r>
              <a:rPr lang="en-US" sz="2400" dirty="0"/>
              <a:t>L(4,2);</a:t>
            </a:r>
          </a:p>
          <a:p>
            <a:endParaRPr lang="en-US" sz="2400" dirty="0"/>
          </a:p>
          <a:p>
            <a:r>
              <a:rPr lang="en-US" sz="3200" b="1" dirty="0">
                <a:solidFill>
                  <a:srgbClr val="FF0000"/>
                </a:solidFill>
              </a:rPr>
              <a:t>Drop a column</a:t>
            </a:r>
          </a:p>
          <a:p>
            <a:r>
              <a:rPr lang="en-US" sz="2400" b="1" dirty="0">
                <a:solidFill>
                  <a:schemeClr val="accent3">
                    <a:lumMod val="10000"/>
                  </a:schemeClr>
                </a:solidFill>
              </a:rPr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DROP COLUMN </a:t>
            </a:r>
            <a:r>
              <a:rPr lang="en-US" sz="2400" dirty="0"/>
              <a:t>phone;</a:t>
            </a:r>
          </a:p>
        </p:txBody>
      </p:sp>
    </p:spTree>
    <p:extLst>
      <p:ext uri="{BB962C8B-B14F-4D97-AF65-F5344CB8AC3E}">
        <p14:creationId xmlns:p14="http://schemas.microsoft.com/office/powerpoint/2010/main" val="401718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SQL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14425"/>
            <a:ext cx="8285163" cy="4876800"/>
          </a:xfrm>
        </p:spPr>
        <p:txBody>
          <a:bodyPr/>
          <a:lstStyle/>
          <a:p>
            <a:r>
              <a:rPr lang="en-US"/>
              <a:t>SQL: widely used non-procedural language</a:t>
            </a:r>
          </a:p>
          <a:p>
            <a:pPr lvl="1"/>
            <a:r>
              <a:rPr lang="en-US"/>
              <a:t>E.g. find the name of the customer with customer-id 192-83-7465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select</a:t>
            </a:r>
            <a:r>
              <a:rPr lang="en-US"/>
              <a:t>   </a:t>
            </a:r>
            <a:r>
              <a:rPr lang="en-US" i="1"/>
              <a:t>customer.customer-name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from</a:t>
            </a:r>
            <a:r>
              <a:rPr lang="en-US"/>
              <a:t>     </a:t>
            </a:r>
            <a:r>
              <a:rPr lang="en-US" i="1"/>
              <a:t>customer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where</a:t>
            </a:r>
            <a:r>
              <a:rPr lang="en-US"/>
              <a:t>  </a:t>
            </a:r>
            <a:r>
              <a:rPr lang="en-US" i="1"/>
              <a:t>customer.customer-id</a:t>
            </a:r>
            <a:r>
              <a:rPr lang="en-US"/>
              <a:t> = ‘192-83-7465’</a:t>
            </a:r>
          </a:p>
          <a:p>
            <a:pPr lvl="1"/>
            <a:r>
              <a:rPr lang="en-US"/>
              <a:t>E.g. find the balances of all accounts held by the customer with customer-id 192-83-7465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select</a:t>
            </a:r>
            <a:r>
              <a:rPr lang="en-US"/>
              <a:t>   </a:t>
            </a:r>
            <a:r>
              <a:rPr lang="en-US" i="1"/>
              <a:t>account.balance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from</a:t>
            </a:r>
            <a:r>
              <a:rPr lang="en-US"/>
              <a:t>     </a:t>
            </a:r>
            <a:r>
              <a:rPr lang="en-US" i="1"/>
              <a:t>depositor</a:t>
            </a:r>
            <a:r>
              <a:rPr lang="en-US"/>
              <a:t>, </a:t>
            </a:r>
            <a:r>
              <a:rPr lang="en-US" i="1"/>
              <a:t>account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where</a:t>
            </a:r>
            <a:r>
              <a:rPr lang="en-US"/>
              <a:t>  </a:t>
            </a:r>
            <a:r>
              <a:rPr lang="en-US" i="1"/>
              <a:t>depositor.customer-id</a:t>
            </a:r>
            <a:r>
              <a:rPr lang="en-US"/>
              <a:t> = ‘192-83-7465’ </a:t>
            </a:r>
            <a:r>
              <a:rPr lang="en-US" b="1"/>
              <a:t>and</a:t>
            </a:r>
            <a:br>
              <a:rPr lang="en-US" b="1"/>
            </a:br>
            <a:r>
              <a:rPr lang="en-US" b="1"/>
              <a:t>		            </a:t>
            </a:r>
            <a:r>
              <a:rPr lang="en-US" i="1"/>
              <a:t>depositor.account-number = account.account-number</a:t>
            </a:r>
          </a:p>
          <a:p>
            <a:r>
              <a:rPr lang="en-US"/>
              <a:t>Application programs generally access databases through one of</a:t>
            </a:r>
          </a:p>
          <a:p>
            <a:pPr lvl="1"/>
            <a:r>
              <a:rPr lang="en-US"/>
              <a:t>Language extensions to allow embedded SQL</a:t>
            </a:r>
          </a:p>
          <a:p>
            <a:pPr lvl="1"/>
            <a:r>
              <a:rPr lang="en-US"/>
              <a:t>Application program interface (e.g. ODBC/JDBC) which allow SQL queries to be sent to a database</a:t>
            </a:r>
          </a:p>
          <a:p>
            <a:endParaRPr 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D380C-A4FD-44A7-9A88-6D6A0A741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9pPr>
          </a:lstStyle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045E8-B605-4BA0-8446-FD1BFE17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664"/>
            <a:ext cx="9144000" cy="69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8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47D06-2F6D-4F89-BD55-C068128C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248"/>
            <a:ext cx="9334314" cy="44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23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C6DBE-F650-4CA4-B547-4A0CFFA8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66" y="738187"/>
            <a:ext cx="7005268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AEBF25-2945-48ED-97B4-C1AD97A4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" y="933450"/>
            <a:ext cx="9123343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18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C9E2D-69EF-4DE6-AB11-0F94B979495B}"/>
              </a:ext>
            </a:extLst>
          </p:cNvPr>
          <p:cNvSpPr txBox="1"/>
          <p:nvPr/>
        </p:nvSpPr>
        <p:spPr>
          <a:xfrm>
            <a:off x="-171450" y="30548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SELECT Name, Department, Gender, City FROM employee;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BF125-C77F-405A-8A0D-B790EB397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43012"/>
            <a:ext cx="7353300" cy="506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3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7C2F7A-B743-4102-B0E6-4C937B5F5674}"/>
              </a:ext>
            </a:extLst>
          </p:cNvPr>
          <p:cNvSpPr txBox="1"/>
          <p:nvPr/>
        </p:nvSpPr>
        <p:spPr>
          <a:xfrm>
            <a:off x="0" y="153085"/>
            <a:ext cx="9277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SELECT * FROM employee WHERE Department = ‘IT’;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92C1F-19D8-4146-B036-64C6D0557B1A}"/>
              </a:ext>
            </a:extLst>
          </p:cNvPr>
          <p:cNvSpPr txBox="1"/>
          <p:nvPr/>
        </p:nvSpPr>
        <p:spPr>
          <a:xfrm>
            <a:off x="261938" y="896035"/>
            <a:ext cx="81962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SELECT Id, Name, Department, Salary, Gender, Age, City FROM employee;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37B89-B575-4D0C-B351-6FA32BB9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1225"/>
            <a:ext cx="9144000" cy="226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12591"/>
      </p:ext>
    </p:extLst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8693</TotalTime>
  <Words>682</Words>
  <Application>Microsoft Office PowerPoint</Application>
  <PresentationFormat>On-screen Show (4:3)</PresentationFormat>
  <Paragraphs>129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Data Definition Language (DDL)</vt:lpstr>
      <vt:lpstr>Data Definition Language (DDL)</vt:lpstr>
      <vt:lpstr>Data Manipulation Language (DML)</vt:lpstr>
      <vt:lpstr>Data Manipulation Language (DML)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151</cp:revision>
  <cp:lastPrinted>2001-02-09T15:35:27Z</cp:lastPrinted>
  <dcterms:created xsi:type="dcterms:W3CDTF">1999-11-04T20:50:09Z</dcterms:created>
  <dcterms:modified xsi:type="dcterms:W3CDTF">2026-02-08T05:46:54Z</dcterms:modified>
</cp:coreProperties>
</file>