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719" r:id="rId2"/>
    <p:sldMasterId id="2147483731" r:id="rId3"/>
    <p:sldMasterId id="2147483743" r:id="rId4"/>
    <p:sldMasterId id="2147483755" r:id="rId5"/>
    <p:sldMasterId id="2147483767" r:id="rId6"/>
    <p:sldMasterId id="2147483779" r:id="rId7"/>
  </p:sldMasterIdLst>
  <p:notesMasterIdLst>
    <p:notesMasterId r:id="rId59"/>
  </p:notesMasterIdLst>
  <p:handoutMasterIdLst>
    <p:handoutMasterId r:id="rId60"/>
  </p:handoutMasterIdLst>
  <p:sldIdLst>
    <p:sldId id="476" r:id="rId8"/>
    <p:sldId id="477" r:id="rId9"/>
    <p:sldId id="406" r:id="rId10"/>
    <p:sldId id="571" r:id="rId11"/>
    <p:sldId id="402" r:id="rId12"/>
    <p:sldId id="405" r:id="rId13"/>
    <p:sldId id="544" r:id="rId14"/>
    <p:sldId id="403" r:id="rId15"/>
    <p:sldId id="401" r:id="rId16"/>
    <p:sldId id="567" r:id="rId17"/>
    <p:sldId id="569" r:id="rId18"/>
    <p:sldId id="568" r:id="rId19"/>
    <p:sldId id="570" r:id="rId20"/>
    <p:sldId id="572" r:id="rId21"/>
    <p:sldId id="578" r:id="rId22"/>
    <p:sldId id="579" r:id="rId23"/>
    <p:sldId id="580" r:id="rId24"/>
    <p:sldId id="480" r:id="rId25"/>
    <p:sldId id="481" r:id="rId26"/>
    <p:sldId id="482" r:id="rId27"/>
    <p:sldId id="581" r:id="rId28"/>
    <p:sldId id="559" r:id="rId29"/>
    <p:sldId id="460" r:id="rId30"/>
    <p:sldId id="456" r:id="rId31"/>
    <p:sldId id="373" r:id="rId32"/>
    <p:sldId id="478" r:id="rId33"/>
    <p:sldId id="479" r:id="rId34"/>
    <p:sldId id="582" r:id="rId35"/>
    <p:sldId id="584" r:id="rId36"/>
    <p:sldId id="583" r:id="rId37"/>
    <p:sldId id="330" r:id="rId38"/>
    <p:sldId id="487" r:id="rId39"/>
    <p:sldId id="585" r:id="rId40"/>
    <p:sldId id="586" r:id="rId41"/>
    <p:sldId id="587" r:id="rId42"/>
    <p:sldId id="588" r:id="rId43"/>
    <p:sldId id="589" r:id="rId44"/>
    <p:sldId id="596" r:id="rId45"/>
    <p:sldId id="597" r:id="rId46"/>
    <p:sldId id="601" r:id="rId47"/>
    <p:sldId id="602" r:id="rId48"/>
    <p:sldId id="598" r:id="rId49"/>
    <p:sldId id="600" r:id="rId50"/>
    <p:sldId id="599" r:id="rId51"/>
    <p:sldId id="300" r:id="rId52"/>
    <p:sldId id="301" r:id="rId53"/>
    <p:sldId id="302" r:id="rId54"/>
    <p:sldId id="594" r:id="rId55"/>
    <p:sldId id="595" r:id="rId56"/>
    <p:sldId id="591" r:id="rId57"/>
    <p:sldId id="592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CC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17" autoAdjust="0"/>
  </p:normalViewPr>
  <p:slideViewPr>
    <p:cSldViewPr>
      <p:cViewPr>
        <p:scale>
          <a:sx n="75" d="100"/>
          <a:sy n="75" d="100"/>
        </p:scale>
        <p:origin x="1152" y="54"/>
      </p:cViewPr>
      <p:guideLst>
        <p:guide orient="horz" pos="2160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8" y="-4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5" Type="http://schemas.openxmlformats.org/officeDocument/2006/relationships/slideMaster" Target="slideMasters/slideMaster5.xml"/><Relationship Id="rId61" Type="http://schemas.openxmlformats.org/officeDocument/2006/relationships/presProps" Target="pres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CB1A079A-30B4-418A-A724-DCA50ECE7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54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1027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102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3" name="Rectangle 1029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9125F8DB-C135-4E04-9696-BEA915DA98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745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2563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625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73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48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49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55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88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27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299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73087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4706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0286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15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673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059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9790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570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565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4248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9479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3CC9-C490-4B9E-A6BD-14520BEA2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B5F3A-DEE4-4C97-B468-60D2A8B3B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67B0-1791-48DA-92CE-E5B3C1B3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09741-9C0A-43B7-8F94-627689BF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9D27B-AE72-479A-B488-46592E43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94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4AFF-6658-41B5-864E-6B0A3C04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E0E6F-1DD5-47C1-BE8D-E8A04490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73E7-6086-422F-AF86-AFE90EF2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41D45-2F2A-4280-A861-B097380D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52606-FDB4-4FD3-BFF5-74BCBB56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540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D045-31BF-45ED-A629-DB5D0782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EF9BC-61B3-4522-9D59-C50ED7393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00A6-A30C-4A52-B188-FA57A876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B6DB5-B0AC-47C8-8BD3-D05FF9248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BDE08-CD58-41FA-B9B9-EFD40DB3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21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35B9-A425-4C92-A085-219C58DE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24BBF-3149-45C4-8CA2-E730F8AF7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1179F-C7EF-42E8-8D23-7BB0A23A1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29F46-7E18-40B6-99A1-20EA6207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8EC4F-DA95-4A49-8A76-A6839ECA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9917-E4A2-4F5F-8BB9-EB8C0712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72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28F2-DA00-4E52-ACDA-7629DB89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9D8F-B6FC-4827-97C9-707C534F1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FB31A-A6F0-43E7-BF3F-DE20F7638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4119D-4E55-480B-BD1E-AAEF988CF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7975A-42EE-488D-A29C-45AE3FCE0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86C32-0A43-466D-AA55-16C50682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F9F70-3446-4394-8106-1D8ADF34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E1257-C909-45AF-A595-B14F37EF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0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1F30-AB20-47E8-9C36-41B21FD4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C83AC-34AE-482F-9A05-97D8E241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E6AD5-36BB-478C-92A6-8E52ABAB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03F98-E2E8-4121-97F7-064412E4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92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D73D3-A592-4596-B3DD-7687B88F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EB29C-7D10-470E-ACE3-21110FBB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CD77E-5473-4592-9CF5-38A90C3C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404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205F-10CA-48E2-B168-0CB61955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4BC5-3C13-4DBA-9D8F-BD6C12D6C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C0F7D-87E1-4427-9870-F99137822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C84D4-51D2-4810-A0FB-8A045B26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6F70E-0723-4E64-B971-9C8D061F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A0320-1D7C-4821-8AE1-661673D5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52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E0FF-2CA6-451D-A909-89A84D6A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207BC-3387-4B1E-B081-9BC31A5FF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8FE10-E8B0-4E1F-B484-FAF248097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71DFF-DBB5-4674-A30F-1826A443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8699E-8DE1-48B8-A150-C118118B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A9A78-6080-47DF-B24C-E5AA46E6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429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312C-D111-4122-BA98-37AC274F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6CD6B-C862-46FA-A53E-4DD3F37C5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EE4B-330E-4DB0-830D-B7471D57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98D40-76F0-4001-96B5-ADC6FBA3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3B8FB-C74A-491B-B561-90F6B5A7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785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09462-80C5-45A4-9780-27259A711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73470-C1C4-4692-9DAB-1D62C692E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8AE5F-B4C9-40F1-86FE-B3032CF3F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ED99-FCCA-421D-832B-6ABAA68DB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9B73E-293B-40C2-9B8A-3A39E80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100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6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4" name="Rectangle 6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3350" y="5726113"/>
            <a:ext cx="369411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b="1">
                <a:solidFill>
                  <a:srgbClr val="CC3300"/>
                </a:solidFill>
              </a:rPr>
              <a:t>Database System Concepts, 5</a:t>
            </a:r>
            <a:r>
              <a:rPr lang="en-US" b="1" baseline="30000">
                <a:solidFill>
                  <a:srgbClr val="CC3300"/>
                </a:solidFill>
              </a:rPr>
              <a:t>th</a:t>
            </a:r>
            <a:r>
              <a:rPr lang="en-US" b="1">
                <a:solidFill>
                  <a:srgbClr val="CC3300"/>
                </a:solidFill>
              </a:rPr>
              <a:t> Ed.</a:t>
            </a:r>
            <a:endParaRPr lang="en-US">
              <a:solidFill>
                <a:srgbClr val="00000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rgbClr val="CC3300"/>
                </a:solidFill>
              </a:rPr>
              <a:t>©Silberschatz, Korth and Sudarshan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See </a:t>
            </a:r>
            <a:r>
              <a:rPr lang="en-US" sz="1200" b="1">
                <a:solidFill>
                  <a:srgbClr val="CC3300"/>
                </a:solidFill>
                <a:hlinkClick r:id="rId3"/>
              </a:rPr>
              <a:t>www.db-book.com</a:t>
            </a:r>
            <a:r>
              <a:rPr lang="en-US" sz="1200" b="1">
                <a:solidFill>
                  <a:srgbClr val="CC3300"/>
                </a:solidFill>
              </a:rPr>
              <a:t> for conditions on re-use </a:t>
            </a:r>
          </a:p>
        </p:txBody>
      </p:sp>
      <p:pic>
        <p:nvPicPr>
          <p:cNvPr id="6" name="Picture 8" descr="Icon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558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PH01266J"/>
          <p:cNvPicPr>
            <a:picLocks noChangeAspect="1" noChangeArrowheads="1"/>
          </p:cNvPicPr>
          <p:nvPr/>
        </p:nvPicPr>
        <p:blipFill>
          <a:blip r:embed="rId5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6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550AFE2B-4E57-4340-B548-E9A352A51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871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B3021-08C7-4F5D-8E51-250CB1CB1D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401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0A8E5-9F55-446D-A5E9-22A8EA8E15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082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4CECC-ACF4-48B4-A65A-41689A2D75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8A87B-1297-46C2-A9E2-B194D2D8BD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98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DC93F-69B4-4180-BFD7-C18320752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256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1DA22-8CB3-4DB9-AB20-D4EF688850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988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BEA88-E31A-459F-A230-8DA2A2E5FE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735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5F8FE-DF56-4E7C-B76B-E9541C3DFD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42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1F3A4-F22E-42B0-B8B0-C83B62B0F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162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87F2D9-5AFD-46C7-BFD5-C9C0789525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38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6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4" name="Rectangle 6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3350" y="5726113"/>
            <a:ext cx="369411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b="1">
                <a:solidFill>
                  <a:schemeClr val="tx2"/>
                </a:solidFill>
              </a:rPr>
              <a:t>Database System Concepts, 5</a:t>
            </a:r>
            <a:r>
              <a:rPr lang="en-US" b="1" baseline="30000">
                <a:solidFill>
                  <a:schemeClr val="tx2"/>
                </a:solidFill>
              </a:rPr>
              <a:t>th</a:t>
            </a:r>
            <a:r>
              <a:rPr lang="en-US" b="1">
                <a:solidFill>
                  <a:schemeClr val="tx2"/>
                </a:solidFill>
              </a:rPr>
              <a:t> Ed.</a:t>
            </a:r>
            <a:endParaRPr lang="en-US"/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chemeClr val="tx2"/>
                </a:solidFill>
              </a:rPr>
              <a:t>©Silberschatz, Korth and Sudarshan</a:t>
            </a:r>
            <a:br>
              <a:rPr lang="en-US" sz="1200" b="1">
                <a:solidFill>
                  <a:schemeClr val="tx2"/>
                </a:solidFill>
              </a:rPr>
            </a:br>
            <a:r>
              <a:rPr lang="en-US" sz="1200" b="1">
                <a:solidFill>
                  <a:schemeClr val="tx2"/>
                </a:solidFill>
              </a:rPr>
              <a:t>See </a:t>
            </a:r>
            <a:r>
              <a:rPr lang="en-US" sz="1200" b="1">
                <a:solidFill>
                  <a:schemeClr val="tx2"/>
                </a:solidFill>
                <a:hlinkClick r:id="rId3"/>
              </a:rPr>
              <a:t>www.db-book.com</a:t>
            </a:r>
            <a:r>
              <a:rPr lang="en-US" sz="1200" b="1">
                <a:solidFill>
                  <a:schemeClr val="tx2"/>
                </a:solidFill>
              </a:rPr>
              <a:t> for conditions on re-use </a:t>
            </a:r>
          </a:p>
        </p:txBody>
      </p:sp>
      <p:pic>
        <p:nvPicPr>
          <p:cNvPr id="6" name="Picture 8" descr="Icon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558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PH01266J"/>
          <p:cNvPicPr>
            <a:picLocks noChangeAspect="1" noChangeArrowheads="1"/>
          </p:cNvPicPr>
          <p:nvPr/>
        </p:nvPicPr>
        <p:blipFill>
          <a:blip r:embed="rId5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6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CFFF696A-1145-4C34-8D24-FD51B3BF0D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554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4D964-681F-4ABC-BB65-61E84F3ADD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815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2E2FD-D6B3-4B31-9086-E3AA27DDCF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270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2D8CF-217C-4524-BED9-5AC696FD58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3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6BF46-BF42-4DD9-BE75-E52D05A67A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192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92DB5-630B-42F9-B199-B54FD55A9F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438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9EBDE-16B6-4CDB-A0FB-163BB64F6F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437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41D3F-2C6E-41F8-87B5-58E890A74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505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99B2D-ADC0-4882-87C1-B66B5B421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1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D9305-1ECF-4B2C-98D5-A947729505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597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8DF2F-FDC2-4784-80A5-F2447D0C29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315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6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4" name="Rectangle 6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3350" y="5726113"/>
            <a:ext cx="369411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b="1">
                <a:solidFill>
                  <a:srgbClr val="CC3300"/>
                </a:solidFill>
              </a:rPr>
              <a:t>Database System Concepts, 5</a:t>
            </a:r>
            <a:r>
              <a:rPr lang="en-US" b="1" baseline="30000">
                <a:solidFill>
                  <a:srgbClr val="CC3300"/>
                </a:solidFill>
              </a:rPr>
              <a:t>th</a:t>
            </a:r>
            <a:r>
              <a:rPr lang="en-US" b="1">
                <a:solidFill>
                  <a:srgbClr val="CC3300"/>
                </a:solidFill>
              </a:rPr>
              <a:t> Ed.</a:t>
            </a:r>
            <a:endParaRPr lang="en-US">
              <a:solidFill>
                <a:srgbClr val="00000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rgbClr val="CC3300"/>
                </a:solidFill>
              </a:rPr>
              <a:t>©Silberschatz, Korth and Sudarshan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See </a:t>
            </a:r>
            <a:r>
              <a:rPr lang="en-US" sz="1200" b="1">
                <a:solidFill>
                  <a:srgbClr val="CC3300"/>
                </a:solidFill>
                <a:hlinkClick r:id="rId3"/>
              </a:rPr>
              <a:t>www.db-book.com</a:t>
            </a:r>
            <a:r>
              <a:rPr lang="en-US" sz="1200" b="1">
                <a:solidFill>
                  <a:srgbClr val="CC3300"/>
                </a:solidFill>
              </a:rPr>
              <a:t> for conditions on re-use </a:t>
            </a:r>
          </a:p>
        </p:txBody>
      </p:sp>
      <p:pic>
        <p:nvPicPr>
          <p:cNvPr id="6" name="Picture 8" descr="Icon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558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PH01266J"/>
          <p:cNvPicPr>
            <a:picLocks noChangeAspect="1" noChangeArrowheads="1"/>
          </p:cNvPicPr>
          <p:nvPr/>
        </p:nvPicPr>
        <p:blipFill>
          <a:blip r:embed="rId5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6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BE243873-BD58-491E-AE72-F025CA487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772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BA4C1-E376-4929-BB25-DFDDAA8010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764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7481A-949E-4F2C-BCF1-9E0DBC9CDA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112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2EB09-243D-43F2-8CCE-E65C56A96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353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BC373-923F-41C7-8AF0-6290B81B9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386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6417D-39E9-47E3-9CE6-F6E70F41BC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162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B229F-0363-4288-A09B-FD9A52244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038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CC70E-D76D-40A1-A58B-9058AA3C5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916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F06C9-C40D-4399-B7D4-66856523D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926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0DEE3-4698-4EDF-BF28-258879A6B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431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B9545-5826-428D-8A6C-8EEB2E4174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869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6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4" name="Rectangle 6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3350" y="5726113"/>
            <a:ext cx="369411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b="1">
                <a:solidFill>
                  <a:srgbClr val="CC3300"/>
                </a:solidFill>
              </a:rPr>
              <a:t>Database System Concepts, 5</a:t>
            </a:r>
            <a:r>
              <a:rPr lang="en-US" b="1" baseline="30000">
                <a:solidFill>
                  <a:srgbClr val="CC3300"/>
                </a:solidFill>
              </a:rPr>
              <a:t>th</a:t>
            </a:r>
            <a:r>
              <a:rPr lang="en-US" b="1">
                <a:solidFill>
                  <a:srgbClr val="CC3300"/>
                </a:solidFill>
              </a:rPr>
              <a:t> Ed.</a:t>
            </a:r>
            <a:endParaRPr lang="en-US">
              <a:solidFill>
                <a:srgbClr val="00000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rgbClr val="CC3300"/>
                </a:solidFill>
              </a:rPr>
              <a:t>©Silberschatz, Korth and Sudarshan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See </a:t>
            </a:r>
            <a:r>
              <a:rPr lang="en-US" sz="1200" b="1">
                <a:solidFill>
                  <a:srgbClr val="CC3300"/>
                </a:solidFill>
                <a:hlinkClick r:id="rId3"/>
              </a:rPr>
              <a:t>www.db-book.com</a:t>
            </a:r>
            <a:r>
              <a:rPr lang="en-US" sz="1200" b="1">
                <a:solidFill>
                  <a:srgbClr val="CC3300"/>
                </a:solidFill>
              </a:rPr>
              <a:t> for conditions on re-use </a:t>
            </a:r>
          </a:p>
        </p:txBody>
      </p:sp>
      <p:pic>
        <p:nvPicPr>
          <p:cNvPr id="6" name="Picture 8" descr="Icon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558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PH01266J"/>
          <p:cNvPicPr>
            <a:picLocks noChangeAspect="1" noChangeArrowheads="1"/>
          </p:cNvPicPr>
          <p:nvPr/>
        </p:nvPicPr>
        <p:blipFill>
          <a:blip r:embed="rId5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6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8C786EC-89AA-4EE2-BB92-42075BCA9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531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F6E81-1759-41B5-863B-7222812C11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255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BC19E-3A54-4897-9943-075DE1DF4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6560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51B5B-6E13-4DFC-94C8-B86CAA18D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990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4CF75-40E3-4E1C-B165-ECF9961BC1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992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6D2C3-8071-456E-9FA0-C689D1FCA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449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B8261-51B5-4EDC-BA88-D3B983311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541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5DD2E-15F2-4189-A770-060C5D346E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808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F0C08-1C76-400C-87D1-1CD2F3C139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447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2CF2F-8AED-44FE-AA75-CE9AC90A5C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104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1472A-4D7A-43A8-A560-E0D863F9C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28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6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">
                  <p:embed/>
                </p:oleObj>
              </mc:Choice>
              <mc:Fallback>
                <p:oleObj name="Clip" r:id="rId2" imgW="0" imgH="0" progId="">
                  <p:embed/>
                  <p:pic>
                    <p:nvPicPr>
                      <p:cNvPr id="4" name="Rectangle 6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3350" y="5726113"/>
            <a:ext cx="3694113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b="1">
                <a:solidFill>
                  <a:srgbClr val="CC3300"/>
                </a:solidFill>
              </a:rPr>
              <a:t>Database System Concepts, 5</a:t>
            </a:r>
            <a:r>
              <a:rPr lang="en-US" b="1" baseline="30000">
                <a:solidFill>
                  <a:srgbClr val="CC3300"/>
                </a:solidFill>
              </a:rPr>
              <a:t>th</a:t>
            </a:r>
            <a:r>
              <a:rPr lang="en-US" b="1">
                <a:solidFill>
                  <a:srgbClr val="CC3300"/>
                </a:solidFill>
              </a:rPr>
              <a:t> Ed.</a:t>
            </a:r>
            <a:endParaRPr lang="en-US">
              <a:solidFill>
                <a:srgbClr val="00000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rgbClr val="CC3300"/>
                </a:solidFill>
              </a:rPr>
              <a:t>©Silberschatz, Korth and Sudarshan</a:t>
            </a:r>
            <a:br>
              <a:rPr lang="en-US" sz="1200" b="1">
                <a:solidFill>
                  <a:srgbClr val="CC3300"/>
                </a:solidFill>
              </a:rPr>
            </a:br>
            <a:r>
              <a:rPr lang="en-US" sz="1200" b="1">
                <a:solidFill>
                  <a:srgbClr val="CC3300"/>
                </a:solidFill>
              </a:rPr>
              <a:t>See </a:t>
            </a:r>
            <a:r>
              <a:rPr lang="en-US" sz="1200" b="1">
                <a:solidFill>
                  <a:srgbClr val="CC3300"/>
                </a:solidFill>
                <a:hlinkClick r:id="rId3"/>
              </a:rPr>
              <a:t>www.db-book.com</a:t>
            </a:r>
            <a:r>
              <a:rPr lang="en-US" sz="1200" b="1">
                <a:solidFill>
                  <a:srgbClr val="CC3300"/>
                </a:solidFill>
              </a:rPr>
              <a:t> for conditions on re-use </a:t>
            </a:r>
          </a:p>
        </p:txBody>
      </p:sp>
      <p:pic>
        <p:nvPicPr>
          <p:cNvPr id="6" name="Picture 8" descr="Icon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5588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PH01266J"/>
          <p:cNvPicPr>
            <a:picLocks noChangeAspect="1" noChangeArrowheads="1"/>
          </p:cNvPicPr>
          <p:nvPr/>
        </p:nvPicPr>
        <p:blipFill>
          <a:blip r:embed="rId5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65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83F4B08C-FB55-4C4A-AA2F-23F90687CC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482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3605F-C06A-40FD-928E-5DEEB1F1A0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1453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E2E98-C492-45D5-9CBB-7F7BACACB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6160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A1EDA-6631-4E70-9F1E-2C74909004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2728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7E32D-F0DC-4A52-A0CC-D07C014214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436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B5CA0-44F8-44B5-B90A-F877A4203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1678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1B460-34EF-4C2F-B96E-E2BB9D12E0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4267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0F588-7275-45D8-8388-0EB1A425A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590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C19D53-0929-4109-9B32-1B67038C3F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317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12AD3-E2FE-4A0A-9D87-29086C8E7C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0957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7B31F-6347-4DB6-A94D-E64074FD5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1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987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EF22B-2377-48CA-A494-91D1A463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D3AAA-0F4D-4013-A78B-81CC66E17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E65DF-4BA6-4BDB-BDAB-CAF4AC8CF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55DB6-0A75-4BC1-BA88-5DA5EA49DED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FE0AE-1C71-47A6-87B6-EC631B0CD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7D608-03B9-4A69-A0D0-29313D204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B190-202D-466F-A599-CF67DFD9D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9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080FA1F8-B409-4185-B268-1FA680192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60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2.</a:t>
            </a:r>
            <a:fld id="{601E301D-99BB-40F3-B4D6-8A8D8413735E}" type="slidenum">
              <a:rPr 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CC3300"/>
              </a:solidFill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33067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 - 5</a:t>
            </a:r>
            <a:r>
              <a:rPr lang="en-US" sz="1000" b="1" baseline="30000">
                <a:solidFill>
                  <a:srgbClr val="CC3300"/>
                </a:solidFill>
              </a:rPr>
              <a:t>th</a:t>
            </a:r>
            <a:r>
              <a:rPr lang="en-US" sz="1000" b="1">
                <a:solidFill>
                  <a:srgbClr val="CC3300"/>
                </a:solidFill>
              </a:rPr>
              <a:t> Edition, Oct 5, 2006</a:t>
            </a:r>
          </a:p>
        </p:txBody>
      </p:sp>
      <p:sp>
        <p:nvSpPr>
          <p:cNvPr id="5128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129" name="Picture 9" descr="Icon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660400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0" name="Picture 10" descr="PH01266J"/>
          <p:cNvPicPr>
            <a:picLocks noChangeAspect="1" noChangeArrowheads="1"/>
          </p:cNvPicPr>
          <p:nvPr/>
        </p:nvPicPr>
        <p:blipFill>
          <a:blip r:embed="rId14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349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BA7E0144-AED3-4C7C-AEA4-966A4B5628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60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2.</a:t>
            </a:r>
            <a:fld id="{55041B14-0573-43FB-AAF6-914662CFE091}" type="slidenum">
              <a:rPr lang="en-US" sz="1000" b="1" smtClean="0">
                <a:solidFill>
                  <a:schemeClr val="tx2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33067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</a:rPr>
              <a:t>Database System Concepts - 5</a:t>
            </a:r>
            <a:r>
              <a:rPr lang="en-US" sz="1000" b="1" baseline="30000">
                <a:solidFill>
                  <a:schemeClr val="tx2"/>
                </a:solidFill>
              </a:rPr>
              <a:t>th</a:t>
            </a:r>
            <a:r>
              <a:rPr lang="en-US" sz="1000" b="1">
                <a:solidFill>
                  <a:schemeClr val="tx2"/>
                </a:solidFill>
              </a:rPr>
              <a:t> Edition, Oct 5, 2006</a:t>
            </a:r>
          </a:p>
        </p:txBody>
      </p:sp>
      <p:sp>
        <p:nvSpPr>
          <p:cNvPr id="1032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33" name="Picture 9" descr="Icon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660400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 descr="PH01266J"/>
          <p:cNvPicPr>
            <a:picLocks noChangeAspect="1" noChangeArrowheads="1"/>
          </p:cNvPicPr>
          <p:nvPr/>
        </p:nvPicPr>
        <p:blipFill>
          <a:blip r:embed="rId14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128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63738C8E-225D-4D0B-B784-0A71124BC0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60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2.</a:t>
            </a:r>
            <a:fld id="{8B19C06C-BDCB-4DF9-8B20-D3A981E67D78}" type="slidenum">
              <a:rPr 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CC3300"/>
              </a:solidFill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33067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 - 5</a:t>
            </a:r>
            <a:r>
              <a:rPr lang="en-US" sz="1000" b="1" baseline="30000">
                <a:solidFill>
                  <a:srgbClr val="CC3300"/>
                </a:solidFill>
              </a:rPr>
              <a:t>th</a:t>
            </a:r>
            <a:r>
              <a:rPr lang="en-US" sz="1000" b="1">
                <a:solidFill>
                  <a:srgbClr val="CC3300"/>
                </a:solidFill>
              </a:rPr>
              <a:t> Edition, Oct 5, 2006</a:t>
            </a:r>
          </a:p>
        </p:txBody>
      </p:sp>
      <p:sp>
        <p:nvSpPr>
          <p:cNvPr id="4104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105" name="Picture 9" descr="Icon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660400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0" descr="PH01266J"/>
          <p:cNvPicPr>
            <a:picLocks noChangeAspect="1" noChangeArrowheads="1"/>
          </p:cNvPicPr>
          <p:nvPr/>
        </p:nvPicPr>
        <p:blipFill>
          <a:blip r:embed="rId14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708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1719F3C-8541-4A32-80DB-9466AA9DDE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60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2.</a:t>
            </a:r>
            <a:fld id="{8733F06D-F3BE-4472-9992-9364B56DF0AD}" type="slidenum">
              <a:rPr 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CC3300"/>
              </a:solidFill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33067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 - 5</a:t>
            </a:r>
            <a:r>
              <a:rPr lang="en-US" sz="1000" b="1" baseline="30000">
                <a:solidFill>
                  <a:srgbClr val="CC3300"/>
                </a:solidFill>
              </a:rPr>
              <a:t>th</a:t>
            </a:r>
            <a:r>
              <a:rPr lang="en-US" sz="1000" b="1">
                <a:solidFill>
                  <a:srgbClr val="CC3300"/>
                </a:solidFill>
              </a:rPr>
              <a:t> Edition, Oct 5, 2006</a:t>
            </a:r>
          </a:p>
        </p:txBody>
      </p:sp>
      <p:sp>
        <p:nvSpPr>
          <p:cNvPr id="3080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081" name="Picture 9" descr="Icon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660400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2" name="Picture 10" descr="PH01266J"/>
          <p:cNvPicPr>
            <a:picLocks noChangeAspect="1" noChangeArrowheads="1"/>
          </p:cNvPicPr>
          <p:nvPr/>
        </p:nvPicPr>
        <p:blipFill>
          <a:blip r:embed="rId14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708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DDDD"/>
            </a:gs>
            <a:gs pos="100000">
              <a:srgbClr val="F8F8F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66669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2E0274E-462F-4266-B047-6BAFBBF720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©Silberschatz, Korth and Sudarshan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60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2.</a:t>
            </a:r>
            <a:fld id="{69D2AAB0-2D0B-46DB-990A-BBD3B29E1640}" type="slidenum">
              <a:rPr lang="en-US" sz="1000" b="1" smtClean="0">
                <a:solidFill>
                  <a:srgbClr val="CC33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CC3300"/>
              </a:solidFill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33067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CC3300"/>
                </a:solidFill>
              </a:rPr>
              <a:t>Database System Concepts - 5</a:t>
            </a:r>
            <a:r>
              <a:rPr lang="en-US" sz="1000" b="1" baseline="30000">
                <a:solidFill>
                  <a:srgbClr val="CC3300"/>
                </a:solidFill>
              </a:rPr>
              <a:t>th</a:t>
            </a:r>
            <a:r>
              <a:rPr lang="en-US" sz="1000" b="1">
                <a:solidFill>
                  <a:srgbClr val="CC3300"/>
                </a:solidFill>
              </a:rPr>
              <a:t> Edition, Oct 5, 2006</a:t>
            </a:r>
          </a:p>
        </p:txBody>
      </p:sp>
      <p:sp>
        <p:nvSpPr>
          <p:cNvPr id="15368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7 h 61"/>
              <a:gd name="T2" fmla="*/ 2147483647 w 285"/>
              <a:gd name="T3" fmla="*/ 2147483647 h 61"/>
              <a:gd name="T4" fmla="*/ 2147483647 w 285"/>
              <a:gd name="T5" fmla="*/ 2147483647 h 61"/>
              <a:gd name="T6" fmla="*/ 2147483647 w 285"/>
              <a:gd name="T7" fmla="*/ 2147483647 h 61"/>
              <a:gd name="T8" fmla="*/ 2147483647 w 285"/>
              <a:gd name="T9" fmla="*/ 2147483647 h 61"/>
              <a:gd name="T10" fmla="*/ 2147483647 w 285"/>
              <a:gd name="T11" fmla="*/ 2147483647 h 61"/>
              <a:gd name="T12" fmla="*/ 2147483647 w 285"/>
              <a:gd name="T13" fmla="*/ 2147483647 h 61"/>
              <a:gd name="T14" fmla="*/ 2147483647 w 285"/>
              <a:gd name="T15" fmla="*/ 2147483647 h 61"/>
              <a:gd name="T16" fmla="*/ 2147483647 w 285"/>
              <a:gd name="T17" fmla="*/ 0 h 61"/>
              <a:gd name="T18" fmla="*/ 2147483647 w 285"/>
              <a:gd name="T19" fmla="*/ 0 h 61"/>
              <a:gd name="T20" fmla="*/ 2147483647 w 285"/>
              <a:gd name="T21" fmla="*/ 0 h 61"/>
              <a:gd name="T22" fmla="*/ 2147483647 w 285"/>
              <a:gd name="T23" fmla="*/ 0 h 61"/>
              <a:gd name="T24" fmla="*/ 2147483647 w 285"/>
              <a:gd name="T25" fmla="*/ 2147483647 h 61"/>
              <a:gd name="T26" fmla="*/ 2147483647 w 285"/>
              <a:gd name="T27" fmla="*/ 2147483647 h 61"/>
              <a:gd name="T28" fmla="*/ 2147483647 w 285"/>
              <a:gd name="T29" fmla="*/ 2147483647 h 61"/>
              <a:gd name="T30" fmla="*/ 2147483647 w 285"/>
              <a:gd name="T31" fmla="*/ 2147483647 h 61"/>
              <a:gd name="T32" fmla="*/ 2147483647 w 285"/>
              <a:gd name="T33" fmla="*/ 2147483647 h 61"/>
              <a:gd name="T34" fmla="*/ 2147483647 w 285"/>
              <a:gd name="T35" fmla="*/ 2147483647 h 61"/>
              <a:gd name="T36" fmla="*/ 2147483647 w 285"/>
              <a:gd name="T37" fmla="*/ 2147483647 h 61"/>
              <a:gd name="T38" fmla="*/ 2147483647 w 285"/>
              <a:gd name="T39" fmla="*/ 2147483647 h 61"/>
              <a:gd name="T40" fmla="*/ 2147483647 w 285"/>
              <a:gd name="T41" fmla="*/ 2147483647 h 61"/>
              <a:gd name="T42" fmla="*/ 2147483647 w 285"/>
              <a:gd name="T43" fmla="*/ 2147483647 h 61"/>
              <a:gd name="T44" fmla="*/ 2147483647 w 285"/>
              <a:gd name="T45" fmla="*/ 2147483647 h 61"/>
              <a:gd name="T46" fmla="*/ 2147483647 w 285"/>
              <a:gd name="T47" fmla="*/ 2147483647 h 61"/>
              <a:gd name="T48" fmla="*/ 2147483647 w 285"/>
              <a:gd name="T49" fmla="*/ 2147483647 h 61"/>
              <a:gd name="T50" fmla="*/ 2147483647 w 285"/>
              <a:gd name="T51" fmla="*/ 2147483647 h 61"/>
              <a:gd name="T52" fmla="*/ 2147483647 w 285"/>
              <a:gd name="T53" fmla="*/ 2147483647 h 61"/>
              <a:gd name="T54" fmla="*/ 2147483647 w 285"/>
              <a:gd name="T55" fmla="*/ 2147483647 h 61"/>
              <a:gd name="T56" fmla="*/ 2147483647 w 285"/>
              <a:gd name="T57" fmla="*/ 2147483647 h 61"/>
              <a:gd name="T58" fmla="*/ 2147483647 w 285"/>
              <a:gd name="T59" fmla="*/ 2147483647 h 61"/>
              <a:gd name="T60" fmla="*/ 2147483647 w 285"/>
              <a:gd name="T61" fmla="*/ 2147483647 h 61"/>
              <a:gd name="T62" fmla="*/ 2147483647 w 285"/>
              <a:gd name="T63" fmla="*/ 2147483647 h 61"/>
              <a:gd name="T64" fmla="*/ 2147483647 w 285"/>
              <a:gd name="T65" fmla="*/ 2147483647 h 61"/>
              <a:gd name="T66" fmla="*/ 2147483647 w 285"/>
              <a:gd name="T67" fmla="*/ 2147483647 h 61"/>
              <a:gd name="T68" fmla="*/ 2147483647 w 285"/>
              <a:gd name="T69" fmla="*/ 2147483647 h 61"/>
              <a:gd name="T70" fmla="*/ 2147483647 w 285"/>
              <a:gd name="T71" fmla="*/ 2147483647 h 61"/>
              <a:gd name="T72" fmla="*/ 2147483647 w 285"/>
              <a:gd name="T73" fmla="*/ 2147483647 h 61"/>
              <a:gd name="T74" fmla="*/ 2147483647 w 285"/>
              <a:gd name="T75" fmla="*/ 2147483647 h 61"/>
              <a:gd name="T76" fmla="*/ 2147483647 w 285"/>
              <a:gd name="T77" fmla="*/ 2147483647 h 61"/>
              <a:gd name="T78" fmla="*/ 2147483647 w 285"/>
              <a:gd name="T79" fmla="*/ 2147483647 h 61"/>
              <a:gd name="T80" fmla="*/ 2147483647 w 285"/>
              <a:gd name="T81" fmla="*/ 2147483647 h 61"/>
              <a:gd name="T82" fmla="*/ 2147483647 w 285"/>
              <a:gd name="T83" fmla="*/ 2147483647 h 61"/>
              <a:gd name="T84" fmla="*/ 2147483647 w 285"/>
              <a:gd name="T85" fmla="*/ 2147483647 h 61"/>
              <a:gd name="T86" fmla="*/ 2147483647 w 285"/>
              <a:gd name="T87" fmla="*/ 2147483647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5369" name="Picture 9" descr="Icon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660400" cy="87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0" descr="PH01266J"/>
          <p:cNvPicPr>
            <a:picLocks noChangeAspect="1" noChangeArrowheads="1"/>
          </p:cNvPicPr>
          <p:nvPr/>
        </p:nvPicPr>
        <p:blipFill>
          <a:blip r:embed="rId14"/>
          <a:srcRect b="26144"/>
          <a:stretch>
            <a:fillRect/>
          </a:stretch>
        </p:blipFill>
        <p:spPr bwMode="auto">
          <a:xfrm>
            <a:off x="8528050" y="6053138"/>
            <a:ext cx="6159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864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6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Examples of SQL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73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" y="228600"/>
            <a:ext cx="8001000" cy="6072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F186DF-8EC8-4EFA-9B7F-525446244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05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0D804D-69D3-4D31-9F8B-5119CED4AF54}"/>
              </a:ext>
            </a:extLst>
          </p:cNvPr>
          <p:cNvSpPr txBox="1"/>
          <p:nvPr/>
        </p:nvSpPr>
        <p:spPr>
          <a:xfrm>
            <a:off x="663677" y="2598003"/>
            <a:ext cx="8458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Projection (π) → picks columns.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Selection (σ) → picks rows (tuples) based on conditions</a:t>
            </a:r>
          </a:p>
        </p:txBody>
      </p:sp>
    </p:spTree>
    <p:extLst>
      <p:ext uri="{BB962C8B-B14F-4D97-AF65-F5344CB8AC3E}">
        <p14:creationId xmlns:p14="http://schemas.microsoft.com/office/powerpoint/2010/main" val="427682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Box 1"/>
          <p:cNvSpPr txBox="1">
            <a:spLocks noChangeArrowheads="1"/>
          </p:cNvSpPr>
          <p:nvPr/>
        </p:nvSpPr>
        <p:spPr bwMode="auto">
          <a:xfrm>
            <a:off x="1981200" y="381000"/>
            <a:ext cx="5197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Select and Project Operation </a:t>
            </a:r>
          </a:p>
        </p:txBody>
      </p:sp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762000" y="1143000"/>
            <a:ext cx="76200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SELECT (σ)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The SELECT operation is used for selecting 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subset of the tuples (Horizontal subset ?)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according to a given selection condition.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Select operator selects tuples that satisfy a given predicate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Projection(π)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The projection eliminates all attributes of the input relation but those mentioned in the projection list. The projection method defines a relation that contains values for a list all attributes (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vertical subset ?) of Relation.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. 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2514600" y="6357938"/>
            <a:ext cx="64770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Source: https://www.guru99.com/relational-algebra-dbms.html#2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66800" y="960438"/>
          <a:ext cx="6894515" cy="1981200"/>
        </p:xfrm>
        <a:graphic>
          <a:graphicData uri="http://schemas.openxmlformats.org/drawingml/2006/table">
            <a:tbl>
              <a:tblPr/>
              <a:tblGrid>
                <a:gridCol w="1378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Department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Fees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Team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Bikash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Josh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CSE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Kevin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ECE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Ben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ECE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56000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4792" name="Rectangle 2"/>
          <p:cNvSpPr>
            <a:spLocks noChangeArrowheads="1"/>
          </p:cNvSpPr>
          <p:nvPr/>
        </p:nvSpPr>
        <p:spPr bwMode="auto">
          <a:xfrm>
            <a:off x="1312863" y="3294063"/>
            <a:ext cx="3883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Select all the student of Team A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:</a:t>
            </a:r>
          </a:p>
        </p:txBody>
      </p:sp>
      <p:sp>
        <p:nvSpPr>
          <p:cNvPr id="74793" name="Rectangle 3"/>
          <p:cNvSpPr>
            <a:spLocks noChangeArrowheads="1"/>
          </p:cNvSpPr>
          <p:nvPr/>
        </p:nvSpPr>
        <p:spPr bwMode="auto">
          <a:xfrm>
            <a:off x="5410200" y="3324225"/>
            <a:ext cx="22637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σ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 </a:t>
            </a:r>
            <a:r>
              <a:rPr kumimoji="0" lang="en-US" sz="1800" b="0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Team = 'A'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 (Student)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 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160838"/>
          <a:ext cx="6894515" cy="1097010"/>
        </p:xfrm>
        <a:graphic>
          <a:graphicData uri="http://schemas.openxmlformats.org/drawingml/2006/table">
            <a:tbl>
              <a:tblPr/>
              <a:tblGrid>
                <a:gridCol w="1378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Roll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Name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Department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Fees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Team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Bikash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CSE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22000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Josh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CSE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34000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820" name="Group 5"/>
          <p:cNvGrpSpPr>
            <a:grpSpLocks/>
          </p:cNvGrpSpPr>
          <p:nvPr/>
        </p:nvGrpSpPr>
        <p:grpSpPr bwMode="auto">
          <a:xfrm>
            <a:off x="76200" y="2179638"/>
            <a:ext cx="8763000" cy="2667000"/>
            <a:chOff x="152400" y="1828800"/>
            <a:chExt cx="8763000" cy="2667000"/>
          </a:xfrm>
        </p:grpSpPr>
        <p:sp>
          <p:nvSpPr>
            <p:cNvPr id="74821" name="Curved Right Arrow 3"/>
            <p:cNvSpPr>
              <a:spLocks noChangeArrowheads="1"/>
            </p:cNvSpPr>
            <p:nvPr/>
          </p:nvSpPr>
          <p:spPr bwMode="auto">
            <a:xfrm>
              <a:off x="152400" y="1828800"/>
              <a:ext cx="914400" cy="1636438"/>
            </a:xfrm>
            <a:prstGeom prst="curvedRightArrow">
              <a:avLst>
                <a:gd name="adj1" fmla="val 24997"/>
                <a:gd name="adj2" fmla="val 50002"/>
                <a:gd name="adj3" fmla="val 25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74822" name="Curved Left Arrow 4"/>
            <p:cNvSpPr>
              <a:spLocks noChangeArrowheads="1"/>
            </p:cNvSpPr>
            <p:nvPr/>
          </p:nvSpPr>
          <p:spPr bwMode="auto">
            <a:xfrm>
              <a:off x="8153400" y="2942869"/>
              <a:ext cx="762000" cy="1552931"/>
            </a:xfrm>
            <a:prstGeom prst="curvedLeftArrow">
              <a:avLst>
                <a:gd name="adj1" fmla="val 24993"/>
                <a:gd name="adj2" fmla="val 49996"/>
                <a:gd name="adj3" fmla="val 25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43000" y="655638"/>
          <a:ext cx="6894515" cy="1981200"/>
        </p:xfrm>
        <a:graphic>
          <a:graphicData uri="http://schemas.openxmlformats.org/drawingml/2006/table">
            <a:tbl>
              <a:tblPr/>
              <a:tblGrid>
                <a:gridCol w="1378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Department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Fees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Team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Bikash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Josh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CSE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Kevin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ECE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Ben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ECE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56000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816" name="Rectangle 8"/>
          <p:cNvSpPr>
            <a:spLocks noChangeArrowheads="1"/>
          </p:cNvSpPr>
          <p:nvPr/>
        </p:nvSpPr>
        <p:spPr bwMode="auto">
          <a:xfrm>
            <a:off x="1295400" y="3017838"/>
            <a:ext cx="6324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Select all the students of department ECE whose fees is greater then equal to 10000 and belongs to Team other than A.</a:t>
            </a:r>
          </a:p>
        </p:txBody>
      </p:sp>
      <p:sp>
        <p:nvSpPr>
          <p:cNvPr id="75817" name="Rectangle 4"/>
          <p:cNvSpPr>
            <a:spLocks noChangeArrowheads="1"/>
          </p:cNvSpPr>
          <p:nvPr/>
        </p:nvSpPr>
        <p:spPr bwMode="auto">
          <a:xfrm>
            <a:off x="3429000" y="3740150"/>
            <a:ext cx="3886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σ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 </a:t>
            </a:r>
            <a:r>
              <a:rPr kumimoji="0" lang="en-US" sz="2000" b="0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Fees &gt;= 10000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(σ</a:t>
            </a:r>
            <a:r>
              <a:rPr kumimoji="0" lang="en-US" sz="2000" b="0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Class != 'A'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 (Student))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 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75844" name="Curved Right Arrow 11"/>
          <p:cNvSpPr>
            <a:spLocks noChangeArrowheads="1"/>
          </p:cNvSpPr>
          <p:nvPr/>
        </p:nvSpPr>
        <p:spPr bwMode="auto">
          <a:xfrm>
            <a:off x="76200" y="2230438"/>
            <a:ext cx="914400" cy="1371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75845" name="Curved Left Arrow 12"/>
          <p:cNvSpPr>
            <a:spLocks noChangeArrowheads="1"/>
          </p:cNvSpPr>
          <p:nvPr/>
        </p:nvSpPr>
        <p:spPr bwMode="auto">
          <a:xfrm>
            <a:off x="8077200" y="3602038"/>
            <a:ext cx="914400" cy="1778000"/>
          </a:xfrm>
          <a:prstGeom prst="curvedLeftArrow">
            <a:avLst>
              <a:gd name="adj1" fmla="val 25008"/>
              <a:gd name="adj2" fmla="val 5001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4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43000" y="655638"/>
          <a:ext cx="6894515" cy="1981200"/>
        </p:xfrm>
        <a:graphic>
          <a:graphicData uri="http://schemas.openxmlformats.org/drawingml/2006/table">
            <a:tbl>
              <a:tblPr/>
              <a:tblGrid>
                <a:gridCol w="1378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Department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Fees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Bikash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Josh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CSE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Kevin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ECE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Ben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ECE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56000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marL="91432" marR="91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816" name="Rectangle 8"/>
          <p:cNvSpPr>
            <a:spLocks noChangeArrowheads="1"/>
          </p:cNvSpPr>
          <p:nvPr/>
        </p:nvSpPr>
        <p:spPr bwMode="auto">
          <a:xfrm>
            <a:off x="1295400" y="3017838"/>
            <a:ext cx="6324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Select all the students of department ECE whose fees is greater then equal to 10000 and belongs to Team other than A.</a:t>
            </a:r>
          </a:p>
        </p:txBody>
      </p:sp>
      <p:sp>
        <p:nvSpPr>
          <p:cNvPr id="75817" name="Rectangle 4"/>
          <p:cNvSpPr>
            <a:spLocks noChangeArrowheads="1"/>
          </p:cNvSpPr>
          <p:nvPr/>
        </p:nvSpPr>
        <p:spPr bwMode="auto">
          <a:xfrm>
            <a:off x="3429000" y="3740150"/>
            <a:ext cx="3886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σ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 </a:t>
            </a:r>
            <a:r>
              <a:rPr kumimoji="0" lang="en-US" sz="2000" b="0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Fees &gt;= 10000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(σ</a:t>
            </a:r>
            <a:r>
              <a:rPr kumimoji="0" lang="en-US" sz="2000" b="0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Class != 'A'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 (Student))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 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3000" y="4618038"/>
          <a:ext cx="6894515" cy="1097010"/>
        </p:xfrm>
        <a:graphic>
          <a:graphicData uri="http://schemas.openxmlformats.org/drawingml/2006/table">
            <a:tbl>
              <a:tblPr/>
              <a:tblGrid>
                <a:gridCol w="1378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8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Roll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Fees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Team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Kevin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ECE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36000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Ben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ECE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56000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32" marR="91432" marT="45675" marB="45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844" name="Curved Right Arrow 11"/>
          <p:cNvSpPr>
            <a:spLocks noChangeArrowheads="1"/>
          </p:cNvSpPr>
          <p:nvPr/>
        </p:nvSpPr>
        <p:spPr bwMode="auto">
          <a:xfrm>
            <a:off x="76200" y="2230438"/>
            <a:ext cx="914400" cy="1371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75845" name="Curved Left Arrow 12"/>
          <p:cNvSpPr>
            <a:spLocks noChangeArrowheads="1"/>
          </p:cNvSpPr>
          <p:nvPr/>
        </p:nvSpPr>
        <p:spPr bwMode="auto">
          <a:xfrm>
            <a:off x="8077200" y="3602038"/>
            <a:ext cx="914400" cy="1778000"/>
          </a:xfrm>
          <a:prstGeom prst="curvedLeftArrow">
            <a:avLst>
              <a:gd name="adj1" fmla="val 25008"/>
              <a:gd name="adj2" fmla="val 5001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52600" y="457200"/>
          <a:ext cx="5562600" cy="199707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5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CustomerID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CustomerName</a:t>
                      </a:r>
                      <a:r>
                        <a:rPr lang="en-US" sz="1800"/>
                        <a:t>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Status</a:t>
                      </a:r>
                      <a:r>
                        <a:rPr lang="en-US" sz="1800"/>
                        <a:t>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76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Google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Amazon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76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Apple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76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Alibaba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Active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852" name="Rectangle 1"/>
          <p:cNvSpPr>
            <a:spLocks noChangeArrowheads="1"/>
          </p:cNvSpPr>
          <p:nvPr/>
        </p:nvSpPr>
        <p:spPr bwMode="auto">
          <a:xfrm>
            <a:off x="2133600" y="3043238"/>
            <a:ext cx="4435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Π </a:t>
            </a:r>
            <a:r>
              <a:rPr kumimoji="0" lang="en-US" sz="2400" b="0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CustomerName, Status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8"/>
                <a:ea typeface="+mn-ea"/>
                <a:cs typeface="Arial" pitchFamily="34" charset="0"/>
              </a:rPr>
              <a:t>(Customers)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 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1238" y="3840163"/>
          <a:ext cx="4495800" cy="19208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5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CustomerName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Status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Google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Amazon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1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Apple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1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Alibaba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Active 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873" name="Curved Right Arrow 5"/>
          <p:cNvSpPr>
            <a:spLocks noChangeArrowheads="1"/>
          </p:cNvSpPr>
          <p:nvPr/>
        </p:nvSpPr>
        <p:spPr bwMode="auto">
          <a:xfrm>
            <a:off x="762000" y="1905000"/>
            <a:ext cx="990600" cy="1600200"/>
          </a:xfrm>
          <a:prstGeom prst="curvedRightArrow">
            <a:avLst>
              <a:gd name="adj1" fmla="val 24994"/>
              <a:gd name="adj2" fmla="val 50002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77874" name="Curved Left Arrow 6"/>
          <p:cNvSpPr>
            <a:spLocks noChangeArrowheads="1"/>
          </p:cNvSpPr>
          <p:nvPr/>
        </p:nvSpPr>
        <p:spPr bwMode="auto">
          <a:xfrm>
            <a:off x="7086600" y="3125788"/>
            <a:ext cx="1295400" cy="1674812"/>
          </a:xfrm>
          <a:prstGeom prst="curvedLeftArrow">
            <a:avLst>
              <a:gd name="adj1" fmla="val 25014"/>
              <a:gd name="adj2" fmla="val 50022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77875" name="TextBox 7"/>
          <p:cNvSpPr txBox="1">
            <a:spLocks noChangeArrowheads="1"/>
          </p:cNvSpPr>
          <p:nvPr/>
        </p:nvSpPr>
        <p:spPr bwMode="auto">
          <a:xfrm>
            <a:off x="5184775" y="6459538"/>
            <a:ext cx="38036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Source: https://www.geeksforgeeks.org/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095AB3-643E-4E0D-8963-60AAE8EA58B2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5334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1928666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1818372649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184305645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3238561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54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10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0596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1005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052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AB5FDA-E44D-4FD9-B808-D9B204B7B3C2}"/>
              </a:ext>
            </a:extLst>
          </p:cNvPr>
          <p:cNvSpPr txBox="1"/>
          <p:nvPr/>
        </p:nvSpPr>
        <p:spPr>
          <a:xfrm>
            <a:off x="2286000" y="31981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Name FROM Students;</a:t>
            </a:r>
          </a:p>
        </p:txBody>
      </p:sp>
    </p:spTree>
    <p:extLst>
      <p:ext uri="{BB962C8B-B14F-4D97-AF65-F5344CB8AC3E}">
        <p14:creationId xmlns:p14="http://schemas.microsoft.com/office/powerpoint/2010/main" val="98818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095AB3-643E-4E0D-8963-60AAE8EA58B2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5334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1928666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1818372649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184305645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3238561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54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10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0596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1005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052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AB5FDA-E44D-4FD9-B808-D9B204B7B3C2}"/>
              </a:ext>
            </a:extLst>
          </p:cNvPr>
          <p:cNvSpPr txBox="1"/>
          <p:nvPr/>
        </p:nvSpPr>
        <p:spPr>
          <a:xfrm>
            <a:off x="2286000" y="31981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Name FROM Students;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7CAE1C-45DF-4F37-99C0-1FE327B3D6FF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4267200"/>
          <a:ext cx="7661275" cy="1828800"/>
        </p:xfrm>
        <a:graphic>
          <a:graphicData uri="http://schemas.openxmlformats.org/drawingml/2006/table">
            <a:tbl>
              <a:tblPr/>
              <a:tblGrid>
                <a:gridCol w="7661275">
                  <a:extLst>
                    <a:ext uri="{9D8B030D-6E8A-4147-A177-3AD203B41FA5}">
                      <a16:colId xmlns:a16="http://schemas.microsoft.com/office/drawing/2014/main" val="3194768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602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5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6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670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21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435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095AB3-643E-4E0D-8963-60AAE8EA58B2}"/>
              </a:ext>
            </a:extLst>
          </p:cNvPr>
          <p:cNvGraphicFramePr>
            <a:graphicFrameLocks noGrp="1"/>
          </p:cNvGraphicFramePr>
          <p:nvPr/>
        </p:nvGraphicFramePr>
        <p:xfrm>
          <a:off x="741362" y="3810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1928666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1818372649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184305645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3238561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54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10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0596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1005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052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421080D-68B1-4C17-BC63-F42929B2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08" y="3105884"/>
            <a:ext cx="7754784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22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095AB3-643E-4E0D-8963-60AAE8EA58B2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5334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1928666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1818372649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184305645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3238561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54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10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0596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1005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052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57DA5D-94F0-4B33-BA25-816E3826377A}"/>
              </a:ext>
            </a:extLst>
          </p:cNvPr>
          <p:cNvSpPr txBox="1"/>
          <p:nvPr/>
        </p:nvSpPr>
        <p:spPr>
          <a:xfrm>
            <a:off x="914400" y="2967335"/>
            <a:ext cx="7661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Name, Department FROM Students;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01DB80-2649-48CA-AA19-CD187D3E8CE2}"/>
              </a:ext>
            </a:extLst>
          </p:cNvPr>
          <p:cNvGraphicFramePr>
            <a:graphicFrameLocks noGrp="1"/>
          </p:cNvGraphicFramePr>
          <p:nvPr/>
        </p:nvGraphicFramePr>
        <p:xfrm>
          <a:off x="924234" y="4191000"/>
          <a:ext cx="7661274" cy="1828800"/>
        </p:xfrm>
        <a:graphic>
          <a:graphicData uri="http://schemas.openxmlformats.org/drawingml/2006/table">
            <a:tbl>
              <a:tblPr/>
              <a:tblGrid>
                <a:gridCol w="3830637">
                  <a:extLst>
                    <a:ext uri="{9D8B030D-6E8A-4147-A177-3AD203B41FA5}">
                      <a16:colId xmlns:a16="http://schemas.microsoft.com/office/drawing/2014/main" val="446089836"/>
                    </a:ext>
                  </a:extLst>
                </a:gridCol>
                <a:gridCol w="3830637">
                  <a:extLst>
                    <a:ext uri="{9D8B030D-6E8A-4147-A177-3AD203B41FA5}">
                      <a16:colId xmlns:a16="http://schemas.microsoft.com/office/drawing/2014/main" val="1350914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3397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6799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831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55911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971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04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D479BC-D254-4549-AB61-B8D1F3ED2E97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6858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204543618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0393252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292859406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6455864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1912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814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0292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645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8908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64F870-3EEA-4B56-8BC7-CE80E36576C5}"/>
              </a:ext>
            </a:extLst>
          </p:cNvPr>
          <p:cNvSpPr txBox="1"/>
          <p:nvPr/>
        </p:nvSpPr>
        <p:spPr>
          <a:xfrm>
            <a:off x="685800" y="3150446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*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FROM Students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WHERE Department = 'CSE';</a:t>
            </a:r>
          </a:p>
        </p:txBody>
      </p:sp>
    </p:spTree>
    <p:extLst>
      <p:ext uri="{BB962C8B-B14F-4D97-AF65-F5344CB8AC3E}">
        <p14:creationId xmlns:p14="http://schemas.microsoft.com/office/powerpoint/2010/main" val="2527733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D479BC-D254-4549-AB61-B8D1F3ED2E97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6858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204543618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0393252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292859406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6455864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01912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9814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902929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5645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8908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64F870-3EEA-4B56-8BC7-CE80E36576C5}"/>
              </a:ext>
            </a:extLst>
          </p:cNvPr>
          <p:cNvSpPr txBox="1"/>
          <p:nvPr/>
        </p:nvSpPr>
        <p:spPr>
          <a:xfrm>
            <a:off x="685800" y="3429000"/>
            <a:ext cx="8458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* FROM Students WHERE Department = 'CSE';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5E1315-57E3-43F4-B6D5-42FA860F2CB0}"/>
              </a:ext>
            </a:extLst>
          </p:cNvPr>
          <p:cNvGraphicFramePr>
            <a:graphicFrameLocks noGrp="1"/>
          </p:cNvGraphicFramePr>
          <p:nvPr/>
        </p:nvGraphicFramePr>
        <p:xfrm>
          <a:off x="741362" y="4648200"/>
          <a:ext cx="7661276" cy="109728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678215500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070247024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115137534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5907225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 err="1"/>
                        <a:t>StudentID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5579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57798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629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675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D479BC-D254-4549-AB61-B8D1F3ED2E97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685800"/>
          <a:ext cx="7661276" cy="18288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204543618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4039325293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292859406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64558642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01912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98140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90292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5645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8908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8FB3D8-0279-4E1C-80B4-327B0201E7EC}"/>
              </a:ext>
            </a:extLst>
          </p:cNvPr>
          <p:cNvSpPr txBox="1"/>
          <p:nvPr/>
        </p:nvSpPr>
        <p:spPr>
          <a:xfrm>
            <a:off x="723900" y="2971800"/>
            <a:ext cx="81946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*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FROM Students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WHERE GPA &gt; 3.6;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55CDD1-A185-4219-9328-8A62B6C9CD00}"/>
              </a:ext>
            </a:extLst>
          </p:cNvPr>
          <p:cNvGraphicFramePr>
            <a:graphicFrameLocks noGrp="1"/>
          </p:cNvGraphicFramePr>
          <p:nvPr/>
        </p:nvGraphicFramePr>
        <p:xfrm>
          <a:off x="750939" y="4876800"/>
          <a:ext cx="7661276" cy="1295400"/>
        </p:xfrm>
        <a:graphic>
          <a:graphicData uri="http://schemas.openxmlformats.org/drawingml/2006/table">
            <a:tbl>
              <a:tblPr/>
              <a:tblGrid>
                <a:gridCol w="1915319">
                  <a:extLst>
                    <a:ext uri="{9D8B030D-6E8A-4147-A177-3AD203B41FA5}">
                      <a16:colId xmlns:a16="http://schemas.microsoft.com/office/drawing/2014/main" val="1930125499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706816246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2032920398"/>
                    </a:ext>
                  </a:extLst>
                </a:gridCol>
                <a:gridCol w="1915319">
                  <a:extLst>
                    <a:ext uri="{9D8B030D-6E8A-4147-A177-3AD203B41FA5}">
                      <a16:colId xmlns:a16="http://schemas.microsoft.com/office/drawing/2014/main" val="357235353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 err="1"/>
                        <a:t>StudentID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121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42133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Charlie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2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292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20B2-BFB1-4367-B7D9-8302EF97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Operations on Tables</a:t>
            </a:r>
          </a:p>
        </p:txBody>
      </p:sp>
    </p:spTree>
    <p:extLst>
      <p:ext uri="{BB962C8B-B14F-4D97-AF65-F5344CB8AC3E}">
        <p14:creationId xmlns:p14="http://schemas.microsoft.com/office/powerpoint/2010/main" val="4170065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E113D2-4B17-4869-B3EF-88468E7CB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685800"/>
            <a:ext cx="5486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DELETE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 table (can use WHERE clause).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deleted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structure remains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(Data Manipulation Language) command.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rolled back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(if within a transaction).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 than TRUNCATE (removes row by row).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E00BA-CF9D-40E1-9E76-941190EDAF1B}"/>
              </a:ext>
            </a:extLst>
          </p:cNvPr>
          <p:cNvSpPr txBox="1"/>
          <p:nvPr/>
        </p:nvSpPr>
        <p:spPr>
          <a:xfrm>
            <a:off x="838200" y="3352800"/>
            <a:ext cx="800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DELETE FROM Students WHERE City = 'Dhaka';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27579-2431-4776-A850-1AAAFEF1C206}"/>
              </a:ext>
            </a:extLst>
          </p:cNvPr>
          <p:cNvSpPr txBox="1"/>
          <p:nvPr/>
        </p:nvSpPr>
        <p:spPr>
          <a:xfrm>
            <a:off x="856343" y="4724400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Removes only rows where City = ‘</a:t>
            </a:r>
            <a:r>
              <a:rPr lang="en-US" dirty="0" err="1"/>
              <a:t>Dhaka’.Table</a:t>
            </a:r>
            <a:r>
              <a:rPr lang="en-US" dirty="0"/>
              <a:t> Students still exists, with other rows intact</a:t>
            </a:r>
          </a:p>
        </p:txBody>
      </p:sp>
    </p:spTree>
    <p:extLst>
      <p:ext uri="{BB962C8B-B14F-4D97-AF65-F5344CB8AC3E}">
        <p14:creationId xmlns:p14="http://schemas.microsoft.com/office/powerpoint/2010/main" val="1963832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06F1D1-7D6F-4084-A3AE-8970D9487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85800"/>
            <a:ext cx="74676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TRUNCATE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rows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 table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WHERE clause allowed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structure remains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you can still insert data later.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Definition Language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command.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delete specific rows.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than DELETE (does not log individual row deletions).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usually be rolled back (depends on DBMS, but in SQL Server/Oracle it’s not reversible once executed outside a transaction)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747B5-2694-4CF5-A87B-76D9764129F7}"/>
              </a:ext>
            </a:extLst>
          </p:cNvPr>
          <p:cNvSpPr txBox="1"/>
          <p:nvPr/>
        </p:nvSpPr>
        <p:spPr>
          <a:xfrm>
            <a:off x="2286000" y="31981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TRUNCATE TABLE Students;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7FC385-8E88-42AE-B878-0D93FBC10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14800"/>
            <a:ext cx="642195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rows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Students still exists, but it’s now empty.</a:t>
            </a:r>
          </a:p>
        </p:txBody>
      </p:sp>
    </p:spTree>
    <p:extLst>
      <p:ext uri="{BB962C8B-B14F-4D97-AF65-F5344CB8AC3E}">
        <p14:creationId xmlns:p14="http://schemas.microsoft.com/office/powerpoint/2010/main" val="114545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BFAE43-0DC0-4D7F-95B1-CC66405AF856}"/>
              </a:ext>
            </a:extLst>
          </p:cNvPr>
          <p:cNvSpPr txBox="1"/>
          <p:nvPr/>
        </p:nvSpPr>
        <p:spPr>
          <a:xfrm>
            <a:off x="495300" y="381000"/>
            <a:ext cx="8610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DROP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Removes the </a:t>
            </a:r>
            <a:r>
              <a:rPr lang="en-US" b="1" dirty="0"/>
              <a:t>entire table</a:t>
            </a:r>
            <a:r>
              <a:rPr lang="en-US" dirty="0"/>
              <a:t> (structure +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</a:t>
            </a:r>
            <a:r>
              <a:rPr lang="en-US" b="1" dirty="0"/>
              <a:t>DDL</a:t>
            </a:r>
            <a:r>
              <a:rPr lang="en-US" dirty="0"/>
              <a:t> command.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Once dropped, the table is gone permanently (unless restored from backup).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rolled back (outside of transactional support).</a:t>
            </a:r>
          </a:p>
          <a:p>
            <a:r>
              <a:rPr lang="en-US" b="1" dirty="0"/>
              <a:t>Example: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34600-7FCC-4E11-B8EF-34324BF3C27E}"/>
              </a:ext>
            </a:extLst>
          </p:cNvPr>
          <p:cNvSpPr txBox="1"/>
          <p:nvPr/>
        </p:nvSpPr>
        <p:spPr>
          <a:xfrm>
            <a:off x="2122590" y="376124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DROP TABLE Students;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150369-0947-4E93-82A5-9B1C539E4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385103"/>
            <a:ext cx="835998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table Students is completely deleted (data + structure).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cannot insert into it anymore unless you recreate it.</a:t>
            </a:r>
          </a:p>
        </p:txBody>
      </p:sp>
    </p:spTree>
    <p:extLst>
      <p:ext uri="{BB962C8B-B14F-4D97-AF65-F5344CB8AC3E}">
        <p14:creationId xmlns:p14="http://schemas.microsoft.com/office/powerpoint/2010/main" val="957370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FB3A1B-0322-443A-B197-1D566F39F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A18BE4-E266-4165-9E13-ECF523E7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116137"/>
            <a:ext cx="5391150" cy="1325563"/>
          </a:xfrm>
        </p:spPr>
        <p:txBody>
          <a:bodyPr/>
          <a:lstStyle/>
          <a:p>
            <a:r>
              <a:rPr lang="en-US" sz="4800" dirty="0"/>
              <a:t>Set Operation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34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3"/>
          <p:cNvPicPr>
            <a:picLocks noChangeAspect="1" noChangeArrowheads="1"/>
          </p:cNvPicPr>
          <p:nvPr/>
        </p:nvPicPr>
        <p:blipFill>
          <a:blip r:embed="rId2"/>
          <a:srcRect l="6123" t="1021" r="6122" b="766"/>
          <a:stretch>
            <a:fillRect/>
          </a:stretch>
        </p:blipFill>
        <p:spPr bwMode="auto">
          <a:xfrm>
            <a:off x="387350" y="2927350"/>
            <a:ext cx="2203450" cy="1849438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" y="2438400"/>
            <a:ext cx="229552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borrower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 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2164" name="Picture 3"/>
          <p:cNvPicPr>
            <a:picLocks noChangeAspect="1" noChangeArrowheads="1"/>
          </p:cNvPicPr>
          <p:nvPr/>
        </p:nvPicPr>
        <p:blipFill>
          <a:blip r:embed="rId3"/>
          <a:srcRect l="2252" t="7622" r="2599" b="6929"/>
          <a:stretch>
            <a:fillRect/>
          </a:stretch>
        </p:blipFill>
        <p:spPr bwMode="auto">
          <a:xfrm>
            <a:off x="6202795" y="2949432"/>
            <a:ext cx="2593975" cy="17478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045633" y="2320060"/>
            <a:ext cx="2751137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depositor 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21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52400"/>
            <a:ext cx="70929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67" name="Picture 3"/>
          <p:cNvPicPr>
            <a:picLocks noChangeAspect="1" noChangeArrowheads="1"/>
          </p:cNvPicPr>
          <p:nvPr/>
        </p:nvPicPr>
        <p:blipFill>
          <a:blip r:embed="rId5"/>
          <a:srcRect l="3345" t="2817" r="3697" b="2582"/>
          <a:stretch>
            <a:fillRect/>
          </a:stretch>
        </p:blipFill>
        <p:spPr bwMode="auto">
          <a:xfrm>
            <a:off x="3211513" y="2949432"/>
            <a:ext cx="2498725" cy="190658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211513" y="2392941"/>
            <a:ext cx="239712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customer 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3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3"/>
          <p:cNvPicPr>
            <a:picLocks noChangeAspect="1" noChangeArrowheads="1"/>
          </p:cNvPicPr>
          <p:nvPr/>
        </p:nvPicPr>
        <p:blipFill>
          <a:blip r:embed="rId2"/>
          <a:srcRect l="6123" t="1021" r="6122" b="766"/>
          <a:stretch>
            <a:fillRect/>
          </a:stretch>
        </p:blipFill>
        <p:spPr bwMode="auto">
          <a:xfrm>
            <a:off x="387350" y="2927350"/>
            <a:ext cx="2203450" cy="1849438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" y="2438400"/>
            <a:ext cx="229552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borrower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 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2164" name="Picture 3"/>
          <p:cNvPicPr>
            <a:picLocks noChangeAspect="1" noChangeArrowheads="1"/>
          </p:cNvPicPr>
          <p:nvPr/>
        </p:nvPicPr>
        <p:blipFill>
          <a:blip r:embed="rId3"/>
          <a:srcRect l="2252" t="7622" r="2599" b="6929"/>
          <a:stretch>
            <a:fillRect/>
          </a:stretch>
        </p:blipFill>
        <p:spPr bwMode="auto">
          <a:xfrm>
            <a:off x="3008313" y="2957513"/>
            <a:ext cx="2593975" cy="17478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211513" y="2460625"/>
            <a:ext cx="2751137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depositor 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21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52400"/>
            <a:ext cx="70929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67" name="Picture 3"/>
          <p:cNvPicPr>
            <a:picLocks noChangeAspect="1" noChangeArrowheads="1"/>
          </p:cNvPicPr>
          <p:nvPr/>
        </p:nvPicPr>
        <p:blipFill>
          <a:blip r:embed="rId5"/>
          <a:srcRect l="3345" t="2817" r="3697" b="2582"/>
          <a:stretch>
            <a:fillRect/>
          </a:stretch>
        </p:blipFill>
        <p:spPr bwMode="auto">
          <a:xfrm>
            <a:off x="6248400" y="2970213"/>
            <a:ext cx="2498725" cy="190658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216650" y="2481263"/>
            <a:ext cx="239712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customer 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92169" name="Rectangle 5"/>
          <p:cNvSpPr>
            <a:spLocks noChangeArrowheads="1"/>
          </p:cNvSpPr>
          <p:nvPr/>
        </p:nvSpPr>
        <p:spPr bwMode="auto">
          <a:xfrm>
            <a:off x="533400" y="5043488"/>
            <a:ext cx="217011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Π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customer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-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name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(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10"/>
                <a:ea typeface="+mn-ea"/>
                <a:cs typeface="Arial" pitchFamily="34" charset="0"/>
              </a:rPr>
              <a:t>borrower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92170" name="Rectangle 7"/>
          <p:cNvSpPr>
            <a:spLocks noChangeArrowheads="1"/>
          </p:cNvSpPr>
          <p:nvPr/>
        </p:nvSpPr>
        <p:spPr bwMode="auto">
          <a:xfrm>
            <a:off x="3187700" y="5011738"/>
            <a:ext cx="2235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Π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customer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-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name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(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10"/>
                <a:ea typeface="+mn-ea"/>
                <a:cs typeface="Arial" pitchFamily="34" charset="0"/>
              </a:rPr>
              <a:t>depositor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Queries</a:t>
            </a:r>
          </a:p>
        </p:txBody>
      </p:sp>
      <p:sp>
        <p:nvSpPr>
          <p:cNvPr id="101383" name="Rectangle 7"/>
          <p:cNvSpPr>
            <a:spLocks noChangeArrowheads="1"/>
          </p:cNvSpPr>
          <p:nvPr/>
        </p:nvSpPr>
        <p:spPr bwMode="auto">
          <a:xfrm>
            <a:off x="838200" y="914400"/>
            <a:ext cx="76612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Find the names of all customers who have a loan, an account, or both, from the bank</a:t>
            </a: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1308100" y="1787525"/>
            <a:ext cx="681355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</a:t>
            </a:r>
            <a:r>
              <a:rPr kumimoji="1" 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customer_name</a:t>
            </a:r>
            <a:r>
              <a: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 (</a:t>
            </a:r>
            <a:r>
              <a:rPr kumimoji="1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borrower</a:t>
            </a:r>
            <a:r>
              <a: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)  </a:t>
            </a:r>
            <a:r>
              <a:rPr kumimoji="1" 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customer_name</a:t>
            </a:r>
            <a:r>
              <a: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 (</a:t>
            </a:r>
            <a:r>
              <a:rPr kumimoji="1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depositor</a:t>
            </a:r>
            <a:r>
              <a: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3189" name="Picture 3"/>
          <p:cNvPicPr>
            <a:picLocks noChangeAspect="1" noChangeArrowheads="1"/>
          </p:cNvPicPr>
          <p:nvPr/>
        </p:nvPicPr>
        <p:blipFill>
          <a:blip r:embed="rId2"/>
          <a:srcRect l="6123" t="1021" r="6122" b="766"/>
          <a:stretch>
            <a:fillRect/>
          </a:stretch>
        </p:blipFill>
        <p:spPr bwMode="auto">
          <a:xfrm>
            <a:off x="533400" y="3151188"/>
            <a:ext cx="2570163" cy="2157412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63563" y="2644775"/>
            <a:ext cx="2557462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borrower</a:t>
            </a: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 relation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3191" name="Picture 3"/>
          <p:cNvPicPr>
            <a:picLocks noChangeAspect="1" noChangeArrowheads="1"/>
          </p:cNvPicPr>
          <p:nvPr/>
        </p:nvPicPr>
        <p:blipFill>
          <a:blip r:embed="rId3"/>
          <a:srcRect l="2252" t="7622" r="2599" b="6929"/>
          <a:stretch>
            <a:fillRect/>
          </a:stretch>
        </p:blipFill>
        <p:spPr bwMode="auto">
          <a:xfrm>
            <a:off x="3733800" y="3151188"/>
            <a:ext cx="3128963" cy="210661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657600" y="2590800"/>
            <a:ext cx="3013075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depositor </a:t>
            </a:r>
            <a:r>
              <a:rPr kumimoji="1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Relation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9319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2644775"/>
            <a:ext cx="20097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8B3909-CAB2-4266-A20B-E670199E9F8B}"/>
              </a:ext>
            </a:extLst>
          </p:cNvPr>
          <p:cNvSpPr txBox="1"/>
          <p:nvPr/>
        </p:nvSpPr>
        <p:spPr>
          <a:xfrm>
            <a:off x="914400" y="479147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* FROM Info UNION SELECT * FROM Demo;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D73D5-B3DD-4B6F-8047-1A1EC0412049}"/>
              </a:ext>
            </a:extLst>
          </p:cNvPr>
          <p:cNvSpPr txBox="1"/>
          <p:nvPr/>
        </p:nvSpPr>
        <p:spPr>
          <a:xfrm>
            <a:off x="457200" y="1536174"/>
            <a:ext cx="822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Explanation: </a:t>
            </a:r>
          </a:p>
          <a:p>
            <a:r>
              <a:rPr lang="en-US" dirty="0"/>
              <a:t>UNION combines the results of two SELECT queries. It removes duplicate rows from the final result set (if you want duplicates, you’d use UNION ALL).</a:t>
            </a:r>
          </a:p>
          <a:p>
            <a:endParaRPr lang="en-US" dirty="0"/>
          </a:p>
          <a:p>
            <a:r>
              <a:rPr lang="en-US" dirty="0"/>
              <a:t>For UNION to work: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Both queries must select the same number of columns.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data types in each corresponding column must be compatible (e.g., INT with INT, VARCHAR with VARCHAR).</a:t>
            </a:r>
          </a:p>
        </p:txBody>
      </p:sp>
    </p:spTree>
    <p:extLst>
      <p:ext uri="{BB962C8B-B14F-4D97-AF65-F5344CB8AC3E}">
        <p14:creationId xmlns:p14="http://schemas.microsoft.com/office/powerpoint/2010/main" val="1771419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ECA4E-19C6-4C72-B4E3-44734C60B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22816"/>
              </p:ext>
            </p:extLst>
          </p:nvPr>
        </p:nvGraphicFramePr>
        <p:xfrm>
          <a:off x="914400" y="1371600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545796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50946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6138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955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13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397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50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45645-E3AB-4818-993D-CA3749AE9F4E}"/>
              </a:ext>
            </a:extLst>
          </p:cNvPr>
          <p:cNvSpPr txBox="1"/>
          <p:nvPr/>
        </p:nvSpPr>
        <p:spPr>
          <a:xfrm>
            <a:off x="838200" y="6858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Table: Info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00300-2F56-4565-8F41-1341632BC3A1}"/>
              </a:ext>
            </a:extLst>
          </p:cNvPr>
          <p:cNvSpPr txBox="1"/>
          <p:nvPr/>
        </p:nvSpPr>
        <p:spPr>
          <a:xfrm>
            <a:off x="850900" y="319816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Table: Demo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48FA71-6917-4CAA-9328-D7FE308A3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774360"/>
              </p:ext>
            </p:extLst>
          </p:nvPr>
        </p:nvGraphicFramePr>
        <p:xfrm>
          <a:off x="838200" y="3703319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674017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08680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2506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7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15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Karim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72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Nabila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Sylhet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95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970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34B947-DFA8-4D0C-84DC-27606CB50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58860"/>
              </p:ext>
            </p:extLst>
          </p:nvPr>
        </p:nvGraphicFramePr>
        <p:xfrm>
          <a:off x="685800" y="1905000"/>
          <a:ext cx="7886700" cy="23774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031947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15583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38956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49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907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973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261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Karim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75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Nabila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Sylhet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81414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74B64D8-9B60-4317-A672-848E89F4C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81" y="457200"/>
            <a:ext cx="7486537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62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0C481-802B-42BC-ADD1-155767549492}"/>
              </a:ext>
            </a:extLst>
          </p:cNvPr>
          <p:cNvSpPr txBox="1"/>
          <p:nvPr/>
        </p:nvSpPr>
        <p:spPr>
          <a:xfrm>
            <a:off x="2590800" y="152400"/>
            <a:ext cx="3962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 FROM Info</a:t>
            </a:r>
          </a:p>
          <a:p>
            <a:r>
              <a:rPr lang="en-US" dirty="0"/>
              <a:t>UNION ALL</a:t>
            </a:r>
          </a:p>
          <a:p>
            <a:r>
              <a:rPr lang="en-US" dirty="0"/>
              <a:t>SELECT * FROM Demo</a:t>
            </a:r>
          </a:p>
          <a:p>
            <a:r>
              <a:rPr lang="en-US" dirty="0"/>
              <a:t>ORDER BY Name;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1CF831-1AE4-455D-9832-8FC1E4DCF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072551"/>
            <a:ext cx="83058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UNION ALL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results from both Info and Demo.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UNION, it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remove duplicates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BY 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combining, the full result set is sorted by the column Name.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tables must have the same number of columns.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Corresponding columns must have compatible data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40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ECA4E-19C6-4C72-B4E3-44734C60BA98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371600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545796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50946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6138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955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13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397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50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45645-E3AB-4818-993D-CA3749AE9F4E}"/>
              </a:ext>
            </a:extLst>
          </p:cNvPr>
          <p:cNvSpPr txBox="1"/>
          <p:nvPr/>
        </p:nvSpPr>
        <p:spPr>
          <a:xfrm>
            <a:off x="838200" y="6858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Table: Info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00300-2F56-4565-8F41-1341632BC3A1}"/>
              </a:ext>
            </a:extLst>
          </p:cNvPr>
          <p:cNvSpPr txBox="1"/>
          <p:nvPr/>
        </p:nvSpPr>
        <p:spPr>
          <a:xfrm>
            <a:off x="850900" y="319816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Table: Demo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48FA71-6917-4CAA-9328-D7FE308A370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03319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674017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08680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2506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7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15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Karim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72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Nabila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Sylhet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95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203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DC074C-CBD1-4746-8131-21F4B5A3D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324837"/>
              </p:ext>
            </p:extLst>
          </p:nvPr>
        </p:nvGraphicFramePr>
        <p:xfrm>
          <a:off x="533400" y="2133600"/>
          <a:ext cx="7886700" cy="2773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531028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64881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5095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60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59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796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Nabila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Sylhet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72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795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69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8920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C2EA3F-7788-4881-9EB0-391AC204B2D7}"/>
              </a:ext>
            </a:extLst>
          </p:cNvPr>
          <p:cNvSpPr txBox="1"/>
          <p:nvPr/>
        </p:nvSpPr>
        <p:spPr>
          <a:xfrm>
            <a:off x="1143000" y="762000"/>
            <a:ext cx="6400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* FROM Info UNION ALL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SELECT * FROM Demo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ORDER BY Name;</a:t>
            </a:r>
          </a:p>
        </p:txBody>
      </p:sp>
    </p:spTree>
    <p:extLst>
      <p:ext uri="{BB962C8B-B14F-4D97-AF65-F5344CB8AC3E}">
        <p14:creationId xmlns:p14="http://schemas.microsoft.com/office/powerpoint/2010/main" val="956775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38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Set-Intersection Operation – Example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7848600" cy="4876800"/>
          </a:xfrm>
        </p:spPr>
        <p:txBody>
          <a:bodyPr/>
          <a:lstStyle/>
          <a:p>
            <a:r>
              <a:rPr lang="en-US" sz="1800"/>
              <a:t>Relation </a:t>
            </a:r>
            <a:r>
              <a:rPr lang="en-US" sz="1800" i="1"/>
              <a:t>r, s</a:t>
            </a:r>
            <a:r>
              <a:rPr lang="en-US" sz="1800"/>
              <a:t>: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>
              <a:buFont typeface="Monotype Sorts" pitchFamily="2" charset="2"/>
              <a:buNone/>
            </a:pPr>
            <a:endParaRPr lang="en-US" sz="1800"/>
          </a:p>
          <a:p>
            <a:r>
              <a:rPr lang="en-US" sz="1800" i="1"/>
              <a:t>r</a:t>
            </a:r>
            <a:r>
              <a:rPr lang="en-US" sz="1800"/>
              <a:t> </a:t>
            </a:r>
            <a:r>
              <a:rPr lang="en-US" sz="1800">
                <a:sym typeface="Symbol" pitchFamily="18" charset="2"/>
              </a:rPr>
              <a:t> </a:t>
            </a:r>
            <a:r>
              <a:rPr lang="en-US" sz="1800" i="1">
                <a:sym typeface="Symbol" pitchFamily="18" charset="2"/>
              </a:rPr>
              <a:t>s</a:t>
            </a:r>
            <a:endParaRPr lang="en-US" sz="1800" i="1"/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2741613" y="1154113"/>
            <a:ext cx="1046162" cy="43815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2747963" y="1214438"/>
            <a:ext cx="93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A       B</a:t>
            </a:r>
          </a:p>
        </p:txBody>
      </p:sp>
      <p:sp>
        <p:nvSpPr>
          <p:cNvPr id="121862" name="Line 7"/>
          <p:cNvSpPr>
            <a:spLocks noChangeShapeType="1"/>
          </p:cNvSpPr>
          <p:nvPr/>
        </p:nvSpPr>
        <p:spPr bwMode="auto">
          <a:xfrm>
            <a:off x="3148013" y="1163638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63" name="Rectangle 9"/>
          <p:cNvSpPr>
            <a:spLocks noChangeArrowheads="1"/>
          </p:cNvSpPr>
          <p:nvPr/>
        </p:nvSpPr>
        <p:spPr bwMode="auto">
          <a:xfrm>
            <a:off x="2759075" y="1616075"/>
            <a:ext cx="1046163" cy="968375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64" name="Line 11"/>
          <p:cNvSpPr>
            <a:spLocks noChangeShapeType="1"/>
          </p:cNvSpPr>
          <p:nvPr/>
        </p:nvSpPr>
        <p:spPr bwMode="auto">
          <a:xfrm>
            <a:off x="3138488" y="1639888"/>
            <a:ext cx="1587" cy="952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65" name="Text Box 12"/>
          <p:cNvSpPr txBox="1">
            <a:spLocks noChangeArrowheads="1"/>
          </p:cNvSpPr>
          <p:nvPr/>
        </p:nvSpPr>
        <p:spPr bwMode="auto">
          <a:xfrm>
            <a:off x="2708275" y="1638300"/>
            <a:ext cx="3286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</a:t>
            </a:r>
          </a:p>
        </p:txBody>
      </p:sp>
      <p:sp>
        <p:nvSpPr>
          <p:cNvPr id="121866" name="Text Box 16"/>
          <p:cNvSpPr txBox="1">
            <a:spLocks noChangeArrowheads="1"/>
          </p:cNvSpPr>
          <p:nvPr/>
        </p:nvSpPr>
        <p:spPr bwMode="auto">
          <a:xfrm>
            <a:off x="3203575" y="1662113"/>
            <a:ext cx="3111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1</a:t>
            </a:r>
          </a:p>
        </p:txBody>
      </p:sp>
      <p:sp>
        <p:nvSpPr>
          <p:cNvPr id="121867" name="Rectangle 17"/>
          <p:cNvSpPr>
            <a:spLocks noChangeArrowheads="1"/>
          </p:cNvSpPr>
          <p:nvPr/>
        </p:nvSpPr>
        <p:spPr bwMode="auto">
          <a:xfrm>
            <a:off x="4953000" y="1225550"/>
            <a:ext cx="1046163" cy="43815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68" name="Text Box 18"/>
          <p:cNvSpPr txBox="1">
            <a:spLocks noChangeArrowheads="1"/>
          </p:cNvSpPr>
          <p:nvPr/>
        </p:nvSpPr>
        <p:spPr bwMode="auto">
          <a:xfrm>
            <a:off x="4946650" y="1285875"/>
            <a:ext cx="93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A       B</a:t>
            </a:r>
          </a:p>
        </p:txBody>
      </p:sp>
      <p:sp>
        <p:nvSpPr>
          <p:cNvPr id="121869" name="Line 19"/>
          <p:cNvSpPr>
            <a:spLocks noChangeShapeType="1"/>
          </p:cNvSpPr>
          <p:nvPr/>
        </p:nvSpPr>
        <p:spPr bwMode="auto">
          <a:xfrm>
            <a:off x="5432425" y="1235075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0" name="Rectangle 20"/>
          <p:cNvSpPr>
            <a:spLocks noChangeArrowheads="1"/>
          </p:cNvSpPr>
          <p:nvPr/>
        </p:nvSpPr>
        <p:spPr bwMode="auto">
          <a:xfrm>
            <a:off x="4943475" y="1728788"/>
            <a:ext cx="1046163" cy="701675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1" name="Line 21"/>
          <p:cNvSpPr>
            <a:spLocks noChangeShapeType="1"/>
          </p:cNvSpPr>
          <p:nvPr/>
        </p:nvSpPr>
        <p:spPr bwMode="auto">
          <a:xfrm>
            <a:off x="5449888" y="1738313"/>
            <a:ext cx="1587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2" name="Text Box 22"/>
          <p:cNvSpPr txBox="1">
            <a:spLocks noChangeArrowheads="1"/>
          </p:cNvSpPr>
          <p:nvPr/>
        </p:nvSpPr>
        <p:spPr bwMode="auto">
          <a:xfrm>
            <a:off x="5032375" y="1736725"/>
            <a:ext cx="3286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</a:t>
            </a:r>
          </a:p>
        </p:txBody>
      </p:sp>
      <p:sp>
        <p:nvSpPr>
          <p:cNvPr id="121873" name="Text Box 23"/>
          <p:cNvSpPr txBox="1">
            <a:spLocks noChangeArrowheads="1"/>
          </p:cNvSpPr>
          <p:nvPr/>
        </p:nvSpPr>
        <p:spPr bwMode="auto">
          <a:xfrm>
            <a:off x="5514975" y="1760538"/>
            <a:ext cx="311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3</a:t>
            </a:r>
          </a:p>
        </p:txBody>
      </p:sp>
      <p:sp>
        <p:nvSpPr>
          <p:cNvPr id="121874" name="Text Box 24"/>
          <p:cNvSpPr txBox="1">
            <a:spLocks noChangeArrowheads="1"/>
          </p:cNvSpPr>
          <p:nvPr/>
        </p:nvSpPr>
        <p:spPr bwMode="auto">
          <a:xfrm>
            <a:off x="2990850" y="2724150"/>
            <a:ext cx="260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5" name="Text Box 29"/>
          <p:cNvSpPr txBox="1">
            <a:spLocks noChangeArrowheads="1"/>
          </p:cNvSpPr>
          <p:nvPr/>
        </p:nvSpPr>
        <p:spPr bwMode="auto">
          <a:xfrm>
            <a:off x="5256213" y="27241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6" name="Rectangle 30"/>
          <p:cNvSpPr>
            <a:spLocks noChangeArrowheads="1"/>
          </p:cNvSpPr>
          <p:nvPr/>
        </p:nvSpPr>
        <p:spPr bwMode="auto">
          <a:xfrm>
            <a:off x="2559050" y="3671888"/>
            <a:ext cx="1046163" cy="43815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7" name="Text Box 31"/>
          <p:cNvSpPr txBox="1">
            <a:spLocks noChangeArrowheads="1"/>
          </p:cNvSpPr>
          <p:nvPr/>
        </p:nvSpPr>
        <p:spPr bwMode="auto">
          <a:xfrm>
            <a:off x="2552700" y="3732213"/>
            <a:ext cx="93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A       B</a:t>
            </a:r>
          </a:p>
        </p:txBody>
      </p:sp>
      <p:sp>
        <p:nvSpPr>
          <p:cNvPr id="121878" name="Line 32"/>
          <p:cNvSpPr>
            <a:spLocks noChangeShapeType="1"/>
          </p:cNvSpPr>
          <p:nvPr/>
        </p:nvSpPr>
        <p:spPr bwMode="auto">
          <a:xfrm>
            <a:off x="3038475" y="3681413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79" name="Rectangle 33"/>
          <p:cNvSpPr>
            <a:spLocks noChangeArrowheads="1"/>
          </p:cNvSpPr>
          <p:nvPr/>
        </p:nvSpPr>
        <p:spPr bwMode="auto">
          <a:xfrm>
            <a:off x="2576513" y="4175125"/>
            <a:ext cx="1046162" cy="43815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80" name="Text Box 34"/>
          <p:cNvSpPr txBox="1">
            <a:spLocks noChangeArrowheads="1"/>
          </p:cNvSpPr>
          <p:nvPr/>
        </p:nvSpPr>
        <p:spPr bwMode="auto">
          <a:xfrm>
            <a:off x="2619375" y="4230688"/>
            <a:ext cx="836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  <a:sym typeface="Symbol" pitchFamily="18" charset="2"/>
              </a:rPr>
              <a:t>      2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1881" name="Line 35"/>
          <p:cNvSpPr>
            <a:spLocks noChangeShapeType="1"/>
          </p:cNvSpPr>
          <p:nvPr/>
        </p:nvSpPr>
        <p:spPr bwMode="auto">
          <a:xfrm>
            <a:off x="3055938" y="4184650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3"/>
          <p:cNvPicPr>
            <a:picLocks noChangeAspect="1" noChangeArrowheads="1"/>
          </p:cNvPicPr>
          <p:nvPr/>
        </p:nvPicPr>
        <p:blipFill>
          <a:blip r:embed="rId2"/>
          <a:srcRect l="6123" t="1021" r="6122" b="766"/>
          <a:stretch>
            <a:fillRect/>
          </a:stretch>
        </p:blipFill>
        <p:spPr bwMode="auto">
          <a:xfrm>
            <a:off x="387350" y="2470150"/>
            <a:ext cx="2203450" cy="184785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" y="1981200"/>
            <a:ext cx="2295525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borrower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 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123908" name="Picture 3"/>
          <p:cNvPicPr>
            <a:picLocks noChangeAspect="1" noChangeArrowheads="1"/>
          </p:cNvPicPr>
          <p:nvPr/>
        </p:nvPicPr>
        <p:blipFill>
          <a:blip r:embed="rId3"/>
          <a:srcRect l="2252" t="7622" r="2599" b="6929"/>
          <a:stretch>
            <a:fillRect/>
          </a:stretch>
        </p:blipFill>
        <p:spPr bwMode="auto">
          <a:xfrm>
            <a:off x="3008313" y="2473325"/>
            <a:ext cx="2593975" cy="174783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211513" y="2001838"/>
            <a:ext cx="2751137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The </a:t>
            </a:r>
            <a:r>
              <a:rPr kumimoji="1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depositor </a:t>
            </a:r>
            <a:r>
              <a: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n-ea"/>
                <a:cs typeface="Arial" pitchFamily="34" charset="0"/>
              </a:rPr>
              <a:t>Relation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3910" name="Rectangle 5"/>
          <p:cNvSpPr>
            <a:spLocks noChangeArrowheads="1"/>
          </p:cNvSpPr>
          <p:nvPr/>
        </p:nvSpPr>
        <p:spPr bwMode="auto">
          <a:xfrm>
            <a:off x="533400" y="4584700"/>
            <a:ext cx="21701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Π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customer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-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name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(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10"/>
                <a:ea typeface="+mn-ea"/>
                <a:cs typeface="Arial" pitchFamily="34" charset="0"/>
              </a:rPr>
              <a:t>borrower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3187700" y="4554538"/>
            <a:ext cx="22352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Π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customer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-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7"/>
                <a:ea typeface="+mn-ea"/>
                <a:cs typeface="Arial" pitchFamily="34" charset="0"/>
              </a:rPr>
              <a:t>name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(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TI10"/>
                <a:ea typeface="+mn-ea"/>
                <a:cs typeface="Arial" pitchFamily="34" charset="0"/>
              </a:rPr>
              <a:t>depositor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10"/>
                <a:ea typeface="+mn-ea"/>
                <a:cs typeface="Arial" pitchFamily="34" charset="0"/>
              </a:rPr>
              <a:t>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23912" name="Rectangle 12"/>
          <p:cNvSpPr>
            <a:spLocks noChangeArrowheads="1"/>
          </p:cNvSpPr>
          <p:nvPr/>
        </p:nvSpPr>
        <p:spPr bwMode="auto">
          <a:xfrm>
            <a:off x="533400" y="533400"/>
            <a:ext cx="8305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Find all customers who have both a loan and an account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Arial" pitchFamily="34" charset="0"/>
              </a:rPr>
              <a:t>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pic>
        <p:nvPicPr>
          <p:cNvPr id="1239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2200" y="2622550"/>
            <a:ext cx="256222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3914" name="Rectangle 1"/>
          <p:cNvSpPr>
            <a:spLocks noChangeArrowheads="1"/>
          </p:cNvSpPr>
          <p:nvPr/>
        </p:nvSpPr>
        <p:spPr bwMode="auto">
          <a:xfrm>
            <a:off x="5791200" y="4430713"/>
            <a:ext cx="33528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Π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customer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-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name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(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borrower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)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Π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customer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-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name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(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depositor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3187700" y="2778125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57213" y="3128963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187700" y="3362325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557213" y="3535363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187700" y="3810000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54038" y="3713163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554038" y="3890963"/>
            <a:ext cx="927100" cy="177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solidFill>
                  <a:srgbClr val="C00000"/>
                </a:solidFill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D85A57-045B-47A5-A899-FF7ABA1625F9}"/>
              </a:ext>
            </a:extLst>
          </p:cNvPr>
          <p:cNvSpPr txBox="1"/>
          <p:nvPr/>
        </p:nvSpPr>
        <p:spPr>
          <a:xfrm>
            <a:off x="2590800" y="4572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 FROM Info</a:t>
            </a:r>
          </a:p>
          <a:p>
            <a:r>
              <a:rPr lang="en-US" dirty="0"/>
              <a:t>INTERSECT</a:t>
            </a:r>
          </a:p>
          <a:p>
            <a:r>
              <a:rPr lang="en-US" dirty="0"/>
              <a:t>SELECT * FROM Demo;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315A36-4604-4E88-96F5-000C25D7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843951"/>
            <a:ext cx="8001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🔎 Explanation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INTERSECT returns only the rows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 in both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 and Demo.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rows are automatically removed (similar to UNION).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number of columns and their data types must match in both queries.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all DBMS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like MySQL) directly support INTERSECT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but Oracle, SQL Server, and PostgreSQL do. In MySQL, you simulate it using INNER JOIN or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885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ECA4E-19C6-4C72-B4E3-44734C60BA98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371600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545796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50946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6138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955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13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397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950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45645-E3AB-4818-993D-CA3749AE9F4E}"/>
              </a:ext>
            </a:extLst>
          </p:cNvPr>
          <p:cNvSpPr txBox="1"/>
          <p:nvPr/>
        </p:nvSpPr>
        <p:spPr>
          <a:xfrm>
            <a:off x="838200" y="6858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Table: Info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00300-2F56-4565-8F41-1341632BC3A1}"/>
              </a:ext>
            </a:extLst>
          </p:cNvPr>
          <p:cNvSpPr txBox="1"/>
          <p:nvPr/>
        </p:nvSpPr>
        <p:spPr>
          <a:xfrm>
            <a:off x="850900" y="319816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Table: Demo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48FA71-6917-4CAA-9328-D7FE308A370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03319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674017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08680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2506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7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15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Karim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72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Nabila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Sylhet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95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728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BAA104-904C-4AEA-83D5-893ED49A4A1A}"/>
              </a:ext>
            </a:extLst>
          </p:cNvPr>
          <p:cNvSpPr txBox="1"/>
          <p:nvPr/>
        </p:nvSpPr>
        <p:spPr>
          <a:xfrm>
            <a:off x="2590800" y="457200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</a:rPr>
              <a:t>SELECT * FROM Info</a:t>
            </a:r>
          </a:p>
          <a:p>
            <a:r>
              <a:rPr lang="en-US" sz="2000" dirty="0">
                <a:latin typeface="Arial" panose="020B0604020202020204" pitchFamily="34" charset="0"/>
              </a:rPr>
              <a:t>INTERSECT</a:t>
            </a:r>
          </a:p>
          <a:p>
            <a:r>
              <a:rPr lang="en-US" sz="2000" dirty="0">
                <a:latin typeface="Arial" panose="020B0604020202020204" pitchFamily="34" charset="0"/>
              </a:rPr>
              <a:t>SELECT * FROM Demo;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5E10A1-3F10-424B-859A-ED0BF88C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390998"/>
              </p:ext>
            </p:extLst>
          </p:nvPr>
        </p:nvGraphicFramePr>
        <p:xfrm>
          <a:off x="685800" y="2286000"/>
          <a:ext cx="7886700" cy="7924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109335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411866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7062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731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93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66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C361D1-CCB8-479A-9FF4-31B7C9A93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914400"/>
            <a:ext cx="6896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Equivalent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 MySQL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(since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INTERSECT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not supported)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7E7CA-12BC-4331-9064-9142B0EA3768}"/>
              </a:ext>
            </a:extLst>
          </p:cNvPr>
          <p:cNvSpPr txBox="1"/>
          <p:nvPr/>
        </p:nvSpPr>
        <p:spPr>
          <a:xfrm>
            <a:off x="2286000" y="2057400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</a:rPr>
              <a:t>SELECT * FROM Info</a:t>
            </a:r>
          </a:p>
          <a:p>
            <a:r>
              <a:rPr lang="en-US" sz="2000" dirty="0">
                <a:latin typeface="Arial" panose="020B0604020202020204" pitchFamily="34" charset="0"/>
              </a:rPr>
              <a:t>INNER JOIN Demo</a:t>
            </a:r>
          </a:p>
          <a:p>
            <a:r>
              <a:rPr lang="en-US" sz="2000" dirty="0">
                <a:latin typeface="Arial" panose="020B0604020202020204" pitchFamily="34" charset="0"/>
              </a:rPr>
              <a:t>USING (ID, Name, City);</a:t>
            </a:r>
          </a:p>
        </p:txBody>
      </p:sp>
    </p:spTree>
    <p:extLst>
      <p:ext uri="{BB962C8B-B14F-4D97-AF65-F5344CB8AC3E}">
        <p14:creationId xmlns:p14="http://schemas.microsoft.com/office/powerpoint/2010/main" val="3967057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6AB7-8DC6-4E9F-99A4-90DBEAE1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609600"/>
            <a:ext cx="6280484" cy="2281355"/>
          </a:xfrm>
        </p:spPr>
        <p:txBody>
          <a:bodyPr/>
          <a:lstStyle/>
          <a:p>
            <a:r>
              <a:rPr lang="en-US" dirty="0"/>
              <a:t>Join operation</a:t>
            </a:r>
          </a:p>
        </p:txBody>
      </p:sp>
    </p:spTree>
    <p:extLst>
      <p:ext uri="{BB962C8B-B14F-4D97-AF65-F5344CB8AC3E}">
        <p14:creationId xmlns:p14="http://schemas.microsoft.com/office/powerpoint/2010/main" val="1355878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697B-6C99-4490-82CD-7598B40D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4563"/>
            <a:ext cx="9067800" cy="49688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 is a JOIN?</a:t>
            </a:r>
            <a:br>
              <a:rPr lang="en-US" b="1" dirty="0"/>
            </a:br>
            <a:r>
              <a:rPr lang="en-US" dirty="0"/>
              <a:t>A </a:t>
            </a:r>
            <a:r>
              <a:rPr lang="en-US" b="1" dirty="0"/>
              <a:t>join</a:t>
            </a:r>
            <a:r>
              <a:rPr lang="en-US" dirty="0"/>
              <a:t> combines rows from two (or more) tables based on a related column (the </a:t>
            </a:r>
            <a:r>
              <a:rPr lang="en-US" i="1" dirty="0"/>
              <a:t>join key</a:t>
            </a:r>
            <a:r>
              <a:rPr lang="en-US" dirty="0"/>
              <a:t>).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General form</a:t>
            </a:r>
            <a:br>
              <a:rPr lang="en-US" dirty="0"/>
            </a:br>
            <a:r>
              <a:rPr lang="en-US" b="1" dirty="0"/>
              <a:t>SELECT ...</a:t>
            </a:r>
            <a:br>
              <a:rPr lang="en-US" b="1" dirty="0"/>
            </a:br>
            <a:r>
              <a:rPr lang="en-US" b="1" dirty="0"/>
              <a:t>FROM A</a:t>
            </a:r>
            <a:br>
              <a:rPr lang="en-US" b="1" dirty="0"/>
            </a:br>
            <a:r>
              <a:rPr lang="en-US" b="1" dirty="0"/>
              <a:t>JOIN B ON </a:t>
            </a:r>
            <a:r>
              <a:rPr lang="en-US" b="1" dirty="0" err="1"/>
              <a:t>A.key</a:t>
            </a:r>
            <a:r>
              <a:rPr lang="en-US" b="1" dirty="0"/>
              <a:t> = </a:t>
            </a:r>
            <a:r>
              <a:rPr lang="en-US" b="1" dirty="0" err="1"/>
              <a:t>B.key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Without a condition (</a:t>
            </a:r>
            <a:r>
              <a:rPr lang="en-US" b="1" dirty="0"/>
              <a:t>CROSS JOIN</a:t>
            </a:r>
            <a:r>
              <a:rPr lang="en-US" dirty="0"/>
              <a:t>), you get the </a:t>
            </a:r>
            <a:br>
              <a:rPr lang="en-US" dirty="0"/>
            </a:br>
            <a:r>
              <a:rPr lang="en-US" b="1" dirty="0"/>
              <a:t>Cartesian product </a:t>
            </a:r>
            <a:r>
              <a:rPr lang="en-US" dirty="0"/>
              <a:t>(every row of A with every row of B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2213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C108-A62C-49A7-B67A-197CB01D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1143000"/>
            <a:ext cx="8210550" cy="5029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INNER JOIN</a:t>
            </a:r>
            <a:br>
              <a:rPr lang="en-US" b="1" dirty="0"/>
            </a:br>
            <a:r>
              <a:rPr lang="en-US" dirty="0"/>
              <a:t>Returns only the rows where the join condition matches in </a:t>
            </a:r>
            <a:r>
              <a:rPr lang="en-US" b="1" dirty="0"/>
              <a:t>both</a:t>
            </a:r>
            <a:r>
              <a:rPr lang="en-US" dirty="0"/>
              <a:t> tables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LEFT OUTER </a:t>
            </a:r>
            <a:r>
              <a:rPr lang="en-US" b="1" dirty="0" err="1"/>
              <a:t>JOINAll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R</a:t>
            </a:r>
            <a:r>
              <a:rPr lang="en-US" dirty="0"/>
              <a:t>ows from the left table; matching rows from the right; non-matches on the right become NULL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RIGHT OUTER JOIN</a:t>
            </a:r>
            <a:br>
              <a:rPr lang="en-US" dirty="0"/>
            </a:br>
            <a:r>
              <a:rPr lang="en-US" dirty="0"/>
              <a:t>Mirror image of LEFT: all rows from the right table, NULLs for missing left rows.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80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59380-16EA-431C-9229-5BC26ACB1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226781"/>
              </p:ext>
            </p:extLst>
          </p:nvPr>
        </p:nvGraphicFramePr>
        <p:xfrm>
          <a:off x="192314" y="1009469"/>
          <a:ext cx="4552950" cy="1981200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3269676965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154686409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805392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emp_id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8170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908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280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577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01514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24A36-53AE-4577-998F-783CD7F15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447346"/>
              </p:ext>
            </p:extLst>
          </p:nvPr>
        </p:nvGraphicFramePr>
        <p:xfrm>
          <a:off x="5148943" y="1207589"/>
          <a:ext cx="3810000" cy="15849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2482652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68541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399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54509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1051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60604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1EDC21-A3CB-4775-A598-B0EF8867B729}"/>
              </a:ext>
            </a:extLst>
          </p:cNvPr>
          <p:cNvSpPr txBox="1"/>
          <p:nvPr/>
        </p:nvSpPr>
        <p:spPr>
          <a:xfrm>
            <a:off x="5791200" y="304800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Departments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A560-8F1C-4505-BCE8-BAFA570593DA}"/>
              </a:ext>
            </a:extLst>
          </p:cNvPr>
          <p:cNvSpPr txBox="1"/>
          <p:nvPr/>
        </p:nvSpPr>
        <p:spPr>
          <a:xfrm>
            <a:off x="1219200" y="304799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Employees</a:t>
            </a:r>
          </a:p>
        </p:txBody>
      </p:sp>
    </p:spTree>
    <p:extLst>
      <p:ext uri="{BB962C8B-B14F-4D97-AF65-F5344CB8AC3E}">
        <p14:creationId xmlns:p14="http://schemas.microsoft.com/office/powerpoint/2010/main" val="2606798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59380-16EA-431C-9229-5BC26ACB1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204978"/>
              </p:ext>
            </p:extLst>
          </p:nvPr>
        </p:nvGraphicFramePr>
        <p:xfrm>
          <a:off x="192314" y="1009469"/>
          <a:ext cx="4552950" cy="1981200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3269676965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154686409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805392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emp_id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8170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908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280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577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01514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24A36-53AE-4577-998F-783CD7F15EE6}"/>
              </a:ext>
            </a:extLst>
          </p:cNvPr>
          <p:cNvGraphicFramePr>
            <a:graphicFrameLocks noGrp="1"/>
          </p:cNvGraphicFramePr>
          <p:nvPr/>
        </p:nvGraphicFramePr>
        <p:xfrm>
          <a:off x="5148943" y="1207589"/>
          <a:ext cx="3810000" cy="15849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2482652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68541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dept_id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dept_name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399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54509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1051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60604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1EDC21-A3CB-4775-A598-B0EF8867B729}"/>
              </a:ext>
            </a:extLst>
          </p:cNvPr>
          <p:cNvSpPr txBox="1"/>
          <p:nvPr/>
        </p:nvSpPr>
        <p:spPr>
          <a:xfrm>
            <a:off x="5791200" y="304800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Departments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A560-8F1C-4505-BCE8-BAFA570593DA}"/>
              </a:ext>
            </a:extLst>
          </p:cNvPr>
          <p:cNvSpPr txBox="1"/>
          <p:nvPr/>
        </p:nvSpPr>
        <p:spPr>
          <a:xfrm>
            <a:off x="1447800" y="304799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Employees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F643DF-5DE2-4091-ACBF-06D488237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256127"/>
              </p:ext>
            </p:extLst>
          </p:nvPr>
        </p:nvGraphicFramePr>
        <p:xfrm>
          <a:off x="2057400" y="4495800"/>
          <a:ext cx="4724400" cy="128016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381687644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9519547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4237457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emp_id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dept_name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0384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1477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783782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7F48B8-619D-484F-9A65-2BC27119418E}"/>
              </a:ext>
            </a:extLst>
          </p:cNvPr>
          <p:cNvSpPr txBox="1"/>
          <p:nvPr/>
        </p:nvSpPr>
        <p:spPr>
          <a:xfrm>
            <a:off x="3276600" y="3881846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INNER JOIN</a:t>
            </a:r>
          </a:p>
        </p:txBody>
      </p:sp>
    </p:spTree>
    <p:extLst>
      <p:ext uri="{BB962C8B-B14F-4D97-AF65-F5344CB8AC3E}">
        <p14:creationId xmlns:p14="http://schemas.microsoft.com/office/powerpoint/2010/main" val="4215528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59380-16EA-431C-9229-5BC26ACB1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307413"/>
              </p:ext>
            </p:extLst>
          </p:nvPr>
        </p:nvGraphicFramePr>
        <p:xfrm>
          <a:off x="192314" y="1009469"/>
          <a:ext cx="4552950" cy="1981200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3269676965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154686409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805392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emp_id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8170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908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280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577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01514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24A36-53AE-4577-998F-783CD7F15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535058"/>
              </p:ext>
            </p:extLst>
          </p:nvPr>
        </p:nvGraphicFramePr>
        <p:xfrm>
          <a:off x="5148943" y="1207589"/>
          <a:ext cx="3810000" cy="15849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2482652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68541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399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54509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1051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60604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1EDC21-A3CB-4775-A598-B0EF8867B729}"/>
              </a:ext>
            </a:extLst>
          </p:cNvPr>
          <p:cNvSpPr txBox="1"/>
          <p:nvPr/>
        </p:nvSpPr>
        <p:spPr>
          <a:xfrm>
            <a:off x="5791200" y="304800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Departments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A560-8F1C-4505-BCE8-BAFA570593DA}"/>
              </a:ext>
            </a:extLst>
          </p:cNvPr>
          <p:cNvSpPr txBox="1"/>
          <p:nvPr/>
        </p:nvSpPr>
        <p:spPr>
          <a:xfrm>
            <a:off x="1219200" y="304799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Employees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394C0E3-0AEA-47E2-897F-992353148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514324"/>
              </p:ext>
            </p:extLst>
          </p:nvPr>
        </p:nvGraphicFramePr>
        <p:xfrm>
          <a:off x="2392589" y="4419600"/>
          <a:ext cx="4705350" cy="2133600"/>
        </p:xfrm>
        <a:graphic>
          <a:graphicData uri="http://schemas.openxmlformats.org/drawingml/2006/table">
            <a:tbl>
              <a:tblPr/>
              <a:tblGrid>
                <a:gridCol w="1568450">
                  <a:extLst>
                    <a:ext uri="{9D8B030D-6E8A-4147-A177-3AD203B41FA5}">
                      <a16:colId xmlns:a16="http://schemas.microsoft.com/office/drawing/2014/main" val="644557504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1031964988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3036944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emp_id</a:t>
                      </a:r>
                      <a:endParaRPr lang="en-US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dept_name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03841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2310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54662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89503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59740015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BAA19A1-2F0D-4B34-BCBA-6635A05741E6}"/>
              </a:ext>
            </a:extLst>
          </p:cNvPr>
          <p:cNvSpPr txBox="1"/>
          <p:nvPr/>
        </p:nvSpPr>
        <p:spPr>
          <a:xfrm>
            <a:off x="3124200" y="3690091"/>
            <a:ext cx="335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LEFT OUTER JOIN</a:t>
            </a:r>
          </a:p>
        </p:txBody>
      </p:sp>
    </p:spTree>
    <p:extLst>
      <p:ext uri="{BB962C8B-B14F-4D97-AF65-F5344CB8AC3E}">
        <p14:creationId xmlns:p14="http://schemas.microsoft.com/office/powerpoint/2010/main" val="1562838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59380-16EA-431C-9229-5BC26ACB1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643500"/>
              </p:ext>
            </p:extLst>
          </p:nvPr>
        </p:nvGraphicFramePr>
        <p:xfrm>
          <a:off x="192314" y="1009469"/>
          <a:ext cx="4552950" cy="1981200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3269676965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154686409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805392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emp_id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8170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908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280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577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01514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24A36-53AE-4577-998F-783CD7F15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506894"/>
              </p:ext>
            </p:extLst>
          </p:nvPr>
        </p:nvGraphicFramePr>
        <p:xfrm>
          <a:off x="5148943" y="1207589"/>
          <a:ext cx="3810000" cy="15849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2482652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68541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399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54509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1051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60604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1EDC21-A3CB-4775-A598-B0EF8867B729}"/>
              </a:ext>
            </a:extLst>
          </p:cNvPr>
          <p:cNvSpPr txBox="1"/>
          <p:nvPr/>
        </p:nvSpPr>
        <p:spPr>
          <a:xfrm>
            <a:off x="5791200" y="304800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Departments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A560-8F1C-4505-BCE8-BAFA570593DA}"/>
              </a:ext>
            </a:extLst>
          </p:cNvPr>
          <p:cNvSpPr txBox="1"/>
          <p:nvPr/>
        </p:nvSpPr>
        <p:spPr>
          <a:xfrm>
            <a:off x="1219200" y="304799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Employees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49AD94-3386-4282-AD5C-7C9DACC5F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383885"/>
              </p:ext>
            </p:extLst>
          </p:nvPr>
        </p:nvGraphicFramePr>
        <p:xfrm>
          <a:off x="2447018" y="4343400"/>
          <a:ext cx="4520292" cy="2042160"/>
        </p:xfrm>
        <a:graphic>
          <a:graphicData uri="http://schemas.openxmlformats.org/drawingml/2006/table">
            <a:tbl>
              <a:tblPr/>
              <a:tblGrid>
                <a:gridCol w="1506764">
                  <a:extLst>
                    <a:ext uri="{9D8B030D-6E8A-4147-A177-3AD203B41FA5}">
                      <a16:colId xmlns:a16="http://schemas.microsoft.com/office/drawing/2014/main" val="2108743266"/>
                    </a:ext>
                  </a:extLst>
                </a:gridCol>
                <a:gridCol w="1506764">
                  <a:extLst>
                    <a:ext uri="{9D8B030D-6E8A-4147-A177-3AD203B41FA5}">
                      <a16:colId xmlns:a16="http://schemas.microsoft.com/office/drawing/2014/main" val="3928229009"/>
                    </a:ext>
                  </a:extLst>
                </a:gridCol>
                <a:gridCol w="1506764">
                  <a:extLst>
                    <a:ext uri="{9D8B030D-6E8A-4147-A177-3AD203B41FA5}">
                      <a16:colId xmlns:a16="http://schemas.microsoft.com/office/drawing/2014/main" val="2329095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emp_id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dept_name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0715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93602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38709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31567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1A308C-1288-4B11-A395-A850015EF216}"/>
              </a:ext>
            </a:extLst>
          </p:cNvPr>
          <p:cNvSpPr txBox="1"/>
          <p:nvPr/>
        </p:nvSpPr>
        <p:spPr>
          <a:xfrm>
            <a:off x="3276600" y="3683615"/>
            <a:ext cx="335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RIGHT OUTER JOI</a:t>
            </a:r>
          </a:p>
        </p:txBody>
      </p:sp>
    </p:spTree>
    <p:extLst>
      <p:ext uri="{BB962C8B-B14F-4D97-AF65-F5344CB8AC3E}">
        <p14:creationId xmlns:p14="http://schemas.microsoft.com/office/powerpoint/2010/main" val="1415698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59380-16EA-431C-9229-5BC26ACB1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546910"/>
              </p:ext>
            </p:extLst>
          </p:nvPr>
        </p:nvGraphicFramePr>
        <p:xfrm>
          <a:off x="192314" y="1009469"/>
          <a:ext cx="4552950" cy="1981200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3269676965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154686409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805392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emp_id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8170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6908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280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2577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01514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24A36-53AE-4577-998F-783CD7F15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166641"/>
              </p:ext>
            </p:extLst>
          </p:nvPr>
        </p:nvGraphicFramePr>
        <p:xfrm>
          <a:off x="5148943" y="1207589"/>
          <a:ext cx="3810000" cy="158496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12482652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68541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dept_id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dept_name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399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54509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1051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860604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1EDC21-A3CB-4775-A598-B0EF8867B729}"/>
              </a:ext>
            </a:extLst>
          </p:cNvPr>
          <p:cNvSpPr txBox="1"/>
          <p:nvPr/>
        </p:nvSpPr>
        <p:spPr>
          <a:xfrm>
            <a:off x="5791200" y="304800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Departments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A560-8F1C-4505-BCE8-BAFA570593DA}"/>
              </a:ext>
            </a:extLst>
          </p:cNvPr>
          <p:cNvSpPr txBox="1"/>
          <p:nvPr/>
        </p:nvSpPr>
        <p:spPr>
          <a:xfrm>
            <a:off x="1219200" y="304799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Arial" pitchFamily="34" charset="0"/>
              </a:rPr>
              <a:t>Employees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1D6F8-281D-44F4-BE5C-9AF67CE4E5B1}"/>
              </a:ext>
            </a:extLst>
          </p:cNvPr>
          <p:cNvSpPr txBox="1"/>
          <p:nvPr/>
        </p:nvSpPr>
        <p:spPr>
          <a:xfrm>
            <a:off x="2286000" y="32017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FULL OUTER JOIN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036C51-B3DE-4AC0-9B21-93F173843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027196"/>
              </p:ext>
            </p:extLst>
          </p:nvPr>
        </p:nvGraphicFramePr>
        <p:xfrm>
          <a:off x="1447800" y="3905069"/>
          <a:ext cx="6553200" cy="256032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30610129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644646728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4219089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emp_id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dept_name</a:t>
                      </a:r>
                      <a:endParaRPr lang="en-US" sz="2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85789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Amina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8258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778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Chen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671901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Diana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69530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68298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694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Outer Join – Example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6861175" cy="487362"/>
          </a:xfrm>
        </p:spPr>
        <p:txBody>
          <a:bodyPr/>
          <a:lstStyle/>
          <a:p>
            <a:r>
              <a:rPr lang="en-US" sz="1800"/>
              <a:t>Relation </a:t>
            </a:r>
            <a:r>
              <a:rPr lang="en-US" sz="1800" i="1"/>
              <a:t>loan</a:t>
            </a:r>
            <a:endParaRPr lang="en-US" sz="1800"/>
          </a:p>
        </p:txBody>
      </p:sp>
      <p:sp>
        <p:nvSpPr>
          <p:cNvPr id="195588" name="Rectangle 10"/>
          <p:cNvSpPr>
            <a:spLocks noChangeArrowheads="1"/>
          </p:cNvSpPr>
          <p:nvPr/>
        </p:nvSpPr>
        <p:spPr bwMode="auto">
          <a:xfrm>
            <a:off x="798513" y="3581400"/>
            <a:ext cx="70294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Relation </a:t>
            </a:r>
            <a:r>
              <a:rPr kumimoji="1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rPr>
              <a:t>borrower</a:t>
            </a: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195589" name="Group 20"/>
          <p:cNvGrpSpPr>
            <a:grpSpLocks/>
          </p:cNvGrpSpPr>
          <p:nvPr/>
        </p:nvGrpSpPr>
        <p:grpSpPr bwMode="auto">
          <a:xfrm>
            <a:off x="2438400" y="4089400"/>
            <a:ext cx="3276600" cy="1219200"/>
            <a:chOff x="1536" y="2576"/>
            <a:chExt cx="2064" cy="768"/>
          </a:xfrm>
        </p:grpSpPr>
        <p:sp>
          <p:nvSpPr>
            <p:cNvPr id="195597" name="Rectangle 11"/>
            <p:cNvSpPr>
              <a:spLocks noChangeArrowheads="1"/>
            </p:cNvSpPr>
            <p:nvPr/>
          </p:nvSpPr>
          <p:spPr bwMode="auto">
            <a:xfrm>
              <a:off x="1536" y="2576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customer_name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5598" name="Rectangle 12"/>
            <p:cNvSpPr>
              <a:spLocks noChangeArrowheads="1"/>
            </p:cNvSpPr>
            <p:nvPr/>
          </p:nvSpPr>
          <p:spPr bwMode="auto">
            <a:xfrm>
              <a:off x="2592" y="2576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loan_number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5599" name="Rectangle 13"/>
            <p:cNvSpPr>
              <a:spLocks noChangeArrowheads="1"/>
            </p:cNvSpPr>
            <p:nvPr/>
          </p:nvSpPr>
          <p:spPr bwMode="auto">
            <a:xfrm>
              <a:off x="1536" y="2816"/>
              <a:ext cx="105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Jones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Smith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Hayes</a:t>
              </a:r>
            </a:p>
          </p:txBody>
        </p:sp>
        <p:sp>
          <p:nvSpPr>
            <p:cNvPr id="195600" name="Rectangle 14"/>
            <p:cNvSpPr>
              <a:spLocks noChangeArrowheads="1"/>
            </p:cNvSpPr>
            <p:nvPr/>
          </p:nvSpPr>
          <p:spPr bwMode="auto">
            <a:xfrm>
              <a:off x="2592" y="2816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L-170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L-230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L-155</a:t>
              </a:r>
            </a:p>
          </p:txBody>
        </p:sp>
      </p:grpSp>
      <p:grpSp>
        <p:nvGrpSpPr>
          <p:cNvPr id="195590" name="Group 19"/>
          <p:cNvGrpSpPr>
            <a:grpSpLocks/>
          </p:cNvGrpSpPr>
          <p:nvPr/>
        </p:nvGrpSpPr>
        <p:grpSpPr bwMode="auto">
          <a:xfrm>
            <a:off x="2044700" y="1951038"/>
            <a:ext cx="4292600" cy="1223962"/>
            <a:chOff x="1288" y="1229"/>
            <a:chExt cx="2704" cy="771"/>
          </a:xfrm>
        </p:grpSpPr>
        <p:sp>
          <p:nvSpPr>
            <p:cNvPr id="195591" name="Rectangle 9"/>
            <p:cNvSpPr>
              <a:spLocks noChangeArrowheads="1"/>
            </p:cNvSpPr>
            <p:nvPr/>
          </p:nvSpPr>
          <p:spPr bwMode="auto">
            <a:xfrm>
              <a:off x="3272" y="1472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3000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4000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1700</a:t>
              </a:r>
            </a:p>
          </p:txBody>
        </p:sp>
        <p:sp>
          <p:nvSpPr>
            <p:cNvPr id="195592" name="Rectangle 5"/>
            <p:cNvSpPr>
              <a:spLocks noChangeArrowheads="1"/>
            </p:cNvSpPr>
            <p:nvPr/>
          </p:nvSpPr>
          <p:spPr bwMode="auto">
            <a:xfrm>
              <a:off x="1288" y="1232"/>
              <a:ext cx="99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loan_number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5593" name="Rectangle 6"/>
            <p:cNvSpPr>
              <a:spLocks noChangeArrowheads="1"/>
            </p:cNvSpPr>
            <p:nvPr/>
          </p:nvSpPr>
          <p:spPr bwMode="auto">
            <a:xfrm>
              <a:off x="3269" y="1232"/>
              <a:ext cx="707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amount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5594" name="Rectangle 8"/>
            <p:cNvSpPr>
              <a:spLocks noChangeArrowheads="1"/>
            </p:cNvSpPr>
            <p:nvPr/>
          </p:nvSpPr>
          <p:spPr bwMode="auto">
            <a:xfrm>
              <a:off x="1288" y="1472"/>
              <a:ext cx="99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L-170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L-230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L-260</a:t>
              </a:r>
            </a:p>
          </p:txBody>
        </p:sp>
        <p:sp>
          <p:nvSpPr>
            <p:cNvPr id="195595" name="Rectangle 15"/>
            <p:cNvSpPr>
              <a:spLocks noChangeArrowheads="1"/>
            </p:cNvSpPr>
            <p:nvPr/>
          </p:nvSpPr>
          <p:spPr bwMode="auto">
            <a:xfrm>
              <a:off x="2281" y="1229"/>
              <a:ext cx="991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branch_name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5596" name="Rectangle 16"/>
            <p:cNvSpPr>
              <a:spLocks noChangeArrowheads="1"/>
            </p:cNvSpPr>
            <p:nvPr/>
          </p:nvSpPr>
          <p:spPr bwMode="auto">
            <a:xfrm>
              <a:off x="2281" y="1469"/>
              <a:ext cx="991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Downtown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Redwood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Perryridge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2036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Outer Join – Example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6991350" cy="842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/>
              <a:t>Join </a:t>
            </a:r>
            <a:br>
              <a:rPr lang="en-US" sz="1800"/>
            </a:br>
            <a:br>
              <a:rPr lang="en-US" sz="1600" b="1"/>
            </a:br>
            <a:r>
              <a:rPr lang="en-US" sz="1800" i="1"/>
              <a:t>loan      borrower</a:t>
            </a:r>
          </a:p>
        </p:txBody>
      </p:sp>
      <p:sp>
        <p:nvSpPr>
          <p:cNvPr id="196612" name="AutoShape 23"/>
          <p:cNvSpPr>
            <a:spLocks noChangeArrowheads="1"/>
          </p:cNvSpPr>
          <p:nvPr/>
        </p:nvSpPr>
        <p:spPr bwMode="auto">
          <a:xfrm rot="16200000" flipV="1">
            <a:off x="1790700" y="1641475"/>
            <a:ext cx="1524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1524000" y="2209800"/>
            <a:ext cx="6019800" cy="990600"/>
            <a:chOff x="960" y="1392"/>
            <a:chExt cx="3792" cy="624"/>
          </a:xfrm>
        </p:grpSpPr>
        <p:sp>
          <p:nvSpPr>
            <p:cNvPr id="196629" name="Rectangle 5"/>
            <p:cNvSpPr>
              <a:spLocks noChangeArrowheads="1"/>
            </p:cNvSpPr>
            <p:nvPr/>
          </p:nvSpPr>
          <p:spPr bwMode="auto">
            <a:xfrm>
              <a:off x="960" y="1392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loan_number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30" name="Rectangle 6"/>
            <p:cNvSpPr>
              <a:spLocks noChangeArrowheads="1"/>
            </p:cNvSpPr>
            <p:nvPr/>
          </p:nvSpPr>
          <p:spPr bwMode="auto">
            <a:xfrm>
              <a:off x="2976" y="1392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amount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31" name="Rectangle 8"/>
            <p:cNvSpPr>
              <a:spLocks noChangeArrowheads="1"/>
            </p:cNvSpPr>
            <p:nvPr/>
          </p:nvSpPr>
          <p:spPr bwMode="auto">
            <a:xfrm>
              <a:off x="960" y="1632"/>
              <a:ext cx="100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L-170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L-230</a:t>
              </a:r>
            </a:p>
          </p:txBody>
        </p:sp>
        <p:sp>
          <p:nvSpPr>
            <p:cNvPr id="196632" name="Rectangle 9"/>
            <p:cNvSpPr>
              <a:spLocks noChangeArrowheads="1"/>
            </p:cNvSpPr>
            <p:nvPr/>
          </p:nvSpPr>
          <p:spPr bwMode="auto">
            <a:xfrm>
              <a:off x="2976" y="1632"/>
              <a:ext cx="720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3000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4000</a:t>
              </a:r>
            </a:p>
          </p:txBody>
        </p:sp>
        <p:sp>
          <p:nvSpPr>
            <p:cNvPr id="196633" name="Rectangle 10"/>
            <p:cNvSpPr>
              <a:spLocks noChangeArrowheads="1"/>
            </p:cNvSpPr>
            <p:nvPr/>
          </p:nvSpPr>
          <p:spPr bwMode="auto">
            <a:xfrm>
              <a:off x="3696" y="1392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customer_name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34" name="Rectangle 11"/>
            <p:cNvSpPr>
              <a:spLocks noChangeArrowheads="1"/>
            </p:cNvSpPr>
            <p:nvPr/>
          </p:nvSpPr>
          <p:spPr bwMode="auto">
            <a:xfrm>
              <a:off x="3696" y="1632"/>
              <a:ext cx="105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Jones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Smith</a:t>
              </a:r>
            </a:p>
          </p:txBody>
        </p:sp>
        <p:sp>
          <p:nvSpPr>
            <p:cNvPr id="196635" name="Rectangle 27"/>
            <p:cNvSpPr>
              <a:spLocks noChangeArrowheads="1"/>
            </p:cNvSpPr>
            <p:nvPr/>
          </p:nvSpPr>
          <p:spPr bwMode="auto">
            <a:xfrm>
              <a:off x="1968" y="1392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branch_name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36" name="Rectangle 28"/>
            <p:cNvSpPr>
              <a:spLocks noChangeArrowheads="1"/>
            </p:cNvSpPr>
            <p:nvPr/>
          </p:nvSpPr>
          <p:spPr bwMode="auto">
            <a:xfrm>
              <a:off x="1968" y="1632"/>
              <a:ext cx="100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Downtown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Redwood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1589088" y="4254500"/>
            <a:ext cx="6032500" cy="1219200"/>
            <a:chOff x="1001" y="2680"/>
            <a:chExt cx="3800" cy="768"/>
          </a:xfrm>
        </p:grpSpPr>
        <p:sp>
          <p:nvSpPr>
            <p:cNvPr id="196621" name="Rectangle 21"/>
            <p:cNvSpPr>
              <a:spLocks noChangeArrowheads="1"/>
            </p:cNvSpPr>
            <p:nvPr/>
          </p:nvSpPr>
          <p:spPr bwMode="auto">
            <a:xfrm>
              <a:off x="3728" y="2920"/>
              <a:ext cx="105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Jones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Smith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null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22" name="Rectangle 14"/>
            <p:cNvSpPr>
              <a:spLocks noChangeArrowheads="1"/>
            </p:cNvSpPr>
            <p:nvPr/>
          </p:nvSpPr>
          <p:spPr bwMode="auto">
            <a:xfrm>
              <a:off x="1010" y="2680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loan_number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23" name="Rectangle 15"/>
            <p:cNvSpPr>
              <a:spLocks noChangeArrowheads="1"/>
            </p:cNvSpPr>
            <p:nvPr/>
          </p:nvSpPr>
          <p:spPr bwMode="auto">
            <a:xfrm>
              <a:off x="3026" y="2680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amount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24" name="Rectangle 17"/>
            <p:cNvSpPr>
              <a:spLocks noChangeArrowheads="1"/>
            </p:cNvSpPr>
            <p:nvPr/>
          </p:nvSpPr>
          <p:spPr bwMode="auto">
            <a:xfrm>
              <a:off x="1001" y="2920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L-170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L-230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L-260</a:t>
              </a:r>
            </a:p>
          </p:txBody>
        </p:sp>
        <p:sp>
          <p:nvSpPr>
            <p:cNvPr id="196625" name="Rectangle 18"/>
            <p:cNvSpPr>
              <a:spLocks noChangeArrowheads="1"/>
            </p:cNvSpPr>
            <p:nvPr/>
          </p:nvSpPr>
          <p:spPr bwMode="auto">
            <a:xfrm>
              <a:off x="3008" y="2920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3000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4000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1700</a:t>
              </a:r>
            </a:p>
          </p:txBody>
        </p:sp>
        <p:sp>
          <p:nvSpPr>
            <p:cNvPr id="196626" name="Rectangle 19"/>
            <p:cNvSpPr>
              <a:spLocks noChangeArrowheads="1"/>
            </p:cNvSpPr>
            <p:nvPr/>
          </p:nvSpPr>
          <p:spPr bwMode="auto">
            <a:xfrm>
              <a:off x="3745" y="2680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customer_name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27" name="Rectangle 29"/>
            <p:cNvSpPr>
              <a:spLocks noChangeArrowheads="1"/>
            </p:cNvSpPr>
            <p:nvPr/>
          </p:nvSpPr>
          <p:spPr bwMode="auto">
            <a:xfrm>
              <a:off x="2018" y="2680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branch_name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6628" name="Rectangle 30"/>
            <p:cNvSpPr>
              <a:spLocks noChangeArrowheads="1"/>
            </p:cNvSpPr>
            <p:nvPr/>
          </p:nvSpPr>
          <p:spPr bwMode="auto">
            <a:xfrm>
              <a:off x="2000" y="2920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Downtown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Redwood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Perryridge</a:t>
              </a:r>
            </a:p>
          </p:txBody>
        </p:sp>
      </p:grp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793750" y="3422650"/>
            <a:ext cx="4235450" cy="738188"/>
            <a:chOff x="714" y="2156"/>
            <a:chExt cx="2668" cy="465"/>
          </a:xfrm>
        </p:grpSpPr>
        <p:sp>
          <p:nvSpPr>
            <p:cNvPr id="196616" name="Rectangle 26"/>
            <p:cNvSpPr>
              <a:spLocks noChangeArrowheads="1"/>
            </p:cNvSpPr>
            <p:nvPr/>
          </p:nvSpPr>
          <p:spPr bwMode="auto">
            <a:xfrm>
              <a:off x="714" y="2156"/>
              <a:ext cx="2668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Char char="n"/>
                <a:tabLst/>
                <a:defRPr/>
              </a:pPr>
              <a:r>
                <a:rPr kumimoji="1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 </a:t>
              </a:r>
              <a:r>
                <a: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Left Outer Join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Monotype Sorts" pitchFamily="2" charset="2"/>
                <a:buNone/>
                <a:tabLst/>
                <a:defRPr/>
              </a:pPr>
              <a:r>
                <a:rPr kumimoji="1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    loan          borrower</a:t>
              </a:r>
              <a:endParaRPr kumimoji="1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96617" name="Group 41"/>
            <p:cNvGrpSpPr>
              <a:grpSpLocks/>
            </p:cNvGrpSpPr>
            <p:nvPr/>
          </p:nvGrpSpPr>
          <p:grpSpPr bwMode="auto">
            <a:xfrm>
              <a:off x="1248" y="2465"/>
              <a:ext cx="261" cy="132"/>
              <a:chOff x="1225" y="2417"/>
              <a:chExt cx="261" cy="132"/>
            </a:xfrm>
          </p:grpSpPr>
          <p:sp>
            <p:nvSpPr>
              <p:cNvPr id="196618" name="AutoShape 42"/>
              <p:cNvSpPr>
                <a:spLocks noChangeArrowheads="1"/>
              </p:cNvSpPr>
              <p:nvPr/>
            </p:nvSpPr>
            <p:spPr bwMode="auto">
              <a:xfrm rot="16200000" flipV="1">
                <a:off x="1354" y="2417"/>
                <a:ext cx="132" cy="132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6619" name="Line 43"/>
              <p:cNvSpPr>
                <a:spLocks noChangeShapeType="1"/>
              </p:cNvSpPr>
              <p:nvPr/>
            </p:nvSpPr>
            <p:spPr bwMode="auto">
              <a:xfrm flipH="1">
                <a:off x="1228" y="2419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6620" name="Line 44"/>
              <p:cNvSpPr>
                <a:spLocks noChangeShapeType="1"/>
              </p:cNvSpPr>
              <p:nvPr/>
            </p:nvSpPr>
            <p:spPr bwMode="auto">
              <a:xfrm flipH="1">
                <a:off x="1225" y="254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42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Outer Join – Example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295400" y="2062163"/>
            <a:ext cx="6019800" cy="1219200"/>
            <a:chOff x="816" y="1299"/>
            <a:chExt cx="3792" cy="768"/>
          </a:xfrm>
        </p:grpSpPr>
        <p:sp>
          <p:nvSpPr>
            <p:cNvPr id="197659" name="Rectangle 5"/>
            <p:cNvSpPr>
              <a:spLocks noChangeArrowheads="1"/>
            </p:cNvSpPr>
            <p:nvPr/>
          </p:nvSpPr>
          <p:spPr bwMode="auto">
            <a:xfrm>
              <a:off x="816" y="1299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loan_number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60" name="Rectangle 6"/>
            <p:cNvSpPr>
              <a:spLocks noChangeArrowheads="1"/>
            </p:cNvSpPr>
            <p:nvPr/>
          </p:nvSpPr>
          <p:spPr bwMode="auto">
            <a:xfrm>
              <a:off x="2832" y="1299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amount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61" name="Rectangle 8"/>
            <p:cNvSpPr>
              <a:spLocks noChangeArrowheads="1"/>
            </p:cNvSpPr>
            <p:nvPr/>
          </p:nvSpPr>
          <p:spPr bwMode="auto">
            <a:xfrm>
              <a:off x="816" y="1539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L-170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L-230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L-155</a:t>
              </a:r>
            </a:p>
          </p:txBody>
        </p:sp>
        <p:sp>
          <p:nvSpPr>
            <p:cNvPr id="197662" name="Rectangle 9"/>
            <p:cNvSpPr>
              <a:spLocks noChangeArrowheads="1"/>
            </p:cNvSpPr>
            <p:nvPr/>
          </p:nvSpPr>
          <p:spPr bwMode="auto">
            <a:xfrm>
              <a:off x="2832" y="1539"/>
              <a:ext cx="7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3000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4000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null</a:t>
              </a:r>
            </a:p>
          </p:txBody>
        </p:sp>
        <p:sp>
          <p:nvSpPr>
            <p:cNvPr id="197663" name="Rectangle 10"/>
            <p:cNvSpPr>
              <a:spLocks noChangeArrowheads="1"/>
            </p:cNvSpPr>
            <p:nvPr/>
          </p:nvSpPr>
          <p:spPr bwMode="auto">
            <a:xfrm>
              <a:off x="3552" y="1299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customer_name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64" name="Rectangle 11"/>
            <p:cNvSpPr>
              <a:spLocks noChangeArrowheads="1"/>
            </p:cNvSpPr>
            <p:nvPr/>
          </p:nvSpPr>
          <p:spPr bwMode="auto">
            <a:xfrm>
              <a:off x="3552" y="1539"/>
              <a:ext cx="105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Jones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Smith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Hayes</a:t>
              </a:r>
            </a:p>
          </p:txBody>
        </p:sp>
        <p:sp>
          <p:nvSpPr>
            <p:cNvPr id="197665" name="Rectangle 25"/>
            <p:cNvSpPr>
              <a:spLocks noChangeArrowheads="1"/>
            </p:cNvSpPr>
            <p:nvPr/>
          </p:nvSpPr>
          <p:spPr bwMode="auto">
            <a:xfrm>
              <a:off x="1824" y="1299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branch_name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66" name="Rectangle 26"/>
            <p:cNvSpPr>
              <a:spLocks noChangeArrowheads="1"/>
            </p:cNvSpPr>
            <p:nvPr/>
          </p:nvSpPr>
          <p:spPr bwMode="auto">
            <a:xfrm>
              <a:off x="1824" y="1539"/>
              <a:ext cx="1008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Downtown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Redwood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null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1219200" y="4267200"/>
            <a:ext cx="6019800" cy="1524000"/>
            <a:chOff x="768" y="2688"/>
            <a:chExt cx="3792" cy="960"/>
          </a:xfrm>
        </p:grpSpPr>
        <p:sp>
          <p:nvSpPr>
            <p:cNvPr id="197651" name="Rectangle 14"/>
            <p:cNvSpPr>
              <a:spLocks noChangeArrowheads="1"/>
            </p:cNvSpPr>
            <p:nvPr/>
          </p:nvSpPr>
          <p:spPr bwMode="auto">
            <a:xfrm>
              <a:off x="768" y="2688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loan_number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52" name="Rectangle 15"/>
            <p:cNvSpPr>
              <a:spLocks noChangeArrowheads="1"/>
            </p:cNvSpPr>
            <p:nvPr/>
          </p:nvSpPr>
          <p:spPr bwMode="auto">
            <a:xfrm>
              <a:off x="2784" y="2688"/>
              <a:ext cx="72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amount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53" name="Rectangle 17"/>
            <p:cNvSpPr>
              <a:spLocks noChangeArrowheads="1"/>
            </p:cNvSpPr>
            <p:nvPr/>
          </p:nvSpPr>
          <p:spPr bwMode="auto">
            <a:xfrm>
              <a:off x="768" y="2928"/>
              <a:ext cx="1008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L-170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L-230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L-260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L-155</a:t>
              </a:r>
            </a:p>
          </p:txBody>
        </p:sp>
        <p:sp>
          <p:nvSpPr>
            <p:cNvPr id="197654" name="Rectangle 18"/>
            <p:cNvSpPr>
              <a:spLocks noChangeArrowheads="1"/>
            </p:cNvSpPr>
            <p:nvPr/>
          </p:nvSpPr>
          <p:spPr bwMode="auto">
            <a:xfrm>
              <a:off x="2784" y="2928"/>
              <a:ext cx="720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3000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4000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1700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null</a:t>
              </a:r>
            </a:p>
          </p:txBody>
        </p:sp>
        <p:sp>
          <p:nvSpPr>
            <p:cNvPr id="197655" name="Rectangle 19"/>
            <p:cNvSpPr>
              <a:spLocks noChangeArrowheads="1"/>
            </p:cNvSpPr>
            <p:nvPr/>
          </p:nvSpPr>
          <p:spPr bwMode="auto">
            <a:xfrm>
              <a:off x="3504" y="2688"/>
              <a:ext cx="105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customer_name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56" name="Rectangle 20"/>
            <p:cNvSpPr>
              <a:spLocks noChangeArrowheads="1"/>
            </p:cNvSpPr>
            <p:nvPr/>
          </p:nvSpPr>
          <p:spPr bwMode="auto">
            <a:xfrm>
              <a:off x="3504" y="2928"/>
              <a:ext cx="105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Jones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Smith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null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Hayes</a:t>
              </a:r>
            </a:p>
          </p:txBody>
        </p:sp>
        <p:sp>
          <p:nvSpPr>
            <p:cNvPr id="197657" name="Rectangle 27"/>
            <p:cNvSpPr>
              <a:spLocks noChangeArrowheads="1"/>
            </p:cNvSpPr>
            <p:nvPr/>
          </p:nvSpPr>
          <p:spPr bwMode="auto">
            <a:xfrm>
              <a:off x="1776" y="2688"/>
              <a:ext cx="1008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branch_name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7658" name="Rectangle 28"/>
            <p:cNvSpPr>
              <a:spLocks noChangeArrowheads="1"/>
            </p:cNvSpPr>
            <p:nvPr/>
          </p:nvSpPr>
          <p:spPr bwMode="auto">
            <a:xfrm>
              <a:off x="1776" y="2928"/>
              <a:ext cx="1008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Downtown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Redwood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Perryridge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null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Arial" pitchFamily="34" charset="0"/>
              </a:endParaRPr>
            </a:p>
          </p:txBody>
        </p:sp>
      </p:grpSp>
      <p:grpSp>
        <p:nvGrpSpPr>
          <p:cNvPr id="197637" name="Group 83"/>
          <p:cNvGrpSpPr>
            <a:grpSpLocks/>
          </p:cNvGrpSpPr>
          <p:nvPr/>
        </p:nvGrpSpPr>
        <p:grpSpPr bwMode="auto">
          <a:xfrm>
            <a:off x="806450" y="3405188"/>
            <a:ext cx="4070350" cy="738187"/>
            <a:chOff x="508" y="2145"/>
            <a:chExt cx="2564" cy="465"/>
          </a:xfrm>
        </p:grpSpPr>
        <p:sp>
          <p:nvSpPr>
            <p:cNvPr id="197644" name="Rectangle 24"/>
            <p:cNvSpPr>
              <a:spLocks noChangeArrowheads="1"/>
            </p:cNvSpPr>
            <p:nvPr/>
          </p:nvSpPr>
          <p:spPr bwMode="auto">
            <a:xfrm>
              <a:off x="508" y="2145"/>
              <a:ext cx="2564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Char char="n"/>
                <a:tabLst/>
                <a:defRPr/>
              </a:pPr>
              <a:r>
                <a: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 Full Outer Join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    loan        borrower</a:t>
              </a:r>
            </a:p>
          </p:txBody>
        </p:sp>
        <p:grpSp>
          <p:nvGrpSpPr>
            <p:cNvPr id="197645" name="Group 56"/>
            <p:cNvGrpSpPr>
              <a:grpSpLocks/>
            </p:cNvGrpSpPr>
            <p:nvPr/>
          </p:nvGrpSpPr>
          <p:grpSpPr bwMode="auto">
            <a:xfrm>
              <a:off x="1017" y="2448"/>
              <a:ext cx="244" cy="96"/>
              <a:chOff x="1141" y="2444"/>
              <a:chExt cx="244" cy="96"/>
            </a:xfrm>
          </p:grpSpPr>
          <p:sp>
            <p:nvSpPr>
              <p:cNvPr id="197646" name="AutoShape 57"/>
              <p:cNvSpPr>
                <a:spLocks noChangeArrowheads="1"/>
              </p:cNvSpPr>
              <p:nvPr/>
            </p:nvSpPr>
            <p:spPr bwMode="auto">
              <a:xfrm rot="16200000" flipV="1">
                <a:off x="1213" y="2444"/>
                <a:ext cx="96" cy="96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7647" name="Line 58"/>
              <p:cNvSpPr>
                <a:spLocks noChangeShapeType="1"/>
              </p:cNvSpPr>
              <p:nvPr/>
            </p:nvSpPr>
            <p:spPr bwMode="auto">
              <a:xfrm flipH="1">
                <a:off x="1144" y="2450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7648" name="Line 59"/>
              <p:cNvSpPr>
                <a:spLocks noChangeShapeType="1"/>
              </p:cNvSpPr>
              <p:nvPr/>
            </p:nvSpPr>
            <p:spPr bwMode="auto">
              <a:xfrm flipH="1">
                <a:off x="1141" y="2537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7649" name="Line 60"/>
              <p:cNvSpPr>
                <a:spLocks noChangeShapeType="1"/>
              </p:cNvSpPr>
              <p:nvPr/>
            </p:nvSpPr>
            <p:spPr bwMode="auto">
              <a:xfrm flipH="1">
                <a:off x="1321" y="2537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7650" name="Line 61"/>
              <p:cNvSpPr>
                <a:spLocks noChangeShapeType="1"/>
              </p:cNvSpPr>
              <p:nvPr/>
            </p:nvSpPr>
            <p:spPr bwMode="auto">
              <a:xfrm flipH="1">
                <a:off x="1309" y="2444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</p:grpSp>
      </p:grpSp>
      <p:grpSp>
        <p:nvGrpSpPr>
          <p:cNvPr id="197638" name="Group 82"/>
          <p:cNvGrpSpPr>
            <a:grpSpLocks/>
          </p:cNvGrpSpPr>
          <p:nvPr/>
        </p:nvGrpSpPr>
        <p:grpSpPr bwMode="auto">
          <a:xfrm>
            <a:off x="798513" y="1077913"/>
            <a:ext cx="4070350" cy="738187"/>
            <a:chOff x="503" y="679"/>
            <a:chExt cx="2564" cy="465"/>
          </a:xfrm>
        </p:grpSpPr>
        <p:sp>
          <p:nvSpPr>
            <p:cNvPr id="197639" name="Rectangle 66"/>
            <p:cNvSpPr>
              <a:spLocks noChangeArrowheads="1"/>
            </p:cNvSpPr>
            <p:nvPr/>
          </p:nvSpPr>
          <p:spPr bwMode="auto">
            <a:xfrm>
              <a:off x="503" y="679"/>
              <a:ext cx="2564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Char char="n"/>
                <a:tabLst/>
                <a:defRPr/>
              </a:pPr>
              <a:r>
                <a: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 Right Outer Join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rPr>
                <a:t>    loan        borrower</a:t>
              </a:r>
            </a:p>
          </p:txBody>
        </p:sp>
        <p:grpSp>
          <p:nvGrpSpPr>
            <p:cNvPr id="197640" name="Group 73"/>
            <p:cNvGrpSpPr>
              <a:grpSpLocks/>
            </p:cNvGrpSpPr>
            <p:nvPr/>
          </p:nvGrpSpPr>
          <p:grpSpPr bwMode="auto">
            <a:xfrm>
              <a:off x="1065" y="978"/>
              <a:ext cx="167" cy="99"/>
              <a:chOff x="1050" y="991"/>
              <a:chExt cx="167" cy="99"/>
            </a:xfrm>
          </p:grpSpPr>
          <p:sp>
            <p:nvSpPr>
              <p:cNvPr id="197641" name="AutoShape 74"/>
              <p:cNvSpPr>
                <a:spLocks noChangeArrowheads="1"/>
              </p:cNvSpPr>
              <p:nvPr/>
            </p:nvSpPr>
            <p:spPr bwMode="auto">
              <a:xfrm rot="16200000" flipV="1">
                <a:off x="1050" y="992"/>
                <a:ext cx="96" cy="96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7642" name="Line 75"/>
              <p:cNvSpPr>
                <a:spLocks noChangeShapeType="1"/>
              </p:cNvSpPr>
              <p:nvPr/>
            </p:nvSpPr>
            <p:spPr bwMode="auto">
              <a:xfrm flipH="1">
                <a:off x="1153" y="991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97643" name="Line 76"/>
              <p:cNvSpPr>
                <a:spLocks noChangeShapeType="1"/>
              </p:cNvSpPr>
              <p:nvPr/>
            </p:nvSpPr>
            <p:spPr bwMode="auto">
              <a:xfrm flipH="1">
                <a:off x="1153" y="1090"/>
                <a:ext cx="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472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8F79DB-3237-4FC3-8593-7BC615A96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89028"/>
              </p:ext>
            </p:extLst>
          </p:nvPr>
        </p:nvGraphicFramePr>
        <p:xfrm>
          <a:off x="762000" y="1066800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96612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32422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8383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42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614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580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6131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E6CD9E-FBBC-497D-B273-695489FC9CB2}"/>
              </a:ext>
            </a:extLst>
          </p:cNvPr>
          <p:cNvSpPr txBox="1"/>
          <p:nvPr/>
        </p:nvSpPr>
        <p:spPr>
          <a:xfrm>
            <a:off x="609600" y="3810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Table: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EBD98-0FBC-43D4-93E5-363AD9F7BB23}"/>
              </a:ext>
            </a:extLst>
          </p:cNvPr>
          <p:cNvSpPr txBox="1"/>
          <p:nvPr/>
        </p:nvSpPr>
        <p:spPr>
          <a:xfrm>
            <a:off x="751114" y="339997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Table: Marks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F8E074-C5AC-4391-BA5A-32181F7D6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79069"/>
              </p:ext>
            </p:extLst>
          </p:nvPr>
        </p:nvGraphicFramePr>
        <p:xfrm>
          <a:off x="628650" y="4206240"/>
          <a:ext cx="78867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224590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96146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4176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47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620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96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5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9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F59148-996D-4931-AB2A-B699F820B9C7}"/>
              </a:ext>
            </a:extLst>
          </p:cNvPr>
          <p:cNvSpPr txBox="1"/>
          <p:nvPr/>
        </p:nvSpPr>
        <p:spPr>
          <a:xfrm>
            <a:off x="571500" y="304800"/>
            <a:ext cx="8001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Students.Name</a:t>
            </a:r>
            <a:r>
              <a:rPr lang="en-US" dirty="0"/>
              <a:t>, </a:t>
            </a:r>
            <a:r>
              <a:rPr lang="en-US" dirty="0" err="1"/>
              <a:t>Students.City</a:t>
            </a:r>
            <a:r>
              <a:rPr lang="en-US" dirty="0"/>
              <a:t>, </a:t>
            </a:r>
            <a:r>
              <a:rPr lang="en-US" dirty="0" err="1"/>
              <a:t>Marks.Score</a:t>
            </a:r>
            <a:endParaRPr lang="en-US" dirty="0"/>
          </a:p>
          <a:p>
            <a:r>
              <a:rPr lang="en-US" dirty="0"/>
              <a:t>FROM Students</a:t>
            </a:r>
          </a:p>
          <a:p>
            <a:r>
              <a:rPr lang="en-US" dirty="0"/>
              <a:t>INNER JOIN Marks</a:t>
            </a:r>
          </a:p>
          <a:p>
            <a:r>
              <a:rPr lang="en-US" dirty="0"/>
              <a:t>ON Students.ID = Marks.ID;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5BC6F2-99E1-481D-915C-D491ADB8A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257057"/>
              </p:ext>
            </p:extLst>
          </p:nvPr>
        </p:nvGraphicFramePr>
        <p:xfrm>
          <a:off x="628650" y="3139440"/>
          <a:ext cx="7886700" cy="1852454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656428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36080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43706939"/>
                    </a:ext>
                  </a:extLst>
                </a:gridCol>
              </a:tblGrid>
              <a:tr h="66373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63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Dhaka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8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Rajshahi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691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Obony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Khulna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796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962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5B83BD-9658-472C-BF6D-C7D11B634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365755"/>
              </p:ext>
            </p:extLst>
          </p:nvPr>
        </p:nvGraphicFramePr>
        <p:xfrm>
          <a:off x="457200" y="1066800"/>
          <a:ext cx="7886700" cy="5212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622728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72546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51159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 Operations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(UNION, INTERSECT, EXCEPT)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 Operations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(INNER JOIN, LEFT JOIN,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19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Combination level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result sets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(rows stacked vertically).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columns from multiple tables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(rows expanded horizontally).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60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columns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Must be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number and type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both queries.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be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columns are matched using a condition.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407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9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31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83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420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93B419-A51A-44FE-A4B9-0F0865D64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28363"/>
              </p:ext>
            </p:extLst>
          </p:nvPr>
        </p:nvGraphicFramePr>
        <p:xfrm>
          <a:off x="733425" y="609600"/>
          <a:ext cx="7677150" cy="4937760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469441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831336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87799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Duplicates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UNION removes duplicates, UNION ALL keeps them.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Duplicates depend on join condition (may produce Cartesian product if not careful).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94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merge two query results with the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structure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merge data across tables based on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relationships/keys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78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Rows from one query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added on top of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rows from another.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Rows from one table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combined side by side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with rows from another.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790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usage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or merge results of two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similar queries/tables</a:t>
                      </a: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 related data spread across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 tables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173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65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7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6712</TotalTime>
  <Words>2171</Words>
  <Application>Microsoft Office PowerPoint</Application>
  <PresentationFormat>On-screen Show (4:3)</PresentationFormat>
  <Paragraphs>926</Paragraphs>
  <Slides>51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75" baseType="lpstr">
      <vt:lpstr>Arial Unicode MS</vt:lpstr>
      <vt:lpstr>Arial</vt:lpstr>
      <vt:lpstr>Calibri</vt:lpstr>
      <vt:lpstr>Calibri Light</vt:lpstr>
      <vt:lpstr>CMR10</vt:lpstr>
      <vt:lpstr>CMTI10</vt:lpstr>
      <vt:lpstr>CMTI7</vt:lpstr>
      <vt:lpstr>Helvetica</vt:lpstr>
      <vt:lpstr>Lucida Grande</vt:lpstr>
      <vt:lpstr>Monotype Sorts</vt:lpstr>
      <vt:lpstr>Palatino-Roman</vt:lpstr>
      <vt:lpstr>Tahoma</vt:lpstr>
      <vt:lpstr>Times New Roman</vt:lpstr>
      <vt:lpstr>Verdana</vt:lpstr>
      <vt:lpstr>Webdings</vt:lpstr>
      <vt:lpstr>Wingdings</vt:lpstr>
      <vt:lpstr>Office Theme</vt:lpstr>
      <vt:lpstr>1_Office Theme</vt:lpstr>
      <vt:lpstr>4_db-5-grey</vt:lpstr>
      <vt:lpstr>db-5-grey</vt:lpstr>
      <vt:lpstr>3_db-5-grey</vt:lpstr>
      <vt:lpstr>2_db-5-grey</vt:lpstr>
      <vt:lpstr>17_db-5-grey</vt:lpstr>
      <vt:lpstr>Clip</vt:lpstr>
      <vt:lpstr>Database Management Systems</vt:lpstr>
      <vt:lpstr>Examples of SQL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Operations on Tables</vt:lpstr>
      <vt:lpstr>PowerPoint Presentation</vt:lpstr>
      <vt:lpstr>PowerPoint Presentation</vt:lpstr>
      <vt:lpstr>PowerPoint Presentation</vt:lpstr>
      <vt:lpstr>Set Operation</vt:lpstr>
      <vt:lpstr>PowerPoint Presentation</vt:lpstr>
      <vt:lpstr>PowerPoint Presentation</vt:lpstr>
      <vt:lpstr>Example Queries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Set-Intersection Operation –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operation</vt:lpstr>
      <vt:lpstr>What is a JOIN? A join combines rows from two (or more) tables based on a related column (the join key).  General form SELECT ... FROM A JOIN B ON A.key = B.key  Without a condition (CROSS JOIN), you get the  Cartesian product (every row of A with every row of B </vt:lpstr>
      <vt:lpstr>INNER JOIN Returns only the rows where the join condition matches in both tables  LEFT OUTER JOINAll  Rows from the left table; matching rows from the right; non-matches on the right become NULL  RIGHT OUTER JOIN Mirror image of LEFT: all rows from the right table, NULLs for missing left rows.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Outer Join – Example</vt:lpstr>
      <vt:lpstr>Outer Join – Example</vt:lpstr>
      <vt:lpstr>Outer Join – Example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of a Digital Voltmeter using Verilog HDL  &amp;  Xilinx Spartan II FPGA Board</dc:title>
  <dc:creator>Qaosar</dc:creator>
  <cp:lastModifiedBy>CSE Head</cp:lastModifiedBy>
  <cp:revision>255</cp:revision>
  <cp:lastPrinted>1601-01-01T00:00:00Z</cp:lastPrinted>
  <dcterms:created xsi:type="dcterms:W3CDTF">2009-01-28T10:37:00Z</dcterms:created>
  <dcterms:modified xsi:type="dcterms:W3CDTF">2025-09-27T17:25:40Z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2</vt:i4>
  </property>
  <property fmtid="{D5CDD505-2E9C-101B-9397-08002B2CF9AE}" pid="3" name="LCID">
    <vt:i4>1033</vt:i4>
  </property>
</Properties>
</file>