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2" r:id="rId5"/>
  </p:sldMasterIdLst>
  <p:notesMasterIdLst>
    <p:notesMasterId r:id="rId41"/>
  </p:notesMasterIdLst>
  <p:handoutMasterIdLst>
    <p:handoutMasterId r:id="rId42"/>
  </p:handoutMasterIdLst>
  <p:sldIdLst>
    <p:sldId id="436" r:id="rId6"/>
    <p:sldId id="256" r:id="rId7"/>
    <p:sldId id="267" r:id="rId8"/>
    <p:sldId id="268" r:id="rId9"/>
    <p:sldId id="269" r:id="rId10"/>
    <p:sldId id="277" r:id="rId11"/>
    <p:sldId id="271" r:id="rId12"/>
    <p:sldId id="275" r:id="rId13"/>
    <p:sldId id="412" r:id="rId14"/>
    <p:sldId id="442" r:id="rId15"/>
    <p:sldId id="443" r:id="rId16"/>
    <p:sldId id="444" r:id="rId17"/>
    <p:sldId id="428" r:id="rId18"/>
    <p:sldId id="441" r:id="rId19"/>
    <p:sldId id="429" r:id="rId20"/>
    <p:sldId id="432" r:id="rId21"/>
    <p:sldId id="409" r:id="rId22"/>
    <p:sldId id="438" r:id="rId23"/>
    <p:sldId id="415" r:id="rId24"/>
    <p:sldId id="439" r:id="rId25"/>
    <p:sldId id="440" r:id="rId26"/>
    <p:sldId id="434" r:id="rId27"/>
    <p:sldId id="423" r:id="rId28"/>
    <p:sldId id="424" r:id="rId29"/>
    <p:sldId id="425" r:id="rId30"/>
    <p:sldId id="407" r:id="rId31"/>
    <p:sldId id="418" r:id="rId32"/>
    <p:sldId id="410" r:id="rId33"/>
    <p:sldId id="417" r:id="rId34"/>
    <p:sldId id="413" r:id="rId35"/>
    <p:sldId id="416" r:id="rId36"/>
    <p:sldId id="435" r:id="rId37"/>
    <p:sldId id="408" r:id="rId38"/>
    <p:sldId id="411" r:id="rId39"/>
    <p:sldId id="420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94291" autoAdjust="0"/>
  </p:normalViewPr>
  <p:slideViewPr>
    <p:cSldViewPr snapToGrid="0" showGuides="1">
      <p:cViewPr varScale="1">
        <p:scale>
          <a:sx n="69" d="100"/>
          <a:sy n="69" d="100"/>
        </p:scale>
        <p:origin x="852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41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9FB0DB-6E14-4D38-930B-E188F6E13C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5971-2675-487B-9E88-02DB3F19D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8B8F3-31C2-4698-B74C-D5D76CFD8ACD}" type="datetimeFigureOut">
              <a:rPr lang="ru-RU" smtClean="0"/>
              <a:t>01.08.2025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F2125-3128-41A1-8437-EB29536F4D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736B-7E4B-4A53-8310-E0970E67F8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B18F8-B739-4178-8D2D-879F4A27DC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907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01.08.2025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7683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1206" y="2241515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1992"/>
            <a:ext cx="10218713" cy="665713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096001" y="1246188"/>
            <a:ext cx="5170034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48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15791" y="1591499"/>
            <a:ext cx="6561138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77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1880794"/>
            <a:ext cx="10518598" cy="78263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531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67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38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2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60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81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843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1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2266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800404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86457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2032000" y="1397000"/>
          <a:ext cx="8128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397000"/>
                        <a:ext cx="8128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168014" y="5726113"/>
            <a:ext cx="371839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 b="1">
                <a:solidFill>
                  <a:srgbClr val="CC3300"/>
                </a:solidFill>
              </a:rPr>
              <a:t>Database System Concepts, 5</a:t>
            </a:r>
            <a:r>
              <a:rPr lang="en-US" sz="1600" b="1" baseline="30000">
                <a:solidFill>
                  <a:srgbClr val="CC3300"/>
                </a:solidFill>
              </a:rPr>
              <a:t>th</a:t>
            </a:r>
            <a:r>
              <a:rPr lang="en-US" sz="1600" b="1">
                <a:solidFill>
                  <a:srgbClr val="CC3300"/>
                </a:solidFill>
              </a:rPr>
              <a:t> Ed.</a:t>
            </a:r>
            <a:endParaRPr lang="en-US" sz="1600">
              <a:solidFill>
                <a:srgbClr val="00000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See </a:t>
            </a:r>
            <a:r>
              <a:rPr lang="en-US" sz="1200" b="1">
                <a:solidFill>
                  <a:srgbClr val="CC3300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74506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11370733" y="6053138"/>
            <a:ext cx="821267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816351" y="5780088"/>
            <a:ext cx="45974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94751" y="6218238"/>
            <a:ext cx="2540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F57891A-E3B1-46B3-9AB4-F9E8EBB521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46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DB036-34B9-46CA-9D0F-8E97C42EE1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66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34DA2-59C5-4C12-A021-4DE2FBC898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36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851" y="1093789"/>
            <a:ext cx="5005916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4967" y="1093789"/>
            <a:ext cx="500591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743B6-286A-425E-8AAA-DD262FB133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963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9FE6E-C0F8-45CF-85CC-F8D0E67F6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745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9A8F4-E058-43B9-B4C7-20D6276DD7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992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5F138-2B57-4C52-928C-A0DC96D8BF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940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DB7F9-ED7A-4418-9317-E9EAC6471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490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A374C-E717-41B0-BC52-B5DBCC2AD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0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58A91-AE90-46B9-BFDE-4F82854CE9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834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01667" y="117475"/>
            <a:ext cx="26924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7" y="117475"/>
            <a:ext cx="78740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9FDBC-8F52-47BC-8294-C5A9A7BC96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5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1" r:id="rId5"/>
    <p:sldLayoutId id="2147483690" r:id="rId6"/>
    <p:sldLayoutId id="2147483691" r:id="rId7"/>
    <p:sldLayoutId id="2147483684" r:id="rId8"/>
    <p:sldLayoutId id="2147483685" r:id="rId9"/>
    <p:sldLayoutId id="2147483692" r:id="rId10"/>
    <p:sldLayoutId id="2147483693" r:id="rId11"/>
    <p:sldLayoutId id="2147483694" r:id="rId12"/>
    <p:sldLayoutId id="2147483697" r:id="rId13"/>
    <p:sldLayoutId id="2147483698" r:id="rId14"/>
    <p:sldLayoutId id="2147483699" r:id="rId15"/>
    <p:sldLayoutId id="2147483701" r:id="rId16"/>
    <p:sldLayoutId id="2147483700" r:id="rId17"/>
    <p:sldLayoutId id="2147483687" r:id="rId18"/>
    <p:sldLayoutId id="2147483696" r:id="rId19"/>
    <p:sldLayoutId id="214748368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5852" y="1093789"/>
            <a:ext cx="10215033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0748FC30-8BCD-48FC-B366-768499D0C9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402889" y="6613526"/>
            <a:ext cx="24032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6048963" y="6613526"/>
            <a:ext cx="4475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2.</a:t>
            </a:r>
            <a:fld id="{D0BF6C1A-F209-455E-8191-0B05B011B8EB}" type="slidenum">
              <a:rPr 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CC3300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24467" y="117475"/>
            <a:ext cx="1076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1" y="6613526"/>
            <a:ext cx="333777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 - 5</a:t>
            </a:r>
            <a:r>
              <a:rPr lang="en-US" sz="1000" b="1" baseline="30000">
                <a:solidFill>
                  <a:srgbClr val="CC3300"/>
                </a:solidFill>
              </a:rPr>
              <a:t>th</a:t>
            </a:r>
            <a:r>
              <a:rPr lang="en-US" sz="1000" b="1">
                <a:solidFill>
                  <a:srgbClr val="CC3300"/>
                </a:solidFill>
              </a:rPr>
              <a:t> Edition, Oct 5, 2006</a:t>
            </a:r>
          </a:p>
        </p:txBody>
      </p:sp>
      <p:sp>
        <p:nvSpPr>
          <p:cNvPr id="6152" name="Freeform 8"/>
          <p:cNvSpPr>
            <a:spLocks/>
          </p:cNvSpPr>
          <p:nvPr/>
        </p:nvSpPr>
        <p:spPr bwMode="auto">
          <a:xfrm>
            <a:off x="11889317" y="5445126"/>
            <a:ext cx="302683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/>
          </a:p>
        </p:txBody>
      </p:sp>
      <p:pic>
        <p:nvPicPr>
          <p:cNvPr id="6153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880533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4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11370733" y="6053138"/>
            <a:ext cx="821267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97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hamim_cst@yahoo.com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E40B2-A81E-4AE2-B3E0-6316B2079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F809EF-6CDC-411D-9CBA-43B16EE3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7" y="2096908"/>
            <a:ext cx="11790686" cy="26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0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3036366" y="-51301"/>
            <a:ext cx="9155634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Database Management Systems</a:t>
            </a:r>
            <a:endParaRPr lang="ru-RU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BFF0-7F38-496E-BC2A-7B27F12B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C530E-6B86-4B45-BC83-69BB84325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A1DC7-3641-41C0-8E56-927C3351F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8588433" cy="3953734"/>
          </a:xfrm>
        </p:spPr>
        <p:txBody>
          <a:bodyPr>
            <a:normAutofit/>
          </a:bodyPr>
          <a:lstStyle/>
          <a:p>
            <a:r>
              <a:rPr lang="en-US" sz="2800" dirty="0"/>
              <a:t>Course Title: Database Management Systems</a:t>
            </a:r>
          </a:p>
          <a:p>
            <a:r>
              <a:rPr lang="en-US" sz="2800" dirty="0"/>
              <a:t>Course Code: CSE 3103</a:t>
            </a:r>
          </a:p>
          <a:p>
            <a:r>
              <a:rPr lang="en-US" sz="2800" dirty="0"/>
              <a:t>Course Type: Theory</a:t>
            </a:r>
          </a:p>
          <a:p>
            <a:r>
              <a:rPr lang="en-US" sz="2800" dirty="0"/>
              <a:t>Credits: 3</a:t>
            </a:r>
          </a:p>
          <a:p>
            <a:r>
              <a:rPr lang="en-US" sz="2800" dirty="0"/>
              <a:t>Prerequisite Knowledge:  Discrete Mathematics</a:t>
            </a:r>
          </a:p>
          <a:p>
            <a:r>
              <a:rPr lang="en-US" sz="2800" dirty="0"/>
              <a:t>Year and Semester: 3rd Year, Summer Semester,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05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BFF0-7F38-496E-BC2A-7B27F12B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033272"/>
            <a:ext cx="6676505" cy="782638"/>
          </a:xfrm>
        </p:spPr>
        <p:txBody>
          <a:bodyPr>
            <a:normAutofit/>
          </a:bodyPr>
          <a:lstStyle/>
          <a:p>
            <a:r>
              <a:rPr lang="en-US" sz="4000" dirty="0"/>
              <a:t>Instructor’s details: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C530E-6B86-4B45-BC83-69BB84325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A1DC7-3641-41C0-8E56-927C3351F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446102"/>
            <a:ext cx="8588433" cy="2249625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Name: Dr. Shamim Ahmad</a:t>
            </a:r>
          </a:p>
          <a:p>
            <a:r>
              <a:rPr lang="en-US" sz="2800" dirty="0"/>
              <a:t>Designation: Professor</a:t>
            </a:r>
          </a:p>
          <a:p>
            <a:r>
              <a:rPr lang="en-US" sz="2800" dirty="0"/>
              <a:t>Web: www.ru.ac.bd/cse</a:t>
            </a:r>
          </a:p>
          <a:p>
            <a:r>
              <a:rPr lang="en-US" sz="2800" dirty="0"/>
              <a:t>Office Room: First Floor, East Block</a:t>
            </a:r>
          </a:p>
          <a:p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shamim_cst@yahoo.com</a:t>
            </a:r>
            <a:endParaRPr lang="en-US" sz="2800" dirty="0"/>
          </a:p>
          <a:p>
            <a:r>
              <a:rPr lang="en-US" sz="2800" dirty="0"/>
              <a:t>Cell phone: 01713140107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7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C530E-6B86-4B45-BC83-69BB84325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EB9E6-FCF9-434D-A0BA-9B657FE87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589" y="2209561"/>
            <a:ext cx="3975373" cy="3975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529C2F-A926-46C7-A5A7-CA7E3412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72" y="697366"/>
            <a:ext cx="5370286" cy="500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CCC881-FA68-4F6D-8609-53B74C342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553CF-A894-4F10-B2FA-BAD120940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24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6C4152-C807-4EBD-92B7-4710FAE553F9}"/>
              </a:ext>
            </a:extLst>
          </p:cNvPr>
          <p:cNvSpPr txBox="1"/>
          <p:nvPr/>
        </p:nvSpPr>
        <p:spPr>
          <a:xfrm>
            <a:off x="7452310" y="261257"/>
            <a:ext cx="40034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Shamim Ahmad’s</a:t>
            </a:r>
          </a:p>
          <a:p>
            <a:r>
              <a:rPr lang="en-US" sz="3600" dirty="0">
                <a:solidFill>
                  <a:schemeClr val="bg1"/>
                </a:solidFill>
              </a:rPr>
              <a:t>Profile Page </a:t>
            </a:r>
          </a:p>
          <a:p>
            <a:r>
              <a:rPr lang="en-US" sz="3600" dirty="0">
                <a:solidFill>
                  <a:schemeClr val="bg1"/>
                </a:solidFill>
              </a:rPr>
              <a:t>at</a:t>
            </a:r>
          </a:p>
          <a:p>
            <a:r>
              <a:rPr lang="en-US" sz="3600" dirty="0" err="1">
                <a:solidFill>
                  <a:schemeClr val="bg1"/>
                </a:solidFill>
              </a:rPr>
              <a:t>Rajshahi</a:t>
            </a:r>
            <a:r>
              <a:rPr lang="en-US" sz="3600" dirty="0">
                <a:solidFill>
                  <a:schemeClr val="bg1"/>
                </a:solidFill>
              </a:rPr>
              <a:t> University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www.ru.ac.bd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FF4448-DEBE-4DF1-844C-BD05BABD1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574" y="3874539"/>
            <a:ext cx="2722204" cy="272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7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C530E-6B86-4B45-BC83-69BB84325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  <p:pic>
        <p:nvPicPr>
          <p:cNvPr id="1026" name="Picture 2" descr="Zoom Unveils Slew of New Features at Zoomtopia 2020 - eWEEK">
            <a:extLst>
              <a:ext uri="{FF2B5EF4-FFF2-40B4-BE49-F238E27FC236}">
                <a16:creationId xmlns:a16="http://schemas.microsoft.com/office/drawing/2014/main" id="{5A35EFF6-5113-4368-957C-969232DD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C8D1EB-183A-44DF-8E41-8F06D38AC45A}"/>
              </a:ext>
            </a:extLst>
          </p:cNvPr>
          <p:cNvSpPr txBox="1"/>
          <p:nvPr/>
        </p:nvSpPr>
        <p:spPr>
          <a:xfrm>
            <a:off x="4081712" y="6105887"/>
            <a:ext cx="6115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/>
              <a:t>Zoom (PMI 427 888 6753)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161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74906-2532-4EB7-9257-433082206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DD037-F02D-4960-95F4-5E653F8DA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0835" cy="5941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A9C7F-AB8A-4C8A-AF01-05C072CA2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1722" y="5941360"/>
            <a:ext cx="12343722" cy="680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45D1AF-1201-4798-B98E-92303AF8F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388" y="1601031"/>
            <a:ext cx="2922958" cy="294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52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D1F56D-9A56-4CD7-9FE4-F9EDF221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25745" cy="3247818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5049DBD-D034-4D0C-A5B0-F98801A22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44346"/>
              </p:ext>
            </p:extLst>
          </p:nvPr>
        </p:nvGraphicFramePr>
        <p:xfrm>
          <a:off x="298857" y="3610183"/>
          <a:ext cx="11629131" cy="272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116178" imgH="1432076" progId="Word.Document.12">
                  <p:embed/>
                </p:oleObj>
              </mc:Choice>
              <mc:Fallback>
                <p:oleObj name="Document" r:id="rId3" imgW="6116178" imgH="14320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857" y="3610183"/>
                        <a:ext cx="11629131" cy="2722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03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5AF75-BD66-40A6-9730-C5CE11A89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9FADA2-85CF-4426-BAFB-25742691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0" y="459990"/>
            <a:ext cx="11522439" cy="59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5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11709-737F-4C04-A163-3115F5B034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6664E7-8D19-4256-926E-AD862CB9D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0" y="481328"/>
            <a:ext cx="11522439" cy="58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9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05E03-7745-4103-B2B1-6BE9E47A0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24985-AF86-43F8-922B-0100A5CD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1" y="1148898"/>
            <a:ext cx="11559018" cy="45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9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0341-A5F0-4188-8628-D4292F340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0E33C7-E281-483C-A378-8FFD9DE82CF2}"/>
              </a:ext>
            </a:extLst>
          </p:cNvPr>
          <p:cNvSpPr/>
          <p:nvPr/>
        </p:nvSpPr>
        <p:spPr>
          <a:xfrm>
            <a:off x="2358673" y="142487"/>
            <a:ext cx="68814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 Profile (K1–K9)</a:t>
            </a:r>
            <a:endParaRPr lang="en-US" sz="4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9446A-86BC-4A07-8512-DA08A3B0C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18" y="1067293"/>
            <a:ext cx="11311164" cy="549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0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0341-A5F0-4188-8628-D4292F340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0E33C7-E281-483C-A378-8FFD9DE82CF2}"/>
              </a:ext>
            </a:extLst>
          </p:cNvPr>
          <p:cNvSpPr/>
          <p:nvPr/>
        </p:nvSpPr>
        <p:spPr>
          <a:xfrm>
            <a:off x="2358673" y="142487"/>
            <a:ext cx="68814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 Profile (K1–K9)</a:t>
            </a:r>
            <a:endParaRPr lang="en-US" sz="4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D14568-4895-4860-A911-36AD7B6F9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69" y="1356180"/>
            <a:ext cx="11132261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7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0341-A5F0-4188-8628-D4292F340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479A3-BFA7-457F-97FF-ED82D4952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8" y="97247"/>
            <a:ext cx="11388315" cy="666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4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0341-A5F0-4188-8628-D4292F340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B330B-8006-426C-A5A4-6F73DA0B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55" y="792251"/>
            <a:ext cx="10729890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1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C994DB-C62E-4343-91EB-FEFBC38722A4}"/>
              </a:ext>
            </a:extLst>
          </p:cNvPr>
          <p:cNvSpPr/>
          <p:nvPr/>
        </p:nvSpPr>
        <p:spPr>
          <a:xfrm>
            <a:off x="1624325" y="819221"/>
            <a:ext cx="8943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Teaching Learning Method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8D1C1D-2521-4850-8CDD-9E3ABFF7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32" y="2327633"/>
            <a:ext cx="10251318" cy="25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19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50A8CF-EA32-474A-A207-A2E6C1CBB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18</a:t>
            </a:fld>
            <a:endParaRPr lang="ru-R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04B9B6-65E6-49F2-B64C-2AEE2649D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189017"/>
              </p:ext>
            </p:extLst>
          </p:nvPr>
        </p:nvGraphicFramePr>
        <p:xfrm>
          <a:off x="3824781" y="268217"/>
          <a:ext cx="5942672" cy="6321566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723432">
                  <a:extLst>
                    <a:ext uri="{9D8B030D-6E8A-4147-A177-3AD203B41FA5}">
                      <a16:colId xmlns:a16="http://schemas.microsoft.com/office/drawing/2014/main" val="1830513591"/>
                    </a:ext>
                  </a:extLst>
                </a:gridCol>
                <a:gridCol w="1739030">
                  <a:extLst>
                    <a:ext uri="{9D8B030D-6E8A-4147-A177-3AD203B41FA5}">
                      <a16:colId xmlns:a16="http://schemas.microsoft.com/office/drawing/2014/main" val="2219494416"/>
                    </a:ext>
                  </a:extLst>
                </a:gridCol>
                <a:gridCol w="2561821">
                  <a:extLst>
                    <a:ext uri="{9D8B030D-6E8A-4147-A177-3AD203B41FA5}">
                      <a16:colId xmlns:a16="http://schemas.microsoft.com/office/drawing/2014/main" val="1965351433"/>
                    </a:ext>
                  </a:extLst>
                </a:gridCol>
                <a:gridCol w="918389">
                  <a:extLst>
                    <a:ext uri="{9D8B030D-6E8A-4147-A177-3AD203B41FA5}">
                      <a16:colId xmlns:a16="http://schemas.microsoft.com/office/drawing/2014/main" val="3277804229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Sessions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Topics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Readings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3151800720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Week-1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Introduction and </a:t>
                      </a:r>
                      <a:endParaRPr lang="en-US" sz="700" u="sng" kern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Database system concept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1-23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CO!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994600576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Entity-Relationship Model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27-68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CO2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379956800"/>
                  </a:ext>
                </a:extLst>
              </a:tr>
              <a:tr h="5655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Entity-Relationship Model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27-68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100376779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Week-4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Relational Model, Relational algebra, structure of MySQL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80-118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578930991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Week-5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Relational Model, Relational algebra,</a:t>
                      </a:r>
                      <a:endParaRPr lang="en-US" sz="70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structure of MySQL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80-118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955505455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Week-6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Relational Model, Relational algebra,</a:t>
                      </a:r>
                      <a:endParaRPr lang="en-US" sz="70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structure of MySQL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80-118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041880029"/>
                  </a:ext>
                </a:extLst>
              </a:tr>
              <a:tr h="120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Week-7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 gridSpan="2">
                  <a:txBody>
                    <a:bodyPr/>
                    <a:lstStyle/>
                    <a:p>
                      <a:pPr marL="21717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Mid Term Examination and Class Test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810101766"/>
                  </a:ext>
                </a:extLst>
              </a:tr>
              <a:tr h="3696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Week-8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Integrity and Security,</a:t>
                      </a:r>
                      <a:endParaRPr lang="en-US" sz="700" u="sng" kern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Reverent MySQL Structure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	pp 226-246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C)2,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630584626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Week-9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Relational-Database Design, Functional dependencies and normal forms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256*-293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802241320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Week-10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Relational-Database Design, Functional dependencies and normal forms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256*-293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3329801845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Week-11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Storage and File Structure, RAID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394-410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3352349463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Week-12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u="none" strike="noStrike" kern="0">
                          <a:effectLst/>
                        </a:rPr>
                        <a:t>Transactions, ACID Properties, Schedule</a:t>
                      </a:r>
                      <a:endParaRPr lang="en-US" sz="700" b="1" u="sng" kern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566-583</a:t>
                      </a:r>
                      <a:endParaRPr lang="en-US" sz="7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980426438"/>
                  </a:ext>
                </a:extLst>
              </a:tr>
              <a:tr h="495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Week-13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Concurrency Control, Recovery System</a:t>
                      </a:r>
                      <a:endParaRPr lang="en-US" sz="70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Relevant MySQL Structure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600">
                          <a:effectLst/>
                        </a:rPr>
                        <a:t>A.  Silberschatz, Database System Concepts</a:t>
                      </a:r>
                      <a:endParaRPr lang="en-US" sz="700">
                        <a:effectLst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	pp 591-598, 640-651</a:t>
                      </a:r>
                      <a:endParaRPr lang="en-US" sz="700">
                        <a:effectLst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PowerPoint slides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CO1, CO2, CO3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2483484631"/>
                  </a:ext>
                </a:extLst>
              </a:tr>
              <a:tr h="120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600">
                          <a:effectLst/>
                        </a:rPr>
                        <a:t>Week-14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 gridSpan="2">
                  <a:txBody>
                    <a:bodyPr/>
                    <a:lstStyle/>
                    <a:p>
                      <a:pPr marL="10287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Reviews, Class Test and Final Exam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287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CO3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3" marR="42173" marT="0" marB="0"/>
                </a:tc>
                <a:extLst>
                  <a:ext uri="{0D108BD9-81ED-4DB2-BD59-A6C34878D82A}">
                    <a16:rowId xmlns:a16="http://schemas.microsoft.com/office/drawing/2014/main" val="3963362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062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30B0540-30D7-490A-8967-7A7846DB9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786733"/>
              </p:ext>
            </p:extLst>
          </p:nvPr>
        </p:nvGraphicFramePr>
        <p:xfrm>
          <a:off x="188913" y="2641600"/>
          <a:ext cx="11799887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10806" imgH="1397176" progId="Word.Document.12">
                  <p:embed/>
                </p:oleObj>
              </mc:Choice>
              <mc:Fallback>
                <p:oleObj name="Document" r:id="rId2" imgW="6110806" imgH="1397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913" y="2641600"/>
                        <a:ext cx="11799887" cy="2700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2E7B1D5-C761-4F1C-A04F-765CAC8B1A8C}"/>
              </a:ext>
            </a:extLst>
          </p:cNvPr>
          <p:cNvSpPr/>
          <p:nvPr/>
        </p:nvSpPr>
        <p:spPr>
          <a:xfrm>
            <a:off x="3213453" y="1054397"/>
            <a:ext cx="57508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Assessment Tools</a:t>
            </a:r>
          </a:p>
        </p:txBody>
      </p:sp>
    </p:spTree>
    <p:extLst>
      <p:ext uri="{BB962C8B-B14F-4D97-AF65-F5344CB8AC3E}">
        <p14:creationId xmlns:p14="http://schemas.microsoft.com/office/powerpoint/2010/main" val="74696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6DB3E-D673-4713-8421-453D10DEF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2A611-B694-431C-9EC9-1F19E8FCE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71" y="245291"/>
            <a:ext cx="9393691" cy="63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8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4FE9A-8F4D-4B88-8B3F-8BAABF7B9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8A669-EB83-4C0E-80BC-D22D9D89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3" y="185897"/>
            <a:ext cx="9553575" cy="648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01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A8103-C471-413D-A8D0-53772D941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73F1A-6B00-4F12-B9BE-E401C870E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30"/>
            <a:ext cx="12344400" cy="67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48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C21B3-A371-4EC0-95D5-918741ABA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23</a:t>
            </a:fld>
            <a:endParaRPr lang="ru-R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9BFE09-F995-4469-BC95-7AEA6F6C7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590786"/>
              </p:ext>
            </p:extLst>
          </p:nvPr>
        </p:nvGraphicFramePr>
        <p:xfrm>
          <a:off x="321354" y="916667"/>
          <a:ext cx="11549291" cy="4116072"/>
        </p:xfrm>
        <a:graphic>
          <a:graphicData uri="http://schemas.openxmlformats.org/drawingml/2006/table">
            <a:tbl>
              <a:tblPr firstRow="1" firstCol="1" bandRow="1"/>
              <a:tblGrid>
                <a:gridCol w="1585820">
                  <a:extLst>
                    <a:ext uri="{9D8B030D-6E8A-4147-A177-3AD203B41FA5}">
                      <a16:colId xmlns:a16="http://schemas.microsoft.com/office/drawing/2014/main" val="3955802687"/>
                    </a:ext>
                  </a:extLst>
                </a:gridCol>
                <a:gridCol w="4230327">
                  <a:extLst>
                    <a:ext uri="{9D8B030D-6E8A-4147-A177-3AD203B41FA5}">
                      <a16:colId xmlns:a16="http://schemas.microsoft.com/office/drawing/2014/main" val="3362585782"/>
                    </a:ext>
                  </a:extLst>
                </a:gridCol>
                <a:gridCol w="5733144">
                  <a:extLst>
                    <a:ext uri="{9D8B030D-6E8A-4147-A177-3AD203B41FA5}">
                      <a16:colId xmlns:a16="http://schemas.microsoft.com/office/drawing/2014/main" val="3243915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Introduction and </a:t>
                      </a:r>
                      <a:endParaRPr lang="en-US" sz="2000" b="1" u="sng" kern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Database system concept</a:t>
                      </a:r>
                      <a:endParaRPr lang="en-US" sz="2000" b="1" u="sng" kern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1-23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421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Week-2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Entity-Relationship Model</a:t>
                      </a:r>
                      <a:endParaRPr lang="en-US" sz="2000" b="1" u="sng" kern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27-68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27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Week-3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Entity-Relationship Model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27-68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10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Week-4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Model, Relational algebra, structure of MySQL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80-118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513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714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C21B3-A371-4EC0-95D5-918741ABA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24</a:t>
            </a:fld>
            <a:endParaRPr lang="ru-R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52E57C-5236-4C41-961B-EB9516591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93315"/>
              </p:ext>
            </p:extLst>
          </p:nvPr>
        </p:nvGraphicFramePr>
        <p:xfrm>
          <a:off x="123372" y="1106463"/>
          <a:ext cx="11945256" cy="4093530"/>
        </p:xfrm>
        <a:graphic>
          <a:graphicData uri="http://schemas.openxmlformats.org/drawingml/2006/table">
            <a:tbl>
              <a:tblPr firstRow="1" firstCol="1" bandRow="1"/>
              <a:tblGrid>
                <a:gridCol w="1640190">
                  <a:extLst>
                    <a:ext uri="{9D8B030D-6E8A-4147-A177-3AD203B41FA5}">
                      <a16:colId xmlns:a16="http://schemas.microsoft.com/office/drawing/2014/main" val="2535089499"/>
                    </a:ext>
                  </a:extLst>
                </a:gridCol>
                <a:gridCol w="4623459">
                  <a:extLst>
                    <a:ext uri="{9D8B030D-6E8A-4147-A177-3AD203B41FA5}">
                      <a16:colId xmlns:a16="http://schemas.microsoft.com/office/drawing/2014/main" val="1063471640"/>
                    </a:ext>
                  </a:extLst>
                </a:gridCol>
                <a:gridCol w="5681607">
                  <a:extLst>
                    <a:ext uri="{9D8B030D-6E8A-4147-A177-3AD203B41FA5}">
                      <a16:colId xmlns:a16="http://schemas.microsoft.com/office/drawing/2014/main" val="1505755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Week-5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Model, Relational algebra,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of MySQL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Silberschatz, Database System Concepts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80-118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870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Week-6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Model, Relational algebra,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of MySQL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Silberschatz, Database System Concepts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80-118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9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Week-7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717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 Term Examination and Class Test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2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Week-8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Vrinda" panose="01010600010101010101" pitchFamily="2" charset="0"/>
                        </a:rPr>
                        <a:t>Integrity and Security,</a:t>
                      </a:r>
                      <a:endParaRPr lang="en-US" sz="2000" b="1" u="sng" ker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Reverent MySQL Structure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Silberschatz, Database System Concepts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226-246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999250"/>
                  </a:ext>
                </a:extLst>
              </a:tr>
              <a:tr h="273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Week-9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Relational-Database Design, Functional dependencies and normal forms</a:t>
                      </a:r>
                      <a:endParaRPr lang="en-US" sz="2000" b="1" u="sng" ker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256*-293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836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614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C21B3-A371-4EC0-95D5-918741ABA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25</a:t>
            </a:fld>
            <a:endParaRPr lang="ru-R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BD83CD-2FF6-4972-A9E1-129DA44E3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52874"/>
              </p:ext>
            </p:extLst>
          </p:nvPr>
        </p:nvGraphicFramePr>
        <p:xfrm>
          <a:off x="239485" y="737245"/>
          <a:ext cx="11713029" cy="4444050"/>
        </p:xfrm>
        <a:graphic>
          <a:graphicData uri="http://schemas.openxmlformats.org/drawingml/2006/table">
            <a:tbl>
              <a:tblPr firstRow="1" firstCol="1" bandRow="1"/>
              <a:tblGrid>
                <a:gridCol w="1808400">
                  <a:extLst>
                    <a:ext uri="{9D8B030D-6E8A-4147-A177-3AD203B41FA5}">
                      <a16:colId xmlns:a16="http://schemas.microsoft.com/office/drawing/2014/main" val="3468881614"/>
                    </a:ext>
                  </a:extLst>
                </a:gridCol>
                <a:gridCol w="4055373">
                  <a:extLst>
                    <a:ext uri="{9D8B030D-6E8A-4147-A177-3AD203B41FA5}">
                      <a16:colId xmlns:a16="http://schemas.microsoft.com/office/drawing/2014/main" val="930922473"/>
                    </a:ext>
                  </a:extLst>
                </a:gridCol>
                <a:gridCol w="5849256">
                  <a:extLst>
                    <a:ext uri="{9D8B030D-6E8A-4147-A177-3AD203B41FA5}">
                      <a16:colId xmlns:a16="http://schemas.microsoft.com/office/drawing/2014/main" val="2666196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Week-10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Relational-Database Design, Functional dependencies and normal forms</a:t>
                      </a:r>
                      <a:endParaRPr lang="en-US" sz="2000" b="1" u="sng" kern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256*-293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79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Week-11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Storage and File Structure, RAID</a:t>
                      </a:r>
                      <a:endParaRPr lang="en-US" sz="2000" b="1" u="sng" kern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394-410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74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Week-12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Vrinda" panose="01010600010101010101" pitchFamily="2" charset="0"/>
                        </a:rPr>
                        <a:t>Transactions, ACID Properties, Schedule</a:t>
                      </a:r>
                      <a:endParaRPr lang="en-US" sz="2000" b="1" u="sng" kern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Vrinda" panose="01010600010101010101" pitchFamily="2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566-583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836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Week-13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Concurrency Control, Recovery System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MySQL Structure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Silberschatz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Database System Concepts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pp 591-598, 640-651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1717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 slides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107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Week-14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287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Reviews, Class Test and Final Exam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715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596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209550" y="162967"/>
            <a:ext cx="11430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Course Conducting/Course Policies:</a:t>
            </a:r>
          </a:p>
          <a:p>
            <a:pPr algn="just"/>
            <a:r>
              <a:rPr lang="en-US" sz="2800" dirty="0"/>
              <a:t>4.The students must enter the </a:t>
            </a:r>
            <a:r>
              <a:rPr lang="en-US" sz="2800" b="1" dirty="0"/>
              <a:t>classroom in time to get </a:t>
            </a:r>
            <a:r>
              <a:rPr lang="en-US" sz="2800" dirty="0"/>
              <a:t>the attendance. No student will be allowed to enter the classroom after the attendance has been done.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A6699-E58C-4749-8C7C-C412B7F4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6683"/>
            <a:ext cx="11872686" cy="44012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-1" y="540794"/>
            <a:ext cx="535577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Conducting/Course Policies: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5.Once the attendance is done, a student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can leave the class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if he or she thinks that he or she is not getting benefits from the class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6.The date and syllabus of quiz/class test will be announced in time in google classroom.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BAA769-5FB1-405D-A4FD-6EDBBF29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43" y="0"/>
            <a:ext cx="5950857" cy="69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82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152400" y="793307"/>
            <a:ext cx="118872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Conducting/Course Policies: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6. The date and syllabus of quiz/class test will be announced in time in google </a:t>
            </a:r>
            <a:endParaRPr lang="en-US" sz="2400" dirty="0">
              <a:solidFill>
                <a:srgbClr val="000000"/>
              </a:solidFill>
              <a:latin typeface="Helvetic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classroom.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7. The reading materials for each class will be available at the above given link prior to that class so that student may have a cursory look into the materials.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8. Students will be 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otified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in due time for class cancelation, extra class, make-up class and tutorial class.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895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152400" y="212735"/>
            <a:ext cx="11887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Conducting/Course Policies: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9. Students are encouraged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to participate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in the class discussion and to ask questions. The student can ask any question without any hesitation as long as he or she can’t understand the topics being discussed; please keep in mind that if you don’t understand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, it’s not your fault, it’s my limitatio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n that I could not make you understand. The class is expected to be interactive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10.Each student will have to present an oral presentation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D87C38-0CC5-4F98-A4E0-A7D0534A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0610"/>
            <a:ext cx="12192000" cy="29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9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536121" y="866996"/>
            <a:ext cx="98298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Conducting/Course Policies: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11.	It is expected that the student will also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provide some new knowledge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related to the curriculum and then make the class as a place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knowledge sharing among all participants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, both teacher and students.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536ED-8EF3-42EE-ABEB-74AEA949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0" y="3106737"/>
            <a:ext cx="6673850" cy="37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84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BB23E1-9472-46A0-95D4-8A55F779DB1B}"/>
              </a:ext>
            </a:extLst>
          </p:cNvPr>
          <p:cNvSpPr txBox="1"/>
          <p:nvPr/>
        </p:nvSpPr>
        <p:spPr>
          <a:xfrm>
            <a:off x="403127" y="456967"/>
            <a:ext cx="299447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Conducting/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Course Policies: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12.	Any attempt for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u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nfairmeans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in the examination is strictly prohibited.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200B52-390E-49EA-8539-2EEDB0A34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074" y="0"/>
            <a:ext cx="703348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7E6C16-E5A1-4AB9-97F6-EB8F6914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24" y="4002313"/>
            <a:ext cx="2708065" cy="26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69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89B476-284E-40CB-95C7-C4EAD2237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ECDC5-CFFF-4EC6-916A-B3AA438A496F}"/>
              </a:ext>
            </a:extLst>
          </p:cNvPr>
          <p:cNvSpPr/>
          <p:nvPr/>
        </p:nvSpPr>
        <p:spPr>
          <a:xfrm>
            <a:off x="2239595" y="2967335"/>
            <a:ext cx="77128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930864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A7148A-9BF6-4633-B29C-92B525D302B8}"/>
              </a:ext>
            </a:extLst>
          </p:cNvPr>
          <p:cNvSpPr txBox="1"/>
          <p:nvPr/>
        </p:nvSpPr>
        <p:spPr>
          <a:xfrm>
            <a:off x="377372" y="185261"/>
            <a:ext cx="518160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Lab Course Contents/List of Experiments:</a:t>
            </a:r>
          </a:p>
          <a:p>
            <a:endParaRPr lang="en-US" dirty="0"/>
          </a:p>
          <a:p>
            <a:r>
              <a:rPr lang="en-US" sz="2000" dirty="0"/>
              <a:t>1. Installation of MySQL</a:t>
            </a:r>
          </a:p>
          <a:p>
            <a:r>
              <a:rPr lang="en-US" sz="2000" dirty="0"/>
              <a:t>2. Create database and table, Table operation (Alter/Drop </a:t>
            </a:r>
            <a:r>
              <a:rPr lang="en-US" sz="2000" dirty="0" err="1"/>
              <a:t>etc</a:t>
            </a:r>
            <a:r>
              <a:rPr lang="en-US" sz="2000" dirty="0"/>
              <a:t>) </a:t>
            </a:r>
          </a:p>
          <a:p>
            <a:r>
              <a:rPr lang="en-US" sz="2000" dirty="0"/>
              <a:t>3. Create table with integrated constraints (Primary key, Foreign Key) </a:t>
            </a:r>
          </a:p>
          <a:p>
            <a:r>
              <a:rPr lang="en-US" sz="2000" dirty="0"/>
              <a:t>4. Insert/delete/update SQL Query (with condition) </a:t>
            </a:r>
          </a:p>
          <a:p>
            <a:r>
              <a:rPr lang="en-US" sz="2000" dirty="0"/>
              <a:t>5. Join, Select Query with multiple conditions and from multiple Tables/Relations</a:t>
            </a:r>
          </a:p>
          <a:p>
            <a:r>
              <a:rPr lang="en-US" sz="2000" dirty="0"/>
              <a:t>6. String searching and operation</a:t>
            </a:r>
          </a:p>
          <a:p>
            <a:r>
              <a:rPr lang="en-US" sz="2000" dirty="0"/>
              <a:t>7. Trigger </a:t>
            </a:r>
          </a:p>
          <a:p>
            <a:r>
              <a:rPr lang="en-US" sz="2000" dirty="0"/>
              <a:t>8. Authorization granting</a:t>
            </a:r>
          </a:p>
          <a:p>
            <a:r>
              <a:rPr lang="en-US" sz="2000" dirty="0"/>
              <a:t>9. Concurrent processing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62C9B-C43D-419E-B5D1-0A840EF2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808" y="-1"/>
            <a:ext cx="6282192" cy="667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83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49BA0E-3A94-4DE8-9CE8-A3A319543ACC}"/>
              </a:ext>
            </a:extLst>
          </p:cNvPr>
          <p:cNvSpPr txBox="1"/>
          <p:nvPr/>
        </p:nvSpPr>
        <p:spPr>
          <a:xfrm>
            <a:off x="214396" y="316262"/>
            <a:ext cx="58816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 project report must be submitted according to the following format:</a:t>
            </a:r>
          </a:p>
          <a:p>
            <a:r>
              <a:rPr lang="en-US" sz="2400" dirty="0"/>
              <a:t>1. Project Title, Student(s) name and ID with department name &amp; RU logo</a:t>
            </a:r>
          </a:p>
          <a:p>
            <a:r>
              <a:rPr lang="en-US" sz="2400" dirty="0"/>
              <a:t>2. Introduction</a:t>
            </a:r>
          </a:p>
          <a:p>
            <a:r>
              <a:rPr lang="en-US" sz="2400" dirty="0"/>
              <a:t>3.Background, Motivation and Objectives</a:t>
            </a:r>
          </a:p>
          <a:p>
            <a:r>
              <a:rPr lang="en-US" sz="2400" dirty="0"/>
              <a:t>4. Design requirements </a:t>
            </a:r>
          </a:p>
          <a:p>
            <a:r>
              <a:rPr lang="en-US" sz="2400" dirty="0"/>
              <a:t>5.ER diagram, DFD </a:t>
            </a:r>
          </a:p>
          <a:p>
            <a:r>
              <a:rPr lang="en-US" sz="2400" dirty="0"/>
              <a:t>6.Key selection, Table formation</a:t>
            </a:r>
          </a:p>
          <a:p>
            <a:r>
              <a:rPr lang="en-US" sz="2400" dirty="0"/>
              <a:t>7.Introducing Constraint and Integrity </a:t>
            </a:r>
          </a:p>
          <a:p>
            <a:r>
              <a:rPr lang="en-US" sz="2400" dirty="0"/>
              <a:t>8.Normalization</a:t>
            </a:r>
          </a:p>
          <a:p>
            <a:r>
              <a:rPr lang="en-US" sz="2400" dirty="0"/>
              <a:t>9.Ensuring concurrent operations</a:t>
            </a:r>
          </a:p>
          <a:p>
            <a:r>
              <a:rPr lang="en-US" sz="2400" dirty="0"/>
              <a:t>10.implementation by MySQL </a:t>
            </a:r>
          </a:p>
          <a:p>
            <a:r>
              <a:rPr lang="en-US" sz="2400" dirty="0"/>
              <a:t>11.References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EA7BD-D931-4DA2-A3DC-F34638FB3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23" y="0"/>
            <a:ext cx="5881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64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2475-BCD9-4BE3-941A-9B70288F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F9472-FDF5-43A1-B7B1-273DE603E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98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5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7A0EF5-23A9-4627-BC46-745B7DD804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2807890-83DC-4772-9CAD-F7CB30099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5154C8-4BB5-43F2-9F6C-5E79271A0D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653</TotalTime>
  <Words>1198</Words>
  <Application>Microsoft Office PowerPoint</Application>
  <PresentationFormat>Widescreen</PresentationFormat>
  <Paragraphs>259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Calibri</vt:lpstr>
      <vt:lpstr>Helvetica</vt:lpstr>
      <vt:lpstr>Lucida Grande</vt:lpstr>
      <vt:lpstr>Monotype Sorts</vt:lpstr>
      <vt:lpstr>Symbol</vt:lpstr>
      <vt:lpstr>Times New Roman</vt:lpstr>
      <vt:lpstr>Verdana</vt:lpstr>
      <vt:lpstr>Webdings</vt:lpstr>
      <vt:lpstr>Wingdings</vt:lpstr>
      <vt:lpstr>Office Theme</vt:lpstr>
      <vt:lpstr>5_db-5-grey</vt:lpstr>
      <vt:lpstr>Clip</vt:lpstr>
      <vt:lpstr>Document</vt:lpstr>
      <vt:lpstr>Microsoft Word Document</vt:lpstr>
      <vt:lpstr>PowerPoint Presentation</vt:lpstr>
      <vt:lpstr>Database Management Systems</vt:lpstr>
      <vt:lpstr>Overview </vt:lpstr>
      <vt:lpstr>Instructor’s details: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</dc:title>
  <dc:creator>Shamim</dc:creator>
  <cp:lastModifiedBy>CSE Head</cp:lastModifiedBy>
  <cp:revision>78</cp:revision>
  <dcterms:created xsi:type="dcterms:W3CDTF">2022-05-23T02:59:16Z</dcterms:created>
  <dcterms:modified xsi:type="dcterms:W3CDTF">2025-07-31T18:19:49Z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