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57" r:id="rId6"/>
    <p:sldId id="258" r:id="rId7"/>
    <p:sldId id="259" r:id="rId8"/>
    <p:sldId id="261" r:id="rId9"/>
    <p:sldId id="262" r:id="rId10"/>
    <p:sldId id="260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89" r:id="rId20"/>
    <p:sldId id="271" r:id="rId21"/>
    <p:sldId id="275" r:id="rId22"/>
    <p:sldId id="276" r:id="rId23"/>
    <p:sldId id="278" r:id="rId24"/>
    <p:sldId id="279" r:id="rId25"/>
    <p:sldId id="280" r:id="rId26"/>
    <p:sldId id="277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72" r:id="rId35"/>
    <p:sldId id="273" r:id="rId36"/>
    <p:sldId id="274" r:id="rId37"/>
    <p:sldId id="288" r:id="rId38"/>
    <p:sldId id="290" r:id="rId39"/>
    <p:sldId id="292" r:id="rId40"/>
    <p:sldId id="308" r:id="rId41"/>
    <p:sldId id="291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9" r:id="rId50"/>
    <p:sldId id="300" r:id="rId51"/>
    <p:sldId id="301" r:id="rId52"/>
    <p:sldId id="302" r:id="rId53"/>
    <p:sldId id="303" r:id="rId54"/>
    <p:sldId id="304" r:id="rId55"/>
    <p:sldId id="305" r:id="rId56"/>
    <p:sldId id="310" r:id="rId57"/>
    <p:sldId id="306" r:id="rId58"/>
    <p:sldId id="307" r:id="rId5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B63FAE-96B5-6ABE-75EF-F45BD9B426EF}" v="1" dt="2025-12-01T12:00:17.4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02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61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presProps" Target="presProps.xml"/><Relationship Id="rId65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. MONIR AHMMED" userId="S::232311192@vu.edu.bd::bf22f1f5-1847-44c0-9477-651f7edfe863" providerId="AD" clId="Web-{E9B63FAE-96B5-6ABE-75EF-F45BD9B426EF}"/>
    <pc:docChg chg="modSld">
      <pc:chgData name="MD. MONIR AHMMED" userId="S::232311192@vu.edu.bd::bf22f1f5-1847-44c0-9477-651f7edfe863" providerId="AD" clId="Web-{E9B63FAE-96B5-6ABE-75EF-F45BD9B426EF}" dt="2025-12-01T12:00:17.421" v="0" actId="1076"/>
      <pc:docMkLst>
        <pc:docMk/>
      </pc:docMkLst>
      <pc:sldChg chg="modSp">
        <pc:chgData name="MD. MONIR AHMMED" userId="S::232311192@vu.edu.bd::bf22f1f5-1847-44c0-9477-651f7edfe863" providerId="AD" clId="Web-{E9B63FAE-96B5-6ABE-75EF-F45BD9B426EF}" dt="2025-12-01T12:00:17.421" v="0" actId="1076"/>
        <pc:sldMkLst>
          <pc:docMk/>
          <pc:sldMk cId="1012316790" sldId="277"/>
        </pc:sldMkLst>
        <pc:picChg chg="mod">
          <ac:chgData name="MD. MONIR AHMMED" userId="S::232311192@vu.edu.bd::bf22f1f5-1847-44c0-9477-651f7edfe863" providerId="AD" clId="Web-{E9B63FAE-96B5-6ABE-75EF-F45BD9B426EF}" dt="2025-12-01T12:00:17.421" v="0" actId="1076"/>
          <ac:picMkLst>
            <pc:docMk/>
            <pc:sldMk cId="1012316790" sldId="277"/>
            <ac:picMk id="5" creationId="{AAA44008-3FBD-8C1D-47CD-08BC6ED975F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3ABF3EEB-61C0-4FAC-BA99-3020254D2E4D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3ABF3EEB-61C0-4FAC-BA99-3020254D2E4D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3ABF3EEB-61C0-4FAC-BA99-3020254D2E4D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3ABF3EEB-61C0-4FAC-BA99-3020254D2E4D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0"/>
            <a:ext cx="7772400" cy="27432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Computer architecture and Organization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sz="3600" dirty="0"/>
              <a:t>Memory Organization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Memory Hierarchy</a:t>
            </a:r>
            <a:endParaRPr lang="en-US" dirty="0"/>
          </a:p>
          <a:p>
            <a:pPr lvl="1"/>
            <a:r>
              <a:rPr lang="en-US" dirty="0"/>
              <a:t>Arrangement of different types of memories based on accessibility in computer system</a:t>
            </a:r>
          </a:p>
          <a:p>
            <a:pPr lvl="1"/>
            <a:r>
              <a:rPr lang="en-US" sz="2400" dirty="0"/>
              <a:t>Main Memory: memory unit that communicates directly with the CPU (RAM)</a:t>
            </a:r>
          </a:p>
          <a:p>
            <a:pPr lvl="1"/>
            <a:r>
              <a:rPr lang="en-US" sz="2400" dirty="0"/>
              <a:t>Auxiliary Memory: device that provide backup storage (Disk Drives)</a:t>
            </a:r>
          </a:p>
          <a:p>
            <a:pPr lvl="1"/>
            <a:r>
              <a:rPr lang="en-US" sz="2400" dirty="0"/>
              <a:t>Cache Memory: special very-high-speed memory to increase the processing speed</a:t>
            </a:r>
            <a:endParaRPr lang="en-US" sz="10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Memory Hierarchy</a:t>
            </a:r>
            <a:endParaRPr lang="en-US" dirty="0"/>
          </a:p>
          <a:p>
            <a:pPr lvl="0"/>
            <a:r>
              <a:rPr lang="en-US" sz="2400" dirty="0"/>
              <a:t>Order according to speed: Cache&gt;Main Memory&gt;Auxiliary memory</a:t>
            </a:r>
          </a:p>
          <a:p>
            <a:pPr lvl="0"/>
            <a:r>
              <a:rPr lang="en-US" sz="2400" dirty="0"/>
              <a:t>Order according to size: Cache&lt;Main memory&lt;Auxiliary memory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505200"/>
            <a:ext cx="61722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Main Memory</a:t>
            </a:r>
            <a:endParaRPr lang="en-US" dirty="0"/>
          </a:p>
          <a:p>
            <a:r>
              <a:rPr lang="en-US" dirty="0"/>
              <a:t>Main memory is the only one directly accessible to the CPU. </a:t>
            </a:r>
          </a:p>
          <a:p>
            <a:pPr lvl="0"/>
            <a:r>
              <a:rPr lang="en-US" dirty="0"/>
              <a:t>The CPU continuously reads instructions stored there and executes them as required. </a:t>
            </a:r>
          </a:p>
          <a:p>
            <a:pPr lvl="0"/>
            <a:r>
              <a:rPr lang="en-US" dirty="0"/>
              <a:t>Any data actively operated on is also stored there in uniform manner. </a:t>
            </a:r>
          </a:p>
          <a:p>
            <a:pPr lvl="0"/>
            <a:r>
              <a:rPr lang="en-US" dirty="0"/>
              <a:t>RAM (Random access memory) and ROM (Read only memory) are treated as main memory.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GB" b="1" dirty="0"/>
              <a:t>ROM</a:t>
            </a:r>
            <a:endParaRPr lang="en-US" dirty="0"/>
          </a:p>
          <a:p>
            <a:pPr lvl="0"/>
            <a:r>
              <a:rPr lang="en-GB" sz="2400" dirty="0"/>
              <a:t>Stores a program that helps start up the computer </a:t>
            </a:r>
            <a:endParaRPr lang="en-US" sz="2400" dirty="0"/>
          </a:p>
          <a:p>
            <a:pPr lvl="0"/>
            <a:r>
              <a:rPr lang="en-GB" sz="2400" dirty="0"/>
              <a:t>ROM is non-volatile (holds programs and data even after power off)</a:t>
            </a:r>
            <a:endParaRPr lang="en-US" sz="2400" dirty="0"/>
          </a:p>
          <a:p>
            <a:pPr lvl="0"/>
            <a:r>
              <a:rPr lang="en-GB" sz="2400" dirty="0"/>
              <a:t>ROM is also direct access but only read</a:t>
            </a:r>
            <a:endParaRPr lang="en-US" sz="2400" dirty="0"/>
          </a:p>
          <a:p>
            <a:pPr lvl="0"/>
            <a:r>
              <a:rPr lang="en-GB" sz="2400" dirty="0"/>
              <a:t>The contents of ROM are fixed at the time of manufacture  (a typical ROM chip)</a:t>
            </a:r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4495800"/>
            <a:ext cx="56896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599" y="1600200"/>
            <a:ext cx="5816259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Bootstrap Loader</a:t>
            </a:r>
          </a:p>
          <a:p>
            <a:r>
              <a:rPr lang="en-US" sz="2400" dirty="0"/>
              <a:t>A program whose </a:t>
            </a:r>
            <a:br>
              <a:rPr lang="en-US" sz="2400" dirty="0"/>
            </a:br>
            <a:r>
              <a:rPr lang="en-US" sz="2400" dirty="0"/>
              <a:t>function is to start </a:t>
            </a:r>
            <a:br>
              <a:rPr lang="en-US" sz="2400" dirty="0"/>
            </a:br>
            <a:r>
              <a:rPr lang="en-US" sz="2400" dirty="0"/>
              <a:t>the computer </a:t>
            </a:r>
            <a:br>
              <a:rPr lang="en-US" sz="2400" dirty="0"/>
            </a:br>
            <a:r>
              <a:rPr lang="en-US" sz="2400" dirty="0"/>
              <a:t>software operating </a:t>
            </a:r>
            <a:br>
              <a:rPr lang="en-US" sz="2400" dirty="0"/>
            </a:br>
            <a:r>
              <a:rPr lang="en-US" sz="2400" dirty="0"/>
              <a:t>when power is </a:t>
            </a:r>
            <a:br>
              <a:rPr lang="en-US" sz="2400" dirty="0"/>
            </a:br>
            <a:r>
              <a:rPr lang="en-US" sz="2400" dirty="0"/>
              <a:t>turned 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RAM </a:t>
            </a:r>
            <a:endParaRPr lang="en-US" dirty="0"/>
          </a:p>
          <a:p>
            <a:pPr lvl="0"/>
            <a:r>
              <a:rPr lang="en-GB" dirty="0"/>
              <a:t>Its purpose is to temporarily hold programs and data for processing. </a:t>
            </a:r>
            <a:endParaRPr lang="en-US" dirty="0"/>
          </a:p>
          <a:p>
            <a:pPr lvl="0"/>
            <a:r>
              <a:rPr lang="en-GB" dirty="0"/>
              <a:t>Described as being volatile (all data are lost when power off)</a:t>
            </a:r>
            <a:endParaRPr lang="en-US" dirty="0"/>
          </a:p>
          <a:p>
            <a:pPr lvl="0"/>
            <a:r>
              <a:rPr lang="en-GB" dirty="0"/>
              <a:t>It is direct access as it can be both written to or read from in any order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Types of RAM</a:t>
            </a:r>
            <a:endParaRPr lang="en-US" dirty="0"/>
          </a:p>
          <a:p>
            <a:r>
              <a:rPr lang="en-US" sz="2000" dirty="0"/>
              <a:t>Dynamic RAM (DRAM) </a:t>
            </a:r>
          </a:p>
          <a:p>
            <a:r>
              <a:rPr lang="en-US" sz="2000" dirty="0"/>
              <a:t>The RAM which requires the stored information to be periodically re-written, or refreshed, otherwise it would vanish.</a:t>
            </a:r>
          </a:p>
          <a:p>
            <a:r>
              <a:rPr lang="en-US" sz="2000" dirty="0"/>
              <a:t>Static RAM (SRAM)</a:t>
            </a:r>
          </a:p>
          <a:p>
            <a:r>
              <a:rPr lang="en-US" sz="2000" dirty="0"/>
              <a:t>The RAM which never needs to be refreshed as long as power is applied. (It loses its content if power is removed).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4038600"/>
            <a:ext cx="8077200" cy="20763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Memory address map</a:t>
            </a:r>
            <a:endParaRPr lang="en-US" dirty="0"/>
          </a:p>
          <a:p>
            <a:r>
              <a:rPr lang="en-US" dirty="0"/>
              <a:t>Memory Address Map is a representation of assigned address space for each chip</a:t>
            </a:r>
          </a:p>
          <a:p>
            <a:pPr lvl="0"/>
            <a:r>
              <a:rPr lang="en-US" dirty="0"/>
              <a:t>Assume that a computer system needs 512 bytes of RAM and 512 bytes of ROM</a:t>
            </a:r>
          </a:p>
          <a:p>
            <a:pPr lvl="0"/>
            <a:r>
              <a:rPr lang="en-US" dirty="0"/>
              <a:t>The RAM have 128 byte and need seven address lines, where the ROM have 512 bytes and need 9 address lines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Memory address map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  <p:pic>
        <p:nvPicPr>
          <p:cNvPr id="11266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057400"/>
            <a:ext cx="8079253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Memory Connection with CPU</a:t>
            </a:r>
            <a:endParaRPr lang="en-US" dirty="0"/>
          </a:p>
          <a:p>
            <a:pPr lvl="0"/>
            <a:r>
              <a:rPr lang="en-US" dirty="0"/>
              <a:t>The hexadecimal address assigns a range of hexadecimal equivalent address for each chip </a:t>
            </a:r>
          </a:p>
          <a:p>
            <a:pPr lvl="0"/>
            <a:r>
              <a:rPr lang="en-US" dirty="0"/>
              <a:t>Line 8 and 9 represent four distinct binary combination to specify which RAM we chose </a:t>
            </a:r>
          </a:p>
          <a:p>
            <a:pPr lvl="0"/>
            <a:r>
              <a:rPr lang="en-US" dirty="0"/>
              <a:t>When line 10 is 0, CPU selects a RAM. And when it’s 1, it selects the ROM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 vert="vert270">
            <a:normAutofit/>
          </a:bodyPr>
          <a:lstStyle/>
          <a:p>
            <a:pPr>
              <a:buNone/>
            </a:pPr>
            <a:r>
              <a:rPr lang="en-US" b="1" dirty="0"/>
              <a:t>Memory Connection with CPU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1" y="1143000"/>
            <a:ext cx="7620000" cy="568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Cache memory</a:t>
            </a:r>
            <a:endParaRPr lang="en-US" dirty="0"/>
          </a:p>
          <a:p>
            <a:pPr lvl="0"/>
            <a:r>
              <a:rPr lang="en-GB" dirty="0"/>
              <a:t>Small amount of faster memory (SRAM) to speed up computer</a:t>
            </a:r>
            <a:endParaRPr lang="en-US" dirty="0"/>
          </a:p>
          <a:p>
            <a:pPr lvl="0"/>
            <a:r>
              <a:rPr lang="en-GB" dirty="0"/>
              <a:t>Level 1 cache is built within the CPU (internal)</a:t>
            </a:r>
            <a:endParaRPr lang="en-US" dirty="0"/>
          </a:p>
          <a:p>
            <a:pPr lvl="0"/>
            <a:r>
              <a:rPr lang="en-GB" dirty="0"/>
              <a:t>Level 2 cache may be on chip or nearby (external)</a:t>
            </a:r>
            <a:endParaRPr lang="en-US" dirty="0"/>
          </a:p>
          <a:p>
            <a:pPr lvl="0"/>
            <a:r>
              <a:rPr lang="en-GB" dirty="0"/>
              <a:t>Faster for CPU to access than main memory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b="1" dirty="0"/>
              <a:t>Cache performance</a:t>
            </a:r>
          </a:p>
          <a:p>
            <a:r>
              <a:rPr lang="en-GB" dirty="0"/>
              <a:t>Defined as </a:t>
            </a:r>
            <a:r>
              <a:rPr lang="en-GB" i="1" dirty="0"/>
              <a:t>hit ratio</a:t>
            </a:r>
            <a:r>
              <a:rPr lang="en-GB" dirty="0"/>
              <a:t> </a:t>
            </a:r>
          </a:p>
          <a:p>
            <a:r>
              <a:rPr lang="en-GB" dirty="0"/>
              <a:t>When the CPU refers to memory and finds the word in cache, it is called </a:t>
            </a:r>
            <a:r>
              <a:rPr lang="en-GB" i="1" dirty="0"/>
              <a:t>hit</a:t>
            </a:r>
            <a:r>
              <a:rPr lang="en-GB" dirty="0"/>
              <a:t>; </a:t>
            </a:r>
          </a:p>
          <a:p>
            <a:r>
              <a:rPr lang="en-GB" dirty="0"/>
              <a:t>If the word is not found in cache it counts </a:t>
            </a:r>
            <a:r>
              <a:rPr lang="en-GB" i="1" dirty="0"/>
              <a:t>miss</a:t>
            </a:r>
            <a:r>
              <a:rPr lang="en-GB" dirty="0"/>
              <a:t>.</a:t>
            </a:r>
            <a:endParaRPr lang="en-US" dirty="0"/>
          </a:p>
          <a:p>
            <a:r>
              <a:rPr lang="en-GB" dirty="0"/>
              <a:t>The hit ratio is defined as:  </a:t>
            </a:r>
            <a:br>
              <a:rPr lang="en-GB" dirty="0"/>
            </a:br>
            <a:r>
              <a:rPr lang="en-GB" i="1" dirty="0"/>
              <a:t>hit ratio</a:t>
            </a:r>
            <a:r>
              <a:rPr lang="en-GB" dirty="0"/>
              <a:t>=</a:t>
            </a:r>
            <a:r>
              <a:rPr lang="en-GB" i="1" dirty="0"/>
              <a:t>hit</a:t>
            </a:r>
            <a:r>
              <a:rPr lang="en-GB" dirty="0"/>
              <a:t>/(</a:t>
            </a:r>
            <a:r>
              <a:rPr lang="en-GB" i="1" dirty="0" err="1"/>
              <a:t>hit</a:t>
            </a:r>
            <a:r>
              <a:rPr lang="en-GB" dirty="0" err="1"/>
              <a:t>+</a:t>
            </a:r>
            <a:r>
              <a:rPr lang="en-GB" i="1" dirty="0" err="1"/>
              <a:t>miss</a:t>
            </a:r>
            <a:r>
              <a:rPr lang="en-GB" dirty="0"/>
              <a:t>).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b="1" dirty="0"/>
              <a:t>Factors of Cache performance</a:t>
            </a:r>
          </a:p>
          <a:p>
            <a:r>
              <a:rPr lang="en-US" dirty="0"/>
              <a:t>Cache size</a:t>
            </a:r>
          </a:p>
          <a:p>
            <a:r>
              <a:rPr lang="en-US" dirty="0"/>
              <a:t>Mapping method: associative, direct, set-associative</a:t>
            </a:r>
          </a:p>
          <a:p>
            <a:r>
              <a:rPr lang="en-US" dirty="0"/>
              <a:t>Replace algorithm: LRU, LFU, FIFO</a:t>
            </a:r>
          </a:p>
          <a:p>
            <a:r>
              <a:rPr lang="en-US" dirty="0"/>
              <a:t>Write policy: write-through, write-back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0" y="1524000"/>
            <a:ext cx="7082315" cy="46481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</p:spTree>
    <p:extLst>
      <p:ext uri="{BB962C8B-B14F-4D97-AF65-F5344CB8AC3E}">
        <p14:creationId xmlns:p14="http://schemas.microsoft.com/office/powerpoint/2010/main" val="312734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Cache Replacement Algorithm</a:t>
            </a:r>
            <a:endParaRPr lang="ko-KR" altLang="en-US" b="1" dirty="0"/>
          </a:p>
          <a:p>
            <a:r>
              <a:rPr lang="en-US" sz="2400" dirty="0"/>
              <a:t>LRU (Least Recently Used)</a:t>
            </a:r>
            <a:endParaRPr lang="ko-KR" altLang="en-US" sz="2400" dirty="0"/>
          </a:p>
          <a:p>
            <a:r>
              <a:rPr lang="en-US" sz="2400" dirty="0"/>
              <a:t>LFU (Least Frequently Used)</a:t>
            </a:r>
            <a:endParaRPr lang="ko-KR" altLang="en-US" sz="2400" dirty="0"/>
          </a:p>
          <a:p>
            <a:r>
              <a:rPr lang="en-US" sz="2400" dirty="0"/>
              <a:t>FIFO (First-In First-Out) </a:t>
            </a:r>
          </a:p>
          <a:p>
            <a:pPr>
              <a:buNone/>
            </a:pPr>
            <a:r>
              <a:rPr lang="en-US" sz="2400" b="1" dirty="0"/>
              <a:t>Writing to Cache</a:t>
            </a:r>
          </a:p>
          <a:p>
            <a:r>
              <a:rPr lang="en-US" sz="2400" dirty="0"/>
              <a:t>Write-through: Data is written to both cache and main memory at the same time</a:t>
            </a:r>
            <a:r>
              <a:rPr lang="en-US" sz="2400" dirty="0" smtClean="0"/>
              <a:t>.</a:t>
            </a:r>
          </a:p>
          <a:p>
            <a:r>
              <a:rPr lang="en-US" altLang="ko-KR" sz="2400" dirty="0" smtClean="0"/>
              <a:t>Write-back: Cache write and set flag to indicate the last writing.</a:t>
            </a:r>
            <a:r>
              <a:rPr lang="en-US" sz="2400" dirty="0"/>
              <a:t> Memory updated only when cache block is </a:t>
            </a:r>
            <a:r>
              <a:rPr lang="en-US" sz="2400" dirty="0" smtClean="0"/>
              <a:t>replaced.</a:t>
            </a:r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3A1053E-27E9-C782-4D67-E7ECFED95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67906CB-8E30-4D6F-D0BD-24A300837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/>
              <a:t>Consider the page reference string of size 12: 1, 2, 3, 4, 5, 1, 3,1, 6, 3, 2, 3 with frame size 4(i.e. maximum 4 pages in a frame).</a:t>
            </a:r>
          </a:p>
          <a:p>
            <a:pPr>
              <a:buNone/>
            </a:pP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660A045E-BF23-573C-10F7-79C24ED3F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First-In First-Out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F1568C6-4361-1086-E88D-6CFEB9D7B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209800"/>
            <a:ext cx="86868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813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9B20B6D-E71A-6A7C-2AE7-A984445C2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91A67E2-A207-6940-CE88-CE0C173BF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b="1" dirty="0"/>
              <a:t>Total Page Fault = 9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Page Fault ratio = total miss/total possible cases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Page Fault ratio = 9/12</a:t>
            </a: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29CE7979-587B-B0A9-ED59-5FE56ADAF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First-In First-Out</a:t>
            </a:r>
          </a:p>
        </p:txBody>
      </p:sp>
    </p:spTree>
    <p:extLst>
      <p:ext uri="{BB962C8B-B14F-4D97-AF65-F5344CB8AC3E}">
        <p14:creationId xmlns:p14="http://schemas.microsoft.com/office/powerpoint/2010/main" val="1565673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DF95288-CEE5-F424-9036-100F9E36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88AF187-FF45-969B-DA14-3EAD5C25E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/>
              <a:t>Consider the page reference string of size 12: 1, 2, 3, 4, 5, 1, 3,1, 6, 3, 2, 3 with frame size 4(i.e. maximum 4 pages in a frame).</a:t>
            </a:r>
          </a:p>
          <a:p>
            <a:pPr>
              <a:buNone/>
            </a:pP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2084A6B7-2214-53F3-B708-8F0F75C1E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Least Recently Used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7F2C3A46-2775-919A-282E-F82C7FF736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" y="2209800"/>
            <a:ext cx="8439150" cy="379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942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4FE4408-C171-829C-3405-3C829115C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9DAD1C6-F652-5A75-1FC4-1E9CB9BE9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/>
              <a:t>Consider the page reference string of size 12: 1, 2, 3, 4, 5, 1, 3,1, 6, 3, 2, 3 with frame size 4(i.e. maximum 4 pages in a frame).</a:t>
            </a:r>
          </a:p>
          <a:p>
            <a:pPr>
              <a:buNone/>
            </a:pP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B6486769-A792-76C5-30B7-A8BE0BFD7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Least Recently Used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891968B2-905B-F19D-E527-5CB29BDE89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286000"/>
            <a:ext cx="82677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004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2AC6915-3BF1-110B-D3BF-3BACCB358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7111239-80CB-C2B8-2F0C-9F52F0AB5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/>
              <a:t>Consider the page reference string of size 12: 1, 2, 3, 4, 5, 1, 3,1, 6, 3, 2, 3 with frame size 4(i.e. maximum 4 pages in a frame).</a:t>
            </a:r>
          </a:p>
          <a:p>
            <a:pPr>
              <a:buNone/>
            </a:pP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EA0C34-ACA5-3C43-4004-99B8AC0DA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r>
              <a:rPr lang="en-US" sz="4400" dirty="0"/>
              <a:t>Least Recently Used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EAC9FED7-55A8-6FB8-523B-339DB4FF21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32" y="2925907"/>
            <a:ext cx="82296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36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B141F2A-E23D-2450-902C-433EA472C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AAA44008-3FBD-8C1D-47CD-08BC6ED975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921199"/>
            <a:ext cx="8534400" cy="35846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8C994937-7853-BD26-E129-87E3FD26B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Least Recently Used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316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83667AE-2946-87B1-1771-DEE50F3BD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68F9775-9F6A-8077-B648-71470E0FF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Least Recently Used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516C4817-F22F-7287-E5B2-61EC52761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382000" cy="4525963"/>
          </a:xfrm>
        </p:spPr>
        <p:txBody>
          <a:bodyPr/>
          <a:lstStyle/>
          <a:p>
            <a:pPr>
              <a:buNone/>
            </a:pPr>
            <a:r>
              <a:rPr lang="en-US" sz="2400" b="1" dirty="0"/>
              <a:t>Total Page Fault = 8</a:t>
            </a:r>
          </a:p>
          <a:p>
            <a:pPr>
              <a:buNone/>
            </a:pPr>
            <a:endParaRPr lang="en-US" sz="2400" b="1" dirty="0"/>
          </a:p>
          <a:p>
            <a:pPr>
              <a:buNone/>
            </a:pPr>
            <a:r>
              <a:rPr lang="en-US" sz="2400" b="1" dirty="0"/>
              <a:t>Page Fault ratio = total miss/total possible cases</a:t>
            </a:r>
          </a:p>
          <a:p>
            <a:pPr>
              <a:buNone/>
            </a:pPr>
            <a:endParaRPr lang="en-US" sz="2400" b="1" dirty="0"/>
          </a:p>
          <a:p>
            <a:pPr>
              <a:buNone/>
            </a:pPr>
            <a:r>
              <a:rPr lang="en-US" sz="2400" b="1" dirty="0"/>
              <a:t>Page Fault ratio = 8/12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062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70D7B71-09FF-82F4-0009-FDDCFB7C1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EEE8E4E-F7F0-FC70-505D-5377115E4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Least Frequently Used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B8070EB2-1AC9-B457-4CB1-82E6A9222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382000" cy="4525963"/>
          </a:xfrm>
        </p:spPr>
        <p:txBody>
          <a:bodyPr/>
          <a:lstStyle/>
          <a:p>
            <a:pPr>
              <a:buNone/>
            </a:pPr>
            <a:r>
              <a:rPr lang="en-US" sz="2400" dirty="0"/>
              <a:t>Consider the page reference string of size 10: 3,5,6,6,1,1,4,2,3,4 with frame size 3(i.e. maximum 3 pages in a frame).</a:t>
            </a:r>
          </a:p>
          <a:p>
            <a:pPr>
              <a:buNone/>
            </a:pPr>
            <a:endParaRPr lang="en-US" sz="2400" dirty="0"/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="" xmlns:a16="http://schemas.microsoft.com/office/drawing/2014/main" id="{54FCE5CD-F468-ADAA-400A-0AABA060F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353087"/>
              </p:ext>
            </p:extLst>
          </p:nvPr>
        </p:nvGraphicFramePr>
        <p:xfrm>
          <a:off x="1524000" y="2743200"/>
          <a:ext cx="6096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">
                  <a:extLst>
                    <a:ext uri="{9D8B030D-6E8A-4147-A177-3AD203B41FA5}">
                      <a16:colId xmlns="" xmlns:a16="http://schemas.microsoft.com/office/drawing/2014/main" val="3405052032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1566425039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4052637820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455384467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2792558790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3757438131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3131507211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3619532715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317705945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1497643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248570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86659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652917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380913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9568797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="" xmlns:a16="http://schemas.microsoft.com/office/drawing/2014/main" id="{287B4BA9-E05C-0C92-6AE4-14D30004F5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834737"/>
              </p:ext>
            </p:extLst>
          </p:nvPr>
        </p:nvGraphicFramePr>
        <p:xfrm>
          <a:off x="1600201" y="489712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="" xmlns:a16="http://schemas.microsoft.com/office/drawing/2014/main" val="1453560860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940245202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839089294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1704773619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1008288879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95519520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1344649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518599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Freq.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 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590478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603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D0CE6F3-7BEC-98F8-F1BF-7EBA09BED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FBFA7AF-3149-E34D-838B-5D11AEDB0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Least Frequently Used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53C18506-51BD-4CC4-6E48-DE6C9B24E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382000" cy="4525963"/>
          </a:xfrm>
        </p:spPr>
        <p:txBody>
          <a:bodyPr/>
          <a:lstStyle/>
          <a:p>
            <a:pPr>
              <a:buNone/>
            </a:pPr>
            <a:r>
              <a:rPr lang="en-US" sz="2400" dirty="0"/>
              <a:t>Consider the page reference string of size 10: 3,5,6,6,1,1,4,2,3,4 with frame size 3(i.e. maximum 3 pages in a frame).</a:t>
            </a:r>
          </a:p>
          <a:p>
            <a:pPr>
              <a:buNone/>
            </a:pPr>
            <a:endParaRPr lang="en-US" sz="2400" dirty="0"/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="" xmlns:a16="http://schemas.microsoft.com/office/drawing/2014/main" id="{BB7E9C78-3701-B2FD-FC4B-355432E78E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934857"/>
              </p:ext>
            </p:extLst>
          </p:nvPr>
        </p:nvGraphicFramePr>
        <p:xfrm>
          <a:off x="1524000" y="2743200"/>
          <a:ext cx="6096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">
                  <a:extLst>
                    <a:ext uri="{9D8B030D-6E8A-4147-A177-3AD203B41FA5}">
                      <a16:colId xmlns="" xmlns:a16="http://schemas.microsoft.com/office/drawing/2014/main" val="3405052032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1566425039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4052637820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455384467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2792558790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3757438131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3131507211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3619532715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317705945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1497643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248570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86659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652917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380913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9568797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="" xmlns:a16="http://schemas.microsoft.com/office/drawing/2014/main" id="{A934EAB7-6FC7-07CB-C110-5F7DC8C25D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3236556"/>
              </p:ext>
            </p:extLst>
          </p:nvPr>
        </p:nvGraphicFramePr>
        <p:xfrm>
          <a:off x="1600201" y="489712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="" xmlns:a16="http://schemas.microsoft.com/office/drawing/2014/main" val="1453560860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940245202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839089294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1704773619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1008288879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295519520"/>
                    </a:ext>
                  </a:extLst>
                </a:gridCol>
                <a:gridCol w="870857">
                  <a:extLst>
                    <a:ext uri="{9D8B030D-6E8A-4147-A177-3AD203B41FA5}">
                      <a16:colId xmlns="" xmlns:a16="http://schemas.microsoft.com/office/drawing/2014/main" val="1344649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518599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Freq.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590478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4211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EBA1B40-5269-5DB8-4A7C-95EDB9700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1EE5860-2379-8F60-494D-1F723CD50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Least Frequently Used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5B1593E-4A6E-FA81-B9DC-B482A0AFC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382000" cy="4525963"/>
          </a:xfrm>
        </p:spPr>
        <p:txBody>
          <a:bodyPr/>
          <a:lstStyle/>
          <a:p>
            <a:pPr>
              <a:buNone/>
            </a:pPr>
            <a:r>
              <a:rPr lang="en-US" sz="2400" dirty="0"/>
              <a:t>Consider the page reference string of size 10: 3,5,6,6,1,1,4,2,3,4 with frame size 3(i.e. maximum 3 pages in a frame).</a:t>
            </a:r>
          </a:p>
          <a:p>
            <a:pPr>
              <a:buNone/>
            </a:pPr>
            <a:endParaRPr lang="en-US" sz="2400" dirty="0"/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="" xmlns:a16="http://schemas.microsoft.com/office/drawing/2014/main" id="{E707428C-006F-C11B-B7FA-D309F40E57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020277"/>
              </p:ext>
            </p:extLst>
          </p:nvPr>
        </p:nvGraphicFramePr>
        <p:xfrm>
          <a:off x="1524000" y="2743200"/>
          <a:ext cx="6096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">
                  <a:extLst>
                    <a:ext uri="{9D8B030D-6E8A-4147-A177-3AD203B41FA5}">
                      <a16:colId xmlns="" xmlns:a16="http://schemas.microsoft.com/office/drawing/2014/main" val="3405052032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1566425039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4052637820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455384467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2792558790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3757438131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3131507211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3619532715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317705945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1497643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248570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86659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652917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380913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9568797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="" xmlns:a16="http://schemas.microsoft.com/office/drawing/2014/main" id="{18AA3F12-8D7E-4D7C-F68F-1E5918CCB4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836764"/>
              </p:ext>
            </p:extLst>
          </p:nvPr>
        </p:nvGraphicFramePr>
        <p:xfrm>
          <a:off x="1066800" y="4897120"/>
          <a:ext cx="701040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1486">
                  <a:extLst>
                    <a:ext uri="{9D8B030D-6E8A-4147-A177-3AD203B41FA5}">
                      <a16:colId xmlns="" xmlns:a16="http://schemas.microsoft.com/office/drawing/2014/main" val="1453560860"/>
                    </a:ext>
                  </a:extLst>
                </a:gridCol>
                <a:gridCol w="1001486">
                  <a:extLst>
                    <a:ext uri="{9D8B030D-6E8A-4147-A177-3AD203B41FA5}">
                      <a16:colId xmlns="" xmlns:a16="http://schemas.microsoft.com/office/drawing/2014/main" val="2940245202"/>
                    </a:ext>
                  </a:extLst>
                </a:gridCol>
                <a:gridCol w="1001486">
                  <a:extLst>
                    <a:ext uri="{9D8B030D-6E8A-4147-A177-3AD203B41FA5}">
                      <a16:colId xmlns="" xmlns:a16="http://schemas.microsoft.com/office/drawing/2014/main" val="839089294"/>
                    </a:ext>
                  </a:extLst>
                </a:gridCol>
                <a:gridCol w="1001486">
                  <a:extLst>
                    <a:ext uri="{9D8B030D-6E8A-4147-A177-3AD203B41FA5}">
                      <a16:colId xmlns="" xmlns:a16="http://schemas.microsoft.com/office/drawing/2014/main" val="1704773619"/>
                    </a:ext>
                  </a:extLst>
                </a:gridCol>
                <a:gridCol w="718455">
                  <a:extLst>
                    <a:ext uri="{9D8B030D-6E8A-4147-A177-3AD203B41FA5}">
                      <a16:colId xmlns="" xmlns:a16="http://schemas.microsoft.com/office/drawing/2014/main" val="1008288879"/>
                    </a:ext>
                  </a:extLst>
                </a:gridCol>
                <a:gridCol w="1284517">
                  <a:extLst>
                    <a:ext uri="{9D8B030D-6E8A-4147-A177-3AD203B41FA5}">
                      <a16:colId xmlns="" xmlns:a16="http://schemas.microsoft.com/office/drawing/2014/main" val="295519520"/>
                    </a:ext>
                  </a:extLst>
                </a:gridCol>
                <a:gridCol w="1001486">
                  <a:extLst>
                    <a:ext uri="{9D8B030D-6E8A-4147-A177-3AD203B41FA5}">
                      <a16:colId xmlns="" xmlns:a16="http://schemas.microsoft.com/office/drawing/2014/main" val="1344649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518599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Freq.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0/1-&gt;0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0-&gt;1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590478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673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1391897-EF21-FA9B-0F68-C2CB9F3D0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C79C653-2404-4E4C-5156-1DDC3AB92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Least Frequently Used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2828CE9F-750D-D92A-2F36-2787C49D0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382000" cy="4525963"/>
          </a:xfrm>
        </p:spPr>
        <p:txBody>
          <a:bodyPr/>
          <a:lstStyle/>
          <a:p>
            <a:pPr>
              <a:buNone/>
            </a:pPr>
            <a:r>
              <a:rPr lang="en-US" sz="2400" dirty="0"/>
              <a:t>Consider the page reference string of size 10: 3,5,6,6,1,1,4,2,3,4 with frame size 3(i.e. maximum 3 pages in a frame).</a:t>
            </a:r>
          </a:p>
          <a:p>
            <a:pPr>
              <a:buNone/>
            </a:pPr>
            <a:endParaRPr lang="en-US" sz="2400" dirty="0"/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="" xmlns:a16="http://schemas.microsoft.com/office/drawing/2014/main" id="{0C279B60-15EE-5E8D-1EE7-27A227C179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136999"/>
              </p:ext>
            </p:extLst>
          </p:nvPr>
        </p:nvGraphicFramePr>
        <p:xfrm>
          <a:off x="1524000" y="2743200"/>
          <a:ext cx="6096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">
                  <a:extLst>
                    <a:ext uri="{9D8B030D-6E8A-4147-A177-3AD203B41FA5}">
                      <a16:colId xmlns="" xmlns:a16="http://schemas.microsoft.com/office/drawing/2014/main" val="3405052032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1566425039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4052637820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455384467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2792558790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3757438131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3131507211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3619532715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317705945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1497643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248570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86659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652917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380913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9568797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="" xmlns:a16="http://schemas.microsoft.com/office/drawing/2014/main" id="{A207BE31-CE09-1EEB-D70C-6F90F79945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502985"/>
              </p:ext>
            </p:extLst>
          </p:nvPr>
        </p:nvGraphicFramePr>
        <p:xfrm>
          <a:off x="1066800" y="4897120"/>
          <a:ext cx="701040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1486">
                  <a:extLst>
                    <a:ext uri="{9D8B030D-6E8A-4147-A177-3AD203B41FA5}">
                      <a16:colId xmlns="" xmlns:a16="http://schemas.microsoft.com/office/drawing/2014/main" val="1453560860"/>
                    </a:ext>
                  </a:extLst>
                </a:gridCol>
                <a:gridCol w="1001486">
                  <a:extLst>
                    <a:ext uri="{9D8B030D-6E8A-4147-A177-3AD203B41FA5}">
                      <a16:colId xmlns="" xmlns:a16="http://schemas.microsoft.com/office/drawing/2014/main" val="2940245202"/>
                    </a:ext>
                  </a:extLst>
                </a:gridCol>
                <a:gridCol w="1001486">
                  <a:extLst>
                    <a:ext uri="{9D8B030D-6E8A-4147-A177-3AD203B41FA5}">
                      <a16:colId xmlns="" xmlns:a16="http://schemas.microsoft.com/office/drawing/2014/main" val="839089294"/>
                    </a:ext>
                  </a:extLst>
                </a:gridCol>
                <a:gridCol w="1001486">
                  <a:extLst>
                    <a:ext uri="{9D8B030D-6E8A-4147-A177-3AD203B41FA5}">
                      <a16:colId xmlns="" xmlns:a16="http://schemas.microsoft.com/office/drawing/2014/main" val="1704773619"/>
                    </a:ext>
                  </a:extLst>
                </a:gridCol>
                <a:gridCol w="718455">
                  <a:extLst>
                    <a:ext uri="{9D8B030D-6E8A-4147-A177-3AD203B41FA5}">
                      <a16:colId xmlns="" xmlns:a16="http://schemas.microsoft.com/office/drawing/2014/main" val="1008288879"/>
                    </a:ext>
                  </a:extLst>
                </a:gridCol>
                <a:gridCol w="1284517">
                  <a:extLst>
                    <a:ext uri="{9D8B030D-6E8A-4147-A177-3AD203B41FA5}">
                      <a16:colId xmlns="" xmlns:a16="http://schemas.microsoft.com/office/drawing/2014/main" val="295519520"/>
                    </a:ext>
                  </a:extLst>
                </a:gridCol>
                <a:gridCol w="1001486">
                  <a:extLst>
                    <a:ext uri="{9D8B030D-6E8A-4147-A177-3AD203B41FA5}">
                      <a16:colId xmlns="" xmlns:a16="http://schemas.microsoft.com/office/drawing/2014/main" val="1344649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518599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Freq.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1-&gt;0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590478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3746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ECF558D-2459-B681-ED2E-8819ACAB4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D277721-6D56-2067-AC6C-E0217D2C0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Least Frequently Used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A2352499-39E8-E52F-B387-92A71E454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382000" cy="4525963"/>
          </a:xfrm>
        </p:spPr>
        <p:txBody>
          <a:bodyPr/>
          <a:lstStyle/>
          <a:p>
            <a:pPr>
              <a:buNone/>
            </a:pPr>
            <a:r>
              <a:rPr lang="en-US" sz="2400" dirty="0"/>
              <a:t>Consider the page reference string of size 10: 3,5,6,6,1,1,4,2,3,4 with frame size 3(i.e. maximum 3 pages in a frame).</a:t>
            </a:r>
          </a:p>
          <a:p>
            <a:pPr>
              <a:buNone/>
            </a:pPr>
            <a:endParaRPr lang="en-US" sz="2400" dirty="0"/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="" xmlns:a16="http://schemas.microsoft.com/office/drawing/2014/main" id="{985ACB05-F12A-0DAE-9964-1E5E835A56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155201"/>
              </p:ext>
            </p:extLst>
          </p:nvPr>
        </p:nvGraphicFramePr>
        <p:xfrm>
          <a:off x="1524000" y="2743200"/>
          <a:ext cx="6096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">
                  <a:extLst>
                    <a:ext uri="{9D8B030D-6E8A-4147-A177-3AD203B41FA5}">
                      <a16:colId xmlns="" xmlns:a16="http://schemas.microsoft.com/office/drawing/2014/main" val="3405052032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1566425039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4052637820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455384467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2792558790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3757438131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3131507211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3619532715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317705945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1497643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248570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86659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652917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380913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9568797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="" xmlns:a16="http://schemas.microsoft.com/office/drawing/2014/main" id="{61B1EC7D-9DD1-BE6B-AA64-57BE1821F8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105416"/>
              </p:ext>
            </p:extLst>
          </p:nvPr>
        </p:nvGraphicFramePr>
        <p:xfrm>
          <a:off x="1066800" y="4897120"/>
          <a:ext cx="701040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1486">
                  <a:extLst>
                    <a:ext uri="{9D8B030D-6E8A-4147-A177-3AD203B41FA5}">
                      <a16:colId xmlns="" xmlns:a16="http://schemas.microsoft.com/office/drawing/2014/main" val="1453560860"/>
                    </a:ext>
                  </a:extLst>
                </a:gridCol>
                <a:gridCol w="1001486">
                  <a:extLst>
                    <a:ext uri="{9D8B030D-6E8A-4147-A177-3AD203B41FA5}">
                      <a16:colId xmlns="" xmlns:a16="http://schemas.microsoft.com/office/drawing/2014/main" val="2940245202"/>
                    </a:ext>
                  </a:extLst>
                </a:gridCol>
                <a:gridCol w="1001486">
                  <a:extLst>
                    <a:ext uri="{9D8B030D-6E8A-4147-A177-3AD203B41FA5}">
                      <a16:colId xmlns="" xmlns:a16="http://schemas.microsoft.com/office/drawing/2014/main" val="839089294"/>
                    </a:ext>
                  </a:extLst>
                </a:gridCol>
                <a:gridCol w="1001486">
                  <a:extLst>
                    <a:ext uri="{9D8B030D-6E8A-4147-A177-3AD203B41FA5}">
                      <a16:colId xmlns="" xmlns:a16="http://schemas.microsoft.com/office/drawing/2014/main" val="1704773619"/>
                    </a:ext>
                  </a:extLst>
                </a:gridCol>
                <a:gridCol w="718455">
                  <a:extLst>
                    <a:ext uri="{9D8B030D-6E8A-4147-A177-3AD203B41FA5}">
                      <a16:colId xmlns="" xmlns:a16="http://schemas.microsoft.com/office/drawing/2014/main" val="1008288879"/>
                    </a:ext>
                  </a:extLst>
                </a:gridCol>
                <a:gridCol w="1284517">
                  <a:extLst>
                    <a:ext uri="{9D8B030D-6E8A-4147-A177-3AD203B41FA5}">
                      <a16:colId xmlns="" xmlns:a16="http://schemas.microsoft.com/office/drawing/2014/main" val="295519520"/>
                    </a:ext>
                  </a:extLst>
                </a:gridCol>
                <a:gridCol w="1001486">
                  <a:extLst>
                    <a:ext uri="{9D8B030D-6E8A-4147-A177-3AD203B41FA5}">
                      <a16:colId xmlns="" xmlns:a16="http://schemas.microsoft.com/office/drawing/2014/main" val="1344649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518599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Freq.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1-&gt;0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590478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0083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380DCC5-1272-63BE-9ED0-CA05382BB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85C9A41-4602-9245-EDDE-EEC6C24B2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Least Frequently Used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C66D25A2-9801-9AE5-1FC7-FE1982EB3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382000" cy="4525963"/>
          </a:xfrm>
        </p:spPr>
        <p:txBody>
          <a:bodyPr/>
          <a:lstStyle/>
          <a:p>
            <a:pPr>
              <a:buNone/>
            </a:pPr>
            <a:r>
              <a:rPr lang="en-US" sz="2400" b="1" dirty="0"/>
              <a:t>Total Page Fault = 8</a:t>
            </a:r>
          </a:p>
          <a:p>
            <a:pPr>
              <a:buNone/>
            </a:pPr>
            <a:endParaRPr lang="en-US" sz="2400" b="1" dirty="0"/>
          </a:p>
          <a:p>
            <a:pPr>
              <a:buNone/>
            </a:pPr>
            <a:r>
              <a:rPr lang="en-US" sz="2400" b="1" dirty="0"/>
              <a:t>Page Fault ratio = total miss/total possible cases</a:t>
            </a:r>
          </a:p>
          <a:p>
            <a:pPr>
              <a:buNone/>
            </a:pPr>
            <a:endParaRPr lang="en-US" sz="2400" b="1" dirty="0"/>
          </a:p>
          <a:p>
            <a:pPr>
              <a:buNone/>
            </a:pPr>
            <a:r>
              <a:rPr lang="en-US" sz="2400" b="1" dirty="0"/>
              <a:t>Page Fault ratio = 8/10</a:t>
            </a: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418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Secondary Storage</a:t>
            </a:r>
            <a:endParaRPr lang="en-US" dirty="0"/>
          </a:p>
          <a:p>
            <a:r>
              <a:rPr lang="en-US" dirty="0"/>
              <a:t>Secondary storage (auxiliary storage) is not directly accessible by the CPU. </a:t>
            </a:r>
          </a:p>
          <a:p>
            <a:pPr lvl="0"/>
            <a:r>
              <a:rPr lang="en-US" dirty="0"/>
              <a:t>The computer usually uses its I/O channels to access secondary storage</a:t>
            </a:r>
          </a:p>
          <a:p>
            <a:pPr lvl="0"/>
            <a:r>
              <a:rPr lang="en-US" dirty="0"/>
              <a:t>Transfers the desired data using intermediate area in primary storage. </a:t>
            </a:r>
          </a:p>
          <a:p>
            <a:pPr lvl="0"/>
            <a:r>
              <a:rPr lang="en-US" dirty="0"/>
              <a:t>Secondary storage does not lose data when the device is powered off - non-volatile.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/>
              <a:t>Virtual Memory</a:t>
            </a:r>
            <a:endParaRPr lang="en-US" dirty="0"/>
          </a:p>
          <a:p>
            <a:pPr lvl="0"/>
            <a:r>
              <a:rPr lang="en-GB" dirty="0"/>
              <a:t>Uses backing storage e.g. hard disk as a temporary location for programs and data where insufficient RAM available</a:t>
            </a:r>
            <a:endParaRPr lang="en-US" dirty="0"/>
          </a:p>
          <a:p>
            <a:pPr lvl="0"/>
            <a:r>
              <a:rPr lang="en-GB" dirty="0"/>
              <a:t>Swaps programs and data between the hard-disk and RAM as the CPU requires them for processing</a:t>
            </a:r>
            <a:endParaRPr lang="en-US" dirty="0"/>
          </a:p>
          <a:p>
            <a:pPr lvl="0"/>
            <a:r>
              <a:rPr lang="en-GB" dirty="0"/>
              <a:t>A cheap method of running large or many programs on a computer system</a:t>
            </a:r>
            <a:endParaRPr lang="en-US" dirty="0"/>
          </a:p>
          <a:p>
            <a:pPr lvl="0"/>
            <a:r>
              <a:rPr lang="en-GB" dirty="0"/>
              <a:t>Cost is speed: the CPU can access RAM in nanoseconds but hard-disk in milliseconds</a:t>
            </a:r>
            <a:endParaRPr lang="en-US" dirty="0"/>
          </a:p>
          <a:p>
            <a:pPr lvl="0"/>
            <a:r>
              <a:rPr lang="en-GB" dirty="0"/>
              <a:t>Virtual memory is much slower than RAM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Memory Management</a:t>
            </a:r>
            <a:endParaRPr lang="en-US" dirty="0"/>
          </a:p>
          <a:p>
            <a:r>
              <a:rPr lang="en-US" dirty="0"/>
              <a:t>Collection of hardware and software for managing the various programs residing in memory. </a:t>
            </a:r>
          </a:p>
          <a:p>
            <a:r>
              <a:rPr lang="en-US" dirty="0"/>
              <a:t>The basic components of a memory management unit are:</a:t>
            </a:r>
          </a:p>
          <a:p>
            <a:pPr lvl="1"/>
            <a:r>
              <a:rPr lang="en-US" dirty="0"/>
              <a:t>A facility for dynamic storage relocation that maps logical memory references into physical memory addresses</a:t>
            </a:r>
          </a:p>
          <a:p>
            <a:pPr lvl="1"/>
            <a:r>
              <a:rPr lang="en-US" dirty="0"/>
              <a:t>A provision for sharing common programs stored in memory by different users</a:t>
            </a:r>
          </a:p>
          <a:p>
            <a:pPr lvl="1"/>
            <a:r>
              <a:rPr lang="en-US" dirty="0"/>
              <a:t>Protection of information against unauthorized access between users and preventing users from changing operating systems functions.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r>
              <a:rPr lang="en-US" b="1" dirty="0" smtClean="0"/>
              <a:t>Cache mapping techniques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522" y="2362200"/>
            <a:ext cx="5772956" cy="2743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687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Direct Mapping</a:t>
            </a:r>
          </a:p>
          <a:p>
            <a:pPr fontAlgn="base">
              <a:buFont typeface="Wingdings" panose="05000000000000000000" pitchFamily="2" charset="2"/>
              <a:buChar char="q"/>
            </a:pPr>
            <a:r>
              <a:rPr lang="en-US" dirty="0"/>
              <a:t>A particular block of main memory can map only to a particular line of the cache.</a:t>
            </a:r>
          </a:p>
          <a:p>
            <a:pPr fontAlgn="base">
              <a:buFont typeface="Wingdings" panose="05000000000000000000" pitchFamily="2" charset="2"/>
              <a:buChar char="q"/>
            </a:pPr>
            <a:r>
              <a:rPr lang="en-US" dirty="0"/>
              <a:t>The line number of cache to which a particular block can map is given </a:t>
            </a:r>
            <a:r>
              <a:rPr lang="en-US" dirty="0" smtClean="0"/>
              <a:t>by-</a:t>
            </a:r>
          </a:p>
          <a:p>
            <a:pPr fontAlgn="base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FF0000"/>
                </a:solidFill>
              </a:rPr>
              <a:t>Cache line number= ( Main Memory Block Address ) Modulo (Number of lines in Cache)</a:t>
            </a:r>
            <a:endParaRPr lang="en-US" sz="2400" dirty="0">
              <a:solidFill>
                <a:srgbClr val="FF0000"/>
              </a:solidFill>
            </a:endParaRPr>
          </a:p>
          <a:p>
            <a:pPr fontAlgn="base">
              <a:buFont typeface="Wingdings" panose="05000000000000000000" pitchFamily="2" charset="2"/>
              <a:buChar char="q"/>
            </a:pP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</p:spTree>
    <p:extLst>
      <p:ext uri="{BB962C8B-B14F-4D97-AF65-F5344CB8AC3E}">
        <p14:creationId xmlns:p14="http://schemas.microsoft.com/office/powerpoint/2010/main" val="1521971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Direct Mapping</a:t>
            </a:r>
          </a:p>
          <a:p>
            <a:pPr marL="109728" indent="0" fontAlgn="base">
              <a:buNone/>
            </a:pPr>
            <a:r>
              <a:rPr lang="en-US" dirty="0"/>
              <a:t>Consider cache memory </a:t>
            </a:r>
            <a:endParaRPr lang="en-US" dirty="0" smtClean="0"/>
          </a:p>
          <a:p>
            <a:pPr marL="109728" indent="0" fontAlgn="base">
              <a:buNone/>
            </a:pPr>
            <a:r>
              <a:rPr lang="en-US" dirty="0" smtClean="0"/>
              <a:t>is </a:t>
            </a:r>
            <a:r>
              <a:rPr lang="en-US" dirty="0"/>
              <a:t>divided into ‘n’ </a:t>
            </a:r>
            <a:endParaRPr lang="en-US" dirty="0" smtClean="0"/>
          </a:p>
          <a:p>
            <a:pPr marL="109728" indent="0" fontAlgn="base">
              <a:buNone/>
            </a:pPr>
            <a:r>
              <a:rPr lang="en-US" dirty="0" smtClean="0"/>
              <a:t>number </a:t>
            </a:r>
            <a:r>
              <a:rPr lang="en-US" dirty="0"/>
              <a:t>of lines</a:t>
            </a:r>
            <a:r>
              <a:rPr lang="en-US" dirty="0" smtClean="0"/>
              <a:t>.</a:t>
            </a:r>
          </a:p>
          <a:p>
            <a:pPr marL="109728" indent="0" fontAlgn="base">
              <a:buNone/>
            </a:pPr>
            <a:endParaRPr lang="en-US" dirty="0"/>
          </a:p>
          <a:p>
            <a:pPr marL="109728" indent="0" fontAlgn="base">
              <a:buNone/>
            </a:pPr>
            <a:r>
              <a:rPr lang="en-US" dirty="0"/>
              <a:t>Then, block ‘j’ of </a:t>
            </a:r>
            <a:r>
              <a:rPr lang="en-US" dirty="0" smtClean="0"/>
              <a:t>main</a:t>
            </a:r>
          </a:p>
          <a:p>
            <a:pPr marL="109728" indent="0" fontAlgn="base">
              <a:buNone/>
            </a:pPr>
            <a:r>
              <a:rPr lang="en-US" dirty="0"/>
              <a:t> </a:t>
            </a:r>
            <a:r>
              <a:rPr lang="en-US" dirty="0" smtClean="0"/>
              <a:t>memory </a:t>
            </a:r>
            <a:r>
              <a:rPr lang="en-US" dirty="0"/>
              <a:t>can map to </a:t>
            </a:r>
            <a:r>
              <a:rPr lang="en-US" dirty="0" smtClean="0"/>
              <a:t>line</a:t>
            </a:r>
          </a:p>
          <a:p>
            <a:pPr marL="109728" indent="0" fontAlgn="base">
              <a:buNone/>
            </a:pPr>
            <a:r>
              <a:rPr lang="en-US" dirty="0" smtClean="0"/>
              <a:t> number </a:t>
            </a:r>
            <a:r>
              <a:rPr lang="en-US" dirty="0"/>
              <a:t>(j mod n) only of </a:t>
            </a:r>
            <a:endParaRPr lang="en-US" dirty="0" smtClean="0"/>
          </a:p>
          <a:p>
            <a:pPr marL="109728" indent="0" fontAlgn="base">
              <a:buNone/>
            </a:pPr>
            <a:r>
              <a:rPr lang="en-US" dirty="0"/>
              <a:t> </a:t>
            </a:r>
            <a:r>
              <a:rPr lang="en-US" dirty="0" smtClean="0"/>
              <a:t>the </a:t>
            </a:r>
            <a:r>
              <a:rPr lang="en-US" dirty="0"/>
              <a:t>cache.</a:t>
            </a:r>
          </a:p>
          <a:p>
            <a:pPr fontAlgn="base">
              <a:buFont typeface="Wingdings" panose="05000000000000000000" pitchFamily="2" charset="2"/>
              <a:buChar char="q"/>
            </a:pP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0" y="1752600"/>
            <a:ext cx="3724965" cy="4254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729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 fontAlgn="base">
              <a:buFont typeface="Wingdings" panose="05000000000000000000" pitchFamily="2" charset="2"/>
              <a:buChar char="q"/>
            </a:pP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732" y="1676401"/>
            <a:ext cx="6344535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690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 fontAlgn="base"/>
            <a:r>
              <a:rPr lang="en-US" dirty="0" smtClean="0"/>
              <a:t>In </a:t>
            </a:r>
            <a:r>
              <a:rPr lang="en-US" dirty="0"/>
              <a:t>direct mapping,</a:t>
            </a:r>
          </a:p>
          <a:p>
            <a:pPr marL="109728" indent="0" fontAlgn="base">
              <a:buNone/>
            </a:pPr>
            <a:r>
              <a:rPr lang="en-US" dirty="0"/>
              <a:t>There is no need of any replacement algorithm</a:t>
            </a:r>
            <a:r>
              <a:rPr lang="en-US" dirty="0" smtClean="0"/>
              <a:t>.</a:t>
            </a:r>
          </a:p>
          <a:p>
            <a:pPr marL="109728" indent="0" fontAlgn="base">
              <a:buNone/>
            </a:pPr>
            <a:endParaRPr lang="en-US" dirty="0"/>
          </a:p>
          <a:p>
            <a:pPr marL="109728" indent="0" fontAlgn="base">
              <a:buNone/>
            </a:pPr>
            <a:r>
              <a:rPr lang="en-US" dirty="0"/>
              <a:t>This is because a main memory block can map only to a particular line of the cache</a:t>
            </a:r>
            <a:r>
              <a:rPr lang="en-US" dirty="0" smtClean="0"/>
              <a:t>.</a:t>
            </a:r>
          </a:p>
          <a:p>
            <a:pPr marL="109728" indent="0" fontAlgn="base">
              <a:buNone/>
            </a:pPr>
            <a:endParaRPr lang="en-US" dirty="0"/>
          </a:p>
          <a:p>
            <a:pPr marL="109728" indent="0" fontAlgn="base">
              <a:buNone/>
            </a:pPr>
            <a:r>
              <a:rPr lang="en-US" dirty="0"/>
              <a:t>Thus, the new incoming block will always replace the existing block (if any) in that particular line.</a:t>
            </a:r>
          </a:p>
          <a:p>
            <a:pPr fontAlgn="base">
              <a:buFont typeface="Wingdings" panose="05000000000000000000" pitchFamily="2" charset="2"/>
              <a:buChar char="q"/>
            </a:pP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</p:spTree>
    <p:extLst>
      <p:ext uri="{BB962C8B-B14F-4D97-AF65-F5344CB8AC3E}">
        <p14:creationId xmlns:p14="http://schemas.microsoft.com/office/powerpoint/2010/main" val="1993437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 fontAlgn="base">
              <a:buFont typeface="Wingdings" panose="05000000000000000000" pitchFamily="2" charset="2"/>
              <a:buChar char="q"/>
            </a:pPr>
            <a:r>
              <a:rPr lang="en-US" b="1" u="sng" dirty="0"/>
              <a:t>Division of Physical Address</a:t>
            </a:r>
            <a:endParaRPr lang="en-US" b="1" dirty="0"/>
          </a:p>
          <a:p>
            <a:pPr marL="109728" indent="0" fontAlgn="base">
              <a:buNone/>
            </a:pPr>
            <a:r>
              <a:rPr lang="en-US" b="1" dirty="0"/>
              <a:t>physical address</a:t>
            </a:r>
            <a:r>
              <a:rPr lang="en-US" dirty="0"/>
              <a:t> is the actual hardware-level location in the computer's main memory (RAM</a:t>
            </a:r>
            <a:r>
              <a:rPr lang="en-US" dirty="0" smtClean="0"/>
              <a:t>).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522" y="3048000"/>
            <a:ext cx="5048955" cy="167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675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 fontAlgn="base">
              <a:buFont typeface="Wingdings" panose="05000000000000000000" pitchFamily="2" charset="2"/>
              <a:buChar char="q"/>
            </a:pPr>
            <a:r>
              <a:rPr lang="en-US" b="1" u="sng" dirty="0"/>
              <a:t>Division of Physical Address</a:t>
            </a:r>
            <a:endParaRPr lang="en-US" b="1" dirty="0"/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800" dirty="0">
                <a:latin typeface="Arial" panose="020B0604020202020204" pitchFamily="34" charset="0"/>
              </a:rPr>
              <a:t>MM Size: 4 GB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800" dirty="0">
                <a:latin typeface="Arial" panose="020B0604020202020204" pitchFamily="34" charset="0"/>
              </a:rPr>
              <a:t>Cache Size: 1 MB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800" dirty="0">
                <a:latin typeface="Arial" panose="020B0604020202020204" pitchFamily="34" charset="0"/>
              </a:rPr>
              <a:t>Block Size: 4 KB </a:t>
            </a:r>
          </a:p>
          <a:p>
            <a:endParaRPr lang="en-US" dirty="0" smtClean="0"/>
          </a:p>
          <a:p>
            <a:r>
              <a:rPr lang="en-US" dirty="0" smtClean="0"/>
              <a:t>P.A</a:t>
            </a:r>
            <a:r>
              <a:rPr lang="en-US" dirty="0"/>
              <a:t>. bits split? </a:t>
            </a:r>
          </a:p>
          <a:p>
            <a:r>
              <a:rPr lang="en-US" dirty="0"/>
              <a:t>Tag directory size?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</p:spTree>
    <p:extLst>
      <p:ext uri="{BB962C8B-B14F-4D97-AF65-F5344CB8AC3E}">
        <p14:creationId xmlns:p14="http://schemas.microsoft.com/office/powerpoint/2010/main" val="3751644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 fontAlgn="base">
              <a:buFont typeface="Wingdings" panose="05000000000000000000" pitchFamily="2" charset="2"/>
              <a:buChar char="q"/>
            </a:pPr>
            <a:r>
              <a:rPr lang="en-US" b="1" u="sng" dirty="0"/>
              <a:t>Division of Physical Address</a:t>
            </a:r>
            <a:endParaRPr lang="en-US" b="1" dirty="0"/>
          </a:p>
          <a:p>
            <a:r>
              <a:rPr lang="en-US" dirty="0"/>
              <a:t>MM Size = 4 GB</a:t>
            </a:r>
            <a:br>
              <a:rPr lang="en-US" dirty="0"/>
            </a:br>
            <a:r>
              <a:rPr lang="en-US" dirty="0"/>
              <a:t>= </a:t>
            </a:r>
            <a:r>
              <a:rPr lang="en-US" dirty="0" smtClean="0"/>
              <a:t>2</a:t>
            </a:r>
            <a:r>
              <a:rPr lang="en-US" baseline="30000" dirty="0" smtClean="0"/>
              <a:t>2</a:t>
            </a:r>
            <a:r>
              <a:rPr lang="en-US" dirty="0" smtClean="0"/>
              <a:t>×2</a:t>
            </a:r>
            <a:r>
              <a:rPr lang="en-US" baseline="30000" dirty="0" smtClean="0"/>
              <a:t>30</a:t>
            </a:r>
            <a:r>
              <a:rPr lang="en-US" dirty="0" smtClean="0"/>
              <a:t>B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= </a:t>
            </a:r>
            <a:r>
              <a:rPr lang="en-US" dirty="0" smtClean="0"/>
              <a:t>2</a:t>
            </a:r>
            <a:r>
              <a:rPr lang="en-US" baseline="30000" dirty="0" smtClean="0"/>
              <a:t>(2+30)</a:t>
            </a:r>
            <a:r>
              <a:rPr lang="en-US" dirty="0" smtClean="0"/>
              <a:t>B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= </a:t>
            </a:r>
            <a:r>
              <a:rPr lang="en-US" dirty="0" smtClean="0"/>
              <a:t>2</a:t>
            </a:r>
            <a:r>
              <a:rPr lang="en-US" baseline="30000" dirty="0" smtClean="0"/>
              <a:t>32</a:t>
            </a:r>
            <a:r>
              <a:rPr lang="en-US" dirty="0" smtClean="0"/>
              <a:t>B</a:t>
            </a:r>
            <a:endParaRPr lang="en-US" dirty="0"/>
          </a:p>
          <a:p>
            <a:pPr marL="109728" indent="0">
              <a:buNone/>
            </a:pPr>
            <a:r>
              <a:rPr lang="en-US" dirty="0"/>
              <a:t>∴ No. of P.A. bits = log⁡</a:t>
            </a:r>
            <a:r>
              <a:rPr lang="en-US" baseline="-25000" dirty="0" smtClean="0"/>
              <a:t>2</a:t>
            </a:r>
            <a:r>
              <a:rPr lang="en-US" dirty="0" smtClean="0"/>
              <a:t>2</a:t>
            </a:r>
            <a:r>
              <a:rPr lang="en-US" baseline="30000" dirty="0" smtClean="0"/>
              <a:t>32</a:t>
            </a:r>
            <a:r>
              <a:rPr lang="en-US" dirty="0" smtClean="0"/>
              <a:t>=32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</p:spTree>
    <p:extLst>
      <p:ext uri="{BB962C8B-B14F-4D97-AF65-F5344CB8AC3E}">
        <p14:creationId xmlns:p14="http://schemas.microsoft.com/office/powerpoint/2010/main" val="2932508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 fontAlgn="base">
              <a:buFont typeface="Wingdings" panose="05000000000000000000" pitchFamily="2" charset="2"/>
              <a:buChar char="q"/>
            </a:pPr>
            <a:r>
              <a:rPr lang="en-US" b="1" u="sng" dirty="0"/>
              <a:t>Division of Physical Address</a:t>
            </a:r>
            <a:endParaRPr lang="en-US" b="1" dirty="0"/>
          </a:p>
          <a:p>
            <a:r>
              <a:rPr lang="en-US" dirty="0"/>
              <a:t>Block Size = 4 KB</a:t>
            </a:r>
            <a:br>
              <a:rPr lang="en-US" dirty="0"/>
            </a:br>
            <a:r>
              <a:rPr lang="en-US" dirty="0"/>
              <a:t>= </a:t>
            </a:r>
            <a:r>
              <a:rPr lang="en-US" dirty="0" smtClean="0"/>
              <a:t>2</a:t>
            </a:r>
            <a:r>
              <a:rPr lang="en-US" baseline="30000" dirty="0" smtClean="0"/>
              <a:t>2</a:t>
            </a:r>
            <a:r>
              <a:rPr lang="en-US" dirty="0" smtClean="0"/>
              <a:t>×2</a:t>
            </a:r>
            <a:r>
              <a:rPr lang="en-US" baseline="30000" dirty="0" smtClean="0"/>
              <a:t>10</a:t>
            </a:r>
            <a:r>
              <a:rPr lang="en-US" dirty="0" smtClean="0"/>
              <a:t>B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= </a:t>
            </a:r>
            <a:r>
              <a:rPr lang="en-US" dirty="0" smtClean="0"/>
              <a:t>2</a:t>
            </a:r>
            <a:r>
              <a:rPr lang="en-US" baseline="30000" dirty="0" smtClean="0"/>
              <a:t>12</a:t>
            </a:r>
            <a:r>
              <a:rPr lang="en-US" dirty="0" smtClean="0"/>
              <a:t>B  [Block offset=12 bits]</a:t>
            </a:r>
            <a:endParaRPr lang="en-US" dirty="0"/>
          </a:p>
          <a:p>
            <a:pPr marL="109728" indent="0">
              <a:buNone/>
            </a:pPr>
            <a:endParaRPr lang="en-US" dirty="0" smtClean="0"/>
          </a:p>
          <a:p>
            <a:pPr marL="109728" indent="0">
              <a:buNone/>
            </a:pPr>
            <a:r>
              <a:rPr lang="en-US" dirty="0" smtClean="0"/>
              <a:t>No</a:t>
            </a:r>
            <a:r>
              <a:rPr lang="en-US" dirty="0"/>
              <a:t>. of Blocks in MM = </a:t>
            </a:r>
            <a:r>
              <a:rPr lang="en-US" dirty="0" smtClean="0"/>
              <a:t>2</a:t>
            </a:r>
            <a:r>
              <a:rPr lang="en-US" baseline="30000" dirty="0" smtClean="0"/>
              <a:t>32</a:t>
            </a:r>
            <a:r>
              <a:rPr lang="en-US" dirty="0" smtClean="0"/>
              <a:t>/2</a:t>
            </a:r>
            <a:r>
              <a:rPr lang="en-US" baseline="30000" dirty="0" smtClean="0"/>
              <a:t>12</a:t>
            </a:r>
            <a:r>
              <a:rPr lang="en-US" dirty="0" smtClean="0"/>
              <a:t>=2</a:t>
            </a:r>
            <a:r>
              <a:rPr lang="en-US" baseline="30000" dirty="0" smtClean="0"/>
              <a:t>20</a:t>
            </a:r>
            <a:endParaRPr lang="en-US" baseline="30000" dirty="0"/>
          </a:p>
          <a:p>
            <a:pPr marL="109728" indent="0">
              <a:buNone/>
            </a:pPr>
            <a:endParaRPr lang="en-US" dirty="0" smtClean="0"/>
          </a:p>
          <a:p>
            <a:pPr marL="109728" indent="0">
              <a:buNone/>
            </a:pPr>
            <a:r>
              <a:rPr lang="en-US" dirty="0" smtClean="0"/>
              <a:t>∴ </a:t>
            </a:r>
            <a:r>
              <a:rPr lang="en-US" dirty="0"/>
              <a:t>Block number bits = </a:t>
            </a:r>
            <a:r>
              <a:rPr lang="en-US" dirty="0" smtClean="0"/>
              <a:t>log</a:t>
            </a:r>
            <a:r>
              <a:rPr lang="en-US" baseline="-25000" dirty="0" smtClean="0"/>
              <a:t>2</a:t>
            </a:r>
            <a:r>
              <a:rPr lang="en-US" dirty="0" smtClean="0"/>
              <a:t>2</a:t>
            </a:r>
            <a:r>
              <a:rPr lang="en-US" baseline="30000" dirty="0" smtClean="0"/>
              <a:t>20</a:t>
            </a:r>
            <a:r>
              <a:rPr lang="en-US" dirty="0" smtClean="0"/>
              <a:t>=20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</p:spTree>
    <p:extLst>
      <p:ext uri="{BB962C8B-B14F-4D97-AF65-F5344CB8AC3E}">
        <p14:creationId xmlns:p14="http://schemas.microsoft.com/office/powerpoint/2010/main" val="875018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 fontScale="92500"/>
          </a:bodyPr>
          <a:lstStyle/>
          <a:p>
            <a:r>
              <a:rPr lang="en-US" b="1" u="sng" dirty="0"/>
              <a:t>Division of Physical </a:t>
            </a:r>
            <a:r>
              <a:rPr lang="en-US" b="1" u="sng" dirty="0" smtClean="0"/>
              <a:t>Address</a:t>
            </a:r>
          </a:p>
          <a:p>
            <a:r>
              <a:rPr lang="en-US" dirty="0" smtClean="0"/>
              <a:t>Cache </a:t>
            </a:r>
            <a:r>
              <a:rPr lang="en-US" dirty="0"/>
              <a:t>Size = 1 MB</a:t>
            </a:r>
            <a:br>
              <a:rPr lang="en-US" dirty="0"/>
            </a:br>
            <a:r>
              <a:rPr lang="en-US" dirty="0"/>
              <a:t>= </a:t>
            </a:r>
            <a:r>
              <a:rPr lang="en-US" dirty="0" smtClean="0"/>
              <a:t>1×2</a:t>
            </a:r>
            <a:r>
              <a:rPr lang="en-US" baseline="30000" dirty="0" smtClean="0"/>
              <a:t>20</a:t>
            </a:r>
            <a:r>
              <a:rPr lang="en-US" dirty="0" smtClean="0"/>
              <a:t>B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= </a:t>
            </a:r>
            <a:r>
              <a:rPr lang="en-US" dirty="0" smtClean="0"/>
              <a:t>2</a:t>
            </a:r>
            <a:r>
              <a:rPr lang="en-US" baseline="30000" dirty="0" smtClean="0"/>
              <a:t>20</a:t>
            </a:r>
            <a:r>
              <a:rPr lang="en-US" dirty="0" smtClean="0"/>
              <a:t> </a:t>
            </a:r>
            <a:r>
              <a:rPr lang="en-US" dirty="0"/>
              <a:t>B</a:t>
            </a:r>
          </a:p>
          <a:p>
            <a:pPr marL="109728" indent="0">
              <a:buNone/>
            </a:pPr>
            <a:r>
              <a:rPr lang="en-US" dirty="0"/>
              <a:t>No. of Lines in Cache = </a:t>
            </a:r>
            <a:r>
              <a:rPr lang="en-US" dirty="0" smtClean="0"/>
              <a:t>2</a:t>
            </a:r>
            <a:r>
              <a:rPr lang="en-US" baseline="30000" dirty="0" smtClean="0"/>
              <a:t>20</a:t>
            </a:r>
            <a:r>
              <a:rPr lang="en-US" dirty="0" smtClean="0"/>
              <a:t>/2</a:t>
            </a:r>
            <a:r>
              <a:rPr lang="en-US" baseline="30000" dirty="0" smtClean="0"/>
              <a:t>12 </a:t>
            </a:r>
            <a:r>
              <a:rPr lang="en-US" dirty="0" smtClean="0"/>
              <a:t>= 2</a:t>
            </a:r>
            <a:r>
              <a:rPr lang="en-US" baseline="30000" dirty="0" smtClean="0"/>
              <a:t>8</a:t>
            </a:r>
            <a:r>
              <a:rPr lang="en-US" dirty="0" smtClean="0"/>
              <a:t> </a:t>
            </a:r>
            <a:endParaRPr lang="en-US" baseline="30000" dirty="0" smtClean="0"/>
          </a:p>
          <a:p>
            <a:endParaRPr lang="en-US" baseline="30000" dirty="0" smtClean="0"/>
          </a:p>
          <a:p>
            <a:endParaRPr lang="en-US" baseline="30000" dirty="0" smtClean="0"/>
          </a:p>
          <a:p>
            <a:pPr marL="109728" indent="0">
              <a:buNone/>
            </a:pPr>
            <a:r>
              <a:rPr lang="en-US" dirty="0" smtClean="0"/>
              <a:t>∴ </a:t>
            </a:r>
            <a:r>
              <a:rPr lang="en-US" dirty="0"/>
              <a:t>Line number bits = log⁡</a:t>
            </a:r>
            <a:r>
              <a:rPr lang="en-US" baseline="-25000" dirty="0" smtClean="0"/>
              <a:t>2</a:t>
            </a:r>
            <a:r>
              <a:rPr lang="en-US" dirty="0" smtClean="0"/>
              <a:t>2</a:t>
            </a:r>
            <a:r>
              <a:rPr lang="en-US" baseline="30000" dirty="0" smtClean="0"/>
              <a:t>8</a:t>
            </a:r>
            <a:r>
              <a:rPr lang="en-US" dirty="0" smtClean="0"/>
              <a:t>=8</a:t>
            </a:r>
          </a:p>
          <a:p>
            <a:pPr marL="109728" indent="0">
              <a:buNone/>
            </a:pPr>
            <a:r>
              <a:rPr lang="en-US" dirty="0"/>
              <a:t>No. of Tag </a:t>
            </a:r>
            <a:r>
              <a:rPr lang="en-US" dirty="0" smtClean="0"/>
              <a:t>bits: P.A</a:t>
            </a:r>
            <a:r>
              <a:rPr lang="en-US" dirty="0"/>
              <a:t>. bits − (Line no. bits + offset)</a:t>
            </a:r>
            <a:br>
              <a:rPr lang="en-US" dirty="0"/>
            </a:br>
            <a:r>
              <a:rPr lang="en-US" dirty="0"/>
              <a:t>= 32−(</a:t>
            </a:r>
            <a:r>
              <a:rPr lang="en-US" dirty="0" smtClean="0"/>
              <a:t>8+12)</a:t>
            </a:r>
          </a:p>
          <a:p>
            <a:pPr marL="109728" indent="0">
              <a:buNone/>
            </a:pPr>
            <a:r>
              <a:rPr lang="en-US" b="1" dirty="0" smtClean="0"/>
              <a:t>=12bits</a:t>
            </a:r>
            <a:endParaRPr lang="en-US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</p:spTree>
    <p:extLst>
      <p:ext uri="{BB962C8B-B14F-4D97-AF65-F5344CB8AC3E}">
        <p14:creationId xmlns:p14="http://schemas.microsoft.com/office/powerpoint/2010/main" val="2324512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 fontAlgn="base"/>
            <a:r>
              <a:rPr lang="en-US" b="1" u="sng" dirty="0" smtClean="0"/>
              <a:t>Fully </a:t>
            </a:r>
            <a:r>
              <a:rPr lang="en-US" b="1" u="sng" dirty="0"/>
              <a:t>Associative </a:t>
            </a:r>
            <a:r>
              <a:rPr lang="en-US" b="1" u="sng" dirty="0" smtClean="0"/>
              <a:t>Mapping</a:t>
            </a:r>
          </a:p>
          <a:p>
            <a:pPr marL="109728" indent="0" fontAlgn="base">
              <a:buNone/>
            </a:pPr>
            <a:r>
              <a:rPr lang="en-US" dirty="0" smtClean="0"/>
              <a:t>  In </a:t>
            </a:r>
            <a:r>
              <a:rPr lang="en-US" dirty="0"/>
              <a:t>fully associative mapping,</a:t>
            </a:r>
          </a:p>
          <a:p>
            <a:pPr fontAlgn="base">
              <a:buFont typeface="Wingdings" panose="05000000000000000000" pitchFamily="2" charset="2"/>
              <a:buChar char="q"/>
            </a:pPr>
            <a:r>
              <a:rPr lang="en-US" dirty="0"/>
              <a:t>A block of main memory can map to </a:t>
            </a:r>
            <a:r>
              <a:rPr lang="en-US" dirty="0">
                <a:solidFill>
                  <a:srgbClr val="FF0000"/>
                </a:solidFill>
              </a:rPr>
              <a:t>any line of the cache</a:t>
            </a:r>
            <a:r>
              <a:rPr lang="en-US" dirty="0"/>
              <a:t> that is freely available at that moment.</a:t>
            </a:r>
          </a:p>
          <a:p>
            <a:pPr fontAlgn="base">
              <a:buFont typeface="Wingdings" panose="05000000000000000000" pitchFamily="2" charset="2"/>
              <a:buChar char="q"/>
            </a:pPr>
            <a:r>
              <a:rPr lang="en-US" dirty="0"/>
              <a:t>This makes fully associative mapping more flexible than direct mapping.</a:t>
            </a:r>
          </a:p>
          <a:p>
            <a:pPr fontAlgn="base"/>
            <a:endParaRPr lang="en-US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</p:spTree>
    <p:extLst>
      <p:ext uri="{BB962C8B-B14F-4D97-AF65-F5344CB8AC3E}">
        <p14:creationId xmlns:p14="http://schemas.microsoft.com/office/powerpoint/2010/main" val="3463038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 b="1" u="sng" dirty="0" smtClean="0"/>
              <a:t>Fully </a:t>
            </a:r>
            <a:r>
              <a:rPr lang="en-US" b="1" u="sng" dirty="0"/>
              <a:t>Associative </a:t>
            </a:r>
            <a:r>
              <a:rPr lang="en-US" b="1" u="sng" dirty="0" smtClean="0"/>
              <a:t>Mapping</a:t>
            </a:r>
          </a:p>
          <a:p>
            <a:pPr fontAlgn="base"/>
            <a:r>
              <a:rPr lang="en-US" dirty="0" smtClean="0"/>
              <a:t>  </a:t>
            </a:r>
            <a:r>
              <a:rPr lang="en-US" dirty="0"/>
              <a:t>All the lines of </a:t>
            </a:r>
            <a:r>
              <a:rPr lang="en-US" dirty="0" smtClean="0"/>
              <a:t>cache</a:t>
            </a:r>
          </a:p>
          <a:p>
            <a:pPr marL="109728" indent="0" fontAlgn="base"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dirty="0"/>
              <a:t>are freely available.</a:t>
            </a:r>
          </a:p>
          <a:p>
            <a:pPr fontAlgn="base"/>
            <a:r>
              <a:rPr lang="en-US" dirty="0"/>
              <a:t>Thus, any block of main </a:t>
            </a:r>
            <a:endParaRPr lang="en-US" dirty="0" smtClean="0"/>
          </a:p>
          <a:p>
            <a:pPr marL="109728" indent="0" fontAlgn="base">
              <a:buNone/>
            </a:pPr>
            <a:r>
              <a:rPr lang="en-US" dirty="0"/>
              <a:t> </a:t>
            </a:r>
            <a:r>
              <a:rPr lang="en-US" dirty="0" smtClean="0"/>
              <a:t> memory </a:t>
            </a:r>
            <a:r>
              <a:rPr lang="en-US" dirty="0"/>
              <a:t>can map to </a:t>
            </a:r>
            <a:r>
              <a:rPr lang="en-US" dirty="0" smtClean="0"/>
              <a:t>any</a:t>
            </a:r>
          </a:p>
          <a:p>
            <a:pPr marL="109728" indent="0" fontAlgn="base">
              <a:buNone/>
            </a:pP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/>
              <a:t>line of the cache.</a:t>
            </a:r>
          </a:p>
          <a:p>
            <a:pPr fontAlgn="base"/>
            <a:r>
              <a:rPr lang="en-US" dirty="0"/>
              <a:t>Had all the cache lines </a:t>
            </a:r>
            <a:r>
              <a:rPr lang="en-US" dirty="0" smtClean="0"/>
              <a:t>been</a:t>
            </a:r>
          </a:p>
          <a:p>
            <a:pPr marL="109728" indent="0" fontAlgn="base">
              <a:buNone/>
            </a:pPr>
            <a:r>
              <a:rPr lang="en-US" dirty="0" smtClean="0"/>
              <a:t> </a:t>
            </a:r>
            <a:r>
              <a:rPr lang="en-US" dirty="0"/>
              <a:t>occupied, then one of </a:t>
            </a:r>
            <a:r>
              <a:rPr lang="en-US" dirty="0" smtClean="0"/>
              <a:t>the</a:t>
            </a:r>
          </a:p>
          <a:p>
            <a:pPr marL="109728" indent="0" fontAlgn="base">
              <a:buNone/>
            </a:pPr>
            <a:r>
              <a:rPr lang="en-US" dirty="0" smtClean="0"/>
              <a:t> </a:t>
            </a:r>
            <a:r>
              <a:rPr lang="en-US" dirty="0"/>
              <a:t>existing blocks will have </a:t>
            </a:r>
            <a:r>
              <a:rPr lang="en-US" dirty="0" smtClean="0"/>
              <a:t>to</a:t>
            </a:r>
          </a:p>
          <a:p>
            <a:pPr marL="109728" indent="0" fontAlgn="base">
              <a:buNone/>
            </a:pPr>
            <a:r>
              <a:rPr lang="en-US" dirty="0" smtClean="0"/>
              <a:t> </a:t>
            </a:r>
            <a:r>
              <a:rPr lang="en-US" dirty="0"/>
              <a:t>be replaced</a:t>
            </a:r>
          </a:p>
          <a:p>
            <a:pPr fontAlgn="base"/>
            <a:endParaRPr lang="en-US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0091" y="1731263"/>
            <a:ext cx="3352800" cy="4026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080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 fontAlgn="base"/>
            <a:r>
              <a:rPr lang="en-US" b="1" u="sng" dirty="0" smtClean="0"/>
              <a:t>Fully </a:t>
            </a:r>
            <a:r>
              <a:rPr lang="en-US" b="1" u="sng" dirty="0"/>
              <a:t>Associative </a:t>
            </a:r>
            <a:r>
              <a:rPr lang="en-US" b="1" u="sng" dirty="0" smtClean="0"/>
              <a:t>Mapping</a:t>
            </a:r>
          </a:p>
          <a:p>
            <a:pPr fontAlgn="base"/>
            <a:r>
              <a:rPr lang="en-US" dirty="0" smtClean="0"/>
              <a:t>  </a:t>
            </a:r>
            <a:endParaRPr lang="en-US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917" y="2215261"/>
            <a:ext cx="5668166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061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 fontAlgn="base"/>
            <a:r>
              <a:rPr lang="en-US" b="1" u="sng" dirty="0" smtClean="0"/>
              <a:t>Need </a:t>
            </a:r>
            <a:r>
              <a:rPr lang="en-US" b="1" u="sng" dirty="0"/>
              <a:t>of Replacement </a:t>
            </a:r>
            <a:r>
              <a:rPr lang="en-US" b="1" u="sng" dirty="0" smtClean="0"/>
              <a:t>Algorithm</a:t>
            </a:r>
          </a:p>
          <a:p>
            <a:pPr marL="109728" indent="0" fontAlgn="base">
              <a:buNone/>
            </a:pPr>
            <a:r>
              <a:rPr lang="en-US" dirty="0"/>
              <a:t>In fully associative mapping,</a:t>
            </a:r>
          </a:p>
          <a:p>
            <a:pPr fontAlgn="base">
              <a:buFont typeface="Wingdings" panose="05000000000000000000" pitchFamily="2" charset="2"/>
              <a:buChar char="q"/>
            </a:pPr>
            <a:r>
              <a:rPr lang="en-US" dirty="0"/>
              <a:t>A replacement algorithm is required</a:t>
            </a:r>
            <a:r>
              <a:rPr lang="en-US" dirty="0" smtClean="0"/>
              <a:t>.</a:t>
            </a:r>
            <a:endParaRPr lang="en-US" dirty="0"/>
          </a:p>
          <a:p>
            <a:pPr fontAlgn="base">
              <a:buFont typeface="Wingdings" panose="05000000000000000000" pitchFamily="2" charset="2"/>
              <a:buChar char="q"/>
            </a:pPr>
            <a:r>
              <a:rPr lang="en-US" dirty="0"/>
              <a:t>Replacement algorithm suggests the block to be replaced if all the cache lines are occupied.</a:t>
            </a:r>
          </a:p>
          <a:p>
            <a:pPr fontAlgn="base">
              <a:buFont typeface="Wingdings" panose="05000000000000000000" pitchFamily="2" charset="2"/>
              <a:buChar char="q"/>
            </a:pPr>
            <a:r>
              <a:rPr lang="en-US" dirty="0"/>
              <a:t>Thus, replacement algorithm like FCFS Algorithm, LRU Algorithm </a:t>
            </a:r>
            <a:r>
              <a:rPr lang="en-US" dirty="0" err="1"/>
              <a:t>etc</a:t>
            </a:r>
            <a:r>
              <a:rPr lang="en-US" dirty="0"/>
              <a:t> is employed.</a:t>
            </a:r>
          </a:p>
          <a:p>
            <a:pPr fontAlgn="base"/>
            <a:endParaRPr lang="en-US" b="1" dirty="0"/>
          </a:p>
          <a:p>
            <a:pPr fontAlgn="base"/>
            <a:endParaRPr lang="en-US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</p:spTree>
    <p:extLst>
      <p:ext uri="{BB962C8B-B14F-4D97-AF65-F5344CB8AC3E}">
        <p14:creationId xmlns:p14="http://schemas.microsoft.com/office/powerpoint/2010/main" val="1740380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 fontAlgn="base"/>
            <a:r>
              <a:rPr lang="en-US" b="1" u="sng" dirty="0"/>
              <a:t>Division of Physical Address-</a:t>
            </a:r>
            <a:endParaRPr lang="en-US" b="1" dirty="0"/>
          </a:p>
          <a:p>
            <a:pPr marL="109728" indent="0" fontAlgn="base">
              <a:buNone/>
            </a:pPr>
            <a:r>
              <a:rPr lang="en-US" dirty="0"/>
              <a:t>In fully associative mapping, the physical address is divided </a:t>
            </a:r>
            <a:r>
              <a:rPr lang="en-US" dirty="0" smtClean="0"/>
              <a:t>as-</a:t>
            </a:r>
          </a:p>
          <a:p>
            <a:pPr marL="109728" indent="0" fontAlgn="base">
              <a:buNone/>
            </a:pPr>
            <a:endParaRPr lang="en-US" b="1" dirty="0"/>
          </a:p>
          <a:p>
            <a:pPr fontAlgn="base"/>
            <a:endParaRPr lang="en-US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102" y="3200400"/>
            <a:ext cx="4267796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75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81328"/>
            <a:ext cx="8686800" cy="4525963"/>
          </a:xfrm>
        </p:spPr>
        <p:txBody>
          <a:bodyPr>
            <a:normAutofit/>
          </a:bodyPr>
          <a:lstStyle/>
          <a:p>
            <a:pPr fontAlgn="base"/>
            <a:r>
              <a:rPr lang="en-US" dirty="0" smtClean="0"/>
              <a:t>Example 01:Consider </a:t>
            </a:r>
            <a:r>
              <a:rPr lang="en-US" dirty="0"/>
              <a:t>a fully associative mapped cache of size 16 KB with block size 256 bytes. The size of main memory is 128 KB. Find-</a:t>
            </a:r>
          </a:p>
          <a:p>
            <a:pPr marL="109728" indent="0" fontAlgn="base">
              <a:buNone/>
            </a:pPr>
            <a:r>
              <a:rPr lang="en-US" dirty="0" smtClean="0"/>
              <a:t>a. Number </a:t>
            </a:r>
            <a:r>
              <a:rPr lang="en-US" dirty="0"/>
              <a:t>of bits in tag</a:t>
            </a:r>
          </a:p>
          <a:p>
            <a:pPr marL="109728" indent="0" fontAlgn="base">
              <a:buNone/>
            </a:pPr>
            <a:r>
              <a:rPr lang="en-US" dirty="0" smtClean="0"/>
              <a:t>b. Tag </a:t>
            </a:r>
            <a:r>
              <a:rPr lang="en-US" dirty="0"/>
              <a:t>directory size</a:t>
            </a:r>
          </a:p>
          <a:p>
            <a:pPr fontAlgn="base"/>
            <a:endParaRPr lang="en-US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</p:spTree>
    <p:extLst>
      <p:ext uri="{BB962C8B-B14F-4D97-AF65-F5344CB8AC3E}">
        <p14:creationId xmlns:p14="http://schemas.microsoft.com/office/powerpoint/2010/main" val="2128977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525963"/>
          </a:xfrm>
        </p:spPr>
        <p:txBody>
          <a:bodyPr>
            <a:normAutofit/>
          </a:bodyPr>
          <a:lstStyle/>
          <a:p>
            <a:pPr fontAlgn="base"/>
            <a:r>
              <a:rPr lang="en-US" dirty="0" smtClean="0"/>
              <a:t>Example:02 Consider </a:t>
            </a:r>
            <a:r>
              <a:rPr lang="en-US" dirty="0"/>
              <a:t>a fully associative mapped cache of size 512 KB with block size 1 KB. There are 17 bits in the tag. Find-</a:t>
            </a:r>
          </a:p>
          <a:p>
            <a:pPr marL="109728" indent="0" fontAlgn="base">
              <a:buNone/>
            </a:pPr>
            <a:r>
              <a:rPr lang="en-US" dirty="0" smtClean="0"/>
              <a:t>a. Size </a:t>
            </a:r>
            <a:r>
              <a:rPr lang="en-US" dirty="0"/>
              <a:t>of main memory</a:t>
            </a:r>
          </a:p>
          <a:p>
            <a:pPr marL="109728" indent="0" fontAlgn="base">
              <a:buNone/>
            </a:pPr>
            <a:r>
              <a:rPr lang="en-US" dirty="0" smtClean="0"/>
              <a:t>b. Tag </a:t>
            </a:r>
            <a:r>
              <a:rPr lang="en-US" dirty="0"/>
              <a:t>directory size</a:t>
            </a:r>
          </a:p>
          <a:p>
            <a:pPr fontAlgn="base"/>
            <a:endParaRPr lang="en-US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</p:spTree>
    <p:extLst>
      <p:ext uri="{BB962C8B-B14F-4D97-AF65-F5344CB8AC3E}">
        <p14:creationId xmlns:p14="http://schemas.microsoft.com/office/powerpoint/2010/main" val="3018849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919472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 b="1" u="sng" dirty="0"/>
              <a:t>K-way Set Associative Mapping</a:t>
            </a:r>
            <a:endParaRPr lang="en-US" b="1" dirty="0"/>
          </a:p>
          <a:p>
            <a:pPr marL="109728" indent="0" fontAlgn="base">
              <a:buNone/>
            </a:pPr>
            <a:r>
              <a:rPr lang="en-US" dirty="0"/>
              <a:t>In k-way set associative mapping,</a:t>
            </a:r>
          </a:p>
          <a:p>
            <a:pPr fontAlgn="base">
              <a:buFont typeface="Wingdings" panose="05000000000000000000" pitchFamily="2" charset="2"/>
              <a:buChar char="q"/>
            </a:pPr>
            <a:r>
              <a:rPr lang="en-US" sz="2400" dirty="0"/>
              <a:t>Cache lines are grouped into sets where each set contains k number of lines.</a:t>
            </a:r>
          </a:p>
          <a:p>
            <a:pPr fontAlgn="base">
              <a:buFont typeface="Wingdings" panose="05000000000000000000" pitchFamily="2" charset="2"/>
              <a:buChar char="q"/>
            </a:pPr>
            <a:r>
              <a:rPr lang="en-US" sz="2400" dirty="0"/>
              <a:t>A particular block of main memory can map to only one particular set of the cache.</a:t>
            </a:r>
          </a:p>
          <a:p>
            <a:pPr fontAlgn="base">
              <a:buFont typeface="Wingdings" panose="05000000000000000000" pitchFamily="2" charset="2"/>
              <a:buChar char="q"/>
            </a:pPr>
            <a:r>
              <a:rPr lang="en-US" sz="2400" dirty="0"/>
              <a:t>However, within that set, the memory block can map any cache line that is freely available.</a:t>
            </a:r>
          </a:p>
          <a:p>
            <a:pPr fontAlgn="base">
              <a:buFont typeface="Wingdings" panose="05000000000000000000" pitchFamily="2" charset="2"/>
              <a:buChar char="q"/>
            </a:pPr>
            <a:r>
              <a:rPr lang="en-US" sz="2400" dirty="0"/>
              <a:t>The set of the cache to which a particular block of the main memory can map is given by-</a:t>
            </a:r>
          </a:p>
          <a:p>
            <a:pPr marL="109728" indent="0" fontAlgn="base">
              <a:buNone/>
            </a:pPr>
            <a:r>
              <a:rPr lang="en-US" b="1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Cache </a:t>
            </a:r>
            <a:r>
              <a:rPr lang="en-US" b="1" dirty="0">
                <a:solidFill>
                  <a:srgbClr val="FF0000"/>
                </a:solidFill>
              </a:rPr>
              <a:t>set number= ( Main Memory Block Address ) Modulo (Number of sets in Cache)</a:t>
            </a:r>
            <a:endParaRPr lang="en-US" dirty="0">
              <a:solidFill>
                <a:srgbClr val="FF0000"/>
              </a:solidFill>
            </a:endParaRPr>
          </a:p>
          <a:p>
            <a:pPr fontAlgn="base"/>
            <a:endParaRPr lang="en-US" b="1" dirty="0"/>
          </a:p>
          <a:p>
            <a:pPr fontAlgn="base"/>
            <a:endParaRPr lang="en-US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</p:spTree>
    <p:extLst>
      <p:ext uri="{BB962C8B-B14F-4D97-AF65-F5344CB8AC3E}">
        <p14:creationId xmlns:p14="http://schemas.microsoft.com/office/powerpoint/2010/main" val="2781034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919472"/>
          </a:xfrm>
        </p:spPr>
        <p:txBody>
          <a:bodyPr>
            <a:normAutofit fontScale="77500" lnSpcReduction="20000"/>
          </a:bodyPr>
          <a:lstStyle/>
          <a:p>
            <a:pPr fontAlgn="base"/>
            <a:r>
              <a:rPr lang="en-US" b="1" u="sng" dirty="0"/>
              <a:t>K-way Set Associative Mapping</a:t>
            </a:r>
            <a:endParaRPr lang="en-US" b="1" dirty="0"/>
          </a:p>
          <a:p>
            <a:pPr fontAlgn="base"/>
            <a:r>
              <a:rPr lang="en-US" dirty="0"/>
              <a:t>k = 2 suggests that </a:t>
            </a:r>
            <a:r>
              <a:rPr lang="en-US" dirty="0" smtClean="0"/>
              <a:t>each</a:t>
            </a:r>
          </a:p>
          <a:p>
            <a:pPr marL="109728" indent="0" fontAlgn="base">
              <a:buNone/>
            </a:pPr>
            <a:r>
              <a:rPr lang="en-US" dirty="0" smtClean="0"/>
              <a:t>  set </a:t>
            </a:r>
            <a:r>
              <a:rPr lang="en-US" dirty="0"/>
              <a:t>contains two </a:t>
            </a:r>
            <a:r>
              <a:rPr lang="en-US" dirty="0" smtClean="0"/>
              <a:t>cache</a:t>
            </a:r>
          </a:p>
          <a:p>
            <a:pPr marL="109728" indent="0" fontAlgn="base">
              <a:buNone/>
            </a:pPr>
            <a:r>
              <a:rPr lang="en-US" dirty="0" smtClean="0"/>
              <a:t>  lines</a:t>
            </a:r>
            <a:r>
              <a:rPr lang="en-US" dirty="0"/>
              <a:t>.</a:t>
            </a:r>
          </a:p>
          <a:p>
            <a:pPr fontAlgn="base"/>
            <a:r>
              <a:rPr lang="en-US" dirty="0"/>
              <a:t>Since cache contains 6 lines, </a:t>
            </a:r>
            <a:endParaRPr lang="en-US" dirty="0" smtClean="0"/>
          </a:p>
          <a:p>
            <a:pPr marL="109728" indent="0" fontAlgn="base">
              <a:buNone/>
            </a:pPr>
            <a:r>
              <a:rPr lang="en-US" dirty="0"/>
              <a:t> </a:t>
            </a:r>
            <a:r>
              <a:rPr lang="en-US" dirty="0" smtClean="0"/>
              <a:t> so </a:t>
            </a:r>
            <a:r>
              <a:rPr lang="en-US" dirty="0"/>
              <a:t>number of sets in the </a:t>
            </a:r>
            <a:endParaRPr lang="en-US" dirty="0" smtClean="0"/>
          </a:p>
          <a:p>
            <a:pPr marL="109728" indent="0" fontAlgn="base">
              <a:buNone/>
            </a:pPr>
            <a:r>
              <a:rPr lang="en-US" dirty="0"/>
              <a:t> </a:t>
            </a:r>
            <a:r>
              <a:rPr lang="en-US" dirty="0" smtClean="0"/>
              <a:t> cache </a:t>
            </a:r>
            <a:r>
              <a:rPr lang="en-US" dirty="0"/>
              <a:t>= 6 / 2 = 3 sets.</a:t>
            </a:r>
          </a:p>
          <a:p>
            <a:pPr fontAlgn="base"/>
            <a:r>
              <a:rPr lang="en-US" dirty="0"/>
              <a:t>Block ‘j’ of main memory </a:t>
            </a:r>
            <a:r>
              <a:rPr lang="en-US" dirty="0" smtClean="0"/>
              <a:t>can</a:t>
            </a:r>
          </a:p>
          <a:p>
            <a:pPr marL="109728" indent="0" fontAlgn="base">
              <a:buNone/>
            </a:pP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/>
              <a:t>map to set number (j mod 3) </a:t>
            </a:r>
            <a:r>
              <a:rPr lang="en-US" dirty="0" smtClean="0"/>
              <a:t>only</a:t>
            </a:r>
          </a:p>
          <a:p>
            <a:pPr marL="109728" indent="0" fontAlgn="base">
              <a:buNone/>
            </a:pP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/>
              <a:t>of the cache.</a:t>
            </a:r>
          </a:p>
          <a:p>
            <a:pPr fontAlgn="base"/>
            <a:r>
              <a:rPr lang="en-US" dirty="0"/>
              <a:t>Within that set, block ‘j’ can </a:t>
            </a:r>
            <a:r>
              <a:rPr lang="en-US" dirty="0" smtClean="0"/>
              <a:t>map</a:t>
            </a:r>
          </a:p>
          <a:p>
            <a:pPr marL="109728" indent="0" fontAlgn="base">
              <a:buNone/>
            </a:pPr>
            <a:r>
              <a:rPr lang="en-US" dirty="0" smtClean="0"/>
              <a:t> </a:t>
            </a:r>
            <a:r>
              <a:rPr lang="en-US" dirty="0"/>
              <a:t>to any cache line that is </a:t>
            </a:r>
            <a:r>
              <a:rPr lang="en-US" dirty="0" smtClean="0"/>
              <a:t>freely</a:t>
            </a:r>
          </a:p>
          <a:p>
            <a:pPr marL="109728" indent="0" fontAlgn="base">
              <a:buNone/>
            </a:pPr>
            <a:r>
              <a:rPr lang="en-US" dirty="0" smtClean="0"/>
              <a:t> </a:t>
            </a:r>
            <a:r>
              <a:rPr lang="en-US" dirty="0"/>
              <a:t>available at that moment.</a:t>
            </a:r>
          </a:p>
          <a:p>
            <a:pPr fontAlgn="base"/>
            <a:r>
              <a:rPr lang="en-US" dirty="0"/>
              <a:t>If all the cache lines are occupied, then one of the existing blocks will have to be replaced.</a:t>
            </a:r>
          </a:p>
          <a:p>
            <a:pPr fontAlgn="base"/>
            <a:endParaRPr lang="en-US" b="1" dirty="0"/>
          </a:p>
          <a:p>
            <a:pPr fontAlgn="base"/>
            <a:endParaRPr lang="en-US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1828800"/>
            <a:ext cx="365760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183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919472"/>
          </a:xfrm>
        </p:spPr>
        <p:txBody>
          <a:bodyPr>
            <a:normAutofit/>
          </a:bodyPr>
          <a:lstStyle/>
          <a:p>
            <a:pPr fontAlgn="base"/>
            <a:r>
              <a:rPr lang="en-US" b="1" u="sng" dirty="0"/>
              <a:t>K-way Set Associative Mapping</a:t>
            </a:r>
            <a:endParaRPr lang="en-US" b="1" dirty="0"/>
          </a:p>
          <a:p>
            <a:pPr fontAlgn="base"/>
            <a:endParaRPr lang="en-US" b="1" dirty="0"/>
          </a:p>
          <a:p>
            <a:pPr fontAlgn="base"/>
            <a:endParaRPr lang="en-US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022" y="2036064"/>
            <a:ext cx="6315956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216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919472"/>
          </a:xfrm>
        </p:spPr>
        <p:txBody>
          <a:bodyPr>
            <a:normAutofit/>
          </a:bodyPr>
          <a:lstStyle/>
          <a:p>
            <a:pPr fontAlgn="base"/>
            <a:r>
              <a:rPr lang="en-US" b="1" u="sng" dirty="0"/>
              <a:t>Need of Replacement Algorithm-</a:t>
            </a:r>
            <a:endParaRPr lang="en-US" b="1" dirty="0"/>
          </a:p>
          <a:p>
            <a:pPr fontAlgn="base"/>
            <a:r>
              <a:rPr lang="en-US" dirty="0"/>
              <a:t>Set associative mapping is a combination of direct mapping and fully associative mapping.</a:t>
            </a:r>
          </a:p>
          <a:p>
            <a:pPr fontAlgn="base"/>
            <a:r>
              <a:rPr lang="en-US" dirty="0"/>
              <a:t>It uses fully associative mapping within each set.</a:t>
            </a:r>
          </a:p>
          <a:p>
            <a:pPr fontAlgn="base"/>
            <a:r>
              <a:rPr lang="en-US" dirty="0"/>
              <a:t>Thus, set associative mapping requires a replacement algorithm.</a:t>
            </a:r>
          </a:p>
          <a:p>
            <a:pPr fontAlgn="base"/>
            <a:endParaRPr lang="en-US" b="1" dirty="0"/>
          </a:p>
          <a:p>
            <a:pPr fontAlgn="base"/>
            <a:endParaRPr lang="en-US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</p:spTree>
    <p:extLst>
      <p:ext uri="{BB962C8B-B14F-4D97-AF65-F5344CB8AC3E}">
        <p14:creationId xmlns:p14="http://schemas.microsoft.com/office/powerpoint/2010/main" val="3925438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919472"/>
          </a:xfrm>
        </p:spPr>
        <p:txBody>
          <a:bodyPr>
            <a:normAutofit/>
          </a:bodyPr>
          <a:lstStyle/>
          <a:p>
            <a:pPr fontAlgn="base"/>
            <a:r>
              <a:rPr lang="en-US" b="1" u="sng" dirty="0"/>
              <a:t>Division of Physical Address</a:t>
            </a:r>
            <a:endParaRPr lang="en-US" b="1" dirty="0"/>
          </a:p>
          <a:p>
            <a:pPr fontAlgn="base">
              <a:buFont typeface="Wingdings" panose="05000000000000000000" pitchFamily="2" charset="2"/>
              <a:buChar char="q"/>
            </a:pPr>
            <a:r>
              <a:rPr lang="en-US" dirty="0"/>
              <a:t>In set associative mapping, the physical address is divided as-</a:t>
            </a:r>
            <a:endParaRPr lang="en-US" b="1" dirty="0"/>
          </a:p>
          <a:p>
            <a:pPr fontAlgn="base"/>
            <a:endParaRPr lang="en-US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4800600"/>
            <a:ext cx="7086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Arimo"/>
              </a:rPr>
              <a:t>Special Case: If </a:t>
            </a:r>
            <a:r>
              <a:rPr lang="en-US" dirty="0">
                <a:latin typeface="Arimo"/>
              </a:rPr>
              <a:t>k = 1, then k-way set associative mapping becomes direct mapping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3187101"/>
            <a:ext cx="4982270" cy="1319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0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4C64532606B24FAB5D656F866C042E" ma:contentTypeVersion="7" ma:contentTypeDescription="Create a new document." ma:contentTypeScope="" ma:versionID="e09d2cf455fbf8f69db67da1420b95fc">
  <xsd:schema xmlns:xsd="http://www.w3.org/2001/XMLSchema" xmlns:xs="http://www.w3.org/2001/XMLSchema" xmlns:p="http://schemas.microsoft.com/office/2006/metadata/properties" xmlns:ns2="f8536b80-1d83-40b8-bf9c-7fc7a3b1d835" targetNamespace="http://schemas.microsoft.com/office/2006/metadata/properties" ma:root="true" ma:fieldsID="2669715d9414c83cbf40c50fdf684965" ns2:_="">
    <xsd:import namespace="f8536b80-1d83-40b8-bf9c-7fc7a3b1d8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536b80-1d83-40b8-bf9c-7fc7a3b1d8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B2C9C48-FA91-494A-A9F2-9C69AC67F6D5}"/>
</file>

<file path=customXml/itemProps2.xml><?xml version="1.0" encoding="utf-8"?>
<ds:datastoreItem xmlns:ds="http://schemas.openxmlformats.org/officeDocument/2006/customXml" ds:itemID="{9181729D-52DD-47BF-9B28-3411CBDA3F9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AF9C3AE-341C-4F9F-8708-F1AD16F56FF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1192</TotalTime>
  <Words>2165</Words>
  <Application>Microsoft Office PowerPoint</Application>
  <PresentationFormat>On-screen Show (4:3)</PresentationFormat>
  <Paragraphs>523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4" baseType="lpstr">
      <vt:lpstr>맑은 고딕</vt:lpstr>
      <vt:lpstr>Arial</vt:lpstr>
      <vt:lpstr>Arimo</vt:lpstr>
      <vt:lpstr>Lucida Sans Unicode</vt:lpstr>
      <vt:lpstr>Verdana</vt:lpstr>
      <vt:lpstr>Wingdings</vt:lpstr>
      <vt:lpstr>Wingdings 2</vt:lpstr>
      <vt:lpstr>Wingdings 3</vt:lpstr>
      <vt:lpstr>Concourse</vt:lpstr>
      <vt:lpstr>Computer architecture and Organization  Memory Organization</vt:lpstr>
      <vt:lpstr>Memory Organization</vt:lpstr>
      <vt:lpstr>Memory Organization</vt:lpstr>
      <vt:lpstr>Memory Organization</vt:lpstr>
      <vt:lpstr>Memory Organization</vt:lpstr>
      <vt:lpstr>Memory Organization</vt:lpstr>
      <vt:lpstr>Memory Organization</vt:lpstr>
      <vt:lpstr>Memory Organization</vt:lpstr>
      <vt:lpstr>Memory Organization</vt:lpstr>
      <vt:lpstr>Memory Organization</vt:lpstr>
      <vt:lpstr>Memory Organization</vt:lpstr>
      <vt:lpstr>Memory Organization</vt:lpstr>
      <vt:lpstr>Memory Organization</vt:lpstr>
      <vt:lpstr>Memory Organization</vt:lpstr>
      <vt:lpstr>Memory Organization</vt:lpstr>
      <vt:lpstr>Memory Organization</vt:lpstr>
      <vt:lpstr>Memory Organization</vt:lpstr>
      <vt:lpstr>First-In First-Out</vt:lpstr>
      <vt:lpstr>First-In First-Out</vt:lpstr>
      <vt:lpstr>Least Recently Used</vt:lpstr>
      <vt:lpstr>Least Recently Used</vt:lpstr>
      <vt:lpstr>Least Recently Used</vt:lpstr>
      <vt:lpstr>Least Recently Used</vt:lpstr>
      <vt:lpstr>Least Recently Used</vt:lpstr>
      <vt:lpstr>Least Frequently Used</vt:lpstr>
      <vt:lpstr>Least Frequently Used</vt:lpstr>
      <vt:lpstr>Least Frequently Used</vt:lpstr>
      <vt:lpstr>Least Frequently Used</vt:lpstr>
      <vt:lpstr>Least Frequently Used</vt:lpstr>
      <vt:lpstr>Least Frequently Used</vt:lpstr>
      <vt:lpstr>Memory Organization</vt:lpstr>
      <vt:lpstr>Memory Organization</vt:lpstr>
      <vt:lpstr>Memory Organization</vt:lpstr>
      <vt:lpstr>Memory Organization</vt:lpstr>
      <vt:lpstr>Memory Organization</vt:lpstr>
      <vt:lpstr>Memory Organization</vt:lpstr>
      <vt:lpstr>Memory Organization</vt:lpstr>
      <vt:lpstr>Memory Organization</vt:lpstr>
      <vt:lpstr>Memory Organization</vt:lpstr>
      <vt:lpstr>Memory Organization</vt:lpstr>
      <vt:lpstr>Memory Organization</vt:lpstr>
      <vt:lpstr>Memory Organization</vt:lpstr>
      <vt:lpstr>Memory Organization</vt:lpstr>
      <vt:lpstr>Memory Organization</vt:lpstr>
      <vt:lpstr>Memory Organization</vt:lpstr>
      <vt:lpstr>Memory Organization</vt:lpstr>
      <vt:lpstr>Memory Organization</vt:lpstr>
      <vt:lpstr>Memory Organization</vt:lpstr>
      <vt:lpstr>Memory Organization</vt:lpstr>
      <vt:lpstr>Memory Organization</vt:lpstr>
      <vt:lpstr>Memory Organization</vt:lpstr>
      <vt:lpstr>Memory Organization</vt:lpstr>
      <vt:lpstr>Memory Organization</vt:lpstr>
      <vt:lpstr>Memory Organization</vt:lpstr>
      <vt:lpstr>Memory Organization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architecture and Organization  Introduction</dc:title>
  <dc:creator>Khadam</dc:creator>
  <cp:lastModifiedBy>PC</cp:lastModifiedBy>
  <cp:revision>115</cp:revision>
  <dcterms:created xsi:type="dcterms:W3CDTF">2012-10-13T14:30:17Z</dcterms:created>
  <dcterms:modified xsi:type="dcterms:W3CDTF">2026-04-29T04:48:14Z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2024-11-10T07:24:31Z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740a77a5-71a7-4a26-9daa-1544ddf790a1</vt:lpwstr>
  </property>
  <property fmtid="{D5CDD505-2E9C-101B-9397-08002B2CF9AE}" pid="7" name="MSIP_Label_defa4170-0d19-0005-0004-bc88714345d2_ActionId">
    <vt:lpwstr>9d281043-7b61-4cf2-b6d8-82cd19385b3e</vt:lpwstr>
  </property>
  <property fmtid="{D5CDD505-2E9C-101B-9397-08002B2CF9AE}" pid="8" name="MSIP_Label_defa4170-0d19-0005-0004-bc88714345d2_ContentBits">
    <vt:lpwstr>0</vt:lpwstr>
  </property>
  <property fmtid="{D5CDD505-2E9C-101B-9397-08002B2CF9AE}" pid="9" name="ContentTypeId">
    <vt:lpwstr>0x010100DA4C64532606B24FAB5D656F866C042E</vt:lpwstr>
  </property>
</Properties>
</file>