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2"/>
  </p:notesMasterIdLst>
  <p:sldIdLst>
    <p:sldId id="256" r:id="rId5"/>
    <p:sldId id="257" r:id="rId6"/>
    <p:sldId id="258" r:id="rId7"/>
    <p:sldId id="260" r:id="rId8"/>
    <p:sldId id="261" r:id="rId9"/>
    <p:sldId id="259" r:id="rId10"/>
    <p:sldId id="264" r:id="rId11"/>
    <p:sldId id="262" r:id="rId12"/>
    <p:sldId id="263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4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E206A-80E4-458A-AF15-D75CA691437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3227FD-F009-4567-A225-9E635EA6E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77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Memory-&gt;instruction stream-&gt;Instruction read</a:t>
            </a:r>
            <a:br>
              <a:rPr lang="en-US" dirty="0" smtClean="0"/>
            </a:br>
            <a:r>
              <a:rPr lang="en-US" dirty="0" smtClean="0"/>
              <a:t>Processor-&gt;</a:t>
            </a:r>
            <a:r>
              <a:rPr lang="en-US" dirty="0" err="1" smtClean="0"/>
              <a:t>Datastream</a:t>
            </a:r>
            <a:r>
              <a:rPr lang="en-US" dirty="0" smtClean="0"/>
              <a:t>-&gt;</a:t>
            </a:r>
            <a:r>
              <a:rPr lang="en-US" baseline="0" dirty="0" smtClean="0"/>
              <a:t> Performed the operation.</a:t>
            </a:r>
            <a:br>
              <a:rPr lang="en-US" baseline="0" dirty="0" smtClean="0"/>
            </a:br>
            <a:r>
              <a:rPr lang="en-US" baseline="0" dirty="0" smtClean="0"/>
              <a:t>Control Unit read instruction from main memory</a:t>
            </a:r>
            <a:br>
              <a:rPr lang="en-US" baseline="0" dirty="0" smtClean="0"/>
            </a:br>
            <a:r>
              <a:rPr lang="en-US" baseline="0" dirty="0" smtClean="0"/>
              <a:t>Decode the instruction(ADD, SUB)</a:t>
            </a:r>
          </a:p>
          <a:p>
            <a:r>
              <a:rPr lang="en-US" baseline="0" dirty="0" smtClean="0"/>
              <a:t>Read the data from main memory</a:t>
            </a:r>
            <a:br>
              <a:rPr lang="en-US" baseline="0" dirty="0" smtClean="0"/>
            </a:br>
            <a:r>
              <a:rPr lang="en-US" baseline="0" dirty="0" smtClean="0"/>
              <a:t>Execute the instruction|</a:t>
            </a:r>
            <a:br>
              <a:rPr lang="en-US" baseline="0" dirty="0" smtClean="0"/>
            </a:br>
            <a:r>
              <a:rPr lang="en-US" baseline="0" dirty="0" smtClean="0"/>
              <a:t>Store the result </a:t>
            </a:r>
            <a:r>
              <a:rPr lang="en-US" baseline="0" smtClean="0"/>
              <a:t>in the main memory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227FD-F009-4567-A225-9E635EA6EC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890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BF3EEB-61C0-4FAC-BA99-3020254D2E4D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BF3EEB-61C0-4FAC-BA99-3020254D2E4D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BF3EEB-61C0-4FAC-BA99-3020254D2E4D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BF3EEB-61C0-4FAC-BA99-3020254D2E4D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BF3EEB-61C0-4FAC-BA99-3020254D2E4D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BF3EEB-61C0-4FAC-BA99-3020254D2E4D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3ABF3EEB-61C0-4FAC-BA99-3020254D2E4D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BF3EEB-61C0-4FAC-BA99-3020254D2E4D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BF3EEB-61C0-4FAC-BA99-3020254D2E4D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27432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Computer architecture and Organization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600" dirty="0" smtClean="0"/>
              <a:t>Composite Architectures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429000"/>
            <a:ext cx="7772400" cy="1504504"/>
          </a:xfrm>
        </p:spPr>
        <p:txBody>
          <a:bodyPr>
            <a:normAutofit fontScale="92500" lnSpcReduction="10000"/>
          </a:bodyPr>
          <a:lstStyle/>
          <a:p>
            <a:r>
              <a:rPr lang="en-US" sz="4000" dirty="0" smtClean="0"/>
              <a:t>M. </a:t>
            </a:r>
            <a:r>
              <a:rPr lang="en-US" sz="4000" dirty="0" err="1" smtClean="0"/>
              <a:t>Khademul</a:t>
            </a:r>
            <a:r>
              <a:rPr lang="en-US" sz="4000" dirty="0" smtClean="0"/>
              <a:t> Islam, PhD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200" dirty="0" smtClean="0"/>
              <a:t>Professor, Dept. of CSE, </a:t>
            </a:r>
            <a:r>
              <a:rPr lang="en-US" sz="2200" dirty="0" err="1" smtClean="0"/>
              <a:t>Rajshahi</a:t>
            </a:r>
            <a:r>
              <a:rPr lang="en-US" sz="2200" dirty="0" smtClean="0"/>
              <a:t> University, Bangladesh</a:t>
            </a:r>
            <a:br>
              <a:rPr lang="en-US" sz="2200" dirty="0" smtClean="0"/>
            </a:br>
            <a:r>
              <a:rPr lang="en-US" sz="2200" dirty="0" smtClean="0"/>
              <a:t>Email: khademul.cse@ru.ac.bd, </a:t>
            </a:r>
            <a:r>
              <a:rPr lang="en-US" sz="2200" dirty="0" err="1" smtClean="0"/>
              <a:t>tel</a:t>
            </a:r>
            <a:r>
              <a:rPr lang="en-US" sz="2200" dirty="0" smtClean="0"/>
              <a:t>: +88-01727-786600</a:t>
            </a:r>
            <a:br>
              <a:rPr lang="en-US" sz="2200" dirty="0" smtClean="0"/>
            </a:br>
            <a:r>
              <a:rPr lang="en-US" sz="2200" dirty="0" smtClean="0"/>
              <a:t>web: www.ru.ac.bd/cse/~mki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Multiprocessors:</a:t>
            </a:r>
            <a:endParaRPr lang="en-US" dirty="0" smtClean="0"/>
          </a:p>
          <a:p>
            <a:r>
              <a:rPr lang="en-US" dirty="0" smtClean="0"/>
              <a:t>The Computer system having two or more processing units </a:t>
            </a:r>
          </a:p>
          <a:p>
            <a:r>
              <a:rPr lang="en-US" dirty="0" smtClean="0"/>
              <a:t>Share main memory and peripherals</a:t>
            </a:r>
          </a:p>
          <a:p>
            <a:r>
              <a:rPr lang="en-US" dirty="0" smtClean="0"/>
              <a:t>Reasons of using multiprocessors:</a:t>
            </a:r>
          </a:p>
          <a:p>
            <a:pPr lvl="1"/>
            <a:r>
              <a:rPr lang="en-US" dirty="0" smtClean="0"/>
              <a:t>Multiple users.</a:t>
            </a:r>
          </a:p>
          <a:p>
            <a:pPr lvl="1"/>
            <a:r>
              <a:rPr lang="en-US" dirty="0" smtClean="0"/>
              <a:t>Multiple applications. </a:t>
            </a:r>
          </a:p>
          <a:p>
            <a:pPr lvl="1"/>
            <a:r>
              <a:rPr lang="en-US" dirty="0" smtClean="0"/>
              <a:t>Multitasking within an application</a:t>
            </a:r>
          </a:p>
          <a:p>
            <a:r>
              <a:rPr lang="en-US" dirty="0" smtClean="0"/>
              <a:t>Two types of multiprocessor systems:</a:t>
            </a:r>
          </a:p>
          <a:p>
            <a:pPr lvl="1"/>
            <a:r>
              <a:rPr lang="en-US" dirty="0" smtClean="0"/>
              <a:t>Message Passing, Shared memory</a:t>
            </a:r>
          </a:p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Message Passing</a:t>
            </a:r>
          </a:p>
          <a:p>
            <a:pPr lvl="1"/>
            <a:r>
              <a:rPr lang="en-US" sz="2400" dirty="0" smtClean="0"/>
              <a:t>Separate address space for each processor</a:t>
            </a:r>
          </a:p>
          <a:p>
            <a:pPr lvl="1"/>
            <a:r>
              <a:rPr lang="en-US" sz="2400" dirty="0" smtClean="0"/>
              <a:t>Processors communicate via message passing</a:t>
            </a:r>
          </a:p>
          <a:p>
            <a:pPr lvl="1"/>
            <a:r>
              <a:rPr lang="en-US" sz="2400" dirty="0" smtClean="0"/>
              <a:t>Processors have private memories</a:t>
            </a:r>
          </a:p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  <p:pic>
        <p:nvPicPr>
          <p:cNvPr id="13314" name="Object 2"/>
          <p:cNvPicPr>
            <a:picLocks noChangeArrowheads="1"/>
          </p:cNvPicPr>
          <p:nvPr/>
        </p:nvPicPr>
        <p:blipFill>
          <a:blip r:embed="rId2" cstate="print"/>
          <a:srcRect t="-12183" r="-160" b="-273"/>
          <a:stretch>
            <a:fillRect/>
          </a:stretch>
        </p:blipFill>
        <p:spPr bwMode="auto">
          <a:xfrm>
            <a:off x="1676400" y="3200400"/>
            <a:ext cx="50292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err="1" smtClean="0"/>
              <a:t>Multicomputers</a:t>
            </a:r>
            <a:endParaRPr lang="en-US" sz="2400" dirty="0" smtClean="0"/>
          </a:p>
          <a:p>
            <a:r>
              <a:rPr lang="en-US" sz="2800" dirty="0" smtClean="0"/>
              <a:t>A computer made up of several computers. </a:t>
            </a:r>
          </a:p>
          <a:p>
            <a:r>
              <a:rPr lang="en-US" sz="2800" dirty="0" err="1" smtClean="0"/>
              <a:t>Multicomputers</a:t>
            </a:r>
            <a:r>
              <a:rPr lang="en-US" sz="2800" dirty="0" smtClean="0"/>
              <a:t> are commonly used to get strong computing power.</a:t>
            </a:r>
          </a:p>
          <a:p>
            <a:pPr lvl="0"/>
            <a:r>
              <a:rPr lang="en-US" sz="2800" dirty="0" smtClean="0"/>
              <a:t>A closely coupled processors that do not physically share memory</a:t>
            </a:r>
          </a:p>
          <a:p>
            <a:pPr lvl="1"/>
            <a:r>
              <a:rPr lang="en-US" sz="2400" dirty="0" smtClean="0"/>
              <a:t>Cluster computers</a:t>
            </a:r>
          </a:p>
          <a:p>
            <a:pPr lvl="1"/>
            <a:r>
              <a:rPr lang="en-US" sz="2400" dirty="0" smtClean="0"/>
              <a:t>Networks or clusters of computers </a:t>
            </a:r>
          </a:p>
          <a:p>
            <a:pPr lvl="1"/>
            <a:r>
              <a:rPr lang="en-US" sz="2400" dirty="0" smtClean="0"/>
              <a:t>Can grow to a very large number of processors</a:t>
            </a:r>
          </a:p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n-US" sz="2800" dirty="0" smtClean="0"/>
              <a:t>Multicomputer Consist of</a:t>
            </a:r>
          </a:p>
          <a:p>
            <a:pPr lvl="1"/>
            <a:r>
              <a:rPr lang="en-US" sz="2400" dirty="0" smtClean="0"/>
              <a:t>Processing nodes – CPU, memory and network interface (NIC)</a:t>
            </a:r>
          </a:p>
          <a:p>
            <a:pPr lvl="1"/>
            <a:r>
              <a:rPr lang="en-US" sz="2400" dirty="0" smtClean="0"/>
              <a:t>I/O nodes – device controller and NIC</a:t>
            </a:r>
          </a:p>
          <a:p>
            <a:pPr lvl="1"/>
            <a:r>
              <a:rPr lang="en-US" sz="2400" dirty="0" smtClean="0"/>
              <a:t>Interconnection network</a:t>
            </a:r>
          </a:p>
          <a:p>
            <a:pPr lvl="1"/>
            <a:endParaRPr lang="en-US" sz="2400" dirty="0" smtClean="0"/>
          </a:p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  <p:pic>
        <p:nvPicPr>
          <p:cNvPr id="15362" name="Picture 2" descr="img1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657600"/>
            <a:ext cx="6564232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Shared Memory</a:t>
            </a:r>
          </a:p>
          <a:p>
            <a:pPr lvl="1"/>
            <a:r>
              <a:rPr lang="en-US" sz="2400" dirty="0" smtClean="0"/>
              <a:t>Processors communicate with shared address space</a:t>
            </a:r>
          </a:p>
          <a:p>
            <a:pPr lvl="1"/>
            <a:r>
              <a:rPr lang="en-US" sz="2400" dirty="0" smtClean="0"/>
              <a:t>Processors communicate by memory read/write</a:t>
            </a:r>
          </a:p>
          <a:p>
            <a:pPr lvl="1"/>
            <a:r>
              <a:rPr lang="en-US" sz="2400" dirty="0" smtClean="0"/>
              <a:t>Easy on small-scale machines</a:t>
            </a:r>
          </a:p>
          <a:p>
            <a:pPr lvl="1"/>
            <a:r>
              <a:rPr lang="en-US" sz="2400" dirty="0" smtClean="0"/>
              <a:t>Lower latency</a:t>
            </a:r>
          </a:p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  <p:pic>
        <p:nvPicPr>
          <p:cNvPr id="14338" name="Object 1"/>
          <p:cNvPicPr>
            <a:picLocks noChangeArrowheads="1"/>
          </p:cNvPicPr>
          <p:nvPr/>
        </p:nvPicPr>
        <p:blipFill>
          <a:blip r:embed="rId2" cstate="print"/>
          <a:srcRect t="-6578" b="-320"/>
          <a:stretch>
            <a:fillRect/>
          </a:stretch>
        </p:blipFill>
        <p:spPr bwMode="auto">
          <a:xfrm>
            <a:off x="1219200" y="3581400"/>
            <a:ext cx="5410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Comparison of CISC and RISC  processors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209800"/>
          <a:ext cx="7924800" cy="2438398"/>
        </p:xfrm>
        <a:graphic>
          <a:graphicData uri="http://schemas.openxmlformats.org/drawingml/2006/table">
            <a:tbl>
              <a:tblPr/>
              <a:tblGrid>
                <a:gridCol w="4098483"/>
                <a:gridCol w="3826317"/>
              </a:tblGrid>
              <a:tr h="473507">
                <a:tc>
                  <a:txBody>
                    <a:bodyPr/>
                    <a:lstStyle/>
                    <a:p>
                      <a:pPr marL="2286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SimSun"/>
                        </a:rPr>
                        <a:t>CISC</a:t>
                      </a:r>
                      <a:r>
                        <a:rPr lang="en-US" sz="1600" dirty="0">
                          <a:latin typeface="Times New Roman"/>
                          <a:ea typeface="SimSun"/>
                        </a:rPr>
                        <a:t> </a:t>
                      </a:r>
                    </a:p>
                  </a:txBody>
                  <a:tcPr marL="88669" marR="88669" marT="44335" marB="443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SimSun"/>
                        </a:rPr>
                        <a:t>RISC</a:t>
                      </a:r>
                      <a:r>
                        <a:rPr lang="en-US" sz="1600">
                          <a:latin typeface="Times New Roman"/>
                          <a:ea typeface="SimSun"/>
                        </a:rPr>
                        <a:t> </a:t>
                      </a:r>
                    </a:p>
                  </a:txBody>
                  <a:tcPr marL="88669" marR="88669" marT="44335" marB="443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507">
                <a:tc>
                  <a:txBody>
                    <a:bodyPr/>
                    <a:lstStyle/>
                    <a:p>
                      <a:pPr marL="2286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SimSun"/>
                        </a:rPr>
                        <a:t>Emphasis on hardware   </a:t>
                      </a:r>
                    </a:p>
                  </a:txBody>
                  <a:tcPr marL="88669" marR="88669" marT="44335" marB="443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SimSun"/>
                        </a:rPr>
                        <a:t>Emphasis on software </a:t>
                      </a:r>
                    </a:p>
                  </a:txBody>
                  <a:tcPr marL="88669" marR="88669" marT="44335" marB="443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507">
                <a:tc>
                  <a:txBody>
                    <a:bodyPr/>
                    <a:lstStyle/>
                    <a:p>
                      <a:pPr marL="2286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SimSun"/>
                        </a:rPr>
                        <a:t>Includes multi-clock complex instructions </a:t>
                      </a:r>
                    </a:p>
                  </a:txBody>
                  <a:tcPr marL="88669" marR="88669" marT="44335" marB="443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SimSun"/>
                        </a:rPr>
                        <a:t>Single-clock, reduced instruction only </a:t>
                      </a:r>
                    </a:p>
                  </a:txBody>
                  <a:tcPr marL="88669" marR="88669" marT="44335" marB="443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507">
                <a:tc>
                  <a:txBody>
                    <a:bodyPr/>
                    <a:lstStyle/>
                    <a:p>
                      <a:pPr marL="2286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SimSun"/>
                        </a:rPr>
                        <a:t>Small code sizes, high cycles per second </a:t>
                      </a:r>
                    </a:p>
                  </a:txBody>
                  <a:tcPr marL="88669" marR="88669" marT="44335" marB="443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SimSun"/>
                        </a:rPr>
                        <a:t>Low cycles per second, large code sizes </a:t>
                      </a:r>
                    </a:p>
                  </a:txBody>
                  <a:tcPr marL="88669" marR="88669" marT="44335" marB="443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4370">
                <a:tc>
                  <a:txBody>
                    <a:bodyPr/>
                    <a:lstStyle/>
                    <a:p>
                      <a:pPr marL="2286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SimSun"/>
                        </a:rPr>
                        <a:t>Limited number of registers </a:t>
                      </a:r>
                    </a:p>
                  </a:txBody>
                  <a:tcPr marL="88669" marR="88669" marT="44335" marB="443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SimSun"/>
                        </a:rPr>
                        <a:t>Large number of registers </a:t>
                      </a:r>
                    </a:p>
                  </a:txBody>
                  <a:tcPr marL="88669" marR="88669" marT="44335" marB="443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b="1" dirty="0" smtClean="0"/>
              <a:t>CISC</a:t>
            </a:r>
            <a:r>
              <a:rPr lang="en-US" sz="2800" dirty="0" smtClean="0"/>
              <a:t> –The PDP-11, 80x86 and Motorola 68K.</a:t>
            </a:r>
          </a:p>
          <a:p>
            <a:r>
              <a:rPr lang="en-US" sz="2800" dirty="0" smtClean="0"/>
              <a:t>Complex instruction set computer (CISC) </a:t>
            </a:r>
          </a:p>
          <a:p>
            <a:pPr>
              <a:buNone/>
            </a:pPr>
            <a:r>
              <a:rPr lang="en-US" sz="2800" dirty="0" smtClean="0"/>
              <a:t>Several CISC characteristics:</a:t>
            </a:r>
          </a:p>
          <a:p>
            <a:pPr lvl="1"/>
            <a:r>
              <a:rPr lang="en-US" sz="2400" dirty="0" smtClean="0"/>
              <a:t>Complex instruction</a:t>
            </a:r>
          </a:p>
          <a:p>
            <a:pPr lvl="1"/>
            <a:r>
              <a:rPr lang="en-US" sz="2400" dirty="0" smtClean="0"/>
              <a:t>Efficient use of memory</a:t>
            </a:r>
          </a:p>
          <a:p>
            <a:pPr lvl="1"/>
            <a:r>
              <a:rPr lang="en-US" sz="2400" dirty="0" smtClean="0"/>
              <a:t>A small number of general purpose registers </a:t>
            </a:r>
          </a:p>
          <a:p>
            <a:pPr lvl="1"/>
            <a:r>
              <a:rPr lang="en-US" sz="2400" dirty="0" smtClean="0"/>
              <a:t>Several special purpose registers 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Properties of CISC instructions:</a:t>
            </a:r>
          </a:p>
          <a:p>
            <a:pPr lvl="1"/>
            <a:r>
              <a:rPr lang="en-US" sz="2400" dirty="0" smtClean="0"/>
              <a:t>A 2-operand format, where instructions have a source and a destination. </a:t>
            </a:r>
          </a:p>
          <a:p>
            <a:pPr lvl="1"/>
            <a:r>
              <a:rPr lang="en-US" sz="2400" dirty="0" smtClean="0"/>
              <a:t>Variable length instructions </a:t>
            </a:r>
          </a:p>
          <a:p>
            <a:pPr lvl="1"/>
            <a:r>
              <a:rPr lang="en-US" sz="2400" dirty="0" smtClean="0"/>
              <a:t>Instructions which require multiple clock cycles to execute. </a:t>
            </a:r>
          </a:p>
          <a:p>
            <a:pPr lvl="1"/>
            <a:endParaRPr lang="en-US" sz="2400" dirty="0" smtClean="0"/>
          </a:p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800" b="1" dirty="0" smtClean="0"/>
              <a:t>RISC –</a:t>
            </a:r>
            <a:r>
              <a:rPr lang="en-US" sz="2800" dirty="0" smtClean="0"/>
              <a:t>IBM 801, Stanford MIPS, and Berkeley RISC 1</a:t>
            </a:r>
          </a:p>
          <a:p>
            <a:r>
              <a:rPr lang="en-US" sz="2800" i="1" dirty="0" smtClean="0"/>
              <a:t>Reduced Instruction Set Computer </a:t>
            </a:r>
            <a:r>
              <a:rPr lang="en-US" sz="2800" dirty="0" smtClean="0"/>
              <a:t>(RISC) is a type of microprocessor architecture that utilizes </a:t>
            </a:r>
          </a:p>
          <a:p>
            <a:pPr lvl="1"/>
            <a:r>
              <a:rPr lang="en-US" sz="2400" dirty="0" smtClean="0"/>
              <a:t>A small, highly-optimized set of instructions</a:t>
            </a:r>
          </a:p>
          <a:p>
            <a:pPr lvl="1"/>
            <a:r>
              <a:rPr lang="en-US" sz="2400" dirty="0" smtClean="0"/>
              <a:t>A more specialized set of instructions</a:t>
            </a:r>
          </a:p>
          <a:p>
            <a:pPr lvl="1"/>
            <a:r>
              <a:rPr lang="en-US" sz="2400" i="1" dirty="0" smtClean="0"/>
              <a:t>One cycle execution time</a:t>
            </a:r>
            <a:r>
              <a:rPr lang="en-US" sz="2400" dirty="0" smtClean="0"/>
              <a:t>: RISC processors have a CPI (clock per instruction) of one cycle </a:t>
            </a:r>
          </a:p>
          <a:p>
            <a:pPr lvl="1"/>
            <a:r>
              <a:rPr lang="en-US" sz="2400" dirty="0" smtClean="0"/>
              <a:t>Supports </a:t>
            </a:r>
            <a:r>
              <a:rPr lang="en-US" sz="2400" i="1" dirty="0" smtClean="0"/>
              <a:t>Pipelining</a:t>
            </a:r>
            <a:endParaRPr lang="en-US" sz="2400" dirty="0" smtClean="0"/>
          </a:p>
          <a:p>
            <a:pPr lvl="1"/>
            <a:r>
              <a:rPr lang="en-US" sz="2400" i="1" dirty="0" smtClean="0"/>
              <a:t>Large number of registers</a:t>
            </a:r>
            <a:r>
              <a:rPr lang="en-US" sz="2400" dirty="0" smtClean="0"/>
              <a:t>: the RISC design philosophy generally incorporates a larger number of registers to prevent in large amounts of interactions with memory </a:t>
            </a:r>
            <a:endParaRPr lang="en-US" sz="2800" dirty="0" smtClean="0"/>
          </a:p>
          <a:p>
            <a:pPr lvl="1"/>
            <a:endParaRPr lang="en-US" sz="2400" dirty="0" smtClean="0"/>
          </a:p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Parallel Processing</a:t>
            </a:r>
            <a:endParaRPr lang="en-US" sz="2800" dirty="0" smtClean="0"/>
          </a:p>
          <a:p>
            <a:r>
              <a:rPr lang="en-US" sz="2800" dirty="0" smtClean="0"/>
              <a:t>Parallel processing – executing more than one instruction at the same time. </a:t>
            </a:r>
          </a:p>
          <a:p>
            <a:r>
              <a:rPr lang="en-US" sz="2800" dirty="0" smtClean="0"/>
              <a:t>It is possible to achieve parallelism with a </a:t>
            </a:r>
            <a:r>
              <a:rPr lang="en-US" sz="2800" dirty="0" err="1" smtClean="0"/>
              <a:t>uniprocessor</a:t>
            </a:r>
            <a:r>
              <a:rPr lang="en-US" sz="2800" dirty="0" smtClean="0"/>
              <a:t> system.</a:t>
            </a:r>
            <a:endParaRPr lang="en-US" sz="2400" dirty="0" smtClean="0"/>
          </a:p>
          <a:p>
            <a:pPr lvl="0"/>
            <a:r>
              <a:rPr lang="en-US" dirty="0" smtClean="0"/>
              <a:t>The CPU must include a vectored arithmetic unit.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A vector arithmetic unit contains</a:t>
            </a:r>
          </a:p>
          <a:p>
            <a:pPr lvl="0"/>
            <a:r>
              <a:rPr lang="en-US" sz="2800" dirty="0" smtClean="0"/>
              <a:t> </a:t>
            </a:r>
            <a:r>
              <a:rPr lang="en-US" sz="2400" dirty="0" smtClean="0"/>
              <a:t>Multiple functional</a:t>
            </a:r>
          </a:p>
          <a:p>
            <a:pPr lvl="0"/>
            <a:r>
              <a:rPr lang="en-US" sz="2400" dirty="0" smtClean="0"/>
              <a:t>The control unit routes input values to the different functional units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  <p:pic>
        <p:nvPicPr>
          <p:cNvPr id="34818" name="Object 3"/>
          <p:cNvPicPr>
            <a:picLocks noChangeArrowheads="1"/>
          </p:cNvPicPr>
          <p:nvPr/>
        </p:nvPicPr>
        <p:blipFill>
          <a:blip r:embed="rId2" cstate="print"/>
          <a:srcRect l="-2112" r="-847" b="-285"/>
          <a:stretch>
            <a:fillRect/>
          </a:stretch>
        </p:blipFill>
        <p:spPr bwMode="auto">
          <a:xfrm>
            <a:off x="685800" y="3200400"/>
            <a:ext cx="75438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Parallelism in multiprocessors</a:t>
            </a:r>
            <a:endParaRPr lang="en-US" sz="2800" dirty="0" smtClean="0"/>
          </a:p>
          <a:p>
            <a:r>
              <a:rPr lang="en-US" sz="2800" dirty="0" smtClean="0"/>
              <a:t>Parallel processing systems achieve parallelism by having more than one processor performing tasks simultaneously. </a:t>
            </a:r>
          </a:p>
          <a:p>
            <a:r>
              <a:rPr lang="en-US" sz="2800" dirty="0" smtClean="0"/>
              <a:t>Since multiprocessor systems are more complicated than </a:t>
            </a:r>
            <a:r>
              <a:rPr lang="en-US" sz="2800" dirty="0" err="1" smtClean="0"/>
              <a:t>uniprocessor</a:t>
            </a:r>
            <a:r>
              <a:rPr lang="en-US" sz="2800" dirty="0" smtClean="0"/>
              <a:t> systems, there are many different ways to organize the processors and memory.</a:t>
            </a:r>
            <a:endParaRPr lang="en-US" sz="24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dirty="0" smtClean="0"/>
              <a:t>The </a:t>
            </a:r>
            <a:r>
              <a:rPr lang="en-US" sz="2800" b="1" dirty="0" err="1" smtClean="0"/>
              <a:t>Flyinn’s</a:t>
            </a:r>
            <a:r>
              <a:rPr lang="en-US" sz="2800" b="1" dirty="0" smtClean="0"/>
              <a:t> classification of parallel processing is as follows:</a:t>
            </a:r>
          </a:p>
          <a:p>
            <a:pPr lvl="0"/>
            <a:r>
              <a:rPr lang="en-US" sz="2800" dirty="0" smtClean="0"/>
              <a:t>SISD: Single instruction with single data – conventional computers</a:t>
            </a:r>
          </a:p>
          <a:p>
            <a:pPr lvl="0"/>
            <a:r>
              <a:rPr lang="en-US" sz="2800" dirty="0" smtClean="0"/>
              <a:t>SIMD: Single instruction with multiple data – vector computing machines</a:t>
            </a:r>
          </a:p>
          <a:p>
            <a:pPr lvl="0"/>
            <a:r>
              <a:rPr lang="en-US" sz="2800" dirty="0" smtClean="0"/>
              <a:t>MISD: Multiple instruction with single data – pipelining system</a:t>
            </a:r>
          </a:p>
          <a:p>
            <a:pPr lvl="0"/>
            <a:r>
              <a:rPr lang="en-US" sz="2800" dirty="0" smtClean="0"/>
              <a:t>MIMD: Multiple instruction with multiple data – general purpose machine</a:t>
            </a: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SISD</a:t>
            </a:r>
          </a:p>
          <a:p>
            <a:r>
              <a:rPr lang="en-US" sz="2800" dirty="0" smtClean="0"/>
              <a:t>Practical purpose: one processor is useful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000" dirty="0" smtClean="0"/>
          </a:p>
          <a:p>
            <a:r>
              <a:rPr lang="en-US" sz="2000" dirty="0" smtClean="0"/>
              <a:t>IS </a:t>
            </a:r>
            <a:r>
              <a:rPr lang="en-US" sz="2000" dirty="0" smtClean="0">
                <a:sym typeface="Wingdings" panose="05000000000000000000" pitchFamily="2" charset="2"/>
              </a:rPr>
              <a:t> Instruction stream, DS  Data stream, CU  Control unit, PU  Processor unit, MM  Memory module</a:t>
            </a:r>
            <a:endParaRPr lang="en-US" sz="20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514600"/>
            <a:ext cx="7871254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SIMD</a:t>
            </a:r>
          </a:p>
          <a:p>
            <a:r>
              <a:rPr lang="en-US" sz="2800" dirty="0" smtClean="0"/>
              <a:t>Vector or array operations</a:t>
            </a:r>
            <a:endParaRPr lang="ko-KR" altLang="en-US" sz="2800" dirty="0" smtClean="0"/>
          </a:p>
          <a:p>
            <a:pPr lvl="1"/>
            <a:r>
              <a:rPr lang="en-US" sz="2400" dirty="0" smtClean="0"/>
              <a:t>one vector operation includes many operations on a data stream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276599"/>
            <a:ext cx="6400800" cy="3578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MISD</a:t>
            </a:r>
          </a:p>
          <a:p>
            <a:r>
              <a:rPr lang="en-US" sz="2800" dirty="0" smtClean="0"/>
              <a:t>Data Stream bottle neck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438400"/>
            <a:ext cx="8034432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MIMD</a:t>
            </a:r>
          </a:p>
          <a:p>
            <a:pPr lvl="1"/>
            <a:r>
              <a:rPr lang="en-US" sz="2400" dirty="0" smtClean="0"/>
              <a:t>Multiprocessor System</a:t>
            </a:r>
            <a:endParaRPr lang="ko-KR" altLang="en-US" sz="2400" dirty="0" smtClean="0"/>
          </a:p>
          <a:p>
            <a:pPr lvl="1"/>
            <a:r>
              <a:rPr lang="en-US" sz="2400" dirty="0" smtClean="0"/>
              <a:t>Shared memory or Message passing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Composite Architecture</a:t>
            </a:r>
            <a:endParaRPr 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819400"/>
            <a:ext cx="6705600" cy="3917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C64532606B24FAB5D656F866C042E" ma:contentTypeVersion="7" ma:contentTypeDescription="Create a new document." ma:contentTypeScope="" ma:versionID="e09d2cf455fbf8f69db67da1420b95fc">
  <xsd:schema xmlns:xsd="http://www.w3.org/2001/XMLSchema" xmlns:xs="http://www.w3.org/2001/XMLSchema" xmlns:p="http://schemas.microsoft.com/office/2006/metadata/properties" xmlns:ns2="f8536b80-1d83-40b8-bf9c-7fc7a3b1d835" targetNamespace="http://schemas.microsoft.com/office/2006/metadata/properties" ma:root="true" ma:fieldsID="2669715d9414c83cbf40c50fdf684965" ns2:_="">
    <xsd:import namespace="f8536b80-1d83-40b8-bf9c-7fc7a3b1d8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536b80-1d83-40b8-bf9c-7fc7a3b1d8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2DE4D1-1031-4254-80F6-9781BBF4748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290FBA0-ABF5-4D33-869E-D295246AD5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AE3C43-C187-47F1-BEBA-E84FB82A4FA2}"/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674</TotalTime>
  <Words>603</Words>
  <Application>Microsoft Office PowerPoint</Application>
  <PresentationFormat>On-screen Show (4:3)</PresentationFormat>
  <Paragraphs>111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맑은 고딕</vt:lpstr>
      <vt:lpstr>SimSun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Concourse</vt:lpstr>
      <vt:lpstr>Computer architecture and Organization  Composite Architectures</vt:lpstr>
      <vt:lpstr>Composite Architecture</vt:lpstr>
      <vt:lpstr>Composite Architecture</vt:lpstr>
      <vt:lpstr>Composite Architecture</vt:lpstr>
      <vt:lpstr>Composite Architecture</vt:lpstr>
      <vt:lpstr>Composite Architecture</vt:lpstr>
      <vt:lpstr>Composite Architecture</vt:lpstr>
      <vt:lpstr>Composite Architecture</vt:lpstr>
      <vt:lpstr>Composite Architecture</vt:lpstr>
      <vt:lpstr>Composite Architecture</vt:lpstr>
      <vt:lpstr>Composite Architecture</vt:lpstr>
      <vt:lpstr>Composite Architecture</vt:lpstr>
      <vt:lpstr>Composite Architecture</vt:lpstr>
      <vt:lpstr>Composite Architecture</vt:lpstr>
      <vt:lpstr>Composite Architecture</vt:lpstr>
      <vt:lpstr>Composite Architecture</vt:lpstr>
      <vt:lpstr>Composite Architecture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 and Organization  Introduction</dc:title>
  <dc:creator>Khadam</dc:creator>
  <cp:lastModifiedBy>PC</cp:lastModifiedBy>
  <cp:revision>104</cp:revision>
  <dcterms:created xsi:type="dcterms:W3CDTF">2012-10-13T14:30:17Z</dcterms:created>
  <dcterms:modified xsi:type="dcterms:W3CDTF">2026-05-06T04:00:59Z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0x010100DA4C64532606B24FAB5D656F866C042E</vt:lpwstr>
  </property>
</Properties>
</file>