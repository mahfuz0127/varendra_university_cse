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7" r:id="rId4"/>
  </p:sldMasterIdLst>
  <p:notesMasterIdLst>
    <p:notesMasterId r:id="rId2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B4A5B-D523-6D4B-3685-36D3F228A2C8}" v="7" dt="2026-03-28T15:45:12.683"/>
    <p1510:client id="{1A63DB57-0A0F-11F1-62C1-BEA5DD077605}" v="5" dt="2026-03-29T12:00:42.3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M. ISTIAK AHMED" userId="S::232311121@vu.edu.bd::47ec0608-6e45-4ec2-9553-d498fcd70e6f" providerId="AD" clId="Web-{1A63DB57-0A0F-11F1-62C1-BEA5DD077605}"/>
    <pc:docChg chg="modSld">
      <pc:chgData name="S. M. ISTIAK AHMED" userId="S::232311121@vu.edu.bd::47ec0608-6e45-4ec2-9553-d498fcd70e6f" providerId="AD" clId="Web-{1A63DB57-0A0F-11F1-62C1-BEA5DD077605}" dt="2026-03-29T12:00:42.320" v="4" actId="1076"/>
      <pc:docMkLst>
        <pc:docMk/>
      </pc:docMkLst>
      <pc:sldChg chg="modSp">
        <pc:chgData name="S. M. ISTIAK AHMED" userId="S::232311121@vu.edu.bd::47ec0608-6e45-4ec2-9553-d498fcd70e6f" providerId="AD" clId="Web-{1A63DB57-0A0F-11F1-62C1-BEA5DD077605}" dt="2026-03-29T11:25:59.594" v="3" actId="20577"/>
        <pc:sldMkLst>
          <pc:docMk/>
          <pc:sldMk cId="1685526920" sldId="258"/>
        </pc:sldMkLst>
        <pc:spChg chg="mod">
          <ac:chgData name="S. M. ISTIAK AHMED" userId="S::232311121@vu.edu.bd::47ec0608-6e45-4ec2-9553-d498fcd70e6f" providerId="AD" clId="Web-{1A63DB57-0A0F-11F1-62C1-BEA5DD077605}" dt="2026-03-29T11:25:59.594" v="3" actId="20577"/>
          <ac:spMkLst>
            <pc:docMk/>
            <pc:sldMk cId="1685526920" sldId="258"/>
            <ac:spMk id="3" creationId="{F5E53A0D-B77B-B5FA-6D70-0179D4D4F82F}"/>
          </ac:spMkLst>
        </pc:spChg>
      </pc:sldChg>
      <pc:sldChg chg="modSp">
        <pc:chgData name="S. M. ISTIAK AHMED" userId="S::232311121@vu.edu.bd::47ec0608-6e45-4ec2-9553-d498fcd70e6f" providerId="AD" clId="Web-{1A63DB57-0A0F-11F1-62C1-BEA5DD077605}" dt="2026-03-29T12:00:42.320" v="4" actId="1076"/>
        <pc:sldMkLst>
          <pc:docMk/>
          <pc:sldMk cId="690110075" sldId="271"/>
        </pc:sldMkLst>
        <pc:picChg chg="mod">
          <ac:chgData name="S. M. ISTIAK AHMED" userId="S::232311121@vu.edu.bd::47ec0608-6e45-4ec2-9553-d498fcd70e6f" providerId="AD" clId="Web-{1A63DB57-0A0F-11F1-62C1-BEA5DD077605}" dt="2026-03-29T12:00:42.320" v="4" actId="1076"/>
          <ac:picMkLst>
            <pc:docMk/>
            <pc:sldMk cId="690110075" sldId="271"/>
            <ac:picMk id="8" creationId="{893F3CE4-B711-A061-9FB3-0C5BBD69009F}"/>
          </ac:picMkLst>
        </pc:picChg>
      </pc:sldChg>
    </pc:docChg>
  </pc:docChgLst>
  <pc:docChgLst>
    <pc:chgData name="NABILA NURI TUBA" userId="S::232311134@vu.edu.bd::37f89ecc-e005-4a94-943e-a2c88c0ed177" providerId="AD" clId="Web-{169B4A5B-D523-6D4B-3685-36D3F228A2C8}"/>
    <pc:docChg chg="modSld">
      <pc:chgData name="NABILA NURI TUBA" userId="S::232311134@vu.edu.bd::37f89ecc-e005-4a94-943e-a2c88c0ed177" providerId="AD" clId="Web-{169B4A5B-D523-6D4B-3685-36D3F228A2C8}" dt="2026-03-28T15:45:12.683" v="6" actId="1076"/>
      <pc:docMkLst>
        <pc:docMk/>
      </pc:docMkLst>
      <pc:sldChg chg="modSp">
        <pc:chgData name="NABILA NURI TUBA" userId="S::232311134@vu.edu.bd::37f89ecc-e005-4a94-943e-a2c88c0ed177" providerId="AD" clId="Web-{169B4A5B-D523-6D4B-3685-36D3F228A2C8}" dt="2026-03-28T11:38:52.180" v="2" actId="14100"/>
        <pc:sldMkLst>
          <pc:docMk/>
          <pc:sldMk cId="2353903065" sldId="259"/>
        </pc:sldMkLst>
        <pc:picChg chg="mod">
          <ac:chgData name="NABILA NURI TUBA" userId="S::232311134@vu.edu.bd::37f89ecc-e005-4a94-943e-a2c88c0ed177" providerId="AD" clId="Web-{169B4A5B-D523-6D4B-3685-36D3F228A2C8}" dt="2026-03-28T11:38:52.180" v="2" actId="14100"/>
          <ac:picMkLst>
            <pc:docMk/>
            <pc:sldMk cId="2353903065" sldId="259"/>
            <ac:picMk id="5" creationId="{C6D4B4EA-2525-8182-CD2A-A9A96E8E26DE}"/>
          </ac:picMkLst>
        </pc:picChg>
      </pc:sldChg>
      <pc:sldChg chg="modSp">
        <pc:chgData name="NABILA NURI TUBA" userId="S::232311134@vu.edu.bd::37f89ecc-e005-4a94-943e-a2c88c0ed177" providerId="AD" clId="Web-{169B4A5B-D523-6D4B-3685-36D3F228A2C8}" dt="2026-03-28T13:23:01.371" v="4"/>
        <pc:sldMkLst>
          <pc:docMk/>
          <pc:sldMk cId="2893518379" sldId="265"/>
        </pc:sldMkLst>
        <pc:graphicFrameChg chg="modGraphic">
          <ac:chgData name="NABILA NURI TUBA" userId="S::232311134@vu.edu.bd::37f89ecc-e005-4a94-943e-a2c88c0ed177" providerId="AD" clId="Web-{169B4A5B-D523-6D4B-3685-36D3F228A2C8}" dt="2026-03-28T13:23:01.371" v="4"/>
          <ac:graphicFrameMkLst>
            <pc:docMk/>
            <pc:sldMk cId="2893518379" sldId="265"/>
            <ac:graphicFrameMk id="4" creationId="{ED6EB153-30D1-7023-9DEE-B113B9808572}"/>
          </ac:graphicFrameMkLst>
        </pc:graphicFrameChg>
      </pc:sldChg>
      <pc:sldChg chg="modSp">
        <pc:chgData name="NABILA NURI TUBA" userId="S::232311134@vu.edu.bd::37f89ecc-e005-4a94-943e-a2c88c0ed177" providerId="AD" clId="Web-{169B4A5B-D523-6D4B-3685-36D3F228A2C8}" dt="2026-03-28T15:25:17.718" v="5" actId="1076"/>
        <pc:sldMkLst>
          <pc:docMk/>
          <pc:sldMk cId="690110075" sldId="271"/>
        </pc:sldMkLst>
        <pc:spChg chg="mod">
          <ac:chgData name="NABILA NURI TUBA" userId="S::232311134@vu.edu.bd::37f89ecc-e005-4a94-943e-a2c88c0ed177" providerId="AD" clId="Web-{169B4A5B-D523-6D4B-3685-36D3F228A2C8}" dt="2026-03-28T15:25:17.718" v="5" actId="1076"/>
          <ac:spMkLst>
            <pc:docMk/>
            <pc:sldMk cId="690110075" sldId="271"/>
            <ac:spMk id="2" creationId="{1F0A10A9-F45F-6CDD-C38A-20CA508DF069}"/>
          </ac:spMkLst>
        </pc:spChg>
      </pc:sldChg>
      <pc:sldChg chg="modSp">
        <pc:chgData name="NABILA NURI TUBA" userId="S::232311134@vu.edu.bd::37f89ecc-e005-4a94-943e-a2c88c0ed177" providerId="AD" clId="Web-{169B4A5B-D523-6D4B-3685-36D3F228A2C8}" dt="2026-03-28T15:45:12.683" v="6" actId="1076"/>
        <pc:sldMkLst>
          <pc:docMk/>
          <pc:sldMk cId="3519780974" sldId="273"/>
        </pc:sldMkLst>
        <pc:spChg chg="mod">
          <ac:chgData name="NABILA NURI TUBA" userId="S::232311134@vu.edu.bd::37f89ecc-e005-4a94-943e-a2c88c0ed177" providerId="AD" clId="Web-{169B4A5B-D523-6D4B-3685-36D3F228A2C8}" dt="2026-03-28T15:45:12.683" v="6" actId="1076"/>
          <ac:spMkLst>
            <pc:docMk/>
            <pc:sldMk cId="3519780974" sldId="273"/>
            <ac:spMk id="2" creationId="{F03F4168-1ED2-0194-2B89-A290CDFF5DD3}"/>
          </ac:spMkLst>
        </pc:spChg>
      </pc:sldChg>
    </pc:docChg>
  </pc:docChgLst>
  <pc:docChgLst>
    <pc:chgData name="ZANNATUL TAZRI" userId="S::232311124@vu.edu.bd::adad9a31-70f1-4abc-91af-67a6c65fb790" providerId="AD" clId="Web-{C2E4F79A-39F5-2483-D0F7-F2A84996AEC1}"/>
    <pc:docChg chg="modSld">
      <pc:chgData name="ZANNATUL TAZRI" userId="S::232311124@vu.edu.bd::adad9a31-70f1-4abc-91af-67a6c65fb790" providerId="AD" clId="Web-{C2E4F79A-39F5-2483-D0F7-F2A84996AEC1}" dt="2026-03-26T19:32:40.765" v="1" actId="1076"/>
      <pc:docMkLst>
        <pc:docMk/>
      </pc:docMkLst>
      <pc:sldChg chg="modSp">
        <pc:chgData name="ZANNATUL TAZRI" userId="S::232311124@vu.edu.bd::adad9a31-70f1-4abc-91af-67a6c65fb790" providerId="AD" clId="Web-{C2E4F79A-39F5-2483-D0F7-F2A84996AEC1}" dt="2026-03-26T19:32:40.765" v="1" actId="1076"/>
        <pc:sldMkLst>
          <pc:docMk/>
          <pc:sldMk cId="165265184" sldId="268"/>
        </pc:sldMkLst>
        <pc:picChg chg="mod">
          <ac:chgData name="ZANNATUL TAZRI" userId="S::232311124@vu.edu.bd::adad9a31-70f1-4abc-91af-67a6c65fb790" providerId="AD" clId="Web-{C2E4F79A-39F5-2483-D0F7-F2A84996AEC1}" dt="2026-03-26T19:32:40.765" v="1" actId="1076"/>
          <ac:picMkLst>
            <pc:docMk/>
            <pc:sldMk cId="165265184" sldId="268"/>
            <ac:picMk id="8" creationId="{9D67B893-7366-0CB0-CC87-65F1F27A57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082927-F44D-49A4-938E-704308D8B8E0}"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91D2D3-F5A3-416C-A1CB-9701E95F447F}" type="slidenum">
              <a:rPr lang="en-US" smtClean="0"/>
              <a:t>‹#›</a:t>
            </a:fld>
            <a:endParaRPr lang="en-US"/>
          </a:p>
        </p:txBody>
      </p:sp>
    </p:spTree>
    <p:extLst>
      <p:ext uri="{BB962C8B-B14F-4D97-AF65-F5344CB8AC3E}">
        <p14:creationId xmlns:p14="http://schemas.microsoft.com/office/powerpoint/2010/main" val="1265463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71DE76CC-DAA3-421F-BF8E-19E8BAECBE5D}" type="datetime1">
              <a:rPr lang="en-US" smtClean="0"/>
              <a:t>3/29/2026</a:t>
            </a:fld>
            <a:endParaRPr lang="en-US"/>
          </a:p>
        </p:txBody>
      </p:sp>
      <p:sp>
        <p:nvSpPr>
          <p:cNvPr id="5" name="Footer Placeholder 4"/>
          <p:cNvSpPr>
            <a:spLocks noGrp="1"/>
          </p:cNvSpPr>
          <p:nvPr>
            <p:ph type="ftr" sz="quarter" idx="11"/>
          </p:nvPr>
        </p:nvSpPr>
        <p:spPr/>
        <p:txBody>
          <a:bodyPr/>
          <a:lstStyle/>
          <a:p>
            <a:r>
              <a:rPr lang="en-US"/>
              <a:t>Operating System and System Programming</a:t>
            </a:r>
          </a:p>
        </p:txBody>
      </p:sp>
      <p:sp>
        <p:nvSpPr>
          <p:cNvPr id="6" name="Slide Number Placeholder 5"/>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3281291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p:cNvSpPr>
            <a:spLocks noGrp="1"/>
          </p:cNvSpPr>
          <p:nvPr>
            <p:ph type="ftr" sz="quarter" idx="11"/>
          </p:nvPr>
        </p:nvSpPr>
        <p:spPr/>
        <p:txBody>
          <a:bodyPr/>
          <a:lstStyle/>
          <a:p>
            <a:r>
              <a:rPr lang="en-US"/>
              <a:t>Operating System and System Programming</a:t>
            </a:r>
          </a:p>
        </p:txBody>
      </p:sp>
      <p:sp>
        <p:nvSpPr>
          <p:cNvPr id="6" name="Slide Number Placeholder 5"/>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3815348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4696379-0FE7-4662-A8F3-6F36DBB604EA}" type="datetime1">
              <a:rPr lang="en-US" smtClean="0"/>
              <a:t>3/29/2026</a:t>
            </a:fld>
            <a:endParaRPr lang="en-US"/>
          </a:p>
        </p:txBody>
      </p:sp>
      <p:sp>
        <p:nvSpPr>
          <p:cNvPr id="5" name="Footer Placeholder 4"/>
          <p:cNvSpPr>
            <a:spLocks noGrp="1"/>
          </p:cNvSpPr>
          <p:nvPr>
            <p:ph type="ftr" sz="quarter" idx="11"/>
          </p:nvPr>
        </p:nvSpPr>
        <p:spPr/>
        <p:txBody>
          <a:bodyPr/>
          <a:lstStyle/>
          <a:p>
            <a:r>
              <a:rPr lang="en-US"/>
              <a:t>Operating System and System Programming</a:t>
            </a:r>
          </a:p>
        </p:txBody>
      </p:sp>
      <p:sp>
        <p:nvSpPr>
          <p:cNvPr id="6" name="Slide Number Placeholder 5"/>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2874287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AE8AF16-0610-4948-BBA8-10D75F17CBAD}" type="datetime1">
              <a:rPr lang="en-US" smtClean="0"/>
              <a:t>3/29/2026</a:t>
            </a:fld>
            <a:endParaRPr lang="en-US"/>
          </a:p>
        </p:txBody>
      </p:sp>
      <p:sp>
        <p:nvSpPr>
          <p:cNvPr id="6" name="Footer Placeholder 5"/>
          <p:cNvSpPr>
            <a:spLocks noGrp="1"/>
          </p:cNvSpPr>
          <p:nvPr>
            <p:ph type="ftr" sz="quarter" idx="11"/>
          </p:nvPr>
        </p:nvSpPr>
        <p:spPr/>
        <p:txBody>
          <a:bodyPr/>
          <a:lstStyle/>
          <a:p>
            <a:r>
              <a:rPr lang="en-US"/>
              <a:t>Operating System and System Programming</a:t>
            </a:r>
          </a:p>
        </p:txBody>
      </p:sp>
      <p:sp>
        <p:nvSpPr>
          <p:cNvPr id="7" name="Slide Number Placeholder 6"/>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2803124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392841D-FE8C-4065-BD7F-EDFD0DB0EF9C}" type="datetime1">
              <a:rPr lang="en-US" smtClean="0"/>
              <a:t>3/29/2026</a:t>
            </a:fld>
            <a:endParaRPr lang="en-US"/>
          </a:p>
        </p:txBody>
      </p:sp>
      <p:sp>
        <p:nvSpPr>
          <p:cNvPr id="8" name="Footer Placeholder 7"/>
          <p:cNvSpPr>
            <a:spLocks noGrp="1"/>
          </p:cNvSpPr>
          <p:nvPr>
            <p:ph type="ftr" sz="quarter" idx="11"/>
          </p:nvPr>
        </p:nvSpPr>
        <p:spPr/>
        <p:txBody>
          <a:bodyPr/>
          <a:lstStyle/>
          <a:p>
            <a:r>
              <a:rPr lang="en-US"/>
              <a:t>Operating System and System Programming</a:t>
            </a:r>
          </a:p>
        </p:txBody>
      </p:sp>
      <p:sp>
        <p:nvSpPr>
          <p:cNvPr id="9" name="Slide Number Placeholder 8"/>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3310841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E569FD11-B894-4E83-A967-6C79D8EEAE8D}" type="datetime1">
              <a:rPr lang="en-US" smtClean="0"/>
              <a:t>3/29/2026</a:t>
            </a:fld>
            <a:endParaRPr lang="en-US"/>
          </a:p>
        </p:txBody>
      </p:sp>
      <p:sp>
        <p:nvSpPr>
          <p:cNvPr id="4" name="Footer Placeholder 3"/>
          <p:cNvSpPr>
            <a:spLocks noGrp="1"/>
          </p:cNvSpPr>
          <p:nvPr>
            <p:ph type="ftr" sz="quarter" idx="11"/>
          </p:nvPr>
        </p:nvSpPr>
        <p:spPr/>
        <p:txBody>
          <a:bodyPr/>
          <a:lstStyle/>
          <a:p>
            <a:r>
              <a:rPr lang="en-US"/>
              <a:t>Operating System and System Programming</a:t>
            </a:r>
          </a:p>
        </p:txBody>
      </p:sp>
      <p:sp>
        <p:nvSpPr>
          <p:cNvPr id="5" name="Slide Number Placeholder 4"/>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4190286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2AE392C3-86EE-4242-BB47-2DB830429DD3}" type="datetime1">
              <a:rPr lang="en-US" smtClean="0"/>
              <a:t>3/29/2026</a:t>
            </a:fld>
            <a:endParaRPr lang="en-US"/>
          </a:p>
        </p:txBody>
      </p:sp>
      <p:sp>
        <p:nvSpPr>
          <p:cNvPr id="3" name="Footer Placeholder 2"/>
          <p:cNvSpPr>
            <a:spLocks noGrp="1"/>
          </p:cNvSpPr>
          <p:nvPr>
            <p:ph type="ftr" sz="quarter" idx="11"/>
          </p:nvPr>
        </p:nvSpPr>
        <p:spPr/>
        <p:txBody>
          <a:bodyPr/>
          <a:lstStyle/>
          <a:p>
            <a:r>
              <a:rPr lang="en-US"/>
              <a:t>Operating System and System Programming</a:t>
            </a:r>
          </a:p>
        </p:txBody>
      </p:sp>
      <p:sp>
        <p:nvSpPr>
          <p:cNvPr id="4" name="Slide Number Placeholder 3"/>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3694859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2A40C3F-F704-4755-84A4-B9B8989FB32F}" type="datetime1">
              <a:rPr lang="en-US" smtClean="0"/>
              <a:t>3/29/2026</a:t>
            </a:fld>
            <a:endParaRPr lang="en-US"/>
          </a:p>
        </p:txBody>
      </p:sp>
      <p:sp>
        <p:nvSpPr>
          <p:cNvPr id="6" name="Footer Placeholder 5"/>
          <p:cNvSpPr>
            <a:spLocks noGrp="1"/>
          </p:cNvSpPr>
          <p:nvPr>
            <p:ph type="ftr" sz="quarter" idx="11"/>
          </p:nvPr>
        </p:nvSpPr>
        <p:spPr/>
        <p:txBody>
          <a:bodyPr/>
          <a:lstStyle/>
          <a:p>
            <a:r>
              <a:rPr lang="en-US"/>
              <a:t>Operating System and System Programming</a:t>
            </a:r>
          </a:p>
        </p:txBody>
      </p:sp>
      <p:sp>
        <p:nvSpPr>
          <p:cNvPr id="7" name="Slide Number Placeholder 6"/>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2957956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0684802E-2929-4169-B1D9-8729E678BE4F}" type="datetime1">
              <a:rPr lang="en-US" smtClean="0"/>
              <a:t>3/29/2026</a:t>
            </a:fld>
            <a:endParaRPr lang="en-US"/>
          </a:p>
        </p:txBody>
      </p:sp>
      <p:sp>
        <p:nvSpPr>
          <p:cNvPr id="6" name="Footer Placeholder 5"/>
          <p:cNvSpPr>
            <a:spLocks noGrp="1"/>
          </p:cNvSpPr>
          <p:nvPr>
            <p:ph type="ftr" sz="quarter" idx="11"/>
          </p:nvPr>
        </p:nvSpPr>
        <p:spPr/>
        <p:txBody>
          <a:bodyPr/>
          <a:lstStyle/>
          <a:p>
            <a:r>
              <a:rPr lang="en-US"/>
              <a:t>Operating System and System Programming</a:t>
            </a:r>
          </a:p>
        </p:txBody>
      </p:sp>
      <p:sp>
        <p:nvSpPr>
          <p:cNvPr id="7" name="Slide Number Placeholder 6"/>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2308486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B47F291-8EC4-4447-B2A5-3ECE5BBB9B6B}" type="datetime1">
              <a:rPr lang="en-US" smtClean="0"/>
              <a:t>3/29/2026</a:t>
            </a:fld>
            <a:endParaRPr lang="en-US"/>
          </a:p>
        </p:txBody>
      </p:sp>
      <p:sp>
        <p:nvSpPr>
          <p:cNvPr id="6" name="Footer Placeholder 5"/>
          <p:cNvSpPr>
            <a:spLocks noGrp="1"/>
          </p:cNvSpPr>
          <p:nvPr>
            <p:ph type="ftr" sz="quarter" idx="11"/>
          </p:nvPr>
        </p:nvSpPr>
        <p:spPr/>
        <p:txBody>
          <a:bodyPr/>
          <a:lstStyle/>
          <a:p>
            <a:r>
              <a:rPr lang="en-US"/>
              <a:t>Operating System and System Programming</a:t>
            </a:r>
          </a:p>
        </p:txBody>
      </p:sp>
      <p:sp>
        <p:nvSpPr>
          <p:cNvPr id="7" name="Slide Number Placeholder 6"/>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3673036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76EF2C2-51D9-42C0-9FFB-29341CBCABDC}" type="datetime1">
              <a:rPr lang="en-US" smtClean="0"/>
              <a:t>3/29/2026</a:t>
            </a:fld>
            <a:endParaRPr lang="en-US"/>
          </a:p>
        </p:txBody>
      </p:sp>
      <p:sp>
        <p:nvSpPr>
          <p:cNvPr id="6" name="Footer Placeholder 5"/>
          <p:cNvSpPr>
            <a:spLocks noGrp="1"/>
          </p:cNvSpPr>
          <p:nvPr>
            <p:ph type="ftr" sz="quarter" idx="11"/>
          </p:nvPr>
        </p:nvSpPr>
        <p:spPr/>
        <p:txBody>
          <a:bodyPr/>
          <a:lstStyle/>
          <a:p>
            <a:r>
              <a:rPr lang="en-US"/>
              <a:t>Operating System and System Programming</a:t>
            </a:r>
          </a:p>
        </p:txBody>
      </p:sp>
      <p:sp>
        <p:nvSpPr>
          <p:cNvPr id="7" name="Slide Number Placeholder 6"/>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2404561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DD02796-FB9A-4C19-BD73-EF3DCDB21ABE}" type="datetime1">
              <a:rPr lang="en-US" smtClean="0"/>
              <a:t>3/29/2026</a:t>
            </a:fld>
            <a:endParaRPr lang="en-US"/>
          </a:p>
        </p:txBody>
      </p:sp>
      <p:sp>
        <p:nvSpPr>
          <p:cNvPr id="6" name="Footer Placeholder 5"/>
          <p:cNvSpPr>
            <a:spLocks noGrp="1"/>
          </p:cNvSpPr>
          <p:nvPr>
            <p:ph type="ftr" sz="quarter" idx="11"/>
          </p:nvPr>
        </p:nvSpPr>
        <p:spPr/>
        <p:txBody>
          <a:bodyPr/>
          <a:lstStyle/>
          <a:p>
            <a:r>
              <a:rPr lang="en-US"/>
              <a:t>Operating System and System Programming</a:t>
            </a:r>
          </a:p>
        </p:txBody>
      </p:sp>
      <p:sp>
        <p:nvSpPr>
          <p:cNvPr id="7" name="Slide Number Placeholder 6"/>
          <p:cNvSpPr>
            <a:spLocks noGrp="1"/>
          </p:cNvSpPr>
          <p:nvPr>
            <p:ph type="sldNum" sz="quarter" idx="12"/>
          </p:nvPr>
        </p:nvSpPr>
        <p:spPr/>
        <p:txBody>
          <a:bodyPr/>
          <a:lstStyle/>
          <a:p>
            <a:fld id="{86524AF2-6675-4F0E-A4F4-CF906B52CE2C}"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1003881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FBED94D-562F-4116-BC51-B885DD37F51C}" type="datetime1">
              <a:rPr lang="en-US" smtClean="0"/>
              <a:t>3/29/2026</a:t>
            </a:fld>
            <a:endParaRPr lang="en-US"/>
          </a:p>
        </p:txBody>
      </p:sp>
      <p:sp>
        <p:nvSpPr>
          <p:cNvPr id="6" name="Footer Placeholder 5"/>
          <p:cNvSpPr>
            <a:spLocks noGrp="1"/>
          </p:cNvSpPr>
          <p:nvPr>
            <p:ph type="ftr" sz="quarter" idx="11"/>
          </p:nvPr>
        </p:nvSpPr>
        <p:spPr/>
        <p:txBody>
          <a:bodyPr/>
          <a:lstStyle/>
          <a:p>
            <a:r>
              <a:rPr lang="en-US"/>
              <a:t>Operating System and System Programming</a:t>
            </a:r>
          </a:p>
        </p:txBody>
      </p:sp>
      <p:sp>
        <p:nvSpPr>
          <p:cNvPr id="7" name="Slide Number Placeholder 6"/>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359582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77442FD8-EAA4-4758-A2A3-6067F64EEEDB}" type="datetime1">
              <a:rPr lang="en-US" smtClean="0"/>
              <a:t>3/29/2026</a:t>
            </a:fld>
            <a:endParaRPr lang="en-US"/>
          </a:p>
        </p:txBody>
      </p:sp>
      <p:sp>
        <p:nvSpPr>
          <p:cNvPr id="4" name="Footer Placeholder 3"/>
          <p:cNvSpPr>
            <a:spLocks noGrp="1"/>
          </p:cNvSpPr>
          <p:nvPr>
            <p:ph type="ftr" sz="quarter" idx="11"/>
          </p:nvPr>
        </p:nvSpPr>
        <p:spPr/>
        <p:txBody>
          <a:bodyPr/>
          <a:lstStyle/>
          <a:p>
            <a:r>
              <a:rPr lang="en-US"/>
              <a:t>Operating System and System Programming</a:t>
            </a:r>
          </a:p>
        </p:txBody>
      </p:sp>
      <p:sp>
        <p:nvSpPr>
          <p:cNvPr id="5" name="Slide Number Placeholder 4"/>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12800504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E0EF8954-8BEA-480F-9F6E-128361DD2289}" type="datetime1">
              <a:rPr lang="en-US" smtClean="0"/>
              <a:t>3/29/2026</a:t>
            </a:fld>
            <a:endParaRPr lang="en-US"/>
          </a:p>
        </p:txBody>
      </p:sp>
      <p:sp>
        <p:nvSpPr>
          <p:cNvPr id="4" name="Footer Placeholder 3"/>
          <p:cNvSpPr>
            <a:spLocks noGrp="1"/>
          </p:cNvSpPr>
          <p:nvPr>
            <p:ph type="ftr" sz="quarter" idx="11"/>
          </p:nvPr>
        </p:nvSpPr>
        <p:spPr/>
        <p:txBody>
          <a:bodyPr/>
          <a:lstStyle/>
          <a:p>
            <a:r>
              <a:rPr lang="en-US"/>
              <a:t>Operating System and System Programming</a:t>
            </a:r>
          </a:p>
        </p:txBody>
      </p:sp>
      <p:sp>
        <p:nvSpPr>
          <p:cNvPr id="5" name="Slide Number Placeholder 4"/>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2972015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2F691415-8D92-4BB8-923F-8E20F45C8F74}" type="datetime1">
              <a:rPr lang="en-US" smtClean="0"/>
              <a:t>3/29/2026</a:t>
            </a:fld>
            <a:endParaRPr lang="en-US"/>
          </a:p>
        </p:txBody>
      </p:sp>
      <p:sp>
        <p:nvSpPr>
          <p:cNvPr id="5" name="Footer Placeholder 4"/>
          <p:cNvSpPr>
            <a:spLocks noGrp="1"/>
          </p:cNvSpPr>
          <p:nvPr>
            <p:ph type="ftr" sz="quarter" idx="11"/>
          </p:nvPr>
        </p:nvSpPr>
        <p:spPr/>
        <p:txBody>
          <a:bodyPr/>
          <a:lstStyle/>
          <a:p>
            <a:r>
              <a:rPr lang="en-US"/>
              <a:t>Operating System and System Programming</a:t>
            </a:r>
          </a:p>
        </p:txBody>
      </p:sp>
      <p:sp>
        <p:nvSpPr>
          <p:cNvPr id="6" name="Slide Number Placeholder 5"/>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13734915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86CD0B3-4F04-4D32-9B6B-43784F833A1F}" type="datetime1">
              <a:rPr lang="en-US" smtClean="0"/>
              <a:t>3/29/2026</a:t>
            </a:fld>
            <a:endParaRPr lang="en-US"/>
          </a:p>
        </p:txBody>
      </p:sp>
      <p:sp>
        <p:nvSpPr>
          <p:cNvPr id="5" name="Footer Placeholder 4"/>
          <p:cNvSpPr>
            <a:spLocks noGrp="1"/>
          </p:cNvSpPr>
          <p:nvPr>
            <p:ph type="ftr" sz="quarter" idx="11"/>
          </p:nvPr>
        </p:nvSpPr>
        <p:spPr/>
        <p:txBody>
          <a:bodyPr/>
          <a:lstStyle/>
          <a:p>
            <a:r>
              <a:rPr lang="en-US"/>
              <a:t>Operating System and System Programming</a:t>
            </a:r>
          </a:p>
        </p:txBody>
      </p:sp>
      <p:sp>
        <p:nvSpPr>
          <p:cNvPr id="6" name="Slide Number Placeholder 5"/>
          <p:cNvSpPr>
            <a:spLocks noGrp="1"/>
          </p:cNvSpPr>
          <p:nvPr>
            <p:ph type="sldNum" sz="quarter" idx="12"/>
          </p:nvPr>
        </p:nvSpPr>
        <p:spPr/>
        <p:txBody>
          <a:bodyPr/>
          <a:lstStyle/>
          <a:p>
            <a:fld id="{86524AF2-6675-4F0E-A4F4-CF906B52CE2C}" type="slidenum">
              <a:rPr lang="en-US" smtClean="0"/>
              <a:t>‹#›</a:t>
            </a:fld>
            <a:endParaRPr lang="en-US"/>
          </a:p>
        </p:txBody>
      </p:sp>
    </p:spTree>
    <p:extLst>
      <p:ext uri="{BB962C8B-B14F-4D97-AF65-F5344CB8AC3E}">
        <p14:creationId xmlns:p14="http://schemas.microsoft.com/office/powerpoint/2010/main" val="363159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1400DB1-D466-4AEC-B206-295633461F56}" type="datetime1">
              <a:rPr lang="en-US" smtClean="0"/>
              <a:t>3/29/2026</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r>
              <a:rPr lang="en-US"/>
              <a:t>Operating System and System Programming</a:t>
            </a:r>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86524AF2-6675-4F0E-A4F4-CF906B52CE2C}" type="slidenum">
              <a:rPr lang="en-US" smtClean="0"/>
              <a:t>‹#›</a:t>
            </a:fld>
            <a:endParaRPr lang="en-US"/>
          </a:p>
        </p:txBody>
      </p:sp>
    </p:spTree>
    <p:extLst>
      <p:ext uri="{BB962C8B-B14F-4D97-AF65-F5344CB8AC3E}">
        <p14:creationId xmlns:p14="http://schemas.microsoft.com/office/powerpoint/2010/main" val="34235373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42184-F73E-4A22-0466-43620836BE25}"/>
              </a:ext>
            </a:extLst>
          </p:cNvPr>
          <p:cNvSpPr>
            <a:spLocks noGrp="1"/>
          </p:cNvSpPr>
          <p:nvPr>
            <p:ph type="ctrTitle"/>
          </p:nvPr>
        </p:nvSpPr>
        <p:spPr>
          <a:xfrm>
            <a:off x="1661560" y="1110908"/>
            <a:ext cx="8689976" cy="1532902"/>
          </a:xfrm>
        </p:spPr>
        <p:txBody>
          <a:bodyPr/>
          <a:lstStyle/>
          <a:p>
            <a:r>
              <a:rPr lang="en-US"/>
              <a:t>Chapter 3: Processes</a:t>
            </a:r>
          </a:p>
        </p:txBody>
      </p:sp>
    </p:spTree>
    <p:extLst>
      <p:ext uri="{BB962C8B-B14F-4D97-AF65-F5344CB8AC3E}">
        <p14:creationId xmlns:p14="http://schemas.microsoft.com/office/powerpoint/2010/main" val="4106302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30D9-1455-6F15-B2DD-DD48A221C016}"/>
              </a:ext>
            </a:extLst>
          </p:cNvPr>
          <p:cNvSpPr>
            <a:spLocks noGrp="1"/>
          </p:cNvSpPr>
          <p:nvPr>
            <p:ph type="title"/>
          </p:nvPr>
        </p:nvSpPr>
        <p:spPr>
          <a:xfrm>
            <a:off x="913775" y="618518"/>
            <a:ext cx="10364451" cy="603996"/>
          </a:xfrm>
        </p:spPr>
        <p:txBody>
          <a:bodyPr/>
          <a:lstStyle/>
          <a:p>
            <a:r>
              <a:rPr lang="en-US"/>
              <a:t>Process</a:t>
            </a:r>
          </a:p>
        </p:txBody>
      </p:sp>
      <p:sp>
        <p:nvSpPr>
          <p:cNvPr id="3" name="Content Placeholder 2">
            <a:extLst>
              <a:ext uri="{FF2B5EF4-FFF2-40B4-BE49-F238E27FC236}">
                <a16:creationId xmlns:a16="http://schemas.microsoft.com/office/drawing/2014/main" id="{F5E53A0D-B77B-B5FA-6D70-0179D4D4F82F}"/>
              </a:ext>
            </a:extLst>
          </p:cNvPr>
          <p:cNvSpPr>
            <a:spLocks noGrp="1"/>
          </p:cNvSpPr>
          <p:nvPr>
            <p:ph sz="quarter" idx="13"/>
          </p:nvPr>
        </p:nvSpPr>
        <p:spPr>
          <a:xfrm>
            <a:off x="913774" y="2288292"/>
            <a:ext cx="10750826" cy="4101547"/>
          </a:xfrm>
        </p:spPr>
        <p:txBody>
          <a:bodyPr/>
          <a:lstStyle/>
          <a:p>
            <a:r>
              <a:rPr lang="en-US"/>
              <a:t>a </a:t>
            </a:r>
            <a:r>
              <a:rPr lang="en-US" b="1"/>
              <a:t>process</a:t>
            </a:r>
            <a:r>
              <a:rPr lang="en-US"/>
              <a:t> </a:t>
            </a:r>
            <a:r>
              <a:rPr lang="en-US" cap="none"/>
              <a:t>is basically a </a:t>
            </a:r>
            <a:r>
              <a:rPr lang="en-US" b="1" cap="none"/>
              <a:t>program that’s currently being executed</a:t>
            </a:r>
            <a:r>
              <a:rPr lang="en-US" cap="none"/>
              <a:t> — not just sitting on disk, but </a:t>
            </a:r>
            <a:r>
              <a:rPr lang="en-US" i="1" cap="none"/>
              <a:t>alive and running</a:t>
            </a:r>
          </a:p>
          <a:p>
            <a:r>
              <a:rPr kumimoji="0" lang="en-US" altLang="en-US" sz="2000" b="1" i="0" u="none" strike="noStrike" cap="none" normalizeH="0" baseline="0">
                <a:ln>
                  <a:noFill/>
                </a:ln>
                <a:solidFill>
                  <a:schemeClr val="tx1"/>
                </a:solidFill>
                <a:effectLst/>
                <a:latin typeface="Arial" panose="020B0604020202020204" pitchFamily="34" charset="0"/>
              </a:rPr>
              <a:t>Program</a:t>
            </a:r>
            <a:r>
              <a:rPr kumimoji="0" lang="en-US" altLang="en-US" sz="2000" b="0" i="0" u="none" strike="noStrike" cap="none" normalizeH="0" baseline="0">
                <a:ln>
                  <a:noFill/>
                </a:ln>
                <a:solidFill>
                  <a:schemeClr val="tx1"/>
                </a:solidFill>
                <a:effectLst/>
                <a:latin typeface="Arial" panose="020B0604020202020204" pitchFamily="34" charset="0"/>
              </a:rPr>
              <a:t> → a passive file (</a:t>
            </a:r>
            <a:r>
              <a:rPr kumimoji="0" lang="en-US" altLang="en-US" sz="1800" b="0" i="0" u="none" strike="noStrike" cap="none" normalizeH="0" baseline="0">
                <a:ln>
                  <a:noFill/>
                </a:ln>
                <a:solidFill>
                  <a:schemeClr val="tx1"/>
                </a:solidFill>
                <a:effectLst/>
                <a:latin typeface="Arial" panose="020B0604020202020204" pitchFamily="34" charset="0"/>
              </a:rPr>
              <a:t>like </a:t>
            </a:r>
            <a:r>
              <a:rPr kumimoji="0" lang="en-US" altLang="en-US" sz="1800" b="0" i="0" u="none" strike="noStrike" cap="none" normalizeH="0" baseline="0">
                <a:ln>
                  <a:noFill/>
                </a:ln>
                <a:solidFill>
                  <a:schemeClr val="tx1"/>
                </a:solidFill>
                <a:effectLst/>
                <a:latin typeface="Arial Unicode MS"/>
              </a:rPr>
              <a:t>chrome.exe</a:t>
            </a:r>
            <a:r>
              <a:rPr kumimoji="0" lang="en-US" altLang="en-US" sz="1800" b="0" i="0" u="none" strike="noStrike" cap="none" normalizeH="0" baseline="0">
                <a:ln>
                  <a:noFill/>
                </a:ln>
                <a:solidFill>
                  <a:schemeClr val="tx1"/>
                </a:solidFill>
                <a:effectLst/>
              </a:rPr>
              <a:t> stored on your disk) </a:t>
            </a:r>
            <a:endParaRPr kumimoji="0" lang="en-US" altLang="en-US" sz="1800" b="0" i="0" u="none" strike="noStrike" cap="none" normalizeH="0" baseline="0">
              <a:ln>
                <a:noFill/>
              </a:ln>
              <a:solidFill>
                <a:schemeClr val="tx1"/>
              </a:solidFill>
              <a:effectLst/>
              <a:latin typeface="Arial" panose="020B0604020202020204" pitchFamily="34" charset="0"/>
            </a:endParaRPr>
          </a:p>
          <a:p>
            <a:r>
              <a:rPr lang="en-US" b="1"/>
              <a:t>Process</a:t>
            </a:r>
            <a:r>
              <a:rPr lang="en-US"/>
              <a:t> → </a:t>
            </a:r>
            <a:r>
              <a:rPr lang="en-US" cap="none"/>
              <a:t>an active instance of that program in memory (chrome actually running)</a:t>
            </a:r>
            <a:endParaRPr lang="en-US"/>
          </a:p>
          <a:p>
            <a:r>
              <a:rPr lang="en-US"/>
              <a:t>Y</a:t>
            </a:r>
            <a:r>
              <a:rPr lang="en-US" cap="none"/>
              <a:t>ou</a:t>
            </a:r>
            <a:r>
              <a:rPr lang="en-US"/>
              <a:t> </a:t>
            </a:r>
            <a:r>
              <a:rPr lang="en-US" cap="none"/>
              <a:t>can even have </a:t>
            </a:r>
            <a:r>
              <a:rPr lang="en-US" b="1" cap="none"/>
              <a:t>multiple processes of the same program</a:t>
            </a:r>
            <a:r>
              <a:rPr lang="en-US" cap="none"/>
              <a:t> running at once.</a:t>
            </a:r>
            <a:endParaRPr lang="en-US" i="1" cap="none"/>
          </a:p>
          <a:p>
            <a:endParaRPr lang="en-US"/>
          </a:p>
          <a:p>
            <a:endParaRPr lang="en-US"/>
          </a:p>
        </p:txBody>
      </p:sp>
      <p:sp>
        <p:nvSpPr>
          <p:cNvPr id="10" name="Date Placeholder 9">
            <a:extLst>
              <a:ext uri="{FF2B5EF4-FFF2-40B4-BE49-F238E27FC236}">
                <a16:creationId xmlns:a16="http://schemas.microsoft.com/office/drawing/2014/main" id="{CBC5092D-B780-61EB-9810-00662CD9DB97}"/>
              </a:ext>
            </a:extLst>
          </p:cNvPr>
          <p:cNvSpPr>
            <a:spLocks noGrp="1"/>
          </p:cNvSpPr>
          <p:nvPr>
            <p:ph type="dt" sz="half" idx="10"/>
          </p:nvPr>
        </p:nvSpPr>
        <p:spPr/>
        <p:txBody>
          <a:bodyPr/>
          <a:lstStyle/>
          <a:p>
            <a:fld id="{1E1EE67F-88B3-44FF-9210-F46EDFF06365}" type="datetime1">
              <a:rPr lang="en-US" smtClean="0"/>
              <a:t>3/29/2026</a:t>
            </a:fld>
            <a:endParaRPr lang="en-US"/>
          </a:p>
        </p:txBody>
      </p:sp>
      <p:sp>
        <p:nvSpPr>
          <p:cNvPr id="11" name="Footer Placeholder 10">
            <a:extLst>
              <a:ext uri="{FF2B5EF4-FFF2-40B4-BE49-F238E27FC236}">
                <a16:creationId xmlns:a16="http://schemas.microsoft.com/office/drawing/2014/main" id="{0DD27898-52CC-DBBC-95B9-E23081A7604B}"/>
              </a:ext>
            </a:extLst>
          </p:cNvPr>
          <p:cNvSpPr>
            <a:spLocks noGrp="1"/>
          </p:cNvSpPr>
          <p:nvPr>
            <p:ph type="ftr" sz="quarter" idx="11"/>
          </p:nvPr>
        </p:nvSpPr>
        <p:spPr/>
        <p:txBody>
          <a:bodyPr/>
          <a:lstStyle/>
          <a:p>
            <a:r>
              <a:rPr lang="en-US"/>
              <a:t>Operating System and System Programming</a:t>
            </a:r>
          </a:p>
        </p:txBody>
      </p:sp>
      <p:sp>
        <p:nvSpPr>
          <p:cNvPr id="12" name="Slide Number Placeholder 11">
            <a:extLst>
              <a:ext uri="{FF2B5EF4-FFF2-40B4-BE49-F238E27FC236}">
                <a16:creationId xmlns:a16="http://schemas.microsoft.com/office/drawing/2014/main" id="{7A66D634-93CE-E169-B08A-417E79A3B8D4}"/>
              </a:ext>
            </a:extLst>
          </p:cNvPr>
          <p:cNvSpPr>
            <a:spLocks noGrp="1"/>
          </p:cNvSpPr>
          <p:nvPr>
            <p:ph type="sldNum" sz="quarter" idx="12"/>
          </p:nvPr>
        </p:nvSpPr>
        <p:spPr/>
        <p:txBody>
          <a:bodyPr/>
          <a:lstStyle/>
          <a:p>
            <a:fld id="{86524AF2-6675-4F0E-A4F4-CF906B52CE2C}" type="slidenum">
              <a:rPr lang="en-US" smtClean="0"/>
              <a:t>2</a:t>
            </a:fld>
            <a:endParaRPr lang="en-US"/>
          </a:p>
        </p:txBody>
      </p:sp>
    </p:spTree>
    <p:extLst>
      <p:ext uri="{BB962C8B-B14F-4D97-AF65-F5344CB8AC3E}">
        <p14:creationId xmlns:p14="http://schemas.microsoft.com/office/powerpoint/2010/main" val="2799073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30D9-1455-6F15-B2DD-DD48A221C016}"/>
              </a:ext>
            </a:extLst>
          </p:cNvPr>
          <p:cNvSpPr>
            <a:spLocks noGrp="1"/>
          </p:cNvSpPr>
          <p:nvPr>
            <p:ph type="title"/>
          </p:nvPr>
        </p:nvSpPr>
        <p:spPr>
          <a:xfrm>
            <a:off x="913775" y="618518"/>
            <a:ext cx="10364451" cy="603996"/>
          </a:xfrm>
        </p:spPr>
        <p:txBody>
          <a:bodyPr>
            <a:normAutofit fontScale="90000"/>
          </a:bodyPr>
          <a:lstStyle/>
          <a:p>
            <a:r>
              <a:rPr lang="en-US"/>
              <a:t>Sections of process and Their memory location</a:t>
            </a:r>
          </a:p>
        </p:txBody>
      </p:sp>
      <p:sp>
        <p:nvSpPr>
          <p:cNvPr id="3" name="Content Placeholder 2">
            <a:extLst>
              <a:ext uri="{FF2B5EF4-FFF2-40B4-BE49-F238E27FC236}">
                <a16:creationId xmlns:a16="http://schemas.microsoft.com/office/drawing/2014/main" id="{F5E53A0D-B77B-B5FA-6D70-0179D4D4F82F}"/>
              </a:ext>
            </a:extLst>
          </p:cNvPr>
          <p:cNvSpPr>
            <a:spLocks noGrp="1"/>
          </p:cNvSpPr>
          <p:nvPr>
            <p:ph sz="quarter" idx="13"/>
          </p:nvPr>
        </p:nvSpPr>
        <p:spPr>
          <a:xfrm>
            <a:off x="913774" y="1958010"/>
            <a:ext cx="4811165" cy="4431830"/>
          </a:xfrm>
        </p:spPr>
        <p:txBody>
          <a:bodyPr vert="horz" lIns="91440" tIns="45720" rIns="91440" bIns="45720" rtlCol="0" anchor="t">
            <a:normAutofit/>
          </a:bodyPr>
          <a:lstStyle/>
          <a:p>
            <a:r>
              <a:rPr lang="en-US" b="1"/>
              <a:t>Text section: </a:t>
            </a:r>
            <a:r>
              <a:rPr lang="en-US"/>
              <a:t>the executable code</a:t>
            </a:r>
          </a:p>
          <a:p>
            <a:r>
              <a:rPr lang="en-US" b="1"/>
              <a:t>Data section</a:t>
            </a:r>
            <a:r>
              <a:rPr lang="en-US"/>
              <a:t>: global variables</a:t>
            </a:r>
          </a:p>
          <a:p>
            <a:r>
              <a:rPr lang="en-US" b="1"/>
              <a:t>Heap</a:t>
            </a:r>
            <a:r>
              <a:rPr lang="en-US"/>
              <a:t>: memory that is dynamically allocated during program run time</a:t>
            </a:r>
          </a:p>
          <a:p>
            <a:r>
              <a:rPr lang="en-US" b="1"/>
              <a:t>Stack</a:t>
            </a:r>
            <a:r>
              <a:rPr lang="en-US"/>
              <a:t>: containing temporary data, Function parameters, return addresses, local variables, Data section containing global</a:t>
            </a:r>
          </a:p>
        </p:txBody>
      </p:sp>
      <p:pic>
        <p:nvPicPr>
          <p:cNvPr id="5" name="Picture 4" descr="A diagram of a diagram&#10;&#10;AI-generated content may be incorrect.">
            <a:extLst>
              <a:ext uri="{FF2B5EF4-FFF2-40B4-BE49-F238E27FC236}">
                <a16:creationId xmlns:a16="http://schemas.microsoft.com/office/drawing/2014/main" id="{C917DA89-D80A-CA27-39B3-A1A3D54DFA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4350" y="1958010"/>
            <a:ext cx="2499485" cy="3945833"/>
          </a:xfrm>
          <a:prstGeom prst="rect">
            <a:avLst/>
          </a:prstGeom>
        </p:spPr>
      </p:pic>
      <p:sp>
        <p:nvSpPr>
          <p:cNvPr id="6" name="Date Placeholder 5">
            <a:extLst>
              <a:ext uri="{FF2B5EF4-FFF2-40B4-BE49-F238E27FC236}">
                <a16:creationId xmlns:a16="http://schemas.microsoft.com/office/drawing/2014/main" id="{A54FE897-D861-62D1-CDA8-3C2C820CB67E}"/>
              </a:ext>
            </a:extLst>
          </p:cNvPr>
          <p:cNvSpPr>
            <a:spLocks noGrp="1"/>
          </p:cNvSpPr>
          <p:nvPr>
            <p:ph type="dt" sz="half" idx="10"/>
          </p:nvPr>
        </p:nvSpPr>
        <p:spPr/>
        <p:txBody>
          <a:bodyPr/>
          <a:lstStyle/>
          <a:p>
            <a:fld id="{71260D1A-C4ED-4CE0-92E2-B0262C2ACEC7}" type="datetime1">
              <a:rPr lang="en-US" smtClean="0"/>
              <a:t>3/29/2026</a:t>
            </a:fld>
            <a:endParaRPr lang="en-US"/>
          </a:p>
        </p:txBody>
      </p:sp>
      <p:sp>
        <p:nvSpPr>
          <p:cNvPr id="7" name="Footer Placeholder 6">
            <a:extLst>
              <a:ext uri="{FF2B5EF4-FFF2-40B4-BE49-F238E27FC236}">
                <a16:creationId xmlns:a16="http://schemas.microsoft.com/office/drawing/2014/main" id="{C7878ED4-BBCD-D1BA-A7F8-10B60C54659B}"/>
              </a:ext>
            </a:extLst>
          </p:cNvPr>
          <p:cNvSpPr>
            <a:spLocks noGrp="1"/>
          </p:cNvSpPr>
          <p:nvPr>
            <p:ph type="ftr" sz="quarter" idx="11"/>
          </p:nvPr>
        </p:nvSpPr>
        <p:spPr/>
        <p:txBody>
          <a:bodyPr/>
          <a:lstStyle/>
          <a:p>
            <a:r>
              <a:rPr lang="en-US"/>
              <a:t>Operating System and System Programming</a:t>
            </a:r>
          </a:p>
        </p:txBody>
      </p:sp>
      <p:sp>
        <p:nvSpPr>
          <p:cNvPr id="8" name="Slide Number Placeholder 7">
            <a:extLst>
              <a:ext uri="{FF2B5EF4-FFF2-40B4-BE49-F238E27FC236}">
                <a16:creationId xmlns:a16="http://schemas.microsoft.com/office/drawing/2014/main" id="{50BF5526-248F-182C-70DD-A15512F45FCB}"/>
              </a:ext>
            </a:extLst>
          </p:cNvPr>
          <p:cNvSpPr>
            <a:spLocks noGrp="1"/>
          </p:cNvSpPr>
          <p:nvPr>
            <p:ph type="sldNum" sz="quarter" idx="12"/>
          </p:nvPr>
        </p:nvSpPr>
        <p:spPr/>
        <p:txBody>
          <a:bodyPr/>
          <a:lstStyle/>
          <a:p>
            <a:fld id="{86524AF2-6675-4F0E-A4F4-CF906B52CE2C}" type="slidenum">
              <a:rPr lang="en-US" smtClean="0"/>
              <a:t>3</a:t>
            </a:fld>
            <a:endParaRPr lang="en-US"/>
          </a:p>
        </p:txBody>
      </p:sp>
    </p:spTree>
    <p:extLst>
      <p:ext uri="{BB962C8B-B14F-4D97-AF65-F5344CB8AC3E}">
        <p14:creationId xmlns:p14="http://schemas.microsoft.com/office/powerpoint/2010/main" val="1685526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screen shot of a diagram&#10;&#10;AI-generated content may be incorrect.">
            <a:extLst>
              <a:ext uri="{FF2B5EF4-FFF2-40B4-BE49-F238E27FC236}">
                <a16:creationId xmlns:a16="http://schemas.microsoft.com/office/drawing/2014/main" id="{C6D4B4EA-2525-8182-CD2A-A9A96E8E26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2097" y="301129"/>
            <a:ext cx="7914301" cy="6560982"/>
          </a:xfrm>
          <a:prstGeom prst="rect">
            <a:avLst/>
          </a:prstGeom>
        </p:spPr>
      </p:pic>
      <p:sp>
        <p:nvSpPr>
          <p:cNvPr id="6" name="Date Placeholder 5">
            <a:extLst>
              <a:ext uri="{FF2B5EF4-FFF2-40B4-BE49-F238E27FC236}">
                <a16:creationId xmlns:a16="http://schemas.microsoft.com/office/drawing/2014/main" id="{09AACBE7-D8DE-2834-5BFA-A20CC3304B4F}"/>
              </a:ext>
            </a:extLst>
          </p:cNvPr>
          <p:cNvSpPr>
            <a:spLocks noGrp="1"/>
          </p:cNvSpPr>
          <p:nvPr>
            <p:ph type="dt" sz="half" idx="10"/>
          </p:nvPr>
        </p:nvSpPr>
        <p:spPr/>
        <p:txBody>
          <a:bodyPr/>
          <a:lstStyle/>
          <a:p>
            <a:fld id="{C28BDD04-37D8-4902-A243-586164702AF2}" type="datetime1">
              <a:rPr lang="en-US" smtClean="0"/>
              <a:t>3/29/2026</a:t>
            </a:fld>
            <a:endParaRPr lang="en-US"/>
          </a:p>
        </p:txBody>
      </p:sp>
      <p:sp>
        <p:nvSpPr>
          <p:cNvPr id="7" name="Footer Placeholder 6">
            <a:extLst>
              <a:ext uri="{FF2B5EF4-FFF2-40B4-BE49-F238E27FC236}">
                <a16:creationId xmlns:a16="http://schemas.microsoft.com/office/drawing/2014/main" id="{000F7AB4-521B-0390-0349-EF444B49DA49}"/>
              </a:ext>
            </a:extLst>
          </p:cNvPr>
          <p:cNvSpPr>
            <a:spLocks noGrp="1"/>
          </p:cNvSpPr>
          <p:nvPr>
            <p:ph type="ftr" sz="quarter" idx="11"/>
          </p:nvPr>
        </p:nvSpPr>
        <p:spPr>
          <a:xfrm>
            <a:off x="555965" y="6218236"/>
            <a:ext cx="6672887" cy="365125"/>
          </a:xfrm>
        </p:spPr>
        <p:txBody>
          <a:bodyPr/>
          <a:lstStyle/>
          <a:p>
            <a:r>
              <a:rPr lang="en-US"/>
              <a:t>Operating System and System Programming</a:t>
            </a:r>
          </a:p>
        </p:txBody>
      </p:sp>
      <p:sp>
        <p:nvSpPr>
          <p:cNvPr id="8" name="Slide Number Placeholder 7">
            <a:extLst>
              <a:ext uri="{FF2B5EF4-FFF2-40B4-BE49-F238E27FC236}">
                <a16:creationId xmlns:a16="http://schemas.microsoft.com/office/drawing/2014/main" id="{6D3B39CE-E0D0-0871-25AF-F0DDE71177B0}"/>
              </a:ext>
            </a:extLst>
          </p:cNvPr>
          <p:cNvSpPr>
            <a:spLocks noGrp="1"/>
          </p:cNvSpPr>
          <p:nvPr>
            <p:ph type="sldNum" sz="quarter" idx="12"/>
          </p:nvPr>
        </p:nvSpPr>
        <p:spPr/>
        <p:txBody>
          <a:bodyPr/>
          <a:lstStyle/>
          <a:p>
            <a:fld id="{86524AF2-6675-4F0E-A4F4-CF906B52CE2C}" type="slidenum">
              <a:rPr lang="en-US" smtClean="0"/>
              <a:t>4</a:t>
            </a:fld>
            <a:endParaRPr lang="en-US"/>
          </a:p>
        </p:txBody>
      </p:sp>
    </p:spTree>
    <p:extLst>
      <p:ext uri="{BB962C8B-B14F-4D97-AF65-F5344CB8AC3E}">
        <p14:creationId xmlns:p14="http://schemas.microsoft.com/office/powerpoint/2010/main" val="2353903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1893-C24B-FAF6-922A-F8F0F4DCC90B}"/>
              </a:ext>
            </a:extLst>
          </p:cNvPr>
          <p:cNvSpPr>
            <a:spLocks noGrp="1"/>
          </p:cNvSpPr>
          <p:nvPr>
            <p:ph type="title"/>
          </p:nvPr>
        </p:nvSpPr>
        <p:spPr/>
        <p:txBody>
          <a:bodyPr/>
          <a:lstStyle/>
          <a:p>
            <a:r>
              <a:rPr lang="en-US"/>
              <a:t>Process state</a:t>
            </a:r>
          </a:p>
        </p:txBody>
      </p:sp>
      <p:sp>
        <p:nvSpPr>
          <p:cNvPr id="3" name="Content Placeholder 2">
            <a:extLst>
              <a:ext uri="{FF2B5EF4-FFF2-40B4-BE49-F238E27FC236}">
                <a16:creationId xmlns:a16="http://schemas.microsoft.com/office/drawing/2014/main" id="{84C4E374-97A9-F0D1-53D7-80BA61ED2E26}"/>
              </a:ext>
            </a:extLst>
          </p:cNvPr>
          <p:cNvSpPr>
            <a:spLocks noGrp="1"/>
          </p:cNvSpPr>
          <p:nvPr>
            <p:ph sz="quarter" idx="13"/>
          </p:nvPr>
        </p:nvSpPr>
        <p:spPr/>
        <p:txBody>
          <a:bodyPr/>
          <a:lstStyle/>
          <a:p>
            <a:pPr marL="0" indent="0">
              <a:buNone/>
            </a:pPr>
            <a:r>
              <a:rPr lang="en-US"/>
              <a:t>As a process executes, it changes state </a:t>
            </a:r>
          </a:p>
          <a:p>
            <a:r>
              <a:rPr lang="en-US" b="1"/>
              <a:t>new</a:t>
            </a:r>
            <a:r>
              <a:rPr lang="en-US"/>
              <a:t>: The process is being created</a:t>
            </a:r>
          </a:p>
          <a:p>
            <a:r>
              <a:rPr lang="en-US"/>
              <a:t> </a:t>
            </a:r>
            <a:r>
              <a:rPr lang="en-US" b="1"/>
              <a:t>running</a:t>
            </a:r>
            <a:r>
              <a:rPr lang="en-US"/>
              <a:t>: Instructions are being executed</a:t>
            </a:r>
          </a:p>
          <a:p>
            <a:r>
              <a:rPr lang="en-US"/>
              <a:t> </a:t>
            </a:r>
            <a:r>
              <a:rPr lang="en-US" b="1"/>
              <a:t>waiting</a:t>
            </a:r>
            <a:r>
              <a:rPr lang="en-US"/>
              <a:t>: The process is waiting for some event to occur </a:t>
            </a:r>
          </a:p>
          <a:p>
            <a:r>
              <a:rPr lang="en-US" b="1"/>
              <a:t>ready</a:t>
            </a:r>
            <a:r>
              <a:rPr lang="en-US"/>
              <a:t>: The process is waiting to be assigned to a processor </a:t>
            </a:r>
          </a:p>
          <a:p>
            <a:r>
              <a:rPr lang="en-US" b="1"/>
              <a:t>terminated</a:t>
            </a:r>
            <a:r>
              <a:rPr lang="en-US"/>
              <a:t>: The process has finished execution</a:t>
            </a:r>
          </a:p>
        </p:txBody>
      </p:sp>
      <p:sp>
        <p:nvSpPr>
          <p:cNvPr id="4" name="Date Placeholder 3">
            <a:extLst>
              <a:ext uri="{FF2B5EF4-FFF2-40B4-BE49-F238E27FC236}">
                <a16:creationId xmlns:a16="http://schemas.microsoft.com/office/drawing/2014/main" id="{6E314515-C80C-D2EE-1DC0-A073F77ACF46}"/>
              </a:ext>
            </a:extLst>
          </p:cNvPr>
          <p:cNvSpPr>
            <a:spLocks noGrp="1"/>
          </p:cNvSpPr>
          <p:nvPr>
            <p:ph type="dt" sz="half" idx="10"/>
          </p:nvPr>
        </p:nvSpPr>
        <p:spPr/>
        <p:txBody>
          <a:bodyPr/>
          <a:lstStyle/>
          <a:p>
            <a:fld id="{9F748C90-8DF7-4A99-9391-B7DE6E1A0F7B}" type="datetime1">
              <a:rPr lang="en-US" smtClean="0"/>
              <a:t>3/29/2026</a:t>
            </a:fld>
            <a:endParaRPr lang="en-US"/>
          </a:p>
        </p:txBody>
      </p:sp>
      <p:sp>
        <p:nvSpPr>
          <p:cNvPr id="5" name="Footer Placeholder 4">
            <a:extLst>
              <a:ext uri="{FF2B5EF4-FFF2-40B4-BE49-F238E27FC236}">
                <a16:creationId xmlns:a16="http://schemas.microsoft.com/office/drawing/2014/main" id="{3B82D4D8-BA79-C7A2-DA03-9647864D6F3E}"/>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B5B0F63F-6C1B-5888-E66A-57271E5F9038}"/>
              </a:ext>
            </a:extLst>
          </p:cNvPr>
          <p:cNvSpPr>
            <a:spLocks noGrp="1"/>
          </p:cNvSpPr>
          <p:nvPr>
            <p:ph type="sldNum" sz="quarter" idx="12"/>
          </p:nvPr>
        </p:nvSpPr>
        <p:spPr/>
        <p:txBody>
          <a:bodyPr/>
          <a:lstStyle/>
          <a:p>
            <a:fld id="{86524AF2-6675-4F0E-A4F4-CF906B52CE2C}" type="slidenum">
              <a:rPr lang="en-US" smtClean="0"/>
              <a:t>5</a:t>
            </a:fld>
            <a:endParaRPr lang="en-US"/>
          </a:p>
        </p:txBody>
      </p:sp>
    </p:spTree>
    <p:extLst>
      <p:ext uri="{BB962C8B-B14F-4D97-AF65-F5344CB8AC3E}">
        <p14:creationId xmlns:p14="http://schemas.microsoft.com/office/powerpoint/2010/main" val="290519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64839-2AF4-619E-4A5C-C6840A664D4A}"/>
              </a:ext>
            </a:extLst>
          </p:cNvPr>
          <p:cNvSpPr>
            <a:spLocks noGrp="1"/>
          </p:cNvSpPr>
          <p:nvPr>
            <p:ph type="title"/>
          </p:nvPr>
        </p:nvSpPr>
        <p:spPr/>
        <p:txBody>
          <a:bodyPr/>
          <a:lstStyle/>
          <a:p>
            <a:r>
              <a:rPr lang="en-US"/>
              <a:t>Diagram of process state</a:t>
            </a:r>
          </a:p>
        </p:txBody>
      </p:sp>
      <p:pic>
        <p:nvPicPr>
          <p:cNvPr id="5" name="Content Placeholder 4" descr="A diagram of a process&#10;&#10;AI-generated content may be incorrect.">
            <a:extLst>
              <a:ext uri="{FF2B5EF4-FFF2-40B4-BE49-F238E27FC236}">
                <a16:creationId xmlns:a16="http://schemas.microsoft.com/office/drawing/2014/main" id="{EDF707EA-A8C5-2B11-BB08-CE79593EBC3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431235" y="2420306"/>
            <a:ext cx="8547651" cy="3433842"/>
          </a:xfrm>
        </p:spPr>
      </p:pic>
      <p:sp>
        <p:nvSpPr>
          <p:cNvPr id="6" name="Date Placeholder 5">
            <a:extLst>
              <a:ext uri="{FF2B5EF4-FFF2-40B4-BE49-F238E27FC236}">
                <a16:creationId xmlns:a16="http://schemas.microsoft.com/office/drawing/2014/main" id="{BFDB002D-082F-1766-E481-C4D90CD65CD5}"/>
              </a:ext>
            </a:extLst>
          </p:cNvPr>
          <p:cNvSpPr>
            <a:spLocks noGrp="1"/>
          </p:cNvSpPr>
          <p:nvPr>
            <p:ph type="dt" sz="half" idx="10"/>
          </p:nvPr>
        </p:nvSpPr>
        <p:spPr/>
        <p:txBody>
          <a:bodyPr/>
          <a:lstStyle/>
          <a:p>
            <a:fld id="{9CE2806C-2BA1-4B81-835B-010CE979B207}" type="datetime1">
              <a:rPr lang="en-US" smtClean="0"/>
              <a:t>3/29/2026</a:t>
            </a:fld>
            <a:endParaRPr lang="en-US"/>
          </a:p>
        </p:txBody>
      </p:sp>
      <p:sp>
        <p:nvSpPr>
          <p:cNvPr id="7" name="Footer Placeholder 6">
            <a:extLst>
              <a:ext uri="{FF2B5EF4-FFF2-40B4-BE49-F238E27FC236}">
                <a16:creationId xmlns:a16="http://schemas.microsoft.com/office/drawing/2014/main" id="{5DDC8379-9B22-96FE-D89F-E3AAF16F43D0}"/>
              </a:ext>
            </a:extLst>
          </p:cNvPr>
          <p:cNvSpPr>
            <a:spLocks noGrp="1"/>
          </p:cNvSpPr>
          <p:nvPr>
            <p:ph type="ftr" sz="quarter" idx="11"/>
          </p:nvPr>
        </p:nvSpPr>
        <p:spPr/>
        <p:txBody>
          <a:bodyPr/>
          <a:lstStyle/>
          <a:p>
            <a:r>
              <a:rPr lang="en-US"/>
              <a:t>Operating System and System Programming</a:t>
            </a:r>
          </a:p>
        </p:txBody>
      </p:sp>
      <p:sp>
        <p:nvSpPr>
          <p:cNvPr id="8" name="Slide Number Placeholder 7">
            <a:extLst>
              <a:ext uri="{FF2B5EF4-FFF2-40B4-BE49-F238E27FC236}">
                <a16:creationId xmlns:a16="http://schemas.microsoft.com/office/drawing/2014/main" id="{4EA3FBCA-90BE-4FAD-50AC-2320D5389679}"/>
              </a:ext>
            </a:extLst>
          </p:cNvPr>
          <p:cNvSpPr>
            <a:spLocks noGrp="1"/>
          </p:cNvSpPr>
          <p:nvPr>
            <p:ph type="sldNum" sz="quarter" idx="12"/>
          </p:nvPr>
        </p:nvSpPr>
        <p:spPr/>
        <p:txBody>
          <a:bodyPr/>
          <a:lstStyle/>
          <a:p>
            <a:fld id="{86524AF2-6675-4F0E-A4F4-CF906B52CE2C}" type="slidenum">
              <a:rPr lang="en-US" smtClean="0"/>
              <a:t>6</a:t>
            </a:fld>
            <a:endParaRPr lang="en-US"/>
          </a:p>
        </p:txBody>
      </p:sp>
    </p:spTree>
    <p:extLst>
      <p:ext uri="{BB962C8B-B14F-4D97-AF65-F5344CB8AC3E}">
        <p14:creationId xmlns:p14="http://schemas.microsoft.com/office/powerpoint/2010/main" val="2579383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1D3BC-3BC8-F9F5-5158-F7E1A42A04EC}"/>
              </a:ext>
            </a:extLst>
          </p:cNvPr>
          <p:cNvSpPr>
            <a:spLocks noGrp="1"/>
          </p:cNvSpPr>
          <p:nvPr>
            <p:ph type="title"/>
          </p:nvPr>
        </p:nvSpPr>
        <p:spPr/>
        <p:txBody>
          <a:bodyPr/>
          <a:lstStyle/>
          <a:p>
            <a:r>
              <a:rPr lang="en-US"/>
              <a:t>Process control block(cont’d)</a:t>
            </a:r>
          </a:p>
        </p:txBody>
      </p:sp>
      <p:sp>
        <p:nvSpPr>
          <p:cNvPr id="3" name="Content Placeholder 2">
            <a:extLst>
              <a:ext uri="{FF2B5EF4-FFF2-40B4-BE49-F238E27FC236}">
                <a16:creationId xmlns:a16="http://schemas.microsoft.com/office/drawing/2014/main" id="{2A992B92-E1CF-B7EB-9995-839ACCE58A0C}"/>
              </a:ext>
            </a:extLst>
          </p:cNvPr>
          <p:cNvSpPr>
            <a:spLocks noGrp="1"/>
          </p:cNvSpPr>
          <p:nvPr>
            <p:ph sz="quarter" idx="13"/>
          </p:nvPr>
        </p:nvSpPr>
        <p:spPr/>
        <p:txBody>
          <a:bodyPr>
            <a:normAutofit fontScale="85000" lnSpcReduction="10000"/>
          </a:bodyPr>
          <a:lstStyle/>
          <a:p>
            <a:pPr marL="0" indent="0">
              <a:buNone/>
            </a:pPr>
            <a:r>
              <a:rPr lang="en-US" cap="none">
                <a:latin typeface="Arial" panose="020B0604020202020204" pitchFamily="34" charset="0"/>
                <a:cs typeface="Arial" panose="020B0604020202020204" pitchFamily="34" charset="0"/>
              </a:rPr>
              <a:t>Each process is represented in the operating system by a process control block (PCB)—also called a task control block. It contains many pieces of information associated with a specific process, including these:</a:t>
            </a:r>
          </a:p>
          <a:p>
            <a:r>
              <a:rPr lang="en-US" b="1"/>
              <a:t>Process state</a:t>
            </a:r>
            <a:r>
              <a:rPr lang="en-US"/>
              <a:t>. The state may be new, ready, running, waiting, halted, and so on.</a:t>
            </a:r>
          </a:p>
          <a:p>
            <a:r>
              <a:rPr lang="en-US"/>
              <a:t> </a:t>
            </a:r>
            <a:r>
              <a:rPr lang="en-US" b="1"/>
              <a:t>Program counter</a:t>
            </a:r>
            <a:r>
              <a:rPr lang="en-US"/>
              <a:t>. The counter indicates the address of the next instruction to be executed for this process.</a:t>
            </a:r>
          </a:p>
          <a:p>
            <a:r>
              <a:rPr lang="en-US"/>
              <a:t> </a:t>
            </a:r>
            <a:r>
              <a:rPr lang="en-US" b="1"/>
              <a:t>CPU registers. </a:t>
            </a:r>
            <a:r>
              <a:rPr lang="en-US"/>
              <a:t>The registers vary in number and type, depending on the computer architecture. They include accumulators, index registers, stack pointers, and general-purpose registers, plus any condition-code information. Along with the program counter, this state information must be saved when an interrupt occurs, to allow the process to be continued correctly afterward when it is rescheduled to run.</a:t>
            </a:r>
          </a:p>
        </p:txBody>
      </p:sp>
      <p:sp>
        <p:nvSpPr>
          <p:cNvPr id="4" name="Date Placeholder 3">
            <a:extLst>
              <a:ext uri="{FF2B5EF4-FFF2-40B4-BE49-F238E27FC236}">
                <a16:creationId xmlns:a16="http://schemas.microsoft.com/office/drawing/2014/main" id="{6E5D4913-044F-371D-1395-950C5F8D806D}"/>
              </a:ext>
            </a:extLst>
          </p:cNvPr>
          <p:cNvSpPr>
            <a:spLocks noGrp="1"/>
          </p:cNvSpPr>
          <p:nvPr>
            <p:ph type="dt" sz="half" idx="10"/>
          </p:nvPr>
        </p:nvSpPr>
        <p:spPr/>
        <p:txBody>
          <a:bodyPr/>
          <a:lstStyle/>
          <a:p>
            <a:fld id="{1A892994-06B6-4E59-957E-4DC4180D2668}" type="datetime1">
              <a:rPr lang="en-US" smtClean="0"/>
              <a:t>3/29/2026</a:t>
            </a:fld>
            <a:endParaRPr lang="en-US"/>
          </a:p>
        </p:txBody>
      </p:sp>
      <p:sp>
        <p:nvSpPr>
          <p:cNvPr id="5" name="Footer Placeholder 4">
            <a:extLst>
              <a:ext uri="{FF2B5EF4-FFF2-40B4-BE49-F238E27FC236}">
                <a16:creationId xmlns:a16="http://schemas.microsoft.com/office/drawing/2014/main" id="{D945D444-4C76-E01D-E467-4DDF3CECCC3D}"/>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F2FB62B5-2369-CB29-BA03-BE93103099DF}"/>
              </a:ext>
            </a:extLst>
          </p:cNvPr>
          <p:cNvSpPr>
            <a:spLocks noGrp="1"/>
          </p:cNvSpPr>
          <p:nvPr>
            <p:ph type="sldNum" sz="quarter" idx="12"/>
          </p:nvPr>
        </p:nvSpPr>
        <p:spPr/>
        <p:txBody>
          <a:bodyPr/>
          <a:lstStyle/>
          <a:p>
            <a:fld id="{86524AF2-6675-4F0E-A4F4-CF906B52CE2C}" type="slidenum">
              <a:rPr lang="en-US" smtClean="0"/>
              <a:t>7</a:t>
            </a:fld>
            <a:endParaRPr lang="en-US"/>
          </a:p>
        </p:txBody>
      </p:sp>
    </p:spTree>
    <p:extLst>
      <p:ext uri="{BB962C8B-B14F-4D97-AF65-F5344CB8AC3E}">
        <p14:creationId xmlns:p14="http://schemas.microsoft.com/office/powerpoint/2010/main" val="1487914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442E-EF92-C7C9-5C48-F09A86F503A9}"/>
              </a:ext>
            </a:extLst>
          </p:cNvPr>
          <p:cNvSpPr>
            <a:spLocks noGrp="1"/>
          </p:cNvSpPr>
          <p:nvPr>
            <p:ph type="title"/>
          </p:nvPr>
        </p:nvSpPr>
        <p:spPr>
          <a:xfrm>
            <a:off x="903836" y="618517"/>
            <a:ext cx="10364451" cy="1596177"/>
          </a:xfrm>
        </p:spPr>
        <p:txBody>
          <a:bodyPr/>
          <a:lstStyle/>
          <a:p>
            <a:r>
              <a:rPr lang="en-US"/>
              <a:t>Process control block(cont’d)</a:t>
            </a:r>
          </a:p>
        </p:txBody>
      </p:sp>
      <p:sp>
        <p:nvSpPr>
          <p:cNvPr id="3" name="Content Placeholder 2">
            <a:extLst>
              <a:ext uri="{FF2B5EF4-FFF2-40B4-BE49-F238E27FC236}">
                <a16:creationId xmlns:a16="http://schemas.microsoft.com/office/drawing/2014/main" id="{665D626F-1CD2-C6AC-BBC7-311F2BE0153D}"/>
              </a:ext>
            </a:extLst>
          </p:cNvPr>
          <p:cNvSpPr>
            <a:spLocks noGrp="1"/>
          </p:cNvSpPr>
          <p:nvPr>
            <p:ph sz="quarter" idx="13"/>
          </p:nvPr>
        </p:nvSpPr>
        <p:spPr/>
        <p:txBody>
          <a:bodyPr>
            <a:normAutofit fontScale="92500" lnSpcReduction="20000"/>
          </a:bodyPr>
          <a:lstStyle/>
          <a:p>
            <a:r>
              <a:rPr lang="en-US" b="1"/>
              <a:t> CPU-scheduling information. </a:t>
            </a:r>
            <a:r>
              <a:rPr lang="en-US"/>
              <a:t>This information includes a process priority, pointers to scheduling queues, and any other scheduling parameters. (Chapter 5 describes process scheduling.)</a:t>
            </a:r>
          </a:p>
          <a:p>
            <a:pPr marL="0" indent="0">
              <a:buNone/>
            </a:pPr>
            <a:r>
              <a:rPr lang="en-US"/>
              <a:t>• </a:t>
            </a:r>
            <a:r>
              <a:rPr lang="en-US" b="1"/>
              <a:t>Memory-management information</a:t>
            </a:r>
            <a:r>
              <a:rPr lang="en-US"/>
              <a:t>. This information may include such items as the value of the base and limit registers and the page tables, or the segment tables, depending on the memory system used by the operating system (Chapter 9).</a:t>
            </a:r>
          </a:p>
          <a:p>
            <a:pPr marL="0" indent="0">
              <a:buNone/>
            </a:pPr>
            <a:r>
              <a:rPr lang="en-US"/>
              <a:t> • </a:t>
            </a:r>
            <a:r>
              <a:rPr lang="en-US" b="1"/>
              <a:t>Accounting information</a:t>
            </a:r>
            <a:r>
              <a:rPr lang="en-US"/>
              <a:t>. This information includes the amount of CPU and real time used, time limits, account numbers, job or process numbers, and so on. </a:t>
            </a:r>
          </a:p>
          <a:p>
            <a:pPr marL="0" indent="0">
              <a:buNone/>
            </a:pPr>
            <a:r>
              <a:rPr lang="en-US" b="1"/>
              <a:t>• I/O status information</a:t>
            </a:r>
            <a:r>
              <a:rPr lang="en-US"/>
              <a:t>. This information includes the list of I/O devices allocated to the process, a list of open files, and so on.</a:t>
            </a:r>
          </a:p>
        </p:txBody>
      </p:sp>
      <p:sp>
        <p:nvSpPr>
          <p:cNvPr id="4" name="Date Placeholder 3">
            <a:extLst>
              <a:ext uri="{FF2B5EF4-FFF2-40B4-BE49-F238E27FC236}">
                <a16:creationId xmlns:a16="http://schemas.microsoft.com/office/drawing/2014/main" id="{B8EF3DF2-3310-D217-DF99-D2004B234B22}"/>
              </a:ext>
            </a:extLst>
          </p:cNvPr>
          <p:cNvSpPr>
            <a:spLocks noGrp="1"/>
          </p:cNvSpPr>
          <p:nvPr>
            <p:ph type="dt" sz="half" idx="10"/>
          </p:nvPr>
        </p:nvSpPr>
        <p:spPr/>
        <p:txBody>
          <a:bodyPr/>
          <a:lstStyle/>
          <a:p>
            <a:fld id="{D4553F94-B87A-4526-B72D-5CA1BE8C6561}" type="datetime1">
              <a:rPr lang="en-US" smtClean="0"/>
              <a:t>3/29/2026</a:t>
            </a:fld>
            <a:endParaRPr lang="en-US"/>
          </a:p>
        </p:txBody>
      </p:sp>
      <p:sp>
        <p:nvSpPr>
          <p:cNvPr id="5" name="Footer Placeholder 4">
            <a:extLst>
              <a:ext uri="{FF2B5EF4-FFF2-40B4-BE49-F238E27FC236}">
                <a16:creationId xmlns:a16="http://schemas.microsoft.com/office/drawing/2014/main" id="{A792C5D6-1DE4-CD02-0343-57100AB8C166}"/>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8BC01B22-B419-68F8-60EB-62FBABF0B7F9}"/>
              </a:ext>
            </a:extLst>
          </p:cNvPr>
          <p:cNvSpPr>
            <a:spLocks noGrp="1"/>
          </p:cNvSpPr>
          <p:nvPr>
            <p:ph type="sldNum" sz="quarter" idx="12"/>
          </p:nvPr>
        </p:nvSpPr>
        <p:spPr/>
        <p:txBody>
          <a:bodyPr/>
          <a:lstStyle/>
          <a:p>
            <a:fld id="{86524AF2-6675-4F0E-A4F4-CF906B52CE2C}" type="slidenum">
              <a:rPr lang="en-US" smtClean="0"/>
              <a:t>8</a:t>
            </a:fld>
            <a:endParaRPr lang="en-US"/>
          </a:p>
        </p:txBody>
      </p:sp>
    </p:spTree>
    <p:extLst>
      <p:ext uri="{BB962C8B-B14F-4D97-AF65-F5344CB8AC3E}">
        <p14:creationId xmlns:p14="http://schemas.microsoft.com/office/powerpoint/2010/main" val="365935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1300-3749-8E8D-BF12-C35C3908266E}"/>
              </a:ext>
            </a:extLst>
          </p:cNvPr>
          <p:cNvSpPr>
            <a:spLocks noGrp="1"/>
          </p:cNvSpPr>
          <p:nvPr>
            <p:ph type="title"/>
          </p:nvPr>
        </p:nvSpPr>
        <p:spPr/>
        <p:txBody>
          <a:bodyPr/>
          <a:lstStyle/>
          <a:p>
            <a:r>
              <a:rPr lang="en-US"/>
              <a:t>Process and thread</a:t>
            </a:r>
          </a:p>
        </p:txBody>
      </p:sp>
      <p:sp>
        <p:nvSpPr>
          <p:cNvPr id="3" name="Content Placeholder 2">
            <a:extLst>
              <a:ext uri="{FF2B5EF4-FFF2-40B4-BE49-F238E27FC236}">
                <a16:creationId xmlns:a16="http://schemas.microsoft.com/office/drawing/2014/main" id="{8D984CBE-C6CF-9D05-F8B1-0707BCAFAAD2}"/>
              </a:ext>
            </a:extLst>
          </p:cNvPr>
          <p:cNvSpPr>
            <a:spLocks noGrp="1"/>
          </p:cNvSpPr>
          <p:nvPr>
            <p:ph sz="quarter" idx="13"/>
          </p:nvPr>
        </p:nvSpPr>
        <p:spPr/>
        <p:txBody>
          <a:bodyPr/>
          <a:lstStyle/>
          <a:p>
            <a:r>
              <a:rPr lang="en-US"/>
              <a:t>A </a:t>
            </a:r>
            <a:r>
              <a:rPr lang="en-US" b="1"/>
              <a:t>process</a:t>
            </a:r>
            <a:r>
              <a:rPr lang="en-US"/>
              <a:t> is an independent program in execution</a:t>
            </a:r>
          </a:p>
          <a:p>
            <a:r>
              <a:rPr lang="en-US"/>
              <a:t>A </a:t>
            </a:r>
            <a:r>
              <a:rPr lang="en-US" b="1"/>
              <a:t>thread</a:t>
            </a:r>
            <a:r>
              <a:rPr lang="en-US"/>
              <a:t> is a lightweight unit of execution inside a process( a process may have multiple threads.)</a:t>
            </a:r>
          </a:p>
          <a:p>
            <a:pPr marL="0" indent="0">
              <a:buNone/>
            </a:pPr>
            <a:r>
              <a:rPr lang="en-US" b="1"/>
              <a:t>Easy Analogy </a:t>
            </a:r>
          </a:p>
          <a:p>
            <a:pPr marL="0" indent="0">
              <a:buNone/>
            </a:pPr>
            <a:r>
              <a:rPr lang="en-US" b="1"/>
              <a:t>Process</a:t>
            </a:r>
            <a:r>
              <a:rPr lang="en-US"/>
              <a:t> → A house</a:t>
            </a:r>
          </a:p>
          <a:p>
            <a:pPr marL="0" indent="0">
              <a:buNone/>
            </a:pPr>
            <a:r>
              <a:rPr lang="en-US" b="1"/>
              <a:t>Thread</a:t>
            </a:r>
            <a:r>
              <a:rPr lang="en-US"/>
              <a:t> → Rooms inside the house (share electricity, water)</a:t>
            </a:r>
          </a:p>
          <a:p>
            <a:endParaRPr lang="en-US"/>
          </a:p>
        </p:txBody>
      </p:sp>
      <p:sp>
        <p:nvSpPr>
          <p:cNvPr id="4" name="Date Placeholder 3">
            <a:extLst>
              <a:ext uri="{FF2B5EF4-FFF2-40B4-BE49-F238E27FC236}">
                <a16:creationId xmlns:a16="http://schemas.microsoft.com/office/drawing/2014/main" id="{D2CF6C9D-C088-8C9D-5155-BC2244FCD37B}"/>
              </a:ext>
            </a:extLst>
          </p:cNvPr>
          <p:cNvSpPr>
            <a:spLocks noGrp="1"/>
          </p:cNvSpPr>
          <p:nvPr>
            <p:ph type="dt" sz="half" idx="10"/>
          </p:nvPr>
        </p:nvSpPr>
        <p:spPr/>
        <p:txBody>
          <a:bodyPr/>
          <a:lstStyle/>
          <a:p>
            <a:fld id="{CC0FE704-09CF-4510-8966-E2E651E35B32}" type="datetime1">
              <a:rPr lang="en-US" smtClean="0"/>
              <a:t>3/29/2026</a:t>
            </a:fld>
            <a:endParaRPr lang="en-US"/>
          </a:p>
        </p:txBody>
      </p:sp>
      <p:sp>
        <p:nvSpPr>
          <p:cNvPr id="5" name="Footer Placeholder 4">
            <a:extLst>
              <a:ext uri="{FF2B5EF4-FFF2-40B4-BE49-F238E27FC236}">
                <a16:creationId xmlns:a16="http://schemas.microsoft.com/office/drawing/2014/main" id="{76A68402-4F57-31DF-5754-4E547845BC83}"/>
              </a:ext>
            </a:extLst>
          </p:cNvPr>
          <p:cNvSpPr>
            <a:spLocks noGrp="1"/>
          </p:cNvSpPr>
          <p:nvPr>
            <p:ph type="ftr" sz="quarter" idx="11"/>
          </p:nvPr>
        </p:nvSpPr>
        <p:spPr>
          <a:xfrm>
            <a:off x="923713" y="5883275"/>
            <a:ext cx="6672887" cy="365125"/>
          </a:xfrm>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5BB1E8A4-241B-ED74-05D5-C675E54B7B3A}"/>
              </a:ext>
            </a:extLst>
          </p:cNvPr>
          <p:cNvSpPr>
            <a:spLocks noGrp="1"/>
          </p:cNvSpPr>
          <p:nvPr>
            <p:ph type="sldNum" sz="quarter" idx="12"/>
          </p:nvPr>
        </p:nvSpPr>
        <p:spPr/>
        <p:txBody>
          <a:bodyPr/>
          <a:lstStyle/>
          <a:p>
            <a:fld id="{86524AF2-6675-4F0E-A4F4-CF906B52CE2C}" type="slidenum">
              <a:rPr lang="en-US" smtClean="0"/>
              <a:t>9</a:t>
            </a:fld>
            <a:endParaRPr lang="en-US"/>
          </a:p>
        </p:txBody>
      </p:sp>
    </p:spTree>
    <p:extLst>
      <p:ext uri="{BB962C8B-B14F-4D97-AF65-F5344CB8AC3E}">
        <p14:creationId xmlns:p14="http://schemas.microsoft.com/office/powerpoint/2010/main" val="423539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1300-3749-8E8D-BF12-C35C3908266E}"/>
              </a:ext>
            </a:extLst>
          </p:cNvPr>
          <p:cNvSpPr>
            <a:spLocks noGrp="1"/>
          </p:cNvSpPr>
          <p:nvPr>
            <p:ph type="title"/>
          </p:nvPr>
        </p:nvSpPr>
        <p:spPr/>
        <p:txBody>
          <a:bodyPr/>
          <a:lstStyle/>
          <a:p>
            <a:r>
              <a:rPr lang="en-US"/>
              <a:t>Process and thread</a:t>
            </a:r>
          </a:p>
        </p:txBody>
      </p:sp>
      <p:graphicFrame>
        <p:nvGraphicFramePr>
          <p:cNvPr id="4" name="Table 3">
            <a:extLst>
              <a:ext uri="{FF2B5EF4-FFF2-40B4-BE49-F238E27FC236}">
                <a16:creationId xmlns:a16="http://schemas.microsoft.com/office/drawing/2014/main" id="{ED6EB153-30D1-7023-9DEE-B113B9808572}"/>
              </a:ext>
            </a:extLst>
          </p:cNvPr>
          <p:cNvGraphicFramePr>
            <a:graphicFrameLocks noGrp="1"/>
          </p:cNvGraphicFramePr>
          <p:nvPr>
            <p:extLst>
              <p:ext uri="{D42A27DB-BD31-4B8C-83A1-F6EECF244321}">
                <p14:modId xmlns:p14="http://schemas.microsoft.com/office/powerpoint/2010/main" val="3868529971"/>
              </p:ext>
            </p:extLst>
          </p:nvPr>
        </p:nvGraphicFramePr>
        <p:xfrm>
          <a:off x="1103243" y="1898374"/>
          <a:ext cx="10058400" cy="4312476"/>
        </p:xfrm>
        <a:graphic>
          <a:graphicData uri="http://schemas.openxmlformats.org/drawingml/2006/table">
            <a:tbl>
              <a:tblPr/>
              <a:tblGrid>
                <a:gridCol w="2365514">
                  <a:extLst>
                    <a:ext uri="{9D8B030D-6E8A-4147-A177-3AD203B41FA5}">
                      <a16:colId xmlns:a16="http://schemas.microsoft.com/office/drawing/2014/main" val="1597253040"/>
                    </a:ext>
                  </a:extLst>
                </a:gridCol>
                <a:gridCol w="3846443">
                  <a:extLst>
                    <a:ext uri="{9D8B030D-6E8A-4147-A177-3AD203B41FA5}">
                      <a16:colId xmlns:a16="http://schemas.microsoft.com/office/drawing/2014/main" val="2890088506"/>
                    </a:ext>
                  </a:extLst>
                </a:gridCol>
                <a:gridCol w="3846443">
                  <a:extLst>
                    <a:ext uri="{9D8B030D-6E8A-4147-A177-3AD203B41FA5}">
                      <a16:colId xmlns:a16="http://schemas.microsoft.com/office/drawing/2014/main" val="346453196"/>
                    </a:ext>
                  </a:extLst>
                </a:gridCol>
              </a:tblGrid>
              <a:tr h="285817">
                <a:tc>
                  <a:txBody>
                    <a:bodyPr/>
                    <a:lstStyle/>
                    <a:p>
                      <a:r>
                        <a:rPr lang="en-US" sz="1600"/>
                        <a:t>Basis</a:t>
                      </a:r>
                    </a:p>
                  </a:txBody>
                  <a:tcPr marL="59039" marR="59039" marT="29519" marB="29519" anchor="ctr">
                    <a:lnL>
                      <a:noFill/>
                    </a:lnL>
                    <a:lnR>
                      <a:noFill/>
                    </a:lnR>
                    <a:lnT>
                      <a:noFill/>
                    </a:lnT>
                    <a:lnB>
                      <a:noFill/>
                    </a:lnB>
                    <a:noFill/>
                  </a:tcPr>
                </a:tc>
                <a:tc>
                  <a:txBody>
                    <a:bodyPr/>
                    <a:lstStyle/>
                    <a:p>
                      <a:r>
                        <a:rPr lang="en-US" sz="1600"/>
                        <a:t>Process</a:t>
                      </a:r>
                    </a:p>
                  </a:txBody>
                  <a:tcPr marL="59039" marR="59039" marT="29519" marB="29519" anchor="ctr">
                    <a:lnL>
                      <a:noFill/>
                    </a:lnL>
                    <a:lnR>
                      <a:noFill/>
                    </a:lnR>
                    <a:lnT>
                      <a:noFill/>
                    </a:lnT>
                    <a:lnB>
                      <a:noFill/>
                    </a:lnB>
                    <a:noFill/>
                  </a:tcPr>
                </a:tc>
                <a:tc>
                  <a:txBody>
                    <a:bodyPr/>
                    <a:lstStyle/>
                    <a:p>
                      <a:r>
                        <a:rPr lang="en-US" sz="1600"/>
                        <a:t>Thread</a:t>
                      </a:r>
                    </a:p>
                  </a:txBody>
                  <a:tcPr marL="59039" marR="59039" marT="29519" marB="29519" anchor="ctr">
                    <a:lnL>
                      <a:noFill/>
                    </a:lnL>
                    <a:lnR>
                      <a:noFill/>
                    </a:lnR>
                    <a:lnT>
                      <a:noFill/>
                    </a:lnT>
                    <a:lnB>
                      <a:noFill/>
                    </a:lnB>
                    <a:noFill/>
                  </a:tcPr>
                </a:tc>
                <a:extLst>
                  <a:ext uri="{0D108BD9-81ED-4DB2-BD59-A6C34878D82A}">
                    <a16:rowId xmlns:a16="http://schemas.microsoft.com/office/drawing/2014/main" val="190556301"/>
                  </a:ext>
                </a:extLst>
              </a:tr>
              <a:tr h="501882">
                <a:tc>
                  <a:txBody>
                    <a:bodyPr/>
                    <a:lstStyle/>
                    <a:p>
                      <a:r>
                        <a:rPr lang="en-US" sz="1600"/>
                        <a:t>Definition</a:t>
                      </a:r>
                    </a:p>
                  </a:txBody>
                  <a:tcPr marL="59039" marR="59039" marT="29519" marB="29519" anchor="ctr">
                    <a:lnL>
                      <a:noFill/>
                    </a:lnL>
                    <a:lnR>
                      <a:noFill/>
                    </a:lnR>
                    <a:lnT>
                      <a:noFill/>
                    </a:lnT>
                    <a:lnB>
                      <a:noFill/>
                    </a:lnB>
                    <a:noFill/>
                  </a:tcPr>
                </a:tc>
                <a:tc>
                  <a:txBody>
                    <a:bodyPr/>
                    <a:lstStyle/>
                    <a:p>
                      <a:r>
                        <a:rPr lang="en-US" sz="1600"/>
                        <a:t>A </a:t>
                      </a:r>
                      <a:r>
                        <a:rPr lang="en-US" sz="1600" b="1"/>
                        <a:t>process</a:t>
                      </a:r>
                      <a:r>
                        <a:rPr lang="en-US" sz="1600"/>
                        <a:t> is an independent program in execution</a:t>
                      </a:r>
                    </a:p>
                  </a:txBody>
                  <a:tcPr marL="59039" marR="59039" marT="29519" marB="29519" anchor="ctr">
                    <a:lnL>
                      <a:noFill/>
                    </a:lnL>
                    <a:lnR>
                      <a:noFill/>
                    </a:lnR>
                    <a:lnT>
                      <a:noFill/>
                    </a:lnT>
                    <a:lnB>
                      <a:noFill/>
                    </a:lnB>
                    <a:noFill/>
                  </a:tcPr>
                </a:tc>
                <a:tc>
                  <a:txBody>
                    <a:bodyPr/>
                    <a:lstStyle/>
                    <a:p>
                      <a:r>
                        <a:rPr lang="en-US" sz="1600"/>
                        <a:t>A </a:t>
                      </a:r>
                      <a:r>
                        <a:rPr lang="en-US" sz="1600" b="1"/>
                        <a:t>thread</a:t>
                      </a:r>
                      <a:r>
                        <a:rPr lang="en-US" sz="1600"/>
                        <a:t> is a lightweight unit of execution inside a process</a:t>
                      </a:r>
                    </a:p>
                  </a:txBody>
                  <a:tcPr marL="59039" marR="59039" marT="29519" marB="29519" anchor="ctr">
                    <a:lnL>
                      <a:noFill/>
                    </a:lnL>
                    <a:lnR>
                      <a:noFill/>
                    </a:lnR>
                    <a:lnT>
                      <a:noFill/>
                    </a:lnT>
                    <a:lnB>
                      <a:noFill/>
                    </a:lnB>
                    <a:noFill/>
                  </a:tcPr>
                </a:tc>
                <a:extLst>
                  <a:ext uri="{0D108BD9-81ED-4DB2-BD59-A6C34878D82A}">
                    <a16:rowId xmlns:a16="http://schemas.microsoft.com/office/drawing/2014/main" val="3345416338"/>
                  </a:ext>
                </a:extLst>
              </a:tr>
              <a:tr h="501882">
                <a:tc>
                  <a:txBody>
                    <a:bodyPr/>
                    <a:lstStyle/>
                    <a:p>
                      <a:r>
                        <a:rPr lang="en-US" sz="1600"/>
                        <a:t>Memory</a:t>
                      </a:r>
                    </a:p>
                  </a:txBody>
                  <a:tcPr marL="59039" marR="59039" marT="29519" marB="29519" anchor="ctr">
                    <a:lnL>
                      <a:noFill/>
                    </a:lnL>
                    <a:lnR>
                      <a:noFill/>
                    </a:lnR>
                    <a:lnT>
                      <a:noFill/>
                    </a:lnT>
                    <a:lnB>
                      <a:noFill/>
                    </a:lnB>
                    <a:noFill/>
                  </a:tcPr>
                </a:tc>
                <a:tc>
                  <a:txBody>
                    <a:bodyPr/>
                    <a:lstStyle/>
                    <a:p>
                      <a:r>
                        <a:rPr lang="en-US" sz="1600"/>
                        <a:t>Has </a:t>
                      </a:r>
                      <a:r>
                        <a:rPr lang="en-US" sz="1600" b="1"/>
                        <a:t>separate memory space</a:t>
                      </a:r>
                      <a:endParaRPr lang="en-US" sz="1600"/>
                    </a:p>
                  </a:txBody>
                  <a:tcPr marL="59039" marR="59039" marT="29519" marB="29519" anchor="ctr">
                    <a:lnL>
                      <a:noFill/>
                    </a:lnL>
                    <a:lnR>
                      <a:noFill/>
                    </a:lnR>
                    <a:lnT>
                      <a:noFill/>
                    </a:lnT>
                    <a:lnB>
                      <a:noFill/>
                    </a:lnB>
                    <a:noFill/>
                  </a:tcPr>
                </a:tc>
                <a:tc>
                  <a:txBody>
                    <a:bodyPr/>
                    <a:lstStyle/>
                    <a:p>
                      <a:r>
                        <a:rPr lang="en-US" sz="1600" b="1"/>
                        <a:t>Shares memory</a:t>
                      </a:r>
                      <a:r>
                        <a:rPr lang="en-US" sz="1600"/>
                        <a:t> with other threads of the same process</a:t>
                      </a:r>
                    </a:p>
                  </a:txBody>
                  <a:tcPr marL="59039" marR="59039" marT="29519" marB="29519" anchor="ctr">
                    <a:lnL>
                      <a:noFill/>
                    </a:lnL>
                    <a:lnR>
                      <a:noFill/>
                    </a:lnR>
                    <a:lnT>
                      <a:noFill/>
                    </a:lnT>
                    <a:lnB>
                      <a:noFill/>
                    </a:lnB>
                    <a:noFill/>
                  </a:tcPr>
                </a:tc>
                <a:extLst>
                  <a:ext uri="{0D108BD9-81ED-4DB2-BD59-A6C34878D82A}">
                    <a16:rowId xmlns:a16="http://schemas.microsoft.com/office/drawing/2014/main" val="2624218377"/>
                  </a:ext>
                </a:extLst>
              </a:tr>
              <a:tr h="501882">
                <a:tc>
                  <a:txBody>
                    <a:bodyPr/>
                    <a:lstStyle/>
                    <a:p>
                      <a:r>
                        <a:rPr lang="en-US" sz="1600"/>
                        <a:t>Creation</a:t>
                      </a:r>
                    </a:p>
                  </a:txBody>
                  <a:tcPr marL="59039" marR="59039" marT="29519" marB="29519" anchor="ctr">
                    <a:lnL>
                      <a:noFill/>
                    </a:lnL>
                    <a:lnR>
                      <a:noFill/>
                    </a:lnR>
                    <a:lnT>
                      <a:noFill/>
                    </a:lnT>
                    <a:lnB>
                      <a:noFill/>
                    </a:lnB>
                    <a:noFill/>
                  </a:tcPr>
                </a:tc>
                <a:tc>
                  <a:txBody>
                    <a:bodyPr/>
                    <a:lstStyle/>
                    <a:p>
                      <a:r>
                        <a:rPr lang="en-US" sz="1600" b="1"/>
                        <a:t>Heavyweight</a:t>
                      </a:r>
                      <a:r>
                        <a:rPr lang="en-US" sz="1600"/>
                        <a:t> (takes more time/resources)</a:t>
                      </a:r>
                    </a:p>
                  </a:txBody>
                  <a:tcPr marL="59039" marR="59039" marT="29519" marB="29519" anchor="ctr">
                    <a:lnL>
                      <a:noFill/>
                    </a:lnL>
                    <a:lnR>
                      <a:noFill/>
                    </a:lnR>
                    <a:lnT>
                      <a:noFill/>
                    </a:lnT>
                    <a:lnB>
                      <a:noFill/>
                    </a:lnB>
                    <a:noFill/>
                  </a:tcPr>
                </a:tc>
                <a:tc>
                  <a:txBody>
                    <a:bodyPr/>
                    <a:lstStyle/>
                    <a:p>
                      <a:r>
                        <a:rPr lang="en-US" sz="1600" b="1"/>
                        <a:t>Lightweight</a:t>
                      </a:r>
                      <a:r>
                        <a:rPr lang="en-US" sz="1600"/>
                        <a:t> (faster to create)</a:t>
                      </a:r>
                    </a:p>
                  </a:txBody>
                  <a:tcPr marL="59039" marR="59039" marT="29519" marB="29519" anchor="ctr">
                    <a:lnL>
                      <a:noFill/>
                    </a:lnL>
                    <a:lnR>
                      <a:noFill/>
                    </a:lnR>
                    <a:lnT>
                      <a:noFill/>
                    </a:lnT>
                    <a:lnB>
                      <a:noFill/>
                    </a:lnB>
                    <a:noFill/>
                  </a:tcPr>
                </a:tc>
                <a:extLst>
                  <a:ext uri="{0D108BD9-81ED-4DB2-BD59-A6C34878D82A}">
                    <a16:rowId xmlns:a16="http://schemas.microsoft.com/office/drawing/2014/main" val="1544547051"/>
                  </a:ext>
                </a:extLst>
              </a:tr>
              <a:tr h="501882">
                <a:tc>
                  <a:txBody>
                    <a:bodyPr/>
                    <a:lstStyle/>
                    <a:p>
                      <a:r>
                        <a:rPr lang="en-US" sz="1600"/>
                        <a:t>Communication</a:t>
                      </a:r>
                    </a:p>
                  </a:txBody>
                  <a:tcPr marL="59039" marR="59039" marT="29519" marB="29519" anchor="ctr">
                    <a:lnL>
                      <a:noFill/>
                    </a:lnL>
                    <a:lnR>
                      <a:noFill/>
                    </a:lnR>
                    <a:lnT>
                      <a:noFill/>
                    </a:lnT>
                    <a:lnB>
                      <a:noFill/>
                    </a:lnB>
                    <a:noFill/>
                  </a:tcPr>
                </a:tc>
                <a:tc>
                  <a:txBody>
                    <a:bodyPr/>
                    <a:lstStyle/>
                    <a:p>
                      <a:r>
                        <a:rPr lang="fr-FR" sz="1600"/>
                        <a:t>Uses </a:t>
                      </a:r>
                      <a:r>
                        <a:rPr lang="fr-FR" sz="1600" b="1"/>
                        <a:t>IPC</a:t>
                      </a:r>
                      <a:r>
                        <a:rPr lang="fr-FR" sz="1600"/>
                        <a:t> (pipes, sockets, etc.)</a:t>
                      </a:r>
                    </a:p>
                  </a:txBody>
                  <a:tcPr marL="59039" marR="59039" marT="29519" marB="29519" anchor="ctr">
                    <a:lnL>
                      <a:noFill/>
                    </a:lnL>
                    <a:lnR>
                      <a:noFill/>
                    </a:lnR>
                    <a:lnT>
                      <a:noFill/>
                    </a:lnT>
                    <a:lnB>
                      <a:noFill/>
                    </a:lnB>
                    <a:noFill/>
                  </a:tcPr>
                </a:tc>
                <a:tc>
                  <a:txBody>
                    <a:bodyPr/>
                    <a:lstStyle/>
                    <a:p>
                      <a:r>
                        <a:rPr lang="en-US" sz="1600"/>
                        <a:t>Direct communication via </a:t>
                      </a:r>
                      <a:r>
                        <a:rPr lang="en-US" sz="1600" b="1"/>
                        <a:t>shared memory</a:t>
                      </a:r>
                      <a:endParaRPr lang="en-US" sz="1600"/>
                    </a:p>
                  </a:txBody>
                  <a:tcPr marL="59039" marR="59039" marT="29519" marB="29519" anchor="ctr">
                    <a:lnL>
                      <a:noFill/>
                    </a:lnL>
                    <a:lnR>
                      <a:noFill/>
                    </a:lnR>
                    <a:lnT>
                      <a:noFill/>
                    </a:lnT>
                    <a:lnB>
                      <a:noFill/>
                    </a:lnB>
                    <a:noFill/>
                  </a:tcPr>
                </a:tc>
                <a:extLst>
                  <a:ext uri="{0D108BD9-81ED-4DB2-BD59-A6C34878D82A}">
                    <a16:rowId xmlns:a16="http://schemas.microsoft.com/office/drawing/2014/main" val="1484114799"/>
                  </a:ext>
                </a:extLst>
              </a:tr>
              <a:tr h="285817">
                <a:tc>
                  <a:txBody>
                    <a:bodyPr/>
                    <a:lstStyle/>
                    <a:p>
                      <a:r>
                        <a:rPr lang="en-US" sz="1600"/>
                        <a:t>Overhead</a:t>
                      </a:r>
                    </a:p>
                  </a:txBody>
                  <a:tcPr marL="59039" marR="59039" marT="29519" marB="29519" anchor="ctr">
                    <a:lnL>
                      <a:noFill/>
                    </a:lnL>
                    <a:lnR>
                      <a:noFill/>
                    </a:lnR>
                    <a:lnT>
                      <a:noFill/>
                    </a:lnT>
                    <a:lnB>
                      <a:noFill/>
                    </a:lnB>
                    <a:noFill/>
                  </a:tcPr>
                </a:tc>
                <a:tc>
                  <a:txBody>
                    <a:bodyPr/>
                    <a:lstStyle/>
                    <a:p>
                      <a:r>
                        <a:rPr lang="en-US" sz="1600"/>
                        <a:t>High overhead</a:t>
                      </a:r>
                    </a:p>
                  </a:txBody>
                  <a:tcPr marL="59039" marR="59039" marT="29519" marB="29519" anchor="ctr">
                    <a:lnL>
                      <a:noFill/>
                    </a:lnL>
                    <a:lnR>
                      <a:noFill/>
                    </a:lnR>
                    <a:lnT>
                      <a:noFill/>
                    </a:lnT>
                    <a:lnB>
                      <a:noFill/>
                    </a:lnB>
                    <a:noFill/>
                  </a:tcPr>
                </a:tc>
                <a:tc>
                  <a:txBody>
                    <a:bodyPr/>
                    <a:lstStyle/>
                    <a:p>
                      <a:r>
                        <a:rPr lang="en-US" sz="1600"/>
                        <a:t>Low overhead</a:t>
                      </a:r>
                    </a:p>
                  </a:txBody>
                  <a:tcPr marL="59039" marR="59039" marT="29519" marB="29519" anchor="ctr">
                    <a:lnL>
                      <a:noFill/>
                    </a:lnL>
                    <a:lnR>
                      <a:noFill/>
                    </a:lnR>
                    <a:lnT>
                      <a:noFill/>
                    </a:lnT>
                    <a:lnB>
                      <a:noFill/>
                    </a:lnB>
                    <a:noFill/>
                  </a:tcPr>
                </a:tc>
                <a:extLst>
                  <a:ext uri="{0D108BD9-81ED-4DB2-BD59-A6C34878D82A}">
                    <a16:rowId xmlns:a16="http://schemas.microsoft.com/office/drawing/2014/main" val="2529884353"/>
                  </a:ext>
                </a:extLst>
              </a:tr>
              <a:tr h="501882">
                <a:tc>
                  <a:txBody>
                    <a:bodyPr/>
                    <a:lstStyle/>
                    <a:p>
                      <a:r>
                        <a:rPr lang="en-US" sz="1600"/>
                        <a:t>Isolation</a:t>
                      </a:r>
                    </a:p>
                  </a:txBody>
                  <a:tcPr marL="59039" marR="59039" marT="29519" marB="29519" anchor="ctr">
                    <a:lnL>
                      <a:noFill/>
                    </a:lnL>
                    <a:lnR>
                      <a:noFill/>
                    </a:lnR>
                    <a:lnT>
                      <a:noFill/>
                    </a:lnT>
                    <a:lnB>
                      <a:noFill/>
                    </a:lnB>
                    <a:noFill/>
                  </a:tcPr>
                </a:tc>
                <a:tc>
                  <a:txBody>
                    <a:bodyPr/>
                    <a:lstStyle/>
                    <a:p>
                      <a:r>
                        <a:rPr lang="en-US" sz="1600"/>
                        <a:t>Strongly isolated (safe from other processes)</a:t>
                      </a:r>
                    </a:p>
                  </a:txBody>
                  <a:tcPr marL="59039" marR="59039" marT="29519" marB="29519" anchor="ctr">
                    <a:lnL>
                      <a:noFill/>
                    </a:lnL>
                    <a:lnR>
                      <a:noFill/>
                    </a:lnR>
                    <a:lnT>
                      <a:noFill/>
                    </a:lnT>
                    <a:lnB>
                      <a:noFill/>
                    </a:lnB>
                    <a:noFill/>
                  </a:tcPr>
                </a:tc>
                <a:tc>
                  <a:txBody>
                    <a:bodyPr/>
                    <a:lstStyle/>
                    <a:p>
                      <a:r>
                        <a:rPr lang="en-US" sz="1600"/>
                        <a:t>Not isolated (one thread can affect others)</a:t>
                      </a:r>
                    </a:p>
                  </a:txBody>
                  <a:tcPr marL="59039" marR="59039" marT="29519" marB="29519" anchor="ctr">
                    <a:lnL>
                      <a:noFill/>
                    </a:lnL>
                    <a:lnR>
                      <a:noFill/>
                    </a:lnR>
                    <a:lnT>
                      <a:noFill/>
                    </a:lnT>
                    <a:lnB>
                      <a:noFill/>
                    </a:lnB>
                    <a:noFill/>
                  </a:tcPr>
                </a:tc>
                <a:extLst>
                  <a:ext uri="{0D108BD9-81ED-4DB2-BD59-A6C34878D82A}">
                    <a16:rowId xmlns:a16="http://schemas.microsoft.com/office/drawing/2014/main" val="1434155801"/>
                  </a:ext>
                </a:extLst>
              </a:tr>
              <a:tr h="285817">
                <a:tc>
                  <a:txBody>
                    <a:bodyPr/>
                    <a:lstStyle/>
                    <a:p>
                      <a:r>
                        <a:rPr lang="en-US" sz="1600"/>
                        <a:t>Context Switching</a:t>
                      </a:r>
                    </a:p>
                  </a:txBody>
                  <a:tcPr marL="59039" marR="59039" marT="29519" marB="29519" anchor="ctr">
                    <a:lnL>
                      <a:noFill/>
                    </a:lnL>
                    <a:lnR>
                      <a:noFill/>
                    </a:lnR>
                    <a:lnT>
                      <a:noFill/>
                    </a:lnT>
                    <a:lnB>
                      <a:noFill/>
                    </a:lnB>
                    <a:noFill/>
                  </a:tcPr>
                </a:tc>
                <a:tc>
                  <a:txBody>
                    <a:bodyPr/>
                    <a:lstStyle/>
                    <a:p>
                      <a:r>
                        <a:rPr lang="en-US" sz="1600"/>
                        <a:t>Slower</a:t>
                      </a:r>
                    </a:p>
                  </a:txBody>
                  <a:tcPr marL="59039" marR="59039" marT="29519" marB="29519" anchor="ctr">
                    <a:lnL>
                      <a:noFill/>
                    </a:lnL>
                    <a:lnR>
                      <a:noFill/>
                    </a:lnR>
                    <a:lnT>
                      <a:noFill/>
                    </a:lnT>
                    <a:lnB>
                      <a:noFill/>
                    </a:lnB>
                    <a:noFill/>
                  </a:tcPr>
                </a:tc>
                <a:tc>
                  <a:txBody>
                    <a:bodyPr/>
                    <a:lstStyle/>
                    <a:p>
                      <a:r>
                        <a:rPr lang="en-US" sz="1600"/>
                        <a:t>Faster</a:t>
                      </a:r>
                    </a:p>
                  </a:txBody>
                  <a:tcPr marL="59039" marR="59039" marT="29519" marB="29519" anchor="ctr">
                    <a:lnL>
                      <a:noFill/>
                    </a:lnL>
                    <a:lnR>
                      <a:noFill/>
                    </a:lnR>
                    <a:lnT>
                      <a:noFill/>
                    </a:lnT>
                    <a:lnB>
                      <a:noFill/>
                    </a:lnB>
                    <a:noFill/>
                  </a:tcPr>
                </a:tc>
                <a:extLst>
                  <a:ext uri="{0D108BD9-81ED-4DB2-BD59-A6C34878D82A}">
                    <a16:rowId xmlns:a16="http://schemas.microsoft.com/office/drawing/2014/main" val="2485609570"/>
                  </a:ext>
                </a:extLst>
              </a:tr>
              <a:tr h="501882">
                <a:tc>
                  <a:txBody>
                    <a:bodyPr/>
                    <a:lstStyle/>
                    <a:p>
                      <a:r>
                        <a:rPr lang="en-US" sz="1600"/>
                        <a:t>Failure Impact</a:t>
                      </a:r>
                    </a:p>
                  </a:txBody>
                  <a:tcPr marL="59039" marR="59039" marT="29519" marB="29519" anchor="ctr">
                    <a:lnL>
                      <a:noFill/>
                    </a:lnL>
                    <a:lnR>
                      <a:noFill/>
                    </a:lnR>
                    <a:lnT>
                      <a:noFill/>
                    </a:lnT>
                    <a:lnB>
                      <a:noFill/>
                    </a:lnB>
                    <a:noFill/>
                  </a:tcPr>
                </a:tc>
                <a:tc>
                  <a:txBody>
                    <a:bodyPr/>
                    <a:lstStyle/>
                    <a:p>
                      <a:r>
                        <a:rPr lang="en-US" sz="1600"/>
                        <a:t>Crash affects only that process</a:t>
                      </a:r>
                    </a:p>
                  </a:txBody>
                  <a:tcPr marL="59039" marR="59039" marT="29519" marB="29519" anchor="ctr">
                    <a:lnL>
                      <a:noFill/>
                    </a:lnL>
                    <a:lnR>
                      <a:noFill/>
                    </a:lnR>
                    <a:lnT>
                      <a:noFill/>
                    </a:lnT>
                    <a:lnB>
                      <a:noFill/>
                    </a:lnB>
                    <a:noFill/>
                  </a:tcPr>
                </a:tc>
                <a:tc>
                  <a:txBody>
                    <a:bodyPr/>
                    <a:lstStyle/>
                    <a:p>
                      <a:r>
                        <a:rPr lang="en-US" sz="1600"/>
                        <a:t>Crash can terminate the whole process</a:t>
                      </a:r>
                    </a:p>
                  </a:txBody>
                  <a:tcPr marL="59039" marR="59039" marT="29519" marB="29519" anchor="ctr">
                    <a:lnL>
                      <a:noFill/>
                    </a:lnL>
                    <a:lnR>
                      <a:noFill/>
                    </a:lnR>
                    <a:lnT>
                      <a:noFill/>
                    </a:lnT>
                    <a:lnB>
                      <a:noFill/>
                    </a:lnB>
                    <a:noFill/>
                  </a:tcPr>
                </a:tc>
                <a:extLst>
                  <a:ext uri="{0D108BD9-81ED-4DB2-BD59-A6C34878D82A}">
                    <a16:rowId xmlns:a16="http://schemas.microsoft.com/office/drawing/2014/main" val="3339418389"/>
                  </a:ext>
                </a:extLst>
              </a:tr>
              <a:tr h="285817">
                <a:tc>
                  <a:txBody>
                    <a:bodyPr/>
                    <a:lstStyle/>
                    <a:p>
                      <a:r>
                        <a:rPr lang="en-US" sz="1600"/>
                        <a:t>Example</a:t>
                      </a:r>
                    </a:p>
                  </a:txBody>
                  <a:tcPr marL="59039" marR="59039" marT="29519" marB="29519" anchor="ctr">
                    <a:lnL>
                      <a:noFill/>
                    </a:lnL>
                    <a:lnR>
                      <a:noFill/>
                    </a:lnR>
                    <a:lnT>
                      <a:noFill/>
                    </a:lnT>
                    <a:lnB>
                      <a:noFill/>
                    </a:lnB>
                    <a:noFill/>
                  </a:tcPr>
                </a:tc>
                <a:tc>
                  <a:txBody>
                    <a:bodyPr/>
                    <a:lstStyle/>
                    <a:p>
                      <a:r>
                        <a:rPr lang="en-US" sz="1600"/>
                        <a:t>Running Chrome, Word, VLC</a:t>
                      </a:r>
                    </a:p>
                  </a:txBody>
                  <a:tcPr marL="59039" marR="59039" marT="29519" marB="29519" anchor="ctr">
                    <a:lnL>
                      <a:noFill/>
                    </a:lnL>
                    <a:lnR>
                      <a:noFill/>
                    </a:lnR>
                    <a:lnT>
                      <a:noFill/>
                    </a:lnT>
                    <a:lnB>
                      <a:noFill/>
                    </a:lnB>
                    <a:noFill/>
                  </a:tcPr>
                </a:tc>
                <a:tc>
                  <a:txBody>
                    <a:bodyPr/>
                    <a:lstStyle/>
                    <a:p>
                      <a:r>
                        <a:rPr lang="en-US" sz="1600"/>
                        <a:t>Multiple tabs in Chrome</a:t>
                      </a:r>
                    </a:p>
                  </a:txBody>
                  <a:tcPr marL="59039" marR="59039" marT="29519" marB="29519" anchor="ctr">
                    <a:lnL>
                      <a:noFill/>
                    </a:lnL>
                    <a:lnR>
                      <a:noFill/>
                    </a:lnR>
                    <a:lnT>
                      <a:noFill/>
                    </a:lnT>
                    <a:lnB>
                      <a:noFill/>
                    </a:lnB>
                    <a:noFill/>
                  </a:tcPr>
                </a:tc>
                <a:extLst>
                  <a:ext uri="{0D108BD9-81ED-4DB2-BD59-A6C34878D82A}">
                    <a16:rowId xmlns:a16="http://schemas.microsoft.com/office/drawing/2014/main" val="4003032913"/>
                  </a:ext>
                </a:extLst>
              </a:tr>
            </a:tbl>
          </a:graphicData>
        </a:graphic>
      </p:graphicFrame>
      <p:sp>
        <p:nvSpPr>
          <p:cNvPr id="7" name="Date Placeholder 6">
            <a:extLst>
              <a:ext uri="{FF2B5EF4-FFF2-40B4-BE49-F238E27FC236}">
                <a16:creationId xmlns:a16="http://schemas.microsoft.com/office/drawing/2014/main" id="{A1F7A6E0-9CC2-133F-BA17-DE05D63E0ABF}"/>
              </a:ext>
            </a:extLst>
          </p:cNvPr>
          <p:cNvSpPr>
            <a:spLocks noGrp="1"/>
          </p:cNvSpPr>
          <p:nvPr>
            <p:ph type="dt" sz="half" idx="10"/>
          </p:nvPr>
        </p:nvSpPr>
        <p:spPr/>
        <p:txBody>
          <a:bodyPr/>
          <a:lstStyle/>
          <a:p>
            <a:fld id="{13F3754D-EC6E-4729-9857-141DF067E9B6}" type="datetime1">
              <a:rPr lang="en-US" smtClean="0"/>
              <a:t>3/29/2026</a:t>
            </a:fld>
            <a:endParaRPr lang="en-US"/>
          </a:p>
        </p:txBody>
      </p:sp>
      <p:sp>
        <p:nvSpPr>
          <p:cNvPr id="8" name="Footer Placeholder 7">
            <a:extLst>
              <a:ext uri="{FF2B5EF4-FFF2-40B4-BE49-F238E27FC236}">
                <a16:creationId xmlns:a16="http://schemas.microsoft.com/office/drawing/2014/main" id="{03670D5D-CE64-A1FE-327E-5147C181A071}"/>
              </a:ext>
            </a:extLst>
          </p:cNvPr>
          <p:cNvSpPr>
            <a:spLocks noGrp="1"/>
          </p:cNvSpPr>
          <p:nvPr>
            <p:ph type="ftr" sz="quarter" idx="11"/>
          </p:nvPr>
        </p:nvSpPr>
        <p:spPr/>
        <p:txBody>
          <a:bodyPr/>
          <a:lstStyle/>
          <a:p>
            <a:r>
              <a:rPr lang="en-US"/>
              <a:t>Operating System and System Programming</a:t>
            </a:r>
          </a:p>
        </p:txBody>
      </p:sp>
      <p:sp>
        <p:nvSpPr>
          <p:cNvPr id="9" name="Slide Number Placeholder 8">
            <a:extLst>
              <a:ext uri="{FF2B5EF4-FFF2-40B4-BE49-F238E27FC236}">
                <a16:creationId xmlns:a16="http://schemas.microsoft.com/office/drawing/2014/main" id="{37DCBCA9-1A04-E3C6-1105-BAD7E470BB71}"/>
              </a:ext>
            </a:extLst>
          </p:cNvPr>
          <p:cNvSpPr>
            <a:spLocks noGrp="1"/>
          </p:cNvSpPr>
          <p:nvPr>
            <p:ph type="sldNum" sz="quarter" idx="12"/>
          </p:nvPr>
        </p:nvSpPr>
        <p:spPr/>
        <p:txBody>
          <a:bodyPr/>
          <a:lstStyle/>
          <a:p>
            <a:fld id="{86524AF2-6675-4F0E-A4F4-CF906B52CE2C}" type="slidenum">
              <a:rPr lang="en-US" smtClean="0"/>
              <a:t>10</a:t>
            </a:fld>
            <a:endParaRPr lang="en-US"/>
          </a:p>
        </p:txBody>
      </p:sp>
    </p:spTree>
    <p:extLst>
      <p:ext uri="{BB962C8B-B14F-4D97-AF65-F5344CB8AC3E}">
        <p14:creationId xmlns:p14="http://schemas.microsoft.com/office/powerpoint/2010/main" val="2893518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5CA55-3F5F-559B-4DD4-6CFBF0A6D090}"/>
              </a:ext>
            </a:extLst>
          </p:cNvPr>
          <p:cNvSpPr>
            <a:spLocks noGrp="1"/>
          </p:cNvSpPr>
          <p:nvPr>
            <p:ph type="title"/>
          </p:nvPr>
        </p:nvSpPr>
        <p:spPr>
          <a:xfrm>
            <a:off x="913775" y="618518"/>
            <a:ext cx="10364451" cy="1021440"/>
          </a:xfrm>
        </p:spPr>
        <p:txBody>
          <a:bodyPr/>
          <a:lstStyle/>
          <a:p>
            <a:r>
              <a:rPr lang="en-US"/>
              <a:t>Process Scheduling (Cont’d)</a:t>
            </a:r>
          </a:p>
        </p:txBody>
      </p:sp>
      <p:sp>
        <p:nvSpPr>
          <p:cNvPr id="3" name="Content Placeholder 2">
            <a:extLst>
              <a:ext uri="{FF2B5EF4-FFF2-40B4-BE49-F238E27FC236}">
                <a16:creationId xmlns:a16="http://schemas.microsoft.com/office/drawing/2014/main" id="{123555B4-8DED-6E5E-BEF4-712329183366}"/>
              </a:ext>
            </a:extLst>
          </p:cNvPr>
          <p:cNvSpPr>
            <a:spLocks noGrp="1"/>
          </p:cNvSpPr>
          <p:nvPr>
            <p:ph sz="quarter" idx="13"/>
          </p:nvPr>
        </p:nvSpPr>
        <p:spPr>
          <a:xfrm>
            <a:off x="735495" y="1928192"/>
            <a:ext cx="11072191" cy="3863008"/>
          </a:xfrm>
        </p:spPr>
        <p:txBody>
          <a:bodyPr>
            <a:normAutofit lnSpcReduction="10000"/>
          </a:bodyPr>
          <a:lstStyle/>
          <a:p>
            <a:r>
              <a:rPr lang="en-US" b="1"/>
              <a:t>Process scheduling</a:t>
            </a:r>
            <a:r>
              <a:rPr lang="en-US"/>
              <a:t> is the method an operating system uses to decide which process (program in execution) gets to run when multiple processes are ready. The process scheduler selects a process from the </a:t>
            </a:r>
            <a:r>
              <a:rPr lang="en-US" i="1"/>
              <a:t>ready queue</a:t>
            </a:r>
            <a:r>
              <a:rPr lang="en-US"/>
              <a:t> and allocates CPU time to it.</a:t>
            </a:r>
          </a:p>
          <a:p>
            <a:pPr marL="0" indent="0">
              <a:buNone/>
            </a:pPr>
            <a:r>
              <a:rPr lang="en-US"/>
              <a:t>It Maintains scheduling queues of processes </a:t>
            </a:r>
          </a:p>
          <a:p>
            <a:r>
              <a:rPr lang="en-US" b="1"/>
              <a:t>Job queue </a:t>
            </a:r>
            <a:r>
              <a:rPr lang="en-US"/>
              <a:t>– set of all processes in the system</a:t>
            </a:r>
          </a:p>
          <a:p>
            <a:pPr lvl="1" eaLnBrk="0" fontAlgn="base" hangingPunct="0">
              <a:lnSpc>
                <a:spcPct val="100000"/>
              </a:lnSpc>
              <a:spcBef>
                <a:spcPct val="0"/>
              </a:spcBef>
              <a:spcAft>
                <a:spcPct val="0"/>
              </a:spcAft>
              <a:buClrTx/>
              <a:buFont typeface="Wingdings" panose="05000000000000000000" pitchFamily="2" charset="2"/>
              <a:buChar char="Ø"/>
            </a:pPr>
            <a:r>
              <a:rPr kumimoji="0" lang="en-US" altLang="en-US" i="0" u="none" strike="noStrike" cap="none" normalizeH="0" baseline="0">
                <a:ln>
                  <a:noFill/>
                </a:ln>
                <a:solidFill>
                  <a:schemeClr val="tx1"/>
                </a:solidFill>
                <a:effectLst/>
                <a:latin typeface="Arial" panose="020B0604020202020204" pitchFamily="34" charset="0"/>
              </a:rPr>
              <a:t>Stored in secondary storage (disk)</a:t>
            </a:r>
          </a:p>
          <a:p>
            <a:pPr lvl="1" eaLnBrk="0" fontAlgn="base" hangingPunct="0">
              <a:lnSpc>
                <a:spcPct val="100000"/>
              </a:lnSpc>
              <a:spcBef>
                <a:spcPct val="0"/>
              </a:spcBef>
              <a:spcAft>
                <a:spcPct val="0"/>
              </a:spcAft>
              <a:buClrTx/>
              <a:buFont typeface="Wingdings" panose="05000000000000000000" pitchFamily="2" charset="2"/>
              <a:buChar char="Ø"/>
            </a:pPr>
            <a:r>
              <a:rPr kumimoji="0" lang="en-US" altLang="en-US" i="0" u="none" strike="noStrike" cap="none" normalizeH="0" baseline="0">
                <a:ln>
                  <a:noFill/>
                </a:ln>
                <a:solidFill>
                  <a:schemeClr val="tx1"/>
                </a:solidFill>
                <a:effectLst/>
                <a:latin typeface="Arial" panose="020B0604020202020204" pitchFamily="34" charset="0"/>
              </a:rPr>
              <a:t>Managed by the long-term scheduler</a:t>
            </a:r>
          </a:p>
          <a:p>
            <a:pPr lvl="1" eaLnBrk="0" fontAlgn="base" hangingPunct="0">
              <a:lnSpc>
                <a:spcPct val="100000"/>
              </a:lnSpc>
              <a:spcBef>
                <a:spcPct val="0"/>
              </a:spcBef>
              <a:spcAft>
                <a:spcPct val="0"/>
              </a:spcAft>
              <a:buClrTx/>
              <a:buFont typeface="Wingdings" panose="05000000000000000000" pitchFamily="2" charset="2"/>
              <a:buChar char="Ø"/>
            </a:pPr>
            <a:r>
              <a:rPr kumimoji="0" lang="en-US" altLang="en-US" i="0" u="none" strike="noStrike" cap="none" normalizeH="0" baseline="0">
                <a:ln>
                  <a:noFill/>
                </a:ln>
                <a:solidFill>
                  <a:schemeClr val="tx1"/>
                </a:solidFill>
                <a:effectLst/>
                <a:latin typeface="Arial" panose="020B0604020202020204" pitchFamily="34" charset="0"/>
              </a:rPr>
              <a:t>Not all processes in this queue are ready to run</a:t>
            </a:r>
          </a:p>
          <a:p>
            <a:r>
              <a:rPr lang="en-US" b="1"/>
              <a:t>Device Queue</a:t>
            </a:r>
          </a:p>
          <a:p>
            <a:pPr marL="0" indent="0">
              <a:buNone/>
            </a:pPr>
            <a:r>
              <a:rPr lang="en-US"/>
              <a:t>Each I/O device may have its own queue. Example: Printer queue, disk queue</a:t>
            </a:r>
          </a:p>
        </p:txBody>
      </p:sp>
      <p:sp>
        <p:nvSpPr>
          <p:cNvPr id="4" name="Date Placeholder 3">
            <a:extLst>
              <a:ext uri="{FF2B5EF4-FFF2-40B4-BE49-F238E27FC236}">
                <a16:creationId xmlns:a16="http://schemas.microsoft.com/office/drawing/2014/main" id="{6E4BE526-F106-ADE8-A7B9-841AE5D1872B}"/>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2E8E4930-DC38-A1B5-2E5B-A6B014AD6A78}"/>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F00A5D43-64AE-D521-95C8-47C7A32C042B}"/>
              </a:ext>
            </a:extLst>
          </p:cNvPr>
          <p:cNvSpPr>
            <a:spLocks noGrp="1"/>
          </p:cNvSpPr>
          <p:nvPr>
            <p:ph type="sldNum" sz="quarter" idx="12"/>
          </p:nvPr>
        </p:nvSpPr>
        <p:spPr/>
        <p:txBody>
          <a:bodyPr/>
          <a:lstStyle/>
          <a:p>
            <a:fld id="{86524AF2-6675-4F0E-A4F4-CF906B52CE2C}" type="slidenum">
              <a:rPr lang="en-US" smtClean="0"/>
              <a:t>11</a:t>
            </a:fld>
            <a:endParaRPr lang="en-US"/>
          </a:p>
        </p:txBody>
      </p:sp>
    </p:spTree>
    <p:extLst>
      <p:ext uri="{BB962C8B-B14F-4D97-AF65-F5344CB8AC3E}">
        <p14:creationId xmlns:p14="http://schemas.microsoft.com/office/powerpoint/2010/main" val="2291746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9245C-9671-00BF-824F-A9E23224203E}"/>
              </a:ext>
            </a:extLst>
          </p:cNvPr>
          <p:cNvSpPr>
            <a:spLocks noGrp="1"/>
          </p:cNvSpPr>
          <p:nvPr>
            <p:ph type="title"/>
          </p:nvPr>
        </p:nvSpPr>
        <p:spPr>
          <a:xfrm>
            <a:off x="913775" y="618517"/>
            <a:ext cx="10364451" cy="802779"/>
          </a:xfrm>
        </p:spPr>
        <p:txBody>
          <a:bodyPr/>
          <a:lstStyle/>
          <a:p>
            <a:r>
              <a:rPr lang="en-US"/>
              <a:t>Process Scheduling (Cont’d)</a:t>
            </a:r>
          </a:p>
        </p:txBody>
      </p:sp>
      <p:sp>
        <p:nvSpPr>
          <p:cNvPr id="3" name="Content Placeholder 2">
            <a:extLst>
              <a:ext uri="{FF2B5EF4-FFF2-40B4-BE49-F238E27FC236}">
                <a16:creationId xmlns:a16="http://schemas.microsoft.com/office/drawing/2014/main" id="{94BDE18E-82A2-CA86-6EA5-FC32D5AD006C}"/>
              </a:ext>
            </a:extLst>
          </p:cNvPr>
          <p:cNvSpPr>
            <a:spLocks noGrp="1"/>
          </p:cNvSpPr>
          <p:nvPr>
            <p:ph sz="quarter" idx="13"/>
          </p:nvPr>
        </p:nvSpPr>
        <p:spPr>
          <a:xfrm>
            <a:off x="616225" y="1759226"/>
            <a:ext cx="11231217" cy="4214191"/>
          </a:xfrm>
        </p:spPr>
        <p:txBody>
          <a:bodyPr>
            <a:normAutofit/>
          </a:bodyPr>
          <a:lstStyle/>
          <a:p>
            <a:r>
              <a:rPr lang="en-US" b="1"/>
              <a:t>Ready Queue</a:t>
            </a:r>
            <a:br>
              <a:rPr lang="en-US"/>
            </a:br>
            <a:r>
              <a:rPr lang="en-US"/>
              <a:t>The </a:t>
            </a:r>
            <a:r>
              <a:rPr lang="en-US" b="1"/>
              <a:t>ready queue</a:t>
            </a:r>
            <a:r>
              <a:rPr lang="en-US"/>
              <a:t> contains processes that are in main memory and ready to execute, waiting for CPU time.</a:t>
            </a:r>
          </a:p>
          <a:p>
            <a:pPr lvl="1">
              <a:buFont typeface="Wingdings" panose="05000000000000000000" pitchFamily="2" charset="2"/>
              <a:buChar char="Ø"/>
            </a:pPr>
            <a:r>
              <a:rPr lang="en-US" cap="none"/>
              <a:t>stored in main memory (RAM)</a:t>
            </a:r>
          </a:p>
          <a:p>
            <a:pPr lvl="1">
              <a:buFont typeface="Wingdings" panose="05000000000000000000" pitchFamily="2" charset="2"/>
              <a:buChar char="Ø"/>
            </a:pPr>
            <a:r>
              <a:rPr lang="en-US" cap="none"/>
              <a:t>processes are in ready state</a:t>
            </a:r>
          </a:p>
          <a:p>
            <a:pPr lvl="1">
              <a:buFont typeface="Wingdings" panose="05000000000000000000" pitchFamily="2" charset="2"/>
              <a:buChar char="Ø"/>
            </a:pPr>
            <a:r>
              <a:rPr lang="en-US" cap="none"/>
              <a:t>managed by the short-term scheduler</a:t>
            </a:r>
          </a:p>
          <a:p>
            <a:pPr lvl="1">
              <a:buFont typeface="Wingdings" panose="05000000000000000000" pitchFamily="2" charset="2"/>
              <a:buChar char="Ø"/>
            </a:pPr>
            <a:r>
              <a:rPr lang="en-US" cap="none"/>
              <a:t>CPU selects processes from here</a:t>
            </a:r>
          </a:p>
          <a:p>
            <a:r>
              <a:rPr lang="en-US" b="1"/>
              <a:t>Waiting Queue</a:t>
            </a:r>
          </a:p>
          <a:p>
            <a:pPr marL="0" indent="0">
              <a:buNone/>
            </a:pPr>
            <a:r>
              <a:rPr lang="en-US"/>
              <a:t>Contains processes that are waiting for I/O operations (like keyboard input, file read, printer).</a:t>
            </a:r>
          </a:p>
        </p:txBody>
      </p:sp>
      <p:sp>
        <p:nvSpPr>
          <p:cNvPr id="4" name="Date Placeholder 3">
            <a:extLst>
              <a:ext uri="{FF2B5EF4-FFF2-40B4-BE49-F238E27FC236}">
                <a16:creationId xmlns:a16="http://schemas.microsoft.com/office/drawing/2014/main" id="{12D4CFF7-9A33-C43C-1DA8-D1639D9FC0D4}"/>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C2395364-EA3F-4097-2C43-C8FCD3171328}"/>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F9D200F8-76CF-CAD7-4DDC-64E38AB701E9}"/>
              </a:ext>
            </a:extLst>
          </p:cNvPr>
          <p:cNvSpPr>
            <a:spLocks noGrp="1"/>
          </p:cNvSpPr>
          <p:nvPr>
            <p:ph type="sldNum" sz="quarter" idx="12"/>
          </p:nvPr>
        </p:nvSpPr>
        <p:spPr/>
        <p:txBody>
          <a:bodyPr/>
          <a:lstStyle/>
          <a:p>
            <a:fld id="{86524AF2-6675-4F0E-A4F4-CF906B52CE2C}" type="slidenum">
              <a:rPr lang="en-US" smtClean="0"/>
              <a:t>12</a:t>
            </a:fld>
            <a:endParaRPr lang="en-US"/>
          </a:p>
        </p:txBody>
      </p:sp>
    </p:spTree>
    <p:extLst>
      <p:ext uri="{BB962C8B-B14F-4D97-AF65-F5344CB8AC3E}">
        <p14:creationId xmlns:p14="http://schemas.microsoft.com/office/powerpoint/2010/main" val="4272518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B7ED-C0FC-9DB3-4A60-BEC6EBB0FBD2}"/>
              </a:ext>
            </a:extLst>
          </p:cNvPr>
          <p:cNvSpPr>
            <a:spLocks noGrp="1"/>
          </p:cNvSpPr>
          <p:nvPr>
            <p:ph type="title"/>
          </p:nvPr>
        </p:nvSpPr>
        <p:spPr>
          <a:xfrm>
            <a:off x="913775" y="618518"/>
            <a:ext cx="10364451" cy="795461"/>
          </a:xfrm>
        </p:spPr>
        <p:txBody>
          <a:bodyPr/>
          <a:lstStyle/>
          <a:p>
            <a:r>
              <a:rPr lang="en-US"/>
              <a:t>Process Scheduling (Cont’d)</a:t>
            </a:r>
          </a:p>
        </p:txBody>
      </p:sp>
      <p:pic>
        <p:nvPicPr>
          <p:cNvPr id="8" name="Content Placeholder 7" descr="A diagram of process schedule">
            <a:extLst>
              <a:ext uri="{FF2B5EF4-FFF2-40B4-BE49-F238E27FC236}">
                <a16:creationId xmlns:a16="http://schemas.microsoft.com/office/drawing/2014/main" id="{9D67B893-7366-0CB0-CC87-65F1F27A57F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243563" y="1413979"/>
            <a:ext cx="7961243" cy="4104171"/>
          </a:xfrm>
        </p:spPr>
      </p:pic>
      <p:sp>
        <p:nvSpPr>
          <p:cNvPr id="4" name="Date Placeholder 3">
            <a:extLst>
              <a:ext uri="{FF2B5EF4-FFF2-40B4-BE49-F238E27FC236}">
                <a16:creationId xmlns:a16="http://schemas.microsoft.com/office/drawing/2014/main" id="{E262A60A-A1AA-4E64-A264-3787A4ED1DFC}"/>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B7D4C07C-3213-4733-0A9A-635E3C969EE2}"/>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4DB915A1-025D-84FF-644E-5CD685753444}"/>
              </a:ext>
            </a:extLst>
          </p:cNvPr>
          <p:cNvSpPr>
            <a:spLocks noGrp="1"/>
          </p:cNvSpPr>
          <p:nvPr>
            <p:ph type="sldNum" sz="quarter" idx="12"/>
          </p:nvPr>
        </p:nvSpPr>
        <p:spPr/>
        <p:txBody>
          <a:bodyPr/>
          <a:lstStyle/>
          <a:p>
            <a:fld id="{86524AF2-6675-4F0E-A4F4-CF906B52CE2C}" type="slidenum">
              <a:rPr lang="en-US" smtClean="0"/>
              <a:t>13</a:t>
            </a:fld>
            <a:endParaRPr lang="en-US"/>
          </a:p>
        </p:txBody>
      </p:sp>
      <p:sp>
        <p:nvSpPr>
          <p:cNvPr id="9" name="TextBox 8">
            <a:extLst>
              <a:ext uri="{FF2B5EF4-FFF2-40B4-BE49-F238E27FC236}">
                <a16:creationId xmlns:a16="http://schemas.microsoft.com/office/drawing/2014/main" id="{1BD6928E-EDA4-BE2C-6260-2F26E01CB8B2}"/>
              </a:ext>
            </a:extLst>
          </p:cNvPr>
          <p:cNvSpPr txBox="1"/>
          <p:nvPr/>
        </p:nvSpPr>
        <p:spPr>
          <a:xfrm>
            <a:off x="3781838" y="5518150"/>
            <a:ext cx="4890052" cy="646331"/>
          </a:xfrm>
          <a:prstGeom prst="rect">
            <a:avLst/>
          </a:prstGeom>
          <a:noFill/>
        </p:spPr>
        <p:txBody>
          <a:bodyPr wrap="square" rtlCol="0">
            <a:spAutoFit/>
          </a:bodyPr>
          <a:lstStyle/>
          <a:p>
            <a:r>
              <a:rPr lang="en-US"/>
              <a:t>Queueing-diagram representation of process scheduling.</a:t>
            </a:r>
          </a:p>
        </p:txBody>
      </p:sp>
    </p:spTree>
    <p:extLst>
      <p:ext uri="{BB962C8B-B14F-4D97-AF65-F5344CB8AC3E}">
        <p14:creationId xmlns:p14="http://schemas.microsoft.com/office/powerpoint/2010/main" val="165265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ACED-DAA8-6A14-E763-A2BE7E2EA151}"/>
              </a:ext>
            </a:extLst>
          </p:cNvPr>
          <p:cNvSpPr>
            <a:spLocks noGrp="1"/>
          </p:cNvSpPr>
          <p:nvPr>
            <p:ph type="title"/>
          </p:nvPr>
        </p:nvSpPr>
        <p:spPr/>
        <p:txBody>
          <a:bodyPr/>
          <a:lstStyle/>
          <a:p>
            <a:r>
              <a:rPr lang="en-US"/>
              <a:t>Schedulers </a:t>
            </a:r>
          </a:p>
        </p:txBody>
      </p:sp>
      <p:sp>
        <p:nvSpPr>
          <p:cNvPr id="3" name="Content Placeholder 2">
            <a:extLst>
              <a:ext uri="{FF2B5EF4-FFF2-40B4-BE49-F238E27FC236}">
                <a16:creationId xmlns:a16="http://schemas.microsoft.com/office/drawing/2014/main" id="{4297DC20-4173-C181-6D29-CDE97E826E8F}"/>
              </a:ext>
            </a:extLst>
          </p:cNvPr>
          <p:cNvSpPr>
            <a:spLocks noGrp="1"/>
          </p:cNvSpPr>
          <p:nvPr>
            <p:ph sz="quarter" idx="13"/>
          </p:nvPr>
        </p:nvSpPr>
        <p:spPr>
          <a:xfrm>
            <a:off x="913774" y="1898374"/>
            <a:ext cx="10363826" cy="3892825"/>
          </a:xfrm>
        </p:spPr>
        <p:txBody>
          <a:bodyPr>
            <a:normAutofit fontScale="92500" lnSpcReduction="20000"/>
          </a:bodyPr>
          <a:lstStyle/>
          <a:p>
            <a:pPr marL="0" indent="0">
              <a:buNone/>
            </a:pPr>
            <a:r>
              <a:rPr lang="en-US">
                <a:solidFill>
                  <a:srgbClr val="00B0F0"/>
                </a:solidFill>
              </a:rPr>
              <a:t>Short-term scheduler (or CPU scheduler) </a:t>
            </a:r>
            <a:r>
              <a:rPr lang="en-US"/>
              <a:t>– selects which process should be executed next and allocates CPU </a:t>
            </a:r>
          </a:p>
          <a:p>
            <a:pPr lvl="1">
              <a:buFont typeface="Wingdings" panose="05000000000000000000" pitchFamily="2" charset="2"/>
              <a:buChar char="q"/>
            </a:pPr>
            <a:r>
              <a:rPr lang="en-US"/>
              <a:t>Sometimes the only scheduler in a system</a:t>
            </a:r>
          </a:p>
          <a:p>
            <a:pPr lvl="1">
              <a:buFont typeface="Wingdings" panose="05000000000000000000" pitchFamily="2" charset="2"/>
              <a:buChar char="q"/>
            </a:pPr>
            <a:r>
              <a:rPr lang="en-US"/>
              <a:t> Short-term scheduler is invoked frequently (milliseconds) (must be fast) </a:t>
            </a:r>
          </a:p>
          <a:p>
            <a:pPr marL="0" indent="0">
              <a:buNone/>
            </a:pPr>
            <a:r>
              <a:rPr lang="en-US">
                <a:solidFill>
                  <a:srgbClr val="00B0F0"/>
                </a:solidFill>
              </a:rPr>
              <a:t>Long-term scheduler (or job scheduler)</a:t>
            </a:r>
            <a:r>
              <a:rPr lang="en-US"/>
              <a:t> – selects which processes should be brought into the ready queue </a:t>
            </a:r>
          </a:p>
          <a:p>
            <a:pPr lvl="1">
              <a:buFont typeface="Wingdings" panose="05000000000000000000" pitchFamily="2" charset="2"/>
              <a:buChar char="q"/>
            </a:pPr>
            <a:r>
              <a:rPr lang="en-US"/>
              <a:t>Long-term scheduler is invoked infrequently (seconds, minutes) (may be slow) </a:t>
            </a:r>
          </a:p>
          <a:p>
            <a:pPr lvl="1">
              <a:buFont typeface="Wingdings" panose="05000000000000000000" pitchFamily="2" charset="2"/>
              <a:buChar char="q"/>
            </a:pPr>
            <a:r>
              <a:rPr lang="en-US"/>
              <a:t>The long-term scheduler controls the degree of multiprogramming </a:t>
            </a:r>
          </a:p>
          <a:p>
            <a:pPr>
              <a:buFont typeface="Wingdings" panose="05000000000000000000" pitchFamily="2" charset="2"/>
              <a:buChar char="Ø"/>
            </a:pPr>
            <a:r>
              <a:rPr lang="en-US"/>
              <a:t>Processes can be described as either: I/O-bound process– spends more time doing I/O than computations, many short CPU bursts .CPU-bound process – spends more time doing computations; few very long CPU bursts</a:t>
            </a:r>
          </a:p>
        </p:txBody>
      </p:sp>
      <p:sp>
        <p:nvSpPr>
          <p:cNvPr id="4" name="Date Placeholder 3">
            <a:extLst>
              <a:ext uri="{FF2B5EF4-FFF2-40B4-BE49-F238E27FC236}">
                <a16:creationId xmlns:a16="http://schemas.microsoft.com/office/drawing/2014/main" id="{E6C007F0-9D60-3BF5-C35F-FD762F51B195}"/>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FEF45FC4-2A12-EFC1-843A-A42DB0D41959}"/>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6752AFDF-251A-09C3-532B-EAEBD8DC8309}"/>
              </a:ext>
            </a:extLst>
          </p:cNvPr>
          <p:cNvSpPr>
            <a:spLocks noGrp="1"/>
          </p:cNvSpPr>
          <p:nvPr>
            <p:ph type="sldNum" sz="quarter" idx="12"/>
          </p:nvPr>
        </p:nvSpPr>
        <p:spPr/>
        <p:txBody>
          <a:bodyPr/>
          <a:lstStyle/>
          <a:p>
            <a:fld id="{86524AF2-6675-4F0E-A4F4-CF906B52CE2C}" type="slidenum">
              <a:rPr lang="en-US" smtClean="0"/>
              <a:t>14</a:t>
            </a:fld>
            <a:endParaRPr lang="en-US"/>
          </a:p>
        </p:txBody>
      </p:sp>
    </p:spTree>
    <p:extLst>
      <p:ext uri="{BB962C8B-B14F-4D97-AF65-F5344CB8AC3E}">
        <p14:creationId xmlns:p14="http://schemas.microsoft.com/office/powerpoint/2010/main" val="864534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AAA9F-FA77-11B2-A6B6-B0694AD06C1F}"/>
              </a:ext>
            </a:extLst>
          </p:cNvPr>
          <p:cNvSpPr>
            <a:spLocks noGrp="1"/>
          </p:cNvSpPr>
          <p:nvPr>
            <p:ph type="title"/>
          </p:nvPr>
        </p:nvSpPr>
        <p:spPr/>
        <p:txBody>
          <a:bodyPr/>
          <a:lstStyle/>
          <a:p>
            <a:r>
              <a:rPr lang="en-US"/>
              <a:t>Context switching</a:t>
            </a:r>
          </a:p>
        </p:txBody>
      </p:sp>
      <p:sp>
        <p:nvSpPr>
          <p:cNvPr id="3" name="Content Placeholder 2">
            <a:extLst>
              <a:ext uri="{FF2B5EF4-FFF2-40B4-BE49-F238E27FC236}">
                <a16:creationId xmlns:a16="http://schemas.microsoft.com/office/drawing/2014/main" id="{BFE11B01-577A-43A3-C11D-5551AED1E3D6}"/>
              </a:ext>
            </a:extLst>
          </p:cNvPr>
          <p:cNvSpPr>
            <a:spLocks noGrp="1"/>
          </p:cNvSpPr>
          <p:nvPr>
            <p:ph sz="quarter" idx="13"/>
          </p:nvPr>
        </p:nvSpPr>
        <p:spPr/>
        <p:txBody>
          <a:bodyPr/>
          <a:lstStyle/>
          <a:p>
            <a:r>
              <a:rPr lang="en-US" b="1"/>
              <a:t>Context switching</a:t>
            </a:r>
            <a:r>
              <a:rPr lang="en-US"/>
              <a:t> is the operation by which an operating system saves the execution state (context) of a currently running process or thread and restores the saved state of another process or thread so that the CPU can switch execution between them.</a:t>
            </a:r>
          </a:p>
          <a:p>
            <a:endParaRPr lang="en-US"/>
          </a:p>
          <a:p>
            <a:r>
              <a:rPr lang="en-US"/>
              <a:t>When CPU switches to another process, the system must </a:t>
            </a:r>
            <a:r>
              <a:rPr lang="en-US" b="1"/>
              <a:t>save the state </a:t>
            </a:r>
            <a:r>
              <a:rPr lang="en-US"/>
              <a:t>of the old process and </a:t>
            </a:r>
            <a:r>
              <a:rPr lang="en-US" b="1"/>
              <a:t>load the saved state </a:t>
            </a:r>
            <a:r>
              <a:rPr lang="en-US"/>
              <a:t>for the new process via a context switch</a:t>
            </a:r>
          </a:p>
        </p:txBody>
      </p:sp>
      <p:sp>
        <p:nvSpPr>
          <p:cNvPr id="4" name="Date Placeholder 3">
            <a:extLst>
              <a:ext uri="{FF2B5EF4-FFF2-40B4-BE49-F238E27FC236}">
                <a16:creationId xmlns:a16="http://schemas.microsoft.com/office/drawing/2014/main" id="{FD704DFC-EB0B-22C8-5EF9-C1376200FC3E}"/>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1D3FDF90-1ED8-477F-89C8-3B2FB3353E6F}"/>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710CB17A-1CA4-F2D9-A776-B76FDE9F2A03}"/>
              </a:ext>
            </a:extLst>
          </p:cNvPr>
          <p:cNvSpPr>
            <a:spLocks noGrp="1"/>
          </p:cNvSpPr>
          <p:nvPr>
            <p:ph type="sldNum" sz="quarter" idx="12"/>
          </p:nvPr>
        </p:nvSpPr>
        <p:spPr/>
        <p:txBody>
          <a:bodyPr/>
          <a:lstStyle/>
          <a:p>
            <a:fld id="{86524AF2-6675-4F0E-A4F4-CF906B52CE2C}" type="slidenum">
              <a:rPr lang="en-US" smtClean="0"/>
              <a:t>15</a:t>
            </a:fld>
            <a:endParaRPr lang="en-US"/>
          </a:p>
        </p:txBody>
      </p:sp>
    </p:spTree>
    <p:extLst>
      <p:ext uri="{BB962C8B-B14F-4D97-AF65-F5344CB8AC3E}">
        <p14:creationId xmlns:p14="http://schemas.microsoft.com/office/powerpoint/2010/main" val="1859449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A10A9-F45F-6CDD-C38A-20CA508DF069}"/>
              </a:ext>
            </a:extLst>
          </p:cNvPr>
          <p:cNvSpPr>
            <a:spLocks noGrp="1"/>
          </p:cNvSpPr>
          <p:nvPr>
            <p:ph type="title"/>
          </p:nvPr>
        </p:nvSpPr>
        <p:spPr>
          <a:xfrm>
            <a:off x="913775" y="636878"/>
            <a:ext cx="10364451" cy="1596177"/>
          </a:xfrm>
        </p:spPr>
        <p:txBody>
          <a:bodyPr/>
          <a:lstStyle/>
          <a:p>
            <a:r>
              <a:rPr lang="en-US"/>
              <a:t>Context switching</a:t>
            </a:r>
          </a:p>
        </p:txBody>
      </p:sp>
      <p:pic>
        <p:nvPicPr>
          <p:cNvPr id="8" name="Content Placeholder 7" descr="A diagram of a computer system">
            <a:extLst>
              <a:ext uri="{FF2B5EF4-FFF2-40B4-BE49-F238E27FC236}">
                <a16:creationId xmlns:a16="http://schemas.microsoft.com/office/drawing/2014/main" id="{893F3CE4-B711-A061-9FB3-0C5BBD69009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918935" y="2028889"/>
            <a:ext cx="8090452" cy="3935204"/>
          </a:xfrm>
        </p:spPr>
      </p:pic>
      <p:sp>
        <p:nvSpPr>
          <p:cNvPr id="4" name="Date Placeholder 3">
            <a:extLst>
              <a:ext uri="{FF2B5EF4-FFF2-40B4-BE49-F238E27FC236}">
                <a16:creationId xmlns:a16="http://schemas.microsoft.com/office/drawing/2014/main" id="{F25C5283-5D39-4F57-989F-6B710A4BDF68}"/>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4D1D4FD5-CFCC-BA6D-20EA-30BD66FB1302}"/>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2EEA40C6-AAE5-3E6E-1F5D-DCED3885B208}"/>
              </a:ext>
            </a:extLst>
          </p:cNvPr>
          <p:cNvSpPr>
            <a:spLocks noGrp="1"/>
          </p:cNvSpPr>
          <p:nvPr>
            <p:ph type="sldNum" sz="quarter" idx="12"/>
          </p:nvPr>
        </p:nvSpPr>
        <p:spPr/>
        <p:txBody>
          <a:bodyPr/>
          <a:lstStyle/>
          <a:p>
            <a:fld id="{86524AF2-6675-4F0E-A4F4-CF906B52CE2C}" type="slidenum">
              <a:rPr lang="en-US" smtClean="0"/>
              <a:t>16</a:t>
            </a:fld>
            <a:endParaRPr lang="en-US"/>
          </a:p>
        </p:txBody>
      </p:sp>
    </p:spTree>
    <p:extLst>
      <p:ext uri="{BB962C8B-B14F-4D97-AF65-F5344CB8AC3E}">
        <p14:creationId xmlns:p14="http://schemas.microsoft.com/office/powerpoint/2010/main" val="690110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48769-8462-E231-DA9B-77F185701675}"/>
              </a:ext>
            </a:extLst>
          </p:cNvPr>
          <p:cNvSpPr>
            <a:spLocks noGrp="1"/>
          </p:cNvSpPr>
          <p:nvPr>
            <p:ph type="title"/>
          </p:nvPr>
        </p:nvSpPr>
        <p:spPr/>
        <p:txBody>
          <a:bodyPr/>
          <a:lstStyle/>
          <a:p>
            <a:r>
              <a:rPr lang="en-US"/>
              <a:t>Operations on Processes</a:t>
            </a:r>
          </a:p>
        </p:txBody>
      </p:sp>
      <p:sp>
        <p:nvSpPr>
          <p:cNvPr id="3" name="Content Placeholder 2">
            <a:extLst>
              <a:ext uri="{FF2B5EF4-FFF2-40B4-BE49-F238E27FC236}">
                <a16:creationId xmlns:a16="http://schemas.microsoft.com/office/drawing/2014/main" id="{A9BF08A9-EB99-DBE2-D59B-AF997116BC56}"/>
              </a:ext>
            </a:extLst>
          </p:cNvPr>
          <p:cNvSpPr>
            <a:spLocks noGrp="1"/>
          </p:cNvSpPr>
          <p:nvPr>
            <p:ph sz="quarter" idx="13"/>
          </p:nvPr>
        </p:nvSpPr>
        <p:spPr/>
        <p:txBody>
          <a:bodyPr/>
          <a:lstStyle/>
          <a:p>
            <a:r>
              <a:rPr lang="en-US"/>
              <a:t>System must provide mechanisms for:</a:t>
            </a:r>
          </a:p>
          <a:p>
            <a:r>
              <a:rPr lang="en-US"/>
              <a:t> process creation, </a:t>
            </a:r>
          </a:p>
          <a:p>
            <a:r>
              <a:rPr lang="en-US"/>
              <a:t>process termination, </a:t>
            </a:r>
          </a:p>
          <a:p>
            <a:r>
              <a:rPr lang="en-US"/>
              <a:t>and so on as detailed next</a:t>
            </a:r>
          </a:p>
        </p:txBody>
      </p:sp>
      <p:sp>
        <p:nvSpPr>
          <p:cNvPr id="4" name="Date Placeholder 3">
            <a:extLst>
              <a:ext uri="{FF2B5EF4-FFF2-40B4-BE49-F238E27FC236}">
                <a16:creationId xmlns:a16="http://schemas.microsoft.com/office/drawing/2014/main" id="{BEFB05F7-1306-F47F-ADC3-F5C0166625B7}"/>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45826DF6-4052-17DF-3A45-C19691B6416B}"/>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E12BC75D-2560-8DEB-0B5C-2992D3F1BAD2}"/>
              </a:ext>
            </a:extLst>
          </p:cNvPr>
          <p:cNvSpPr>
            <a:spLocks noGrp="1"/>
          </p:cNvSpPr>
          <p:nvPr>
            <p:ph type="sldNum" sz="quarter" idx="12"/>
          </p:nvPr>
        </p:nvSpPr>
        <p:spPr/>
        <p:txBody>
          <a:bodyPr/>
          <a:lstStyle/>
          <a:p>
            <a:fld id="{86524AF2-6675-4F0E-A4F4-CF906B52CE2C}" type="slidenum">
              <a:rPr lang="en-US" smtClean="0"/>
              <a:t>17</a:t>
            </a:fld>
            <a:endParaRPr lang="en-US"/>
          </a:p>
        </p:txBody>
      </p:sp>
    </p:spTree>
    <p:extLst>
      <p:ext uri="{BB962C8B-B14F-4D97-AF65-F5344CB8AC3E}">
        <p14:creationId xmlns:p14="http://schemas.microsoft.com/office/powerpoint/2010/main" val="2924008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F4168-1ED2-0194-2B89-A290CDFF5DD3}"/>
              </a:ext>
            </a:extLst>
          </p:cNvPr>
          <p:cNvSpPr>
            <a:spLocks noGrp="1"/>
          </p:cNvSpPr>
          <p:nvPr>
            <p:ph type="title"/>
          </p:nvPr>
        </p:nvSpPr>
        <p:spPr>
          <a:xfrm>
            <a:off x="913775" y="636878"/>
            <a:ext cx="10364451" cy="1596177"/>
          </a:xfrm>
        </p:spPr>
        <p:txBody>
          <a:bodyPr/>
          <a:lstStyle/>
          <a:p>
            <a:r>
              <a:rPr lang="en-US"/>
              <a:t>Process Creation</a:t>
            </a:r>
          </a:p>
        </p:txBody>
      </p:sp>
      <p:sp>
        <p:nvSpPr>
          <p:cNvPr id="3" name="Content Placeholder 2">
            <a:extLst>
              <a:ext uri="{FF2B5EF4-FFF2-40B4-BE49-F238E27FC236}">
                <a16:creationId xmlns:a16="http://schemas.microsoft.com/office/drawing/2014/main" id="{F0274782-7450-EA01-712F-3A209E7C1697}"/>
              </a:ext>
            </a:extLst>
          </p:cNvPr>
          <p:cNvSpPr>
            <a:spLocks noGrp="1"/>
          </p:cNvSpPr>
          <p:nvPr>
            <p:ph sz="quarter" idx="13"/>
          </p:nvPr>
        </p:nvSpPr>
        <p:spPr/>
        <p:txBody>
          <a:bodyPr>
            <a:normAutofit fontScale="85000" lnSpcReduction="20000"/>
          </a:bodyPr>
          <a:lstStyle/>
          <a:p>
            <a:r>
              <a:rPr lang="en-US"/>
              <a:t>Parent process create children processes, which, in turn create other processes, forming a tree of processes</a:t>
            </a:r>
          </a:p>
          <a:p>
            <a:r>
              <a:rPr lang="en-US"/>
              <a:t>Generally, process identified and managed via a process identifier (</a:t>
            </a:r>
            <a:r>
              <a:rPr lang="en-US" err="1"/>
              <a:t>pid</a:t>
            </a:r>
            <a:r>
              <a:rPr lang="en-US"/>
              <a:t>)</a:t>
            </a:r>
          </a:p>
          <a:p>
            <a:pPr marL="0" indent="0">
              <a:buNone/>
            </a:pPr>
            <a:r>
              <a:rPr lang="en-US"/>
              <a:t>Resource sharing options </a:t>
            </a:r>
          </a:p>
          <a:p>
            <a:pPr lvl="1">
              <a:buFont typeface="Wingdings" panose="05000000000000000000" pitchFamily="2" charset="2"/>
              <a:buChar char="q"/>
            </a:pPr>
            <a:r>
              <a:rPr lang="en-US"/>
              <a:t>Parent and children share all resources </a:t>
            </a:r>
          </a:p>
          <a:p>
            <a:pPr lvl="1">
              <a:buFont typeface="Wingdings" panose="05000000000000000000" pitchFamily="2" charset="2"/>
              <a:buChar char="q"/>
            </a:pPr>
            <a:r>
              <a:rPr lang="en-US"/>
              <a:t>Children share subset of parent’s resources </a:t>
            </a:r>
          </a:p>
          <a:p>
            <a:pPr lvl="1">
              <a:buFont typeface="Wingdings" panose="05000000000000000000" pitchFamily="2" charset="2"/>
              <a:buChar char="q"/>
            </a:pPr>
            <a:r>
              <a:rPr lang="en-US"/>
              <a:t>Parent and child share no resources</a:t>
            </a:r>
          </a:p>
          <a:p>
            <a:r>
              <a:rPr lang="en-US"/>
              <a:t>Execution options </a:t>
            </a:r>
          </a:p>
          <a:p>
            <a:pPr lvl="1">
              <a:buFont typeface="Wingdings" panose="05000000000000000000" pitchFamily="2" charset="2"/>
              <a:buChar char="q"/>
            </a:pPr>
            <a:r>
              <a:rPr lang="en-US"/>
              <a:t>Parent and children execute concurrently </a:t>
            </a:r>
          </a:p>
          <a:p>
            <a:pPr lvl="1">
              <a:buFont typeface="Wingdings" panose="05000000000000000000" pitchFamily="2" charset="2"/>
              <a:buChar char="q"/>
            </a:pPr>
            <a:r>
              <a:rPr lang="en-US"/>
              <a:t>Parent waits until children terminate</a:t>
            </a:r>
          </a:p>
        </p:txBody>
      </p:sp>
      <p:sp>
        <p:nvSpPr>
          <p:cNvPr id="4" name="Date Placeholder 3">
            <a:extLst>
              <a:ext uri="{FF2B5EF4-FFF2-40B4-BE49-F238E27FC236}">
                <a16:creationId xmlns:a16="http://schemas.microsoft.com/office/drawing/2014/main" id="{2BE68F74-5AF5-9CB6-8F58-C8C11026676D}"/>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C97E2D75-723E-9FA8-0490-5D8ECE757DFB}"/>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10E6B4DA-1B7B-EC5C-CE4A-3A7A6550394E}"/>
              </a:ext>
            </a:extLst>
          </p:cNvPr>
          <p:cNvSpPr>
            <a:spLocks noGrp="1"/>
          </p:cNvSpPr>
          <p:nvPr>
            <p:ph type="sldNum" sz="quarter" idx="12"/>
          </p:nvPr>
        </p:nvSpPr>
        <p:spPr/>
        <p:txBody>
          <a:bodyPr/>
          <a:lstStyle/>
          <a:p>
            <a:fld id="{86524AF2-6675-4F0E-A4F4-CF906B52CE2C}" type="slidenum">
              <a:rPr lang="en-US" smtClean="0"/>
              <a:t>18</a:t>
            </a:fld>
            <a:endParaRPr lang="en-US"/>
          </a:p>
        </p:txBody>
      </p:sp>
    </p:spTree>
    <p:extLst>
      <p:ext uri="{BB962C8B-B14F-4D97-AF65-F5344CB8AC3E}">
        <p14:creationId xmlns:p14="http://schemas.microsoft.com/office/powerpoint/2010/main" val="3519780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4EF2-0949-E8D7-C896-F4AA159165DA}"/>
              </a:ext>
            </a:extLst>
          </p:cNvPr>
          <p:cNvSpPr>
            <a:spLocks noGrp="1"/>
          </p:cNvSpPr>
          <p:nvPr>
            <p:ph type="title"/>
          </p:nvPr>
        </p:nvSpPr>
        <p:spPr>
          <a:xfrm>
            <a:off x="913775" y="618518"/>
            <a:ext cx="10364451" cy="653692"/>
          </a:xfrm>
        </p:spPr>
        <p:txBody>
          <a:bodyPr/>
          <a:lstStyle/>
          <a:p>
            <a:r>
              <a:rPr lang="en-US"/>
              <a:t>A Tree of Processes in Linux </a:t>
            </a:r>
          </a:p>
        </p:txBody>
      </p:sp>
      <p:pic>
        <p:nvPicPr>
          <p:cNvPr id="8" name="Content Placeholder 7" descr="A diagram of a tree of processes&#10;&#10;AI-generated content may be incorrect.">
            <a:extLst>
              <a:ext uri="{FF2B5EF4-FFF2-40B4-BE49-F238E27FC236}">
                <a16:creationId xmlns:a16="http://schemas.microsoft.com/office/drawing/2014/main" id="{ACAB6A74-8623-E270-CDE5-FC670840B4C9}"/>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705937" y="1679713"/>
            <a:ext cx="8362402" cy="4111487"/>
          </a:xfrm>
        </p:spPr>
      </p:pic>
      <p:sp>
        <p:nvSpPr>
          <p:cNvPr id="4" name="Date Placeholder 3">
            <a:extLst>
              <a:ext uri="{FF2B5EF4-FFF2-40B4-BE49-F238E27FC236}">
                <a16:creationId xmlns:a16="http://schemas.microsoft.com/office/drawing/2014/main" id="{3E4F1C31-CC75-C1F0-66F5-01AB82AE4A82}"/>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6DAED98D-0A9E-E140-0959-E62B031EB670}"/>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A71D3AA4-024E-B180-97D4-7FF36F429484}"/>
              </a:ext>
            </a:extLst>
          </p:cNvPr>
          <p:cNvSpPr>
            <a:spLocks noGrp="1"/>
          </p:cNvSpPr>
          <p:nvPr>
            <p:ph type="sldNum" sz="quarter" idx="12"/>
          </p:nvPr>
        </p:nvSpPr>
        <p:spPr/>
        <p:txBody>
          <a:bodyPr/>
          <a:lstStyle/>
          <a:p>
            <a:fld id="{86524AF2-6675-4F0E-A4F4-CF906B52CE2C}" type="slidenum">
              <a:rPr lang="en-US" smtClean="0"/>
              <a:t>19</a:t>
            </a:fld>
            <a:endParaRPr lang="en-US"/>
          </a:p>
        </p:txBody>
      </p:sp>
    </p:spTree>
    <p:extLst>
      <p:ext uri="{BB962C8B-B14F-4D97-AF65-F5344CB8AC3E}">
        <p14:creationId xmlns:p14="http://schemas.microsoft.com/office/powerpoint/2010/main" val="2155399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5544-5017-0121-A459-BC4EE1AF549E}"/>
              </a:ext>
            </a:extLst>
          </p:cNvPr>
          <p:cNvSpPr>
            <a:spLocks noGrp="1"/>
          </p:cNvSpPr>
          <p:nvPr>
            <p:ph type="title"/>
          </p:nvPr>
        </p:nvSpPr>
        <p:spPr>
          <a:xfrm>
            <a:off x="913775" y="618517"/>
            <a:ext cx="10364451" cy="683509"/>
          </a:xfrm>
        </p:spPr>
        <p:txBody>
          <a:bodyPr/>
          <a:lstStyle/>
          <a:p>
            <a:r>
              <a:rPr lang="en-US"/>
              <a:t>Process Creation (Cont.)</a:t>
            </a:r>
          </a:p>
        </p:txBody>
      </p:sp>
      <p:sp>
        <p:nvSpPr>
          <p:cNvPr id="3" name="Content Placeholder 2">
            <a:extLst>
              <a:ext uri="{FF2B5EF4-FFF2-40B4-BE49-F238E27FC236}">
                <a16:creationId xmlns:a16="http://schemas.microsoft.com/office/drawing/2014/main" id="{4556605E-EAD8-B4DA-F566-124F5CF60BCA}"/>
              </a:ext>
            </a:extLst>
          </p:cNvPr>
          <p:cNvSpPr>
            <a:spLocks noGrp="1"/>
          </p:cNvSpPr>
          <p:nvPr>
            <p:ph sz="quarter" idx="13"/>
          </p:nvPr>
        </p:nvSpPr>
        <p:spPr>
          <a:xfrm>
            <a:off x="914400" y="1302027"/>
            <a:ext cx="10363826" cy="2405270"/>
          </a:xfrm>
        </p:spPr>
        <p:txBody>
          <a:bodyPr>
            <a:normAutofit fontScale="92500" lnSpcReduction="20000"/>
          </a:bodyPr>
          <a:lstStyle/>
          <a:p>
            <a:r>
              <a:rPr lang="en-US"/>
              <a:t>Address space options </a:t>
            </a:r>
          </a:p>
          <a:p>
            <a:pPr lvl="1">
              <a:buFont typeface="Wingdings" panose="05000000000000000000" pitchFamily="2" charset="2"/>
              <a:buChar char="q"/>
            </a:pPr>
            <a:r>
              <a:rPr lang="en-US"/>
              <a:t>Child duplicate of parent </a:t>
            </a:r>
          </a:p>
          <a:p>
            <a:pPr lvl="1">
              <a:buFont typeface="Wingdings" panose="05000000000000000000" pitchFamily="2" charset="2"/>
              <a:buChar char="q"/>
            </a:pPr>
            <a:r>
              <a:rPr lang="en-US"/>
              <a:t>Child has a program loaded into it</a:t>
            </a:r>
          </a:p>
          <a:p>
            <a:r>
              <a:rPr lang="en-US"/>
              <a:t>UNIX examples </a:t>
            </a:r>
          </a:p>
          <a:p>
            <a:pPr lvl="1">
              <a:buFont typeface="Wingdings" panose="05000000000000000000" pitchFamily="2" charset="2"/>
              <a:buChar char="q"/>
            </a:pPr>
            <a:r>
              <a:rPr lang="en-US" b="1"/>
              <a:t>fork()</a:t>
            </a:r>
            <a:r>
              <a:rPr lang="en-US"/>
              <a:t>system call creates new process </a:t>
            </a:r>
          </a:p>
          <a:p>
            <a:pPr lvl="1">
              <a:buFont typeface="Wingdings" panose="05000000000000000000" pitchFamily="2" charset="2"/>
              <a:buChar char="q"/>
            </a:pPr>
            <a:r>
              <a:rPr lang="en-US" b="1"/>
              <a:t>exec()</a:t>
            </a:r>
            <a:r>
              <a:rPr lang="en-US"/>
              <a:t>system call used after a fork() to replace the process’ memory space with a new program</a:t>
            </a:r>
          </a:p>
        </p:txBody>
      </p:sp>
      <p:sp>
        <p:nvSpPr>
          <p:cNvPr id="4" name="Date Placeholder 3">
            <a:extLst>
              <a:ext uri="{FF2B5EF4-FFF2-40B4-BE49-F238E27FC236}">
                <a16:creationId xmlns:a16="http://schemas.microsoft.com/office/drawing/2014/main" id="{DE394185-D9C4-E3A8-7A44-05ADB695FAA6}"/>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6F579EAF-CEFE-AD27-C94B-2003FF7AA6F7}"/>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FFD166CF-C08E-5199-73BE-51F3F4D23900}"/>
              </a:ext>
            </a:extLst>
          </p:cNvPr>
          <p:cNvSpPr>
            <a:spLocks noGrp="1"/>
          </p:cNvSpPr>
          <p:nvPr>
            <p:ph type="sldNum" sz="quarter" idx="12"/>
          </p:nvPr>
        </p:nvSpPr>
        <p:spPr/>
        <p:txBody>
          <a:bodyPr/>
          <a:lstStyle/>
          <a:p>
            <a:fld id="{86524AF2-6675-4F0E-A4F4-CF906B52CE2C}" type="slidenum">
              <a:rPr lang="en-US" smtClean="0"/>
              <a:t>20</a:t>
            </a:fld>
            <a:endParaRPr lang="en-US"/>
          </a:p>
        </p:txBody>
      </p:sp>
      <p:pic>
        <p:nvPicPr>
          <p:cNvPr id="8" name="Picture 7" descr="A blue oval with black text&#10;&#10;AI-generated content may be incorrect.">
            <a:extLst>
              <a:ext uri="{FF2B5EF4-FFF2-40B4-BE49-F238E27FC236}">
                <a16:creationId xmlns:a16="http://schemas.microsoft.com/office/drawing/2014/main" id="{955AF8C9-4805-62FE-D8C0-985BB9E075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0808" y="3808159"/>
            <a:ext cx="7971183" cy="1747814"/>
          </a:xfrm>
          <a:prstGeom prst="rect">
            <a:avLst/>
          </a:prstGeom>
        </p:spPr>
      </p:pic>
    </p:spTree>
    <p:extLst>
      <p:ext uri="{BB962C8B-B14F-4D97-AF65-F5344CB8AC3E}">
        <p14:creationId xmlns:p14="http://schemas.microsoft.com/office/powerpoint/2010/main" val="1313471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570D4-116D-E293-28F5-0527442E82AF}"/>
              </a:ext>
            </a:extLst>
          </p:cNvPr>
          <p:cNvSpPr>
            <a:spLocks noGrp="1"/>
          </p:cNvSpPr>
          <p:nvPr>
            <p:ph type="title"/>
          </p:nvPr>
        </p:nvSpPr>
        <p:spPr/>
        <p:txBody>
          <a:bodyPr/>
          <a:lstStyle/>
          <a:p>
            <a:r>
              <a:rPr lang="en-US"/>
              <a:t>Process Termination</a:t>
            </a:r>
          </a:p>
        </p:txBody>
      </p:sp>
      <p:sp>
        <p:nvSpPr>
          <p:cNvPr id="3" name="Content Placeholder 2">
            <a:extLst>
              <a:ext uri="{FF2B5EF4-FFF2-40B4-BE49-F238E27FC236}">
                <a16:creationId xmlns:a16="http://schemas.microsoft.com/office/drawing/2014/main" id="{3BAE2D39-DBC7-9D44-0BB1-1A574B29B232}"/>
              </a:ext>
            </a:extLst>
          </p:cNvPr>
          <p:cNvSpPr>
            <a:spLocks noGrp="1"/>
          </p:cNvSpPr>
          <p:nvPr>
            <p:ph sz="quarter" idx="13"/>
          </p:nvPr>
        </p:nvSpPr>
        <p:spPr/>
        <p:txBody>
          <a:bodyPr>
            <a:normAutofit fontScale="92500" lnSpcReduction="20000"/>
          </a:bodyPr>
          <a:lstStyle/>
          <a:p>
            <a:r>
              <a:rPr lang="en-US"/>
              <a:t>Process executes last statement and then asks the operating system to delete it using the exit() system call. </a:t>
            </a:r>
          </a:p>
          <a:p>
            <a:pPr lvl="1">
              <a:buFont typeface="Wingdings" panose="05000000000000000000" pitchFamily="2" charset="2"/>
              <a:buChar char="q"/>
            </a:pPr>
            <a:r>
              <a:rPr lang="en-US"/>
              <a:t>Returns status data from child to parent (via wait()) </a:t>
            </a:r>
          </a:p>
          <a:p>
            <a:pPr lvl="1">
              <a:buFont typeface="Wingdings" panose="05000000000000000000" pitchFamily="2" charset="2"/>
              <a:buChar char="q"/>
            </a:pPr>
            <a:r>
              <a:rPr lang="en-US"/>
              <a:t>Process’ resources are deallocated by operating system</a:t>
            </a:r>
          </a:p>
          <a:p>
            <a:r>
              <a:rPr lang="en-US"/>
              <a:t> Parent may terminate the execution of children processes using the abort() system call. Some reasons for doing so: </a:t>
            </a:r>
          </a:p>
          <a:p>
            <a:pPr lvl="1">
              <a:buFont typeface="Wingdings" panose="05000000000000000000" pitchFamily="2" charset="2"/>
              <a:buChar char="q"/>
            </a:pPr>
            <a:r>
              <a:rPr lang="en-US"/>
              <a:t>Child has exceeded allocated resources</a:t>
            </a:r>
          </a:p>
          <a:p>
            <a:pPr lvl="1">
              <a:buFont typeface="Wingdings" panose="05000000000000000000" pitchFamily="2" charset="2"/>
              <a:buChar char="q"/>
            </a:pPr>
            <a:r>
              <a:rPr lang="en-US"/>
              <a:t> Task assigned to child is no longer required</a:t>
            </a:r>
          </a:p>
          <a:p>
            <a:pPr lvl="1">
              <a:buFont typeface="Wingdings" panose="05000000000000000000" pitchFamily="2" charset="2"/>
              <a:buChar char="q"/>
            </a:pPr>
            <a:r>
              <a:rPr lang="en-US"/>
              <a:t> The parent is exiting and the operating systems does not allow a child to continue if its parent terminates</a:t>
            </a:r>
          </a:p>
        </p:txBody>
      </p:sp>
      <p:sp>
        <p:nvSpPr>
          <p:cNvPr id="4" name="Date Placeholder 3">
            <a:extLst>
              <a:ext uri="{FF2B5EF4-FFF2-40B4-BE49-F238E27FC236}">
                <a16:creationId xmlns:a16="http://schemas.microsoft.com/office/drawing/2014/main" id="{1CA1BD18-C646-5D71-0358-5555DEA82664}"/>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A5DA0DAF-B97E-2118-37A3-A027606F26CA}"/>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E5655D5A-EA2F-189E-38A0-19DE9AEFAAB2}"/>
              </a:ext>
            </a:extLst>
          </p:cNvPr>
          <p:cNvSpPr>
            <a:spLocks noGrp="1"/>
          </p:cNvSpPr>
          <p:nvPr>
            <p:ph type="sldNum" sz="quarter" idx="12"/>
          </p:nvPr>
        </p:nvSpPr>
        <p:spPr/>
        <p:txBody>
          <a:bodyPr/>
          <a:lstStyle/>
          <a:p>
            <a:fld id="{86524AF2-6675-4F0E-A4F4-CF906B52CE2C}" type="slidenum">
              <a:rPr lang="en-US" smtClean="0"/>
              <a:t>21</a:t>
            </a:fld>
            <a:endParaRPr lang="en-US"/>
          </a:p>
        </p:txBody>
      </p:sp>
    </p:spTree>
    <p:extLst>
      <p:ext uri="{BB962C8B-B14F-4D97-AF65-F5344CB8AC3E}">
        <p14:creationId xmlns:p14="http://schemas.microsoft.com/office/powerpoint/2010/main" val="3588635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3766-9EF6-397E-C246-0DF5FFACECA4}"/>
              </a:ext>
            </a:extLst>
          </p:cNvPr>
          <p:cNvSpPr>
            <a:spLocks noGrp="1"/>
          </p:cNvSpPr>
          <p:nvPr>
            <p:ph type="title"/>
          </p:nvPr>
        </p:nvSpPr>
        <p:spPr/>
        <p:txBody>
          <a:bodyPr/>
          <a:lstStyle/>
          <a:p>
            <a:r>
              <a:rPr lang="en-US"/>
              <a:t>Process Termination</a:t>
            </a:r>
          </a:p>
        </p:txBody>
      </p:sp>
      <p:sp>
        <p:nvSpPr>
          <p:cNvPr id="3" name="Content Placeholder 2">
            <a:extLst>
              <a:ext uri="{FF2B5EF4-FFF2-40B4-BE49-F238E27FC236}">
                <a16:creationId xmlns:a16="http://schemas.microsoft.com/office/drawing/2014/main" id="{9521267E-152A-6D94-F4E9-7EDD767FAD14}"/>
              </a:ext>
            </a:extLst>
          </p:cNvPr>
          <p:cNvSpPr>
            <a:spLocks noGrp="1"/>
          </p:cNvSpPr>
          <p:nvPr>
            <p:ph sz="quarter" idx="13"/>
          </p:nvPr>
        </p:nvSpPr>
        <p:spPr/>
        <p:txBody>
          <a:bodyPr>
            <a:normAutofit fontScale="85000" lnSpcReduction="10000"/>
          </a:bodyPr>
          <a:lstStyle/>
          <a:p>
            <a:r>
              <a:rPr lang="en-US"/>
              <a:t>Some operating systems do not allow child to exists if its parent has terminated. If a process terminates, then all its children must also be terminated. </a:t>
            </a:r>
          </a:p>
          <a:p>
            <a:pPr lvl="1">
              <a:buFont typeface="Wingdings" panose="05000000000000000000" pitchFamily="2" charset="2"/>
              <a:buChar char="q"/>
            </a:pPr>
            <a:r>
              <a:rPr lang="en-US"/>
              <a:t>cascading termination. All children, grandchildren, etc. are terminated. </a:t>
            </a:r>
          </a:p>
          <a:p>
            <a:pPr lvl="1">
              <a:buFont typeface="Wingdings" panose="05000000000000000000" pitchFamily="2" charset="2"/>
              <a:buChar char="q"/>
            </a:pPr>
            <a:r>
              <a:rPr lang="en-US"/>
              <a:t>The termination is initiated by the operating system. </a:t>
            </a:r>
          </a:p>
          <a:p>
            <a:r>
              <a:rPr lang="en-US"/>
              <a:t>The parent process may wait for termination of a child process by using the wait()system call. The call returns status information and the </a:t>
            </a:r>
            <a:r>
              <a:rPr lang="en-US" err="1"/>
              <a:t>pid</a:t>
            </a:r>
            <a:r>
              <a:rPr lang="en-US"/>
              <a:t> of the terminated process</a:t>
            </a:r>
          </a:p>
          <a:p>
            <a:pPr marL="0" indent="0">
              <a:buNone/>
            </a:pPr>
            <a:r>
              <a:rPr lang="en-US"/>
              <a:t> 		</a:t>
            </a:r>
            <a:r>
              <a:rPr lang="en-US" b="1" err="1"/>
              <a:t>pid</a:t>
            </a:r>
            <a:r>
              <a:rPr lang="en-US" b="1"/>
              <a:t> = wait(&amp;status); </a:t>
            </a:r>
          </a:p>
          <a:p>
            <a:r>
              <a:rPr lang="en-US"/>
              <a:t>If no parent waiting (did not invoke wait()) process is a zombie </a:t>
            </a:r>
          </a:p>
          <a:p>
            <a:r>
              <a:rPr lang="en-US"/>
              <a:t>If parent terminated without invoking wait , process is an orphan</a:t>
            </a:r>
          </a:p>
        </p:txBody>
      </p:sp>
      <p:sp>
        <p:nvSpPr>
          <p:cNvPr id="4" name="Date Placeholder 3">
            <a:extLst>
              <a:ext uri="{FF2B5EF4-FFF2-40B4-BE49-F238E27FC236}">
                <a16:creationId xmlns:a16="http://schemas.microsoft.com/office/drawing/2014/main" id="{FC6FD8FB-61BE-E9E2-7EE6-A6B6EC89ED0C}"/>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1A74B31C-66F3-647A-AB84-CF277F242CE6}"/>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F51EF2D5-611C-8A47-1390-13877FB80B8C}"/>
              </a:ext>
            </a:extLst>
          </p:cNvPr>
          <p:cNvSpPr>
            <a:spLocks noGrp="1"/>
          </p:cNvSpPr>
          <p:nvPr>
            <p:ph type="sldNum" sz="quarter" idx="12"/>
          </p:nvPr>
        </p:nvSpPr>
        <p:spPr/>
        <p:txBody>
          <a:bodyPr/>
          <a:lstStyle/>
          <a:p>
            <a:fld id="{86524AF2-6675-4F0E-A4F4-CF906B52CE2C}" type="slidenum">
              <a:rPr lang="en-US" smtClean="0"/>
              <a:t>22</a:t>
            </a:fld>
            <a:endParaRPr lang="en-US"/>
          </a:p>
        </p:txBody>
      </p:sp>
    </p:spTree>
    <p:extLst>
      <p:ext uri="{BB962C8B-B14F-4D97-AF65-F5344CB8AC3E}">
        <p14:creationId xmlns:p14="http://schemas.microsoft.com/office/powerpoint/2010/main" val="1467231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DF68C-B686-5A05-E988-2DD3DBB9D193}"/>
              </a:ext>
            </a:extLst>
          </p:cNvPr>
          <p:cNvSpPr>
            <a:spLocks noGrp="1"/>
          </p:cNvSpPr>
          <p:nvPr>
            <p:ph type="title"/>
          </p:nvPr>
        </p:nvSpPr>
        <p:spPr/>
        <p:txBody>
          <a:bodyPr/>
          <a:lstStyle/>
          <a:p>
            <a:r>
              <a:rPr lang="en-US" err="1"/>
              <a:t>Interprocess</a:t>
            </a:r>
            <a:r>
              <a:rPr lang="en-US"/>
              <a:t> Communication</a:t>
            </a:r>
          </a:p>
        </p:txBody>
      </p:sp>
      <p:sp>
        <p:nvSpPr>
          <p:cNvPr id="3" name="Content Placeholder 2">
            <a:extLst>
              <a:ext uri="{FF2B5EF4-FFF2-40B4-BE49-F238E27FC236}">
                <a16:creationId xmlns:a16="http://schemas.microsoft.com/office/drawing/2014/main" id="{4DA6AF05-10EB-9F09-AF7F-A38C17A3EFBA}"/>
              </a:ext>
            </a:extLst>
          </p:cNvPr>
          <p:cNvSpPr>
            <a:spLocks noGrp="1"/>
          </p:cNvSpPr>
          <p:nvPr>
            <p:ph sz="quarter" idx="13"/>
          </p:nvPr>
        </p:nvSpPr>
        <p:spPr/>
        <p:txBody>
          <a:bodyPr>
            <a:normAutofit fontScale="70000" lnSpcReduction="20000"/>
          </a:bodyPr>
          <a:lstStyle/>
          <a:p>
            <a:r>
              <a:rPr lang="en-US"/>
              <a:t>Processes within a system may be independent or cooperating </a:t>
            </a:r>
          </a:p>
          <a:p>
            <a:r>
              <a:rPr lang="en-US"/>
              <a:t>Cooperating process can affect or be affected by other processes, including sharing data </a:t>
            </a:r>
          </a:p>
          <a:p>
            <a:r>
              <a:rPr lang="en-US" err="1"/>
              <a:t>Independentprocess</a:t>
            </a:r>
            <a:r>
              <a:rPr lang="en-US"/>
              <a:t> cannot affect or be affected by the execution of another process</a:t>
            </a:r>
          </a:p>
          <a:p>
            <a:r>
              <a:rPr lang="en-US"/>
              <a:t> Reasons for cooperating processes:</a:t>
            </a:r>
          </a:p>
          <a:p>
            <a:pPr lvl="1">
              <a:buFont typeface="Wingdings" panose="05000000000000000000" pitchFamily="2" charset="2"/>
              <a:buChar char="q"/>
            </a:pPr>
            <a:r>
              <a:rPr lang="en-US"/>
              <a:t> Information sharing </a:t>
            </a:r>
          </a:p>
          <a:p>
            <a:pPr lvl="1">
              <a:buFont typeface="Wingdings" panose="05000000000000000000" pitchFamily="2" charset="2"/>
              <a:buChar char="q"/>
            </a:pPr>
            <a:r>
              <a:rPr lang="en-US"/>
              <a:t>Computation speedup</a:t>
            </a:r>
          </a:p>
          <a:p>
            <a:pPr lvl="1">
              <a:buFont typeface="Wingdings" panose="05000000000000000000" pitchFamily="2" charset="2"/>
              <a:buChar char="q"/>
            </a:pPr>
            <a:r>
              <a:rPr lang="en-US"/>
              <a:t> Modularity </a:t>
            </a:r>
          </a:p>
          <a:p>
            <a:r>
              <a:rPr lang="en-US"/>
              <a:t>Cooperating processes need </a:t>
            </a:r>
            <a:r>
              <a:rPr lang="en-US" err="1"/>
              <a:t>interprocess</a:t>
            </a:r>
            <a:r>
              <a:rPr lang="en-US"/>
              <a:t> communication (IPC) </a:t>
            </a:r>
          </a:p>
          <a:p>
            <a:r>
              <a:rPr lang="en-US"/>
              <a:t>Two models of IPC </a:t>
            </a:r>
          </a:p>
          <a:p>
            <a:pPr lvl="1">
              <a:buFont typeface="Wingdings" panose="05000000000000000000" pitchFamily="2" charset="2"/>
              <a:buChar char="q"/>
            </a:pPr>
            <a:r>
              <a:rPr lang="en-US"/>
              <a:t>Shared memory</a:t>
            </a:r>
          </a:p>
          <a:p>
            <a:pPr lvl="1">
              <a:buFont typeface="Wingdings" panose="05000000000000000000" pitchFamily="2" charset="2"/>
              <a:buChar char="q"/>
            </a:pPr>
            <a:r>
              <a:rPr lang="en-US"/>
              <a:t> Message passing</a:t>
            </a:r>
          </a:p>
        </p:txBody>
      </p:sp>
      <p:sp>
        <p:nvSpPr>
          <p:cNvPr id="4" name="Date Placeholder 3">
            <a:extLst>
              <a:ext uri="{FF2B5EF4-FFF2-40B4-BE49-F238E27FC236}">
                <a16:creationId xmlns:a16="http://schemas.microsoft.com/office/drawing/2014/main" id="{3BCEEB49-6A79-63ED-6590-91E7FD980A09}"/>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9683B5EB-0E76-2AF4-6B26-5F7843CF388C}"/>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B21E81E4-882F-54BD-B919-F82681BBD789}"/>
              </a:ext>
            </a:extLst>
          </p:cNvPr>
          <p:cNvSpPr>
            <a:spLocks noGrp="1"/>
          </p:cNvSpPr>
          <p:nvPr>
            <p:ph type="sldNum" sz="quarter" idx="12"/>
          </p:nvPr>
        </p:nvSpPr>
        <p:spPr/>
        <p:txBody>
          <a:bodyPr/>
          <a:lstStyle/>
          <a:p>
            <a:fld id="{86524AF2-6675-4F0E-A4F4-CF906B52CE2C}" type="slidenum">
              <a:rPr lang="en-US" smtClean="0"/>
              <a:t>23</a:t>
            </a:fld>
            <a:endParaRPr lang="en-US"/>
          </a:p>
        </p:txBody>
      </p:sp>
    </p:spTree>
    <p:extLst>
      <p:ext uri="{BB962C8B-B14F-4D97-AF65-F5344CB8AC3E}">
        <p14:creationId xmlns:p14="http://schemas.microsoft.com/office/powerpoint/2010/main" val="1583465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C34F2-93CB-35AE-33AE-38B629506FF5}"/>
              </a:ext>
            </a:extLst>
          </p:cNvPr>
          <p:cNvSpPr>
            <a:spLocks noGrp="1"/>
          </p:cNvSpPr>
          <p:nvPr>
            <p:ph type="title"/>
          </p:nvPr>
        </p:nvSpPr>
        <p:spPr>
          <a:xfrm>
            <a:off x="913775" y="618518"/>
            <a:ext cx="10364451" cy="761104"/>
          </a:xfrm>
        </p:spPr>
        <p:txBody>
          <a:bodyPr/>
          <a:lstStyle/>
          <a:p>
            <a:r>
              <a:rPr lang="en-US" err="1"/>
              <a:t>Interprocess</a:t>
            </a:r>
            <a:r>
              <a:rPr lang="en-US"/>
              <a:t> Communication</a:t>
            </a:r>
          </a:p>
        </p:txBody>
      </p:sp>
      <p:pic>
        <p:nvPicPr>
          <p:cNvPr id="8" name="Content Placeholder 7" descr="A diagram of a process&#10;&#10;AI-generated content may be incorrect.">
            <a:extLst>
              <a:ext uri="{FF2B5EF4-FFF2-40B4-BE49-F238E27FC236}">
                <a16:creationId xmlns:a16="http://schemas.microsoft.com/office/drawing/2014/main" id="{5A492278-F998-A860-D50B-9D8960EABD14}"/>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981200" y="1594709"/>
            <a:ext cx="8229600" cy="3668581"/>
          </a:xfrm>
        </p:spPr>
      </p:pic>
      <p:sp>
        <p:nvSpPr>
          <p:cNvPr id="4" name="Date Placeholder 3">
            <a:extLst>
              <a:ext uri="{FF2B5EF4-FFF2-40B4-BE49-F238E27FC236}">
                <a16:creationId xmlns:a16="http://schemas.microsoft.com/office/drawing/2014/main" id="{B34B2370-BCFD-147E-9F96-4232B06F9347}"/>
              </a:ext>
            </a:extLst>
          </p:cNvPr>
          <p:cNvSpPr>
            <a:spLocks noGrp="1"/>
          </p:cNvSpPr>
          <p:nvPr>
            <p:ph type="dt" sz="half" idx="10"/>
          </p:nvPr>
        </p:nvSpPr>
        <p:spPr/>
        <p:txBody>
          <a:bodyPr/>
          <a:lstStyle/>
          <a:p>
            <a:fld id="{BFDA3FD1-C685-4E89-8E9A-6E47A16CED7B}" type="datetime1">
              <a:rPr lang="en-US" smtClean="0"/>
              <a:t>3/29/2026</a:t>
            </a:fld>
            <a:endParaRPr lang="en-US"/>
          </a:p>
        </p:txBody>
      </p:sp>
      <p:sp>
        <p:nvSpPr>
          <p:cNvPr id="5" name="Footer Placeholder 4">
            <a:extLst>
              <a:ext uri="{FF2B5EF4-FFF2-40B4-BE49-F238E27FC236}">
                <a16:creationId xmlns:a16="http://schemas.microsoft.com/office/drawing/2014/main" id="{B561FFC6-3B01-9E23-B76D-F25A7F279B45}"/>
              </a:ext>
            </a:extLst>
          </p:cNvPr>
          <p:cNvSpPr>
            <a:spLocks noGrp="1"/>
          </p:cNvSpPr>
          <p:nvPr>
            <p:ph type="ftr" sz="quarter" idx="11"/>
          </p:nvPr>
        </p:nvSpPr>
        <p:spPr/>
        <p:txBody>
          <a:bodyPr/>
          <a:lstStyle/>
          <a:p>
            <a:r>
              <a:rPr lang="en-US"/>
              <a:t>Operating System and System Programming</a:t>
            </a:r>
          </a:p>
        </p:txBody>
      </p:sp>
      <p:sp>
        <p:nvSpPr>
          <p:cNvPr id="6" name="Slide Number Placeholder 5">
            <a:extLst>
              <a:ext uri="{FF2B5EF4-FFF2-40B4-BE49-F238E27FC236}">
                <a16:creationId xmlns:a16="http://schemas.microsoft.com/office/drawing/2014/main" id="{B89CC910-2CFD-7647-ADB8-770C59641231}"/>
              </a:ext>
            </a:extLst>
          </p:cNvPr>
          <p:cNvSpPr>
            <a:spLocks noGrp="1"/>
          </p:cNvSpPr>
          <p:nvPr>
            <p:ph type="sldNum" sz="quarter" idx="12"/>
          </p:nvPr>
        </p:nvSpPr>
        <p:spPr/>
        <p:txBody>
          <a:bodyPr/>
          <a:lstStyle/>
          <a:p>
            <a:fld id="{86524AF2-6675-4F0E-A4F4-CF906B52CE2C}" type="slidenum">
              <a:rPr lang="en-US" smtClean="0"/>
              <a:t>24</a:t>
            </a:fld>
            <a:endParaRPr lang="en-US"/>
          </a:p>
        </p:txBody>
      </p:sp>
      <p:sp>
        <p:nvSpPr>
          <p:cNvPr id="10" name="TextBox 9">
            <a:extLst>
              <a:ext uri="{FF2B5EF4-FFF2-40B4-BE49-F238E27FC236}">
                <a16:creationId xmlns:a16="http://schemas.microsoft.com/office/drawing/2014/main" id="{6ED8F46E-BEC5-122A-BB57-334E6C57E4E5}"/>
              </a:ext>
            </a:extLst>
          </p:cNvPr>
          <p:cNvSpPr txBox="1"/>
          <p:nvPr/>
        </p:nvSpPr>
        <p:spPr>
          <a:xfrm>
            <a:off x="2807997" y="5388616"/>
            <a:ext cx="6672887" cy="369332"/>
          </a:xfrm>
          <a:prstGeom prst="rect">
            <a:avLst/>
          </a:prstGeom>
          <a:noFill/>
        </p:spPr>
        <p:txBody>
          <a:bodyPr wrap="square" rtlCol="0">
            <a:spAutoFit/>
          </a:bodyPr>
          <a:lstStyle/>
          <a:p>
            <a:r>
              <a:rPr lang="en-US"/>
              <a:t>(a) Message passing. (b) shared memory. </a:t>
            </a:r>
          </a:p>
        </p:txBody>
      </p:sp>
    </p:spTree>
    <p:extLst>
      <p:ext uri="{BB962C8B-B14F-4D97-AF65-F5344CB8AC3E}">
        <p14:creationId xmlns:p14="http://schemas.microsoft.com/office/powerpoint/2010/main" val="1127390031"/>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EC5906E9717B4F91E48CFDD44E7BA8" ma:contentTypeVersion="3" ma:contentTypeDescription="Create a new document." ma:contentTypeScope="" ma:versionID="c51fc9f3a3f63e345c5825fff0808ab3">
  <xsd:schema xmlns:xsd="http://www.w3.org/2001/XMLSchema" xmlns:xs="http://www.w3.org/2001/XMLSchema" xmlns:p="http://schemas.microsoft.com/office/2006/metadata/properties" xmlns:ns2="c7cb64d7-d7c5-40a3-b478-040b6999d832" targetNamespace="http://schemas.microsoft.com/office/2006/metadata/properties" ma:root="true" ma:fieldsID="d6c69989a4c794d3b06fee8652e84e4e" ns2:_="">
    <xsd:import namespace="c7cb64d7-d7c5-40a3-b478-040b6999d83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cb64d7-d7c5-40a3-b478-040b6999d8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F7FE22-D80B-473F-9C4D-9BA100CD8AC1}"/>
</file>

<file path=customXml/itemProps2.xml><?xml version="1.0" encoding="utf-8"?>
<ds:datastoreItem xmlns:ds="http://schemas.openxmlformats.org/officeDocument/2006/customXml" ds:itemID="{4AFCB664-E4EC-4A43-A444-A53150E4726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86934AC-558E-46C8-87BF-D8BEAF79F1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TM04033925[[fn=Droplet]]</Template>
  <Application>Microsoft Office PowerPoint</Application>
  <PresentationFormat>Widescreen</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Droplet</vt:lpstr>
      <vt:lpstr>Chapter 3: Processes</vt:lpstr>
      <vt:lpstr>Process</vt:lpstr>
      <vt:lpstr>Sections of process and Their memory location</vt:lpstr>
      <vt:lpstr>PowerPoint Presentation</vt:lpstr>
      <vt:lpstr>Process state</vt:lpstr>
      <vt:lpstr>Diagram of process state</vt:lpstr>
      <vt:lpstr>Process control block(cont’d)</vt:lpstr>
      <vt:lpstr>Process control block(cont’d)</vt:lpstr>
      <vt:lpstr>Process and thread</vt:lpstr>
      <vt:lpstr>Process and thread</vt:lpstr>
      <vt:lpstr>Process Scheduling (Cont’d)</vt:lpstr>
      <vt:lpstr>Process Scheduling (Cont’d)</vt:lpstr>
      <vt:lpstr>Process Scheduling (Cont’d)</vt:lpstr>
      <vt:lpstr>Schedulers </vt:lpstr>
      <vt:lpstr>Context switching</vt:lpstr>
      <vt:lpstr>Context switching</vt:lpstr>
      <vt:lpstr>Operations on Processes</vt:lpstr>
      <vt:lpstr>Process Creation</vt:lpstr>
      <vt:lpstr>A Tree of Processes in Linux </vt:lpstr>
      <vt:lpstr>Process Creation (Cont.)</vt:lpstr>
      <vt:lpstr>Process Termination</vt:lpstr>
      <vt:lpstr>Process Termination</vt:lpstr>
      <vt:lpstr>Interprocess Communication</vt:lpstr>
      <vt:lpstr>Interprocess Communication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CSE-5</dc:creator>
  <cp:revision>1</cp:revision>
  <dcterms:created xsi:type="dcterms:W3CDTF">2026-02-05T04:03:39Z</dcterms:created>
  <dcterms:modified xsi:type="dcterms:W3CDTF">2026-03-29T12:00:58Z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0x0101001CEC5906E9717B4F91E48CFDD44E7BA8</vt:lpwstr>
  </property>
</Properties>
</file>