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4" r:id="rId3"/>
    <p:sldId id="258" r:id="rId4"/>
    <p:sldId id="260" r:id="rId5"/>
    <p:sldId id="267" r:id="rId6"/>
    <p:sldId id="269" r:id="rId7"/>
    <p:sldId id="275" r:id="rId8"/>
    <p:sldId id="270" r:id="rId9"/>
    <p:sldId id="271" r:id="rId10"/>
    <p:sldId id="273" r:id="rId11"/>
    <p:sldId id="277" r:id="rId12"/>
    <p:sldId id="276" r:id="rId13"/>
    <p:sldId id="278" r:id="rId14"/>
    <p:sldId id="279" r:id="rId1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Discussion of CO, PO, K,P,A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1533-511C-DC3D-B276-AD467375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DC76D-65AF-528E-7B84-DB0EEA3D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FD0B9-026D-C380-DEAF-D8178298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861F-94DB-9378-4902-F16CF242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0E48046-D49F-1254-46C0-DF74D9ED7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306FD4-69B0-1767-1A8D-3C889DF1EFCB}"/>
              </a:ext>
            </a:extLst>
          </p:cNvPr>
          <p:cNvSpPr txBox="1"/>
          <p:nvPr/>
        </p:nvSpPr>
        <p:spPr>
          <a:xfrm>
            <a:off x="0" y="1042219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Overview.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Learning Outcomes (Theory).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Program Outcomes (POs).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Knowledge and Attitude Profile.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Complex Engineering Problems.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Complex Engineering Activities.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Assessment Tools (Theory).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Learning Outcomes (Lab).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Assessment Tools (Lab).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Presentation’s Evaluation. </a:t>
            </a:r>
          </a:p>
        </p:txBody>
      </p:sp>
    </p:spTree>
    <p:extLst>
      <p:ext uri="{BB962C8B-B14F-4D97-AF65-F5344CB8AC3E}">
        <p14:creationId xmlns:p14="http://schemas.microsoft.com/office/powerpoint/2010/main" val="1579686534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40C5C-BA77-B216-14B5-5E9B89630F82}"/>
              </a:ext>
            </a:extLst>
          </p:cNvPr>
          <p:cNvSpPr txBox="1"/>
          <p:nvPr/>
        </p:nvSpPr>
        <p:spPr>
          <a:xfrm>
            <a:off x="0" y="1042219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Course Title: </a:t>
            </a:r>
            <a:r>
              <a:rPr lang="en-US" sz="2800" dirty="0">
                <a:latin typeface="Cambria" panose="02040503050406030204" pitchFamily="18" charset="0"/>
              </a:rPr>
              <a:t>Microprocessor and Assembly Language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Course Code: </a:t>
            </a:r>
            <a:r>
              <a:rPr lang="en-US" sz="2800" dirty="0">
                <a:latin typeface="Cambria" panose="02040503050406030204" pitchFamily="18" charset="0"/>
              </a:rPr>
              <a:t>CSE 3205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Course Type: </a:t>
            </a:r>
            <a:r>
              <a:rPr lang="en-US" sz="2800" dirty="0">
                <a:latin typeface="Cambria" panose="02040503050406030204" pitchFamily="18" charset="0"/>
              </a:rPr>
              <a:t>Theory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Credits: </a:t>
            </a:r>
            <a:r>
              <a:rPr lang="en-US" sz="2800" dirty="0">
                <a:latin typeface="Cambria" panose="02040503050406030204" pitchFamily="18" charset="0"/>
              </a:rPr>
              <a:t>3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Prerequisite Knowledge: </a:t>
            </a:r>
            <a:r>
              <a:rPr lang="en-US" sz="2800" dirty="0">
                <a:latin typeface="Cambria" panose="02040503050406030204" pitchFamily="18" charset="0"/>
              </a:rPr>
              <a:t>Computer Architecture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Year and Semester: </a:t>
            </a:r>
            <a:r>
              <a:rPr lang="en-US" sz="2800" dirty="0">
                <a:latin typeface="Cambria" panose="02040503050406030204" pitchFamily="18" charset="0"/>
              </a:rPr>
              <a:t>3rd Year, Summer Semester, 2026</a:t>
            </a:r>
          </a:p>
        </p:txBody>
      </p:sp>
    </p:spTree>
    <p:extLst>
      <p:ext uri="{BB962C8B-B14F-4D97-AF65-F5344CB8AC3E}">
        <p14:creationId xmlns:p14="http://schemas.microsoft.com/office/powerpoint/2010/main" val="3529316330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036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Learning Outcomes (Theory) 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22A3CA-070B-788D-B1C7-81FF33435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72118"/>
              </p:ext>
            </p:extLst>
          </p:nvPr>
        </p:nvGraphicFramePr>
        <p:xfrm>
          <a:off x="574710" y="1002320"/>
          <a:ext cx="8962695" cy="354990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693424">
                  <a:extLst>
                    <a:ext uri="{9D8B030D-6E8A-4147-A177-3AD203B41FA5}">
                      <a16:colId xmlns:a16="http://schemas.microsoft.com/office/drawing/2014/main" val="3831583049"/>
                    </a:ext>
                  </a:extLst>
                </a:gridCol>
                <a:gridCol w="2378833">
                  <a:extLst>
                    <a:ext uri="{9D8B030D-6E8A-4147-A177-3AD203B41FA5}">
                      <a16:colId xmlns:a16="http://schemas.microsoft.com/office/drawing/2014/main" val="1559975318"/>
                    </a:ext>
                  </a:extLst>
                </a:gridCol>
                <a:gridCol w="1307805">
                  <a:extLst>
                    <a:ext uri="{9D8B030D-6E8A-4147-A177-3AD203B41FA5}">
                      <a16:colId xmlns:a16="http://schemas.microsoft.com/office/drawing/2014/main" val="672043808"/>
                    </a:ext>
                  </a:extLst>
                </a:gridCol>
                <a:gridCol w="446567">
                  <a:extLst>
                    <a:ext uri="{9D8B030D-6E8A-4147-A177-3AD203B41FA5}">
                      <a16:colId xmlns:a16="http://schemas.microsoft.com/office/drawing/2014/main" val="3956294477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18241845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76495764"/>
                    </a:ext>
                  </a:extLst>
                </a:gridCol>
                <a:gridCol w="446567">
                  <a:extLst>
                    <a:ext uri="{9D8B030D-6E8A-4147-A177-3AD203B41FA5}">
                      <a16:colId xmlns:a16="http://schemas.microsoft.com/office/drawing/2014/main" val="186484460"/>
                    </a:ext>
                  </a:extLst>
                </a:gridCol>
                <a:gridCol w="1661313">
                  <a:extLst>
                    <a:ext uri="{9D8B030D-6E8A-4147-A177-3AD203B41FA5}">
                      <a16:colId xmlns:a16="http://schemas.microsoft.com/office/drawing/2014/main" val="221726646"/>
                    </a:ext>
                  </a:extLst>
                </a:gridCol>
                <a:gridCol w="1135051">
                  <a:extLst>
                    <a:ext uri="{9D8B030D-6E8A-4147-A177-3AD203B41FA5}">
                      <a16:colId xmlns:a16="http://schemas.microsoft.com/office/drawing/2014/main" val="1339474060"/>
                    </a:ext>
                  </a:extLst>
                </a:gridCol>
              </a:tblGrid>
              <a:tr h="3465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COs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635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Taxonomy domain/level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WK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WP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Teaching-Learning strategy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Assessment strategy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65389"/>
                  </a:ext>
                </a:extLst>
              </a:tr>
              <a:tr h="342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53975" algn="l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Describe Intel 8086 microprocessor Organization and Instruction sets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1651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 Understand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Lecture/Slides 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Mid Term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4399760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53975" algn="l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Apply flow control, shift, and rotation instructions to develop efficient program logic.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</a:t>
                      </a:r>
                    </a:p>
                    <a:p>
                      <a:pPr marL="0" marR="0" indent="1651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Apply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Lecture/Slides 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 Test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9678431"/>
                  </a:ext>
                </a:extLst>
              </a:tr>
              <a:tr h="342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53975" algn="l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memory addressing modes for efficient data access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Apply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Lecture/Slides 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782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238433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E1686-EF76-075F-CE84-AA5012AF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1DD6D-17E0-FF1D-09BD-928177A4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2D8C2-73CA-361F-25E8-F5A181D5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C56A-E0A1-A69F-9A1E-B71E4DF5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7F9E3E0-BF95-2927-A789-4F72FC3F9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Program Outcomes (POs)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9B9FD-94A0-2B08-6342-709A44BA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3" r="1373"/>
          <a:stretch>
            <a:fillRect/>
          </a:stretch>
        </p:blipFill>
        <p:spPr>
          <a:xfrm>
            <a:off x="352475" y="1041746"/>
            <a:ext cx="9378696" cy="932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BF1749-6676-08EF-7D5D-B2666DDAA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74" y="2605253"/>
            <a:ext cx="9378697" cy="1245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8CAD4-31EE-8EFB-8A0D-9165CD217A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2" r="2156" b="3575"/>
          <a:stretch>
            <a:fillRect/>
          </a:stretch>
        </p:blipFill>
        <p:spPr>
          <a:xfrm>
            <a:off x="352474" y="4405770"/>
            <a:ext cx="9378698" cy="13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82708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8114-F860-1728-6096-A8AF8F06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3B2C7-4789-198F-7999-E58440AE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63CB7-D0FF-117D-835A-50B1FDB2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F88A-101C-7F58-CEA0-DB44E728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270D21C-9A10-4B7E-5B40-F9FA3C4B7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Knowledge and Attitude Profile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1F900A-7E66-852E-6EED-3F626DA0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7" t="11211" r="4800"/>
          <a:stretch>
            <a:fillRect/>
          </a:stretch>
        </p:blipFill>
        <p:spPr>
          <a:xfrm>
            <a:off x="478463" y="868810"/>
            <a:ext cx="9218430" cy="439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0642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08D9-C6DA-6E63-4979-3BCEE1FF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D86C3-5191-3B01-E209-19D243DB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CD4A9-7DBA-BB44-2BB6-4FD2BDE1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C094B-89D1-B2A9-EA9E-79609E83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85343F0-4F1E-AFF4-3DD2-5E9DA68A5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Knowledge and Attitude Profile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88699-2E38-E7DF-8EFF-F83DC726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8" t="1346" r="3516" b="2587"/>
          <a:stretch>
            <a:fillRect/>
          </a:stretch>
        </p:blipFill>
        <p:spPr>
          <a:xfrm>
            <a:off x="457199" y="999462"/>
            <a:ext cx="9288068" cy="34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08354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7FBD-74A0-E262-C1A7-5BCBC3CF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9712-D7ED-3D6C-7A9E-CB85D9F3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099CA-0FA4-F30E-3646-A470E661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E6B94-E065-4382-321C-24F89AC9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9063BB5-2FF1-23B8-0280-D218D7154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Complex Engineering Problems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3D7CEB-98C1-5944-7179-1A9322904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6" t="2973" r="2425"/>
          <a:stretch>
            <a:fillRect/>
          </a:stretch>
        </p:blipFill>
        <p:spPr>
          <a:xfrm>
            <a:off x="393405" y="634889"/>
            <a:ext cx="9309044" cy="561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200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80C9-AA5C-1953-EA15-066D23F7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6DEF2-95BE-61FB-8B1C-814C34BA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9CAFD-F577-36A0-0CCD-F7571595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1AF97-3D6C-2DB7-C2BE-76E716F6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F24E19B-5AD9-16D9-1C67-FA238999F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Complex Engineering Activities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57914-CD81-E908-CD90-9C20E29A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" r="4450" b="2720"/>
          <a:stretch>
            <a:fillRect/>
          </a:stretch>
        </p:blipFill>
        <p:spPr>
          <a:xfrm>
            <a:off x="414670" y="885223"/>
            <a:ext cx="9356651" cy="475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92878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CD99-9F7B-117C-F88F-55A19DA3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8A02-8C64-A46D-3A25-5662A8EFD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E25B2-0FAD-0775-E85E-378D1FDB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5293A-15E7-7458-00BD-9EA0A507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97536E2-5039-45F2-2494-AF6EEC34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Assessment Tools (Theory)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94DA4D-9FC3-707D-0B6A-F60244E4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349819"/>
              </p:ext>
            </p:extLst>
          </p:nvPr>
        </p:nvGraphicFramePr>
        <p:xfrm>
          <a:off x="591326" y="762485"/>
          <a:ext cx="9084304" cy="470611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271076">
                  <a:extLst>
                    <a:ext uri="{9D8B030D-6E8A-4147-A177-3AD203B41FA5}">
                      <a16:colId xmlns:a16="http://schemas.microsoft.com/office/drawing/2014/main" val="2309113783"/>
                    </a:ext>
                  </a:extLst>
                </a:gridCol>
                <a:gridCol w="2271076">
                  <a:extLst>
                    <a:ext uri="{9D8B030D-6E8A-4147-A177-3AD203B41FA5}">
                      <a16:colId xmlns:a16="http://schemas.microsoft.com/office/drawing/2014/main" val="3896851012"/>
                    </a:ext>
                  </a:extLst>
                </a:gridCol>
                <a:gridCol w="2271076">
                  <a:extLst>
                    <a:ext uri="{9D8B030D-6E8A-4147-A177-3AD203B41FA5}">
                      <a16:colId xmlns:a16="http://schemas.microsoft.com/office/drawing/2014/main" val="3618546176"/>
                    </a:ext>
                  </a:extLst>
                </a:gridCol>
                <a:gridCol w="2271076">
                  <a:extLst>
                    <a:ext uri="{9D8B030D-6E8A-4147-A177-3AD203B41FA5}">
                      <a16:colId xmlns:a16="http://schemas.microsoft.com/office/drawing/2014/main" val="87872480"/>
                    </a:ext>
                  </a:extLst>
                </a:gridCol>
              </a:tblGrid>
              <a:tr h="28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endParaRPr lang="en-US" sz="21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Assessment Tools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Marks (%)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6512157"/>
                  </a:ext>
                </a:extLst>
              </a:tr>
              <a:tr h="5863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Continuous Assessment (CA)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 Participation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10%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40%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1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4926308"/>
                  </a:ext>
                </a:extLst>
              </a:tr>
              <a:tr h="11922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 Test, Assignment, Project, Discussion, Presentation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30%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486097"/>
                  </a:ext>
                </a:extLst>
              </a:tr>
              <a:tr h="5863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Summative Assessment (SA)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Mid-term Examination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24%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60%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1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2865453"/>
                  </a:ext>
                </a:extLst>
              </a:tr>
              <a:tr h="28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Examination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36%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511343"/>
                  </a:ext>
                </a:extLst>
              </a:tr>
              <a:tr h="283467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</a:t>
                      </a:r>
                      <a:endParaRPr lang="en-US" sz="215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5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100%</a:t>
                      </a:r>
                      <a:endParaRPr lang="en-US" sz="21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0997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589708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AFDE-4C78-2A3C-3E11-FAA7306B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15EF7-BD66-8739-7BD8-BCE6C6F0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3022C-35C1-DC87-B0BF-F5ABC111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1DEF-8556-8516-EA0A-4895329C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E331833-BAEC-9D80-DC24-FCDEE6542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36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Learning Outcomes (Lab)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6EF273-E38F-12B9-62AB-D4B67877F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362972"/>
              </p:ext>
            </p:extLst>
          </p:nvPr>
        </p:nvGraphicFramePr>
        <p:xfrm>
          <a:off x="574711" y="940909"/>
          <a:ext cx="9047752" cy="341566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820940">
                  <a:extLst>
                    <a:ext uri="{9D8B030D-6E8A-4147-A177-3AD203B41FA5}">
                      <a16:colId xmlns:a16="http://schemas.microsoft.com/office/drawing/2014/main" val="1362952231"/>
                    </a:ext>
                  </a:extLst>
                </a:gridCol>
                <a:gridCol w="2539032">
                  <a:extLst>
                    <a:ext uri="{9D8B030D-6E8A-4147-A177-3AD203B41FA5}">
                      <a16:colId xmlns:a16="http://schemas.microsoft.com/office/drawing/2014/main" val="3980486351"/>
                    </a:ext>
                  </a:extLst>
                </a:gridCol>
                <a:gridCol w="1615512">
                  <a:extLst>
                    <a:ext uri="{9D8B030D-6E8A-4147-A177-3AD203B41FA5}">
                      <a16:colId xmlns:a16="http://schemas.microsoft.com/office/drawing/2014/main" val="3306068945"/>
                    </a:ext>
                  </a:extLst>
                </a:gridCol>
                <a:gridCol w="585998">
                  <a:extLst>
                    <a:ext uri="{9D8B030D-6E8A-4147-A177-3AD203B41FA5}">
                      <a16:colId xmlns:a16="http://schemas.microsoft.com/office/drawing/2014/main" val="3419967838"/>
                    </a:ext>
                  </a:extLst>
                </a:gridCol>
                <a:gridCol w="762145">
                  <a:extLst>
                    <a:ext uri="{9D8B030D-6E8A-4147-A177-3AD203B41FA5}">
                      <a16:colId xmlns:a16="http://schemas.microsoft.com/office/drawing/2014/main" val="1307230939"/>
                    </a:ext>
                  </a:extLst>
                </a:gridCol>
                <a:gridCol w="618881">
                  <a:extLst>
                    <a:ext uri="{9D8B030D-6E8A-4147-A177-3AD203B41FA5}">
                      <a16:colId xmlns:a16="http://schemas.microsoft.com/office/drawing/2014/main" val="3389252642"/>
                    </a:ext>
                  </a:extLst>
                </a:gridCol>
                <a:gridCol w="584790">
                  <a:extLst>
                    <a:ext uri="{9D8B030D-6E8A-4147-A177-3AD203B41FA5}">
                      <a16:colId xmlns:a16="http://schemas.microsoft.com/office/drawing/2014/main" val="2744508301"/>
                    </a:ext>
                  </a:extLst>
                </a:gridCol>
                <a:gridCol w="1520454">
                  <a:extLst>
                    <a:ext uri="{9D8B030D-6E8A-4147-A177-3AD203B41FA5}">
                      <a16:colId xmlns:a16="http://schemas.microsoft.com/office/drawing/2014/main" val="578395916"/>
                    </a:ext>
                  </a:extLst>
                </a:gridCol>
              </a:tblGrid>
              <a:tr h="342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COs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6350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Taxonomy domain/level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WK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WP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Assessment strategy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44915012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CO1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53975" algn="l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Demonstrate basic input/output operations with 8086 microprocessors.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1651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 Apply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Lab Test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0718428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CO2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53975" algn="l">
                        <a:lnSpc>
                          <a:spcPct val="1150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Solve problems using decision-making and logical operation instructions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1651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 Apply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Lab Test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entaur" panose="020305040502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55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825517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03CC-17AF-CED8-EDC0-19CD8312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67FA-8FA2-A01C-9617-82748CF2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8565-A534-D297-28EF-AF38D101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4CF68-EB26-EDC5-C9E8-1FA187AA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10CA841-E8CB-491D-A708-1A58D91FB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Assessment Tools (Lab)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8F2FCF-AA26-E13C-2B90-5D3509C3B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503775"/>
              </p:ext>
            </p:extLst>
          </p:nvPr>
        </p:nvGraphicFramePr>
        <p:xfrm>
          <a:off x="1491382" y="1102006"/>
          <a:ext cx="6695688" cy="373373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131725">
                  <a:extLst>
                    <a:ext uri="{9D8B030D-6E8A-4147-A177-3AD203B41FA5}">
                      <a16:colId xmlns:a16="http://schemas.microsoft.com/office/drawing/2014/main" val="3896851012"/>
                    </a:ext>
                  </a:extLst>
                </a:gridCol>
                <a:gridCol w="2563963">
                  <a:extLst>
                    <a:ext uri="{9D8B030D-6E8A-4147-A177-3AD203B41FA5}">
                      <a16:colId xmlns:a16="http://schemas.microsoft.com/office/drawing/2014/main" val="3618546176"/>
                    </a:ext>
                  </a:extLst>
                </a:gridCol>
              </a:tblGrid>
              <a:tr h="7400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Assessment Tools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Marks (%)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extLst>
                  <a:ext uri="{0D108BD9-81ED-4DB2-BD59-A6C34878D82A}">
                    <a16:rowId xmlns:a16="http://schemas.microsoft.com/office/drawing/2014/main" val="2326512157"/>
                  </a:ext>
                </a:extLst>
              </a:tr>
              <a:tr h="7400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 Participation</a:t>
                      </a:r>
                      <a:endParaRPr lang="en-US" sz="2800" b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10%</a:t>
                      </a:r>
                      <a:endParaRPr lang="en-US" sz="28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extLst>
                  <a:ext uri="{0D108BD9-81ED-4DB2-BD59-A6C34878D82A}">
                    <a16:rowId xmlns:a16="http://schemas.microsoft.com/office/drawing/2014/main" val="3024926308"/>
                  </a:ext>
                </a:extLst>
              </a:tr>
              <a:tr h="12097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Continuous Assessment (CA)</a:t>
                      </a:r>
                    </a:p>
                  </a:txBody>
                  <a:tcPr marL="88357" marR="883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40%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extLst>
                  <a:ext uri="{0D108BD9-81ED-4DB2-BD59-A6C34878D82A}">
                    <a16:rowId xmlns:a16="http://schemas.microsoft.com/office/drawing/2014/main" val="146486097"/>
                  </a:ext>
                </a:extLst>
              </a:tr>
              <a:tr h="5950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Lab Final 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50%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extLst>
                  <a:ext uri="{0D108BD9-81ED-4DB2-BD59-A6C34878D82A}">
                    <a16:rowId xmlns:a16="http://schemas.microsoft.com/office/drawing/2014/main" val="2042865453"/>
                  </a:ext>
                </a:extLst>
              </a:tr>
              <a:tr h="3535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</a:t>
                      </a:r>
                      <a:endParaRPr lang="en-US" sz="2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100%</a:t>
                      </a:r>
                      <a:endParaRPr lang="en-US" sz="2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357" marR="88357" marT="0" marB="0"/>
                </a:tc>
                <a:extLst>
                  <a:ext uri="{0D108BD9-81ED-4DB2-BD59-A6C34878D82A}">
                    <a16:rowId xmlns:a16="http://schemas.microsoft.com/office/drawing/2014/main" val="341551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259961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A0AA0-DA3C-CB0A-EBEA-2B55F8B2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837E8-3C2F-0756-A66C-1658BBB8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E1ADA-377C-FDE6-6FFE-1077B94B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8D0B-C9F0-DA5F-2CA5-2CC6EA4D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954E548-694A-1001-27C8-5283D625B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Presentation’s Evaluation (Mandatory)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7544E7-F51E-22BC-A05D-12104351B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5" t="25190" r="976" b="2040"/>
          <a:stretch>
            <a:fillRect/>
          </a:stretch>
        </p:blipFill>
        <p:spPr>
          <a:xfrm>
            <a:off x="421753" y="762485"/>
            <a:ext cx="9356651" cy="503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91294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804A-862C-20B4-4232-D162441C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C2E32-1395-537C-C8B3-0FF21BB5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7/14/2026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B0AF-014F-D6B9-7846-80EFFD9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CD8BD-A218-A20F-FD1F-7161931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7877252-D5E9-3F51-5BF3-2C009EA84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1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Presentation’s Evaluation (Optional)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CBF6B-A18F-B65E-73D0-041F2D8F3E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85" t="46558" r="4065" b="3072"/>
          <a:stretch>
            <a:fillRect/>
          </a:stretch>
        </p:blipFill>
        <p:spPr>
          <a:xfrm>
            <a:off x="218840" y="893137"/>
            <a:ext cx="9687159" cy="380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89000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</TotalTime>
  <Words>569</Words>
  <Application>Microsoft Office PowerPoint</Application>
  <PresentationFormat>A4 Paper (210x297 mm)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112</cp:revision>
  <dcterms:created xsi:type="dcterms:W3CDTF">2025-01-23T20:11:31Z</dcterms:created>
  <dcterms:modified xsi:type="dcterms:W3CDTF">2026-07-14T03:38:13Z</dcterms:modified>
</cp:coreProperties>
</file>