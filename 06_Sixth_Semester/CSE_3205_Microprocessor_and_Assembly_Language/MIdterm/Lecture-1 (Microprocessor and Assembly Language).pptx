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8" r:id="rId3"/>
    <p:sldId id="257" r:id="rId4"/>
    <p:sldId id="260" r:id="rId5"/>
    <p:sldId id="261" r:id="rId6"/>
    <p:sldId id="262" r:id="rId7"/>
    <p:sldId id="259" r:id="rId8"/>
    <p:sldId id="263" r:id="rId9"/>
    <p:sldId id="264" r:id="rId10"/>
    <p:sldId id="266" r:id="rId11"/>
  </p:sldIdLst>
  <p:sldSz cx="9906000" cy="6858000" type="A4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633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3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C9C90-C7B7-41AD-B1B1-5387A5B2466D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00363" y="857250"/>
            <a:ext cx="334327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2461A-9855-48E6-8F62-3A205CD09D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16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07F09-F1A6-4957-81DB-43CB0B0B4530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3765583" y="1437589"/>
            <a:ext cx="2372628" cy="3688594"/>
          </a:xfrm>
          <a:prstGeom prst="rect">
            <a:avLst/>
          </a:prstGeom>
          <a:blipFill dpi="0" rotWithShape="1">
            <a:blip r:embed="rId2">
              <a:alphaModFix amt="1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20535"/>
      </p:ext>
    </p:extLst>
  </p:cSld>
  <p:clrMapOvr>
    <a:masterClrMapping/>
  </p:clrMapOvr>
  <p:transition spd="med">
    <p:push dir="u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705CB-0645-410B-9FF6-4A47DA862B47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38751"/>
      </p:ext>
    </p:extLst>
  </p:cSld>
  <p:clrMapOvr>
    <a:masterClrMapping/>
  </p:clrMapOvr>
  <p:transition spd="med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8FBE4-A88C-43D5-AE4F-8B4E6A7E5649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72530"/>
      </p:ext>
    </p:extLst>
  </p:cSld>
  <p:clrMapOvr>
    <a:masterClrMapping/>
  </p:clrMapOvr>
  <p:transition spd="med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13FDD-450C-49DF-A9FA-2E0CD076A18C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067326"/>
      </p:ext>
    </p:extLst>
  </p:cSld>
  <p:clrMapOvr>
    <a:masterClrMapping/>
  </p:clrMapOvr>
  <p:transition spd="med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40B2C-E306-4CDA-919C-27E9ABFCB224}" type="datetime1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136709"/>
      </p:ext>
    </p:extLst>
  </p:cSld>
  <p:clrMapOvr>
    <a:masterClrMapping/>
  </p:clrMapOvr>
  <p:transition spd="med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FBFF9-BA53-4AA4-968B-FA743C6ECCE7}" type="datetime1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529"/>
      </p:ext>
    </p:extLst>
  </p:cSld>
  <p:clrMapOvr>
    <a:masterClrMapping/>
  </p:clrMapOvr>
  <p:transition spd="med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7FE-DA48-4D44-8473-96427354A43D}" type="datetime1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61422"/>
      </p:ext>
    </p:extLst>
  </p:cSld>
  <p:clrMapOvr>
    <a:masterClrMapping/>
  </p:clrMapOvr>
  <p:transition spd="med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43A33-3364-475F-98E7-007AFB73C295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836805"/>
      </p:ext>
    </p:extLst>
  </p:cSld>
  <p:clrMapOvr>
    <a:masterClrMapping/>
  </p:clrMapOvr>
  <p:transition spd="med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2F8480-48B5-47F4-B1EF-ED2EAF3D2019}" type="datetime1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99236"/>
      </p:ext>
    </p:extLst>
  </p:cSld>
  <p:clrMapOvr>
    <a:masterClrMapping/>
  </p:clrMapOvr>
  <p:transition spd="med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E1E98-4F27-46D8-B9A5-3F6C92AE46A3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216844"/>
      </p:ext>
    </p:extLst>
  </p:cSld>
  <p:clrMapOvr>
    <a:masterClrMapping/>
  </p:clrMapOvr>
  <p:transition spd="med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8DFBF-319F-4B2D-B51E-716D6479BD31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143908"/>
      </p:ext>
    </p:extLst>
  </p:cSld>
  <p:clrMapOvr>
    <a:masterClrMapping/>
  </p:clrMapOvr>
  <p:transition spd="med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EC111-EA99-4472-85A7-07A3E684B408}" type="datetime1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F5767-624D-46AC-ADD7-140D9A2A51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8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push dir="u"/>
  </p:transition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24" t="3592" r="20538" b="5226"/>
          <a:stretch/>
        </p:blipFill>
        <p:spPr>
          <a:xfrm>
            <a:off x="4461538" y="154206"/>
            <a:ext cx="1005194" cy="15577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1828800"/>
            <a:ext cx="9906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err="1">
                <a:latin typeface="Cambria" pitchFamily="18" charset="0"/>
                <a:ea typeface="Cambria" pitchFamily="18" charset="0"/>
              </a:rPr>
              <a:t>Varendra</a:t>
            </a:r>
            <a:r>
              <a:rPr lang="en-US" sz="3000" b="1" dirty="0">
                <a:latin typeface="Cambria" pitchFamily="18" charset="0"/>
                <a:ea typeface="Cambria" pitchFamily="18" charset="0"/>
              </a:rPr>
              <a:t>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38402"/>
            <a:ext cx="990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solidFill>
                  <a:srgbClr val="D5633D"/>
                </a:solidFill>
                <a:latin typeface="Cambria" pitchFamily="18" charset="0"/>
                <a:ea typeface="Cambria" pitchFamily="18" charset="0"/>
              </a:rPr>
              <a:t>Dept. of Computer Science &amp; Engineering (CSE)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3328216"/>
            <a:ext cx="990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Basic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161506"/>
            <a:ext cx="9906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Course Title: </a:t>
            </a:r>
            <a:r>
              <a:rPr lang="en-US" sz="2200" b="1" dirty="0">
                <a:solidFill>
                  <a:srgbClr val="7030A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Microprocessor and Assembly Language</a:t>
            </a:r>
          </a:p>
          <a:p>
            <a:pPr algn="ctr"/>
            <a:r>
              <a:rPr lang="en-US" sz="2200" dirty="0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Course No: </a:t>
            </a:r>
            <a:r>
              <a:rPr lang="en-US" sz="2200" b="1">
                <a:solidFill>
                  <a:srgbClr val="7030A0"/>
                </a:solidFill>
                <a:latin typeface="Cambria" pitchFamily="18" charset="0"/>
                <a:ea typeface="Cambria" pitchFamily="18" charset="0"/>
              </a:rPr>
              <a:t>CSE 3205</a:t>
            </a:r>
            <a:endParaRPr lang="en-US" sz="2200" b="1" dirty="0">
              <a:solidFill>
                <a:srgbClr val="7030A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138" y="5256703"/>
            <a:ext cx="9906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Prepared By: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Md. Adnan Sami</a:t>
            </a:r>
          </a:p>
          <a:p>
            <a:pPr algn="ctr"/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Cambria" pitchFamily="18" charset="0"/>
                <a:ea typeface="Cambria" pitchFamily="18" charset="0"/>
              </a:rPr>
              <a:t>Lecturer, Dept. of CSE, VU</a:t>
            </a:r>
            <a:endParaRPr lang="en-US" sz="22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500965"/>
      </p:ext>
    </p:extLst>
  </p:cSld>
  <p:clrMapOvr>
    <a:masterClrMapping/>
  </p:clrMapOvr>
  <p:transition spd="med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2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Reference Book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606" y="983900"/>
            <a:ext cx="3716788" cy="5278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16330"/>
      </p:ext>
    </p:extLst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3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 eaLnBrk="1" hangingPunct="1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042219"/>
            <a:ext cx="990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Component of a microcomputer system.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Why CPU is called the brain of the computer.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Operation of Control Unit.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Operation of Arithmetic Logic Unit (ALU). </a:t>
            </a:r>
          </a:p>
        </p:txBody>
      </p:sp>
    </p:spTree>
    <p:extLst>
      <p:ext uri="{BB962C8B-B14F-4D97-AF65-F5344CB8AC3E}">
        <p14:creationId xmlns:p14="http://schemas.microsoft.com/office/powerpoint/2010/main" val="479960429"/>
      </p:ext>
    </p:extLst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4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Component of a microcomputer system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1199531"/>
            <a:ext cx="9906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Three parts of computer system.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Central Processing Unit (CPU). 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Memory.</a:t>
            </a:r>
          </a:p>
          <a:p>
            <a:pPr marL="1428750" lvl="2" indent="-514350">
              <a:buAutoNum type="arabicPeriod"/>
            </a:pPr>
            <a:r>
              <a:rPr lang="en-US" sz="2800" dirty="0">
                <a:latin typeface="Cambria" panose="02040503050406030204" pitchFamily="18" charset="0"/>
              </a:rPr>
              <a:t>I/O Devices.</a:t>
            </a:r>
          </a:p>
        </p:txBody>
      </p:sp>
    </p:spTree>
    <p:extLst>
      <p:ext uri="{BB962C8B-B14F-4D97-AF65-F5344CB8AC3E}">
        <p14:creationId xmlns:p14="http://schemas.microsoft.com/office/powerpoint/2010/main" val="3765238433"/>
      </p:ext>
    </p:extLst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5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197953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Component of a microcomputer system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30E13-BC95-B28E-9BC8-B150F2EBF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12" y="1001831"/>
            <a:ext cx="7796175" cy="485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81328"/>
      </p:ext>
    </p:extLst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Component of a microcomputer system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004832"/>
            <a:ext cx="990866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Font typeface="+mj-lt"/>
              <a:buAutoNum type="arabicPeriod"/>
            </a:pPr>
            <a:r>
              <a:rPr lang="en-US" sz="2800" b="1" dirty="0">
                <a:latin typeface="Cambria" panose="02040503050406030204" pitchFamily="18" charset="0"/>
              </a:rPr>
              <a:t>Central processing unit (CPU): </a:t>
            </a:r>
            <a:r>
              <a:rPr lang="en-US" sz="2800" dirty="0">
                <a:latin typeface="Cambria" panose="02040503050406030204" pitchFamily="18" charset="0"/>
              </a:rPr>
              <a:t>It controls the operation of the computer.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>
                <a:latin typeface="Cambria" panose="02040503050406030204" pitchFamily="18" charset="0"/>
              </a:rPr>
              <a:t>Memory:</a:t>
            </a:r>
            <a:r>
              <a:rPr lang="en-US" sz="2800" dirty="0">
                <a:latin typeface="Cambria" panose="02040503050406030204" pitchFamily="18" charset="0"/>
              </a:rPr>
              <a:t> It stores data.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>
                <a:latin typeface="Cambria" panose="02040503050406030204" pitchFamily="18" charset="0"/>
              </a:rPr>
              <a:t>I/O Device: </a:t>
            </a:r>
            <a:r>
              <a:rPr lang="en-US" sz="2800" dirty="0">
                <a:latin typeface="Cambria" panose="02040503050406030204" pitchFamily="18" charset="0"/>
              </a:rPr>
              <a:t>Moves data between the computer and its external environment.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-2666" y="1178707"/>
            <a:ext cx="990866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Cambria" panose="02040503050406030204" pitchFamily="18" charset="0"/>
              </a:rPr>
              <a:t>	Working Principal:  </a:t>
            </a:r>
          </a:p>
        </p:txBody>
      </p:sp>
    </p:spTree>
    <p:extLst>
      <p:ext uri="{BB962C8B-B14F-4D97-AF65-F5344CB8AC3E}">
        <p14:creationId xmlns:p14="http://schemas.microsoft.com/office/powerpoint/2010/main" val="635795959"/>
      </p:ext>
    </p:extLst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7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Why CPU is called the brain of the computer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-2666" y="1503387"/>
            <a:ext cx="990866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latin typeface="Cambria" panose="02040503050406030204" pitchFamily="18" charset="0"/>
              </a:rPr>
              <a:t>CPU </a:t>
            </a:r>
            <a:r>
              <a:rPr lang="en-US" sz="2800" dirty="0">
                <a:latin typeface="Cambria" panose="02040503050406030204" pitchFamily="18" charset="0"/>
              </a:rPr>
              <a:t>controls the operation of the computer.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US" sz="2800" dirty="0">
                <a:latin typeface="Cambria" panose="02040503050406030204" pitchFamily="18" charset="0"/>
              </a:rPr>
              <a:t>All instructions are executed in CPU.</a:t>
            </a:r>
          </a:p>
        </p:txBody>
      </p:sp>
    </p:spTree>
    <p:extLst>
      <p:ext uri="{BB962C8B-B14F-4D97-AF65-F5344CB8AC3E}">
        <p14:creationId xmlns:p14="http://schemas.microsoft.com/office/powerpoint/2010/main" val="3183808846"/>
      </p:ext>
    </p:extLst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8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Operation or Function of Control Unit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307683"/>
            <a:ext cx="9906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AutoNum type="arabicPeriod"/>
            </a:pPr>
            <a:r>
              <a:rPr lang="en-US" sz="2800" b="1" dirty="0">
                <a:latin typeface="Cambria" panose="02040503050406030204" pitchFamily="18" charset="0"/>
              </a:rPr>
              <a:t>Fetch:</a:t>
            </a:r>
            <a:r>
              <a:rPr lang="en-US" sz="2800" dirty="0">
                <a:latin typeface="Cambria" panose="02040503050406030204" pitchFamily="18" charset="0"/>
              </a:rPr>
              <a:t> Control unit fetches instructions from memory that need to be executed.</a:t>
            </a:r>
          </a:p>
          <a:p>
            <a:pPr marL="971550" lvl="1" indent="-514350">
              <a:buAutoNum type="arabicPeriod"/>
            </a:pPr>
            <a:r>
              <a:rPr lang="en-US" sz="2800" b="1" dirty="0">
                <a:latin typeface="Cambria" panose="02040503050406030204" pitchFamily="18" charset="0"/>
              </a:rPr>
              <a:t>Decode:</a:t>
            </a:r>
            <a:r>
              <a:rPr lang="en-US" sz="2800" dirty="0">
                <a:latin typeface="Cambria" panose="02040503050406030204" pitchFamily="18" charset="0"/>
              </a:rPr>
              <a:t> After fetching, control unit decodes the instruction. Decode means understand the binary pattern.</a:t>
            </a:r>
          </a:p>
          <a:p>
            <a:pPr marL="971550" lvl="1" indent="-514350">
              <a:buAutoNum type="arabicPeriod"/>
            </a:pPr>
            <a:r>
              <a:rPr lang="en-US" sz="2800" b="1" dirty="0">
                <a:latin typeface="Cambria" panose="02040503050406030204" pitchFamily="18" charset="0"/>
              </a:rPr>
              <a:t>Execution:</a:t>
            </a:r>
            <a:r>
              <a:rPr lang="en-US" sz="2800" dirty="0">
                <a:latin typeface="Cambria" panose="02040503050406030204" pitchFamily="18" charset="0"/>
              </a:rPr>
              <a:t> After decoding, control unit executes the instruction.</a:t>
            </a:r>
          </a:p>
        </p:txBody>
      </p:sp>
    </p:spTree>
    <p:extLst>
      <p:ext uri="{BB962C8B-B14F-4D97-AF65-F5344CB8AC3E}">
        <p14:creationId xmlns:p14="http://schemas.microsoft.com/office/powerpoint/2010/main" val="1985640270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9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Operation of Arithmetic Logic Unit  (ALU)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9814" y="1434508"/>
            <a:ext cx="6680122" cy="368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117222"/>
      </p:ext>
    </p:extLst>
  </p:cSld>
  <p:clrMapOvr>
    <a:masterClrMapping/>
  </p:clrMapOvr>
  <p:transition spd="med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1C1E5-A1DB-4282-A451-5941CF833F53}" type="datetime1">
              <a:rPr lang="en-US" smtClean="0">
                <a:latin typeface="Cambria" panose="02040503050406030204" pitchFamily="18" charset="0"/>
              </a:rPr>
              <a:t>7/1/2026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Cambria" panose="02040503050406030204" pitchFamily="18" charset="0"/>
              </a:rPr>
              <a:t>Md. Adnan Sami, Dept. of CSE,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F5767-624D-46AC-ADD7-140D9A2A517A}" type="slidenum">
              <a:rPr lang="en-US" smtClean="0">
                <a:latin typeface="Cambria" panose="02040503050406030204" pitchFamily="18" charset="0"/>
              </a:rPr>
              <a:t>10</a:t>
            </a:fld>
            <a:endParaRPr lang="en-US">
              <a:latin typeface="Cambria" panose="02040503050406030204" pitchFamily="18" charset="0"/>
            </a:endParaRP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0" y="304288"/>
            <a:ext cx="9908666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/>
            <a:r>
              <a:rPr lang="en-US" altLang="en-US" sz="3200" b="1" dirty="0">
                <a:solidFill>
                  <a:schemeClr val="accent2"/>
                </a:solidFill>
                <a:latin typeface="Cambria" panose="02040503050406030204" pitchFamily="18" charset="0"/>
                <a:cs typeface="Arial" panose="020B0604020202020204" pitchFamily="34" charset="0"/>
              </a:rPr>
              <a:t>	Operation of Arithmetic Logic Unit  (ALU)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1406005"/>
            <a:ext cx="9906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lvl="1" indent="-514350">
              <a:buAutoNum type="arabicPeriod"/>
            </a:pPr>
            <a:r>
              <a:rPr lang="en-US" sz="2800" b="1" dirty="0">
                <a:latin typeface="Cambria" panose="02040503050406030204" pitchFamily="18" charset="0"/>
              </a:rPr>
              <a:t>Arithmetic Operation: </a:t>
            </a:r>
            <a:r>
              <a:rPr lang="en-US" sz="2800" dirty="0">
                <a:latin typeface="Cambria" panose="02040503050406030204" pitchFamily="18" charset="0"/>
              </a:rPr>
              <a:t>Arithmetic operation like addition, subtraction, multiplication etc. is performed. </a:t>
            </a:r>
          </a:p>
          <a:p>
            <a:pPr marL="971550" lvl="1" indent="-514350">
              <a:buAutoNum type="arabicPeriod"/>
            </a:pPr>
            <a:r>
              <a:rPr lang="en-US" sz="2800" b="1" dirty="0">
                <a:latin typeface="Cambria" panose="02040503050406030204" pitchFamily="18" charset="0"/>
              </a:rPr>
              <a:t>Logical Operation:</a:t>
            </a:r>
            <a:r>
              <a:rPr lang="en-US" sz="2800" dirty="0">
                <a:latin typeface="Cambria" panose="02040503050406030204" pitchFamily="18" charset="0"/>
              </a:rPr>
              <a:t> Logical operation like AND, OR, NOT is performed. </a:t>
            </a:r>
          </a:p>
          <a:p>
            <a:pPr marL="971550" lvl="1" indent="-514350">
              <a:buAutoNum type="arabicPeriod"/>
            </a:pPr>
            <a:r>
              <a:rPr lang="en-US" sz="2800" b="1" dirty="0">
                <a:latin typeface="Cambria" panose="02040503050406030204" pitchFamily="18" charset="0"/>
              </a:rPr>
              <a:t>Data Manipulation: </a:t>
            </a:r>
            <a:r>
              <a:rPr lang="en-US" sz="2800" dirty="0">
                <a:latin typeface="Cambria" panose="02040503050406030204" pitchFamily="18" charset="0"/>
              </a:rPr>
              <a:t>Altering or transforming data to make it more manageable and meaningful.  </a:t>
            </a:r>
          </a:p>
        </p:txBody>
      </p:sp>
    </p:spTree>
    <p:extLst>
      <p:ext uri="{BB962C8B-B14F-4D97-AF65-F5344CB8AC3E}">
        <p14:creationId xmlns:p14="http://schemas.microsoft.com/office/powerpoint/2010/main" val="14928694"/>
      </p:ext>
    </p:extLst>
  </p:cSld>
  <p:clrMapOvr>
    <a:masterClrMapping/>
  </p:clrMapOvr>
  <p:transition spd="med">
    <p:push dir="u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108</TotalTime>
  <Words>406</Words>
  <Application>Microsoft Office PowerPoint</Application>
  <PresentationFormat>A4 Paper (210x297 mm)</PresentationFormat>
  <Paragraphs>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Adnan Sami</dc:creator>
  <cp:lastModifiedBy>DFIT</cp:lastModifiedBy>
  <cp:revision>38</cp:revision>
  <dcterms:created xsi:type="dcterms:W3CDTF">2025-01-23T20:11:31Z</dcterms:created>
  <dcterms:modified xsi:type="dcterms:W3CDTF">2026-07-01T04:45:02Z</dcterms:modified>
</cp:coreProperties>
</file>