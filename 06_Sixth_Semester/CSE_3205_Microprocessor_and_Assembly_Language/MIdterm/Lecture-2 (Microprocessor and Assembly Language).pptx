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61" r:id="rId6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633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3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C9C90-C7B7-41AD-B1B1-5387A5B2466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2461A-9855-48E6-8F62-3A205CD09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1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7F09-F1A6-4957-81DB-43CB0B0B4530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3765583" y="1437589"/>
            <a:ext cx="2372628" cy="3688594"/>
          </a:xfrm>
          <a:prstGeom prst="rect">
            <a:avLst/>
          </a:prstGeom>
          <a:blipFill dpi="0" rotWithShape="1">
            <a:blip r:embed="rId2">
              <a:alphaModFix amt="1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20535"/>
      </p:ext>
    </p:extLst>
  </p:cSld>
  <p:clrMapOvr>
    <a:masterClrMapping/>
  </p:clrMapOvr>
  <p:transition spd="med">
    <p:push dir="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705CB-0645-410B-9FF6-4A47DA862B47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8751"/>
      </p:ext>
    </p:extLst>
  </p:cSld>
  <p:clrMapOvr>
    <a:masterClrMapping/>
  </p:clrMapOvr>
  <p:transition spd="med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FBE4-A88C-43D5-AE4F-8B4E6A7E5649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72530"/>
      </p:ext>
    </p:extLst>
  </p:cSld>
  <p:clrMapOvr>
    <a:masterClrMapping/>
  </p:clrMapOvr>
  <p:transition spd="med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13FDD-450C-49DF-A9FA-2E0CD076A18C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67326"/>
      </p:ext>
    </p:extLst>
  </p:cSld>
  <p:clrMapOvr>
    <a:masterClrMapping/>
  </p:clrMapOvr>
  <p:transition spd="med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40B2C-E306-4CDA-919C-27E9ABFCB224}" type="datetime1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36709"/>
      </p:ext>
    </p:extLst>
  </p:cSld>
  <p:clrMapOvr>
    <a:masterClrMapping/>
  </p:clrMapOvr>
  <p:transition spd="med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FBFF9-BA53-4AA4-968B-FA743C6ECCE7}" type="datetime1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4529"/>
      </p:ext>
    </p:extLst>
  </p:cSld>
  <p:clrMapOvr>
    <a:masterClrMapping/>
  </p:clrMapOvr>
  <p:transition spd="med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7FE-DA48-4D44-8473-96427354A43D}" type="datetime1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61422"/>
      </p:ext>
    </p:extLst>
  </p:cSld>
  <p:clrMapOvr>
    <a:masterClrMapping/>
  </p:clrMapOvr>
  <p:transition spd="med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43A33-3364-475F-98E7-007AFB73C295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36805"/>
      </p:ext>
    </p:extLst>
  </p:cSld>
  <p:clrMapOvr>
    <a:masterClrMapping/>
  </p:clrMapOvr>
  <p:transition spd="med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F8480-48B5-47F4-B1EF-ED2EAF3D2019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99236"/>
      </p:ext>
    </p:extLst>
  </p:cSld>
  <p:clrMapOvr>
    <a:masterClrMapping/>
  </p:clrMapOvr>
  <p:transition spd="med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E1E98-4F27-46D8-B9A5-3F6C92AE46A3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216844"/>
      </p:ext>
    </p:extLst>
  </p:cSld>
  <p:clrMapOvr>
    <a:masterClrMapping/>
  </p:clrMapOvr>
  <p:transition spd="med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DFBF-319F-4B2D-B51E-716D6479BD31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43908"/>
      </p:ext>
    </p:extLst>
  </p:cSld>
  <p:clrMapOvr>
    <a:masterClrMapping/>
  </p:clrMapOvr>
  <p:transition spd="med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EC111-EA99-4472-85A7-07A3E684B408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87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push dir="u"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4" t="3592" r="20538" b="5226"/>
          <a:stretch/>
        </p:blipFill>
        <p:spPr>
          <a:xfrm>
            <a:off x="4461538" y="154206"/>
            <a:ext cx="1005194" cy="15577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1828800"/>
            <a:ext cx="990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err="1">
                <a:latin typeface="Cambria" pitchFamily="18" charset="0"/>
                <a:ea typeface="Cambria" pitchFamily="18" charset="0"/>
              </a:rPr>
              <a:t>Varendra</a:t>
            </a:r>
            <a:r>
              <a:rPr lang="en-US" sz="3000" b="1" dirty="0">
                <a:latin typeface="Cambria" pitchFamily="18" charset="0"/>
                <a:ea typeface="Cambria" pitchFamily="18" charset="0"/>
              </a:rPr>
              <a:t>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438402"/>
            <a:ext cx="990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D5633D"/>
                </a:solidFill>
                <a:latin typeface="Cambria" pitchFamily="18" charset="0"/>
                <a:ea typeface="Cambria" pitchFamily="18" charset="0"/>
              </a:rPr>
              <a:t>Dept. of Computer Science &amp; Engineering (CSE)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328216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Microprocessor, Microcontroller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161506"/>
            <a:ext cx="9906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Course Title: </a:t>
            </a:r>
            <a:r>
              <a:rPr lang="en-US" sz="22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Microprocessor and Assembly Language</a:t>
            </a:r>
          </a:p>
          <a:p>
            <a:pPr algn="ctr"/>
            <a:r>
              <a:rPr lang="en-US" sz="2200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Course No: </a:t>
            </a:r>
            <a:r>
              <a:rPr lang="en-US" sz="2200" b="1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CSE 3205</a:t>
            </a:r>
            <a:endParaRPr lang="en-US" sz="2200" b="1" dirty="0">
              <a:solidFill>
                <a:srgbClr val="7030A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38" y="5256703"/>
            <a:ext cx="9906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Prepared By:</a:t>
            </a:r>
          </a:p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Md. Adnan Sami</a:t>
            </a:r>
          </a:p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Lecturer, Dept. of CSE, VU</a:t>
            </a:r>
            <a:endParaRPr lang="en-US" sz="22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500965"/>
      </p:ext>
    </p:extLst>
  </p:cSld>
  <p:clrMapOvr>
    <a:masterClrMapping/>
  </p:clrMapOvr>
  <p:transition spd="med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7/20/2026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Outline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1042219"/>
            <a:ext cx="9906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Microprocessor.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Microcontroller.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Difference between microprocessor and microcontroller</a:t>
            </a:r>
            <a:r>
              <a:rPr lang="en-US" sz="2800">
                <a:latin typeface="Cambria" panose="02040503050406030204" pitchFamily="18" charset="0"/>
              </a:rPr>
              <a:t>. </a:t>
            </a:r>
            <a:endParaRPr lang="en-US" sz="2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960429"/>
      </p:ext>
    </p:extLst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7/20/2026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Microprocessor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953731"/>
            <a:ext cx="990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Microprocessor is a processor which incorporates the functions of a CPU on a single integrated circuit (IC).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2030479"/>
            <a:ext cx="9906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latin typeface="Cambria" panose="02040503050406030204" pitchFamily="18" charset="0"/>
              </a:rPr>
              <a:t>Types of microprocessor:</a:t>
            </a:r>
          </a:p>
          <a:p>
            <a:pPr marL="1428750" lvl="2" indent="-514350"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8086</a:t>
            </a:r>
          </a:p>
          <a:p>
            <a:pPr marL="1428750" lvl="2" indent="-514350"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8085</a:t>
            </a:r>
          </a:p>
          <a:p>
            <a:pPr marL="1428750" lvl="2" indent="-514350"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8088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217960"/>
            <a:ext cx="9906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latin typeface="Cambria" panose="02040503050406030204" pitchFamily="18" charset="0"/>
              </a:rPr>
              <a:t>Application of microprocessor:</a:t>
            </a:r>
          </a:p>
          <a:p>
            <a:pPr marL="1428750" lvl="2" indent="-514350"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Personal computer.</a:t>
            </a:r>
          </a:p>
          <a:p>
            <a:pPr marL="1428750" lvl="2" indent="-514350"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Mobile device.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271" y="2177965"/>
            <a:ext cx="3954006" cy="272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316330"/>
      </p:ext>
    </p:extLst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7/20/2026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4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7312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Microcontroller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9264"/>
            <a:ext cx="990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Microcontroller is a compact integrated circuit designed to govern a specific operation in an embedded system.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627351"/>
            <a:ext cx="990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latin typeface="Cambria" panose="02040503050406030204" pitchFamily="18" charset="0"/>
              </a:rPr>
              <a:t>Embedded systems </a:t>
            </a:r>
            <a:r>
              <a:rPr lang="en-US" sz="2800" dirty="0">
                <a:latin typeface="Cambria" panose="02040503050406030204" pitchFamily="18" charset="0"/>
              </a:rPr>
              <a:t>are focused on controlling and monitoring specific functions within a device.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945540"/>
            <a:ext cx="9906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dirty="0">
                <a:latin typeface="Cambria" panose="02040503050406030204" pitchFamily="18" charset="0"/>
              </a:rPr>
              <a:t>Application of microcontroller:</a:t>
            </a:r>
          </a:p>
          <a:p>
            <a:pPr marL="1428750" lvl="2" indent="-514350"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Washing Machine.</a:t>
            </a:r>
          </a:p>
          <a:p>
            <a:pPr marL="1428750" lvl="2" indent="-514350"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Fire detection and safety device. 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297" y="2551962"/>
            <a:ext cx="3469824" cy="2456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96697" y="3972232"/>
            <a:ext cx="1877962" cy="59976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379256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7/20/2026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97816"/>
            <a:ext cx="990866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28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Difference between microprocessor and microcontroller 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06181"/>
              </p:ext>
            </p:extLst>
          </p:nvPr>
        </p:nvGraphicFramePr>
        <p:xfrm>
          <a:off x="589932" y="791162"/>
          <a:ext cx="9114506" cy="517659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4557253">
                  <a:extLst>
                    <a:ext uri="{9D8B030D-6E8A-4147-A177-3AD203B41FA5}">
                      <a16:colId xmlns:a16="http://schemas.microsoft.com/office/drawing/2014/main" val="3296563918"/>
                    </a:ext>
                  </a:extLst>
                </a:gridCol>
                <a:gridCol w="4557253">
                  <a:extLst>
                    <a:ext uri="{9D8B030D-6E8A-4147-A177-3AD203B41FA5}">
                      <a16:colId xmlns:a16="http://schemas.microsoft.com/office/drawing/2014/main" val="664831282"/>
                    </a:ext>
                  </a:extLst>
                </a:gridCol>
              </a:tblGrid>
              <a:tr h="552885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mbria" panose="02040503050406030204" pitchFamily="18" charset="0"/>
                        </a:rPr>
                        <a:t>Microprocessor</a:t>
                      </a:r>
                      <a:r>
                        <a:rPr lang="en-US" sz="2200" baseline="0" dirty="0">
                          <a:latin typeface="Cambria" panose="02040503050406030204" pitchFamily="18" charset="0"/>
                        </a:rPr>
                        <a:t> </a:t>
                      </a:r>
                      <a:endParaRPr lang="en-US" sz="22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Cambria" panose="02040503050406030204" pitchFamily="18" charset="0"/>
                        </a:rPr>
                        <a:t>Microcontroller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1376731"/>
                  </a:ext>
                </a:extLst>
              </a:tr>
              <a:tr h="552885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Cambria" panose="02040503050406030204" pitchFamily="18" charset="0"/>
                        </a:rPr>
                        <a:t>It</a:t>
                      </a:r>
                      <a:r>
                        <a:rPr lang="en-US" sz="2200" baseline="0" dirty="0">
                          <a:latin typeface="Cambria" panose="02040503050406030204" pitchFamily="18" charset="0"/>
                        </a:rPr>
                        <a:t> is used for big application.</a:t>
                      </a:r>
                      <a:endParaRPr lang="en-US" sz="22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Cambria" panose="02040503050406030204" pitchFamily="18" charset="0"/>
                        </a:rPr>
                        <a:t>It is used to</a:t>
                      </a:r>
                      <a:r>
                        <a:rPr lang="en-US" sz="2200" baseline="0" dirty="0">
                          <a:latin typeface="Cambria" panose="02040503050406030204" pitchFamily="18" charset="0"/>
                        </a:rPr>
                        <a:t> execute a single task. </a:t>
                      </a:r>
                      <a:endParaRPr lang="en-US" sz="22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684157"/>
                  </a:ext>
                </a:extLst>
              </a:tr>
              <a:tr h="552885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Cambria" panose="02040503050406030204" pitchFamily="18" charset="0"/>
                        </a:rPr>
                        <a:t>It is the heart</a:t>
                      </a:r>
                      <a:r>
                        <a:rPr lang="en-US" sz="2200" baseline="0" dirty="0">
                          <a:latin typeface="Cambria" panose="02040503050406030204" pitchFamily="18" charset="0"/>
                        </a:rPr>
                        <a:t> of computer system.</a:t>
                      </a:r>
                      <a:endParaRPr lang="en-US" sz="22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Cambria" panose="02040503050406030204" pitchFamily="18" charset="0"/>
                        </a:rPr>
                        <a:t>It is the heart of the embedded system.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0699975"/>
                  </a:ext>
                </a:extLst>
              </a:tr>
              <a:tr h="552885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Cambria" panose="02040503050406030204" pitchFamily="18" charset="0"/>
                        </a:rPr>
                        <a:t>It is just</a:t>
                      </a:r>
                      <a:r>
                        <a:rPr lang="en-US" sz="2200" baseline="0" dirty="0">
                          <a:latin typeface="Cambria" panose="02040503050406030204" pitchFamily="18" charset="0"/>
                        </a:rPr>
                        <a:t> a processor. Memory and I/O components have to be connected externally. </a:t>
                      </a:r>
                      <a:endParaRPr lang="en-US" sz="22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Cambria" panose="02040503050406030204" pitchFamily="18" charset="0"/>
                        </a:rPr>
                        <a:t>It contains external processor along with internal</a:t>
                      </a:r>
                      <a:r>
                        <a:rPr lang="en-US" sz="2200" baseline="0" dirty="0">
                          <a:latin typeface="Cambria" panose="02040503050406030204" pitchFamily="18" charset="0"/>
                        </a:rPr>
                        <a:t> memory and I/O components. </a:t>
                      </a:r>
                      <a:endParaRPr lang="en-US" sz="22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319801"/>
                  </a:ext>
                </a:extLst>
              </a:tr>
              <a:tr h="552885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Cambria" panose="02040503050406030204" pitchFamily="18" charset="0"/>
                        </a:rPr>
                        <a:t>Power consumption is high.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Cambria" panose="02040503050406030204" pitchFamily="18" charset="0"/>
                        </a:rPr>
                        <a:t>Power consumption is low.</a:t>
                      </a:r>
                      <a:r>
                        <a:rPr lang="en-US" sz="2200" baseline="0" dirty="0">
                          <a:latin typeface="Cambria" panose="02040503050406030204" pitchFamily="18" charset="0"/>
                        </a:rPr>
                        <a:t> </a:t>
                      </a:r>
                      <a:endParaRPr lang="en-US" sz="22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2904036"/>
                  </a:ext>
                </a:extLst>
              </a:tr>
              <a:tr h="552885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Cambria" panose="02040503050406030204" pitchFamily="18" charset="0"/>
                        </a:rPr>
                        <a:t>Cost is more.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latin typeface="Cambria" panose="02040503050406030204" pitchFamily="18" charset="0"/>
                        </a:rPr>
                        <a:t>Cost is</a:t>
                      </a:r>
                      <a:r>
                        <a:rPr lang="en-US" sz="2200" baseline="0" dirty="0">
                          <a:latin typeface="Cambria" panose="02040503050406030204" pitchFamily="18" charset="0"/>
                        </a:rPr>
                        <a:t> less. </a:t>
                      </a:r>
                      <a:endParaRPr lang="en-US" sz="22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981069"/>
                  </a:ext>
                </a:extLst>
              </a:tr>
              <a:tr h="552885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Cambria" panose="02040503050406030204" pitchFamily="18" charset="0"/>
                        </a:rPr>
                        <a:t>Difficult to</a:t>
                      </a:r>
                      <a:r>
                        <a:rPr lang="en-US" sz="2200" baseline="0" dirty="0">
                          <a:latin typeface="Cambria" panose="02040503050406030204" pitchFamily="18" charset="0"/>
                        </a:rPr>
                        <a:t> replace. </a:t>
                      </a:r>
                      <a:endParaRPr lang="en-US" sz="22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Cambria" panose="02040503050406030204" pitchFamily="18" charset="0"/>
                        </a:rPr>
                        <a:t>Easy to replace.</a:t>
                      </a:r>
                      <a:r>
                        <a:rPr lang="en-US" sz="2200" baseline="0" dirty="0">
                          <a:latin typeface="Cambria" panose="02040503050406030204" pitchFamily="18" charset="0"/>
                        </a:rPr>
                        <a:t> </a:t>
                      </a:r>
                      <a:endParaRPr lang="en-US" sz="22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2772384"/>
                  </a:ext>
                </a:extLst>
              </a:tr>
              <a:tr h="552885"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Cambria" panose="02040503050406030204" pitchFamily="18" charset="0"/>
                        </a:rPr>
                        <a:t>Application</a:t>
                      </a:r>
                      <a:r>
                        <a:rPr lang="en-US" sz="2200" baseline="0" dirty="0">
                          <a:latin typeface="Cambria" panose="02040503050406030204" pitchFamily="18" charset="0"/>
                        </a:rPr>
                        <a:t>: Personal computer. </a:t>
                      </a:r>
                      <a:endParaRPr lang="en-US" sz="22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Cambria" panose="02040503050406030204" pitchFamily="18" charset="0"/>
                        </a:rPr>
                        <a:t>Application:</a:t>
                      </a:r>
                      <a:r>
                        <a:rPr lang="en-US" sz="2200" baseline="0" dirty="0">
                          <a:latin typeface="Cambria" panose="02040503050406030204" pitchFamily="18" charset="0"/>
                        </a:rPr>
                        <a:t> Washing machine. </a:t>
                      </a:r>
                      <a:endParaRPr lang="en-US" sz="22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32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579739"/>
      </p:ext>
    </p:extLst>
  </p:cSld>
  <p:clrMapOvr>
    <a:masterClrMapping/>
  </p:clrMapOvr>
  <p:transition spd="med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865</TotalTime>
  <Words>299</Words>
  <Application>Microsoft Office PowerPoint</Application>
  <PresentationFormat>A4 Paper (210x297 mm)</PresentationFormat>
  <Paragraphs>56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Adnan Sami</dc:creator>
  <cp:lastModifiedBy>DFIT</cp:lastModifiedBy>
  <cp:revision>96</cp:revision>
  <dcterms:created xsi:type="dcterms:W3CDTF">2025-01-23T20:11:31Z</dcterms:created>
  <dcterms:modified xsi:type="dcterms:W3CDTF">2026-07-20T04:04:00Z</dcterms:modified>
</cp:coreProperties>
</file>