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60" r:id="rId10"/>
    <p:sldId id="276" r:id="rId11"/>
    <p:sldId id="274" r:id="rId12"/>
    <p:sldId id="275" r:id="rId13"/>
    <p:sldId id="277" r:id="rId14"/>
    <p:sldId id="278" r:id="rId15"/>
    <p:sldId id="279" r:id="rId16"/>
    <p:sldId id="280" r:id="rId17"/>
    <p:sldId id="281" r:id="rId18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40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0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43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49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86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13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1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Microprocessor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3205</a:t>
            </a:r>
            <a:endParaRPr lang="en-US" sz="2200" b="1" dirty="0">
              <a:solidFill>
                <a:srgbClr val="7030A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042219"/>
            <a:ext cx="990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Generation of Microprocessor.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8080/8085 Microprocessor.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8086 Microprocessor.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Difference between 8085 and 8086 Microprocessor.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Pipelining.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What is 16-bit processor?</a:t>
            </a:r>
          </a:p>
        </p:txBody>
      </p:sp>
    </p:spTree>
    <p:extLst>
      <p:ext uri="{BB962C8B-B14F-4D97-AF65-F5344CB8AC3E}">
        <p14:creationId xmlns:p14="http://schemas.microsoft.com/office/powerpoint/2010/main" val="479960429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Generation of Microprocessor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076747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First Generation (Between 1971 – 1973)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PMOS technology.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4 bit processors (16 pins).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8 and 16  bit processors (40 pins).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Second Generation (During 1973)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NMOS technology.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Faster speed, Higher density.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4 / 8/ 16 bit processors (40 pins).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mbria" panose="02040503050406030204" pitchFamily="18" charset="0"/>
              </a:rPr>
              <a:t>Intel 8085 (8 bit processor).</a:t>
            </a:r>
          </a:p>
        </p:txBody>
      </p:sp>
    </p:spTree>
    <p:extLst>
      <p:ext uri="{BB962C8B-B14F-4D97-AF65-F5344CB8AC3E}">
        <p14:creationId xmlns:p14="http://schemas.microsoft.com/office/powerpoint/2010/main" val="3529316330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Generation of Microprocessor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047257"/>
            <a:ext cx="9906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Third Generation (During 1978)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HMOS technology.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Faster speed, Higher packing density.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16 bit processors (40/ 48/ 64 pins)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Easier to program.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Dynamically  relatable programs.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Intel 8086 (16 bit processor).</a:t>
            </a:r>
          </a:p>
        </p:txBody>
      </p:sp>
    </p:spTree>
    <p:extLst>
      <p:ext uri="{BB962C8B-B14F-4D97-AF65-F5344CB8AC3E}">
        <p14:creationId xmlns:p14="http://schemas.microsoft.com/office/powerpoint/2010/main" val="1256288382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Generation of Microprocessor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047257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Fourth Generation (During 1980)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HCMOS technology.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32 bit processors.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Physical memory space 224 bytes = 16 Mb.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Virtual memory space 240 bytes = 1 Tb.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Intel 80386.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Fifth Generation 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Pentium.</a:t>
            </a:r>
          </a:p>
        </p:txBody>
      </p:sp>
    </p:spTree>
    <p:extLst>
      <p:ext uri="{BB962C8B-B14F-4D97-AF65-F5344CB8AC3E}">
        <p14:creationId xmlns:p14="http://schemas.microsoft.com/office/powerpoint/2010/main" val="1769882725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Generation of Microprocessor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1213" y="778672"/>
            <a:ext cx="499478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Pentium II (1997)		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32 bit microprocessor.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64 bit data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36 bit address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64 GB main memory.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Starts at 266 </a:t>
            </a:r>
            <a:r>
              <a:rPr lang="en-US" sz="2800" dirty="0" err="1">
                <a:latin typeface="Cambria" panose="02040503050406030204" pitchFamily="18" charset="0"/>
              </a:rPr>
              <a:t>MHz.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Pentium III (1999)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32 bit microprocessor.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64 bit data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36 bit address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64 GB main memory.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Starts at 450 </a:t>
            </a:r>
            <a:r>
              <a:rPr lang="en-US" sz="2800" dirty="0" err="1">
                <a:latin typeface="Cambria" panose="02040503050406030204" pitchFamily="18" charset="0"/>
              </a:rPr>
              <a:t>MHz.</a:t>
            </a:r>
            <a:endParaRPr lang="en-US" sz="2800" dirty="0">
              <a:latin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" y="894857"/>
            <a:ext cx="514718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Pentium (1993)		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32 bit microprocessor.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64 bit data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32 bit address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4 GB main memory.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60,66,90 </a:t>
            </a:r>
            <a:r>
              <a:rPr lang="en-US" sz="2800" dirty="0" err="1">
                <a:latin typeface="Cambria" panose="02040503050406030204" pitchFamily="18" charset="0"/>
              </a:rPr>
              <a:t>MHz.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Pentium Pro (1993)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32 bit microprocessor.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64 bit data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36 bit address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64 GB main memory.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Starts at 150 </a:t>
            </a:r>
            <a:r>
              <a:rPr lang="en-US" sz="2800" dirty="0" err="1">
                <a:latin typeface="Cambria" panose="02040503050406030204" pitchFamily="18" charset="0"/>
              </a:rPr>
              <a:t>MHz.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147187" y="800575"/>
            <a:ext cx="0" cy="55557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79635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1580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Generation of Microprocessor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894857"/>
            <a:ext cx="99010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Pentium IV (2002)		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32 bit microprocessor.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64 bit data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32 bit address bus.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4 GB main memory.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Starts at 1.4 GHz. </a:t>
            </a:r>
          </a:p>
        </p:txBody>
      </p:sp>
    </p:spTree>
    <p:extLst>
      <p:ext uri="{BB962C8B-B14F-4D97-AF65-F5344CB8AC3E}">
        <p14:creationId xmlns:p14="http://schemas.microsoft.com/office/powerpoint/2010/main" val="765249382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66640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Generation of Microprocessor 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/>
          <a:srcRect t="49398"/>
          <a:stretch>
            <a:fillRect/>
          </a:stretch>
        </p:blipFill>
        <p:spPr bwMode="auto">
          <a:xfrm>
            <a:off x="844632" y="715296"/>
            <a:ext cx="7461168" cy="5638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6910222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8080/8085 Microprocessor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4410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8 bit microprocessor.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Developed by INTEL in the mid 1970.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NMOS technology. 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Address bus 16 bit. </a:t>
                </a:r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 = 65,536 byte or 64 KB)</a:t>
                </a:r>
              </a:p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 panose="02040503050406030204" pitchFamily="18" charset="0"/>
                  </a:rPr>
                  <a:t>							  </a:t>
                </a:r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sz="2800" b="1">
                    <a:solidFill>
                      <a:srgbClr val="7030A0"/>
                    </a:solidFill>
                    <a:latin typeface="Cambria" panose="02040503050406030204" pitchFamily="18" charset="0"/>
                  </a:rPr>
                  <a:t>[</a:t>
                </a:r>
                <a:r>
                  <a:rPr lang="en-US" sz="28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65,536/1024 = 64]</a:t>
                </a:r>
                <a:endParaRPr lang="en-US" sz="2800" dirty="0">
                  <a:latin typeface="Cambria" panose="02040503050406030204" pitchFamily="18" charset="0"/>
                </a:endParaRP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Data bus 8 bit. 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Non-pipelined processor</a:t>
                </a:r>
                <a:r>
                  <a:rPr lang="en-US" sz="2800" dirty="0">
                    <a:latin typeface="Cambria" panose="02040503050406030204" pitchFamily="18" charset="0"/>
                  </a:rPr>
                  <a:t>. 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It has 3 available clock speeds (3 MHz, 5 MHz, and 6 MHz).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8085 has memory capacity of 64 KB.</a:t>
                </a:r>
              </a:p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>
                    <a:latin typeface="Cambria" panose="02040503050406030204" pitchFamily="18" charset="0"/>
                  </a:rPr>
                  <a:t>It does not have an instruction queue.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4410951"/>
              </a:xfrm>
              <a:prstGeom prst="rect">
                <a:avLst/>
              </a:prstGeom>
              <a:blipFill>
                <a:blip r:embed="rId3"/>
                <a:stretch>
                  <a:fillRect t="-1381" r="-1108" b="-2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379256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8080/8085 Microprocessor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Pin diagram of 8085 microprocessor.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888" y="1358956"/>
            <a:ext cx="4140071" cy="487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99479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8080/8085 Microprocessor 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19" y="821897"/>
            <a:ext cx="8938517" cy="542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96194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8086 Microprocessor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727584"/>
                <a:ext cx="9906000" cy="5503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16 bit microprocessor.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Developed by INTEL in the year 1978.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Originally HMOS, now manufactured using HMOS III technique.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Approximately 29, 000 transistors and 40 pin. 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5V supply.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33% duty cycle.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Address bus 20 bit. </a:t>
                </a:r>
                <a:r>
                  <a:rPr lang="en-US" sz="27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7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sup>
                    </m:sSup>
                  </m:oMath>
                </a14:m>
                <a:r>
                  <a:rPr lang="en-US" sz="2700" b="1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 = 1 MB)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Data bus 16 bit. 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Pipelined processor</a:t>
                </a:r>
                <a:r>
                  <a:rPr lang="en-US" sz="2700" dirty="0">
                    <a:latin typeface="Cambria" panose="02040503050406030204" pitchFamily="18" charset="0"/>
                  </a:rPr>
                  <a:t>. 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It has 3 available clock speeds (5 MHz, 8 MHz and 10 MHz).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8086 has memory capacity of 1 MB.</a:t>
                </a:r>
              </a:p>
              <a:p>
                <a:pPr marL="971550" lvl="1" indent="-514350">
                  <a:buFont typeface="Wingdings" panose="05000000000000000000" pitchFamily="2" charset="2"/>
                  <a:buChar char="Ø"/>
                </a:pPr>
                <a:r>
                  <a:rPr lang="en-US" sz="2700" dirty="0">
                    <a:latin typeface="Cambria" panose="02040503050406030204" pitchFamily="18" charset="0"/>
                  </a:rPr>
                  <a:t>It has 6 byte instruction queue.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7584"/>
                <a:ext cx="9906000" cy="5503238"/>
              </a:xfrm>
              <a:prstGeom prst="rect">
                <a:avLst/>
              </a:prstGeom>
              <a:blipFill>
                <a:blip r:embed="rId2"/>
                <a:stretch>
                  <a:fillRect t="-997" b="-1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586959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 8086 Microprocessor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Pin diagram of 8086 microprocessor.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981" y="1358956"/>
            <a:ext cx="3830928" cy="49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66358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274792"/>
            <a:ext cx="990866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0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 Difference between 8085 and 8086 Microprocessor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899672"/>
              </p:ext>
            </p:extLst>
          </p:nvPr>
        </p:nvGraphicFramePr>
        <p:xfrm>
          <a:off x="598948" y="1011939"/>
          <a:ext cx="8997336" cy="3627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98668">
                  <a:extLst>
                    <a:ext uri="{9D8B030D-6E8A-4147-A177-3AD203B41FA5}">
                      <a16:colId xmlns:a16="http://schemas.microsoft.com/office/drawing/2014/main" val="166119356"/>
                    </a:ext>
                  </a:extLst>
                </a:gridCol>
                <a:gridCol w="4498668">
                  <a:extLst>
                    <a:ext uri="{9D8B030D-6E8A-4147-A177-3AD203B41FA5}">
                      <a16:colId xmlns:a16="http://schemas.microsoft.com/office/drawing/2014/main" val="1425808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</a:rPr>
                        <a:t>8085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</a:rPr>
                        <a:t>8086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07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</a:rPr>
                        <a:t>8 bit microprocessor</a:t>
                      </a:r>
                      <a:r>
                        <a:rPr lang="en-US" sz="2800" baseline="0" dirty="0">
                          <a:latin typeface="Cambria" panose="02040503050406030204" pitchFamily="18" charset="0"/>
                        </a:rPr>
                        <a:t>. </a:t>
                      </a:r>
                      <a:endParaRPr lang="en-US" sz="28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16 bit microprocessor</a:t>
                      </a:r>
                      <a:r>
                        <a:rPr lang="en-US" sz="2800" baseline="0" dirty="0">
                          <a:latin typeface="Cambria" panose="02040503050406030204" pitchFamily="18" charset="0"/>
                        </a:rPr>
                        <a:t>. </a:t>
                      </a:r>
                      <a:endParaRPr lang="en-US" sz="28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703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</a:rPr>
                        <a:t>Address bus 16 bit.</a:t>
                      </a:r>
                      <a:r>
                        <a:rPr lang="en-US" sz="2800" baseline="0" dirty="0">
                          <a:latin typeface="Cambria" panose="02040503050406030204" pitchFamily="18" charset="0"/>
                        </a:rPr>
                        <a:t> </a:t>
                      </a:r>
                      <a:endParaRPr lang="en-US" sz="28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Address bus 20 bit.</a:t>
                      </a:r>
                      <a:r>
                        <a:rPr lang="en-US" sz="2800" baseline="0" dirty="0">
                          <a:latin typeface="Cambria" panose="02040503050406030204" pitchFamily="18" charset="0"/>
                        </a:rPr>
                        <a:t> </a:t>
                      </a:r>
                      <a:endParaRPr lang="en-US" sz="28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65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</a:rPr>
                        <a:t>Data bus 8 bit.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</a:rPr>
                        <a:t>Data bus 16 bit.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851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</a:rPr>
                        <a:t>Non-pipelined</a:t>
                      </a:r>
                      <a:r>
                        <a:rPr lang="en-US" sz="2800" baseline="0" dirty="0">
                          <a:latin typeface="Cambria" panose="02040503050406030204" pitchFamily="18" charset="0"/>
                        </a:rPr>
                        <a:t> processor. </a:t>
                      </a:r>
                      <a:endParaRPr lang="en-US" sz="28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</a:rPr>
                        <a:t>Pipelined processor.</a:t>
                      </a:r>
                      <a:r>
                        <a:rPr lang="en-US" sz="2800" baseline="0" dirty="0">
                          <a:latin typeface="Cambria" panose="02040503050406030204" pitchFamily="18" charset="0"/>
                        </a:rPr>
                        <a:t> </a:t>
                      </a:r>
                      <a:endParaRPr lang="en-US" sz="28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5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Memory capacity 64 KB.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Memory capacity 1 MB.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950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</a:rPr>
                        <a:t>NMOS technology.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mbria" panose="02040503050406030204" pitchFamily="18" charset="0"/>
                        </a:rPr>
                        <a:t>HMOS III technology</a:t>
                      </a:r>
                      <a:r>
                        <a:rPr lang="en-US" sz="2800" baseline="0" dirty="0">
                          <a:latin typeface="Cambria" panose="02040503050406030204" pitchFamily="18" charset="0"/>
                        </a:rPr>
                        <a:t>. </a:t>
                      </a:r>
                      <a:endParaRPr lang="en-US" sz="28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43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145788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Pipelining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 process of fetching the next instruction when the present instruction is being executed is called as pipelining.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775942"/>
              </p:ext>
            </p:extLst>
          </p:nvPr>
        </p:nvGraphicFramePr>
        <p:xfrm>
          <a:off x="550606" y="2651240"/>
          <a:ext cx="9134169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6350">
                  <a:extLst>
                    <a:ext uri="{9D8B030D-6E8A-4147-A177-3AD203B41FA5}">
                      <a16:colId xmlns:a16="http://schemas.microsoft.com/office/drawing/2014/main" val="3588313220"/>
                    </a:ext>
                  </a:extLst>
                </a:gridCol>
                <a:gridCol w="1691148">
                  <a:extLst>
                    <a:ext uri="{9D8B030D-6E8A-4147-A177-3AD203B41FA5}">
                      <a16:colId xmlns:a16="http://schemas.microsoft.com/office/drawing/2014/main" val="1166766875"/>
                    </a:ext>
                  </a:extLst>
                </a:gridCol>
                <a:gridCol w="1307691">
                  <a:extLst>
                    <a:ext uri="{9D8B030D-6E8A-4147-A177-3AD203B41FA5}">
                      <a16:colId xmlns:a16="http://schemas.microsoft.com/office/drawing/2014/main" val="983105513"/>
                    </a:ext>
                  </a:extLst>
                </a:gridCol>
                <a:gridCol w="1661651">
                  <a:extLst>
                    <a:ext uri="{9D8B030D-6E8A-4147-A177-3AD203B41FA5}">
                      <a16:colId xmlns:a16="http://schemas.microsoft.com/office/drawing/2014/main" val="943924235"/>
                    </a:ext>
                  </a:extLst>
                </a:gridCol>
                <a:gridCol w="1317523">
                  <a:extLst>
                    <a:ext uri="{9D8B030D-6E8A-4147-A177-3AD203B41FA5}">
                      <a16:colId xmlns:a16="http://schemas.microsoft.com/office/drawing/2014/main" val="1445994461"/>
                    </a:ext>
                  </a:extLst>
                </a:gridCol>
                <a:gridCol w="1769806">
                  <a:extLst>
                    <a:ext uri="{9D8B030D-6E8A-4147-A177-3AD203B41FA5}">
                      <a16:colId xmlns:a16="http://schemas.microsoft.com/office/drawing/2014/main" val="3331052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</a:rPr>
                        <a:t>Fetch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</a:rPr>
                        <a:t>Execute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</a:rPr>
                        <a:t>Fetch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Execute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Fetch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Execute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03661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2024917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Non-pipelined: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460449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Pipelined: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041774"/>
              </p:ext>
            </p:extLst>
          </p:nvPr>
        </p:nvGraphicFramePr>
        <p:xfrm>
          <a:off x="550606" y="4015638"/>
          <a:ext cx="314632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056300520"/>
                    </a:ext>
                  </a:extLst>
                </a:gridCol>
                <a:gridCol w="1749323">
                  <a:extLst>
                    <a:ext uri="{9D8B030D-6E8A-4147-A177-3AD203B41FA5}">
                      <a16:colId xmlns:a16="http://schemas.microsoft.com/office/drawing/2014/main" val="3117514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Fetch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Execute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95712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796052"/>
              </p:ext>
            </p:extLst>
          </p:nvPr>
        </p:nvGraphicFramePr>
        <p:xfrm>
          <a:off x="1941871" y="4524455"/>
          <a:ext cx="35052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5226">
                  <a:extLst>
                    <a:ext uri="{9D8B030D-6E8A-4147-A177-3AD203B41FA5}">
                      <a16:colId xmlns:a16="http://schemas.microsoft.com/office/drawing/2014/main" val="1056300520"/>
                    </a:ext>
                  </a:extLst>
                </a:gridCol>
                <a:gridCol w="1759974">
                  <a:extLst>
                    <a:ext uri="{9D8B030D-6E8A-4147-A177-3AD203B41FA5}">
                      <a16:colId xmlns:a16="http://schemas.microsoft.com/office/drawing/2014/main" val="3117514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Fetch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Execute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95712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40764"/>
              </p:ext>
            </p:extLst>
          </p:nvPr>
        </p:nvGraphicFramePr>
        <p:xfrm>
          <a:off x="3684639" y="5054920"/>
          <a:ext cx="3522406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056300520"/>
                    </a:ext>
                  </a:extLst>
                </a:gridCol>
                <a:gridCol w="1769806">
                  <a:extLst>
                    <a:ext uri="{9D8B030D-6E8A-4147-A177-3AD203B41FA5}">
                      <a16:colId xmlns:a16="http://schemas.microsoft.com/office/drawing/2014/main" val="3117514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Fetch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ambria" panose="02040503050406030204" pitchFamily="18" charset="0"/>
                        </a:rPr>
                        <a:t>Execute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957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222468"/>
      </p:ext>
    </p:extLst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Pipelining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94728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Advantage of pipelining: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Requires less time.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Speed fast.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Efficiency is more.</a:t>
            </a:r>
          </a:p>
        </p:txBody>
      </p:sp>
    </p:spTree>
    <p:extLst>
      <p:ext uri="{BB962C8B-B14F-4D97-AF65-F5344CB8AC3E}">
        <p14:creationId xmlns:p14="http://schemas.microsoft.com/office/powerpoint/2010/main" val="3033565194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What is 16-bit processor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94728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A processor that can process 16-bit data at a time is called a 16-bit processor.</a:t>
            </a:r>
          </a:p>
        </p:txBody>
      </p:sp>
    </p:spTree>
    <p:extLst>
      <p:ext uri="{BB962C8B-B14F-4D97-AF65-F5344CB8AC3E}">
        <p14:creationId xmlns:p14="http://schemas.microsoft.com/office/powerpoint/2010/main" val="2987892330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2241</TotalTime>
  <Words>941</Words>
  <Application>Microsoft Office PowerPoint</Application>
  <PresentationFormat>A4 Paper (210x297 mm)</PresentationFormat>
  <Paragraphs>201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200</cp:revision>
  <dcterms:created xsi:type="dcterms:W3CDTF">2025-01-23T20:11:31Z</dcterms:created>
  <dcterms:modified xsi:type="dcterms:W3CDTF">2026-07-22T03:37:46Z</dcterms:modified>
</cp:coreProperties>
</file>