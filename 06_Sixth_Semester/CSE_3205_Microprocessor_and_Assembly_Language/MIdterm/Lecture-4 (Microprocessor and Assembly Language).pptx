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58" r:id="rId4"/>
    <p:sldId id="269" r:id="rId5"/>
    <p:sldId id="281" r:id="rId6"/>
    <p:sldId id="259" r:id="rId7"/>
    <p:sldId id="270"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6" r:id="rId21"/>
  </p:sldIdLst>
  <p:sldSz cx="9906000" cy="6858000" type="A4"/>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633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31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B00C9C90-C7B7-41AD-B1B1-5387A5B2466D}" type="datetimeFigureOut">
              <a:rPr lang="en-US" smtClean="0"/>
              <a:t>7/26/2026</a:t>
            </a:fld>
            <a:endParaRPr lang="en-US"/>
          </a:p>
        </p:txBody>
      </p:sp>
      <p:sp>
        <p:nvSpPr>
          <p:cNvPr id="4" name="Slide Image Placeholder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ABE2461A-9855-48E6-8F62-3A205CD09D93}" type="slidenum">
              <a:rPr lang="en-US" smtClean="0"/>
              <a:t>‹#›</a:t>
            </a:fld>
            <a:endParaRPr lang="en-US"/>
          </a:p>
        </p:txBody>
      </p:sp>
    </p:spTree>
    <p:extLst>
      <p:ext uri="{BB962C8B-B14F-4D97-AF65-F5344CB8AC3E}">
        <p14:creationId xmlns:p14="http://schemas.microsoft.com/office/powerpoint/2010/main" val="535616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E2461A-9855-48E6-8F62-3A205CD09D93}" type="slidenum">
              <a:rPr lang="en-US" smtClean="0"/>
              <a:t>3</a:t>
            </a:fld>
            <a:endParaRPr lang="en-US"/>
          </a:p>
        </p:txBody>
      </p:sp>
    </p:spTree>
    <p:extLst>
      <p:ext uri="{BB962C8B-B14F-4D97-AF65-F5344CB8AC3E}">
        <p14:creationId xmlns:p14="http://schemas.microsoft.com/office/powerpoint/2010/main" val="352031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3807F09-F1A6-4957-81DB-43CB0B0B4530}" type="datetime1">
              <a:rPr lang="en-US" smtClean="0"/>
              <a:t>7/26/2026</a:t>
            </a:fld>
            <a:endParaRPr lang="en-US"/>
          </a:p>
        </p:txBody>
      </p:sp>
      <p:sp>
        <p:nvSpPr>
          <p:cNvPr id="5" name="Footer Placeholder 4"/>
          <p:cNvSpPr>
            <a:spLocks noGrp="1"/>
          </p:cNvSpPr>
          <p:nvPr>
            <p:ph type="ftr" sz="quarter" idx="11"/>
          </p:nvPr>
        </p:nvSpPr>
        <p:spPr/>
        <p:txBody>
          <a:bodyPr/>
          <a:lstStyle/>
          <a:p>
            <a:r>
              <a:rPr lang="en-US"/>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t>‹#›</a:t>
            </a:fld>
            <a:endParaRPr lang="en-US"/>
          </a:p>
        </p:txBody>
      </p:sp>
      <p:sp>
        <p:nvSpPr>
          <p:cNvPr id="8" name="Rectangle 7"/>
          <p:cNvSpPr/>
          <p:nvPr userDrawn="1"/>
        </p:nvSpPr>
        <p:spPr>
          <a:xfrm>
            <a:off x="3765583" y="1437589"/>
            <a:ext cx="2372628" cy="3688594"/>
          </a:xfrm>
          <a:prstGeom prst="rect">
            <a:avLst/>
          </a:prstGeom>
          <a:blipFill dpi="0" rotWithShape="1">
            <a:blip r:embed="rId2">
              <a:alphaModFix amt="18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8420535"/>
      </p:ext>
    </p:extLst>
  </p:cSld>
  <p:clrMapOvr>
    <a:masterClrMapping/>
  </p:clrMapOvr>
  <p:transition spd="med">
    <p:push dir="u"/>
  </p:transition>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6705CB-0645-410B-9FF6-4A47DA862B47}" type="datetime1">
              <a:rPr lang="en-US" smtClean="0"/>
              <a:t>7/26/2026</a:t>
            </a:fld>
            <a:endParaRPr lang="en-US"/>
          </a:p>
        </p:txBody>
      </p:sp>
      <p:sp>
        <p:nvSpPr>
          <p:cNvPr id="5" name="Footer Placeholder 4"/>
          <p:cNvSpPr>
            <a:spLocks noGrp="1"/>
          </p:cNvSpPr>
          <p:nvPr>
            <p:ph type="ftr" sz="quarter" idx="11"/>
          </p:nvPr>
        </p:nvSpPr>
        <p:spPr/>
        <p:txBody>
          <a:bodyPr/>
          <a:lstStyle/>
          <a:p>
            <a:r>
              <a:rPr lang="en-US"/>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172238751"/>
      </p:ext>
    </p:extLst>
  </p:cSld>
  <p:clrMapOvr>
    <a:masterClrMapping/>
  </p:clrMapOvr>
  <p:transition spd="med">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158FBE4-A88C-43D5-AE4F-8B4E6A7E5649}" type="datetime1">
              <a:rPr lang="en-US" smtClean="0"/>
              <a:t>7/26/2026</a:t>
            </a:fld>
            <a:endParaRPr lang="en-US"/>
          </a:p>
        </p:txBody>
      </p:sp>
      <p:sp>
        <p:nvSpPr>
          <p:cNvPr id="5" name="Footer Placeholder 4"/>
          <p:cNvSpPr>
            <a:spLocks noGrp="1"/>
          </p:cNvSpPr>
          <p:nvPr>
            <p:ph type="ftr" sz="quarter" idx="11"/>
          </p:nvPr>
        </p:nvSpPr>
        <p:spPr/>
        <p:txBody>
          <a:bodyPr/>
          <a:lstStyle/>
          <a:p>
            <a:r>
              <a:rPr lang="en-US"/>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1209872530"/>
      </p:ext>
    </p:extLst>
  </p:cSld>
  <p:clrMapOvr>
    <a:masterClrMapping/>
  </p:clrMapOvr>
  <p:transition spd="med">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D13FDD-450C-49DF-A9FA-2E0CD076A18C}" type="datetime1">
              <a:rPr lang="en-US" smtClean="0"/>
              <a:t>7/26/2026</a:t>
            </a:fld>
            <a:endParaRPr lang="en-US"/>
          </a:p>
        </p:txBody>
      </p:sp>
      <p:sp>
        <p:nvSpPr>
          <p:cNvPr id="6" name="Footer Placeholder 5"/>
          <p:cNvSpPr>
            <a:spLocks noGrp="1"/>
          </p:cNvSpPr>
          <p:nvPr>
            <p:ph type="ftr" sz="quarter" idx="11"/>
          </p:nvPr>
        </p:nvSpPr>
        <p:spPr/>
        <p:txBody>
          <a:bodyPr/>
          <a:lstStyle/>
          <a:p>
            <a:r>
              <a:rPr lang="en-US"/>
              <a:t>Md. Adnan Sami, Dept. of CSE, VU</a:t>
            </a:r>
          </a:p>
        </p:txBody>
      </p:sp>
      <p:sp>
        <p:nvSpPr>
          <p:cNvPr id="7" name="Slide Number Placeholder 6"/>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2849067326"/>
      </p:ext>
    </p:extLst>
  </p:cSld>
  <p:clrMapOvr>
    <a:masterClrMapping/>
  </p:clrMapOvr>
  <p:transition spd="med">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840B2C-E306-4CDA-919C-27E9ABFCB224}" type="datetime1">
              <a:rPr lang="en-US" smtClean="0"/>
              <a:t>7/26/2026</a:t>
            </a:fld>
            <a:endParaRPr lang="en-US"/>
          </a:p>
        </p:txBody>
      </p:sp>
      <p:sp>
        <p:nvSpPr>
          <p:cNvPr id="8" name="Footer Placeholder 7"/>
          <p:cNvSpPr>
            <a:spLocks noGrp="1"/>
          </p:cNvSpPr>
          <p:nvPr>
            <p:ph type="ftr" sz="quarter" idx="11"/>
          </p:nvPr>
        </p:nvSpPr>
        <p:spPr/>
        <p:txBody>
          <a:bodyPr/>
          <a:lstStyle/>
          <a:p>
            <a:r>
              <a:rPr lang="en-US"/>
              <a:t>Md. Adnan Sami, Dept. of CSE, VU</a:t>
            </a:r>
          </a:p>
        </p:txBody>
      </p:sp>
      <p:sp>
        <p:nvSpPr>
          <p:cNvPr id="9" name="Slide Number Placeholder 8"/>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3371136709"/>
      </p:ext>
    </p:extLst>
  </p:cSld>
  <p:clrMapOvr>
    <a:masterClrMapping/>
  </p:clrMapOvr>
  <p:transition spd="med">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CFBFF9-BA53-4AA4-968B-FA743C6ECCE7}" type="datetime1">
              <a:rPr lang="en-US" smtClean="0"/>
              <a:t>7/26/2026</a:t>
            </a:fld>
            <a:endParaRPr lang="en-US"/>
          </a:p>
        </p:txBody>
      </p:sp>
      <p:sp>
        <p:nvSpPr>
          <p:cNvPr id="4" name="Footer Placeholder 3"/>
          <p:cNvSpPr>
            <a:spLocks noGrp="1"/>
          </p:cNvSpPr>
          <p:nvPr>
            <p:ph type="ftr" sz="quarter" idx="11"/>
          </p:nvPr>
        </p:nvSpPr>
        <p:spPr/>
        <p:txBody>
          <a:bodyPr/>
          <a:lstStyle/>
          <a:p>
            <a:r>
              <a:rPr lang="en-US"/>
              <a:t>Md. Adnan Sami, Dept. of CSE, VU</a:t>
            </a:r>
          </a:p>
        </p:txBody>
      </p:sp>
      <p:sp>
        <p:nvSpPr>
          <p:cNvPr id="5" name="Slide Number Placeholder 4"/>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141044529"/>
      </p:ext>
    </p:extLst>
  </p:cSld>
  <p:clrMapOvr>
    <a:masterClrMapping/>
  </p:clrMapOvr>
  <p:transition spd="med">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07B7FE-DA48-4D44-8473-96427354A43D}" type="datetime1">
              <a:rPr lang="en-US" smtClean="0"/>
              <a:t>7/26/2026</a:t>
            </a:fld>
            <a:endParaRPr lang="en-US"/>
          </a:p>
        </p:txBody>
      </p:sp>
      <p:sp>
        <p:nvSpPr>
          <p:cNvPr id="3" name="Footer Placeholder 2"/>
          <p:cNvSpPr>
            <a:spLocks noGrp="1"/>
          </p:cNvSpPr>
          <p:nvPr>
            <p:ph type="ftr" sz="quarter" idx="11"/>
          </p:nvPr>
        </p:nvSpPr>
        <p:spPr/>
        <p:txBody>
          <a:bodyPr/>
          <a:lstStyle/>
          <a:p>
            <a:r>
              <a:rPr lang="en-US"/>
              <a:t>Md. Adnan Sami, Dept. of CSE, VU</a:t>
            </a:r>
          </a:p>
        </p:txBody>
      </p:sp>
      <p:sp>
        <p:nvSpPr>
          <p:cNvPr id="4" name="Slide Number Placeholder 3"/>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2678961422"/>
      </p:ext>
    </p:extLst>
  </p:cSld>
  <p:clrMapOvr>
    <a:masterClrMapping/>
  </p:clrMapOvr>
  <p:transition spd="med">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F743A33-3364-475F-98E7-007AFB73C295}" type="datetime1">
              <a:rPr lang="en-US" smtClean="0"/>
              <a:t>7/26/2026</a:t>
            </a:fld>
            <a:endParaRPr lang="en-US"/>
          </a:p>
        </p:txBody>
      </p:sp>
      <p:sp>
        <p:nvSpPr>
          <p:cNvPr id="6" name="Footer Placeholder 5"/>
          <p:cNvSpPr>
            <a:spLocks noGrp="1"/>
          </p:cNvSpPr>
          <p:nvPr>
            <p:ph type="ftr" sz="quarter" idx="11"/>
          </p:nvPr>
        </p:nvSpPr>
        <p:spPr/>
        <p:txBody>
          <a:bodyPr/>
          <a:lstStyle/>
          <a:p>
            <a:r>
              <a:rPr lang="en-US"/>
              <a:t>Md. Adnan Sami, Dept. of CSE, VU</a:t>
            </a:r>
          </a:p>
        </p:txBody>
      </p:sp>
      <p:sp>
        <p:nvSpPr>
          <p:cNvPr id="7" name="Slide Number Placeholder 6"/>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2326836805"/>
      </p:ext>
    </p:extLst>
  </p:cSld>
  <p:clrMapOvr>
    <a:masterClrMapping/>
  </p:clrMapOvr>
  <p:transition spd="med">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A2F8480-48B5-47F4-B1EF-ED2EAF3D2019}" type="datetime1">
              <a:rPr lang="en-US" smtClean="0"/>
              <a:t>7/26/2026</a:t>
            </a:fld>
            <a:endParaRPr lang="en-US"/>
          </a:p>
        </p:txBody>
      </p:sp>
      <p:sp>
        <p:nvSpPr>
          <p:cNvPr id="6" name="Footer Placeholder 5"/>
          <p:cNvSpPr>
            <a:spLocks noGrp="1"/>
          </p:cNvSpPr>
          <p:nvPr>
            <p:ph type="ftr" sz="quarter" idx="11"/>
          </p:nvPr>
        </p:nvSpPr>
        <p:spPr/>
        <p:txBody>
          <a:bodyPr/>
          <a:lstStyle/>
          <a:p>
            <a:r>
              <a:rPr lang="en-US"/>
              <a:t>Md. Adnan Sami, Dept. of CSE, VU</a:t>
            </a:r>
          </a:p>
        </p:txBody>
      </p:sp>
      <p:sp>
        <p:nvSpPr>
          <p:cNvPr id="7" name="Slide Number Placeholder 6"/>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1962699236"/>
      </p:ext>
    </p:extLst>
  </p:cSld>
  <p:clrMapOvr>
    <a:masterClrMapping/>
  </p:clrMapOvr>
  <p:transition spd="med">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2E1E98-4F27-46D8-B9A5-3F6C92AE46A3}" type="datetime1">
              <a:rPr lang="en-US" smtClean="0"/>
              <a:t>7/26/2026</a:t>
            </a:fld>
            <a:endParaRPr lang="en-US"/>
          </a:p>
        </p:txBody>
      </p:sp>
      <p:sp>
        <p:nvSpPr>
          <p:cNvPr id="5" name="Footer Placeholder 4"/>
          <p:cNvSpPr>
            <a:spLocks noGrp="1"/>
          </p:cNvSpPr>
          <p:nvPr>
            <p:ph type="ftr" sz="quarter" idx="11"/>
          </p:nvPr>
        </p:nvSpPr>
        <p:spPr/>
        <p:txBody>
          <a:bodyPr/>
          <a:lstStyle/>
          <a:p>
            <a:r>
              <a:rPr lang="en-US"/>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3516216844"/>
      </p:ext>
    </p:extLst>
  </p:cSld>
  <p:clrMapOvr>
    <a:masterClrMapping/>
  </p:clrMapOvr>
  <p:transition spd="med">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8DFBF-319F-4B2D-B51E-716D6479BD31}" type="datetime1">
              <a:rPr lang="en-US" smtClean="0"/>
              <a:t>7/26/2026</a:t>
            </a:fld>
            <a:endParaRPr lang="en-US"/>
          </a:p>
        </p:txBody>
      </p:sp>
      <p:sp>
        <p:nvSpPr>
          <p:cNvPr id="5" name="Footer Placeholder 4"/>
          <p:cNvSpPr>
            <a:spLocks noGrp="1"/>
          </p:cNvSpPr>
          <p:nvPr>
            <p:ph type="ftr" sz="quarter" idx="11"/>
          </p:nvPr>
        </p:nvSpPr>
        <p:spPr/>
        <p:txBody>
          <a:bodyPr/>
          <a:lstStyle/>
          <a:p>
            <a:r>
              <a:rPr lang="en-US"/>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t>‹#›</a:t>
            </a:fld>
            <a:endParaRPr lang="en-US"/>
          </a:p>
        </p:txBody>
      </p:sp>
    </p:spTree>
    <p:extLst>
      <p:ext uri="{BB962C8B-B14F-4D97-AF65-F5344CB8AC3E}">
        <p14:creationId xmlns:p14="http://schemas.microsoft.com/office/powerpoint/2010/main" val="1084143908"/>
      </p:ext>
    </p:extLst>
  </p:cSld>
  <p:clrMapOvr>
    <a:masterClrMapping/>
  </p:clrMapOvr>
  <p:transition spd="med">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AEC111-EA99-4472-85A7-07A3E684B408}" type="datetime1">
              <a:rPr lang="en-US" smtClean="0"/>
              <a:t>7/26/2026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Md. Adnan Sami, Dept. of CSE, VU</a:t>
            </a:r>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EF5767-624D-46AC-ADD7-140D9A2A517A}" type="slidenum">
              <a:rPr lang="en-US" smtClean="0"/>
              <a:t>‹#›</a:t>
            </a:fld>
            <a:endParaRPr lang="en-US"/>
          </a:p>
        </p:txBody>
      </p:sp>
    </p:spTree>
    <p:extLst>
      <p:ext uri="{BB962C8B-B14F-4D97-AF65-F5344CB8AC3E}">
        <p14:creationId xmlns:p14="http://schemas.microsoft.com/office/powerpoint/2010/main" val="20381870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push dir="u"/>
  </p:transition>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l="20624" t="3592" r="20538" b="5226"/>
          <a:stretch/>
        </p:blipFill>
        <p:spPr>
          <a:xfrm>
            <a:off x="4461538" y="154206"/>
            <a:ext cx="1005194" cy="1557757"/>
          </a:xfrm>
          <a:prstGeom prst="rect">
            <a:avLst/>
          </a:prstGeom>
        </p:spPr>
      </p:pic>
      <p:sp>
        <p:nvSpPr>
          <p:cNvPr id="9" name="TextBox 8"/>
          <p:cNvSpPr txBox="1"/>
          <p:nvPr/>
        </p:nvSpPr>
        <p:spPr>
          <a:xfrm>
            <a:off x="0" y="1828800"/>
            <a:ext cx="9906000" cy="553998"/>
          </a:xfrm>
          <a:prstGeom prst="rect">
            <a:avLst/>
          </a:prstGeom>
          <a:noFill/>
        </p:spPr>
        <p:txBody>
          <a:bodyPr wrap="square" rtlCol="0">
            <a:spAutoFit/>
          </a:bodyPr>
          <a:lstStyle/>
          <a:p>
            <a:pPr algn="ctr"/>
            <a:r>
              <a:rPr lang="en-US" sz="3000" b="1" dirty="0" err="1">
                <a:latin typeface="Cambria" pitchFamily="18" charset="0"/>
                <a:ea typeface="Cambria" pitchFamily="18" charset="0"/>
              </a:rPr>
              <a:t>Varendra</a:t>
            </a:r>
            <a:r>
              <a:rPr lang="en-US" sz="3000" b="1" dirty="0">
                <a:latin typeface="Cambria" pitchFamily="18" charset="0"/>
                <a:ea typeface="Cambria" pitchFamily="18" charset="0"/>
              </a:rPr>
              <a:t> University</a:t>
            </a:r>
          </a:p>
        </p:txBody>
      </p:sp>
      <p:sp>
        <p:nvSpPr>
          <p:cNvPr id="10" name="TextBox 9"/>
          <p:cNvSpPr txBox="1"/>
          <p:nvPr/>
        </p:nvSpPr>
        <p:spPr>
          <a:xfrm>
            <a:off x="0" y="2438402"/>
            <a:ext cx="9906000" cy="430887"/>
          </a:xfrm>
          <a:prstGeom prst="rect">
            <a:avLst/>
          </a:prstGeom>
          <a:noFill/>
        </p:spPr>
        <p:txBody>
          <a:bodyPr wrap="square" rtlCol="0">
            <a:spAutoFit/>
          </a:bodyPr>
          <a:lstStyle/>
          <a:p>
            <a:pPr algn="ctr"/>
            <a:r>
              <a:rPr lang="en-US" sz="2200" b="1" dirty="0">
                <a:solidFill>
                  <a:srgbClr val="D5633D"/>
                </a:solidFill>
                <a:latin typeface="Cambria" pitchFamily="18" charset="0"/>
                <a:ea typeface="Cambria" pitchFamily="18" charset="0"/>
              </a:rPr>
              <a:t>Dept. of Computer Science &amp; Engineering (CSE)</a:t>
            </a:r>
          </a:p>
        </p:txBody>
      </p:sp>
      <p:sp>
        <p:nvSpPr>
          <p:cNvPr id="11" name="TextBox 10"/>
          <p:cNvSpPr txBox="1"/>
          <p:nvPr/>
        </p:nvSpPr>
        <p:spPr>
          <a:xfrm>
            <a:off x="0" y="3328216"/>
            <a:ext cx="9906000" cy="523220"/>
          </a:xfrm>
          <a:prstGeom prst="rect">
            <a:avLst/>
          </a:prstGeom>
          <a:noFill/>
        </p:spPr>
        <p:txBody>
          <a:bodyPr wrap="square" rtlCol="0">
            <a:spAutoFit/>
          </a:bodyPr>
          <a:lstStyle/>
          <a:p>
            <a:pPr algn="ctr"/>
            <a:r>
              <a:rPr lang="en-US" sz="2800" b="1" dirty="0">
                <a:solidFill>
                  <a:schemeClr val="accent1">
                    <a:lumMod val="75000"/>
                  </a:schemeClr>
                </a:solidFill>
                <a:latin typeface="Cambria" pitchFamily="18" charset="0"/>
                <a:ea typeface="Cambria" pitchFamily="18" charset="0"/>
              </a:rPr>
              <a:t>Microprocessor</a:t>
            </a:r>
          </a:p>
        </p:txBody>
      </p:sp>
      <p:sp>
        <p:nvSpPr>
          <p:cNvPr id="12" name="TextBox 11"/>
          <p:cNvSpPr txBox="1"/>
          <p:nvPr/>
        </p:nvSpPr>
        <p:spPr>
          <a:xfrm>
            <a:off x="0" y="4161506"/>
            <a:ext cx="9906000" cy="769441"/>
          </a:xfrm>
          <a:prstGeom prst="rect">
            <a:avLst/>
          </a:prstGeom>
          <a:noFill/>
        </p:spPr>
        <p:txBody>
          <a:bodyPr wrap="square" rtlCol="0">
            <a:spAutoFit/>
          </a:bodyPr>
          <a:lstStyle/>
          <a:p>
            <a:pPr algn="ctr"/>
            <a:r>
              <a:rPr lang="en-US" sz="2200" dirty="0">
                <a:solidFill>
                  <a:srgbClr val="7030A0"/>
                </a:solidFill>
                <a:latin typeface="Cambria" panose="02040503050406030204" pitchFamily="18" charset="0"/>
                <a:ea typeface="Cambria" panose="02040503050406030204" pitchFamily="18" charset="0"/>
              </a:rPr>
              <a:t>Course Title: </a:t>
            </a:r>
            <a:r>
              <a:rPr lang="en-US" sz="2200" b="1" dirty="0">
                <a:solidFill>
                  <a:srgbClr val="7030A0"/>
                </a:solidFill>
                <a:latin typeface="Cambria" panose="02040503050406030204" pitchFamily="18" charset="0"/>
                <a:ea typeface="Cambria" panose="02040503050406030204" pitchFamily="18" charset="0"/>
              </a:rPr>
              <a:t>Microprocessor and Assembly Language</a:t>
            </a:r>
          </a:p>
          <a:p>
            <a:pPr algn="ctr"/>
            <a:r>
              <a:rPr lang="en-US" sz="2200" dirty="0">
                <a:solidFill>
                  <a:srgbClr val="7030A0"/>
                </a:solidFill>
                <a:latin typeface="Cambria" pitchFamily="18" charset="0"/>
                <a:ea typeface="Cambria" pitchFamily="18" charset="0"/>
              </a:rPr>
              <a:t>Course No: </a:t>
            </a:r>
            <a:r>
              <a:rPr lang="en-US" sz="2200" b="1">
                <a:solidFill>
                  <a:srgbClr val="7030A0"/>
                </a:solidFill>
                <a:latin typeface="Cambria" pitchFamily="18" charset="0"/>
                <a:ea typeface="Cambria" pitchFamily="18" charset="0"/>
              </a:rPr>
              <a:t>CSE 3205</a:t>
            </a:r>
            <a:endParaRPr lang="en-US" sz="2200" b="1" dirty="0">
              <a:solidFill>
                <a:srgbClr val="7030A0"/>
              </a:solidFill>
              <a:latin typeface="Cambria" pitchFamily="18" charset="0"/>
              <a:ea typeface="Cambria" pitchFamily="18" charset="0"/>
            </a:endParaRPr>
          </a:p>
        </p:txBody>
      </p:sp>
      <p:sp>
        <p:nvSpPr>
          <p:cNvPr id="13" name="TextBox 12"/>
          <p:cNvSpPr txBox="1"/>
          <p:nvPr/>
        </p:nvSpPr>
        <p:spPr>
          <a:xfrm>
            <a:off x="11138" y="5256703"/>
            <a:ext cx="9906000" cy="1107996"/>
          </a:xfrm>
          <a:prstGeom prst="rect">
            <a:avLst/>
          </a:prstGeom>
          <a:noFill/>
        </p:spPr>
        <p:txBody>
          <a:bodyPr wrap="square" rtlCol="0">
            <a:spAutoFit/>
          </a:bodyPr>
          <a:lstStyle/>
          <a:p>
            <a:pPr algn="ctr"/>
            <a:r>
              <a:rPr lang="en-US" sz="2200" dirty="0">
                <a:solidFill>
                  <a:schemeClr val="tx2">
                    <a:lumMod val="75000"/>
                  </a:schemeClr>
                </a:solidFill>
                <a:latin typeface="Cambria" pitchFamily="18" charset="0"/>
                <a:ea typeface="Cambria" pitchFamily="18" charset="0"/>
              </a:rPr>
              <a:t>Prepared By:</a:t>
            </a:r>
          </a:p>
          <a:p>
            <a:pPr algn="ctr"/>
            <a:r>
              <a:rPr lang="en-US" sz="2200" dirty="0">
                <a:solidFill>
                  <a:schemeClr val="tx2">
                    <a:lumMod val="75000"/>
                  </a:schemeClr>
                </a:solidFill>
                <a:latin typeface="Cambria" pitchFamily="18" charset="0"/>
                <a:ea typeface="Cambria" pitchFamily="18" charset="0"/>
              </a:rPr>
              <a:t>Md. Adnan Sami</a:t>
            </a:r>
          </a:p>
          <a:p>
            <a:pPr algn="ctr"/>
            <a:r>
              <a:rPr lang="en-US" sz="2200" dirty="0">
                <a:solidFill>
                  <a:schemeClr val="tx2">
                    <a:lumMod val="75000"/>
                  </a:schemeClr>
                </a:solidFill>
                <a:latin typeface="Cambria" pitchFamily="18" charset="0"/>
                <a:ea typeface="Cambria" pitchFamily="18" charset="0"/>
              </a:rPr>
              <a:t>Lecturer, Dept. of CSE, VU</a:t>
            </a:r>
            <a:endParaRPr lang="en-US" sz="2200" dirty="0">
              <a:solidFill>
                <a:schemeClr val="tx2">
                  <a:lumMod val="75000"/>
                </a:schemeClr>
              </a:solidFill>
            </a:endParaRPr>
          </a:p>
        </p:txBody>
      </p:sp>
    </p:spTree>
    <p:extLst>
      <p:ext uri="{BB962C8B-B14F-4D97-AF65-F5344CB8AC3E}">
        <p14:creationId xmlns:p14="http://schemas.microsoft.com/office/powerpoint/2010/main" val="3453500965"/>
      </p:ext>
    </p:extLst>
  </p:cSld>
  <p:clrMapOvr>
    <a:masterClrMapping/>
  </p:clrMapOvr>
  <p:transition spd="med">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a:t>
            </a:fld>
            <a:endParaRPr lang="en-US">
              <a:latin typeface="Cambria" panose="02040503050406030204" pitchFamily="18" charset="0"/>
            </a:endParaRPr>
          </a:p>
        </p:txBody>
      </p:sp>
      <p:sp>
        <p:nvSpPr>
          <p:cNvPr id="7" name="TextBox 1"/>
          <p:cNvSpPr txBox="1">
            <a:spLocks noChangeArrowheads="1"/>
          </p:cNvSpPr>
          <p:nvPr/>
        </p:nvSpPr>
        <p:spPr bwMode="auto">
          <a:xfrm>
            <a:off x="0" y="304288"/>
            <a:ext cx="9908666"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eaLnBrk="1" hangingPunct="1"/>
            <a:r>
              <a:rPr lang="en-US" altLang="en-US" sz="3200" b="1" dirty="0">
                <a:solidFill>
                  <a:schemeClr val="accent2"/>
                </a:solidFill>
                <a:latin typeface="Cambria" panose="02040503050406030204" pitchFamily="18" charset="0"/>
                <a:cs typeface="Arial" panose="020B0604020202020204" pitchFamily="34" charset="0"/>
              </a:rPr>
              <a:t>	Outline</a:t>
            </a:r>
          </a:p>
        </p:txBody>
      </p:sp>
      <p:sp>
        <p:nvSpPr>
          <p:cNvPr id="2" name="TextBox 1"/>
          <p:cNvSpPr txBox="1"/>
          <p:nvPr/>
        </p:nvSpPr>
        <p:spPr>
          <a:xfrm>
            <a:off x="0" y="1042219"/>
            <a:ext cx="9906000" cy="2677656"/>
          </a:xfrm>
          <a:prstGeom prst="rect">
            <a:avLst/>
          </a:prstGeom>
          <a:noFill/>
        </p:spPr>
        <p:txBody>
          <a:bodyPr wrap="square" rtlCol="0">
            <a:spAutoFit/>
          </a:bodyPr>
          <a:lstStyle/>
          <a:p>
            <a:pPr marL="971550" lvl="1" indent="-514350">
              <a:buFont typeface="+mj-lt"/>
              <a:buAutoNum type="arabicPeriod"/>
            </a:pPr>
            <a:r>
              <a:rPr lang="en-US" sz="2800" dirty="0">
                <a:latin typeface="Cambria" panose="02040503050406030204" pitchFamily="18" charset="0"/>
              </a:rPr>
              <a:t>8086 Microprocessor Organization. </a:t>
            </a:r>
          </a:p>
          <a:p>
            <a:pPr marL="971550" lvl="1" indent="-514350">
              <a:buFont typeface="+mj-lt"/>
              <a:buAutoNum type="arabicPeriod"/>
            </a:pPr>
            <a:r>
              <a:rPr lang="en-US" sz="2800" dirty="0">
                <a:latin typeface="Cambria" panose="02040503050406030204" pitchFamily="18" charset="0"/>
              </a:rPr>
              <a:t>Functional Block of 8086 Microprocessor. </a:t>
            </a:r>
          </a:p>
          <a:p>
            <a:pPr marL="971550" lvl="1" indent="-514350">
              <a:buFont typeface="+mj-lt"/>
              <a:buAutoNum type="arabicPeriod"/>
            </a:pPr>
            <a:r>
              <a:rPr lang="en-US" sz="2800" dirty="0">
                <a:latin typeface="Cambria" panose="02040503050406030204" pitchFamily="18" charset="0"/>
              </a:rPr>
              <a:t>How does queue speed up the processing of the 8086 microprocessor?</a:t>
            </a:r>
          </a:p>
          <a:p>
            <a:pPr marL="971550" lvl="1" indent="-514350">
              <a:buFont typeface="+mj-lt"/>
              <a:buAutoNum type="arabicPeriod"/>
            </a:pPr>
            <a:r>
              <a:rPr lang="en-US" sz="2800" dirty="0">
                <a:latin typeface="Cambria" panose="02040503050406030204" pitchFamily="18" charset="0"/>
              </a:rPr>
              <a:t>Register of 8086 Microprocessor. </a:t>
            </a:r>
          </a:p>
          <a:p>
            <a:pPr marL="971550" lvl="1" indent="-514350">
              <a:buFont typeface="+mj-lt"/>
              <a:buAutoNum type="arabicPeriod"/>
            </a:pPr>
            <a:r>
              <a:rPr lang="en-US" sz="2800" dirty="0">
                <a:latin typeface="Cambria" panose="02040503050406030204" pitchFamily="18" charset="0"/>
              </a:rPr>
              <a:t>Instruction set of 8086 microprocessor.</a:t>
            </a:r>
          </a:p>
        </p:txBody>
      </p:sp>
    </p:spTree>
    <p:extLst>
      <p:ext uri="{BB962C8B-B14F-4D97-AF65-F5344CB8AC3E}">
        <p14:creationId xmlns:p14="http://schemas.microsoft.com/office/powerpoint/2010/main" val="479960429"/>
      </p:ext>
    </p:extLst>
  </p:cSld>
  <p:clrMapOvr>
    <a:masterClrMapping/>
  </p:clrMapOvr>
  <p:transition spd="med">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3</a:t>
            </a:fld>
            <a:endParaRPr lang="en-US">
              <a:latin typeface="Cambria" panose="02040503050406030204" pitchFamily="18" charset="0"/>
            </a:endParaRPr>
          </a:p>
        </p:txBody>
      </p:sp>
      <p:sp>
        <p:nvSpPr>
          <p:cNvPr id="7" name="TextBox 1"/>
          <p:cNvSpPr txBox="1">
            <a:spLocks noChangeArrowheads="1"/>
          </p:cNvSpPr>
          <p:nvPr/>
        </p:nvSpPr>
        <p:spPr bwMode="auto">
          <a:xfrm>
            <a:off x="0" y="932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8086 Microprocessor Organization</a:t>
            </a:r>
          </a:p>
        </p:txBody>
      </p:sp>
      <p:pic>
        <p:nvPicPr>
          <p:cNvPr id="8" name="Picture 2" descr="C:\Users\AMMU\Desktop\Microprocessor\Internal Architecture.png"/>
          <p:cNvPicPr>
            <a:picLocks noChangeAspect="1" noChangeArrowheads="1"/>
          </p:cNvPicPr>
          <p:nvPr/>
        </p:nvPicPr>
        <p:blipFill>
          <a:blip r:embed="rId3"/>
          <a:srcRect b="5908"/>
          <a:stretch>
            <a:fillRect/>
          </a:stretch>
        </p:blipFill>
        <p:spPr bwMode="auto">
          <a:xfrm>
            <a:off x="1447800" y="587479"/>
            <a:ext cx="6324600" cy="4435475"/>
          </a:xfrm>
          <a:prstGeom prst="rect">
            <a:avLst/>
          </a:prstGeom>
          <a:noFill/>
          <a:ln w="9525">
            <a:noFill/>
            <a:miter lim="800000"/>
            <a:headEnd/>
            <a:tailEnd/>
          </a:ln>
        </p:spPr>
      </p:pic>
      <p:sp>
        <p:nvSpPr>
          <p:cNvPr id="10" name="TextBox 9"/>
          <p:cNvSpPr txBox="1">
            <a:spLocks noChangeArrowheads="1"/>
          </p:cNvSpPr>
          <p:nvPr/>
        </p:nvSpPr>
        <p:spPr bwMode="auto">
          <a:xfrm>
            <a:off x="611546" y="5157712"/>
            <a:ext cx="3567051" cy="892552"/>
          </a:xfrm>
          <a:prstGeom prst="rect">
            <a:avLst/>
          </a:prstGeom>
          <a:solidFill>
            <a:srgbClr val="99FF66"/>
          </a:solidFill>
          <a:ln w="9525">
            <a:noFill/>
            <a:miter lim="800000"/>
            <a:headEnd/>
            <a:tailEnd/>
          </a:ln>
        </p:spPr>
        <p:txBody>
          <a:bodyPr wrap="square">
            <a:spAutoFit/>
          </a:bodyPr>
          <a:lstStyle/>
          <a:p>
            <a:pPr algn="ctr" eaLnBrk="1" hangingPunct="1"/>
            <a:r>
              <a:rPr lang="en-US" sz="1300" b="1" dirty="0">
                <a:solidFill>
                  <a:srgbClr val="FF0066"/>
                </a:solidFill>
                <a:latin typeface="Verdana" pitchFamily="34" charset="0"/>
                <a:ea typeface="Verdana" pitchFamily="34" charset="0"/>
                <a:cs typeface="Verdana" pitchFamily="34" charset="0"/>
              </a:rPr>
              <a:t>Execution Unit (EU)</a:t>
            </a:r>
          </a:p>
          <a:p>
            <a:pPr algn="ctr" eaLnBrk="1" hangingPunct="1"/>
            <a:endParaRPr lang="en-US" sz="1300" b="1" dirty="0">
              <a:solidFill>
                <a:srgbClr val="FF0066"/>
              </a:solidFill>
              <a:latin typeface="Verdana" pitchFamily="34" charset="0"/>
              <a:ea typeface="Verdana" pitchFamily="34" charset="0"/>
              <a:cs typeface="Verdana" pitchFamily="34" charset="0"/>
            </a:endParaRPr>
          </a:p>
          <a:p>
            <a:pPr marL="285750" indent="-285750">
              <a:buFont typeface="Wingdings" panose="05000000000000000000" pitchFamily="2" charset="2"/>
              <a:buChar char="Ø"/>
            </a:pPr>
            <a:r>
              <a:rPr lang="en-US" sz="1300" b="1" dirty="0">
                <a:latin typeface="Verdana" pitchFamily="34" charset="0"/>
                <a:ea typeface="Verdana" pitchFamily="34" charset="0"/>
                <a:cs typeface="Verdana" pitchFamily="34" charset="0"/>
              </a:rPr>
              <a:t>Instruction decode and execute. </a:t>
            </a:r>
          </a:p>
          <a:p>
            <a:pPr marL="285750" indent="-285750">
              <a:buFont typeface="Wingdings" panose="05000000000000000000" pitchFamily="2" charset="2"/>
              <a:buChar char="Ø"/>
            </a:pPr>
            <a:r>
              <a:rPr lang="en-US" sz="1300" b="1" dirty="0">
                <a:latin typeface="Verdana" pitchFamily="34" charset="0"/>
                <a:ea typeface="Verdana" pitchFamily="34" charset="0"/>
                <a:cs typeface="Verdana" pitchFamily="34" charset="0"/>
              </a:rPr>
              <a:t>Arithmetic and logical operation.</a:t>
            </a:r>
          </a:p>
        </p:txBody>
      </p:sp>
      <p:sp>
        <p:nvSpPr>
          <p:cNvPr id="11" name="TextBox 10"/>
          <p:cNvSpPr txBox="1">
            <a:spLocks noChangeArrowheads="1"/>
          </p:cNvSpPr>
          <p:nvPr/>
        </p:nvSpPr>
        <p:spPr bwMode="auto">
          <a:xfrm>
            <a:off x="5043384" y="5086018"/>
            <a:ext cx="3675318" cy="1092607"/>
          </a:xfrm>
          <a:prstGeom prst="rect">
            <a:avLst/>
          </a:prstGeom>
          <a:solidFill>
            <a:srgbClr val="99FF66"/>
          </a:solidFill>
          <a:ln w="9525">
            <a:noFill/>
            <a:miter lim="800000"/>
            <a:headEnd/>
            <a:tailEnd/>
          </a:ln>
        </p:spPr>
        <p:txBody>
          <a:bodyPr wrap="square">
            <a:spAutoFit/>
          </a:bodyPr>
          <a:lstStyle/>
          <a:p>
            <a:pPr algn="ctr" eaLnBrk="1" hangingPunct="1"/>
            <a:r>
              <a:rPr lang="en-US" sz="1300" b="1" dirty="0">
                <a:solidFill>
                  <a:srgbClr val="FF0066"/>
                </a:solidFill>
                <a:latin typeface="Verdana" pitchFamily="34" charset="0"/>
                <a:ea typeface="Verdana" pitchFamily="34" charset="0"/>
                <a:cs typeface="Verdana" pitchFamily="34" charset="0"/>
              </a:rPr>
              <a:t>Bus Interface Unit (BIU)</a:t>
            </a:r>
          </a:p>
          <a:p>
            <a:pPr algn="ctr" eaLnBrk="1" hangingPunct="1"/>
            <a:endParaRPr lang="en-US" sz="1300" b="1" dirty="0">
              <a:solidFill>
                <a:srgbClr val="FF0066"/>
              </a:solidFill>
              <a:latin typeface="Verdana" pitchFamily="34" charset="0"/>
              <a:ea typeface="Verdana" pitchFamily="34" charset="0"/>
              <a:cs typeface="Verdana" pitchFamily="34" charset="0"/>
            </a:endParaRPr>
          </a:p>
          <a:p>
            <a:pPr marL="285750" indent="-285750" algn="just">
              <a:buFont typeface="Wingdings" panose="05000000000000000000" pitchFamily="2" charset="2"/>
              <a:buChar char="Ø"/>
            </a:pPr>
            <a:r>
              <a:rPr lang="en-US" sz="1300" b="1" dirty="0">
                <a:latin typeface="Verdana" pitchFamily="34" charset="0"/>
                <a:ea typeface="Verdana" pitchFamily="34" charset="0"/>
                <a:cs typeface="Verdana" pitchFamily="34" charset="0"/>
              </a:rPr>
              <a:t>Instruction fetch. </a:t>
            </a:r>
          </a:p>
          <a:p>
            <a:pPr marL="285750" indent="-285750" algn="just">
              <a:buFont typeface="Wingdings" panose="05000000000000000000" pitchFamily="2" charset="2"/>
              <a:buChar char="Ø"/>
            </a:pPr>
            <a:r>
              <a:rPr lang="en-US" sz="1300" b="1" dirty="0">
                <a:latin typeface="Verdana" pitchFamily="34" charset="0"/>
                <a:ea typeface="Verdana" pitchFamily="34" charset="0"/>
                <a:cs typeface="Verdana" pitchFamily="34" charset="0"/>
              </a:rPr>
              <a:t>Address generation. </a:t>
            </a:r>
          </a:p>
          <a:p>
            <a:pPr marL="285750" indent="-285750" algn="just">
              <a:buFont typeface="Wingdings" panose="05000000000000000000" pitchFamily="2" charset="2"/>
              <a:buChar char="Ø"/>
            </a:pPr>
            <a:r>
              <a:rPr lang="en-US" sz="1300" b="1" dirty="0">
                <a:latin typeface="Verdana" pitchFamily="34" charset="0"/>
                <a:ea typeface="Verdana" pitchFamily="34" charset="0"/>
                <a:cs typeface="Verdana" pitchFamily="34" charset="0"/>
              </a:rPr>
              <a:t>Memory and I/O communication.</a:t>
            </a:r>
            <a:endParaRPr lang="en-US" sz="1300" b="1" dirty="0">
              <a:solidFill>
                <a:srgbClr val="FF0066"/>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529316330"/>
      </p:ext>
    </p:extLst>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4</a:t>
            </a:fld>
            <a:endParaRPr lang="en-US">
              <a:latin typeface="Cambria" panose="02040503050406030204" pitchFamily="18" charset="0"/>
            </a:endParaRPr>
          </a:p>
        </p:txBody>
      </p:sp>
      <p:sp>
        <p:nvSpPr>
          <p:cNvPr id="7" name="TextBox 1"/>
          <p:cNvSpPr txBox="1">
            <a:spLocks noChangeArrowheads="1"/>
          </p:cNvSpPr>
          <p:nvPr/>
        </p:nvSpPr>
        <p:spPr bwMode="auto">
          <a:xfrm>
            <a:off x="0" y="30428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Functional Block of 8086 Microprocessor</a:t>
            </a:r>
          </a:p>
        </p:txBody>
      </p:sp>
      <p:pic>
        <p:nvPicPr>
          <p:cNvPr id="2" name="Picture 1"/>
          <p:cNvPicPr>
            <a:picLocks noChangeAspect="1"/>
          </p:cNvPicPr>
          <p:nvPr/>
        </p:nvPicPr>
        <p:blipFill>
          <a:blip r:embed="rId2"/>
          <a:stretch>
            <a:fillRect/>
          </a:stretch>
        </p:blipFill>
        <p:spPr>
          <a:xfrm>
            <a:off x="1302698" y="1211771"/>
            <a:ext cx="7922265" cy="4440456"/>
          </a:xfrm>
          <a:prstGeom prst="rect">
            <a:avLst/>
          </a:prstGeom>
        </p:spPr>
      </p:pic>
    </p:spTree>
    <p:extLst>
      <p:ext uri="{BB962C8B-B14F-4D97-AF65-F5344CB8AC3E}">
        <p14:creationId xmlns:p14="http://schemas.microsoft.com/office/powerpoint/2010/main" val="1256288382"/>
      </p:ext>
    </p:extLst>
  </p:cSld>
  <p:clrMapOvr>
    <a:masterClrMapping/>
  </p:clrMapOvr>
  <p:transition spd="med">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5</a:t>
            </a:fld>
            <a:endParaRPr lang="en-US">
              <a:latin typeface="Cambria" panose="02040503050406030204" pitchFamily="18" charset="0"/>
            </a:endParaRPr>
          </a:p>
        </p:txBody>
      </p:sp>
      <p:sp>
        <p:nvSpPr>
          <p:cNvPr id="7" name="TextBox 1"/>
          <p:cNvSpPr txBox="1">
            <a:spLocks noChangeArrowheads="1"/>
          </p:cNvSpPr>
          <p:nvPr/>
        </p:nvSpPr>
        <p:spPr bwMode="auto">
          <a:xfrm>
            <a:off x="0" y="15680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Functional Block of 8086 Microprocessor</a:t>
            </a:r>
          </a:p>
        </p:txBody>
      </p:sp>
      <p:grpSp>
        <p:nvGrpSpPr>
          <p:cNvPr id="50" name="Group 59"/>
          <p:cNvGrpSpPr>
            <a:grpSpLocks/>
          </p:cNvGrpSpPr>
          <p:nvPr/>
        </p:nvGrpSpPr>
        <p:grpSpPr bwMode="auto">
          <a:xfrm>
            <a:off x="2121304" y="2183073"/>
            <a:ext cx="6292850" cy="3473450"/>
            <a:chOff x="1409789" y="1295400"/>
            <a:chExt cx="6292917" cy="3473115"/>
          </a:xfrm>
        </p:grpSpPr>
        <p:sp>
          <p:nvSpPr>
            <p:cNvPr id="51" name="Rectangle 50"/>
            <p:cNvSpPr/>
            <p:nvPr/>
          </p:nvSpPr>
          <p:spPr>
            <a:xfrm>
              <a:off x="1409789" y="1295400"/>
              <a:ext cx="5105454" cy="2742935"/>
            </a:xfrm>
            <a:prstGeom prst="rect">
              <a:avLst/>
            </a:prstGeom>
            <a:pattFill prst="ltUpDiag">
              <a:fgClr>
                <a:srgbClr val="EEECE1"/>
              </a:fgClr>
              <a:bgClr>
                <a:srgbClr val="4F81BD">
                  <a:lumMod val="20000"/>
                  <a:lumOff val="80000"/>
                </a:srgbClr>
              </a:bgClr>
            </a:pattFill>
            <a:ln w="9525"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Verdana"/>
                <a:ea typeface="+mn-ea"/>
                <a:cs typeface="+mn-cs"/>
              </a:endParaRPr>
            </a:p>
          </p:txBody>
        </p:sp>
        <p:sp>
          <p:nvSpPr>
            <p:cNvPr id="52" name="Rectangle 51"/>
            <p:cNvSpPr/>
            <p:nvPr/>
          </p:nvSpPr>
          <p:spPr>
            <a:xfrm>
              <a:off x="2005108" y="2497022"/>
              <a:ext cx="1244613" cy="458743"/>
            </a:xfrm>
            <a:prstGeom prst="rect">
              <a:avLst/>
            </a:prstGeom>
            <a:solidFill>
              <a:sysClr val="window" lastClr="FFFFFF"/>
            </a:solidFill>
            <a:ln w="9525" cap="flat" cmpd="sng" algn="ctr">
              <a:solidFill>
                <a:srgbClr val="00206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Verdana"/>
                  <a:ea typeface="Verdana" pitchFamily="34" charset="0"/>
                  <a:cs typeface="Verdana" pitchFamily="34" charset="0"/>
                </a:rPr>
                <a:t>Flag Register</a:t>
              </a:r>
            </a:p>
          </p:txBody>
        </p:sp>
        <p:sp>
          <p:nvSpPr>
            <p:cNvPr id="53" name="Rectangle 52"/>
            <p:cNvSpPr/>
            <p:nvPr/>
          </p:nvSpPr>
          <p:spPr>
            <a:xfrm>
              <a:off x="2005108" y="3273234"/>
              <a:ext cx="1233500" cy="533349"/>
            </a:xfrm>
            <a:prstGeom prst="rect">
              <a:avLst/>
            </a:prstGeom>
            <a:solidFill>
              <a:sysClr val="window" lastClr="FFFFFF"/>
            </a:solidFill>
            <a:ln w="9525" cap="flat" cmpd="sng" algn="ctr">
              <a:solidFill>
                <a:srgbClr val="00206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Verdana"/>
                  <a:ea typeface="Verdana" pitchFamily="34" charset="0"/>
                  <a:cs typeface="Verdana" pitchFamily="34" charset="0"/>
                </a:rPr>
                <a:t>Timing and control unit</a:t>
              </a:r>
            </a:p>
          </p:txBody>
        </p:sp>
        <p:sp>
          <p:nvSpPr>
            <p:cNvPr id="54" name="Rectangle 53"/>
            <p:cNvSpPr/>
            <p:nvPr/>
          </p:nvSpPr>
          <p:spPr>
            <a:xfrm>
              <a:off x="4114918" y="1468421"/>
              <a:ext cx="1714518" cy="457156"/>
            </a:xfrm>
            <a:prstGeom prst="rect">
              <a:avLst/>
            </a:prstGeom>
            <a:solidFill>
              <a:sysClr val="window" lastClr="FFFFFF"/>
            </a:solidFill>
            <a:ln w="9525" cap="flat" cmpd="sng" algn="ctr">
              <a:solidFill>
                <a:srgbClr val="00206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Verdana"/>
                  <a:ea typeface="Verdana" pitchFamily="34" charset="0"/>
                  <a:cs typeface="Verdana" pitchFamily="34" charset="0"/>
                </a:rPr>
                <a:t>Register array or internal memory</a:t>
              </a:r>
            </a:p>
          </p:txBody>
        </p:sp>
        <p:sp>
          <p:nvSpPr>
            <p:cNvPr id="55" name="Rectangle 54"/>
            <p:cNvSpPr/>
            <p:nvPr/>
          </p:nvSpPr>
          <p:spPr>
            <a:xfrm>
              <a:off x="4114918" y="2362097"/>
              <a:ext cx="1714518" cy="457156"/>
            </a:xfrm>
            <a:prstGeom prst="rect">
              <a:avLst/>
            </a:prstGeom>
            <a:solidFill>
              <a:sysClr val="window" lastClr="FFFFFF"/>
            </a:solidFill>
            <a:ln w="9525" cap="flat" cmpd="sng" algn="ctr">
              <a:solidFill>
                <a:srgbClr val="00206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Verdana"/>
                  <a:ea typeface="Verdana" pitchFamily="34" charset="0"/>
                  <a:cs typeface="Verdana" pitchFamily="34" charset="0"/>
                </a:rPr>
                <a:t>Instruction decoding unit</a:t>
              </a:r>
            </a:p>
          </p:txBody>
        </p:sp>
        <p:sp>
          <p:nvSpPr>
            <p:cNvPr id="56" name="Rectangle 55"/>
            <p:cNvSpPr/>
            <p:nvPr/>
          </p:nvSpPr>
          <p:spPr>
            <a:xfrm>
              <a:off x="4114918" y="3352602"/>
              <a:ext cx="1714518" cy="457156"/>
            </a:xfrm>
            <a:prstGeom prst="rect">
              <a:avLst/>
            </a:prstGeom>
            <a:solidFill>
              <a:sysClr val="window" lastClr="FFFFFF"/>
            </a:solidFill>
            <a:ln w="9525" cap="flat" cmpd="sng" algn="ctr">
              <a:solidFill>
                <a:srgbClr val="00206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Verdana"/>
                  <a:ea typeface="Verdana" pitchFamily="34" charset="0"/>
                  <a:cs typeface="Verdana" pitchFamily="34" charset="0"/>
                </a:rPr>
                <a:t>PC/ IP</a:t>
              </a:r>
            </a:p>
          </p:txBody>
        </p:sp>
        <p:grpSp>
          <p:nvGrpSpPr>
            <p:cNvPr id="57" name="Group 14"/>
            <p:cNvGrpSpPr>
              <a:grpSpLocks/>
            </p:cNvGrpSpPr>
            <p:nvPr/>
          </p:nvGrpSpPr>
          <p:grpSpPr bwMode="auto">
            <a:xfrm>
              <a:off x="1786210" y="1447800"/>
              <a:ext cx="1600200" cy="681213"/>
              <a:chOff x="2167210" y="1447800"/>
              <a:chExt cx="1600200" cy="681213"/>
            </a:xfrm>
          </p:grpSpPr>
          <p:grpSp>
            <p:nvGrpSpPr>
              <p:cNvPr id="79" name="Group 7"/>
              <p:cNvGrpSpPr>
                <a:grpSpLocks/>
              </p:cNvGrpSpPr>
              <p:nvPr/>
            </p:nvGrpSpPr>
            <p:grpSpPr bwMode="auto">
              <a:xfrm>
                <a:off x="2167210" y="1447800"/>
                <a:ext cx="1600200" cy="681213"/>
                <a:chOff x="1947570" y="4717576"/>
                <a:chExt cx="2286000" cy="850143"/>
              </a:xfrm>
            </p:grpSpPr>
            <p:sp>
              <p:nvSpPr>
                <p:cNvPr id="81" name="Diagonal Stripe 80"/>
                <p:cNvSpPr/>
                <p:nvPr/>
              </p:nvSpPr>
              <p:spPr>
                <a:xfrm>
                  <a:off x="3394223" y="4717557"/>
                  <a:ext cx="839116" cy="837956"/>
                </a:xfrm>
                <a:prstGeom prst="diagStripe">
                  <a:avLst>
                    <a:gd name="adj" fmla="val 36974"/>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Verdana"/>
                    <a:ea typeface="+mn-ea"/>
                    <a:cs typeface="+mn-cs"/>
                  </a:endParaRPr>
                </a:p>
              </p:txBody>
            </p:sp>
            <p:sp>
              <p:nvSpPr>
                <p:cNvPr id="82" name="Diagonal Stripe 81"/>
                <p:cNvSpPr/>
                <p:nvPr/>
              </p:nvSpPr>
              <p:spPr>
                <a:xfrm flipH="1">
                  <a:off x="1947314" y="4729443"/>
                  <a:ext cx="839116" cy="837956"/>
                </a:xfrm>
                <a:prstGeom prst="diagStripe">
                  <a:avLst>
                    <a:gd name="adj" fmla="val 35346"/>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Verdana"/>
                    <a:ea typeface="+mn-ea"/>
                    <a:cs typeface="+mn-cs"/>
                  </a:endParaRPr>
                </a:p>
              </p:txBody>
            </p:sp>
            <p:sp>
              <p:nvSpPr>
                <p:cNvPr id="83" name="Rectangle 82"/>
                <p:cNvSpPr/>
                <p:nvPr/>
              </p:nvSpPr>
              <p:spPr>
                <a:xfrm>
                  <a:off x="2786430" y="5028572"/>
                  <a:ext cx="607792" cy="532884"/>
                </a:xfrm>
                <a:prstGeom prst="rect">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Verdana"/>
                    <a:ea typeface="+mn-ea"/>
                    <a:cs typeface="+mn-cs"/>
                  </a:endParaRPr>
                </a:p>
              </p:txBody>
            </p:sp>
          </p:grpSp>
          <p:sp>
            <p:nvSpPr>
              <p:cNvPr id="80" name="TextBox 13"/>
              <p:cNvSpPr txBox="1">
                <a:spLocks noChangeArrowheads="1"/>
              </p:cNvSpPr>
              <p:nvPr/>
            </p:nvSpPr>
            <p:spPr bwMode="auto">
              <a:xfrm>
                <a:off x="2601807" y="1717294"/>
                <a:ext cx="699230" cy="369332"/>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prstClr val="black"/>
                    </a:solidFill>
                    <a:effectLst/>
                    <a:uLnTx/>
                    <a:uFillTx/>
                    <a:latin typeface="Verdana" pitchFamily="34" charset="0"/>
                    <a:ea typeface="Verdana" pitchFamily="34" charset="0"/>
                    <a:cs typeface="Verdana" pitchFamily="34" charset="0"/>
                  </a:rPr>
                  <a:t>ALU</a:t>
                </a:r>
              </a:p>
            </p:txBody>
          </p:sp>
        </p:grpSp>
        <p:sp>
          <p:nvSpPr>
            <p:cNvPr id="58" name="Up-Down Arrow 57"/>
            <p:cNvSpPr/>
            <p:nvPr/>
          </p:nvSpPr>
          <p:spPr>
            <a:xfrm>
              <a:off x="2462313" y="2117646"/>
              <a:ext cx="228602" cy="368264"/>
            </a:xfrm>
            <a:prstGeom prst="upDownArrow">
              <a:avLst/>
            </a:prstGeom>
            <a:solidFill>
              <a:srgbClr val="FFC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Verdana"/>
                <a:ea typeface="+mn-ea"/>
                <a:cs typeface="+mn-cs"/>
              </a:endParaRPr>
            </a:p>
          </p:txBody>
        </p:sp>
        <p:sp>
          <p:nvSpPr>
            <p:cNvPr id="59" name="Up-Down Arrow 58"/>
            <p:cNvSpPr/>
            <p:nvPr/>
          </p:nvSpPr>
          <p:spPr>
            <a:xfrm>
              <a:off x="2471838" y="3812932"/>
              <a:ext cx="228602" cy="641288"/>
            </a:xfrm>
            <a:prstGeom prst="upDownArrow">
              <a:avLst/>
            </a:prstGeom>
            <a:solidFill>
              <a:srgbClr val="FFC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Verdana"/>
                <a:ea typeface="+mn-ea"/>
                <a:cs typeface="+mn-cs"/>
              </a:endParaRPr>
            </a:p>
          </p:txBody>
        </p:sp>
        <p:sp>
          <p:nvSpPr>
            <p:cNvPr id="60" name="Left-Right Arrow 59"/>
            <p:cNvSpPr/>
            <p:nvPr/>
          </p:nvSpPr>
          <p:spPr>
            <a:xfrm>
              <a:off x="5829436" y="1566837"/>
              <a:ext cx="990611" cy="226990"/>
            </a:xfrm>
            <a:prstGeom prst="leftRightArrow">
              <a:avLst/>
            </a:prstGeom>
            <a:solidFill>
              <a:srgbClr val="FFC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Verdana"/>
                <a:ea typeface="+mn-ea"/>
                <a:cs typeface="+mn-cs"/>
              </a:endParaRPr>
            </a:p>
          </p:txBody>
        </p:sp>
        <p:sp>
          <p:nvSpPr>
            <p:cNvPr id="61" name="Left Arrow 60"/>
            <p:cNvSpPr/>
            <p:nvPr/>
          </p:nvSpPr>
          <p:spPr>
            <a:xfrm>
              <a:off x="5840549" y="2450989"/>
              <a:ext cx="495305" cy="228578"/>
            </a:xfrm>
            <a:prstGeom prst="leftArrow">
              <a:avLst/>
            </a:prstGeom>
            <a:solidFill>
              <a:srgbClr val="FFC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Verdana"/>
                <a:ea typeface="+mn-ea"/>
                <a:cs typeface="+mn-cs"/>
              </a:endParaRPr>
            </a:p>
          </p:txBody>
        </p:sp>
        <p:sp>
          <p:nvSpPr>
            <p:cNvPr id="62" name="Rectangle 61"/>
            <p:cNvSpPr/>
            <p:nvPr/>
          </p:nvSpPr>
          <p:spPr>
            <a:xfrm>
              <a:off x="6243778" y="1717634"/>
              <a:ext cx="92076" cy="873041"/>
            </a:xfrm>
            <a:prstGeom prst="rect">
              <a:avLst/>
            </a:prstGeom>
            <a:solidFill>
              <a:srgbClr val="FFC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Verdana"/>
                <a:ea typeface="+mn-ea"/>
                <a:cs typeface="+mn-cs"/>
              </a:endParaRPr>
            </a:p>
          </p:txBody>
        </p:sp>
        <p:sp>
          <p:nvSpPr>
            <p:cNvPr id="63" name="Down Arrow 62"/>
            <p:cNvSpPr/>
            <p:nvPr/>
          </p:nvSpPr>
          <p:spPr>
            <a:xfrm>
              <a:off x="4953127" y="3822456"/>
              <a:ext cx="228602" cy="673035"/>
            </a:xfrm>
            <a:prstGeom prst="downArrow">
              <a:avLst/>
            </a:prstGeom>
            <a:solidFill>
              <a:srgbClr val="FFC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Verdana"/>
                <a:ea typeface="+mn-ea"/>
                <a:cs typeface="+mn-cs"/>
              </a:endParaRPr>
            </a:p>
          </p:txBody>
        </p:sp>
        <p:sp>
          <p:nvSpPr>
            <p:cNvPr id="64" name="Left-Right Arrow 63"/>
            <p:cNvSpPr/>
            <p:nvPr/>
          </p:nvSpPr>
          <p:spPr>
            <a:xfrm>
              <a:off x="3238608" y="1558900"/>
              <a:ext cx="893773" cy="188895"/>
            </a:xfrm>
            <a:prstGeom prst="leftRightArrow">
              <a:avLst/>
            </a:prstGeom>
            <a:solidFill>
              <a:srgbClr val="FFC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Verdana"/>
                <a:ea typeface="+mn-ea"/>
                <a:cs typeface="+mn-cs"/>
              </a:endParaRPr>
            </a:p>
          </p:txBody>
        </p:sp>
        <p:cxnSp>
          <p:nvCxnSpPr>
            <p:cNvPr id="65" name="Straight Connector 64"/>
            <p:cNvCxnSpPr/>
            <p:nvPr/>
          </p:nvCxnSpPr>
          <p:spPr>
            <a:xfrm>
              <a:off x="3249722" y="3352602"/>
              <a:ext cx="255590" cy="0"/>
            </a:xfrm>
            <a:prstGeom prst="line">
              <a:avLst/>
            </a:prstGeom>
            <a:noFill/>
            <a:ln w="28575" cap="flat" cmpd="sng" algn="ctr">
              <a:solidFill>
                <a:srgbClr val="4F81BD">
                  <a:lumMod val="50000"/>
                </a:srgbClr>
              </a:solidFill>
              <a:prstDash val="solid"/>
            </a:ln>
            <a:effectLst/>
          </p:spPr>
        </p:cxnSp>
        <p:cxnSp>
          <p:nvCxnSpPr>
            <p:cNvPr id="66" name="Straight Connector 65"/>
            <p:cNvCxnSpPr/>
            <p:nvPr/>
          </p:nvCxnSpPr>
          <p:spPr>
            <a:xfrm flipV="1">
              <a:off x="3505311" y="1901767"/>
              <a:ext cx="0" cy="1450835"/>
            </a:xfrm>
            <a:prstGeom prst="line">
              <a:avLst/>
            </a:prstGeom>
            <a:noFill/>
            <a:ln w="28575" cap="flat" cmpd="sng" algn="ctr">
              <a:solidFill>
                <a:srgbClr val="4F81BD">
                  <a:lumMod val="50000"/>
                </a:srgbClr>
              </a:solidFill>
              <a:prstDash val="solid"/>
            </a:ln>
            <a:effectLst/>
          </p:spPr>
        </p:cxnSp>
        <p:cxnSp>
          <p:nvCxnSpPr>
            <p:cNvPr id="67" name="Straight Arrow Connector 66"/>
            <p:cNvCxnSpPr/>
            <p:nvPr/>
          </p:nvCxnSpPr>
          <p:spPr>
            <a:xfrm>
              <a:off x="3505311" y="1901767"/>
              <a:ext cx="609606" cy="0"/>
            </a:xfrm>
            <a:prstGeom prst="straightConnector1">
              <a:avLst/>
            </a:prstGeom>
            <a:noFill/>
            <a:ln w="28575" cap="flat" cmpd="sng" algn="ctr">
              <a:solidFill>
                <a:srgbClr val="4F81BD">
                  <a:lumMod val="50000"/>
                </a:srgbClr>
              </a:solidFill>
              <a:prstDash val="solid"/>
              <a:tailEnd type="arrow"/>
            </a:ln>
            <a:effectLst/>
          </p:spPr>
        </p:cxnSp>
        <p:cxnSp>
          <p:nvCxnSpPr>
            <p:cNvPr id="68" name="Straight Connector 67"/>
            <p:cNvCxnSpPr/>
            <p:nvPr/>
          </p:nvCxnSpPr>
          <p:spPr>
            <a:xfrm flipH="1">
              <a:off x="3810115" y="2566865"/>
              <a:ext cx="304803" cy="0"/>
            </a:xfrm>
            <a:prstGeom prst="line">
              <a:avLst/>
            </a:prstGeom>
            <a:noFill/>
            <a:ln w="28575" cap="flat" cmpd="sng" algn="ctr">
              <a:solidFill>
                <a:srgbClr val="4F81BD">
                  <a:lumMod val="50000"/>
                </a:srgbClr>
              </a:solidFill>
              <a:prstDash val="solid"/>
            </a:ln>
            <a:effectLst/>
          </p:spPr>
        </p:cxnSp>
        <p:cxnSp>
          <p:nvCxnSpPr>
            <p:cNvPr id="69" name="Straight Connector 68"/>
            <p:cNvCxnSpPr/>
            <p:nvPr/>
          </p:nvCxnSpPr>
          <p:spPr>
            <a:xfrm>
              <a:off x="3810115" y="2565278"/>
              <a:ext cx="0" cy="939709"/>
            </a:xfrm>
            <a:prstGeom prst="line">
              <a:avLst/>
            </a:prstGeom>
            <a:noFill/>
            <a:ln w="28575" cap="flat" cmpd="sng" algn="ctr">
              <a:solidFill>
                <a:srgbClr val="4F81BD">
                  <a:lumMod val="50000"/>
                </a:srgbClr>
              </a:solidFill>
              <a:prstDash val="solid"/>
            </a:ln>
            <a:effectLst/>
          </p:spPr>
        </p:cxnSp>
        <p:cxnSp>
          <p:nvCxnSpPr>
            <p:cNvPr id="70" name="Straight Arrow Connector 69"/>
            <p:cNvCxnSpPr/>
            <p:nvPr/>
          </p:nvCxnSpPr>
          <p:spPr>
            <a:xfrm flipH="1">
              <a:off x="3238608" y="3504987"/>
              <a:ext cx="571506" cy="0"/>
            </a:xfrm>
            <a:prstGeom prst="straightConnector1">
              <a:avLst/>
            </a:prstGeom>
            <a:noFill/>
            <a:ln w="28575" cap="flat" cmpd="sng" algn="ctr">
              <a:solidFill>
                <a:srgbClr val="4F81BD">
                  <a:lumMod val="50000"/>
                </a:srgbClr>
              </a:solidFill>
              <a:prstDash val="solid"/>
              <a:tailEnd type="arrow"/>
            </a:ln>
            <a:effectLst/>
          </p:spPr>
        </p:cxnSp>
        <p:cxnSp>
          <p:nvCxnSpPr>
            <p:cNvPr id="71" name="Straight Arrow Connector 70"/>
            <p:cNvCxnSpPr/>
            <p:nvPr/>
          </p:nvCxnSpPr>
          <p:spPr>
            <a:xfrm>
              <a:off x="3238608" y="3714517"/>
              <a:ext cx="876309" cy="0"/>
            </a:xfrm>
            <a:prstGeom prst="straightConnector1">
              <a:avLst/>
            </a:prstGeom>
            <a:noFill/>
            <a:ln w="28575" cap="flat" cmpd="sng" algn="ctr">
              <a:solidFill>
                <a:srgbClr val="4F81BD">
                  <a:lumMod val="50000"/>
                </a:srgbClr>
              </a:solidFill>
              <a:prstDash val="solid"/>
              <a:tailEnd type="arrow"/>
            </a:ln>
            <a:effectLst/>
          </p:spPr>
        </p:cxnSp>
        <p:cxnSp>
          <p:nvCxnSpPr>
            <p:cNvPr id="72" name="Straight Connector 71"/>
            <p:cNvCxnSpPr/>
            <p:nvPr/>
          </p:nvCxnSpPr>
          <p:spPr>
            <a:xfrm>
              <a:off x="1562191" y="1857321"/>
              <a:ext cx="0" cy="1712748"/>
            </a:xfrm>
            <a:prstGeom prst="line">
              <a:avLst/>
            </a:prstGeom>
            <a:noFill/>
            <a:ln w="28575" cap="flat" cmpd="sng" algn="ctr">
              <a:solidFill>
                <a:srgbClr val="4F81BD">
                  <a:lumMod val="50000"/>
                </a:srgbClr>
              </a:solidFill>
              <a:prstDash val="solid"/>
            </a:ln>
            <a:effectLst/>
          </p:spPr>
        </p:cxnSp>
        <p:cxnSp>
          <p:nvCxnSpPr>
            <p:cNvPr id="73" name="Straight Connector 72"/>
            <p:cNvCxnSpPr/>
            <p:nvPr/>
          </p:nvCxnSpPr>
          <p:spPr>
            <a:xfrm flipH="1">
              <a:off x="1562191" y="3566894"/>
              <a:ext cx="442918" cy="0"/>
            </a:xfrm>
            <a:prstGeom prst="line">
              <a:avLst/>
            </a:prstGeom>
            <a:noFill/>
            <a:ln w="28575" cap="flat" cmpd="sng" algn="ctr">
              <a:solidFill>
                <a:srgbClr val="4F81BD">
                  <a:lumMod val="50000"/>
                </a:srgbClr>
              </a:solidFill>
              <a:prstDash val="solid"/>
            </a:ln>
            <a:effectLst/>
          </p:spPr>
        </p:cxnSp>
        <p:cxnSp>
          <p:nvCxnSpPr>
            <p:cNvPr id="74" name="Straight Arrow Connector 73"/>
            <p:cNvCxnSpPr/>
            <p:nvPr/>
          </p:nvCxnSpPr>
          <p:spPr>
            <a:xfrm>
              <a:off x="1549490" y="2727187"/>
              <a:ext cx="468318" cy="0"/>
            </a:xfrm>
            <a:prstGeom prst="straightConnector1">
              <a:avLst/>
            </a:prstGeom>
            <a:noFill/>
            <a:ln w="28575" cap="flat" cmpd="sng" algn="ctr">
              <a:solidFill>
                <a:srgbClr val="4F81BD">
                  <a:lumMod val="50000"/>
                </a:srgbClr>
              </a:solidFill>
              <a:prstDash val="solid"/>
              <a:tailEnd type="arrow"/>
            </a:ln>
            <a:effectLst/>
          </p:spPr>
        </p:cxnSp>
        <p:cxnSp>
          <p:nvCxnSpPr>
            <p:cNvPr id="75" name="Straight Arrow Connector 74"/>
            <p:cNvCxnSpPr/>
            <p:nvPr/>
          </p:nvCxnSpPr>
          <p:spPr>
            <a:xfrm>
              <a:off x="1562191" y="1857321"/>
              <a:ext cx="587381" cy="0"/>
            </a:xfrm>
            <a:prstGeom prst="straightConnector1">
              <a:avLst/>
            </a:prstGeom>
            <a:noFill/>
            <a:ln w="28575" cap="flat" cmpd="sng" algn="ctr">
              <a:solidFill>
                <a:srgbClr val="4F81BD">
                  <a:lumMod val="50000"/>
                </a:srgbClr>
              </a:solidFill>
              <a:prstDash val="solid"/>
              <a:tailEnd type="arrow"/>
            </a:ln>
            <a:effectLst/>
          </p:spPr>
        </p:cxnSp>
        <p:sp>
          <p:nvSpPr>
            <p:cNvPr id="76" name="TextBox 56"/>
            <p:cNvSpPr txBox="1">
              <a:spLocks noChangeArrowheads="1"/>
            </p:cNvSpPr>
            <p:nvPr/>
          </p:nvSpPr>
          <p:spPr bwMode="auto">
            <a:xfrm>
              <a:off x="1991012" y="4491516"/>
              <a:ext cx="1186543" cy="276999"/>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a:ln>
                    <a:noFill/>
                  </a:ln>
                  <a:solidFill>
                    <a:prstClr val="black"/>
                  </a:solidFill>
                  <a:effectLst/>
                  <a:uLnTx/>
                  <a:uFillTx/>
                  <a:latin typeface="Verdana" pitchFamily="34" charset="0"/>
                  <a:ea typeface="Verdana" pitchFamily="34" charset="0"/>
                  <a:cs typeface="Verdana" pitchFamily="34" charset="0"/>
                </a:rPr>
                <a:t>Control Bus</a:t>
              </a:r>
            </a:p>
          </p:txBody>
        </p:sp>
        <p:sp>
          <p:nvSpPr>
            <p:cNvPr id="77" name="TextBox 57"/>
            <p:cNvSpPr txBox="1">
              <a:spLocks noChangeArrowheads="1"/>
            </p:cNvSpPr>
            <p:nvPr/>
          </p:nvSpPr>
          <p:spPr bwMode="auto">
            <a:xfrm>
              <a:off x="4442161" y="4477826"/>
              <a:ext cx="1252266" cy="276999"/>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a:ln>
                    <a:noFill/>
                  </a:ln>
                  <a:solidFill>
                    <a:prstClr val="black"/>
                  </a:solidFill>
                  <a:effectLst/>
                  <a:uLnTx/>
                  <a:uFillTx/>
                  <a:latin typeface="Verdana" pitchFamily="34" charset="0"/>
                  <a:ea typeface="Verdana" pitchFamily="34" charset="0"/>
                  <a:cs typeface="Verdana" pitchFamily="34" charset="0"/>
                </a:rPr>
                <a:t>Address Bus</a:t>
              </a:r>
            </a:p>
          </p:txBody>
        </p:sp>
        <p:sp>
          <p:nvSpPr>
            <p:cNvPr id="78" name="TextBox 58"/>
            <p:cNvSpPr txBox="1">
              <a:spLocks noChangeArrowheads="1"/>
            </p:cNvSpPr>
            <p:nvPr/>
          </p:nvSpPr>
          <p:spPr bwMode="auto">
            <a:xfrm>
              <a:off x="6743789" y="1538053"/>
              <a:ext cx="958917" cy="276999"/>
            </a:xfrm>
            <a:prstGeom prst="rect">
              <a:avLst/>
            </a:prstGeom>
            <a:noFill/>
            <a:ln w="9525">
              <a:noFill/>
              <a:miter lim="800000"/>
              <a:headEnd/>
              <a:tailEnd/>
            </a:ln>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a:ln>
                    <a:noFill/>
                  </a:ln>
                  <a:solidFill>
                    <a:prstClr val="black"/>
                  </a:solidFill>
                  <a:effectLst/>
                  <a:uLnTx/>
                  <a:uFillTx/>
                  <a:latin typeface="Verdana" pitchFamily="34" charset="0"/>
                  <a:ea typeface="Verdana" pitchFamily="34" charset="0"/>
                  <a:cs typeface="Verdana" pitchFamily="34" charset="0"/>
                </a:rPr>
                <a:t>Data Bus</a:t>
              </a:r>
            </a:p>
          </p:txBody>
        </p:sp>
      </p:grpSp>
      <p:sp>
        <p:nvSpPr>
          <p:cNvPr id="84" name="Line Callout 2 83"/>
          <p:cNvSpPr/>
          <p:nvPr/>
        </p:nvSpPr>
        <p:spPr>
          <a:xfrm>
            <a:off x="521104" y="820998"/>
            <a:ext cx="2514600" cy="914400"/>
          </a:xfrm>
          <a:prstGeom prst="borderCallout2">
            <a:avLst>
              <a:gd name="adj1" fmla="val 46532"/>
              <a:gd name="adj2" fmla="val 99703"/>
              <a:gd name="adj3" fmla="val 46381"/>
              <a:gd name="adj4" fmla="val 115590"/>
              <a:gd name="adj5" fmla="val 194040"/>
              <a:gd name="adj6" fmla="val 116144"/>
            </a:avLst>
          </a:prstGeom>
          <a:solidFill>
            <a:srgbClr val="FFFF99"/>
          </a:solidFill>
          <a:ln w="6350" cap="flat" cmpd="sng" algn="ctr">
            <a:solidFill>
              <a:srgbClr val="FF0000"/>
            </a:solidFill>
            <a:prstDash val="soli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Verdana"/>
                <a:ea typeface="Verdana" pitchFamily="34" charset="0"/>
                <a:cs typeface="Verdana" pitchFamily="34" charset="0"/>
              </a:rPr>
              <a:t>Computational Unit; performs arithmetic and logic operations</a:t>
            </a:r>
          </a:p>
        </p:txBody>
      </p:sp>
      <p:sp>
        <p:nvSpPr>
          <p:cNvPr id="85" name="Line Callout 2 84"/>
          <p:cNvSpPr/>
          <p:nvPr/>
        </p:nvSpPr>
        <p:spPr>
          <a:xfrm>
            <a:off x="3569104" y="820998"/>
            <a:ext cx="2514600" cy="914400"/>
          </a:xfrm>
          <a:prstGeom prst="borderCallout2">
            <a:avLst>
              <a:gd name="adj1" fmla="val 101756"/>
              <a:gd name="adj2" fmla="val 50314"/>
              <a:gd name="adj3" fmla="val 137426"/>
              <a:gd name="adj4" fmla="val 50461"/>
              <a:gd name="adj5" fmla="val 284105"/>
              <a:gd name="adj6" fmla="val 3518"/>
            </a:avLst>
          </a:prstGeom>
          <a:solidFill>
            <a:srgbClr val="FFFF99"/>
          </a:solidFill>
          <a:ln w="6350"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Verdana"/>
                <a:ea typeface="Verdana" pitchFamily="34" charset="0"/>
                <a:cs typeface="Verdana" pitchFamily="34" charset="0"/>
              </a:rPr>
              <a:t>Various conditions of the results are stored as status bits called flags in flag register</a:t>
            </a:r>
            <a:endParaRPr kumimoji="0" lang="en-US" sz="1200" b="0" i="0" u="none" strike="noStrike" kern="0" cap="none" spc="0" normalizeH="0" baseline="0" noProof="0" dirty="0">
              <a:ln>
                <a:noFill/>
              </a:ln>
              <a:solidFill>
                <a:prstClr val="black"/>
              </a:solidFill>
              <a:effectLst/>
              <a:uLnTx/>
              <a:uFillTx/>
              <a:latin typeface="Verdana"/>
              <a:ea typeface="Verdana" pitchFamily="34" charset="0"/>
              <a:cs typeface="Verdana" pitchFamily="34" charset="0"/>
            </a:endParaRPr>
          </a:p>
        </p:txBody>
      </p:sp>
      <p:sp>
        <p:nvSpPr>
          <p:cNvPr id="86" name="Line Callout 2 85"/>
          <p:cNvSpPr/>
          <p:nvPr/>
        </p:nvSpPr>
        <p:spPr>
          <a:xfrm>
            <a:off x="6323417" y="1049598"/>
            <a:ext cx="2514600" cy="457200"/>
          </a:xfrm>
          <a:prstGeom prst="borderCallout2">
            <a:avLst>
              <a:gd name="adj1" fmla="val 101756"/>
              <a:gd name="adj2" fmla="val 50314"/>
              <a:gd name="adj3" fmla="val 137426"/>
              <a:gd name="adj4" fmla="val 50461"/>
              <a:gd name="adj5" fmla="val 307986"/>
              <a:gd name="adj6" fmla="val 5146"/>
            </a:avLst>
          </a:prstGeom>
          <a:solidFill>
            <a:srgbClr val="FFFF99"/>
          </a:solidFill>
          <a:ln w="6350"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Verdana"/>
                <a:ea typeface="Verdana" pitchFamily="34" charset="0"/>
                <a:cs typeface="Verdana" pitchFamily="34" charset="0"/>
              </a:rPr>
              <a:t>Internal storage of data</a:t>
            </a:r>
            <a:endParaRPr kumimoji="0" lang="en-US" sz="1200" b="0" i="0" u="none" strike="noStrike" kern="0" cap="none" spc="0" normalizeH="0" baseline="0" noProof="0" dirty="0">
              <a:ln>
                <a:noFill/>
              </a:ln>
              <a:solidFill>
                <a:prstClr val="black"/>
              </a:solidFill>
              <a:effectLst/>
              <a:uLnTx/>
              <a:uFillTx/>
              <a:latin typeface="Verdana"/>
              <a:ea typeface="Verdana" pitchFamily="34" charset="0"/>
              <a:cs typeface="Verdana" pitchFamily="34" charset="0"/>
            </a:endParaRPr>
          </a:p>
        </p:txBody>
      </p:sp>
      <p:sp>
        <p:nvSpPr>
          <p:cNvPr id="87" name="Line Callout 2 86"/>
          <p:cNvSpPr/>
          <p:nvPr/>
        </p:nvSpPr>
        <p:spPr>
          <a:xfrm>
            <a:off x="7379104" y="2802198"/>
            <a:ext cx="2406650" cy="1574800"/>
          </a:xfrm>
          <a:prstGeom prst="borderCallout2">
            <a:avLst>
              <a:gd name="adj1" fmla="val 98291"/>
              <a:gd name="adj2" fmla="val 50314"/>
              <a:gd name="adj3" fmla="val 106242"/>
              <a:gd name="adj4" fmla="val 50461"/>
              <a:gd name="adj5" fmla="val 106157"/>
              <a:gd name="adj6" fmla="val -57151"/>
            </a:avLst>
          </a:prstGeom>
          <a:solidFill>
            <a:srgbClr val="FFFF99"/>
          </a:solidFill>
          <a:ln w="6350" cap="flat" cmpd="sng" algn="ctr">
            <a:solidFill>
              <a:srgbClr val="FF0000"/>
            </a:solidFill>
            <a:prstDash val="soli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Verdana"/>
                <a:ea typeface="Verdana" pitchFamily="34" charset="0"/>
                <a:cs typeface="Verdana" pitchFamily="34" charset="0"/>
              </a:rPr>
              <a:t>Generates the address of the instructions to be fetched from the memory and send through address bus to the memory</a:t>
            </a:r>
            <a:endParaRPr kumimoji="0" lang="en-US" sz="1200" b="0" i="0" u="none" strike="noStrike" kern="0" cap="none" spc="0" normalizeH="0" baseline="0" noProof="0" dirty="0">
              <a:ln>
                <a:noFill/>
              </a:ln>
              <a:solidFill>
                <a:prstClr val="black"/>
              </a:solidFill>
              <a:effectLst/>
              <a:uLnTx/>
              <a:uFillTx/>
              <a:latin typeface="Verdana"/>
              <a:ea typeface="Verdana" pitchFamily="34" charset="0"/>
              <a:cs typeface="Verdana" pitchFamily="34" charset="0"/>
            </a:endParaRPr>
          </a:p>
        </p:txBody>
      </p:sp>
      <p:sp>
        <p:nvSpPr>
          <p:cNvPr id="88" name="Line Callout 2 87"/>
          <p:cNvSpPr/>
          <p:nvPr/>
        </p:nvSpPr>
        <p:spPr>
          <a:xfrm>
            <a:off x="4277129" y="5690430"/>
            <a:ext cx="2949575" cy="685800"/>
          </a:xfrm>
          <a:prstGeom prst="borderCallout2">
            <a:avLst>
              <a:gd name="adj1" fmla="val -5191"/>
              <a:gd name="adj2" fmla="val 8667"/>
              <a:gd name="adj3" fmla="val -317639"/>
              <a:gd name="adj4" fmla="val 9278"/>
              <a:gd name="adj5" fmla="val -359515"/>
              <a:gd name="adj6" fmla="val 21052"/>
            </a:avLst>
          </a:prstGeom>
          <a:solidFill>
            <a:srgbClr val="FFFF99"/>
          </a:solidFill>
          <a:ln w="6350" cap="flat" cmpd="sng" algn="ctr">
            <a:solidFill>
              <a:srgbClr val="FF0000"/>
            </a:solidFill>
            <a:prstDash val="soli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Verdana"/>
                <a:ea typeface="Verdana" pitchFamily="34" charset="0"/>
                <a:cs typeface="Verdana" pitchFamily="34" charset="0"/>
              </a:rPr>
              <a:t>Decodes instructions; sends information to the timing and control unit</a:t>
            </a:r>
            <a:endParaRPr kumimoji="0" lang="en-US" sz="1200" b="0" i="0" u="none" strike="noStrike" kern="0" cap="none" spc="0" normalizeH="0" baseline="0" noProof="0" dirty="0">
              <a:ln>
                <a:noFill/>
              </a:ln>
              <a:solidFill>
                <a:prstClr val="black"/>
              </a:solidFill>
              <a:effectLst/>
              <a:uLnTx/>
              <a:uFillTx/>
              <a:latin typeface="Verdana"/>
              <a:ea typeface="Verdana" pitchFamily="34" charset="0"/>
              <a:cs typeface="Verdana" pitchFamily="34" charset="0"/>
            </a:endParaRPr>
          </a:p>
        </p:txBody>
      </p:sp>
      <p:sp>
        <p:nvSpPr>
          <p:cNvPr id="89" name="Line Callout 2 88"/>
          <p:cNvSpPr/>
          <p:nvPr/>
        </p:nvSpPr>
        <p:spPr>
          <a:xfrm>
            <a:off x="1152929" y="5643726"/>
            <a:ext cx="2949575" cy="800100"/>
          </a:xfrm>
          <a:prstGeom prst="borderCallout2">
            <a:avLst>
              <a:gd name="adj1" fmla="val -5191"/>
              <a:gd name="adj2" fmla="val 8667"/>
              <a:gd name="adj3" fmla="val -107831"/>
              <a:gd name="adj4" fmla="val 8815"/>
              <a:gd name="adj5" fmla="val -179079"/>
              <a:gd name="adj6" fmla="val 56856"/>
            </a:avLst>
          </a:prstGeom>
          <a:solidFill>
            <a:srgbClr val="FFFF99"/>
          </a:solidFill>
          <a:ln w="6350" cap="flat" cmpd="sng" algn="ctr">
            <a:solidFill>
              <a:srgbClr val="FF0000"/>
            </a:solidFill>
            <a:prstDash val="solid"/>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Verdana"/>
                <a:ea typeface="Verdana" pitchFamily="34" charset="0"/>
                <a:cs typeface="Verdana" pitchFamily="34" charset="0"/>
              </a:rPr>
              <a:t>Generates control signals for internal and external operations of the microprocessor</a:t>
            </a:r>
            <a:endParaRPr kumimoji="0" lang="en-US" sz="1200" b="0" i="0" u="none" strike="noStrike" kern="0" cap="none" spc="0" normalizeH="0" baseline="0" noProof="0" dirty="0">
              <a:ln>
                <a:noFill/>
              </a:ln>
              <a:solidFill>
                <a:prstClr val="black"/>
              </a:solidFill>
              <a:effectLst/>
              <a:uLnTx/>
              <a:uFillTx/>
              <a:latin typeface="Verdana"/>
              <a:ea typeface="Verdana" pitchFamily="34" charset="0"/>
              <a:cs typeface="Verdana" pitchFamily="34" charset="0"/>
            </a:endParaRPr>
          </a:p>
        </p:txBody>
      </p:sp>
    </p:spTree>
    <p:extLst>
      <p:ext uri="{BB962C8B-B14F-4D97-AF65-F5344CB8AC3E}">
        <p14:creationId xmlns:p14="http://schemas.microsoft.com/office/powerpoint/2010/main" val="4041705981"/>
      </p:ext>
    </p:extLst>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fade">
                                      <p:cBhvr>
                                        <p:cTn id="12" dur="500"/>
                                        <p:tgtEl>
                                          <p:spTgt spid="8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6"/>
                                        </p:tgtEl>
                                        <p:attrNameLst>
                                          <p:attrName>style.visibility</p:attrName>
                                        </p:attrNameLst>
                                      </p:cBhvr>
                                      <p:to>
                                        <p:strVal val="visible"/>
                                      </p:to>
                                    </p:set>
                                    <p:animEffect transition="in" filter="fade">
                                      <p:cBhvr>
                                        <p:cTn id="17" dur="500"/>
                                        <p:tgtEl>
                                          <p:spTgt spid="8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fade">
                                      <p:cBhvr>
                                        <p:cTn id="22" dur="500"/>
                                        <p:tgtEl>
                                          <p:spTgt spid="8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8"/>
                                        </p:tgtEl>
                                        <p:attrNameLst>
                                          <p:attrName>style.visibility</p:attrName>
                                        </p:attrNameLst>
                                      </p:cBhvr>
                                      <p:to>
                                        <p:strVal val="visible"/>
                                      </p:to>
                                    </p:set>
                                    <p:animEffect transition="in" filter="fade">
                                      <p:cBhvr>
                                        <p:cTn id="27" dur="500"/>
                                        <p:tgtEl>
                                          <p:spTgt spid="8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9"/>
                                        </p:tgtEl>
                                        <p:attrNameLst>
                                          <p:attrName>style.visibility</p:attrName>
                                        </p:attrNameLst>
                                      </p:cBhvr>
                                      <p:to>
                                        <p:strVal val="visible"/>
                                      </p:to>
                                    </p:set>
                                    <p:animEffect transition="in" filter="fade">
                                      <p:cBhvr>
                                        <p:cTn id="32"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5" grpId="0" animBg="1"/>
      <p:bldP spid="86" grpId="0" animBg="1"/>
      <p:bldP spid="87" grpId="0" animBg="1"/>
      <p:bldP spid="88" grpId="0" animBg="1"/>
      <p:bldP spid="8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6</a:t>
            </a:fld>
            <a:endParaRPr lang="en-US">
              <a:latin typeface="Cambria" panose="02040503050406030204" pitchFamily="18" charset="0"/>
            </a:endParaRPr>
          </a:p>
        </p:txBody>
      </p:sp>
      <p:sp>
        <p:nvSpPr>
          <p:cNvPr id="7" name="TextBox 1"/>
          <p:cNvSpPr txBox="1">
            <a:spLocks noChangeArrowheads="1"/>
          </p:cNvSpPr>
          <p:nvPr/>
        </p:nvSpPr>
        <p:spPr bwMode="auto">
          <a:xfrm>
            <a:off x="0" y="156808"/>
            <a:ext cx="990866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2800" b="1" dirty="0">
                <a:solidFill>
                  <a:schemeClr val="accent2"/>
                </a:solidFill>
                <a:latin typeface="Cambria" panose="02040503050406030204" pitchFamily="18" charset="0"/>
                <a:cs typeface="Arial" panose="020B0604020202020204" pitchFamily="34" charset="0"/>
              </a:rPr>
              <a:t>	How does queue speed up the processing of the 8086 	microprocessor?</a:t>
            </a:r>
          </a:p>
        </p:txBody>
      </p:sp>
      <p:sp>
        <p:nvSpPr>
          <p:cNvPr id="8" name="TextBox 7"/>
          <p:cNvSpPr txBox="1"/>
          <p:nvPr/>
        </p:nvSpPr>
        <p:spPr>
          <a:xfrm>
            <a:off x="0" y="1347020"/>
            <a:ext cx="9906000" cy="2677656"/>
          </a:xfrm>
          <a:prstGeom prst="rect">
            <a:avLst/>
          </a:prstGeom>
          <a:noFill/>
        </p:spPr>
        <p:txBody>
          <a:bodyPr wrap="square" rtlCol="0">
            <a:spAutoFit/>
          </a:bodyPr>
          <a:lstStyle/>
          <a:p>
            <a:pPr lvl="1"/>
            <a:r>
              <a:rPr lang="en-US" sz="2800" dirty="0">
                <a:latin typeface="Cambria" panose="02040503050406030204" pitchFamily="18" charset="0"/>
              </a:rPr>
              <a:t>The 8086 microprocessor's 6-byte instruction queue increases speed through instruction prefetching. The BIU fetches instructions and stores them in the queue. At the same time, the EU executes the instructions. Because of  instruction fetching and execution overlap, the processor's idle time is reduced and execution speed increases.</a:t>
            </a:r>
          </a:p>
        </p:txBody>
      </p:sp>
    </p:spTree>
    <p:extLst>
      <p:ext uri="{BB962C8B-B14F-4D97-AF65-F5344CB8AC3E}">
        <p14:creationId xmlns:p14="http://schemas.microsoft.com/office/powerpoint/2010/main" val="3332390829"/>
      </p:ext>
    </p:extLst>
  </p:cSld>
  <p:clrMapOvr>
    <a:masterClrMapping/>
  </p:clrMapOvr>
  <p:transition spd="med">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7</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Register of 8086 Microprocessor</a:t>
            </a:r>
          </a:p>
        </p:txBody>
      </p:sp>
      <p:graphicFrame>
        <p:nvGraphicFramePr>
          <p:cNvPr id="2" name="Table 1"/>
          <p:cNvGraphicFramePr>
            <a:graphicFrameLocks noGrp="1"/>
          </p:cNvGraphicFramePr>
          <p:nvPr>
            <p:extLst>
              <p:ext uri="{D42A27DB-BD31-4B8C-83A1-F6EECF244321}">
                <p14:modId xmlns:p14="http://schemas.microsoft.com/office/powerpoint/2010/main" val="1224147767"/>
              </p:ext>
            </p:extLst>
          </p:nvPr>
        </p:nvGraphicFramePr>
        <p:xfrm>
          <a:off x="572883" y="785215"/>
          <a:ext cx="9161052" cy="5593080"/>
        </p:xfrm>
        <a:graphic>
          <a:graphicData uri="http://schemas.openxmlformats.org/drawingml/2006/table">
            <a:tbl>
              <a:tblPr firstRow="1" bandRow="1">
                <a:tableStyleId>{5940675A-B579-460E-94D1-54222C63F5DA}</a:tableStyleId>
              </a:tblPr>
              <a:tblGrid>
                <a:gridCol w="1944175">
                  <a:extLst>
                    <a:ext uri="{9D8B030D-6E8A-4147-A177-3AD203B41FA5}">
                      <a16:colId xmlns:a16="http://schemas.microsoft.com/office/drawing/2014/main" val="3073037013"/>
                    </a:ext>
                  </a:extLst>
                </a:gridCol>
                <a:gridCol w="934065">
                  <a:extLst>
                    <a:ext uri="{9D8B030D-6E8A-4147-A177-3AD203B41FA5}">
                      <a16:colId xmlns:a16="http://schemas.microsoft.com/office/drawing/2014/main" val="859104623"/>
                    </a:ext>
                  </a:extLst>
                </a:gridCol>
                <a:gridCol w="6282812">
                  <a:extLst>
                    <a:ext uri="{9D8B030D-6E8A-4147-A177-3AD203B41FA5}">
                      <a16:colId xmlns:a16="http://schemas.microsoft.com/office/drawing/2014/main" val="1395313022"/>
                    </a:ext>
                  </a:extLst>
                </a:gridCol>
              </a:tblGrid>
              <a:tr h="370840">
                <a:tc>
                  <a:txBody>
                    <a:bodyPr/>
                    <a:lstStyle/>
                    <a:p>
                      <a:pPr algn="ctr"/>
                      <a:r>
                        <a:rPr lang="en-US" sz="2500" b="1" dirty="0">
                          <a:latin typeface="Cambria" panose="02040503050406030204" pitchFamily="18" charset="0"/>
                        </a:rPr>
                        <a:t>Category </a:t>
                      </a:r>
                    </a:p>
                  </a:txBody>
                  <a:tcPr/>
                </a:tc>
                <a:tc>
                  <a:txBody>
                    <a:bodyPr/>
                    <a:lstStyle/>
                    <a:p>
                      <a:pPr algn="ctr"/>
                      <a:r>
                        <a:rPr lang="en-US" sz="2500" b="1" dirty="0">
                          <a:latin typeface="Cambria" panose="02040503050406030204" pitchFamily="18" charset="0"/>
                        </a:rPr>
                        <a:t>Bits</a:t>
                      </a:r>
                    </a:p>
                  </a:txBody>
                  <a:tcPr/>
                </a:tc>
                <a:tc>
                  <a:txBody>
                    <a:bodyPr/>
                    <a:lstStyle/>
                    <a:p>
                      <a:pPr algn="ctr"/>
                      <a:r>
                        <a:rPr lang="en-US" sz="2500" b="1" dirty="0">
                          <a:latin typeface="Cambria" panose="02040503050406030204" pitchFamily="18" charset="0"/>
                        </a:rPr>
                        <a:t>Register Name </a:t>
                      </a:r>
                    </a:p>
                  </a:txBody>
                  <a:tcPr/>
                </a:tc>
                <a:extLst>
                  <a:ext uri="{0D108BD9-81ED-4DB2-BD59-A6C34878D82A}">
                    <a16:rowId xmlns:a16="http://schemas.microsoft.com/office/drawing/2014/main" val="785648294"/>
                  </a:ext>
                </a:extLst>
              </a:tr>
              <a:tr h="370840">
                <a:tc rowSpan="2">
                  <a:txBody>
                    <a:bodyPr/>
                    <a:lstStyle/>
                    <a:p>
                      <a:pPr algn="l"/>
                      <a:r>
                        <a:rPr lang="en-US" sz="2500" dirty="0">
                          <a:latin typeface="Cambria" panose="02040503050406030204" pitchFamily="18" charset="0"/>
                        </a:rPr>
                        <a:t>Data / General Purpose Registers </a:t>
                      </a:r>
                    </a:p>
                  </a:txBody>
                  <a:tcPr anchor="ctr"/>
                </a:tc>
                <a:tc>
                  <a:txBody>
                    <a:bodyPr/>
                    <a:lstStyle/>
                    <a:p>
                      <a:pPr algn="ctr"/>
                      <a:r>
                        <a:rPr lang="en-US" sz="2500" dirty="0">
                          <a:latin typeface="Cambria" panose="02040503050406030204" pitchFamily="18" charset="0"/>
                        </a:rPr>
                        <a:t>16</a:t>
                      </a:r>
                    </a:p>
                  </a:txBody>
                  <a:tcPr/>
                </a:tc>
                <a:tc>
                  <a:txBody>
                    <a:bodyPr/>
                    <a:lstStyle/>
                    <a:p>
                      <a:r>
                        <a:rPr lang="en-US" sz="2500" dirty="0">
                          <a:latin typeface="Cambria" panose="02040503050406030204" pitchFamily="18" charset="0"/>
                        </a:rPr>
                        <a:t>AX, BX, CX, DX</a:t>
                      </a:r>
                    </a:p>
                  </a:txBody>
                  <a:tcPr/>
                </a:tc>
                <a:extLst>
                  <a:ext uri="{0D108BD9-81ED-4DB2-BD59-A6C34878D82A}">
                    <a16:rowId xmlns:a16="http://schemas.microsoft.com/office/drawing/2014/main" val="1817141314"/>
                  </a:ext>
                </a:extLst>
              </a:tr>
              <a:tr h="370840">
                <a:tc vMerge="1">
                  <a:txBody>
                    <a:bodyPr/>
                    <a:lstStyle/>
                    <a:p>
                      <a:endParaRPr lang="en-US" sz="2700" dirty="0">
                        <a:latin typeface="Cambria" panose="02040503050406030204" pitchFamily="18" charset="0"/>
                      </a:endParaRPr>
                    </a:p>
                  </a:txBody>
                  <a:tcPr/>
                </a:tc>
                <a:tc>
                  <a:txBody>
                    <a:bodyPr/>
                    <a:lstStyle/>
                    <a:p>
                      <a:pPr algn="ctr"/>
                      <a:r>
                        <a:rPr lang="en-US" sz="2500" dirty="0">
                          <a:latin typeface="Cambria" panose="02040503050406030204" pitchFamily="18" charset="0"/>
                        </a:rPr>
                        <a:t>8</a:t>
                      </a:r>
                    </a:p>
                  </a:txBody>
                  <a:tcPr/>
                </a:tc>
                <a:tc>
                  <a:txBody>
                    <a:bodyPr/>
                    <a:lstStyle/>
                    <a:p>
                      <a:r>
                        <a:rPr lang="en-US" sz="2500" dirty="0">
                          <a:latin typeface="Cambria" panose="02040503050406030204" pitchFamily="18" charset="0"/>
                        </a:rPr>
                        <a:t>AH, AL; BH, BL; CH, CL; DH, DL</a:t>
                      </a:r>
                    </a:p>
                  </a:txBody>
                  <a:tcPr/>
                </a:tc>
                <a:extLst>
                  <a:ext uri="{0D108BD9-81ED-4DB2-BD59-A6C34878D82A}">
                    <a16:rowId xmlns:a16="http://schemas.microsoft.com/office/drawing/2014/main" val="1252269523"/>
                  </a:ext>
                </a:extLst>
              </a:tr>
              <a:tr h="370840">
                <a:tc>
                  <a:txBody>
                    <a:bodyPr/>
                    <a:lstStyle/>
                    <a:p>
                      <a:r>
                        <a:rPr lang="en-US" sz="2500" dirty="0">
                          <a:latin typeface="Cambria" panose="02040503050406030204" pitchFamily="18" charset="0"/>
                        </a:rPr>
                        <a:t>Pointer </a:t>
                      </a:r>
                    </a:p>
                  </a:txBody>
                  <a:tcPr/>
                </a:tc>
                <a:tc>
                  <a:txBody>
                    <a:bodyPr/>
                    <a:lstStyle/>
                    <a:p>
                      <a:pPr algn="ctr"/>
                      <a:r>
                        <a:rPr lang="en-US" sz="2500" dirty="0">
                          <a:latin typeface="Cambria" panose="02040503050406030204" pitchFamily="18" charset="0"/>
                        </a:rPr>
                        <a:t>16</a:t>
                      </a:r>
                    </a:p>
                  </a:txBody>
                  <a:tcPr/>
                </a:tc>
                <a:tc>
                  <a:txBody>
                    <a:bodyPr/>
                    <a:lstStyle/>
                    <a:p>
                      <a:r>
                        <a:rPr lang="en-US" sz="2500" dirty="0">
                          <a:latin typeface="Cambria" panose="02040503050406030204" pitchFamily="18" charset="0"/>
                        </a:rPr>
                        <a:t>SP (Stack Pointer), BP (Base</a:t>
                      </a:r>
                      <a:r>
                        <a:rPr lang="en-US" sz="2500" baseline="0" dirty="0">
                          <a:latin typeface="Cambria" panose="02040503050406030204" pitchFamily="18" charset="0"/>
                        </a:rPr>
                        <a:t> Pointer) </a:t>
                      </a:r>
                      <a:endParaRPr lang="en-US" sz="2500" dirty="0">
                        <a:latin typeface="Cambria" panose="02040503050406030204" pitchFamily="18" charset="0"/>
                      </a:endParaRPr>
                    </a:p>
                  </a:txBody>
                  <a:tcPr/>
                </a:tc>
                <a:extLst>
                  <a:ext uri="{0D108BD9-81ED-4DB2-BD59-A6C34878D82A}">
                    <a16:rowId xmlns:a16="http://schemas.microsoft.com/office/drawing/2014/main" val="3246382958"/>
                  </a:ext>
                </a:extLst>
              </a:tr>
              <a:tr h="370840">
                <a:tc>
                  <a:txBody>
                    <a:bodyPr/>
                    <a:lstStyle/>
                    <a:p>
                      <a:r>
                        <a:rPr lang="en-US" sz="2500" dirty="0">
                          <a:latin typeface="Cambria" panose="02040503050406030204" pitchFamily="18" charset="0"/>
                        </a:rPr>
                        <a:t>Index</a:t>
                      </a:r>
                    </a:p>
                  </a:txBody>
                  <a:tcPr/>
                </a:tc>
                <a:tc>
                  <a:txBody>
                    <a:bodyPr/>
                    <a:lstStyle/>
                    <a:p>
                      <a:pPr algn="ctr"/>
                      <a:r>
                        <a:rPr lang="en-US" sz="2500" dirty="0">
                          <a:latin typeface="Cambria" panose="02040503050406030204" pitchFamily="18" charset="0"/>
                        </a:rPr>
                        <a:t>16</a:t>
                      </a:r>
                    </a:p>
                  </a:txBody>
                  <a:tcPr/>
                </a:tc>
                <a:tc>
                  <a:txBody>
                    <a:bodyPr/>
                    <a:lstStyle/>
                    <a:p>
                      <a:r>
                        <a:rPr lang="en-US" sz="2500" dirty="0">
                          <a:latin typeface="Cambria" panose="02040503050406030204" pitchFamily="18" charset="0"/>
                        </a:rPr>
                        <a:t>SI (Source Index</a:t>
                      </a:r>
                      <a:r>
                        <a:rPr lang="en-US" sz="2500" baseline="0" dirty="0">
                          <a:latin typeface="Cambria" panose="02040503050406030204" pitchFamily="18" charset="0"/>
                        </a:rPr>
                        <a:t>), DI (Destination Index)</a:t>
                      </a:r>
                      <a:endParaRPr lang="en-US" sz="2500" dirty="0">
                        <a:latin typeface="Cambria" panose="02040503050406030204" pitchFamily="18" charset="0"/>
                      </a:endParaRPr>
                    </a:p>
                  </a:txBody>
                  <a:tcPr/>
                </a:tc>
                <a:extLst>
                  <a:ext uri="{0D108BD9-81ED-4DB2-BD59-A6C34878D82A}">
                    <a16:rowId xmlns:a16="http://schemas.microsoft.com/office/drawing/2014/main" val="1184154857"/>
                  </a:ext>
                </a:extLst>
              </a:tr>
              <a:tr h="370840">
                <a:tc>
                  <a:txBody>
                    <a:bodyPr/>
                    <a:lstStyle/>
                    <a:p>
                      <a:r>
                        <a:rPr lang="en-US" sz="2500" dirty="0">
                          <a:latin typeface="Cambria" panose="02040503050406030204" pitchFamily="18" charset="0"/>
                        </a:rPr>
                        <a:t>Segment</a:t>
                      </a:r>
                    </a:p>
                  </a:txBody>
                  <a:tcPr/>
                </a:tc>
                <a:tc>
                  <a:txBody>
                    <a:bodyPr/>
                    <a:lstStyle/>
                    <a:p>
                      <a:pPr algn="ctr"/>
                      <a:r>
                        <a:rPr lang="en-US" sz="2500" dirty="0">
                          <a:latin typeface="Cambria" panose="02040503050406030204" pitchFamily="18" charset="0"/>
                        </a:rPr>
                        <a:t>16</a:t>
                      </a:r>
                    </a:p>
                  </a:txBody>
                  <a:tcPr/>
                </a:tc>
                <a:tc>
                  <a:txBody>
                    <a:bodyPr/>
                    <a:lstStyle/>
                    <a:p>
                      <a:r>
                        <a:rPr lang="en-US" sz="2500" dirty="0">
                          <a:latin typeface="Cambria" panose="02040503050406030204" pitchFamily="18" charset="0"/>
                        </a:rPr>
                        <a:t>CS (Code Segment)</a:t>
                      </a:r>
                    </a:p>
                    <a:p>
                      <a:r>
                        <a:rPr lang="en-US" sz="2500" dirty="0">
                          <a:latin typeface="Cambria" panose="02040503050406030204" pitchFamily="18" charset="0"/>
                        </a:rPr>
                        <a:t>DS (Data Segment)</a:t>
                      </a:r>
                    </a:p>
                    <a:p>
                      <a:r>
                        <a:rPr lang="en-US" sz="2500" dirty="0">
                          <a:latin typeface="Cambria" panose="02040503050406030204" pitchFamily="18" charset="0"/>
                        </a:rPr>
                        <a:t>SS (Stack Segment)</a:t>
                      </a:r>
                    </a:p>
                    <a:p>
                      <a:r>
                        <a:rPr lang="en-US" sz="2500" dirty="0">
                          <a:latin typeface="Cambria" panose="02040503050406030204" pitchFamily="18" charset="0"/>
                        </a:rPr>
                        <a:t>ES (Extra Segment)</a:t>
                      </a:r>
                    </a:p>
                  </a:txBody>
                  <a:tcPr/>
                </a:tc>
                <a:extLst>
                  <a:ext uri="{0D108BD9-81ED-4DB2-BD59-A6C34878D82A}">
                    <a16:rowId xmlns:a16="http://schemas.microsoft.com/office/drawing/2014/main" val="1519065656"/>
                  </a:ext>
                </a:extLst>
              </a:tr>
              <a:tr h="370840">
                <a:tc>
                  <a:txBody>
                    <a:bodyPr/>
                    <a:lstStyle/>
                    <a:p>
                      <a:r>
                        <a:rPr lang="en-US" sz="2500" dirty="0">
                          <a:latin typeface="Cambria" panose="02040503050406030204" pitchFamily="18" charset="0"/>
                        </a:rPr>
                        <a:t>Instruction </a:t>
                      </a:r>
                    </a:p>
                  </a:txBody>
                  <a:tcPr/>
                </a:tc>
                <a:tc>
                  <a:txBody>
                    <a:bodyPr/>
                    <a:lstStyle/>
                    <a:p>
                      <a:pPr algn="ctr"/>
                      <a:r>
                        <a:rPr lang="en-US" sz="2500" dirty="0">
                          <a:latin typeface="Cambria" panose="02040503050406030204" pitchFamily="18" charset="0"/>
                        </a:rPr>
                        <a:t>16</a:t>
                      </a:r>
                    </a:p>
                  </a:txBody>
                  <a:tcPr/>
                </a:tc>
                <a:tc>
                  <a:txBody>
                    <a:bodyPr/>
                    <a:lstStyle/>
                    <a:p>
                      <a:r>
                        <a:rPr lang="en-US" sz="2500" dirty="0">
                          <a:latin typeface="Cambria" panose="02040503050406030204" pitchFamily="18" charset="0"/>
                        </a:rPr>
                        <a:t>IP (Instruction Pointer)</a:t>
                      </a:r>
                    </a:p>
                  </a:txBody>
                  <a:tcPr/>
                </a:tc>
                <a:extLst>
                  <a:ext uri="{0D108BD9-81ED-4DB2-BD59-A6C34878D82A}">
                    <a16:rowId xmlns:a16="http://schemas.microsoft.com/office/drawing/2014/main" val="2289144549"/>
                  </a:ext>
                </a:extLst>
              </a:tr>
              <a:tr h="370840">
                <a:tc>
                  <a:txBody>
                    <a:bodyPr/>
                    <a:lstStyle/>
                    <a:p>
                      <a:r>
                        <a:rPr lang="en-US" sz="2500" dirty="0">
                          <a:latin typeface="Cambria" panose="02040503050406030204" pitchFamily="18" charset="0"/>
                        </a:rPr>
                        <a:t>Flag </a:t>
                      </a:r>
                    </a:p>
                  </a:txBody>
                  <a:tcPr/>
                </a:tc>
                <a:tc>
                  <a:txBody>
                    <a:bodyPr/>
                    <a:lstStyle/>
                    <a:p>
                      <a:pPr algn="ctr"/>
                      <a:r>
                        <a:rPr lang="en-US" sz="2500" dirty="0">
                          <a:latin typeface="Cambria" panose="02040503050406030204" pitchFamily="18" charset="0"/>
                        </a:rPr>
                        <a:t>16</a:t>
                      </a:r>
                    </a:p>
                  </a:txBody>
                  <a:tcPr/>
                </a:tc>
                <a:tc>
                  <a:txBody>
                    <a:bodyPr/>
                    <a:lstStyle/>
                    <a:p>
                      <a:r>
                        <a:rPr lang="en-US" sz="2500" dirty="0">
                          <a:latin typeface="Cambria" panose="02040503050406030204" pitchFamily="18" charset="0"/>
                        </a:rPr>
                        <a:t>FR (Flag Register)</a:t>
                      </a:r>
                      <a:r>
                        <a:rPr lang="en-US" sz="2500" baseline="0" dirty="0">
                          <a:latin typeface="Cambria" panose="02040503050406030204" pitchFamily="18" charset="0"/>
                        </a:rPr>
                        <a:t> </a:t>
                      </a:r>
                      <a:endParaRPr lang="en-US" sz="2500" dirty="0">
                        <a:latin typeface="Cambria" panose="02040503050406030204" pitchFamily="18" charset="0"/>
                      </a:endParaRPr>
                    </a:p>
                  </a:txBody>
                  <a:tcPr/>
                </a:tc>
                <a:extLst>
                  <a:ext uri="{0D108BD9-81ED-4DB2-BD59-A6C34878D82A}">
                    <a16:rowId xmlns:a16="http://schemas.microsoft.com/office/drawing/2014/main" val="4127455211"/>
                  </a:ext>
                </a:extLst>
              </a:tr>
            </a:tbl>
          </a:graphicData>
        </a:graphic>
      </p:graphicFrame>
    </p:spTree>
    <p:extLst>
      <p:ext uri="{BB962C8B-B14F-4D97-AF65-F5344CB8AC3E}">
        <p14:creationId xmlns:p14="http://schemas.microsoft.com/office/powerpoint/2010/main" val="1769882725"/>
      </p:ext>
    </p:extLst>
  </p:cSld>
  <p:clrMapOvr>
    <a:masterClrMapping/>
  </p:clrMapOvr>
  <p:transition spd="med">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8</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Register of 8086 Microprocessor</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5290" y="545643"/>
            <a:ext cx="3104337" cy="5938040"/>
          </a:xfrm>
          <a:prstGeom prst="rect">
            <a:avLst/>
          </a:prstGeom>
        </p:spPr>
      </p:pic>
    </p:spTree>
    <p:extLst>
      <p:ext uri="{BB962C8B-B14F-4D97-AF65-F5344CB8AC3E}">
        <p14:creationId xmlns:p14="http://schemas.microsoft.com/office/powerpoint/2010/main" val="515102659"/>
      </p:ext>
    </p:extLst>
  </p:cSld>
  <p:clrMapOvr>
    <a:masterClrMapping/>
  </p:clrMapOvr>
  <p:transition spd="med">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9</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Register of 8086 Microprocessor</a:t>
            </a:r>
          </a:p>
        </p:txBody>
      </p:sp>
      <p:sp>
        <p:nvSpPr>
          <p:cNvPr id="8" name="TextBox 7"/>
          <p:cNvSpPr txBox="1"/>
          <p:nvPr/>
        </p:nvSpPr>
        <p:spPr>
          <a:xfrm>
            <a:off x="0" y="571154"/>
            <a:ext cx="9906000" cy="5863144"/>
          </a:xfrm>
          <a:prstGeom prst="rect">
            <a:avLst/>
          </a:prstGeom>
          <a:noFill/>
        </p:spPr>
        <p:txBody>
          <a:bodyPr wrap="square" rtlCol="0">
            <a:spAutoFit/>
          </a:bodyPr>
          <a:lstStyle/>
          <a:p>
            <a:pPr lvl="1"/>
            <a:r>
              <a:rPr lang="en-US" sz="2500" b="1" dirty="0">
                <a:latin typeface="Cambria" panose="02040503050406030204" pitchFamily="18" charset="0"/>
              </a:rPr>
              <a:t>Data Register: </a:t>
            </a:r>
            <a:r>
              <a:rPr lang="en-US" sz="2500" dirty="0">
                <a:latin typeface="Cambria" panose="02040503050406030204" pitchFamily="18" charset="0"/>
              </a:rPr>
              <a:t>Manipulates data.</a:t>
            </a:r>
          </a:p>
          <a:p>
            <a:pPr marL="914400" lvl="1" indent="-457200">
              <a:buFont typeface="Wingdings" panose="05000000000000000000" pitchFamily="2" charset="2"/>
              <a:buChar char="Ø"/>
            </a:pPr>
            <a:r>
              <a:rPr lang="en-US" sz="2500" b="1" dirty="0">
                <a:latin typeface="Cambria" panose="02040503050406030204" pitchFamily="18" charset="0"/>
              </a:rPr>
              <a:t>AX (Accumulator Register): </a:t>
            </a:r>
            <a:r>
              <a:rPr lang="en-US" sz="2500" dirty="0">
                <a:latin typeface="Cambria" panose="02040503050406030204" pitchFamily="18" charset="0"/>
              </a:rPr>
              <a:t>Used in arithmetic, logic and data transfer instructions because it generates the shortest machine code. </a:t>
            </a:r>
          </a:p>
          <a:p>
            <a:pPr marL="914400" lvl="1" indent="-457200">
              <a:buFont typeface="Wingdings" panose="05000000000000000000" pitchFamily="2" charset="2"/>
              <a:buChar char="Ø"/>
            </a:pPr>
            <a:r>
              <a:rPr lang="en-US" sz="2500" b="1" dirty="0">
                <a:latin typeface="Cambria" panose="02040503050406030204" pitchFamily="18" charset="0"/>
              </a:rPr>
              <a:t>BX (Base Register): </a:t>
            </a:r>
            <a:r>
              <a:rPr lang="en-US" sz="2500" dirty="0">
                <a:latin typeface="Cambria" panose="02040503050406030204" pitchFamily="18" charset="0"/>
              </a:rPr>
              <a:t>It is mainly address register. It contains data pointer which is base index. It indirectly addresses the register. </a:t>
            </a:r>
          </a:p>
          <a:p>
            <a:pPr marL="914400" lvl="1" indent="-457200">
              <a:buFont typeface="Wingdings" panose="05000000000000000000" pitchFamily="2" charset="2"/>
              <a:buChar char="Ø"/>
            </a:pPr>
            <a:r>
              <a:rPr lang="en-US" sz="2500" b="1" dirty="0">
                <a:latin typeface="Cambria" panose="02040503050406030204" pitchFamily="18" charset="0"/>
              </a:rPr>
              <a:t>CX (Count Register): </a:t>
            </a:r>
          </a:p>
          <a:p>
            <a:pPr marL="1371600" lvl="2" indent="-457200">
              <a:buFont typeface="Wingdings" panose="05000000000000000000" pitchFamily="2" charset="2"/>
              <a:buChar char="v"/>
            </a:pPr>
            <a:r>
              <a:rPr lang="en-US" sz="2500" dirty="0">
                <a:latin typeface="Cambria" panose="02040503050406030204" pitchFamily="18" charset="0"/>
              </a:rPr>
              <a:t>Program loop construction.</a:t>
            </a:r>
          </a:p>
          <a:p>
            <a:pPr marL="1371600" lvl="2" indent="-457200">
              <a:buFont typeface="Wingdings" panose="05000000000000000000" pitchFamily="2" charset="2"/>
              <a:buChar char="v"/>
            </a:pPr>
            <a:r>
              <a:rPr lang="en-US" sz="2500" dirty="0">
                <a:latin typeface="Cambria" panose="02040503050406030204" pitchFamily="18" charset="0"/>
              </a:rPr>
              <a:t>String manipulation.</a:t>
            </a:r>
          </a:p>
          <a:p>
            <a:pPr marL="1371600" lvl="2" indent="-457200">
              <a:buFont typeface="Wingdings" panose="05000000000000000000" pitchFamily="2" charset="2"/>
              <a:buChar char="v"/>
            </a:pPr>
            <a:r>
              <a:rPr lang="en-US" sz="2500" dirty="0">
                <a:latin typeface="Cambria" panose="02040503050406030204" pitchFamily="18" charset="0"/>
              </a:rPr>
              <a:t>Acts as a counter in shift or rotate instruction. </a:t>
            </a:r>
          </a:p>
          <a:p>
            <a:pPr marL="914400" lvl="1" indent="-457200">
              <a:buFont typeface="Wingdings" panose="05000000000000000000" pitchFamily="2" charset="2"/>
              <a:buChar char="Ø"/>
            </a:pPr>
            <a:r>
              <a:rPr lang="en-US" sz="2500" b="1" dirty="0">
                <a:latin typeface="Cambria" panose="02040503050406030204" pitchFamily="18" charset="0"/>
              </a:rPr>
              <a:t>DX (Data Register): </a:t>
            </a:r>
          </a:p>
          <a:p>
            <a:pPr marL="1371600" lvl="2" indent="-457200">
              <a:buFont typeface="Wingdings" panose="05000000000000000000" pitchFamily="2" charset="2"/>
              <a:buChar char="v"/>
            </a:pPr>
            <a:r>
              <a:rPr lang="en-US" sz="2500" dirty="0">
                <a:latin typeface="Cambria" panose="02040503050406030204" pitchFamily="18" charset="0"/>
              </a:rPr>
              <a:t>Works as the port number during the input and output operation. </a:t>
            </a:r>
          </a:p>
          <a:p>
            <a:pPr marL="1371600" lvl="2" indent="-457200">
              <a:buFont typeface="Wingdings" panose="05000000000000000000" pitchFamily="2" charset="2"/>
              <a:buChar char="v"/>
            </a:pPr>
            <a:r>
              <a:rPr lang="en-US" sz="2500" dirty="0">
                <a:latin typeface="Cambria" panose="02040503050406030204" pitchFamily="18" charset="0"/>
              </a:rPr>
              <a:t>Used in multiplication and division. </a:t>
            </a:r>
          </a:p>
        </p:txBody>
      </p:sp>
    </p:spTree>
    <p:extLst>
      <p:ext uri="{BB962C8B-B14F-4D97-AF65-F5344CB8AC3E}">
        <p14:creationId xmlns:p14="http://schemas.microsoft.com/office/powerpoint/2010/main" val="2762968950"/>
      </p:ext>
    </p:extLst>
  </p:cSld>
  <p:clrMapOvr>
    <a:masterClrMapping/>
  </p:clrMapOvr>
  <p:transition spd="med">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10</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Register of 8086 Microprocessor</a:t>
            </a:r>
          </a:p>
        </p:txBody>
      </p:sp>
      <p:sp>
        <p:nvSpPr>
          <p:cNvPr id="8" name="TextBox 7"/>
          <p:cNvSpPr txBox="1"/>
          <p:nvPr/>
        </p:nvSpPr>
        <p:spPr>
          <a:xfrm>
            <a:off x="0" y="1042219"/>
            <a:ext cx="9906000" cy="2677656"/>
          </a:xfrm>
          <a:prstGeom prst="rect">
            <a:avLst/>
          </a:prstGeom>
          <a:noFill/>
        </p:spPr>
        <p:txBody>
          <a:bodyPr wrap="square" rtlCol="0">
            <a:spAutoFit/>
          </a:bodyPr>
          <a:lstStyle/>
          <a:p>
            <a:pPr lvl="1"/>
            <a:r>
              <a:rPr lang="en-US" sz="2800" b="1" dirty="0">
                <a:latin typeface="Cambria" panose="02040503050406030204" pitchFamily="18" charset="0"/>
              </a:rPr>
              <a:t>Segment Register: </a:t>
            </a:r>
            <a:r>
              <a:rPr lang="en-US" sz="2800" dirty="0">
                <a:latin typeface="Cambria" panose="02040503050406030204" pitchFamily="18" charset="0"/>
              </a:rPr>
              <a:t>Stores address of instructions and data. </a:t>
            </a:r>
          </a:p>
          <a:p>
            <a:pPr marL="914400" lvl="1" indent="-457200">
              <a:buFont typeface="Wingdings" panose="05000000000000000000" pitchFamily="2" charset="2"/>
              <a:buChar char="Ø"/>
            </a:pPr>
            <a:r>
              <a:rPr lang="en-US" sz="2800" b="1" dirty="0">
                <a:latin typeface="Cambria" panose="02040503050406030204" pitchFamily="18" charset="0"/>
              </a:rPr>
              <a:t>CS (Code Segment): </a:t>
            </a:r>
            <a:r>
              <a:rPr lang="en-US" sz="2800" dirty="0">
                <a:latin typeface="Cambria" panose="02040503050406030204" pitchFamily="18" charset="0"/>
              </a:rPr>
              <a:t>Used for storing instructions.  </a:t>
            </a:r>
          </a:p>
          <a:p>
            <a:pPr marL="914400" lvl="1" indent="-457200">
              <a:buFont typeface="Wingdings" panose="05000000000000000000" pitchFamily="2" charset="2"/>
              <a:buChar char="Ø"/>
            </a:pPr>
            <a:r>
              <a:rPr lang="en-US" sz="2800" b="1" dirty="0">
                <a:latin typeface="Cambria" panose="02040503050406030204" pitchFamily="18" charset="0"/>
              </a:rPr>
              <a:t>DS (Data Segment): </a:t>
            </a:r>
            <a:r>
              <a:rPr lang="en-US" sz="2800" dirty="0">
                <a:latin typeface="Cambria" panose="02040503050406030204" pitchFamily="18" charset="0"/>
              </a:rPr>
              <a:t>Used for storing data. </a:t>
            </a:r>
          </a:p>
          <a:p>
            <a:pPr marL="914400" lvl="1" indent="-457200">
              <a:buFont typeface="Wingdings" panose="05000000000000000000" pitchFamily="2" charset="2"/>
              <a:buChar char="Ø"/>
            </a:pPr>
            <a:r>
              <a:rPr lang="en-US" sz="2800" b="1" dirty="0">
                <a:latin typeface="Cambria" panose="02040503050406030204" pitchFamily="18" charset="0"/>
              </a:rPr>
              <a:t>SS (Stack Segment): </a:t>
            </a:r>
            <a:r>
              <a:rPr lang="en-US" sz="2800" dirty="0">
                <a:latin typeface="Cambria" panose="02040503050406030204" pitchFamily="18" charset="0"/>
              </a:rPr>
              <a:t>Used as stack and store returning address.  </a:t>
            </a:r>
          </a:p>
          <a:p>
            <a:pPr marL="914400" lvl="1" indent="-457200">
              <a:buFont typeface="Wingdings" panose="05000000000000000000" pitchFamily="2" charset="2"/>
              <a:buChar char="Ø"/>
            </a:pPr>
            <a:r>
              <a:rPr lang="en-US" sz="2800" b="1" dirty="0">
                <a:latin typeface="Cambria" panose="02040503050406030204" pitchFamily="18" charset="0"/>
              </a:rPr>
              <a:t>ES (Extra Segment): </a:t>
            </a:r>
            <a:r>
              <a:rPr lang="en-US" sz="2800" dirty="0">
                <a:latin typeface="Cambria" panose="02040503050406030204" pitchFamily="18" charset="0"/>
              </a:rPr>
              <a:t>Used for storing destination data.  </a:t>
            </a:r>
          </a:p>
        </p:txBody>
      </p:sp>
    </p:spTree>
    <p:extLst>
      <p:ext uri="{BB962C8B-B14F-4D97-AF65-F5344CB8AC3E}">
        <p14:creationId xmlns:p14="http://schemas.microsoft.com/office/powerpoint/2010/main" val="2130192631"/>
      </p:ext>
    </p:extLst>
  </p:cSld>
  <p:clrMapOvr>
    <a:masterClrMapping/>
  </p:clrMapOvr>
  <p:transition spd="med">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11</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Register of 8086 Microprocessor</a:t>
            </a:r>
          </a:p>
        </p:txBody>
      </p:sp>
      <p:sp>
        <p:nvSpPr>
          <p:cNvPr id="8" name="TextBox 7"/>
          <p:cNvSpPr txBox="1"/>
          <p:nvPr/>
        </p:nvSpPr>
        <p:spPr>
          <a:xfrm>
            <a:off x="0" y="1042219"/>
            <a:ext cx="9906000" cy="4401205"/>
          </a:xfrm>
          <a:prstGeom prst="rect">
            <a:avLst/>
          </a:prstGeom>
          <a:noFill/>
        </p:spPr>
        <p:txBody>
          <a:bodyPr wrap="square" rtlCol="0">
            <a:spAutoFit/>
          </a:bodyPr>
          <a:lstStyle/>
          <a:p>
            <a:pPr lvl="1"/>
            <a:r>
              <a:rPr lang="en-US" sz="2800" b="1" dirty="0">
                <a:latin typeface="Cambria" panose="02040503050406030204" pitchFamily="18" charset="0"/>
              </a:rPr>
              <a:t>Pointer and Index Register: </a:t>
            </a:r>
            <a:r>
              <a:rPr lang="en-US" sz="2800" dirty="0">
                <a:latin typeface="Cambria" panose="02040503050406030204" pitchFamily="18" charset="0"/>
              </a:rPr>
              <a:t>Points to the memory location. It is used in arithmetic and other operations. </a:t>
            </a:r>
          </a:p>
          <a:p>
            <a:pPr marL="914400" lvl="1" indent="-457200">
              <a:buFont typeface="Wingdings" panose="05000000000000000000" pitchFamily="2" charset="2"/>
              <a:buChar char="Ø"/>
            </a:pPr>
            <a:r>
              <a:rPr lang="en-US" sz="2800" b="1" dirty="0">
                <a:latin typeface="Cambria" panose="02040503050406030204" pitchFamily="18" charset="0"/>
              </a:rPr>
              <a:t>SP (Stack Pointer): </a:t>
            </a:r>
            <a:r>
              <a:rPr lang="en-US" sz="2800" dirty="0">
                <a:latin typeface="Cambria" panose="02040503050406030204" pitchFamily="18" charset="0"/>
              </a:rPr>
              <a:t>Used for accessing the stack segment (SS). </a:t>
            </a:r>
          </a:p>
          <a:p>
            <a:pPr marL="914400" lvl="1" indent="-457200">
              <a:buFont typeface="Wingdings" panose="05000000000000000000" pitchFamily="2" charset="2"/>
              <a:buChar char="Ø"/>
            </a:pPr>
            <a:r>
              <a:rPr lang="en-US" sz="2800" b="1" dirty="0">
                <a:latin typeface="Cambria" panose="02040503050406030204" pitchFamily="18" charset="0"/>
              </a:rPr>
              <a:t>BP (Base Pointer):  </a:t>
            </a:r>
            <a:r>
              <a:rPr lang="en-US" sz="2800" dirty="0">
                <a:latin typeface="Cambria" panose="02040503050406030204" pitchFamily="18" charset="0"/>
              </a:rPr>
              <a:t>Used primarily to access data on the stack. </a:t>
            </a:r>
          </a:p>
          <a:p>
            <a:pPr marL="914400" lvl="1" indent="-457200">
              <a:buFont typeface="Wingdings" panose="05000000000000000000" pitchFamily="2" charset="2"/>
              <a:buChar char="Ø"/>
            </a:pPr>
            <a:r>
              <a:rPr lang="en-US" sz="2800" b="1" dirty="0">
                <a:latin typeface="Cambria" panose="02040503050406030204" pitchFamily="18" charset="0"/>
              </a:rPr>
              <a:t>SI (Source Index): </a:t>
            </a:r>
            <a:r>
              <a:rPr lang="en-US" sz="2800" dirty="0">
                <a:latin typeface="Cambria" panose="02040503050406030204" pitchFamily="18" charset="0"/>
              </a:rPr>
              <a:t>Used to point memory locations in the data segment addressed by DS.  </a:t>
            </a:r>
          </a:p>
          <a:p>
            <a:pPr marL="914400" lvl="1" indent="-457200">
              <a:buFont typeface="Wingdings" panose="05000000000000000000" pitchFamily="2" charset="2"/>
              <a:buChar char="Ø"/>
            </a:pPr>
            <a:r>
              <a:rPr lang="en-US" sz="2800" b="1" dirty="0">
                <a:latin typeface="Cambria" panose="02040503050406030204" pitchFamily="18" charset="0"/>
              </a:rPr>
              <a:t>DI (Destination Index): </a:t>
            </a:r>
            <a:r>
              <a:rPr lang="en-US" sz="2800" dirty="0">
                <a:latin typeface="Cambria" panose="02040503050406030204" pitchFamily="18" charset="0"/>
              </a:rPr>
              <a:t>Performs the same functions as SI. </a:t>
            </a:r>
          </a:p>
        </p:txBody>
      </p:sp>
    </p:spTree>
    <p:extLst>
      <p:ext uri="{BB962C8B-B14F-4D97-AF65-F5344CB8AC3E}">
        <p14:creationId xmlns:p14="http://schemas.microsoft.com/office/powerpoint/2010/main" val="1707114169"/>
      </p:ext>
    </p:extLst>
  </p:cSld>
  <p:clrMapOvr>
    <a:masterClrMapping/>
  </p:clrMapOvr>
  <p:transition spd="med">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12</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Register of 8086 Microprocessor</a:t>
            </a:r>
          </a:p>
        </p:txBody>
      </p:sp>
      <p:sp>
        <p:nvSpPr>
          <p:cNvPr id="8" name="TextBox 7"/>
          <p:cNvSpPr txBox="1"/>
          <p:nvPr/>
        </p:nvSpPr>
        <p:spPr>
          <a:xfrm>
            <a:off x="0" y="1042219"/>
            <a:ext cx="9906000" cy="2677656"/>
          </a:xfrm>
          <a:prstGeom prst="rect">
            <a:avLst/>
          </a:prstGeom>
          <a:noFill/>
        </p:spPr>
        <p:txBody>
          <a:bodyPr wrap="square" rtlCol="0">
            <a:spAutoFit/>
          </a:bodyPr>
          <a:lstStyle/>
          <a:p>
            <a:pPr lvl="1"/>
            <a:r>
              <a:rPr lang="en-US" sz="2800" b="1" dirty="0">
                <a:latin typeface="Cambria" panose="02040503050406030204" pitchFamily="18" charset="0"/>
              </a:rPr>
              <a:t>Flag Register: </a:t>
            </a:r>
            <a:r>
              <a:rPr lang="en-US" sz="2800" dirty="0">
                <a:latin typeface="Cambria" panose="02040503050406030204" pitchFamily="18" charset="0"/>
              </a:rPr>
              <a:t>To indicate the status of the microprocessor. It contains the status and control flag.</a:t>
            </a:r>
          </a:p>
          <a:p>
            <a:pPr marL="1371600" lvl="2" indent="-457200">
              <a:buFont typeface="Wingdings" panose="05000000000000000000" pitchFamily="2" charset="2"/>
              <a:buChar char="Ø"/>
            </a:pPr>
            <a:r>
              <a:rPr lang="en-US" sz="2800" b="1" dirty="0">
                <a:latin typeface="Cambria" panose="02040503050406030204" pitchFamily="18" charset="0"/>
              </a:rPr>
              <a:t>Status flag: </a:t>
            </a:r>
            <a:r>
              <a:rPr lang="en-US" sz="2800" dirty="0">
                <a:latin typeface="Cambria" panose="02040503050406030204" pitchFamily="18" charset="0"/>
              </a:rPr>
              <a:t>Reflects the result of an instruction executed by the CPU. </a:t>
            </a:r>
          </a:p>
          <a:p>
            <a:pPr marL="1371600" lvl="2" indent="-457200">
              <a:buFont typeface="Wingdings" panose="05000000000000000000" pitchFamily="2" charset="2"/>
              <a:buChar char="Ø"/>
            </a:pPr>
            <a:r>
              <a:rPr lang="en-US" sz="2800" b="1" dirty="0">
                <a:latin typeface="Cambria" panose="02040503050406030204" pitchFamily="18" charset="0"/>
              </a:rPr>
              <a:t>Control flag: </a:t>
            </a:r>
            <a:r>
              <a:rPr lang="en-US" sz="2800" dirty="0">
                <a:latin typeface="Cambria" panose="02040503050406030204" pitchFamily="18" charset="0"/>
              </a:rPr>
              <a:t>Used to enable or disable certain operation of microprocessor. </a:t>
            </a:r>
          </a:p>
        </p:txBody>
      </p:sp>
    </p:spTree>
    <p:extLst>
      <p:ext uri="{BB962C8B-B14F-4D97-AF65-F5344CB8AC3E}">
        <p14:creationId xmlns:p14="http://schemas.microsoft.com/office/powerpoint/2010/main" val="2468886407"/>
      </p:ext>
    </p:extLst>
  </p:cSld>
  <p:clrMapOvr>
    <a:masterClrMapping/>
  </p:clrMapOvr>
  <p:transition spd="med">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13</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Instruction set of 8086 microprocessor.</a:t>
            </a:r>
          </a:p>
        </p:txBody>
      </p:sp>
      <p:sp>
        <p:nvSpPr>
          <p:cNvPr id="8" name="TextBox 7"/>
          <p:cNvSpPr txBox="1"/>
          <p:nvPr/>
        </p:nvSpPr>
        <p:spPr>
          <a:xfrm>
            <a:off x="0" y="858241"/>
            <a:ext cx="9906000" cy="523220"/>
          </a:xfrm>
          <a:prstGeom prst="rect">
            <a:avLst/>
          </a:prstGeom>
          <a:noFill/>
        </p:spPr>
        <p:txBody>
          <a:bodyPr wrap="square" rtlCol="0">
            <a:spAutoFit/>
          </a:bodyPr>
          <a:lstStyle/>
          <a:p>
            <a:pPr lvl="1"/>
            <a:r>
              <a:rPr lang="en-US" sz="2800" b="1" dirty="0">
                <a:latin typeface="Cambria" panose="02040503050406030204" pitchFamily="18" charset="0"/>
              </a:rPr>
              <a:t>Data Transfer Instructions: </a:t>
            </a:r>
          </a:p>
        </p:txBody>
      </p:sp>
      <p:graphicFrame>
        <p:nvGraphicFramePr>
          <p:cNvPr id="3" name="Table 2"/>
          <p:cNvGraphicFramePr>
            <a:graphicFrameLocks noGrp="1"/>
          </p:cNvGraphicFramePr>
          <p:nvPr>
            <p:extLst>
              <p:ext uri="{D42A27DB-BD31-4B8C-83A1-F6EECF244321}">
                <p14:modId xmlns:p14="http://schemas.microsoft.com/office/powerpoint/2010/main" val="2781531714"/>
              </p:ext>
            </p:extLst>
          </p:nvPr>
        </p:nvGraphicFramePr>
        <p:xfrm>
          <a:off x="571211" y="1464283"/>
          <a:ext cx="8946862" cy="3294063"/>
        </p:xfrm>
        <a:graphic>
          <a:graphicData uri="http://schemas.openxmlformats.org/drawingml/2006/table">
            <a:tbl>
              <a:tblPr firstRow="1" firstCol="1" bandRow="1">
                <a:tableStyleId>{5A111915-BE36-4E01-A7E5-04B1672EAD32}</a:tableStyleId>
              </a:tblPr>
              <a:tblGrid>
                <a:gridCol w="1770207">
                  <a:extLst>
                    <a:ext uri="{9D8B030D-6E8A-4147-A177-3AD203B41FA5}">
                      <a16:colId xmlns:a16="http://schemas.microsoft.com/office/drawing/2014/main" val="3685731267"/>
                    </a:ext>
                  </a:extLst>
                </a:gridCol>
                <a:gridCol w="7176655">
                  <a:extLst>
                    <a:ext uri="{9D8B030D-6E8A-4147-A177-3AD203B41FA5}">
                      <a16:colId xmlns:a16="http://schemas.microsoft.com/office/drawing/2014/main" val="125351386"/>
                    </a:ext>
                  </a:extLst>
                </a:gridCol>
              </a:tblGrid>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Instruction</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Description</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56816515"/>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MOV</a:t>
                      </a:r>
                      <a:endParaRPr lang="en-US" sz="2400" b="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Transfer data between registers or between register and memory.</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57251656"/>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PUSH</a:t>
                      </a:r>
                      <a:endParaRPr lang="en-US" sz="2400" b="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Push register/memory data onto the stack.</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50670508"/>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POP</a:t>
                      </a:r>
                      <a:endParaRPr lang="en-US" sz="2400" b="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Pop data from stack into register/memory.</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433722"/>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XCHG</a:t>
                      </a:r>
                      <a:endParaRPr lang="en-US" sz="2400" b="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Exchange data between two registers/memory.</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41672992"/>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IN</a:t>
                      </a:r>
                      <a:endParaRPr lang="en-US" sz="2400" b="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Input from a port to register.</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78328"/>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OUT</a:t>
                      </a:r>
                      <a:endParaRPr lang="en-US" sz="2400" b="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Output from register to a port.</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65413771"/>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LEA</a:t>
                      </a:r>
                      <a:endParaRPr lang="en-US" sz="2400" b="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Load effective address of memory into a register.</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53111892"/>
                  </a:ext>
                </a:extLst>
              </a:tr>
            </a:tbl>
          </a:graphicData>
        </a:graphic>
      </p:graphicFrame>
    </p:spTree>
    <p:extLst>
      <p:ext uri="{BB962C8B-B14F-4D97-AF65-F5344CB8AC3E}">
        <p14:creationId xmlns:p14="http://schemas.microsoft.com/office/powerpoint/2010/main" val="1335415536"/>
      </p:ext>
    </p:extLst>
  </p:cSld>
  <p:clrMapOvr>
    <a:masterClrMapping/>
  </p:clrMapOvr>
  <p:transition spd="med">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14</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Instruction set of 8086 microprocessor.</a:t>
            </a:r>
          </a:p>
        </p:txBody>
      </p:sp>
      <p:sp>
        <p:nvSpPr>
          <p:cNvPr id="8" name="TextBox 7"/>
          <p:cNvSpPr txBox="1"/>
          <p:nvPr/>
        </p:nvSpPr>
        <p:spPr>
          <a:xfrm>
            <a:off x="0" y="730649"/>
            <a:ext cx="9906000" cy="523220"/>
          </a:xfrm>
          <a:prstGeom prst="rect">
            <a:avLst/>
          </a:prstGeom>
          <a:noFill/>
        </p:spPr>
        <p:txBody>
          <a:bodyPr wrap="square" rtlCol="0">
            <a:spAutoFit/>
          </a:bodyPr>
          <a:lstStyle/>
          <a:p>
            <a:pPr lvl="1"/>
            <a:r>
              <a:rPr lang="en-US" sz="2800" b="1" dirty="0">
                <a:latin typeface="Cambria" panose="02040503050406030204" pitchFamily="18" charset="0"/>
              </a:rPr>
              <a:t>Arithmetic Instructions: </a:t>
            </a:r>
          </a:p>
        </p:txBody>
      </p:sp>
      <p:graphicFrame>
        <p:nvGraphicFramePr>
          <p:cNvPr id="2" name="Table 1"/>
          <p:cNvGraphicFramePr>
            <a:graphicFrameLocks noGrp="1"/>
          </p:cNvGraphicFramePr>
          <p:nvPr>
            <p:extLst>
              <p:ext uri="{D42A27DB-BD31-4B8C-83A1-F6EECF244321}">
                <p14:modId xmlns:p14="http://schemas.microsoft.com/office/powerpoint/2010/main" val="3038366900"/>
              </p:ext>
            </p:extLst>
          </p:nvPr>
        </p:nvGraphicFramePr>
        <p:xfrm>
          <a:off x="543502" y="1315424"/>
          <a:ext cx="8905298" cy="4716907"/>
        </p:xfrm>
        <a:graphic>
          <a:graphicData uri="http://schemas.openxmlformats.org/drawingml/2006/table">
            <a:tbl>
              <a:tblPr firstRow="1" firstCol="1" bandRow="1">
                <a:tableStyleId>{5A111915-BE36-4E01-A7E5-04B1672EAD32}</a:tableStyleId>
              </a:tblPr>
              <a:tblGrid>
                <a:gridCol w="1784062">
                  <a:extLst>
                    <a:ext uri="{9D8B030D-6E8A-4147-A177-3AD203B41FA5}">
                      <a16:colId xmlns:a16="http://schemas.microsoft.com/office/drawing/2014/main" val="1139040234"/>
                    </a:ext>
                  </a:extLst>
                </a:gridCol>
                <a:gridCol w="7121236">
                  <a:extLst>
                    <a:ext uri="{9D8B030D-6E8A-4147-A177-3AD203B41FA5}">
                      <a16:colId xmlns:a16="http://schemas.microsoft.com/office/drawing/2014/main" val="868854995"/>
                    </a:ext>
                  </a:extLst>
                </a:gridCol>
              </a:tblGrid>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Instruction</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Description</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05682948"/>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ADD</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Add two values.</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13357329"/>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ADC</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Add with carry.</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10602091"/>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SUB</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Subtract one value from another.</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06533963"/>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SBB</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Subtract with borrow.</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69011067"/>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MUL</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Unsigned multiplication.</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05632655"/>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IMUL</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Signed multiplication.</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81071105"/>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DIV</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Unsigned division.</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06132095"/>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IDIV</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Signed division.</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16139360"/>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INC</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Increment value by 1.</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46325405"/>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DEC</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Decrement value by 1.</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28496917"/>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NEG</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Negate (2’s complement).</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50025917"/>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CMP</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Compare two values (subtract but don’t store result).</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07090730"/>
                  </a:ext>
                </a:extLst>
              </a:tr>
            </a:tbl>
          </a:graphicData>
        </a:graphic>
      </p:graphicFrame>
    </p:spTree>
    <p:extLst>
      <p:ext uri="{BB962C8B-B14F-4D97-AF65-F5344CB8AC3E}">
        <p14:creationId xmlns:p14="http://schemas.microsoft.com/office/powerpoint/2010/main" val="4290907856"/>
      </p:ext>
    </p:extLst>
  </p:cSld>
  <p:clrMapOvr>
    <a:masterClrMapping/>
  </p:clrMapOvr>
  <p:transition spd="med">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15</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Instruction set of 8086 microprocessor.</a:t>
            </a:r>
          </a:p>
        </p:txBody>
      </p:sp>
      <p:sp>
        <p:nvSpPr>
          <p:cNvPr id="8" name="TextBox 7"/>
          <p:cNvSpPr txBox="1"/>
          <p:nvPr/>
        </p:nvSpPr>
        <p:spPr>
          <a:xfrm>
            <a:off x="0" y="868866"/>
            <a:ext cx="9906000" cy="523220"/>
          </a:xfrm>
          <a:prstGeom prst="rect">
            <a:avLst/>
          </a:prstGeom>
          <a:noFill/>
        </p:spPr>
        <p:txBody>
          <a:bodyPr wrap="square" rtlCol="0">
            <a:spAutoFit/>
          </a:bodyPr>
          <a:lstStyle/>
          <a:p>
            <a:pPr lvl="1"/>
            <a:r>
              <a:rPr lang="en-US" sz="2800" b="1" dirty="0">
                <a:latin typeface="Cambria" panose="02040503050406030204" pitchFamily="18" charset="0"/>
              </a:rPr>
              <a:t>Logical Instructions: </a:t>
            </a:r>
          </a:p>
        </p:txBody>
      </p:sp>
      <p:graphicFrame>
        <p:nvGraphicFramePr>
          <p:cNvPr id="2" name="Table 1"/>
          <p:cNvGraphicFramePr>
            <a:graphicFrameLocks noGrp="1"/>
          </p:cNvGraphicFramePr>
          <p:nvPr>
            <p:extLst>
              <p:ext uri="{D42A27DB-BD31-4B8C-83A1-F6EECF244321}">
                <p14:modId xmlns:p14="http://schemas.microsoft.com/office/powerpoint/2010/main" val="1664100279"/>
              </p:ext>
            </p:extLst>
          </p:nvPr>
        </p:nvGraphicFramePr>
        <p:xfrm>
          <a:off x="575973" y="1478407"/>
          <a:ext cx="6686063" cy="2177034"/>
        </p:xfrm>
        <a:graphic>
          <a:graphicData uri="http://schemas.openxmlformats.org/drawingml/2006/table">
            <a:tbl>
              <a:tblPr firstRow="1" firstCol="1" bandRow="1">
                <a:tableStyleId>{5A111915-BE36-4E01-A7E5-04B1672EAD32}</a:tableStyleId>
              </a:tblPr>
              <a:tblGrid>
                <a:gridCol w="1956900">
                  <a:extLst>
                    <a:ext uri="{9D8B030D-6E8A-4147-A177-3AD203B41FA5}">
                      <a16:colId xmlns:a16="http://schemas.microsoft.com/office/drawing/2014/main" val="1602364829"/>
                    </a:ext>
                  </a:extLst>
                </a:gridCol>
                <a:gridCol w="4729163">
                  <a:extLst>
                    <a:ext uri="{9D8B030D-6E8A-4147-A177-3AD203B41FA5}">
                      <a16:colId xmlns:a16="http://schemas.microsoft.com/office/drawing/2014/main" val="1772537902"/>
                    </a:ext>
                  </a:extLst>
                </a:gridCol>
              </a:tblGrid>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Instruction</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Description</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67209144"/>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AND</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Logical AND.</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07962740"/>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OR</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Logical OR.</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15681253"/>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XOR</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Logical Exclusive OR.</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60527938"/>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NOT</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Logical Complement.</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65381967"/>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TEST</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Logical AND (Result not stored).</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29723746"/>
                  </a:ext>
                </a:extLst>
              </a:tr>
            </a:tbl>
          </a:graphicData>
        </a:graphic>
      </p:graphicFrame>
    </p:spTree>
    <p:extLst>
      <p:ext uri="{BB962C8B-B14F-4D97-AF65-F5344CB8AC3E}">
        <p14:creationId xmlns:p14="http://schemas.microsoft.com/office/powerpoint/2010/main" val="2756987544"/>
      </p:ext>
    </p:extLst>
  </p:cSld>
  <p:clrMapOvr>
    <a:masterClrMapping/>
  </p:clrMapOvr>
  <p:transition spd="med">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16</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Instruction set of 8086 microprocessor.</a:t>
            </a:r>
          </a:p>
        </p:txBody>
      </p:sp>
      <p:sp>
        <p:nvSpPr>
          <p:cNvPr id="8" name="TextBox 7"/>
          <p:cNvSpPr txBox="1"/>
          <p:nvPr/>
        </p:nvSpPr>
        <p:spPr>
          <a:xfrm>
            <a:off x="0" y="868873"/>
            <a:ext cx="9906000" cy="523220"/>
          </a:xfrm>
          <a:prstGeom prst="rect">
            <a:avLst/>
          </a:prstGeom>
          <a:noFill/>
        </p:spPr>
        <p:txBody>
          <a:bodyPr wrap="square" rtlCol="0">
            <a:spAutoFit/>
          </a:bodyPr>
          <a:lstStyle/>
          <a:p>
            <a:pPr lvl="1"/>
            <a:r>
              <a:rPr lang="en-US" sz="2800" b="1" dirty="0">
                <a:latin typeface="Cambria" panose="02040503050406030204" pitchFamily="18" charset="0"/>
              </a:rPr>
              <a:t>Shift and Rotate Instructions: </a:t>
            </a:r>
          </a:p>
        </p:txBody>
      </p:sp>
      <p:graphicFrame>
        <p:nvGraphicFramePr>
          <p:cNvPr id="2" name="Table 1"/>
          <p:cNvGraphicFramePr>
            <a:graphicFrameLocks noGrp="1"/>
          </p:cNvGraphicFramePr>
          <p:nvPr>
            <p:extLst>
              <p:ext uri="{D42A27DB-BD31-4B8C-83A1-F6EECF244321}">
                <p14:modId xmlns:p14="http://schemas.microsoft.com/office/powerpoint/2010/main" val="3939716411"/>
              </p:ext>
            </p:extLst>
          </p:nvPr>
        </p:nvGraphicFramePr>
        <p:xfrm>
          <a:off x="560099" y="1474854"/>
          <a:ext cx="5937250" cy="2539873"/>
        </p:xfrm>
        <a:graphic>
          <a:graphicData uri="http://schemas.openxmlformats.org/drawingml/2006/table">
            <a:tbl>
              <a:tblPr firstRow="1" firstCol="1" bandRow="1">
                <a:tableStyleId>{5A111915-BE36-4E01-A7E5-04B1672EAD32}</a:tableStyleId>
              </a:tblPr>
              <a:tblGrid>
                <a:gridCol w="1809028">
                  <a:extLst>
                    <a:ext uri="{9D8B030D-6E8A-4147-A177-3AD203B41FA5}">
                      <a16:colId xmlns:a16="http://schemas.microsoft.com/office/drawing/2014/main" val="1323500202"/>
                    </a:ext>
                  </a:extLst>
                </a:gridCol>
                <a:gridCol w="4128222">
                  <a:extLst>
                    <a:ext uri="{9D8B030D-6E8A-4147-A177-3AD203B41FA5}">
                      <a16:colId xmlns:a16="http://schemas.microsoft.com/office/drawing/2014/main" val="714159376"/>
                    </a:ext>
                  </a:extLst>
                </a:gridCol>
              </a:tblGrid>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Instruction</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Description</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54972357"/>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SHL </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Shift bits left.</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43282020"/>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SHR</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Shift bits right.</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12521133"/>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ROL</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Rotate bits left.</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28852351"/>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ROR</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Rotate bits right.</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28354660"/>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RCL</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Rotate through carry left.</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52003824"/>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RCR</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Rotate through carry right.</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07742344"/>
                  </a:ext>
                </a:extLst>
              </a:tr>
            </a:tbl>
          </a:graphicData>
        </a:graphic>
      </p:graphicFrame>
    </p:spTree>
    <p:extLst>
      <p:ext uri="{BB962C8B-B14F-4D97-AF65-F5344CB8AC3E}">
        <p14:creationId xmlns:p14="http://schemas.microsoft.com/office/powerpoint/2010/main" val="2359681370"/>
      </p:ext>
    </p:extLst>
  </p:cSld>
  <p:clrMapOvr>
    <a:masterClrMapping/>
  </p:clrMapOvr>
  <p:transition spd="med">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17</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Instruction set of 8086 microprocessor.</a:t>
            </a:r>
          </a:p>
        </p:txBody>
      </p:sp>
      <p:sp>
        <p:nvSpPr>
          <p:cNvPr id="8" name="TextBox 7"/>
          <p:cNvSpPr txBox="1"/>
          <p:nvPr/>
        </p:nvSpPr>
        <p:spPr>
          <a:xfrm>
            <a:off x="0" y="826346"/>
            <a:ext cx="9906000" cy="523220"/>
          </a:xfrm>
          <a:prstGeom prst="rect">
            <a:avLst/>
          </a:prstGeom>
          <a:noFill/>
        </p:spPr>
        <p:txBody>
          <a:bodyPr wrap="square" rtlCol="0">
            <a:spAutoFit/>
          </a:bodyPr>
          <a:lstStyle/>
          <a:p>
            <a:pPr lvl="1"/>
            <a:r>
              <a:rPr lang="en-US" sz="2800" b="1" dirty="0">
                <a:latin typeface="Cambria" panose="02040503050406030204" pitchFamily="18" charset="0"/>
              </a:rPr>
              <a:t>Branching Instructions (Control Transfer Instructions): </a:t>
            </a:r>
          </a:p>
        </p:txBody>
      </p:sp>
      <p:graphicFrame>
        <p:nvGraphicFramePr>
          <p:cNvPr id="2" name="Table 1"/>
          <p:cNvGraphicFramePr>
            <a:graphicFrameLocks noGrp="1"/>
          </p:cNvGraphicFramePr>
          <p:nvPr>
            <p:extLst>
              <p:ext uri="{D42A27DB-BD31-4B8C-83A1-F6EECF244321}">
                <p14:modId xmlns:p14="http://schemas.microsoft.com/office/powerpoint/2010/main" val="1957882298"/>
              </p:ext>
            </p:extLst>
          </p:nvPr>
        </p:nvGraphicFramePr>
        <p:xfrm>
          <a:off x="573104" y="1402410"/>
          <a:ext cx="8931114" cy="3991229"/>
        </p:xfrm>
        <a:graphic>
          <a:graphicData uri="http://schemas.openxmlformats.org/drawingml/2006/table">
            <a:tbl>
              <a:tblPr firstRow="1" firstCol="1" bandRow="1">
                <a:tableStyleId>{5A111915-BE36-4E01-A7E5-04B1672EAD32}</a:tableStyleId>
              </a:tblPr>
              <a:tblGrid>
                <a:gridCol w="2447187">
                  <a:extLst>
                    <a:ext uri="{9D8B030D-6E8A-4147-A177-3AD203B41FA5}">
                      <a16:colId xmlns:a16="http://schemas.microsoft.com/office/drawing/2014/main" val="2664743070"/>
                    </a:ext>
                  </a:extLst>
                </a:gridCol>
                <a:gridCol w="6483927">
                  <a:extLst>
                    <a:ext uri="{9D8B030D-6E8A-4147-A177-3AD203B41FA5}">
                      <a16:colId xmlns:a16="http://schemas.microsoft.com/office/drawing/2014/main" val="2866748336"/>
                    </a:ext>
                  </a:extLst>
                </a:gridCol>
              </a:tblGrid>
              <a:tr h="189189">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Instruction</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tc>
                  <a:txBody>
                    <a:bodyPr/>
                    <a:lstStyle/>
                    <a:p>
                      <a:pPr marL="0" marR="0" algn="ctr">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Description</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extLst>
                  <a:ext uri="{0D108BD9-81ED-4DB2-BD59-A6C34878D82A}">
                    <a16:rowId xmlns:a16="http://schemas.microsoft.com/office/drawing/2014/main" val="2450647535"/>
                  </a:ext>
                </a:extLst>
              </a:tr>
              <a:tr h="189189">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JMP</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Unconditional jump.</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extLst>
                  <a:ext uri="{0D108BD9-81ED-4DB2-BD59-A6C34878D82A}">
                    <a16:rowId xmlns:a16="http://schemas.microsoft.com/office/drawing/2014/main" val="3008186293"/>
                  </a:ext>
                </a:extLst>
              </a:tr>
              <a:tr h="189189">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RET</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Return from a subroutine.</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extLst>
                  <a:ext uri="{0D108BD9-81ED-4DB2-BD59-A6C34878D82A}">
                    <a16:rowId xmlns:a16="http://schemas.microsoft.com/office/drawing/2014/main" val="2926959692"/>
                  </a:ext>
                </a:extLst>
              </a:tr>
              <a:tr h="189189">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JE / JZ</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Jump if equal (zero flag set).</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extLst>
                  <a:ext uri="{0D108BD9-81ED-4DB2-BD59-A6C34878D82A}">
                    <a16:rowId xmlns:a16="http://schemas.microsoft.com/office/drawing/2014/main" val="112494969"/>
                  </a:ext>
                </a:extLst>
              </a:tr>
              <a:tr h="189189">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JNE / JNZ</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Jump if not equal (zero flag clear).</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extLst>
                  <a:ext uri="{0D108BD9-81ED-4DB2-BD59-A6C34878D82A}">
                    <a16:rowId xmlns:a16="http://schemas.microsoft.com/office/drawing/2014/main" val="1005290160"/>
                  </a:ext>
                </a:extLst>
              </a:tr>
              <a:tr h="189189">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JG</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Jump if greater.</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extLst>
                  <a:ext uri="{0D108BD9-81ED-4DB2-BD59-A6C34878D82A}">
                    <a16:rowId xmlns:a16="http://schemas.microsoft.com/office/drawing/2014/main" val="784808794"/>
                  </a:ext>
                </a:extLst>
              </a:tr>
              <a:tr h="189189">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JL</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Jump if less.</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extLst>
                  <a:ext uri="{0D108BD9-81ED-4DB2-BD59-A6C34878D82A}">
                    <a16:rowId xmlns:a16="http://schemas.microsoft.com/office/drawing/2014/main" val="2061817305"/>
                  </a:ext>
                </a:extLst>
              </a:tr>
              <a:tr h="189189">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JGE</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Jump if greater or equal.</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extLst>
                  <a:ext uri="{0D108BD9-81ED-4DB2-BD59-A6C34878D82A}">
                    <a16:rowId xmlns:a16="http://schemas.microsoft.com/office/drawing/2014/main" val="689040699"/>
                  </a:ext>
                </a:extLst>
              </a:tr>
              <a:tr h="189189">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JLE</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Jump if less or equal.</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extLst>
                  <a:ext uri="{0D108BD9-81ED-4DB2-BD59-A6C34878D82A}">
                    <a16:rowId xmlns:a16="http://schemas.microsoft.com/office/drawing/2014/main" val="1699148153"/>
                  </a:ext>
                </a:extLst>
              </a:tr>
              <a:tr h="189189">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LOOP</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Loop with CX register.</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extLst>
                  <a:ext uri="{0D108BD9-81ED-4DB2-BD59-A6C34878D82A}">
                    <a16:rowId xmlns:a16="http://schemas.microsoft.com/office/drawing/2014/main" val="2884147963"/>
                  </a:ext>
                </a:extLst>
              </a:tr>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INT</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Interrupt execution.</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6296" marR="66296" marT="0" marB="0"/>
                </a:tc>
                <a:extLst>
                  <a:ext uri="{0D108BD9-81ED-4DB2-BD59-A6C34878D82A}">
                    <a16:rowId xmlns:a16="http://schemas.microsoft.com/office/drawing/2014/main" val="2414054951"/>
                  </a:ext>
                </a:extLst>
              </a:tr>
            </a:tbl>
          </a:graphicData>
        </a:graphic>
      </p:graphicFrame>
    </p:spTree>
    <p:extLst>
      <p:ext uri="{BB962C8B-B14F-4D97-AF65-F5344CB8AC3E}">
        <p14:creationId xmlns:p14="http://schemas.microsoft.com/office/powerpoint/2010/main" val="1159466462"/>
      </p:ext>
    </p:extLst>
  </p:cSld>
  <p:clrMapOvr>
    <a:masterClrMapping/>
  </p:clrMapOvr>
  <p:transition spd="med">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18</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Instruction set of 8086 microprocessor.</a:t>
            </a:r>
          </a:p>
        </p:txBody>
      </p:sp>
      <p:sp>
        <p:nvSpPr>
          <p:cNvPr id="8" name="TextBox 7"/>
          <p:cNvSpPr txBox="1"/>
          <p:nvPr/>
        </p:nvSpPr>
        <p:spPr>
          <a:xfrm>
            <a:off x="0" y="911402"/>
            <a:ext cx="9906000" cy="523220"/>
          </a:xfrm>
          <a:prstGeom prst="rect">
            <a:avLst/>
          </a:prstGeom>
          <a:noFill/>
        </p:spPr>
        <p:txBody>
          <a:bodyPr wrap="square" rtlCol="0">
            <a:spAutoFit/>
          </a:bodyPr>
          <a:lstStyle/>
          <a:p>
            <a:pPr lvl="1"/>
            <a:r>
              <a:rPr lang="en-US" sz="2800" b="1" dirty="0">
                <a:latin typeface="Cambria" panose="02040503050406030204" pitchFamily="18" charset="0"/>
              </a:rPr>
              <a:t>String Manipulation Instructions: </a:t>
            </a:r>
          </a:p>
        </p:txBody>
      </p:sp>
      <p:graphicFrame>
        <p:nvGraphicFramePr>
          <p:cNvPr id="2" name="Table 1"/>
          <p:cNvGraphicFramePr>
            <a:graphicFrameLocks noGrp="1"/>
          </p:cNvGraphicFramePr>
          <p:nvPr>
            <p:extLst>
              <p:ext uri="{D42A27DB-BD31-4B8C-83A1-F6EECF244321}">
                <p14:modId xmlns:p14="http://schemas.microsoft.com/office/powerpoint/2010/main" val="1332337412"/>
              </p:ext>
            </p:extLst>
          </p:nvPr>
        </p:nvGraphicFramePr>
        <p:xfrm>
          <a:off x="543502" y="1496177"/>
          <a:ext cx="9085408" cy="2539873"/>
        </p:xfrm>
        <a:graphic>
          <a:graphicData uri="http://schemas.openxmlformats.org/drawingml/2006/table">
            <a:tbl>
              <a:tblPr firstRow="1" firstCol="1" bandRow="1">
                <a:tableStyleId>{5A111915-BE36-4E01-A7E5-04B1672EAD32}</a:tableStyleId>
              </a:tblPr>
              <a:tblGrid>
                <a:gridCol w="2684609">
                  <a:extLst>
                    <a:ext uri="{9D8B030D-6E8A-4147-A177-3AD203B41FA5}">
                      <a16:colId xmlns:a16="http://schemas.microsoft.com/office/drawing/2014/main" val="2137604716"/>
                    </a:ext>
                  </a:extLst>
                </a:gridCol>
                <a:gridCol w="6400799">
                  <a:extLst>
                    <a:ext uri="{9D8B030D-6E8A-4147-A177-3AD203B41FA5}">
                      <a16:colId xmlns:a16="http://schemas.microsoft.com/office/drawing/2014/main" val="4099817314"/>
                    </a:ext>
                  </a:extLst>
                </a:gridCol>
              </a:tblGrid>
              <a:tr h="0">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Instruction</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Description</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71403682"/>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MOVS</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Move string from one location to another.</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03776881"/>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LODS</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Load string element into AL/AX.</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36139285"/>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STOS</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Store string element from AL/AX.</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32678919"/>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SCAS</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Scan a string for a value.</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79218439"/>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CMPS</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Compare two strings.</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58048309"/>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REP</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Repeat instruction while CX ≠ 0.</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54792337"/>
                  </a:ext>
                </a:extLst>
              </a:tr>
            </a:tbl>
          </a:graphicData>
        </a:graphic>
      </p:graphicFrame>
    </p:spTree>
    <p:extLst>
      <p:ext uri="{BB962C8B-B14F-4D97-AF65-F5344CB8AC3E}">
        <p14:creationId xmlns:p14="http://schemas.microsoft.com/office/powerpoint/2010/main" val="1241393576"/>
      </p:ext>
    </p:extLst>
  </p:cSld>
  <p:clrMapOvr>
    <a:masterClrMapping/>
  </p:clrMapOvr>
  <p:transition spd="med">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19</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Instruction set of 8086 microprocessor.</a:t>
            </a:r>
          </a:p>
        </p:txBody>
      </p:sp>
      <p:sp>
        <p:nvSpPr>
          <p:cNvPr id="8" name="TextBox 7"/>
          <p:cNvSpPr txBox="1"/>
          <p:nvPr/>
        </p:nvSpPr>
        <p:spPr>
          <a:xfrm>
            <a:off x="0" y="709383"/>
            <a:ext cx="9906000" cy="523220"/>
          </a:xfrm>
          <a:prstGeom prst="rect">
            <a:avLst/>
          </a:prstGeom>
          <a:noFill/>
        </p:spPr>
        <p:txBody>
          <a:bodyPr wrap="square" rtlCol="0">
            <a:spAutoFit/>
          </a:bodyPr>
          <a:lstStyle/>
          <a:p>
            <a:pPr lvl="1"/>
            <a:r>
              <a:rPr lang="en-US" sz="2800" b="1" dirty="0">
                <a:latin typeface="Cambria" panose="02040503050406030204" pitchFamily="18" charset="0"/>
              </a:rPr>
              <a:t>Processor Control Instructions: </a:t>
            </a:r>
          </a:p>
        </p:txBody>
      </p:sp>
      <p:graphicFrame>
        <p:nvGraphicFramePr>
          <p:cNvPr id="2" name="Table 1"/>
          <p:cNvGraphicFramePr>
            <a:graphicFrameLocks noGrp="1"/>
          </p:cNvGraphicFramePr>
          <p:nvPr>
            <p:extLst>
              <p:ext uri="{D42A27DB-BD31-4B8C-83A1-F6EECF244321}">
                <p14:modId xmlns:p14="http://schemas.microsoft.com/office/powerpoint/2010/main" val="4253213945"/>
              </p:ext>
            </p:extLst>
          </p:nvPr>
        </p:nvGraphicFramePr>
        <p:xfrm>
          <a:off x="571209" y="1283525"/>
          <a:ext cx="9210744" cy="5108258"/>
        </p:xfrm>
        <a:graphic>
          <a:graphicData uri="http://schemas.openxmlformats.org/drawingml/2006/table">
            <a:tbl>
              <a:tblPr firstRow="1" firstCol="1" bandRow="1">
                <a:tableStyleId>{5A111915-BE36-4E01-A7E5-04B1672EAD32}</a:tableStyleId>
              </a:tblPr>
              <a:tblGrid>
                <a:gridCol w="1725424">
                  <a:extLst>
                    <a:ext uri="{9D8B030D-6E8A-4147-A177-3AD203B41FA5}">
                      <a16:colId xmlns:a16="http://schemas.microsoft.com/office/drawing/2014/main" val="3138740656"/>
                    </a:ext>
                  </a:extLst>
                </a:gridCol>
                <a:gridCol w="7485320">
                  <a:extLst>
                    <a:ext uri="{9D8B030D-6E8A-4147-A177-3AD203B41FA5}">
                      <a16:colId xmlns:a16="http://schemas.microsoft.com/office/drawing/2014/main" val="1363548955"/>
                    </a:ext>
                  </a:extLst>
                </a:gridCol>
              </a:tblGrid>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Instruction</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Description</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19757632"/>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STC</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Set Carry flag.</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72595253"/>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CLC</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Clear Carry flag.</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53103883"/>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CMC</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Complement Carry flag.</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2552168"/>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STD</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Set Direction flag.</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94494858"/>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CLD</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Clear Direction flag.</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84019469"/>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STI</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Set Interrupt flag (enable interrupts).</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60088864"/>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CLI</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Clear Interrupt flag (disable interrupts).</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96024513"/>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HLT</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Halt processor execution.</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51999868"/>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NOP</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No operation (does nothing).</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00081068"/>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WAIT</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Wait for processor signal.</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14683218"/>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ESC</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Escape (for co-processor operations).</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42875795"/>
                  </a:ext>
                </a:extLst>
              </a:tr>
              <a:tr h="0">
                <a:tc>
                  <a:txBody>
                    <a:bodyPr/>
                    <a:lstStyle/>
                    <a:p>
                      <a:pPr marL="0" marR="0">
                        <a:lnSpc>
                          <a:spcPct val="107000"/>
                        </a:lnSpc>
                        <a:spcBef>
                          <a:spcPts val="0"/>
                        </a:spcBef>
                        <a:spcAft>
                          <a:spcPts val="0"/>
                        </a:spcAft>
                      </a:pPr>
                      <a:r>
                        <a:rPr lang="en-US" sz="2400">
                          <a:effectLst/>
                          <a:latin typeface="Cambria" panose="02040503050406030204" pitchFamily="18" charset="0"/>
                          <a:ea typeface="Cambria" panose="02040503050406030204" pitchFamily="18" charset="0"/>
                        </a:rPr>
                        <a:t>LOCK</a:t>
                      </a:r>
                      <a:endParaRPr lang="en-US" sz="24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dirty="0">
                          <a:effectLst/>
                          <a:latin typeface="Cambria" panose="02040503050406030204" pitchFamily="18" charset="0"/>
                          <a:ea typeface="Cambria" panose="02040503050406030204" pitchFamily="18" charset="0"/>
                        </a:rPr>
                        <a:t>Lock the bus to prevent other processors from accessing it.</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78492205"/>
                  </a:ext>
                </a:extLst>
              </a:tr>
            </a:tbl>
          </a:graphicData>
        </a:graphic>
      </p:graphicFrame>
    </p:spTree>
    <p:extLst>
      <p:ext uri="{BB962C8B-B14F-4D97-AF65-F5344CB8AC3E}">
        <p14:creationId xmlns:p14="http://schemas.microsoft.com/office/powerpoint/2010/main" val="3365921154"/>
      </p:ext>
    </p:extLst>
  </p:cSld>
  <p:clrMapOvr>
    <a:masterClrMapping/>
  </p:clrMapOvr>
  <p:transition spd="med">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C1C1E5-A1DB-4282-A451-5941CF833F53}" type="datetime1">
              <a:rPr lang="en-US" smtClean="0">
                <a:latin typeface="Cambria" panose="02040503050406030204" pitchFamily="18" charset="0"/>
              </a:rPr>
              <a:t>7/26/2026</a:t>
            </a:fld>
            <a:endParaRPr lang="en-US">
              <a:latin typeface="Cambria" panose="02040503050406030204" pitchFamily="18" charset="0"/>
            </a:endParaRPr>
          </a:p>
        </p:txBody>
      </p:sp>
      <p:sp>
        <p:nvSpPr>
          <p:cNvPr id="5" name="Footer Placeholder 4"/>
          <p:cNvSpPr>
            <a:spLocks noGrp="1"/>
          </p:cNvSpPr>
          <p:nvPr>
            <p:ph type="ftr" sz="quarter" idx="11"/>
          </p:nvPr>
        </p:nvSpPr>
        <p:spPr/>
        <p:txBody>
          <a:bodyPr/>
          <a:lstStyle/>
          <a:p>
            <a:r>
              <a:rPr lang="en-US">
                <a:latin typeface="Cambria" panose="02040503050406030204" pitchFamily="18" charset="0"/>
              </a:rPr>
              <a:t>Md. Adnan Sami, Dept. of CSE, VU</a:t>
            </a:r>
          </a:p>
        </p:txBody>
      </p:sp>
      <p:sp>
        <p:nvSpPr>
          <p:cNvPr id="6" name="Slide Number Placeholder 5"/>
          <p:cNvSpPr>
            <a:spLocks noGrp="1"/>
          </p:cNvSpPr>
          <p:nvPr>
            <p:ph type="sldNum" sz="quarter" idx="12"/>
          </p:nvPr>
        </p:nvSpPr>
        <p:spPr/>
        <p:txBody>
          <a:bodyPr/>
          <a:lstStyle/>
          <a:p>
            <a:fld id="{AFEF5767-624D-46AC-ADD7-140D9A2A517A}" type="slidenum">
              <a:rPr lang="en-US" smtClean="0">
                <a:latin typeface="Cambria" panose="02040503050406030204" pitchFamily="18" charset="0"/>
              </a:rPr>
              <a:t>20</a:t>
            </a:fld>
            <a:endParaRPr lang="en-US">
              <a:latin typeface="Cambria" panose="02040503050406030204" pitchFamily="18" charset="0"/>
            </a:endParaRPr>
          </a:p>
        </p:txBody>
      </p:sp>
      <p:sp>
        <p:nvSpPr>
          <p:cNvPr id="7" name="TextBox 1"/>
          <p:cNvSpPr txBox="1">
            <a:spLocks noChangeArrowheads="1"/>
          </p:cNvSpPr>
          <p:nvPr/>
        </p:nvSpPr>
        <p:spPr bwMode="auto">
          <a:xfrm>
            <a:off x="0" y="19158"/>
            <a:ext cx="990866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a:r>
              <a:rPr lang="en-US" altLang="en-US" sz="3200" b="1" dirty="0">
                <a:solidFill>
                  <a:schemeClr val="accent2"/>
                </a:solidFill>
                <a:latin typeface="Cambria" panose="02040503050406030204" pitchFamily="18" charset="0"/>
                <a:cs typeface="Arial" panose="020B0604020202020204" pitchFamily="34" charset="0"/>
              </a:rPr>
              <a:t>	Instruction set of 8086 microprocessor.</a:t>
            </a:r>
          </a:p>
        </p:txBody>
      </p:sp>
      <p:sp>
        <p:nvSpPr>
          <p:cNvPr id="2" name="Rectangle 1"/>
          <p:cNvSpPr/>
          <p:nvPr/>
        </p:nvSpPr>
        <p:spPr>
          <a:xfrm>
            <a:off x="0" y="948105"/>
            <a:ext cx="9906000" cy="3970318"/>
          </a:xfrm>
          <a:prstGeom prst="rect">
            <a:avLst/>
          </a:prstGeom>
        </p:spPr>
        <p:txBody>
          <a:bodyPr wrap="square">
            <a:spAutoFit/>
          </a:bodyPr>
          <a:lstStyle/>
          <a:p>
            <a:r>
              <a:rPr lang="en-US" sz="2800" dirty="0">
                <a:latin typeface="Cambria" panose="02040503050406030204" pitchFamily="18" charset="0"/>
              </a:rPr>
              <a:t>	The 8086 </a:t>
            </a:r>
            <a:r>
              <a:rPr lang="en-US" sz="2800" b="1" dirty="0">
                <a:latin typeface="Cambria" panose="02040503050406030204" pitchFamily="18" charset="0"/>
              </a:rPr>
              <a:t>instruction set </a:t>
            </a:r>
            <a:r>
              <a:rPr lang="en-US" sz="2800" dirty="0">
                <a:latin typeface="Cambria" panose="02040503050406030204" pitchFamily="18" charset="0"/>
              </a:rPr>
              <a:t>consists of:</a:t>
            </a:r>
          </a:p>
          <a:p>
            <a:pPr marL="1371600" lvl="2" indent="-457200">
              <a:buFont typeface="Wingdings" panose="05000000000000000000" pitchFamily="2" charset="2"/>
              <a:buChar char="Ø"/>
            </a:pPr>
            <a:r>
              <a:rPr lang="en-US" sz="2800" b="1" dirty="0">
                <a:latin typeface="Cambria" panose="02040503050406030204" pitchFamily="18" charset="0"/>
              </a:rPr>
              <a:t>Data Transfer Instructions: </a:t>
            </a:r>
            <a:r>
              <a:rPr lang="en-US" sz="2800" dirty="0">
                <a:latin typeface="Cambria" panose="02040503050406030204" pitchFamily="18" charset="0"/>
              </a:rPr>
              <a:t>Move data.</a:t>
            </a:r>
          </a:p>
          <a:p>
            <a:pPr marL="1371600" lvl="2" indent="-457200">
              <a:buFont typeface="Wingdings" panose="05000000000000000000" pitchFamily="2" charset="2"/>
              <a:buChar char="Ø"/>
            </a:pPr>
            <a:r>
              <a:rPr lang="en-US" sz="2800" b="1" dirty="0">
                <a:latin typeface="Cambria" panose="02040503050406030204" pitchFamily="18" charset="0"/>
              </a:rPr>
              <a:t>Arithmetic Instructions: </a:t>
            </a:r>
            <a:r>
              <a:rPr lang="en-US" sz="2800" dirty="0">
                <a:latin typeface="Cambria" panose="02040503050406030204" pitchFamily="18" charset="0"/>
              </a:rPr>
              <a:t>Perform calculations.</a:t>
            </a:r>
          </a:p>
          <a:p>
            <a:pPr marL="1371600" lvl="2" indent="-457200">
              <a:buFont typeface="Wingdings" panose="05000000000000000000" pitchFamily="2" charset="2"/>
              <a:buChar char="Ø"/>
            </a:pPr>
            <a:r>
              <a:rPr lang="en-US" sz="2800" b="1" dirty="0">
                <a:latin typeface="Cambria" panose="02040503050406030204" pitchFamily="18" charset="0"/>
              </a:rPr>
              <a:t>Logical Instructions: </a:t>
            </a:r>
            <a:r>
              <a:rPr lang="en-US" sz="2800" dirty="0">
                <a:latin typeface="Cambria" panose="02040503050406030204" pitchFamily="18" charset="0"/>
              </a:rPr>
              <a:t>Bitwise operations.</a:t>
            </a:r>
          </a:p>
          <a:p>
            <a:pPr marL="1371600" lvl="2" indent="-457200">
              <a:buFont typeface="Wingdings" panose="05000000000000000000" pitchFamily="2" charset="2"/>
              <a:buChar char="Ø"/>
            </a:pPr>
            <a:r>
              <a:rPr lang="en-US" sz="2800" b="1" dirty="0">
                <a:latin typeface="Cambria" panose="02040503050406030204" pitchFamily="18" charset="0"/>
              </a:rPr>
              <a:t>Shift and Rotate Instructions: </a:t>
            </a:r>
            <a:r>
              <a:rPr lang="en-US" sz="2800" dirty="0">
                <a:latin typeface="Cambria" panose="02040503050406030204" pitchFamily="18" charset="0"/>
              </a:rPr>
              <a:t>Bit manipulation.</a:t>
            </a:r>
          </a:p>
          <a:p>
            <a:pPr marL="1371600" lvl="2" indent="-457200">
              <a:buFont typeface="Wingdings" panose="05000000000000000000" pitchFamily="2" charset="2"/>
              <a:buChar char="Ø"/>
            </a:pPr>
            <a:r>
              <a:rPr lang="en-US" sz="2800" b="1" dirty="0">
                <a:latin typeface="Cambria" panose="02040503050406030204" pitchFamily="18" charset="0"/>
              </a:rPr>
              <a:t>Branching Instructions: </a:t>
            </a:r>
            <a:r>
              <a:rPr lang="en-US" sz="2800" dirty="0">
                <a:latin typeface="Cambria" panose="02040503050406030204" pitchFamily="18" charset="0"/>
              </a:rPr>
              <a:t>Control program flow.</a:t>
            </a:r>
          </a:p>
          <a:p>
            <a:pPr marL="1371600" lvl="2" indent="-457200">
              <a:buFont typeface="Wingdings" panose="05000000000000000000" pitchFamily="2" charset="2"/>
              <a:buChar char="Ø"/>
            </a:pPr>
            <a:r>
              <a:rPr lang="en-US" sz="2800" b="1" dirty="0">
                <a:latin typeface="Cambria" panose="02040503050406030204" pitchFamily="18" charset="0"/>
              </a:rPr>
              <a:t>String Instructions: </a:t>
            </a:r>
            <a:r>
              <a:rPr lang="en-US" sz="2800" dirty="0">
                <a:latin typeface="Cambria" panose="02040503050406030204" pitchFamily="18" charset="0"/>
              </a:rPr>
              <a:t>Process strings.</a:t>
            </a:r>
          </a:p>
          <a:p>
            <a:pPr marL="1371600" lvl="2" indent="-457200">
              <a:buFont typeface="Wingdings" panose="05000000000000000000" pitchFamily="2" charset="2"/>
              <a:buChar char="Ø"/>
            </a:pPr>
            <a:r>
              <a:rPr lang="en-US" sz="2800" b="1" dirty="0">
                <a:latin typeface="Cambria" panose="02040503050406030204" pitchFamily="18" charset="0"/>
              </a:rPr>
              <a:t>Processor Control Instructions: </a:t>
            </a:r>
            <a:r>
              <a:rPr lang="en-US" sz="2800" dirty="0">
                <a:latin typeface="Cambria" panose="02040503050406030204" pitchFamily="18" charset="0"/>
              </a:rPr>
              <a:t>Control CPU operations.</a:t>
            </a:r>
          </a:p>
        </p:txBody>
      </p:sp>
    </p:spTree>
    <p:extLst>
      <p:ext uri="{BB962C8B-B14F-4D97-AF65-F5344CB8AC3E}">
        <p14:creationId xmlns:p14="http://schemas.microsoft.com/office/powerpoint/2010/main" val="3947144642"/>
      </p:ext>
    </p:extLst>
  </p:cSld>
  <p:clrMapOvr>
    <a:masterClrMapping/>
  </p:clrMapOvr>
  <p:transition spd="med">
    <p:push dir="u"/>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2437</TotalTime>
  <Words>1472</Words>
  <Application>Microsoft Office PowerPoint</Application>
  <PresentationFormat>A4 Paper (210x297 mm)</PresentationFormat>
  <Paragraphs>309</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Cambria</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Adnan Sami</dc:creator>
  <cp:lastModifiedBy>DFIT</cp:lastModifiedBy>
  <cp:revision>330</cp:revision>
  <dcterms:created xsi:type="dcterms:W3CDTF">2025-01-23T20:11:31Z</dcterms:created>
  <dcterms:modified xsi:type="dcterms:W3CDTF">2026-07-26T05:32:39Z</dcterms:modified>
</cp:coreProperties>
</file>