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84" r:id="rId4"/>
    <p:sldId id="269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3" r:id="rId13"/>
    <p:sldId id="294" r:id="rId14"/>
    <p:sldId id="295" r:id="rId15"/>
    <p:sldId id="292" r:id="rId16"/>
    <p:sldId id="297" r:id="rId17"/>
    <p:sldId id="298" r:id="rId18"/>
    <p:sldId id="296" r:id="rId19"/>
    <p:sldId id="299" r:id="rId20"/>
    <p:sldId id="301" r:id="rId21"/>
    <p:sldId id="302" r:id="rId22"/>
    <p:sldId id="304" r:id="rId23"/>
    <p:sldId id="300" r:id="rId24"/>
    <p:sldId id="303" r:id="rId25"/>
    <p:sldId id="306" r:id="rId26"/>
    <p:sldId id="307" r:id="rId27"/>
    <p:sldId id="308" r:id="rId28"/>
    <p:sldId id="309" r:id="rId29"/>
    <p:sldId id="310" r:id="rId30"/>
    <p:sldId id="311" r:id="rId31"/>
    <p:sldId id="312" r:id="rId32"/>
    <p:sldId id="313" r:id="rId33"/>
    <p:sldId id="314" r:id="rId34"/>
    <p:sldId id="315" r:id="rId35"/>
    <p:sldId id="316" r:id="rId36"/>
    <p:sldId id="317" r:id="rId37"/>
    <p:sldId id="318" r:id="rId38"/>
    <p:sldId id="319" r:id="rId39"/>
    <p:sldId id="305" r:id="rId40"/>
    <p:sldId id="320" r:id="rId41"/>
    <p:sldId id="322" r:id="rId42"/>
    <p:sldId id="321" r:id="rId43"/>
    <p:sldId id="323" r:id="rId44"/>
    <p:sldId id="324" r:id="rId45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E"/>
    <a:srgbClr val="FFFFFF"/>
    <a:srgbClr val="D563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Introduction to IBM PC Assembly Language (Chapter-4)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  <a:endParaRPr lang="en-US" sz="2200" b="1" dirty="0">
              <a:solidFill>
                <a:srgbClr val="7030A0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8860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746791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Assembly Language Syntax.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Name Field.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Operation Field.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Operand Field.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Comment Field.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Program Data.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Variable and  Byte Variable.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Word Variable.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Arrays.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Named  Constants.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A Few Basic Instructions.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Translation of High Level Language to Assembly Language </a:t>
            </a:r>
          </a:p>
        </p:txBody>
      </p:sp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8860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746791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13. Memory Models.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14. Input and Output Instructions.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15. A Program for Displaying String.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16. A Program for Case Conversion. </a:t>
            </a:r>
          </a:p>
        </p:txBody>
      </p:sp>
    </p:spTree>
    <p:extLst>
      <p:ext uri="{BB962C8B-B14F-4D97-AF65-F5344CB8AC3E}">
        <p14:creationId xmlns:p14="http://schemas.microsoft.com/office/powerpoint/2010/main" val="2350507953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Assembly Language 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43743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Assembly language programs are translated into machine language instructions by an assembler.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Statements: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Here, 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Name field: 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START: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Operation: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MOV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Operand: 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CX, 5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Comment: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;initialize counter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F1B141-E103-49B1-84C9-7036D3431C5C}"/>
              </a:ext>
            </a:extLst>
          </p:cNvPr>
          <p:cNvGrpSpPr/>
          <p:nvPr/>
        </p:nvGrpSpPr>
        <p:grpSpPr>
          <a:xfrm>
            <a:off x="385611" y="2654368"/>
            <a:ext cx="8596635" cy="1414884"/>
            <a:chOff x="779514" y="2668436"/>
            <a:chExt cx="8596635" cy="141488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DE2507E-1A1D-4BD1-A163-9EBC82A03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4562" y="2668436"/>
              <a:ext cx="8591587" cy="83768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37FDAC2-EF93-4B70-8E77-C3AED2099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514" y="3395271"/>
              <a:ext cx="8440400" cy="6880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6288382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Assembly Language 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43743"/>
            <a:ext cx="9906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Statements: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Here, 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Name field: 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MAIN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Operation: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Cambria" panose="02040503050406030204" pitchFamily="18" charset="0"/>
              </a:rPr>
              <a:t>PROC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12010A-6B2E-4C0D-BB5F-4A814FA6C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48" y="1424185"/>
            <a:ext cx="5705694" cy="75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71057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Name Field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43743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name field is used for instruction labels, procedure names, and variable names.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assembler does not differentiate between upper and   lower case in a name.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Examples of legal names: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COUNTER1		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@character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SUM_OF_DIGITS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$1000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DONE?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.TEST </a:t>
            </a:r>
          </a:p>
        </p:txBody>
      </p:sp>
    </p:spTree>
    <p:extLst>
      <p:ext uri="{BB962C8B-B14F-4D97-AF65-F5344CB8AC3E}">
        <p14:creationId xmlns:p14="http://schemas.microsoft.com/office/powerpoint/2010/main" val="2402808202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Name Field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849DA9-56D3-4B3A-B7AF-B4A34DC45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07" y="949055"/>
            <a:ext cx="8307733" cy="272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38388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Operation Field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Operation's function: 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MOV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ADD </a:t>
            </a:r>
          </a:p>
          <a:p>
            <a:pPr marL="1371600" lvl="2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SUB </a:t>
            </a:r>
          </a:p>
        </p:txBody>
      </p:sp>
    </p:spTree>
    <p:extLst>
      <p:ext uri="{BB962C8B-B14F-4D97-AF65-F5344CB8AC3E}">
        <p14:creationId xmlns:p14="http://schemas.microsoft.com/office/powerpoint/2010/main" val="3625618825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Operand Field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Operand field specifies the data that are to be acted on by    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 operation.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2B5E60-BACF-4635-B13A-16383C727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27" y="2221504"/>
            <a:ext cx="9201347" cy="166735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478297385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Comment Field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comment field of a statement is used by the programmer to say something about what the statement does.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 semicolon marks the beginning of this field, and the assembler ignores anything typed after the semicolon.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Comments are optional but assembly language is so low-level, it is almost impossible to understand an assembly language program without comments.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7C9A35-33FF-43DB-BCB2-C11B8EFE2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06" y="4565989"/>
            <a:ext cx="8951276" cy="151125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52619755"/>
      </p:ext>
    </p:extLst>
  </p:cSld>
  <p:clrMapOvr>
    <a:masterClrMapping/>
  </p:clrMapOvr>
  <p:transition spd="med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Program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The processor operates only on binary data. The assembler must translate all data representation into binary numbers.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An assembly language program we may express data as binary, decimal, or hex numbers, and even as characters. </a:t>
            </a:r>
          </a:p>
        </p:txBody>
      </p:sp>
    </p:spTree>
    <p:extLst>
      <p:ext uri="{BB962C8B-B14F-4D97-AF65-F5344CB8AC3E}">
        <p14:creationId xmlns:p14="http://schemas.microsoft.com/office/powerpoint/2010/main" val="3132330359"/>
      </p:ext>
    </p:extLst>
  </p:cSld>
  <p:clrMapOvr>
    <a:masterClrMapping/>
  </p:clrMapOvr>
  <p:transition spd="med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18356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Program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1028151"/>
            <a:ext cx="9906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Numbers: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 binary number is written as a bit string followed by the letter “B" or "b“. </a:t>
            </a:r>
            <a:r>
              <a:rPr lang="en-US" sz="2800" b="1" dirty="0">
                <a:latin typeface="Cambria" panose="02040503050406030204" pitchFamily="18" charset="0"/>
              </a:rPr>
              <a:t>For example: </a:t>
            </a:r>
            <a:r>
              <a:rPr lang="en-US" sz="2800" dirty="0">
                <a:latin typeface="Cambria" panose="02040503050406030204" pitchFamily="18" charset="0"/>
              </a:rPr>
              <a:t>1010B.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 decimal number is a string of decimal digits, ending with an optional "D" or "d".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 hex number must begin with a decimal digit and end with the letter "H" or "h“. </a:t>
            </a:r>
            <a:r>
              <a:rPr lang="en-US" sz="2800" b="1" dirty="0">
                <a:latin typeface="Cambria" panose="02040503050406030204" pitchFamily="18" charset="0"/>
              </a:rPr>
              <a:t>For example: </a:t>
            </a:r>
            <a:r>
              <a:rPr lang="en-US" sz="2800" dirty="0">
                <a:latin typeface="Cambria" panose="02040503050406030204" pitchFamily="18" charset="0"/>
              </a:rPr>
              <a:t>0ABCH. </a:t>
            </a:r>
          </a:p>
        </p:txBody>
      </p:sp>
    </p:spTree>
    <p:extLst>
      <p:ext uri="{BB962C8B-B14F-4D97-AF65-F5344CB8AC3E}">
        <p14:creationId xmlns:p14="http://schemas.microsoft.com/office/powerpoint/2010/main" val="400964825"/>
      </p:ext>
    </p:extLst>
  </p:cSld>
  <p:clrMapOvr>
    <a:masterClrMapping/>
  </p:clrMapOvr>
  <p:transition spd="med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18356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Program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7D2F1A-4B43-4843-8C6F-85A82B0C7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" y="1185600"/>
            <a:ext cx="9891933" cy="394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73685"/>
      </p:ext>
    </p:extLst>
  </p:cSld>
  <p:clrMapOvr>
    <a:masterClrMapping/>
  </p:clrMapOvr>
  <p:transition spd="med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18356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Program 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1028151"/>
            <a:ext cx="990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Characters:</a:t>
            </a:r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Characters and character strings must be enclosed in single or double quotes. </a:t>
            </a:r>
            <a:r>
              <a:rPr lang="en-US" sz="2800" b="1" dirty="0">
                <a:latin typeface="Cambria" panose="02040503050406030204" pitchFamily="18" charset="0"/>
              </a:rPr>
              <a:t>For example: </a:t>
            </a:r>
            <a:r>
              <a:rPr lang="en-US" sz="2800" dirty="0">
                <a:latin typeface="Cambria" panose="02040503050406030204" pitchFamily="18" charset="0"/>
              </a:rPr>
              <a:t>"A" or 'hello'.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3AB525-3206-4C98-8028-78FAD2A49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98" y="2594337"/>
            <a:ext cx="8164990" cy="291701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24973631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Variable and  Byte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Variable: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Variables play the same role in assembly language that they do in high-level languages.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Each variable has a data type and is assigned a memory address by the program.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Byte Variable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Byte variable takes the following form: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E1A60-1A7A-4276-8581-B0736D75B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462" y="4495648"/>
            <a:ext cx="6352060" cy="186070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888493504"/>
      </p:ext>
    </p:extLst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Variable and  Byte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Byte Variable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Byte variable is defined in the following form: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Here,  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name:</a:t>
            </a:r>
            <a:r>
              <a:rPr lang="en-US" sz="2800" dirty="0">
                <a:latin typeface="Cambria" panose="02040503050406030204" pitchFamily="18" charset="0"/>
              </a:rPr>
              <a:t> ALPHA.</a:t>
            </a:r>
          </a:p>
          <a:p>
            <a:pPr lvl="2"/>
            <a:r>
              <a:rPr lang="en-US" sz="2800" b="1" dirty="0" err="1">
                <a:latin typeface="Cambria" panose="02040503050406030204" pitchFamily="18" charset="0"/>
              </a:rPr>
              <a:t>initialial_value</a:t>
            </a:r>
            <a:r>
              <a:rPr lang="en-US" sz="2800" b="1" dirty="0">
                <a:latin typeface="Cambria" panose="02040503050406030204" pitchFamily="18" charset="0"/>
              </a:rPr>
              <a:t>: </a:t>
            </a:r>
            <a:r>
              <a:rPr lang="en-US" sz="2800" dirty="0">
                <a:latin typeface="Cambria" panose="02040503050406030204" pitchFamily="18" charset="0"/>
              </a:rPr>
              <a:t>4.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EE1A60-1A7A-4276-8581-B0736D75B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14" y="1980666"/>
            <a:ext cx="6352060" cy="186070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67789903"/>
      </p:ext>
    </p:extLst>
  </p:cSld>
  <p:clrMapOvr>
    <a:masterClrMapping/>
  </p:clrMapOvr>
  <p:transition spd="med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Variable and  Byte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Byte Variable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A question mark (" ?") used in place of an initial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value sets aside an uninitialized byte. For example: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FBBA1B-CE60-4E7E-8088-10E9B8475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304" y="2411554"/>
            <a:ext cx="4540945" cy="69546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954911216"/>
      </p:ext>
    </p:extLst>
  </p:cSld>
  <p:clrMapOvr>
    <a:masterClrMapping/>
  </p:clrMapOvr>
  <p:transition spd="med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Word Variable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Word variable is defined in the following form: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Here, </a:t>
            </a:r>
          </a:p>
          <a:p>
            <a:pPr lvl="2"/>
            <a:r>
              <a:rPr lang="en-US" sz="2800" b="1" dirty="0">
                <a:latin typeface="Cambria" panose="02040503050406030204" pitchFamily="18" charset="0"/>
              </a:rPr>
              <a:t>name:</a:t>
            </a:r>
            <a:r>
              <a:rPr lang="en-US" sz="2800" dirty="0">
                <a:latin typeface="Cambria" panose="02040503050406030204" pitchFamily="18" charset="0"/>
              </a:rPr>
              <a:t> WRD.</a:t>
            </a:r>
          </a:p>
          <a:p>
            <a:pPr lvl="2"/>
            <a:r>
              <a:rPr lang="en-US" sz="2800" b="1" dirty="0" err="1">
                <a:latin typeface="Cambria" panose="02040503050406030204" pitchFamily="18" charset="0"/>
              </a:rPr>
              <a:t>initialial_value</a:t>
            </a:r>
            <a:r>
              <a:rPr lang="en-US" sz="2800" b="1" dirty="0">
                <a:latin typeface="Cambria" panose="02040503050406030204" pitchFamily="18" charset="0"/>
              </a:rPr>
              <a:t>: </a:t>
            </a:r>
            <a:r>
              <a:rPr lang="en-US" sz="2800" dirty="0">
                <a:latin typeface="Cambria" panose="02040503050406030204" pitchFamily="18" charset="0"/>
              </a:rPr>
              <a:t>-2.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6A4C51-12D1-48F3-9275-65B47D5C9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981" y="1549779"/>
            <a:ext cx="6384126" cy="66501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DB223A-D76A-415D-B4C0-F583BB704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363" y="2380987"/>
            <a:ext cx="4935906" cy="69609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50725328"/>
      </p:ext>
    </p:extLst>
  </p:cSld>
  <p:clrMapOvr>
    <a:masterClrMapping/>
  </p:clrMapOvr>
  <p:transition spd="med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In assembly language, an array is just a sequence of memory bytes or words. 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For example: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To define a three-byte array called B_ARRAY, whose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initial values are 10h, 20h, and 30h. We can write,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584B4A-58F9-47CD-93CA-593ED8203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872" y="3283961"/>
            <a:ext cx="6552526" cy="54734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52427250"/>
      </p:ext>
    </p:extLst>
  </p:cSld>
  <p:clrMapOvr>
    <a:masterClrMapping/>
  </p:clrMapOvr>
  <p:transition spd="med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name B_ARRAY is associated with the first of these bytes, B_ARRAY+1 with the second, and B_ARRAY+2 with the third. If the assembler assigns the offset address 0200h to B_ARRAY, then memory would look like this: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8C2EBC-6496-4B32-A338-0FE5D06E2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661" y="2935292"/>
            <a:ext cx="8316718" cy="192324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62310670"/>
      </p:ext>
    </p:extLst>
  </p:cSld>
  <p:clrMapOvr>
    <a:masterClrMapping/>
  </p:clrMapOvr>
  <p:transition spd="med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name B_ARRAY is associated with the first of these bytes, B_ARRAY+1 with the second, and B_ARRAY+2 with the third. If the assembler assigns the offset address 0200h to B_ARRAY, then memory would look like this: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In the same way, an array of words may be defined. For example,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8C2EBC-6496-4B32-A338-0FE5D06E2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61" y="2780544"/>
            <a:ext cx="7501887" cy="173481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2B6A5B-2C40-4E74-81FA-D69ADD8B2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489" y="5768749"/>
            <a:ext cx="7001623" cy="54676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90855169"/>
      </p:ext>
    </p:extLst>
  </p:cSld>
  <p:clrMapOvr>
    <a:masterClrMapping/>
  </p:clrMapOvr>
  <p:transition spd="med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Character Strings: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Inside a string, the assembler differentiates between upper and lower case. Thus, the string "</a:t>
            </a:r>
            <a:r>
              <a:rPr lang="en-US" sz="2800" dirty="0" err="1">
                <a:latin typeface="Cambria" panose="02040503050406030204" pitchFamily="18" charset="0"/>
              </a:rPr>
              <a:t>abc</a:t>
            </a:r>
            <a:r>
              <a:rPr lang="en-US" sz="2800" dirty="0">
                <a:latin typeface="Cambria" panose="02040503050406030204" pitchFamily="18" charset="0"/>
              </a:rPr>
              <a:t>" is translated into three bytes with values 61h, 62h, and 63h.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9B4067-4360-4A9D-B187-C9A5A2EEA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37" y="1645202"/>
            <a:ext cx="8380787" cy="176973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77958072"/>
      </p:ext>
    </p:extLst>
  </p:cSld>
  <p:clrMapOvr>
    <a:masterClrMapping/>
  </p:clrMapOvr>
  <p:transition spd="med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886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Named  Constants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6481EE-EBD5-49E7-9D90-229C44F8F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910" y="509338"/>
            <a:ext cx="6261827" cy="590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600514"/>
      </p:ext>
    </p:extLst>
  </p:cSld>
  <p:clrMapOvr>
    <a:masterClrMapping/>
  </p:clrMapOvr>
  <p:transition spd="med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MOV and XCHG: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 MOV Instruction is used to transfer data between registers, between a register and a memory location, or to move a number directly into a register or memory location. The syntax is,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Example: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 contents of register AX are replaced by the contents of memory location WORD1. The contents of WORD1 are unchanged.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8BF32-9A77-4DDD-B640-E1B0ED6D2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240" y="2901540"/>
            <a:ext cx="4578568" cy="60700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FB5025-B30E-4124-9E7D-4B1E315091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2239" y="4167268"/>
            <a:ext cx="2968897" cy="66849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903743557"/>
      </p:ext>
    </p:extLst>
  </p:cSld>
  <p:clrMapOvr>
    <a:masterClrMapping/>
  </p:clrMapOvr>
  <p:transition spd="med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MOV and XCHG:</a:t>
            </a:r>
          </a:p>
          <a:p>
            <a:pPr lvl="1"/>
            <a:endParaRPr lang="en-US" sz="2800" dirty="0">
              <a:solidFill>
                <a:srgbClr val="7030A0"/>
              </a:solidFill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MOV AX, BX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AX gets what was previously in BX. But BX is unchanged.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8C9996-788B-4538-914C-D7B64BE1D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15" y="2788199"/>
            <a:ext cx="9377157" cy="215766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121905895"/>
      </p:ext>
    </p:extLst>
  </p:cSld>
  <p:clrMapOvr>
    <a:masterClrMapping/>
  </p:clrMapOvr>
  <p:transition spd="med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MOV and XCHG: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16498F-008D-425C-A80B-7DE8A09D9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59" y="1176817"/>
            <a:ext cx="7507414" cy="517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94882"/>
      </p:ext>
    </p:extLst>
  </p:cSld>
  <p:clrMapOvr>
    <a:masterClrMapping/>
  </p:clrMapOvr>
  <p:transition spd="med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MOV and XCHG: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XCHG (exchange) operation is used to exchange the contents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of two registers, or a register and a memory location. The syntax is,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This instruction swaps the contents of AH and BL, so that AH contains what was previously in BL and BL contains what was originally in AH.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76C350-3139-4BB4-9317-5CD498686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170" y="2362856"/>
            <a:ext cx="4874082" cy="168577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90513105"/>
      </p:ext>
    </p:extLst>
  </p:cSld>
  <p:clrMapOvr>
    <a:masterClrMapping/>
  </p:clrMapOvr>
  <p:transition spd="med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MOV and XCHG: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Another example is,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 Swaps the contents of AX and memory location WORD1.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16DAA2-5C56-442A-85FA-D84FD5DE6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888" y="1616490"/>
            <a:ext cx="3098427" cy="69073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8680621"/>
      </p:ext>
    </p:extLst>
  </p:cSld>
  <p:clrMapOvr>
    <a:masterClrMapping/>
  </p:clrMapOvr>
  <p:transition spd="med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Restrictions on MOV and XCHG: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There are a few restrictions on the use of MOV and XCHG.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MOV or XCHG between memory locations is not allowed. For example,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Solution: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We can solve this restriction by using a register.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101C1CF-66A5-4204-BDBA-F46C12C00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9700" y="2816516"/>
            <a:ext cx="4756582" cy="48030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FDEBDE-1ADD-4DAA-B713-2936195F7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689" y="4657787"/>
            <a:ext cx="3279606" cy="103178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87969999"/>
      </p:ext>
    </p:extLst>
  </p:cSld>
  <p:clrMapOvr>
    <a:masterClrMapping/>
  </p:clrMapOvr>
  <p:transition spd="med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321FD6-AE43-4429-84A4-8CF55A507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18" y="1050515"/>
            <a:ext cx="8860236" cy="262115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160246618"/>
      </p:ext>
    </p:extLst>
  </p:cSld>
  <p:clrMapOvr>
    <a:masterClrMapping/>
  </p:clrMapOvr>
  <p:transition spd="med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ADD, SUB, INC, DEC: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ADD and SUB instructions are used to add or subtract the contents of two registers, a register and a memory location. The syntax is,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Example: </a:t>
            </a:r>
          </a:p>
          <a:p>
            <a:pPr lvl="1"/>
            <a:r>
              <a:rPr lang="en-US" sz="2800" dirty="0" err="1">
                <a:latin typeface="Cambria" panose="02040503050406030204" pitchFamily="18" charset="0"/>
              </a:rPr>
              <a:t>i</a:t>
            </a:r>
            <a:r>
              <a:rPr lang="en-US" sz="2800" dirty="0">
                <a:latin typeface="Cambria" panose="02040503050406030204" pitchFamily="18" charset="0"/>
              </a:rPr>
              <a:t>)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This instruction, </a:t>
            </a:r>
            <a:r>
              <a:rPr lang="en-US" sz="2800" b="1" dirty="0">
                <a:latin typeface="Cambria" panose="02040503050406030204" pitchFamily="18" charset="0"/>
              </a:rPr>
              <a:t>"Add AX to WORD1" </a:t>
            </a:r>
            <a:r>
              <a:rPr lang="en-US" sz="2800" dirty="0">
                <a:latin typeface="Cambria" panose="02040503050406030204" pitchFamily="18" charset="0"/>
              </a:rPr>
              <a:t>causes the contents of AX and memory word WORD1 to be added, and the sum is stored in WORD1. AX is unchanged.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19C62-5DC7-4BEC-A887-5B39E6563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348" y="2384663"/>
            <a:ext cx="4405866" cy="780567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804C1-552A-43C0-BE12-9B02A1C45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184" y="3743405"/>
            <a:ext cx="2580629" cy="64070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61709707"/>
      </p:ext>
    </p:extLst>
  </p:cSld>
  <p:clrMapOvr>
    <a:masterClrMapping/>
  </p:clrMapOvr>
  <p:transition spd="med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ADD, SUB, INC, DEC: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ii)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This instruction, </a:t>
            </a:r>
            <a:r>
              <a:rPr lang="en-US" sz="2800" b="1" dirty="0">
                <a:latin typeface="Cambria" panose="02040503050406030204" pitchFamily="18" charset="0"/>
              </a:rPr>
              <a:t>"Subtract DX from AX" </a:t>
            </a:r>
            <a:r>
              <a:rPr lang="en-US" sz="2800" dirty="0">
                <a:latin typeface="Cambria" panose="02040503050406030204" pitchFamily="18" charset="0"/>
              </a:rPr>
              <a:t>the value of DX is subtracted from the value of AX, with the difference being stored in AX. DX is unchanged.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395CF-D2AE-4B74-9CC1-4AF5F1B53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93" y="1614899"/>
            <a:ext cx="2080414" cy="56738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30E89E-5C56-4635-99C8-819B0FEA1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260" y="3760681"/>
            <a:ext cx="7743022" cy="258542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689192525"/>
      </p:ext>
    </p:extLst>
  </p:cSld>
  <p:clrMapOvr>
    <a:masterClrMapping/>
  </p:clrMapOvr>
  <p:transition spd="med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ADD, SUB, INC, DEC: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9C031D-E339-460B-A073-DCA3BFA87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06" y="1289026"/>
            <a:ext cx="8800587" cy="263646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570278645"/>
      </p:ext>
    </p:extLst>
  </p:cSld>
  <p:clrMapOvr>
    <a:masterClrMapping/>
  </p:clrMapOvr>
  <p:transition spd="med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ADD, SUB, INC, DEC: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INC (increment) is used to add 1 to the contents of a register or memory location. The syntax is, </a:t>
            </a:r>
            <a:endParaRPr lang="en-US" sz="2800" b="1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Example: </a:t>
            </a: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9D93DF-5E4A-4C3E-8D6F-A64F509E1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333" y="2034301"/>
            <a:ext cx="3104197" cy="47893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93874-08AE-41C0-A5BC-239CFA86A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054" y="2871468"/>
            <a:ext cx="4509292" cy="89875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5457C9-24E9-4EA3-985B-B6FD43B37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916" y="3924470"/>
            <a:ext cx="8279028" cy="238862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068557110"/>
      </p:ext>
    </p:extLst>
  </p:cSld>
  <p:clrMapOvr>
    <a:masterClrMapping/>
  </p:clrMapOvr>
  <p:transition spd="med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ADD, SUB, INC, DEC: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DEC (decrement) is used to subtract 1 from a register or memory location. The syntax is, </a:t>
            </a:r>
            <a:endParaRPr lang="en-US" sz="2800" b="1" dirty="0">
              <a:latin typeface="Cambria" panose="02040503050406030204" pitchFamily="18" charset="0"/>
            </a:endParaRP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0B1B2F-8D7A-471D-B828-BC334CCD2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778" y="2048590"/>
            <a:ext cx="3364928" cy="46952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AFC17-A9EA-4965-9F7E-02A9F2C02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444" y="2876804"/>
            <a:ext cx="4070729" cy="91443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62C87A-B905-4B1B-8CAC-47731F01F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2" y="3893348"/>
            <a:ext cx="8377686" cy="249321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44227842"/>
      </p:ext>
    </p:extLst>
  </p:cSld>
  <p:clrMapOvr>
    <a:masterClrMapping/>
  </p:clrMapOvr>
  <p:transition spd="med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2140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Few Basic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662383"/>
            <a:ext cx="9906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ADD, SUB, INC, DEC: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NEG is used to negate the contents of the destination. NEG does this by replacing the contents by its two's complement. The syntax is, </a:t>
            </a:r>
          </a:p>
          <a:p>
            <a:pPr lvl="1"/>
            <a:endParaRPr lang="en-US" sz="2800" b="1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Example: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 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Negates the contents of BX.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C466D6-27F6-431B-B083-49EF5EA7C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04" y="2424219"/>
            <a:ext cx="2759116" cy="464851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5DE620-28E6-440C-B006-8C51FEB62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956" y="3161783"/>
            <a:ext cx="1299429" cy="55689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8E3CFD-EBB2-42F2-A134-9ED3A46E5F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92" y="4118773"/>
            <a:ext cx="7994478" cy="2320619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98882639"/>
      </p:ext>
    </p:extLst>
  </p:cSld>
  <p:clrMapOvr>
    <a:masterClrMapping/>
  </p:clrMapOvr>
  <p:transition spd="med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9540"/>
            <a:ext cx="990866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7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Translation of High Level Language to Assembly Language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7EEC11-1B4A-49ED-8713-6F4000366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48" y="1276816"/>
            <a:ext cx="9111919" cy="2043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07065"/>
      </p:ext>
    </p:extLst>
  </p:cSld>
  <p:clrMapOvr>
    <a:masterClrMapping/>
  </p:clrMapOvr>
  <p:transition spd="med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49540"/>
            <a:ext cx="990866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27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Translation of High Level Language to Assembly Language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55BCE-7E36-4B8A-B138-D3DF04AE8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187" y="858596"/>
            <a:ext cx="9041257" cy="509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33451"/>
      </p:ext>
    </p:extLst>
  </p:cSld>
  <p:clrMapOvr>
    <a:masterClrMapping/>
  </p:clrMapOvr>
  <p:transition spd="med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65132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Memory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718655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 size of code and data a program can have is determined by specifying a memory model using the .MODEL directive. The syntax is,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4DC85B-BC29-4DEB-96CE-83FF881E1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744" y="2053452"/>
            <a:ext cx="5214512" cy="47949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49A515A-F647-4462-B0B4-315DFC87D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564" y="2630455"/>
            <a:ext cx="7429500" cy="3781847"/>
          </a:xfrm>
          <a:prstGeom prst="rect">
            <a:avLst/>
          </a:prstGeom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4168862166"/>
      </p:ext>
    </p:extLst>
  </p:cSld>
  <p:clrMapOvr>
    <a:masterClrMapping/>
  </p:clrMapOvr>
  <p:transition spd="med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Input and Output Instructions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519776-AC5A-451E-815F-5C5CAD5527D8}"/>
              </a:ext>
            </a:extLst>
          </p:cNvPr>
          <p:cNvSpPr txBox="1"/>
          <p:nvPr/>
        </p:nvSpPr>
        <p:spPr>
          <a:xfrm>
            <a:off x="0" y="957811"/>
            <a:ext cx="9906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There are two ways to do input and output on the IBM PC: </a:t>
            </a:r>
          </a:p>
          <a:p>
            <a:pPr marL="1428750" lvl="2" indent="-514350">
              <a:buAutoNum type="arabicParenR"/>
            </a:pPr>
            <a:r>
              <a:rPr lang="en-US" sz="2800" dirty="0">
                <a:latin typeface="Cambria" panose="02040503050406030204" pitchFamily="18" charset="0"/>
              </a:rPr>
              <a:t>By direct communication with I/O devices.</a:t>
            </a:r>
          </a:p>
          <a:p>
            <a:pPr marL="1428750" lvl="2" indent="-514350">
              <a:buAutoNum type="arabicParenR"/>
            </a:pPr>
            <a:r>
              <a:rPr lang="en-US" sz="2800" dirty="0">
                <a:latin typeface="Cambria" panose="02040503050406030204" pitchFamily="18" charset="0"/>
              </a:rPr>
              <a:t>By using BIOS or DOS routines.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BIOS (Basic Input Output System) routine: </a:t>
            </a:r>
            <a:r>
              <a:rPr lang="en-US" sz="2800" dirty="0">
                <a:latin typeface="Cambria" panose="02040503050406030204" pitchFamily="18" charset="0"/>
              </a:rPr>
              <a:t>Stored in ROM and interact directly with the I/O ports. </a:t>
            </a:r>
          </a:p>
          <a:p>
            <a:pPr lvl="1"/>
            <a:r>
              <a:rPr lang="en-US" sz="2800" b="1" dirty="0">
                <a:latin typeface="Cambria" panose="02040503050406030204" pitchFamily="18" charset="0"/>
              </a:rPr>
              <a:t>DOS routine: </a:t>
            </a:r>
            <a:r>
              <a:rPr lang="en-US" sz="2800" dirty="0">
                <a:latin typeface="Cambria" panose="02040503050406030204" pitchFamily="18" charset="0"/>
              </a:rPr>
              <a:t>Carry out more complex tasks. For example: Printing a character string. 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i="1" dirty="0">
                <a:latin typeface="Cambria" panose="02040503050406030204" pitchFamily="18" charset="0"/>
              </a:rPr>
              <a:t>CPU communicates with the peripherals through I/O registers called I/O ports. </a:t>
            </a:r>
          </a:p>
        </p:txBody>
      </p:sp>
    </p:spTree>
    <p:extLst>
      <p:ext uri="{BB962C8B-B14F-4D97-AF65-F5344CB8AC3E}">
        <p14:creationId xmlns:p14="http://schemas.microsoft.com/office/powerpoint/2010/main" val="2527969981"/>
      </p:ext>
    </p:extLst>
  </p:cSld>
  <p:clrMapOvr>
    <a:masterClrMapping/>
  </p:clrMapOvr>
  <p:transition spd="med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41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Input and Output Instructions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0592A5-1F3B-4A34-AADB-A163E7FB4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10" y="1496274"/>
            <a:ext cx="8543925" cy="1855253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05099488"/>
      </p:ext>
    </p:extLst>
  </p:cSld>
  <p:clrMapOvr>
    <a:masterClrMapping/>
  </p:clrMapOvr>
  <p:transition spd="med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Program for Displaying String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7B83AF-FFC9-1F2C-AE4A-BB23ABB0E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33" y="917631"/>
            <a:ext cx="8996527" cy="538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00372"/>
      </p:ext>
    </p:extLst>
  </p:cSld>
  <p:clrMapOvr>
    <a:masterClrMapping/>
  </p:clrMapOvr>
  <p:transition spd="med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1289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Program for Case Conversion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D2CC16-8DD5-4F97-66AA-B62ADBFF8CA6}"/>
              </a:ext>
            </a:extLst>
          </p:cNvPr>
          <p:cNvSpPr txBox="1"/>
          <p:nvPr/>
        </p:nvSpPr>
        <p:spPr>
          <a:xfrm>
            <a:off x="0" y="702619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Lowercase to Uppercase: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32B765-83B2-DF5B-892A-DFF80369A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044" y="665565"/>
            <a:ext cx="2917170" cy="577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38785"/>
      </p:ext>
    </p:extLst>
  </p:cSld>
  <p:clrMapOvr>
    <a:masterClrMapping/>
  </p:clrMapOvr>
  <p:transition spd="med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D124-E9FE-6C48-91E3-0B394FD4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941EE-744D-CA17-2AC5-B13976EF8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8/27/2025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9276C-DB78-F4D6-200F-649768F8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124B7-F88F-1EBA-663E-877E6B77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B53703DC-72C1-6134-C4D3-BDA4C0B95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894"/>
            <a:ext cx="990866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A Program for Case Conversion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263D0-6447-1C83-A7CB-B1E2B2E1B9D5}"/>
              </a:ext>
            </a:extLst>
          </p:cNvPr>
          <p:cNvSpPr txBox="1"/>
          <p:nvPr/>
        </p:nvSpPr>
        <p:spPr>
          <a:xfrm>
            <a:off x="0" y="69198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b="1" i="1" dirty="0">
                <a:solidFill>
                  <a:srgbClr val="7030A0"/>
                </a:solidFill>
                <a:latin typeface="Cambria" panose="02040503050406030204" pitchFamily="18" charset="0"/>
              </a:rPr>
              <a:t>Uppercase case to Lowercase: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17EB7B-D78A-683B-C2EC-56B8E5DF65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846" y="660086"/>
            <a:ext cx="3000475" cy="578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13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2726</TotalTime>
  <Words>2061</Words>
  <Application>Microsoft Office PowerPoint</Application>
  <PresentationFormat>A4 Paper (210x297 mm)</PresentationFormat>
  <Paragraphs>364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Md. Adnan Sami</cp:lastModifiedBy>
  <cp:revision>366</cp:revision>
  <dcterms:created xsi:type="dcterms:W3CDTF">2025-01-23T20:11:31Z</dcterms:created>
  <dcterms:modified xsi:type="dcterms:W3CDTF">2025-08-27T06:59:18Z</dcterms:modified>
</cp:coreProperties>
</file>