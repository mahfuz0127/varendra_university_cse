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89" r:id="rId3"/>
    <p:sldId id="290" r:id="rId4"/>
    <p:sldId id="291" r:id="rId5"/>
    <p:sldId id="288" r:id="rId6"/>
    <p:sldId id="274" r:id="rId7"/>
    <p:sldId id="275" r:id="rId8"/>
    <p:sldId id="276" r:id="rId9"/>
    <p:sldId id="277" r:id="rId10"/>
    <p:sldId id="280" r:id="rId11"/>
    <p:sldId id="279" r:id="rId12"/>
    <p:sldId id="282" r:id="rId13"/>
    <p:sldId id="281" r:id="rId14"/>
    <p:sldId id="284" r:id="rId15"/>
    <p:sldId id="283" r:id="rId16"/>
    <p:sldId id="285" r:id="rId17"/>
    <p:sldId id="286" r:id="rId18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09EE-4554-B543-6F4B-70A8CE3F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D9807-D22E-26DF-7F2F-2499F088E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7FC3C3-44B7-A8AC-B6F3-7175DE901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48C06-290F-30A7-9D53-FC19A81EE9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89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1D65-CD59-C75E-088D-07EA7497D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2B428-7596-EBFD-A069-29B86144E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9C8251-AAC2-3E57-3D79-1DFE1A116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4473E-EA64-D2AA-764B-9913CA96D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02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209B0-DB5A-AC4F-08F4-84734B43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86DC9-5B47-E71A-059A-BFD8801C0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BED0B-38C4-F6B2-9B87-C17BE35EA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D077C-D2EF-D293-E7B7-8D98F7C181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00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1137-6597-B604-5745-E0CF965A5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26F573-3C31-7236-0DB0-9EBDE7184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20B7A-7F7F-CF64-9E3A-03772D479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7C840-C67F-86D1-0D83-099577E2C1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57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76C6-8D2B-A6FC-B2D8-682207DA7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9425C-F5D1-D4A6-62B8-FEBEF90FC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9B6F4-ED9B-303D-F332-65BE09F9C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78022-7452-31F9-3836-14F88BEED4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05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DD3F-1123-3F8A-DE23-A1E30AE73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05B00-89E8-8C4D-FF47-A889CDBCC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898BD-61E4-210F-0819-DD2FCF6F5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61E34-00CD-EAA5-EB23-9995508FD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04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ED238-D3FD-CCAA-1C87-C3399B90C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18D1A1-EA90-C4D0-70E5-7E942C825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B04B2-EA3E-12DA-59F9-0124308B0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C4489-DA05-7EA9-DBC5-44DA799F28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26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BD50A-AEBC-36A7-76A3-AAF0927D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17C64-ECF8-F0D0-BFDF-7EA5DFE82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7A375-BCD1-CF1E-963B-6AD07ADC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DBB9D-8517-0EF0-374C-754B45A51B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20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5942-D8BE-4B15-257D-954AB322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FCBA9-C2F6-EE0E-BB8D-32DF4005D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E5B7A-84B1-53C6-BE08-C4B29E52B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74461-4C68-2689-0357-B9E6F6ACB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51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F75D-A149-028F-8B2E-4038A98B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6F27F-ECCC-D5C1-55C5-0DAA97D02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BC118-885C-5DB2-563D-68D6A7033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8C36B-BF95-3329-06DE-912D3FA22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08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C21D-62E1-1826-67D3-4BCD7906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B74AA-770F-97E6-155B-D11C8D0BC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729E6-B998-A5BD-9ECE-8CF23449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0861B-6285-F81B-90A1-547697494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11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DFEA-19EE-D364-B139-91DCE1DA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7E4DF-4619-6DED-FCD0-1EED50991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B76EE-1416-BB64-8740-4CBB0A042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2AC55-7543-672E-5CC3-FB24D5AA3D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026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8437-7186-C4D3-CEC1-1C64F3E8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4D2F8-115B-A4F8-1D5B-6264AEF54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005A4-24B0-3F0F-1E37-CBD03FD04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DFA8D-63E7-CC49-2412-D7AACBEE0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6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6704C-F623-3C19-6D3F-7C97E8A38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E7F81-24C8-2849-2980-E5ED7A138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563F43-2CF3-ACCA-FA67-83569002B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7322C-AFAE-E4C6-76C6-5A4B384128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6909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23B2-F234-A1FE-1CDE-2132ED313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37A3E-20D0-D403-8754-42B1AF078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C412A-7F22-6E2E-33FD-43E5FDC8B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59D17-5DC3-0008-4F1A-E219CA395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1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45E8-42F6-05CC-9D6A-98BCCB42C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76FFFA-2D8D-3960-29A9-33A15DCD0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47AFF-E40A-A81F-FAB8-7740984F3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9758A-092E-7216-F755-C06DC67BF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E2461A-9855-48E6-8F62-3A205CD09D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51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MDA-8086 Trainer Kit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 Lab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9CEF9-4ABB-9439-2350-6217A372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9F302-C583-1C54-208A-21E67BB2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F32A6-A5AF-5CA9-4433-6042EC17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B6CED-A6EE-EB67-7882-1FBDB0C5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2AFE259-9268-1116-E279-82C4AFC5C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BD8B9640-D516-9683-7BB1-335F02A3F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5256"/>
            <a:ext cx="9908666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Introduction.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Features of MDA-8086/Main Components.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Memory. 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Power Section. </a:t>
            </a:r>
          </a:p>
          <a:p>
            <a:pPr marL="971550" lvl="1" indent="-514350">
              <a:buAutoNum type="arabicPeriod"/>
            </a:pPr>
            <a:r>
              <a:rPr lang="it-IT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8255 Programmable Peripheral Interface (PPI). 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Input Devices. 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Function Key. 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Output Devices.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Interfacing Chips.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Programming Method.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Why 8255 is Needed?</a:t>
            </a:r>
          </a:p>
          <a:p>
            <a:pPr marL="971550" lvl="1" indent="-514350">
              <a:buAutoNum type="arabicPeriod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Internal Registers of 8255.</a:t>
            </a:r>
          </a:p>
        </p:txBody>
      </p:sp>
    </p:spTree>
    <p:extLst>
      <p:ext uri="{BB962C8B-B14F-4D97-AF65-F5344CB8AC3E}">
        <p14:creationId xmlns:p14="http://schemas.microsoft.com/office/powerpoint/2010/main" val="1686139831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EF800-EBB0-C8FC-73C5-4681E3BB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336C-A54B-A368-6900-80A8E02D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CEAFE-3234-405C-1981-FE5D3824E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2F4EE-A279-ED45-F9E6-5D29E1BD2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E04BD3-20D3-D687-1C2B-3B6BCB8B3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42977" y="-1358700"/>
            <a:ext cx="6262578" cy="923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05619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90C10-FB70-6D2F-AEC2-10A36331A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6E7A-A0FB-7D24-FCCC-FE320CDC0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7B4CB-0DD2-7B09-6A64-B10AFB60E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0F359-94EE-E1DD-0290-83C02146B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7BC840-5317-BC79-287C-83C8524D6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51" y="62092"/>
            <a:ext cx="9505507" cy="633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84798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BB31-5404-D697-2753-97D79B8B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ECA0-C053-A918-521A-DAA3D787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A46C0-9B1B-2834-F57D-5FCA7081D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28963-FFDF-0BF8-C7B0-6F77DBA6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59E03B0-8B48-9F96-C058-91DC628C7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737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Introduction 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7051565-94A5-83A2-CC12-558D52CBD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9687"/>
            <a:ext cx="9908666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MDA-8086 is an 8086 Microprocessor Trainer Kit designed 	for learning and practicing 8086 Assembly Language 	Programming and Hardware Interfacing.</a:t>
            </a:r>
          </a:p>
          <a:p>
            <a:endParaRPr lang="en-US" sz="28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</a:p>
          <a:p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Manufacturer:</a:t>
            </a: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 MIDAS Engineering</a:t>
            </a:r>
          </a:p>
          <a:p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Model:</a:t>
            </a:r>
            <a:r>
              <a:rPr 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 MDA-8086 Version 9.1</a:t>
            </a:r>
          </a:p>
        </p:txBody>
      </p:sp>
    </p:spTree>
    <p:extLst>
      <p:ext uri="{BB962C8B-B14F-4D97-AF65-F5344CB8AC3E}">
        <p14:creationId xmlns:p14="http://schemas.microsoft.com/office/powerpoint/2010/main" val="237215380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1BB5-93CD-8399-CAC7-D4DACFCD1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15BC2-B64B-7260-2533-84BE33333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DE9B4-555B-F00D-0F51-BB88C50C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43E17-9288-E94D-3C31-3FF511BB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C124BBF-B372-6C33-30F4-F7D1796F0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Features of MDA-8086/Main Components  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7C222582-A7DA-3157-B972-C77316CEE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48293"/>
            <a:ext cx="9908666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Intel 8086 Microprocessor Based Trainer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16-bit CPU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20-bit Address Bus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16-bit Data Bus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1 MB Addressing Capability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Monitor Program (ROM Based)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RAM for User Program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Hexadecimal Keypad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Seven Segment Display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LED Interface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Dot Matrix Display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LCD Display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Stepper Motor Interface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ADC/DAC Interface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8255 Programmable Peripheral Interface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350" dirty="0">
                <a:latin typeface="Cambria" panose="02040503050406030204" pitchFamily="18" charset="0"/>
                <a:cs typeface="Arial" panose="020B0604020202020204" pitchFamily="34" charset="0"/>
              </a:rPr>
              <a:t>Standalone Operation (Programs can be executed without a PC)</a:t>
            </a:r>
          </a:p>
        </p:txBody>
      </p:sp>
    </p:spTree>
    <p:extLst>
      <p:ext uri="{BB962C8B-B14F-4D97-AF65-F5344CB8AC3E}">
        <p14:creationId xmlns:p14="http://schemas.microsoft.com/office/powerpoint/2010/main" val="624617752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0854-9793-6C47-F911-F1AC7CB8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ABFB5-29E3-E424-3FC2-C3FA6D22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C88E2-D93B-77F0-8FE6-BD2EB031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63DD0-9DF6-947A-E38C-E3B4075C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A1464667-F2B1-6051-9F01-2D1AC4A10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737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Memory 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24C06F1-8A50-D418-DCF1-3ED69493E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24751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EPROM (Stores Monitor Program) 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RAM (Stores User Program)</a:t>
            </a:r>
          </a:p>
        </p:txBody>
      </p:sp>
    </p:spTree>
    <p:extLst>
      <p:ext uri="{BB962C8B-B14F-4D97-AF65-F5344CB8AC3E}">
        <p14:creationId xmlns:p14="http://schemas.microsoft.com/office/powerpoint/2010/main" val="2083381217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D549-0D4D-8F82-4706-57E65ECA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FE4B6-5B2A-6EBD-ED47-F5A890198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4EECC-7EB3-061D-A31A-0F6DF99A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86247-D93C-4A0C-3968-C353972E6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5D5CF30-EDE1-51C5-5075-A26D6D1A8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737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Power Section 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CDE8BFEF-1B6F-BBAA-0743-F41BCE599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92852"/>
            <a:ext cx="990866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Power Switch (ON/OFF, Power LED)</a:t>
            </a:r>
          </a:p>
          <a:p>
            <a:pPr marL="120015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	Reset Switch (To reset the processor, To start program 	from the beginning)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FC6176-D850-2650-77CA-094EC62AC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54" t="7241" r="31431" b="74303"/>
          <a:stretch>
            <a:fillRect/>
          </a:stretch>
        </p:blipFill>
        <p:spPr>
          <a:xfrm>
            <a:off x="2243686" y="2341187"/>
            <a:ext cx="2934683" cy="3434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213430-F376-D4BD-C92D-6AE98C70C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83" t="49356" r="34116" b="42590"/>
          <a:stretch>
            <a:fillRect/>
          </a:stretch>
        </p:blipFill>
        <p:spPr>
          <a:xfrm>
            <a:off x="5714998" y="3349256"/>
            <a:ext cx="2562230" cy="161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787673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2D71-54EB-3234-DD85-9625FCAD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9183E-9982-C241-E057-F34135DB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D03D6-DD5B-6647-8CF9-8A0B3FF2F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3474E-8021-55EE-669A-46E5681D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77BE37C-45FF-0C97-0224-15A5D7269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8255 Programmable Peripheral Interface (PPI)</a:t>
            </a:r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7B3E3E1-19AA-7E9A-ABFA-30308F38B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01458"/>
            <a:ext cx="9908666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The Trainer Kit uses two 8255 Programmable Peripheral </a:t>
            </a:r>
          </a:p>
          <a:p>
            <a:pPr lvl="1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Interface (PPI) chips.</a:t>
            </a:r>
          </a:p>
          <a:p>
            <a:pPr lvl="1"/>
            <a:endParaRPr lang="en-US" altLang="en-US" sz="28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8255 (CS2) [Chip Select 2]</a:t>
            </a:r>
          </a:p>
          <a:p>
            <a:pPr lvl="1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Connected with: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LED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7-Segment Display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Stepper Motor</a:t>
            </a:r>
          </a:p>
          <a:p>
            <a:pPr marL="457200" lvl="1" indent="0"/>
            <a:endParaRPr lang="en-US" altLang="en-US" sz="28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marL="457200" lvl="1" indent="0"/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8255 (CS1) [Chip Select 1]</a:t>
            </a:r>
          </a:p>
          <a:p>
            <a:pPr marL="457200" lvl="1" indent="0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Connected with: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Dot Matrix Display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ADC/DAC Interface</a:t>
            </a:r>
          </a:p>
        </p:txBody>
      </p:sp>
    </p:spTree>
    <p:extLst>
      <p:ext uri="{BB962C8B-B14F-4D97-AF65-F5344CB8AC3E}">
        <p14:creationId xmlns:p14="http://schemas.microsoft.com/office/powerpoint/2010/main" val="4082791636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DBC8-BB2A-4BB3-86B0-F82F2179D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3805E-B995-0428-2D0C-A348A6D71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6E3D5-2A2D-48FB-609A-8113EF52C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CEA1D-1BD8-C379-D754-48D46276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7138495-2C98-5C4D-53ED-4B79D29C9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8255 Programmable Peripheral Interface (PPI)</a:t>
            </a:r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C37F56D-77CE-09EA-0B14-52D5A5077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5256"/>
            <a:ext cx="990866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The function of the 8255 is, </a:t>
            </a:r>
          </a:p>
          <a:p>
            <a:pPr lvl="1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8086 ↔ Peripheral Device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583382876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2EE28-B5F0-C4E4-769B-565C5C5B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5D3B4-5490-9C81-7A43-45BFD04A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4FD3A-601F-3FF0-46CA-015F9FFB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7899-6533-DFF7-FCAE-8F4DD889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B3077D5-D17E-8589-ED56-DE554FAC5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Input Devices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01D6846-8891-FC5B-C845-116C4299B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9687"/>
            <a:ext cx="9908666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/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Keypad Interface: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Hexadecimal Keypad: 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0–9, A–F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Function Keys: 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GO, STP, REG, MON, DA, AD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Others: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 +, -, :</a:t>
            </a:r>
          </a:p>
          <a:p>
            <a:pPr lvl="1"/>
            <a:endParaRPr lang="en-US" altLang="en-US" sz="28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lvl="1"/>
            <a:r>
              <a:rPr lang="en-US" altLang="en-US" sz="2800" b="1" dirty="0">
                <a:latin typeface="Cambria" panose="02040503050406030204" pitchFamily="18" charset="0"/>
                <a:cs typeface="Arial" panose="020B0604020202020204" pitchFamily="34" charset="0"/>
              </a:rPr>
              <a:t>Uses:</a:t>
            </a: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 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Program Input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Provide Memory Address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Data Entry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View Register</a:t>
            </a:r>
          </a:p>
          <a:p>
            <a:pPr marL="1314450" lvl="2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Program Run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6E7BA8-7E88-530D-8089-5517C52A8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29" t="55731" r="39262" b="23966"/>
          <a:stretch>
            <a:fillRect/>
          </a:stretch>
        </p:blipFill>
        <p:spPr>
          <a:xfrm>
            <a:off x="5454623" y="2551299"/>
            <a:ext cx="4018985" cy="30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5279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204A8-8F06-FF4D-D583-0ED9B241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D4DD3-A916-AA46-5537-0F54E812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A878A-D29C-A042-C766-B9C14770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B5DA3-F505-4270-7E3A-7069E475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8FDF37B-E00A-8E3C-0D56-8C4463DD90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Function Key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479D61-A562-03C4-CA5E-0C9A3DAD3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571003"/>
              </p:ext>
            </p:extLst>
          </p:nvPr>
        </p:nvGraphicFramePr>
        <p:xfrm>
          <a:off x="553447" y="703943"/>
          <a:ext cx="9143446" cy="540290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02674">
                  <a:extLst>
                    <a:ext uri="{9D8B030D-6E8A-4147-A177-3AD203B41FA5}">
                      <a16:colId xmlns:a16="http://schemas.microsoft.com/office/drawing/2014/main" val="64874156"/>
                    </a:ext>
                  </a:extLst>
                </a:gridCol>
                <a:gridCol w="1488558">
                  <a:extLst>
                    <a:ext uri="{9D8B030D-6E8A-4147-A177-3AD203B41FA5}">
                      <a16:colId xmlns:a16="http://schemas.microsoft.com/office/drawing/2014/main" val="3166559477"/>
                    </a:ext>
                  </a:extLst>
                </a:gridCol>
                <a:gridCol w="5752214">
                  <a:extLst>
                    <a:ext uri="{9D8B030D-6E8A-4147-A177-3AD203B41FA5}">
                      <a16:colId xmlns:a16="http://schemas.microsoft.com/office/drawing/2014/main" val="292781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 Key</a:t>
                      </a:r>
                      <a:endParaRPr lang="en-US" sz="2300" b="1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Full Form</a:t>
                      </a:r>
                      <a:endParaRPr lang="en-US" sz="2300" b="1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  <a:endParaRPr lang="en-US" sz="2300" b="1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92620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Monitor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enter the Monitor Program. From there, memory, registers, programs, and other system functions can be controlled.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0197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execute a program from a specified memory address.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76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Register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view or modify the CPU registers (AX, BX, CX, DX, CS, DS, ES, SS, IP, SP, FLAGS, etc.).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143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Address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select the memory address where you want to view or write data or machine code.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0621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input or modify data or machine code at the selected memory address.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1944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STP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Step / Stop</a:t>
                      </a:r>
                      <a:endParaRPr lang="en-US" sz="23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3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 execute the program step by step (Single Step) or stop a running program. </a:t>
                      </a:r>
                      <a:endParaRPr lang="en-US" sz="23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5425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836886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B3EC-5F68-92A3-4DDB-2295CFB1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E6C86-C9EB-D65E-679B-C450A0A1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9944B-88D6-3DBF-1939-4A04E86C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9A64C-CFF9-85BD-1993-923CB55A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255F29F4-1308-33AE-AFB4-26FDFEBB9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Output Devices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7B68863-0133-0296-FC0B-DEB9EAC54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82219"/>
            <a:ext cx="9908666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4 LEDs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Seven Segment Display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8×8 Dot Matrix Display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16×2 LCD Display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Speaker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7A19C4-DF00-2A08-723A-C3F02011E2BA}"/>
              </a:ext>
            </a:extLst>
          </p:cNvPr>
          <p:cNvGrpSpPr/>
          <p:nvPr/>
        </p:nvGrpSpPr>
        <p:grpSpPr>
          <a:xfrm>
            <a:off x="498295" y="3091801"/>
            <a:ext cx="9246066" cy="3074831"/>
            <a:chOff x="423864" y="3261929"/>
            <a:chExt cx="9246066" cy="307483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1599C99-72F6-2964-A364-6FAB549CA677}"/>
                </a:ext>
              </a:extLst>
            </p:cNvPr>
            <p:cNvGrpSpPr/>
            <p:nvPr/>
          </p:nvGrpSpPr>
          <p:grpSpPr>
            <a:xfrm>
              <a:off x="423864" y="3261929"/>
              <a:ext cx="9246066" cy="1706056"/>
              <a:chOff x="487659" y="3763957"/>
              <a:chExt cx="9246066" cy="1706056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5329F7DB-14BE-74D3-B830-680E0E0E7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039" t="15127" r="60627" b="68933"/>
              <a:stretch>
                <a:fillRect/>
              </a:stretch>
            </p:blipFill>
            <p:spPr>
              <a:xfrm>
                <a:off x="4634526" y="3763957"/>
                <a:ext cx="1819606" cy="1706056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D440E004-80EF-45B4-F07E-E1CC587A35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107" t="23013" r="79307" b="70611"/>
              <a:stretch>
                <a:fillRect/>
              </a:stretch>
            </p:blipFill>
            <p:spPr>
              <a:xfrm>
                <a:off x="487659" y="3763957"/>
                <a:ext cx="1819607" cy="1686464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1A03511-8280-689E-02DB-D3CA25CD7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555" t="15966" r="79194" b="77322"/>
              <a:stretch>
                <a:fillRect/>
              </a:stretch>
            </p:blipFill>
            <p:spPr>
              <a:xfrm>
                <a:off x="2663834" y="3763957"/>
                <a:ext cx="1602142" cy="1686464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303EA37-D30D-78FD-9E91-23901EBE3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3624" t="19657" r="40716" b="69772"/>
              <a:stretch>
                <a:fillRect/>
              </a:stretch>
            </p:blipFill>
            <p:spPr>
              <a:xfrm>
                <a:off x="6774720" y="3925471"/>
                <a:ext cx="2959005" cy="1331553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111714C-834C-66ED-DFCF-54136D1D1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93" t="33786" r="38702" b="58698"/>
            <a:stretch>
              <a:fillRect/>
            </a:stretch>
          </p:blipFill>
          <p:spPr>
            <a:xfrm>
              <a:off x="4042691" y="5161742"/>
              <a:ext cx="1337770" cy="1175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9694205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05FD5-6171-27C5-3861-430A04E9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66B8D-9752-20A6-F4DD-01F61885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2689B-C8E3-1B5B-2890-93A495505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005D-17D7-754E-8834-17544AC5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C23E5F7E-1351-BAAC-5973-75B457D0E2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Interfacing Chips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1F16CF8F-61C1-70D2-EC05-AACDFFDA0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9687"/>
            <a:ext cx="990866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nb-NO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8255 PPI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nb-NO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ADC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nb-NO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DAC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nb-NO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Stepper Motor Driver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710E96-7EC9-DE0E-BBBB-4A9A06822A44}"/>
              </a:ext>
            </a:extLst>
          </p:cNvPr>
          <p:cNvGrpSpPr/>
          <p:nvPr/>
        </p:nvGrpSpPr>
        <p:grpSpPr>
          <a:xfrm>
            <a:off x="819261" y="2943103"/>
            <a:ext cx="8509326" cy="2718658"/>
            <a:chOff x="936219" y="2977254"/>
            <a:chExt cx="8509326" cy="27186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0678248-FF89-2D5A-665D-FBE34B981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44" t="14121" r="70805" b="68598"/>
            <a:stretch>
              <a:fillRect/>
            </a:stretch>
          </p:blipFill>
          <p:spPr>
            <a:xfrm>
              <a:off x="936219" y="2977254"/>
              <a:ext cx="1003004" cy="271865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802EDBC-8843-296F-AAE9-E5819F698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48" t="60430" r="63181" b="21954"/>
            <a:stretch>
              <a:fillRect/>
            </a:stretch>
          </p:blipFill>
          <p:spPr>
            <a:xfrm>
              <a:off x="2506205" y="3239700"/>
              <a:ext cx="4178596" cy="219376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E0075FC-73C9-B465-D565-9760CDD28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18" t="47510" r="76622" b="38899"/>
            <a:stretch>
              <a:fillRect/>
            </a:stretch>
          </p:blipFill>
          <p:spPr>
            <a:xfrm>
              <a:off x="7251784" y="3239700"/>
              <a:ext cx="2193761" cy="21937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71196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2677D-2022-F58F-4C02-91F299FD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927A5-CF20-03FE-1920-BD34D325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46155-5BCF-B45A-FA43-8729BC69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14FE1-2607-571E-C58F-84365119B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8A381A6E-CCCC-E6C8-527F-D23906DFB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Programming Method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3E0F0AC-315A-0C58-067B-50DEBCF06C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03485"/>
            <a:ext cx="9908666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Assembly Program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↓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Assemble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↓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Machine Code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↓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Input into Monitor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↓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Execute using GO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↓</a:t>
            </a:r>
          </a:p>
          <a:p>
            <a:pPr lvl="1" algn="ctr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Output appears on Hardware</a:t>
            </a:r>
          </a:p>
        </p:txBody>
      </p:sp>
    </p:spTree>
    <p:extLst>
      <p:ext uri="{BB962C8B-B14F-4D97-AF65-F5344CB8AC3E}">
        <p14:creationId xmlns:p14="http://schemas.microsoft.com/office/powerpoint/2010/main" val="1720082181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DB050-BD15-5C48-7B82-1A249CE32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0D649-B6EA-0DE8-2D67-3F75A3559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854B0-5A24-7641-1DEF-1B7E649ED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67497-99CF-AFEC-FED3-D3CB7CC5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5E752AA-9448-7242-7AAF-26950485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Why 8255 is Needed?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08DE904-4339-76BC-6ED1-8752391DE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9687"/>
            <a:ext cx="9908666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No GPIO (General Purpose Input/Output) Port in 8086. So,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8086 → 8255 → Hardware</a:t>
            </a:r>
          </a:p>
          <a:p>
            <a:pPr lvl="1"/>
            <a:endParaRPr lang="en-US" altLang="en-US" sz="28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GPIO is an I/O pin that can be configured by software to function as either an input or an output.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endParaRPr lang="en-US" altLang="en-US" sz="2800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8086 Microprocessor does not have built-in GPIO ports. Therefore, external I/O interface chips such as the 8255 PPI are required to communicate with 	external devices like LEDs, seven-segment displays, LCDs and keypads.</a:t>
            </a:r>
          </a:p>
        </p:txBody>
      </p:sp>
    </p:spTree>
    <p:extLst>
      <p:ext uri="{BB962C8B-B14F-4D97-AF65-F5344CB8AC3E}">
        <p14:creationId xmlns:p14="http://schemas.microsoft.com/office/powerpoint/2010/main" val="2626545080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12E35-3179-7200-0CD3-59C53EE29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D6956-DC70-2AEE-0E8D-EA4F3F5D7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8/23/2026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85066-0CF4-6191-0708-C581F3B5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48875-5D23-2C1F-66CD-F1F58351E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507538B-53AF-DDF2-FBAD-A2FBC0FC7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471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</a:t>
            </a:r>
            <a:r>
              <a:rPr lang="it-IT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Internal Registers of 8255</a:t>
            </a:r>
            <a:endParaRPr lang="en-US" sz="32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056C3542-60F2-6025-10B7-99515306B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39687"/>
            <a:ext cx="99086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/>
            <a:r>
              <a:rPr lang="en-US" altLang="en-US" sz="2800" dirty="0">
                <a:latin typeface="Cambria" panose="02040503050406030204" pitchFamily="18" charset="0"/>
                <a:cs typeface="Arial" panose="020B0604020202020204" pitchFamily="34" charset="0"/>
              </a:rPr>
              <a:t>8255 has four registers, 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9D419A-2EF7-CD3A-C353-1BAE25F4D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670192"/>
              </p:ext>
            </p:extLst>
          </p:nvPr>
        </p:nvGraphicFramePr>
        <p:xfrm>
          <a:off x="1697756" y="1486190"/>
          <a:ext cx="6595551" cy="22444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863523">
                  <a:extLst>
                    <a:ext uri="{9D8B030D-6E8A-4147-A177-3AD203B41FA5}">
                      <a16:colId xmlns:a16="http://schemas.microsoft.com/office/drawing/2014/main" val="2689336053"/>
                    </a:ext>
                  </a:extLst>
                </a:gridCol>
                <a:gridCol w="3732028">
                  <a:extLst>
                    <a:ext uri="{9D8B030D-6E8A-4147-A177-3AD203B41FA5}">
                      <a16:colId xmlns:a16="http://schemas.microsoft.com/office/drawing/2014/main" val="19971216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Register</a:t>
                      </a:r>
                      <a:endParaRPr lang="en-US" sz="2800" b="1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b="1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  <a:endParaRPr lang="en-US" sz="2800" b="1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204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Port A</a:t>
                      </a:r>
                      <a:endParaRPr lang="en-US" sz="28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Input/Output Port</a:t>
                      </a:r>
                      <a:endParaRPr lang="en-US" sz="28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6798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Port B</a:t>
                      </a:r>
                      <a:endParaRPr lang="en-US" sz="28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Input/Output Port</a:t>
                      </a:r>
                      <a:endParaRPr lang="en-US" sz="28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36563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Port C</a:t>
                      </a:r>
                      <a:endParaRPr lang="en-US" sz="28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Input/Output Port</a:t>
                      </a:r>
                      <a:endParaRPr lang="en-US" sz="28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5875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Control Register</a:t>
                      </a:r>
                      <a:endParaRPr lang="en-US" sz="2800" kern="1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800" kern="1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Configuration Register</a:t>
                      </a:r>
                      <a:endParaRPr lang="en-US" sz="2800" kern="1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636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694426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806</TotalTime>
  <Words>898</Words>
  <Application>Microsoft Office PowerPoint</Application>
  <PresentationFormat>A4 Paper (210x297 mm)</PresentationFormat>
  <Paragraphs>207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132</cp:revision>
  <dcterms:created xsi:type="dcterms:W3CDTF">2025-01-23T20:11:31Z</dcterms:created>
  <dcterms:modified xsi:type="dcterms:W3CDTF">2026-08-23T07:16:21Z</dcterms:modified>
</cp:coreProperties>
</file>