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4"/>
  </p:notesMasterIdLst>
  <p:sldIdLst>
    <p:sldId id="256" r:id="rId2"/>
    <p:sldId id="257" r:id="rId3"/>
    <p:sldId id="263" r:id="rId4"/>
    <p:sldId id="264" r:id="rId5"/>
    <p:sldId id="266" r:id="rId6"/>
    <p:sldId id="267" r:id="rId7"/>
    <p:sldId id="265" r:id="rId8"/>
    <p:sldId id="268" r:id="rId9"/>
    <p:sldId id="269" r:id="rId10"/>
    <p:sldId id="262" r:id="rId11"/>
    <p:sldId id="270" r:id="rId12"/>
    <p:sldId id="271" r:id="rId13"/>
  </p:sldIdLst>
  <p:sldSz cx="9906000" cy="6858000" type="A4"/>
  <p:notesSz cx="9144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5633D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0" d="100"/>
          <a:sy n="60" d="100"/>
        </p:scale>
        <p:origin x="131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0C9C90-C7B7-41AD-B1B1-5387A5B2466D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900363" y="857250"/>
            <a:ext cx="3343275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E2461A-9855-48E6-8F62-3A205CD09D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56169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E2461A-9855-48E6-8F62-3A205CD09D93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23272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807F09-F1A6-4957-81DB-43CB0B0B4530}" type="datetime1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Md. Adnan Sami, Dept. of CSE, VU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F5767-624D-46AC-ADD7-140D9A2A517A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3765583" y="1437589"/>
            <a:ext cx="2372628" cy="3688594"/>
          </a:xfrm>
          <a:prstGeom prst="rect">
            <a:avLst/>
          </a:prstGeom>
          <a:blipFill dpi="0" rotWithShape="1">
            <a:blip r:embed="rId2">
              <a:alphaModFix amt="18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8420535"/>
      </p:ext>
    </p:extLst>
  </p:cSld>
  <p:clrMapOvr>
    <a:masterClrMapping/>
  </p:clrMapOvr>
  <p:transition spd="med">
    <p:push dir="u"/>
  </p:transition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12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6705CB-0645-410B-9FF6-4A47DA862B47}" type="datetime1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Md. Adnan Sami, Dept. of CSE, VU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F5767-624D-46AC-ADD7-140D9A2A51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238751"/>
      </p:ext>
    </p:extLst>
  </p:cSld>
  <p:clrMapOvr>
    <a:masterClrMapping/>
  </p:clrMapOvr>
  <p:transition spd="med">
    <p:push dir="u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8FBE4-A88C-43D5-AE4F-8B4E6A7E5649}" type="datetime1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Md. Adnan Sami, Dept. of CSE, VU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F5767-624D-46AC-ADD7-140D9A2A51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9872530"/>
      </p:ext>
    </p:extLst>
  </p:cSld>
  <p:clrMapOvr>
    <a:masterClrMapping/>
  </p:clrMapOvr>
  <p:transition spd="med">
    <p:push dir="u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13FDD-450C-49DF-A9FA-2E0CD076A18C}" type="datetime1">
              <a:rPr lang="en-US" smtClean="0"/>
              <a:t>7/22/2026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Md. Adnan Sami, Dept. of CSE, VU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F5767-624D-46AC-ADD7-140D9A2A51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9067326"/>
      </p:ext>
    </p:extLst>
  </p:cSld>
  <p:clrMapOvr>
    <a:masterClrMapping/>
  </p:clrMapOvr>
  <p:transition spd="med">
    <p:push dir="u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840B2C-E306-4CDA-919C-27E9ABFCB224}" type="datetime1">
              <a:rPr lang="en-US" smtClean="0"/>
              <a:t>7/22/2026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Md. Adnan Sami, Dept. of CSE, VU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F5767-624D-46AC-ADD7-140D9A2A51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1136709"/>
      </p:ext>
    </p:extLst>
  </p:cSld>
  <p:clrMapOvr>
    <a:masterClrMapping/>
  </p:clrMapOvr>
  <p:transition spd="med">
    <p:push dir="u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CFBFF9-BA53-4AA4-968B-FA743C6ECCE7}" type="datetime1">
              <a:rPr lang="en-US" smtClean="0"/>
              <a:t>7/22/2026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Md. Adnan Sami, Dept. of CSE, VU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F5767-624D-46AC-ADD7-140D9A2A51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044529"/>
      </p:ext>
    </p:extLst>
  </p:cSld>
  <p:clrMapOvr>
    <a:masterClrMapping/>
  </p:clrMapOvr>
  <p:transition spd="med">
    <p:push dir="u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07B7FE-DA48-4D44-8473-96427354A43D}" type="datetime1">
              <a:rPr lang="en-US" smtClean="0"/>
              <a:t>7/22/2026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Md. Adnan Sami, Dept. of CSE, VU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F5767-624D-46AC-ADD7-140D9A2A51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8961422"/>
      </p:ext>
    </p:extLst>
  </p:cSld>
  <p:clrMapOvr>
    <a:masterClrMapping/>
  </p:clrMapOvr>
  <p:transition spd="med">
    <p:push dir="u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743A33-3364-475F-98E7-007AFB73C295}" type="datetime1">
              <a:rPr lang="en-US" smtClean="0"/>
              <a:t>7/22/2026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Md. Adnan Sami, Dept. of CSE, VU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F5767-624D-46AC-ADD7-140D9A2A51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6836805"/>
      </p:ext>
    </p:extLst>
  </p:cSld>
  <p:clrMapOvr>
    <a:masterClrMapping/>
  </p:clrMapOvr>
  <p:transition spd="med">
    <p:push dir="u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2F8480-48B5-47F4-B1EF-ED2EAF3D2019}" type="datetime1">
              <a:rPr lang="en-US" smtClean="0"/>
              <a:t>7/22/2026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Md. Adnan Sami, Dept. of CSE, VU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F5767-624D-46AC-ADD7-140D9A2A51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2699236"/>
      </p:ext>
    </p:extLst>
  </p:cSld>
  <p:clrMapOvr>
    <a:masterClrMapping/>
  </p:clrMapOvr>
  <p:transition spd="med">
    <p:push dir="u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2E1E98-4F27-46D8-B9A5-3F6C92AE46A3}" type="datetime1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Md. Adnan Sami, Dept. of CSE, VU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F5767-624D-46AC-ADD7-140D9A2A51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6216844"/>
      </p:ext>
    </p:extLst>
  </p:cSld>
  <p:clrMapOvr>
    <a:masterClrMapping/>
  </p:clrMapOvr>
  <p:transition spd="med">
    <p:push dir="u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8DFBF-319F-4B2D-B51E-716D6479BD31}" type="datetime1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Md. Adnan Sami, Dept. of CSE, VU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F5767-624D-46AC-ADD7-140D9A2A51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4143908"/>
      </p:ext>
    </p:extLst>
  </p:cSld>
  <p:clrMapOvr>
    <a:masterClrMapping/>
  </p:clrMapOvr>
  <p:transition spd="med">
    <p:push dir="u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AEC111-EA99-4472-85A7-07A3E684B408}" type="datetime1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Md. Adnan Sami, Dept. of CSE, VU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EF5767-624D-46AC-ADD7-140D9A2A51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81870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ransition spd="med">
    <p:push dir="u"/>
  </p:transition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624" t="3592" r="20538" b="5226"/>
          <a:stretch/>
        </p:blipFill>
        <p:spPr>
          <a:xfrm>
            <a:off x="4461538" y="154206"/>
            <a:ext cx="1005194" cy="155775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0" y="1828800"/>
            <a:ext cx="99060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 err="1">
                <a:latin typeface="Cambria" pitchFamily="18" charset="0"/>
                <a:ea typeface="Cambria" pitchFamily="18" charset="0"/>
              </a:rPr>
              <a:t>Varendra</a:t>
            </a:r>
            <a:r>
              <a:rPr lang="en-US" sz="3000" b="1" dirty="0">
                <a:latin typeface="Cambria" pitchFamily="18" charset="0"/>
                <a:ea typeface="Cambria" pitchFamily="18" charset="0"/>
              </a:rPr>
              <a:t> University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2438402"/>
            <a:ext cx="9906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b="1" dirty="0">
                <a:solidFill>
                  <a:srgbClr val="D5633D"/>
                </a:solidFill>
                <a:latin typeface="Cambria" pitchFamily="18" charset="0"/>
                <a:ea typeface="Cambria" pitchFamily="18" charset="0"/>
              </a:rPr>
              <a:t>Dept. of Computer Science &amp; Engineering (CSE)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0" y="3328216"/>
            <a:ext cx="9906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chemeClr val="accent1">
                    <a:lumMod val="75000"/>
                  </a:schemeClr>
                </a:solidFill>
                <a:latin typeface="Cambria" pitchFamily="18" charset="0"/>
                <a:ea typeface="Cambria" pitchFamily="18" charset="0"/>
              </a:rPr>
              <a:t>Lab 1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0" y="4161506"/>
            <a:ext cx="9906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dirty="0">
                <a:solidFill>
                  <a:srgbClr val="7030A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Course Title: </a:t>
            </a:r>
            <a:r>
              <a:rPr lang="en-US" sz="2200" b="1" dirty="0">
                <a:solidFill>
                  <a:srgbClr val="7030A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Microprocessor and Assembly Language Lab</a:t>
            </a:r>
          </a:p>
          <a:p>
            <a:pPr algn="ctr"/>
            <a:r>
              <a:rPr lang="en-US" sz="2200" dirty="0">
                <a:solidFill>
                  <a:srgbClr val="7030A0"/>
                </a:solidFill>
                <a:latin typeface="Cambria" pitchFamily="18" charset="0"/>
                <a:ea typeface="Cambria" pitchFamily="18" charset="0"/>
              </a:rPr>
              <a:t>Course No: </a:t>
            </a:r>
            <a:r>
              <a:rPr lang="en-US" sz="2200" b="1" dirty="0">
                <a:solidFill>
                  <a:srgbClr val="7030A0"/>
                </a:solidFill>
                <a:latin typeface="Cambria" pitchFamily="18" charset="0"/>
                <a:ea typeface="Cambria" pitchFamily="18" charset="0"/>
              </a:rPr>
              <a:t>CSE 3206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38" y="5256703"/>
            <a:ext cx="99060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dirty="0">
                <a:solidFill>
                  <a:schemeClr val="tx2">
                    <a:lumMod val="75000"/>
                  </a:schemeClr>
                </a:solidFill>
                <a:latin typeface="Cambria" pitchFamily="18" charset="0"/>
                <a:ea typeface="Cambria" pitchFamily="18" charset="0"/>
              </a:rPr>
              <a:t>Prepared By:</a:t>
            </a:r>
          </a:p>
          <a:p>
            <a:pPr algn="ctr"/>
            <a:r>
              <a:rPr lang="en-US" sz="2200" dirty="0">
                <a:solidFill>
                  <a:schemeClr val="tx2">
                    <a:lumMod val="75000"/>
                  </a:schemeClr>
                </a:solidFill>
                <a:latin typeface="Cambria" pitchFamily="18" charset="0"/>
                <a:ea typeface="Cambria" pitchFamily="18" charset="0"/>
              </a:rPr>
              <a:t>Md. Adnan Sami</a:t>
            </a:r>
          </a:p>
          <a:p>
            <a:pPr algn="ctr"/>
            <a:r>
              <a:rPr lang="en-US" sz="2200" dirty="0">
                <a:solidFill>
                  <a:schemeClr val="tx2">
                    <a:lumMod val="75000"/>
                  </a:schemeClr>
                </a:solidFill>
                <a:latin typeface="Cambria" pitchFamily="18" charset="0"/>
                <a:ea typeface="Cambria" pitchFamily="18" charset="0"/>
              </a:rPr>
              <a:t>Lecturer, Dept. of CSE, VU</a:t>
            </a:r>
            <a:endParaRPr lang="en-US" sz="2200" dirty="0">
              <a:solidFill>
                <a:schemeClr val="tx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53500965"/>
      </p:ext>
    </p:extLst>
  </p:cSld>
  <p:clrMapOvr>
    <a:masterClrMapping/>
  </p:clrMapOvr>
  <p:transition spd="med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1C1E5-A1DB-4282-A451-5941CF833F53}" type="datetime1">
              <a:rPr lang="en-US" smtClean="0">
                <a:latin typeface="Cambria" panose="02040503050406030204" pitchFamily="18" charset="0"/>
              </a:rPr>
              <a:t>7/22/2026</a:t>
            </a:fld>
            <a:endParaRPr lang="en-US">
              <a:latin typeface="Cambria" panose="02040503050406030204" pitchFamily="18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Cambria" panose="02040503050406030204" pitchFamily="18" charset="0"/>
              </a:rPr>
              <a:t>Md. Adnan Sami, Dept. of CSE, VU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F5767-624D-46AC-ADD7-140D9A2A517A}" type="slidenum">
              <a:rPr lang="en-US" smtClean="0">
                <a:latin typeface="Cambria" panose="02040503050406030204" pitchFamily="18" charset="0"/>
              </a:rPr>
              <a:t>2</a:t>
            </a:fld>
            <a:endParaRPr lang="en-US">
              <a:latin typeface="Cambria" panose="02040503050406030204" pitchFamily="18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8418" y="1159634"/>
            <a:ext cx="6969163" cy="44349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9960429"/>
      </p:ext>
    </p:extLst>
  </p:cSld>
  <p:clrMapOvr>
    <a:masterClrMapping/>
  </p:clrMapOvr>
  <p:transition spd="med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1C1E5-A1DB-4282-A451-5941CF833F53}" type="datetime1">
              <a:rPr lang="en-US" smtClean="0">
                <a:latin typeface="Cambria" panose="02040503050406030204" pitchFamily="18" charset="0"/>
              </a:rPr>
              <a:t>7/22/2026</a:t>
            </a:fld>
            <a:endParaRPr lang="en-US">
              <a:latin typeface="Cambria" panose="02040503050406030204" pitchFamily="18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Cambria" panose="02040503050406030204" pitchFamily="18" charset="0"/>
              </a:rPr>
              <a:t>Md. Adnan Sami, Dept. of CSE, VU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F5767-624D-46AC-ADD7-140D9A2A517A}" type="slidenum">
              <a:rPr lang="en-US" smtClean="0">
                <a:latin typeface="Cambria" panose="02040503050406030204" pitchFamily="18" charset="0"/>
              </a:rPr>
              <a:t>3</a:t>
            </a:fld>
            <a:endParaRPr lang="en-US">
              <a:latin typeface="Cambria" panose="02040503050406030204" pitchFamily="18" charset="0"/>
            </a:endParaRPr>
          </a:p>
        </p:txBody>
      </p:sp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0" y="246764"/>
            <a:ext cx="9908666" cy="31085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/>
            <a:r>
              <a:rPr lang="en-US" altLang="en-US" sz="2800" dirty="0">
                <a:latin typeface="Cambria" panose="02040503050406030204" pitchFamily="18" charset="0"/>
                <a:cs typeface="Arial" panose="020B0604020202020204" pitchFamily="34" charset="0"/>
              </a:rPr>
              <a:t>	</a:t>
            </a:r>
            <a:r>
              <a:rPr lang="en-US" altLang="en-US" sz="2800" b="1" dirty="0">
                <a:latin typeface="Cambria" panose="02040503050406030204" pitchFamily="18" charset="0"/>
                <a:cs typeface="Arial" panose="020B0604020202020204" pitchFamily="34" charset="0"/>
              </a:rPr>
              <a:t>Register:</a:t>
            </a:r>
          </a:p>
          <a:p>
            <a:pPr algn="just"/>
            <a:endParaRPr lang="en-US" altLang="en-US" sz="2800" b="1" dirty="0">
              <a:latin typeface="Cambria" panose="02040503050406030204" pitchFamily="18" charset="0"/>
              <a:cs typeface="Arial" panose="020B0604020202020204" pitchFamily="34" charset="0"/>
            </a:endParaRPr>
          </a:p>
          <a:p>
            <a:pPr marL="1257300" lvl="1" indent="-514350" algn="just">
              <a:buFont typeface="+mj-lt"/>
              <a:buAutoNum type="arabicPeriod"/>
            </a:pPr>
            <a:r>
              <a:rPr lang="en-US" sz="2800" b="1" dirty="0">
                <a:latin typeface="Cambria" panose="02040503050406030204" pitchFamily="18" charset="0"/>
                <a:cs typeface="Arial" panose="020B0604020202020204" pitchFamily="34" charset="0"/>
              </a:rPr>
              <a:t>Data Register</a:t>
            </a:r>
          </a:p>
          <a:p>
            <a:pPr marL="1714500" lvl="2" indent="-571500" algn="just">
              <a:buFont typeface="+mj-lt"/>
              <a:buAutoNum type="romanUcPeriod"/>
            </a:pPr>
            <a:r>
              <a:rPr lang="en-US" sz="2800" dirty="0">
                <a:latin typeface="Cambria" panose="02040503050406030204" pitchFamily="18" charset="0"/>
                <a:cs typeface="Arial" panose="020B0604020202020204" pitchFamily="34" charset="0"/>
              </a:rPr>
              <a:t>AX (Accumulator Register)</a:t>
            </a:r>
          </a:p>
          <a:p>
            <a:pPr marL="1714500" lvl="2" indent="-571500" algn="just">
              <a:buFont typeface="+mj-lt"/>
              <a:buAutoNum type="romanUcPeriod"/>
            </a:pPr>
            <a:r>
              <a:rPr lang="en-US" sz="2800" dirty="0">
                <a:latin typeface="Cambria" panose="02040503050406030204" pitchFamily="18" charset="0"/>
                <a:cs typeface="Arial" panose="020B0604020202020204" pitchFamily="34" charset="0"/>
              </a:rPr>
              <a:t>BX (Base Register)</a:t>
            </a:r>
          </a:p>
          <a:p>
            <a:pPr marL="1714500" lvl="2" indent="-571500" algn="just">
              <a:buFont typeface="+mj-lt"/>
              <a:buAutoNum type="romanUcPeriod"/>
            </a:pPr>
            <a:r>
              <a:rPr lang="en-US" sz="2800" dirty="0">
                <a:latin typeface="Cambria" panose="02040503050406030204" pitchFamily="18" charset="0"/>
                <a:cs typeface="Arial" panose="020B0604020202020204" pitchFamily="34" charset="0"/>
              </a:rPr>
              <a:t>CX (Count Register)</a:t>
            </a:r>
          </a:p>
          <a:p>
            <a:pPr marL="1714500" lvl="2" indent="-571500" algn="just">
              <a:buFont typeface="+mj-lt"/>
              <a:buAutoNum type="romanUcPeriod"/>
            </a:pPr>
            <a:r>
              <a:rPr lang="en-US" sz="2800" dirty="0">
                <a:latin typeface="Cambria" panose="02040503050406030204" pitchFamily="18" charset="0"/>
                <a:cs typeface="Arial" panose="020B0604020202020204" pitchFamily="34" charset="0"/>
              </a:rPr>
              <a:t>DX (Data Register) 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1"/>
          <p:cNvSpPr txBox="1">
            <a:spLocks noChangeArrowheads="1"/>
          </p:cNvSpPr>
          <p:nvPr/>
        </p:nvSpPr>
        <p:spPr bwMode="auto">
          <a:xfrm>
            <a:off x="0" y="3709597"/>
            <a:ext cx="9908666" cy="18158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1257300" lvl="1" indent="-514350" algn="just">
              <a:buFont typeface="+mj-lt"/>
              <a:buAutoNum type="alphaLcParenR"/>
            </a:pPr>
            <a:r>
              <a:rPr lang="en-US" sz="2800" dirty="0">
                <a:latin typeface="Cambria" panose="02040503050406030204" pitchFamily="18" charset="0"/>
                <a:cs typeface="Arial" panose="020B0604020202020204" pitchFamily="34" charset="0"/>
              </a:rPr>
              <a:t>AX = AH		AL  </a:t>
            </a:r>
          </a:p>
          <a:p>
            <a:pPr marL="1257300" lvl="1" indent="-514350" algn="just">
              <a:buFont typeface="+mj-lt"/>
              <a:buAutoNum type="alphaLcParenR"/>
            </a:pPr>
            <a:r>
              <a:rPr lang="en-US" sz="2800" dirty="0">
                <a:latin typeface="Cambria" panose="02040503050406030204" pitchFamily="18" charset="0"/>
                <a:cs typeface="Arial" panose="020B0604020202020204" pitchFamily="34" charset="0"/>
              </a:rPr>
              <a:t>BX = BH 		BL</a:t>
            </a:r>
          </a:p>
          <a:p>
            <a:pPr marL="1257300" lvl="1" indent="-514350" algn="just">
              <a:buFont typeface="+mj-lt"/>
              <a:buAutoNum type="alphaLcParenR"/>
            </a:pPr>
            <a:r>
              <a:rPr lang="en-US" sz="2800" dirty="0">
                <a:latin typeface="Cambria" panose="02040503050406030204" pitchFamily="18" charset="0"/>
                <a:cs typeface="Arial" panose="020B0604020202020204" pitchFamily="34" charset="0"/>
              </a:rPr>
              <a:t>CX = CH 		CL</a:t>
            </a:r>
          </a:p>
          <a:p>
            <a:pPr marL="1257300" lvl="1" indent="-514350" algn="just">
              <a:buFont typeface="+mj-lt"/>
              <a:buAutoNum type="alphaLcParenR"/>
            </a:pPr>
            <a:r>
              <a:rPr lang="en-US" sz="2800" dirty="0">
                <a:latin typeface="Cambria" panose="02040503050406030204" pitchFamily="18" charset="0"/>
                <a:cs typeface="Arial" panose="020B0604020202020204" pitchFamily="34" charset="0"/>
              </a:rPr>
              <a:t>DX = DH		DL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681038" y="3709597"/>
            <a:ext cx="3183039" cy="1914455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3499456"/>
      </p:ext>
    </p:extLst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2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1C1E5-A1DB-4282-A451-5941CF833F53}" type="datetime1">
              <a:rPr lang="en-US" smtClean="0">
                <a:latin typeface="Cambria" panose="02040503050406030204" pitchFamily="18" charset="0"/>
              </a:rPr>
              <a:t>7/22/2026</a:t>
            </a:fld>
            <a:endParaRPr lang="en-US">
              <a:latin typeface="Cambria" panose="02040503050406030204" pitchFamily="18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Cambria" panose="02040503050406030204" pitchFamily="18" charset="0"/>
              </a:rPr>
              <a:t>Md. Adnan Sami, Dept. of CSE, VU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F5767-624D-46AC-ADD7-140D9A2A517A}" type="slidenum">
              <a:rPr lang="en-US" smtClean="0">
                <a:latin typeface="Cambria" panose="02040503050406030204" pitchFamily="18" charset="0"/>
              </a:rPr>
              <a:t>4</a:t>
            </a:fld>
            <a:endParaRPr lang="en-US">
              <a:latin typeface="Cambria" panose="02040503050406030204" pitchFamily="18" charset="0"/>
            </a:endParaRPr>
          </a:p>
        </p:txBody>
      </p:sp>
      <p:sp>
        <p:nvSpPr>
          <p:cNvPr id="9" name="TextBox 1"/>
          <p:cNvSpPr txBox="1">
            <a:spLocks noChangeArrowheads="1"/>
          </p:cNvSpPr>
          <p:nvPr/>
        </p:nvSpPr>
        <p:spPr bwMode="auto">
          <a:xfrm>
            <a:off x="0" y="238806"/>
            <a:ext cx="9908666" cy="18158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1257300" lvl="1" indent="-514350" algn="just">
              <a:buFont typeface="+mj-lt"/>
              <a:buAutoNum type="alphaLcParenR"/>
            </a:pPr>
            <a:r>
              <a:rPr lang="en-US" sz="2800" dirty="0">
                <a:latin typeface="Cambria" panose="02040503050406030204" pitchFamily="18" charset="0"/>
                <a:cs typeface="Arial" panose="020B0604020202020204" pitchFamily="34" charset="0"/>
              </a:rPr>
              <a:t>AX = AH		AL  </a:t>
            </a:r>
          </a:p>
          <a:p>
            <a:pPr marL="1257300" lvl="1" indent="-514350" algn="just">
              <a:buFont typeface="+mj-lt"/>
              <a:buAutoNum type="alphaLcParenR"/>
            </a:pPr>
            <a:r>
              <a:rPr lang="en-US" sz="2800" dirty="0">
                <a:latin typeface="Cambria" panose="02040503050406030204" pitchFamily="18" charset="0"/>
                <a:cs typeface="Arial" panose="020B0604020202020204" pitchFamily="34" charset="0"/>
              </a:rPr>
              <a:t>BX = BH 		BL</a:t>
            </a:r>
          </a:p>
          <a:p>
            <a:pPr marL="1257300" lvl="1" indent="-514350" algn="just">
              <a:buFont typeface="+mj-lt"/>
              <a:buAutoNum type="alphaLcParenR"/>
            </a:pPr>
            <a:r>
              <a:rPr lang="en-US" sz="2800" dirty="0">
                <a:latin typeface="Cambria" panose="02040503050406030204" pitchFamily="18" charset="0"/>
                <a:cs typeface="Arial" panose="020B0604020202020204" pitchFamily="34" charset="0"/>
              </a:rPr>
              <a:t>CX = CH 		CL</a:t>
            </a:r>
          </a:p>
          <a:p>
            <a:pPr marL="1257300" lvl="1" indent="-514350" algn="just">
              <a:buFont typeface="+mj-lt"/>
              <a:buAutoNum type="alphaLcParenR"/>
            </a:pPr>
            <a:r>
              <a:rPr lang="en-US" sz="2800" dirty="0">
                <a:latin typeface="Cambria" panose="02040503050406030204" pitchFamily="18" charset="0"/>
                <a:cs typeface="Arial" panose="020B0604020202020204" pitchFamily="34" charset="0"/>
              </a:rPr>
              <a:t>DX = DH		DL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1"/>
          <p:cNvSpPr txBox="1">
            <a:spLocks noChangeArrowheads="1"/>
          </p:cNvSpPr>
          <p:nvPr/>
        </p:nvSpPr>
        <p:spPr bwMode="auto">
          <a:xfrm>
            <a:off x="0" y="2293047"/>
            <a:ext cx="9908666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1200150" lvl="1" indent="-457200" algn="just">
              <a:buFont typeface="Wingdings" panose="05000000000000000000" pitchFamily="2" charset="2"/>
              <a:buChar char="Ø"/>
            </a:pPr>
            <a:r>
              <a:rPr lang="en-US" sz="2800" dirty="0">
                <a:latin typeface="Cambria" panose="02040503050406030204" pitchFamily="18" charset="0"/>
                <a:cs typeface="Arial" panose="020B0604020202020204" pitchFamily="34" charset="0"/>
              </a:rPr>
              <a:t>AL is reserved for </a:t>
            </a:r>
            <a:r>
              <a:rPr lang="en-US" sz="2800" b="1" dirty="0">
                <a:latin typeface="Cambria" panose="02040503050406030204" pitchFamily="18" charset="0"/>
                <a:cs typeface="Arial" panose="020B0604020202020204" pitchFamily="34" charset="0"/>
              </a:rPr>
              <a:t>input</a:t>
            </a:r>
            <a:r>
              <a:rPr lang="en-US" sz="2800" dirty="0">
                <a:latin typeface="Cambria" panose="02040503050406030204" pitchFamily="18" charset="0"/>
                <a:cs typeface="Arial" panose="020B0604020202020204" pitchFamily="34" charset="0"/>
              </a:rPr>
              <a:t>.   </a:t>
            </a:r>
          </a:p>
          <a:p>
            <a:pPr marL="1200150" lvl="1" indent="-457200" algn="just">
              <a:buFont typeface="Wingdings" panose="05000000000000000000" pitchFamily="2" charset="2"/>
              <a:buChar char="Ø"/>
            </a:pPr>
            <a:r>
              <a:rPr lang="en-US" sz="2800" dirty="0">
                <a:latin typeface="Cambria" panose="02040503050406030204" pitchFamily="18" charset="0"/>
                <a:cs typeface="Arial" panose="020B0604020202020204" pitchFamily="34" charset="0"/>
              </a:rPr>
              <a:t>DL is reserved for </a:t>
            </a:r>
            <a:r>
              <a:rPr lang="en-US" sz="2800" b="1" dirty="0">
                <a:latin typeface="Cambria" panose="02040503050406030204" pitchFamily="18" charset="0"/>
                <a:cs typeface="Arial" panose="020B0604020202020204" pitchFamily="34" charset="0"/>
              </a:rPr>
              <a:t>output</a:t>
            </a:r>
            <a:r>
              <a:rPr lang="en-US" sz="2800" dirty="0">
                <a:latin typeface="Cambria" panose="02040503050406030204" pitchFamily="18" charset="0"/>
                <a:cs typeface="Arial" panose="020B0604020202020204" pitchFamily="34" charset="0"/>
              </a:rPr>
              <a:t>. 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992" y="3771542"/>
            <a:ext cx="7784662" cy="1616536"/>
          </a:xfrm>
          <a:prstGeom prst="rect">
            <a:avLst/>
          </a:prstGeom>
          <a:ln w="38100">
            <a:solidFill>
              <a:srgbClr val="FF0000"/>
            </a:solidFill>
          </a:ln>
        </p:spPr>
      </p:pic>
    </p:spTree>
    <p:extLst>
      <p:ext uri="{BB962C8B-B14F-4D97-AF65-F5344CB8AC3E}">
        <p14:creationId xmlns:p14="http://schemas.microsoft.com/office/powerpoint/2010/main" val="2531203299"/>
      </p:ext>
    </p:extLst>
  </p:cSld>
  <p:clrMapOvr>
    <a:masterClrMapping/>
  </p:clrMapOvr>
  <p:transition spd="med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1C1E5-A1DB-4282-A451-5941CF833F53}" type="datetime1">
              <a:rPr lang="en-US" smtClean="0">
                <a:latin typeface="Cambria" panose="02040503050406030204" pitchFamily="18" charset="0"/>
              </a:rPr>
              <a:t>7/22/2026</a:t>
            </a:fld>
            <a:endParaRPr lang="en-US">
              <a:latin typeface="Cambria" panose="02040503050406030204" pitchFamily="18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Cambria" panose="02040503050406030204" pitchFamily="18" charset="0"/>
              </a:rPr>
              <a:t>Md. Adnan Sami, Dept. of CSE, VU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F5767-624D-46AC-ADD7-140D9A2A517A}" type="slidenum">
              <a:rPr lang="en-US" smtClean="0">
                <a:latin typeface="Cambria" panose="02040503050406030204" pitchFamily="18" charset="0"/>
              </a:rPr>
              <a:t>5</a:t>
            </a:fld>
            <a:endParaRPr lang="en-US">
              <a:latin typeface="Cambria" panose="02040503050406030204" pitchFamily="18" charset="0"/>
            </a:endParaRPr>
          </a:p>
        </p:txBody>
      </p:sp>
      <p:sp>
        <p:nvSpPr>
          <p:cNvPr id="9" name="TextBox 1"/>
          <p:cNvSpPr txBox="1">
            <a:spLocks noChangeArrowheads="1"/>
          </p:cNvSpPr>
          <p:nvPr/>
        </p:nvSpPr>
        <p:spPr bwMode="auto">
          <a:xfrm>
            <a:off x="-2666" y="415795"/>
            <a:ext cx="9908666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lvl="1" indent="0" algn="just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MOV AH, 1</a:t>
            </a:r>
          </a:p>
        </p:txBody>
      </p:sp>
      <p:grpSp>
        <p:nvGrpSpPr>
          <p:cNvPr id="17" name="Group 16"/>
          <p:cNvGrpSpPr/>
          <p:nvPr/>
        </p:nvGrpSpPr>
        <p:grpSpPr>
          <a:xfrm>
            <a:off x="1795463" y="894890"/>
            <a:ext cx="4726705" cy="1621817"/>
            <a:chOff x="1795463" y="894890"/>
            <a:chExt cx="4726705" cy="1621817"/>
          </a:xfrm>
        </p:grpSpPr>
        <p:sp>
          <p:nvSpPr>
            <p:cNvPr id="11" name="Right Brace 10"/>
            <p:cNvSpPr/>
            <p:nvPr/>
          </p:nvSpPr>
          <p:spPr>
            <a:xfrm rot="5400000">
              <a:off x="2055518" y="634835"/>
              <a:ext cx="299808" cy="819917"/>
            </a:xfrm>
            <a:prstGeom prst="rightBrac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8" name="Straight Arrow Connector 7"/>
            <p:cNvCxnSpPr/>
            <p:nvPr/>
          </p:nvCxnSpPr>
          <p:spPr>
            <a:xfrm>
              <a:off x="2195592" y="1327621"/>
              <a:ext cx="690334" cy="80125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0" name="TextBox 1"/>
            <p:cNvSpPr txBox="1">
              <a:spLocks noChangeArrowheads="1"/>
            </p:cNvSpPr>
            <p:nvPr/>
          </p:nvSpPr>
          <p:spPr bwMode="auto">
            <a:xfrm>
              <a:off x="1822349" y="1993487"/>
              <a:ext cx="4699819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lvl="1" indent="0" algn="just"/>
              <a:r>
                <a:rPr lang="en-US" sz="2800" b="1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Operand </a:t>
              </a:r>
            </a:p>
          </p:txBody>
        </p:sp>
      </p:grpSp>
      <p:grpSp>
        <p:nvGrpSpPr>
          <p:cNvPr id="14" name="Group 13"/>
          <p:cNvGrpSpPr/>
          <p:nvPr/>
        </p:nvGrpSpPr>
        <p:grpSpPr>
          <a:xfrm>
            <a:off x="17746" y="899728"/>
            <a:ext cx="4699819" cy="835697"/>
            <a:chOff x="17746" y="899728"/>
            <a:chExt cx="4699819" cy="835697"/>
          </a:xfrm>
        </p:grpSpPr>
        <p:sp>
          <p:nvSpPr>
            <p:cNvPr id="2" name="Right Brace 1"/>
            <p:cNvSpPr/>
            <p:nvPr/>
          </p:nvSpPr>
          <p:spPr>
            <a:xfrm rot="5400000">
              <a:off x="1052052" y="642356"/>
              <a:ext cx="294967" cy="809712"/>
            </a:xfrm>
            <a:prstGeom prst="rightBrac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"/>
            <p:cNvSpPr txBox="1">
              <a:spLocks noChangeArrowheads="1"/>
            </p:cNvSpPr>
            <p:nvPr/>
          </p:nvSpPr>
          <p:spPr bwMode="auto">
            <a:xfrm>
              <a:off x="17746" y="1212205"/>
              <a:ext cx="4699819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lvl="1" indent="0" algn="just"/>
              <a:r>
                <a:rPr lang="en-US" sz="2800" b="1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Opcode</a:t>
              </a:r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</a:p>
          </p:txBody>
        </p:sp>
      </p:grpSp>
      <p:sp>
        <p:nvSpPr>
          <p:cNvPr id="13" name="TextBox 1"/>
          <p:cNvSpPr txBox="1">
            <a:spLocks noChangeArrowheads="1"/>
          </p:cNvSpPr>
          <p:nvPr/>
        </p:nvSpPr>
        <p:spPr bwMode="auto">
          <a:xfrm>
            <a:off x="-5277" y="3201417"/>
            <a:ext cx="9911277" cy="18158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lvl="1" indent="0" algn="just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Opcode: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Operation. </a:t>
            </a:r>
          </a:p>
          <a:p>
            <a:pPr lvl="1" indent="0" algn="just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Operand: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 parts, </a:t>
            </a:r>
          </a:p>
          <a:p>
            <a:pPr marL="2971800" lvl="5" indent="-457200" algn="just"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Destination. </a:t>
            </a:r>
          </a:p>
          <a:p>
            <a:pPr marL="2971800" lvl="5" indent="-457200" algn="just"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Source.  </a:t>
            </a:r>
          </a:p>
        </p:txBody>
      </p:sp>
    </p:spTree>
    <p:extLst>
      <p:ext uri="{BB962C8B-B14F-4D97-AF65-F5344CB8AC3E}">
        <p14:creationId xmlns:p14="http://schemas.microsoft.com/office/powerpoint/2010/main" val="1637206483"/>
      </p:ext>
    </p:extLst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1C1E5-A1DB-4282-A451-5941CF833F53}" type="datetime1">
              <a:rPr lang="en-US" smtClean="0">
                <a:latin typeface="Cambria" panose="02040503050406030204" pitchFamily="18" charset="0"/>
              </a:rPr>
              <a:t>7/22/2026</a:t>
            </a:fld>
            <a:endParaRPr lang="en-US">
              <a:latin typeface="Cambria" panose="02040503050406030204" pitchFamily="18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Cambria" panose="02040503050406030204" pitchFamily="18" charset="0"/>
              </a:rPr>
              <a:t>Md. Adnan Sami, Dept. of CSE, VU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F5767-624D-46AC-ADD7-140D9A2A517A}" type="slidenum">
              <a:rPr lang="en-US" smtClean="0">
                <a:latin typeface="Cambria" panose="02040503050406030204" pitchFamily="18" charset="0"/>
              </a:rPr>
              <a:t>6</a:t>
            </a:fld>
            <a:endParaRPr lang="en-US">
              <a:latin typeface="Cambria" panose="02040503050406030204" pitchFamily="18" charset="0"/>
            </a:endParaRPr>
          </a:p>
        </p:txBody>
      </p:sp>
      <p:sp>
        <p:nvSpPr>
          <p:cNvPr id="9" name="TextBox 1"/>
          <p:cNvSpPr txBox="1">
            <a:spLocks noChangeArrowheads="1"/>
          </p:cNvSpPr>
          <p:nvPr/>
        </p:nvSpPr>
        <p:spPr bwMode="auto">
          <a:xfrm>
            <a:off x="-2666" y="415795"/>
            <a:ext cx="9908666" cy="13849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lvl="1" indent="0" algn="just"/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Opcode Destination, Source</a:t>
            </a:r>
          </a:p>
          <a:p>
            <a:pPr lvl="1" indent="0" algn="just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1" indent="0" algn="just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MOV AH, 1</a:t>
            </a:r>
          </a:p>
        </p:txBody>
      </p:sp>
      <p:grpSp>
        <p:nvGrpSpPr>
          <p:cNvPr id="22" name="Group 21"/>
          <p:cNvGrpSpPr/>
          <p:nvPr/>
        </p:nvGrpSpPr>
        <p:grpSpPr>
          <a:xfrm>
            <a:off x="-554447" y="1800790"/>
            <a:ext cx="4699819" cy="964187"/>
            <a:chOff x="-554447" y="1800790"/>
            <a:chExt cx="4699819" cy="964187"/>
          </a:xfrm>
        </p:grpSpPr>
        <p:sp>
          <p:nvSpPr>
            <p:cNvPr id="16" name="TextBox 1"/>
            <p:cNvSpPr txBox="1">
              <a:spLocks noChangeArrowheads="1"/>
            </p:cNvSpPr>
            <p:nvPr/>
          </p:nvSpPr>
          <p:spPr bwMode="auto">
            <a:xfrm>
              <a:off x="-554447" y="2241757"/>
              <a:ext cx="4699819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lvl="1" indent="0" algn="just"/>
              <a:r>
                <a:rPr lang="en-US" sz="2800" b="1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Destination  </a:t>
              </a:r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</a:p>
          </p:txBody>
        </p:sp>
        <p:cxnSp>
          <p:nvCxnSpPr>
            <p:cNvPr id="7" name="Straight Arrow Connector 6"/>
            <p:cNvCxnSpPr/>
            <p:nvPr/>
          </p:nvCxnSpPr>
          <p:spPr>
            <a:xfrm flipH="1">
              <a:off x="1229032" y="1800790"/>
              <a:ext cx="766916" cy="529455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" name="Group 22"/>
          <p:cNvGrpSpPr/>
          <p:nvPr/>
        </p:nvGrpSpPr>
        <p:grpSpPr>
          <a:xfrm>
            <a:off x="2209954" y="1722134"/>
            <a:ext cx="4699819" cy="1136434"/>
            <a:chOff x="2209954" y="1722134"/>
            <a:chExt cx="4699819" cy="1136434"/>
          </a:xfrm>
        </p:grpSpPr>
        <p:sp>
          <p:nvSpPr>
            <p:cNvPr id="15" name="TextBox 1"/>
            <p:cNvSpPr txBox="1">
              <a:spLocks noChangeArrowheads="1"/>
            </p:cNvSpPr>
            <p:nvPr/>
          </p:nvSpPr>
          <p:spPr bwMode="auto">
            <a:xfrm>
              <a:off x="2209954" y="2335348"/>
              <a:ext cx="4699819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lvl="1" indent="0" algn="just"/>
              <a:r>
                <a:rPr lang="en-US" sz="2800" b="1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Source </a:t>
              </a:r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</a:p>
          </p:txBody>
        </p:sp>
        <p:cxnSp>
          <p:nvCxnSpPr>
            <p:cNvPr id="21" name="Straight Arrow Connector 20"/>
            <p:cNvCxnSpPr/>
            <p:nvPr/>
          </p:nvCxnSpPr>
          <p:spPr>
            <a:xfrm>
              <a:off x="2497398" y="1722134"/>
              <a:ext cx="702577" cy="702577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4" name="TextBox 1"/>
          <p:cNvSpPr txBox="1">
            <a:spLocks noChangeArrowheads="1"/>
          </p:cNvSpPr>
          <p:nvPr/>
        </p:nvSpPr>
        <p:spPr bwMode="auto">
          <a:xfrm>
            <a:off x="0" y="3606557"/>
            <a:ext cx="9908666" cy="18158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lvl="1" indent="0" algn="just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Destination: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register or memory location where data is stored. </a:t>
            </a:r>
          </a:p>
          <a:p>
            <a:pPr lvl="1" indent="0" algn="just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Source: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the data. </a:t>
            </a:r>
          </a:p>
          <a:p>
            <a:pPr lvl="1" indent="0" algn="just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MOV: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to transfer data from one location to another. </a:t>
            </a:r>
          </a:p>
        </p:txBody>
      </p:sp>
    </p:spTree>
    <p:extLst>
      <p:ext uri="{BB962C8B-B14F-4D97-AF65-F5344CB8AC3E}">
        <p14:creationId xmlns:p14="http://schemas.microsoft.com/office/powerpoint/2010/main" val="120785018"/>
      </p:ext>
    </p:extLst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1C1E5-A1DB-4282-A451-5941CF833F53}" type="datetime1">
              <a:rPr lang="en-US" smtClean="0">
                <a:latin typeface="Cambria" panose="02040503050406030204" pitchFamily="18" charset="0"/>
              </a:rPr>
              <a:t>7/22/2026</a:t>
            </a:fld>
            <a:endParaRPr lang="en-US">
              <a:latin typeface="Cambria" panose="02040503050406030204" pitchFamily="18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Cambria" panose="02040503050406030204" pitchFamily="18" charset="0"/>
              </a:rPr>
              <a:t>Md. Adnan Sami, Dept. of CSE, VU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F5767-624D-46AC-ADD7-140D9A2A517A}" type="slidenum">
              <a:rPr lang="en-US" smtClean="0">
                <a:latin typeface="Cambria" panose="02040503050406030204" pitchFamily="18" charset="0"/>
              </a:rPr>
              <a:t>7</a:t>
            </a:fld>
            <a:endParaRPr lang="en-US">
              <a:latin typeface="Cambria" panose="02040503050406030204" pitchFamily="18" charset="0"/>
            </a:endParaRPr>
          </a:p>
        </p:txBody>
      </p:sp>
      <p:sp>
        <p:nvSpPr>
          <p:cNvPr id="9" name="TextBox 1"/>
          <p:cNvSpPr txBox="1">
            <a:spLocks noChangeArrowheads="1"/>
          </p:cNvSpPr>
          <p:nvPr/>
        </p:nvSpPr>
        <p:spPr bwMode="auto">
          <a:xfrm>
            <a:off x="0" y="2441241"/>
            <a:ext cx="9908666" cy="18158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lvl="1" indent="0" algn="just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Input:</a:t>
            </a:r>
          </a:p>
          <a:p>
            <a:pPr lvl="2" indent="0" algn="just"/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mov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ah,1</a:t>
            </a:r>
          </a:p>
          <a:p>
            <a:pPr lvl="2" indent="0" algn="just"/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21h </a:t>
            </a:r>
          </a:p>
          <a:p>
            <a:pPr lvl="2" indent="0" algn="just"/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mov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bl,al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0469" y="495150"/>
            <a:ext cx="7784662" cy="1616536"/>
          </a:xfrm>
          <a:prstGeom prst="rect">
            <a:avLst/>
          </a:prstGeom>
          <a:ln w="38100">
            <a:solidFill>
              <a:srgbClr val="FF0000"/>
            </a:solidFill>
          </a:ln>
        </p:spPr>
      </p:pic>
      <p:sp>
        <p:nvSpPr>
          <p:cNvPr id="10" name="TextBox 1"/>
          <p:cNvSpPr txBox="1">
            <a:spLocks noChangeArrowheads="1"/>
          </p:cNvSpPr>
          <p:nvPr/>
        </p:nvSpPr>
        <p:spPr bwMode="auto">
          <a:xfrm>
            <a:off x="-2666" y="4432273"/>
            <a:ext cx="9908666" cy="18158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lvl="1" indent="0" algn="just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Output:</a:t>
            </a:r>
          </a:p>
          <a:p>
            <a:pPr lvl="2" indent="0" algn="just"/>
            <a:r>
              <a:rPr lang="sv-SE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mov ah,2</a:t>
            </a:r>
          </a:p>
          <a:p>
            <a:pPr lvl="2" indent="0" algn="just"/>
            <a:r>
              <a:rPr lang="sv-SE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mov dl,bl</a:t>
            </a:r>
          </a:p>
          <a:p>
            <a:pPr lvl="2" indent="0" algn="just"/>
            <a:r>
              <a:rPr lang="sv-SE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 21h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7195371"/>
      </p:ext>
    </p:extLst>
  </p:cSld>
  <p:clrMapOvr>
    <a:masterClrMapping/>
  </p:clrMapOvr>
  <p:transition spd="med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1C1E5-A1DB-4282-A451-5941CF833F53}" type="datetime1">
              <a:rPr lang="en-US" smtClean="0">
                <a:latin typeface="Cambria" panose="02040503050406030204" pitchFamily="18" charset="0"/>
              </a:rPr>
              <a:t>7/22/2026</a:t>
            </a:fld>
            <a:endParaRPr lang="en-US">
              <a:latin typeface="Cambria" panose="02040503050406030204" pitchFamily="18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Cambria" panose="02040503050406030204" pitchFamily="18" charset="0"/>
              </a:rPr>
              <a:t>Md. Adnan Sami, Dept. of CSE, VU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F5767-624D-46AC-ADD7-140D9A2A517A}" type="slidenum">
              <a:rPr lang="en-US" smtClean="0">
                <a:latin typeface="Cambria" panose="02040503050406030204" pitchFamily="18" charset="0"/>
              </a:rPr>
              <a:t>8</a:t>
            </a:fld>
            <a:endParaRPr lang="en-US">
              <a:latin typeface="Cambria" panose="02040503050406030204" pitchFamily="18" charset="0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1976636" y="1256358"/>
            <a:ext cx="6842900" cy="3971040"/>
            <a:chOff x="432972" y="420615"/>
            <a:chExt cx="6842900" cy="3971040"/>
          </a:xfrm>
        </p:grpSpPr>
        <p:sp>
          <p:nvSpPr>
            <p:cNvPr id="24" name="TextBox 1"/>
            <p:cNvSpPr txBox="1">
              <a:spLocks noChangeArrowheads="1"/>
            </p:cNvSpPr>
            <p:nvPr/>
          </p:nvSpPr>
          <p:spPr bwMode="auto">
            <a:xfrm>
              <a:off x="4503176" y="3002700"/>
              <a:ext cx="2772696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lvl="1" indent="0" algn="just"/>
              <a:r>
                <a:rPr lang="en-US" sz="28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Return</a:t>
              </a:r>
            </a:p>
          </p:txBody>
        </p:sp>
        <p:pic>
          <p:nvPicPr>
            <p:cNvPr id="2" name="Picture 1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2972" y="420615"/>
              <a:ext cx="4354213" cy="3971040"/>
            </a:xfrm>
            <a:prstGeom prst="rect">
              <a:avLst/>
            </a:prstGeom>
          </p:spPr>
        </p:pic>
        <p:sp>
          <p:nvSpPr>
            <p:cNvPr id="3" name="Right Brace 2"/>
            <p:cNvSpPr/>
            <p:nvPr/>
          </p:nvSpPr>
          <p:spPr>
            <a:xfrm>
              <a:off x="4787185" y="2546555"/>
              <a:ext cx="244037" cy="1435510"/>
            </a:xfrm>
            <a:prstGeom prst="rightBrac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466840035"/>
      </p:ext>
    </p:extLst>
  </p:cSld>
  <p:clrMapOvr>
    <a:masterClrMapping/>
  </p:clrMapOvr>
  <p:transition spd="med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1C1E5-A1DB-4282-A451-5941CF833F53}" type="datetime1">
              <a:rPr lang="en-US" smtClean="0">
                <a:latin typeface="Cambria" panose="02040503050406030204" pitchFamily="18" charset="0"/>
              </a:rPr>
              <a:t>7/22/2026</a:t>
            </a:fld>
            <a:endParaRPr lang="en-US">
              <a:latin typeface="Cambria" panose="02040503050406030204" pitchFamily="18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Cambria" panose="02040503050406030204" pitchFamily="18" charset="0"/>
              </a:rPr>
              <a:t>Md. Adnan Sami, Dept. of CSE, VU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F5767-624D-46AC-ADD7-140D9A2A517A}" type="slidenum">
              <a:rPr lang="en-US" smtClean="0">
                <a:latin typeface="Cambria" panose="02040503050406030204" pitchFamily="18" charset="0"/>
              </a:rPr>
              <a:t>9</a:t>
            </a:fld>
            <a:endParaRPr lang="en-US">
              <a:latin typeface="Cambria" panose="02040503050406030204" pitchFamily="18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5626" y="1164221"/>
            <a:ext cx="8199337" cy="4253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8083041"/>
      </p:ext>
    </p:extLst>
  </p:cSld>
  <p:clrMapOvr>
    <a:masterClrMapping/>
  </p:clrMapOvr>
  <p:transition spd="med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1C1E5-A1DB-4282-A451-5941CF833F53}" type="datetime1">
              <a:rPr lang="en-US" smtClean="0">
                <a:latin typeface="Cambria" panose="02040503050406030204" pitchFamily="18" charset="0"/>
              </a:rPr>
              <a:t>7/22/2026</a:t>
            </a:fld>
            <a:endParaRPr lang="en-US">
              <a:latin typeface="Cambria" panose="02040503050406030204" pitchFamily="18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Cambria" panose="02040503050406030204" pitchFamily="18" charset="0"/>
              </a:rPr>
              <a:t>Md. Adnan Sami, Dept. of CSE, VU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F5767-624D-46AC-ADD7-140D9A2A517A}" type="slidenum">
              <a:rPr lang="en-US" smtClean="0">
                <a:latin typeface="Cambria" panose="02040503050406030204" pitchFamily="18" charset="0"/>
              </a:rPr>
              <a:t>10</a:t>
            </a:fld>
            <a:endParaRPr lang="en-US">
              <a:latin typeface="Cambria" panose="02040503050406030204" pitchFamily="18" charset="0"/>
            </a:endParaRPr>
          </a:p>
        </p:txBody>
      </p:sp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0" y="748210"/>
            <a:ext cx="9908666" cy="31085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/>
            <a:r>
              <a:rPr lang="en-US" altLang="en-US" sz="2800" dirty="0">
                <a:latin typeface="Cambria" panose="02040503050406030204" pitchFamily="18" charset="0"/>
                <a:cs typeface="Arial" panose="020B0604020202020204" pitchFamily="34" charset="0"/>
              </a:rPr>
              <a:t>	</a:t>
            </a:r>
            <a:r>
              <a:rPr lang="en-US" altLang="en-US" sz="2800" b="1" u="sng" dirty="0">
                <a:latin typeface="Cambria" panose="02040503050406030204" pitchFamily="18" charset="0"/>
                <a:cs typeface="Arial" panose="020B0604020202020204" pitchFamily="34" charset="0"/>
              </a:rPr>
              <a:t>Experiment No:</a:t>
            </a:r>
            <a:r>
              <a:rPr lang="en-US" altLang="en-US" sz="2800" b="1" dirty="0">
                <a:latin typeface="Cambria" panose="02040503050406030204" pitchFamily="18" charset="0"/>
                <a:cs typeface="Arial" panose="020B0604020202020204" pitchFamily="34" charset="0"/>
              </a:rPr>
              <a:t> </a:t>
            </a:r>
            <a:r>
              <a:rPr lang="en-US" altLang="en-US" sz="2800" dirty="0">
                <a:latin typeface="Cambria" panose="02040503050406030204" pitchFamily="18" charset="0"/>
                <a:cs typeface="Arial" panose="020B0604020202020204" pitchFamily="34" charset="0"/>
              </a:rPr>
              <a:t>01</a:t>
            </a:r>
          </a:p>
          <a:p>
            <a:pPr algn="just"/>
            <a:r>
              <a:rPr lang="en-US" altLang="en-US" sz="2800" dirty="0">
                <a:latin typeface="Cambria" panose="02040503050406030204" pitchFamily="18" charset="0"/>
                <a:cs typeface="Arial" panose="020B0604020202020204" pitchFamily="34" charset="0"/>
              </a:rPr>
              <a:t>	</a:t>
            </a:r>
            <a:r>
              <a:rPr lang="en-US" altLang="en-US" sz="2800" b="1" u="sng" dirty="0">
                <a:latin typeface="Cambria" panose="02040503050406030204" pitchFamily="18" charset="0"/>
                <a:cs typeface="Arial" panose="020B0604020202020204" pitchFamily="34" charset="0"/>
              </a:rPr>
              <a:t>Name of the Experiment: </a:t>
            </a:r>
          </a:p>
          <a:p>
            <a:pPr marL="1428750" lvl="2" indent="-571500">
              <a:buFont typeface="+mj-lt"/>
              <a:buAutoNum type="romanLcPeriod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Write an assembly language program for simple input and output using EMU8086.</a:t>
            </a:r>
          </a:p>
          <a:p>
            <a:pPr marL="1428750" lvl="2" indent="-571500">
              <a:buFont typeface="+mj-lt"/>
              <a:buAutoNum type="romanLcPeriod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Write an assembly language program for simple input and output, where the output is displayed on a new line using EMU8086.</a:t>
            </a:r>
          </a:p>
        </p:txBody>
      </p:sp>
    </p:spTree>
    <p:extLst>
      <p:ext uri="{BB962C8B-B14F-4D97-AF65-F5344CB8AC3E}">
        <p14:creationId xmlns:p14="http://schemas.microsoft.com/office/powerpoint/2010/main" val="3612824206"/>
      </p:ext>
    </p:extLst>
  </p:cSld>
  <p:clrMapOvr>
    <a:masterClrMapping/>
  </p:clrMapOvr>
  <p:transition spd="med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01F0B2-7350-4459-C0EC-0BFF3159AD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D977B1-5499-C583-AAC4-A2B31CF30F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1C1E5-A1DB-4282-A451-5941CF833F53}" type="datetime1">
              <a:rPr lang="en-US" smtClean="0">
                <a:latin typeface="Cambria" panose="02040503050406030204" pitchFamily="18" charset="0"/>
              </a:rPr>
              <a:t>7/22/2026</a:t>
            </a:fld>
            <a:endParaRPr lang="en-US">
              <a:latin typeface="Cambria" panose="020405030504060302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321BC5-9724-97BC-4A33-FEC5E8D0DE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Cambria" panose="02040503050406030204" pitchFamily="18" charset="0"/>
              </a:rPr>
              <a:t>Md. Adnan Sami, Dept. of CSE, VU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AA2FDF-A035-AFB8-5F67-2D38A81D75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F5767-624D-46AC-ADD7-140D9A2A517A}" type="slidenum">
              <a:rPr lang="en-US" smtClean="0">
                <a:latin typeface="Cambria" panose="02040503050406030204" pitchFamily="18" charset="0"/>
              </a:rPr>
              <a:t>11</a:t>
            </a:fld>
            <a:endParaRPr lang="en-US">
              <a:latin typeface="Cambria" panose="020405030504060302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61F2A1D-99A5-5BC7-2635-2A6E793D02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6689"/>
            <a:ext cx="9908666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1028700" lvl="1" indent="-571500" algn="just">
              <a:buFont typeface="+mj-lt"/>
              <a:buAutoNum type="romanLcPeriod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Write an assembly language program for simple input and output using EMU8086.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D6DA5C1-B2BD-BEEE-87F1-C9A792065F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4921" y="967566"/>
            <a:ext cx="3921192" cy="5428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9527828"/>
      </p:ext>
    </p:extLst>
  </p:cSld>
  <p:clrMapOvr>
    <a:masterClrMapping/>
  </p:clrMapOvr>
  <p:transition spd="med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89A6B2-D601-AA6F-851D-1E8763C7D2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7A091D-7B33-8D45-DE48-A01A29E4BD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1C1E5-A1DB-4282-A451-5941CF833F53}" type="datetime1">
              <a:rPr lang="en-US" smtClean="0">
                <a:latin typeface="Cambria" panose="02040503050406030204" pitchFamily="18" charset="0"/>
              </a:rPr>
              <a:t>7/22/2026</a:t>
            </a:fld>
            <a:endParaRPr lang="en-US">
              <a:latin typeface="Cambria" panose="020405030504060302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3C831D-BBDE-B83F-0F32-DD810791F5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Cambria" panose="02040503050406030204" pitchFamily="18" charset="0"/>
              </a:rPr>
              <a:t>Md. Adnan Sami, Dept. of CSE, VU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B0559D-80CC-52B4-BE10-0CA749EE2C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F5767-624D-46AC-ADD7-140D9A2A517A}" type="slidenum">
              <a:rPr lang="en-US" smtClean="0">
                <a:latin typeface="Cambria" panose="02040503050406030204" pitchFamily="18" charset="0"/>
              </a:rPr>
              <a:t>12</a:t>
            </a:fld>
            <a:endParaRPr lang="en-US">
              <a:latin typeface="Cambria" panose="020405030504060302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212C369-34F8-BDAA-3CA0-7A18325CEF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6689"/>
            <a:ext cx="9908666" cy="13849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ii. Write an assembly language program for simple input and 			output, where the output is displayed on a new line using 				EMU8086.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A4195C6-0D4F-9353-029B-CF8C2678CC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4695" y="969670"/>
            <a:ext cx="3343275" cy="54662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0057469"/>
      </p:ext>
    </p:extLst>
  </p:cSld>
  <p:clrMapOvr>
    <a:masterClrMapping/>
  </p:clrMapOvr>
  <p:transition spd="med">
    <p:push dir="u"/>
  </p:transition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717</TotalTime>
  <Words>453</Words>
  <Application>Microsoft Office PowerPoint</Application>
  <PresentationFormat>A4 Paper (210x297 mm)</PresentationFormat>
  <Paragraphs>89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Arial</vt:lpstr>
      <vt:lpstr>Calibri</vt:lpstr>
      <vt:lpstr>Calibri Light</vt:lpstr>
      <vt:lpstr>Cambria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Adnan Sami</dc:creator>
  <cp:lastModifiedBy>DFIT</cp:lastModifiedBy>
  <cp:revision>97</cp:revision>
  <dcterms:created xsi:type="dcterms:W3CDTF">2025-01-23T20:11:31Z</dcterms:created>
  <dcterms:modified xsi:type="dcterms:W3CDTF">2026-07-22T03:26:58Z</dcterms:modified>
</cp:coreProperties>
</file>