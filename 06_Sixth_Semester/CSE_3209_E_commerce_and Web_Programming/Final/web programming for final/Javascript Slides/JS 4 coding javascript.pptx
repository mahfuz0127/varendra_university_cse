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54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7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3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85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69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3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0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06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40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09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5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40AD9FF-C846-4E7E-8329-0E514C14F3DD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271EFDA-D3DB-449D-9D53-34010057CCD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18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sun.com/source/816-6408-10/document.ht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sun.com/source/816-6408-10/string.ht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sun.com/source/816-6408-10/handlers.ht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76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mtClean="0">
                <a:latin typeface="Helvetica" panose="020B0604020202020204" pitchFamily="34" charset="0"/>
              </a:rPr>
              <a:t>Variables</a:t>
            </a:r>
            <a:endParaRPr lang="en-US" altLang="en-US" smtClean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&lt;script language="JavaScript"&gt;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&lt;!-- html comment</a:t>
            </a:r>
          </a:p>
          <a:p>
            <a:pPr lvl="1"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var x = 15;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var _y = x * 10;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var name = prompt("What is your name?");</a:t>
            </a:r>
          </a:p>
          <a:p>
            <a:pPr lvl="1"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// --&gt;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49275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mtClean="0">
                <a:latin typeface="Helvetica" panose="020B0604020202020204" pitchFamily="34" charset="0"/>
              </a:rPr>
              <a:t>Modifying a document</a:t>
            </a:r>
            <a:endParaRPr lang="en-US" altLang="en-US" smtClean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>
                <a:solidFill>
                  <a:srgbClr val="000000"/>
                </a:solidFill>
                <a:latin typeface="Helvetica" panose="020B0604020202020204" pitchFamily="34" charset="0"/>
                <a:hlinkClick r:id="rId2"/>
              </a:rPr>
              <a:t>http://docs.sun.com/source/816-6408-10/document.htm</a:t>
            </a:r>
            <a:r>
              <a:rPr lang="en-US" altLang="en-US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endParaRPr lang="en-US" altLang="en-US">
              <a:latin typeface="Helvetica" panose="020B0604020202020204" pitchFamily="34" charset="0"/>
            </a:endParaRPr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&lt;script language="JavaScript"&gt;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&lt;!-- html comment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document.write("&lt;a href=\"");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document.write(document.referrer);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document.write("\"&gt;Return to the last page&lt;/a&gt;");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// --&gt;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&lt;/script&gt;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16942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mtClean="0">
                <a:latin typeface="Helvetica" panose="020B0604020202020204" pitchFamily="34" charset="0"/>
              </a:rPr>
              <a:t>Formatting Strings</a:t>
            </a:r>
            <a:endParaRPr lang="en-US" altLang="en-US" smtClean="0"/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>
                <a:latin typeface="Helvetica" panose="020B0604020202020204" pitchFamily="34" charset="0"/>
              </a:rPr>
              <a:t>Strings have methods that modify the way they are printed.</a:t>
            </a:r>
          </a:p>
          <a:p>
            <a:r>
              <a:rPr lang="en-US" altLang="en-US" sz="2000">
                <a:solidFill>
                  <a:srgbClr val="000000"/>
                </a:solidFill>
                <a:latin typeface="Lucida Grande"/>
                <a:hlinkClick r:id="rId2"/>
              </a:rPr>
              <a:t>http://docs.sun.com/source/816-6408-10/string.htm</a:t>
            </a:r>
            <a:r>
              <a:rPr lang="en-US" altLang="en-US" sz="2000">
                <a:solidFill>
                  <a:srgbClr val="000000"/>
                </a:solidFill>
                <a:latin typeface="Lucida Grande"/>
              </a:rPr>
              <a:t> </a:t>
            </a:r>
            <a:endParaRPr lang="en-US" altLang="en-US" smtClean="0"/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&lt;script language="JavaScript"&gt;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&lt;!-- html comment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var name = prompt("What is your name? ");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document.writeln(name.fontcolor("red"));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document.writeln(name.italics());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document.writeln(name.toUpperCase());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// --&gt;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18005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mtClean="0">
                <a:latin typeface="Helvetica" panose="020B0604020202020204" pitchFamily="34" charset="0"/>
              </a:rPr>
              <a:t>Functions</a:t>
            </a:r>
            <a:endParaRPr lang="en-US" altLang="en-US" smtClean="0"/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&lt;script language="JavaScript"&gt;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&lt;!-- html comment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function foo(name) 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{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document.writeln(name.bold());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// --&gt;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&lt;/script&gt;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77627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mtClean="0">
                <a:latin typeface="Helvetica" panose="020B0604020202020204" pitchFamily="34" charset="0"/>
              </a:rPr>
              <a:t>More Programming Constructs</a:t>
            </a:r>
            <a:endParaRPr lang="en-US" altLang="en-US" smtClean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mtClean="0">
                <a:latin typeface="Helvetica" panose="020B0604020202020204" pitchFamily="34" charset="0"/>
              </a:rPr>
              <a:t>if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if(var1==var2) {/* do stuff */ }</a:t>
            </a:r>
            <a:endParaRPr lang="en-US" altLang="en-US" smtClean="0">
              <a:latin typeface="Helvetica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mtClean="0">
                <a:latin typeface="Helvetica" panose="020B0604020202020204" pitchFamily="34" charset="0"/>
              </a:rPr>
              <a:t>for loops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for(i=0; i &lt; count; i++) {/* do stuff */ }</a:t>
            </a:r>
            <a:endParaRPr lang="en-US" altLang="en-US" smtClean="0">
              <a:latin typeface="Helvetica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mtClean="0">
                <a:latin typeface="Helvetica" panose="020B0604020202020204" pitchFamily="34" charset="0"/>
              </a:rPr>
              <a:t>while loops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while(var1==var2) {/* do stuff */ }</a:t>
            </a:r>
            <a:endParaRPr lang="en-US" altLang="en-US" smtClean="0">
              <a:latin typeface="Helvetica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mtClean="0">
                <a:latin typeface="Helvetica" panose="020B0604020202020204" pitchFamily="34" charset="0"/>
              </a:rPr>
              <a:t>arrays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var a = new Array(1, 2, 3);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document.writeln (a[0]);</a:t>
            </a:r>
            <a:endParaRPr lang="en-US" altLang="en-US" smtClean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08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mtClean="0">
                <a:latin typeface="Helvetica" panose="020B0604020202020204" pitchFamily="34" charset="0"/>
              </a:rPr>
              <a:t>Interaction</a:t>
            </a:r>
            <a:endParaRPr lang="en-US" altLang="en-US" smtClean="0"/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/>
            <a:r>
              <a:rPr lang="en-US" altLang="en-US" sz="2200">
                <a:latin typeface="Helvetica" panose="020B0604020202020204" pitchFamily="34" charset="0"/>
              </a:rPr>
              <a:t>Link and image elements have special properties that use the definitions set up in the main block.</a:t>
            </a:r>
          </a:p>
          <a:p>
            <a:pPr marL="609600" indent="-609600"/>
            <a:r>
              <a:rPr lang="en-US" altLang="en-US" sz="2200">
                <a:solidFill>
                  <a:srgbClr val="000000"/>
                </a:solidFill>
                <a:latin typeface="Helvetica" panose="020B0604020202020204" pitchFamily="34" charset="0"/>
                <a:hlinkClick r:id="rId2"/>
              </a:rPr>
              <a:t>http://docs.sun.com/source/816-6408-10/handlers.htm</a:t>
            </a:r>
            <a:r>
              <a:rPr lang="en-US" altLang="en-US" sz="220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endParaRPr lang="en-US" altLang="en-US" sz="4400">
              <a:latin typeface="Courier New" panose="02070309020205020404" pitchFamily="49" charset="0"/>
            </a:endParaRPr>
          </a:p>
          <a:p>
            <a:pPr marL="990600" lvl="1" indent="-533400"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marL="990600" lvl="1" indent="-533400">
              <a:buNone/>
            </a:pPr>
            <a:r>
              <a:rPr lang="en-US" altLang="en-US">
                <a:latin typeface="Courier New" panose="02070309020205020404" pitchFamily="49" charset="0"/>
              </a:rPr>
              <a:t>&lt;a href="#" onClick="foo(name)"&gt;Click me&lt;/a&gt;</a:t>
            </a:r>
          </a:p>
          <a:p>
            <a:pPr marL="990600" lvl="1" indent="-533400">
              <a:buNone/>
            </a:pPr>
            <a:r>
              <a:rPr lang="en-US" altLang="en-US">
                <a:latin typeface="Courier New" panose="02070309020205020404" pitchFamily="49" charset="0"/>
              </a:rPr>
              <a:t>&lt;img src="img1.png" name="the_image"&gt;</a:t>
            </a:r>
          </a:p>
          <a:p>
            <a:pPr marL="990600" lvl="1" indent="-533400"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&lt;a href="#” onMouseOver="document.the_image.src=img2.gif';"&gt;change&lt;/a&gt;</a:t>
            </a:r>
            <a:endParaRPr lang="en-US" altLang="en-US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74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mtClean="0">
                <a:latin typeface="Helvetica" panose="020B0604020202020204" pitchFamily="34" charset="0"/>
              </a:rPr>
              <a:t>Learning from Others</a:t>
            </a:r>
            <a:endParaRPr lang="en-US" altLang="en-US" smtClean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400">
                <a:latin typeface="Helvetica" panose="020B0604020202020204" pitchFamily="34" charset="0"/>
              </a:rPr>
              <a:t>Client-side Javascript can be viewed by looking at the source code for a page.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latin typeface="Helvetica" panose="020B0604020202020204" pitchFamily="34" charset="0"/>
              </a:rPr>
              <a:t>Consider this function from the Google homepage.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&lt;!--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function qs(el)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  if (window.RegExp &amp;&amp; window.encodeURIComponent)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    var ue=el.href;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    var qe=encodeURIComponent(document.f.q.value);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    if(ue.indexOf("q=")!=-1)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      el.href=ue.replace(new RegExp("q=[^&amp;$]*"),"q="+qe);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    } else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      el.href=ue+"&amp;q="+qe;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  }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  return 1;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// --&gt;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09796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altLang="en-US" smtClean="0"/>
              <a:t>Example</a:t>
            </a:r>
          </a:p>
        </p:txBody>
      </p:sp>
      <p:sp>
        <p:nvSpPr>
          <p:cNvPr id="9523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tr-TR" altLang="en-US"/>
              <a:t>&lt;script&gt;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/>
              <a:t>x=“Hello World!”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/>
              <a:t>document.write(x)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/>
              <a:t>&lt;/script&gt;</a:t>
            </a:r>
          </a:p>
          <a:p>
            <a:pPr>
              <a:lnSpc>
                <a:spcPct val="90000"/>
              </a:lnSpc>
              <a:buFontTx/>
              <a:buNone/>
            </a:pPr>
            <a:endParaRPr lang="tr-TR" altLang="en-US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/>
              <a:t>&lt;script&gt;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/>
              <a:t>x=“İsminizi Yazın….”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/>
              <a:t>document.write(“Merhaba” +x)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/>
              <a:t>&lt;/script&gt; </a:t>
            </a:r>
            <a:r>
              <a:rPr lang="tr-TR" altLang="en-US" sz="2000">
                <a:solidFill>
                  <a:srgbClr val="FF0000"/>
                </a:solidFill>
                <a:sym typeface="Symbol" panose="05050102010706020507" pitchFamily="18" charset="2"/>
              </a:rPr>
              <a:t> use line break html code</a:t>
            </a:r>
          </a:p>
        </p:txBody>
      </p:sp>
    </p:spTree>
    <p:extLst>
      <p:ext uri="{BB962C8B-B14F-4D97-AF65-F5344CB8AC3E}">
        <p14:creationId xmlns:p14="http://schemas.microsoft.com/office/powerpoint/2010/main" val="322701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altLang="en-US" smtClean="0"/>
              <a:t>JS Examples -1</a:t>
            </a:r>
          </a:p>
        </p:txBody>
      </p:sp>
      <p:sp>
        <p:nvSpPr>
          <p:cNvPr id="9625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825625" y="1600200"/>
            <a:ext cx="8540750" cy="11811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tr-TR" altLang="en-US" smtClean="0"/>
              <a:t>Y=20x+12 ve x=3 ise, sonucu açılan pencerede gösteren kod nasıl yazılmalıdır?</a:t>
            </a:r>
          </a:p>
        </p:txBody>
      </p:sp>
      <p:sp>
        <p:nvSpPr>
          <p:cNvPr id="25604" name="Rectangle 4"/>
          <p:cNvSpPr>
            <a:spLocks noRot="1" noChangeArrowheads="1"/>
          </p:cNvSpPr>
          <p:nvPr/>
        </p:nvSpPr>
        <p:spPr bwMode="auto">
          <a:xfrm>
            <a:off x="1847850" y="2997200"/>
            <a:ext cx="8540750" cy="3024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tr-TR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&lt;script&gt;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tr-TR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x=3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tr-TR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y=20*x+12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tr-TR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alert(y)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tr-TR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61545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altLang="en-US" smtClean="0"/>
              <a:t>Examples -2</a:t>
            </a:r>
          </a:p>
        </p:txBody>
      </p:sp>
      <p:sp>
        <p:nvSpPr>
          <p:cNvPr id="9728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825625" y="1600201"/>
            <a:ext cx="8540750" cy="3700463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tr-TR" altLang="en-US" smtClean="0"/>
              <a:t>&lt;script&gt;</a:t>
            </a:r>
          </a:p>
          <a:p>
            <a:pPr>
              <a:buFontTx/>
              <a:buNone/>
            </a:pPr>
            <a:r>
              <a:rPr lang="tr-TR" altLang="en-US" smtClean="0"/>
              <a:t>s1=12</a:t>
            </a:r>
          </a:p>
          <a:p>
            <a:pPr>
              <a:buFontTx/>
              <a:buNone/>
            </a:pPr>
            <a:r>
              <a:rPr lang="tr-TR" altLang="en-US" smtClean="0"/>
              <a:t>s2=28</a:t>
            </a:r>
          </a:p>
          <a:p>
            <a:pPr>
              <a:buFontTx/>
              <a:buNone/>
            </a:pPr>
            <a:r>
              <a:rPr lang="tr-TR" altLang="en-US" smtClean="0"/>
              <a:t>toplam=s1+s2</a:t>
            </a:r>
          </a:p>
          <a:p>
            <a:pPr>
              <a:buFontTx/>
              <a:buNone/>
            </a:pPr>
            <a:r>
              <a:rPr lang="tr-TR" altLang="en-US" smtClean="0"/>
              <a:t>document.write("Sayıların toplamı: "+toplam)</a:t>
            </a:r>
          </a:p>
          <a:p>
            <a:pPr>
              <a:buFontTx/>
              <a:buNone/>
            </a:pPr>
            <a:r>
              <a:rPr lang="tr-TR" altLang="en-US" smtClean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14701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09800" y="152400"/>
            <a:ext cx="8077200" cy="914400"/>
          </a:xfrm>
        </p:spPr>
        <p:txBody>
          <a:bodyPr/>
          <a:lstStyle/>
          <a:p>
            <a:pPr algn="ctr"/>
            <a:r>
              <a:rPr lang="tr-TR" altLang="en-US" smtClean="0"/>
              <a:t>Examples -3</a:t>
            </a:r>
          </a:p>
        </p:txBody>
      </p:sp>
      <p:sp>
        <p:nvSpPr>
          <p:cNvPr id="2969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703389" y="2493964"/>
            <a:ext cx="8785225" cy="4103687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700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&lt;script&gt;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s1=12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s2=28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toplam=s1+s2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fark=s1-s2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carp=s1*s2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bol=s1/s2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document.write("&lt;br&gt;Değişkenlerdeki sayılarla ilgili aritmetik işlemler...&lt;br&gt;")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document.write("&lt;br&gt;Sayıların toplamı: "+toplam)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document.write("&lt;br&gt;Sayıların farkı: "+fark)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document.write("&lt;br&gt;Sayıların çarpımı: "+carp)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document.write("&lt;br&gt;1.sayının 2.sayıya bölümü: "+bol)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alert("Hesaplamalar sona erdi!")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900"/>
              <a:t>&lt;/script &gt;</a:t>
            </a:r>
          </a:p>
        </p:txBody>
      </p:sp>
      <p:sp>
        <p:nvSpPr>
          <p:cNvPr id="29700" name="Rectangle 4"/>
          <p:cNvSpPr>
            <a:spLocks noRot="1" noChangeArrowheads="1"/>
          </p:cNvSpPr>
          <p:nvPr/>
        </p:nvSpPr>
        <p:spPr bwMode="auto">
          <a:xfrm>
            <a:off x="1703389" y="1196976"/>
            <a:ext cx="8785225" cy="1223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tr-TR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s1=12, s2=28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tr-TR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Bu değişkenlere ait sayıların toplamlarını, farklarını, çarpımlarını ve bölümlerini ayrı satırlarda gösteren ve son olarak ekrana “Hesaplamalar sona erdi” yazısını çıkaran js kodunu oluşturunuz.</a:t>
            </a:r>
          </a:p>
        </p:txBody>
      </p:sp>
    </p:spTree>
    <p:extLst>
      <p:ext uri="{BB962C8B-B14F-4D97-AF65-F5344CB8AC3E}">
        <p14:creationId xmlns:p14="http://schemas.microsoft.com/office/powerpoint/2010/main" val="346683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altLang="en-US" smtClean="0"/>
              <a:t>Conditional Statements</a:t>
            </a:r>
          </a:p>
        </p:txBody>
      </p:sp>
      <p:sp>
        <p:nvSpPr>
          <p:cNvPr id="99331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tr-TR" altLang="en-US" sz="2000"/>
              <a:t>Very often when you write code, you want to perform different actions for different decisions. You can use conditional statements in your code to do this.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altLang="en-US" sz="200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/>
              <a:t>In JavaScript we have the following conditional statements:</a:t>
            </a:r>
          </a:p>
          <a:p>
            <a:pPr>
              <a:lnSpc>
                <a:spcPct val="80000"/>
              </a:lnSpc>
            </a:pPr>
            <a:r>
              <a:rPr lang="tr-TR" altLang="en-US" sz="2000" b="1"/>
              <a:t>if statement</a:t>
            </a:r>
            <a:r>
              <a:rPr lang="tr-TR" altLang="en-US" sz="2000"/>
              <a:t> - use this statement if you want to execute some code only if a specified condition is true </a:t>
            </a:r>
          </a:p>
          <a:p>
            <a:pPr>
              <a:lnSpc>
                <a:spcPct val="80000"/>
              </a:lnSpc>
            </a:pPr>
            <a:r>
              <a:rPr lang="tr-TR" altLang="en-US" sz="2000" b="1"/>
              <a:t>if...else statement</a:t>
            </a:r>
            <a:r>
              <a:rPr lang="tr-TR" altLang="en-US" sz="2000"/>
              <a:t> - use this statement if you want to execute some code if the condition is true and another code if the condition is false </a:t>
            </a:r>
          </a:p>
          <a:p>
            <a:pPr>
              <a:lnSpc>
                <a:spcPct val="80000"/>
              </a:lnSpc>
            </a:pPr>
            <a:r>
              <a:rPr lang="tr-TR" altLang="en-US" sz="2000" b="1"/>
              <a:t>if...else if....else statement</a:t>
            </a:r>
            <a:r>
              <a:rPr lang="tr-TR" altLang="en-US" sz="2000"/>
              <a:t> - use this statement if you want to select one of many blocks of code to be executed </a:t>
            </a:r>
          </a:p>
          <a:p>
            <a:pPr>
              <a:lnSpc>
                <a:spcPct val="80000"/>
              </a:lnSpc>
            </a:pPr>
            <a:r>
              <a:rPr lang="tr-TR" altLang="en-US" sz="2000" b="1"/>
              <a:t>switch statement</a:t>
            </a:r>
            <a:r>
              <a:rPr lang="tr-TR" altLang="en-US" sz="2000"/>
              <a:t> - use this statement if you want to select one of many blocks of code to be executed </a:t>
            </a:r>
          </a:p>
          <a:p>
            <a:pPr>
              <a:lnSpc>
                <a:spcPct val="80000"/>
              </a:lnSpc>
            </a:pPr>
            <a:endParaRPr lang="tr-TR" altLang="en-US" sz="2000"/>
          </a:p>
        </p:txBody>
      </p:sp>
    </p:spTree>
    <p:extLst>
      <p:ext uri="{BB962C8B-B14F-4D97-AF65-F5344CB8AC3E}">
        <p14:creationId xmlns:p14="http://schemas.microsoft.com/office/powerpoint/2010/main" val="252227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smtClean="0"/>
              <a:t>Conditional Statements - 2</a:t>
            </a:r>
          </a:p>
        </p:txBody>
      </p:sp>
      <p:sp>
        <p:nvSpPr>
          <p:cNvPr id="10035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tr-TR" altLang="en-US" sz="1800"/>
              <a:t>if (</a:t>
            </a:r>
            <a:r>
              <a:rPr lang="tr-TR" altLang="en-US" sz="1800" i="1"/>
              <a:t>condition</a:t>
            </a:r>
            <a:r>
              <a:rPr lang="tr-TR" altLang="en-US" sz="1800"/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800"/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800" i="1"/>
              <a:t>code to be executed if condition is true</a:t>
            </a:r>
            <a:endParaRPr lang="tr-TR" alt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1800"/>
              <a:t>}</a:t>
            </a:r>
            <a:r>
              <a:rPr lang="tr-TR" altLang="en-US"/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altLang="en-US"/>
          </a:p>
          <a:p>
            <a:pPr>
              <a:lnSpc>
                <a:spcPct val="80000"/>
              </a:lnSpc>
              <a:buFontTx/>
              <a:buNone/>
            </a:pPr>
            <a:endParaRPr lang="tr-TR" altLang="en-US" sz="200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/>
              <a:t>if (</a:t>
            </a:r>
            <a:r>
              <a:rPr lang="tr-TR" altLang="en-US" sz="2000" i="1"/>
              <a:t>condition</a:t>
            </a:r>
            <a:r>
              <a:rPr lang="tr-TR" altLang="en-US" sz="2000"/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/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i="1"/>
              <a:t>code to be executed if condition is true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/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/>
              <a:t>else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/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 i="1"/>
              <a:t>code to be executed if condition is not true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000"/>
              <a:t>} </a:t>
            </a:r>
          </a:p>
        </p:txBody>
      </p:sp>
      <p:sp>
        <p:nvSpPr>
          <p:cNvPr id="100356" name="Line 4"/>
          <p:cNvSpPr>
            <a:spLocks noChangeShapeType="1"/>
          </p:cNvSpPr>
          <p:nvPr/>
        </p:nvSpPr>
        <p:spPr bwMode="auto">
          <a:xfrm>
            <a:off x="1919289" y="3213100"/>
            <a:ext cx="8137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smtClean="0"/>
              <a:t>Conditional Statements Examples</a:t>
            </a:r>
          </a:p>
        </p:txBody>
      </p:sp>
      <p:sp>
        <p:nvSpPr>
          <p:cNvPr id="10137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825625" y="1671638"/>
            <a:ext cx="8540750" cy="434975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tr-TR" altLang="en-US" sz="2600"/>
              <a:t>&lt;script&gt;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x=3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if(x&lt;0)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alert (“negatif”)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else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alert (“pozitif”)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60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15290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altLang="en-US" sz="4000"/>
              <a:t>Conditional Statements Examples - 2</a:t>
            </a:r>
          </a:p>
        </p:txBody>
      </p:sp>
      <p:sp>
        <p:nvSpPr>
          <p:cNvPr id="10240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825625" y="1600201"/>
            <a:ext cx="8540750" cy="4276725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tr-TR" altLang="en-US" sz="2600"/>
              <a:t>&lt;script&gt;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c=confirm(“Kitap Okuyor musunuz?”)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if(c)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alert (“tebrikler walla”)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else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alert (“ayıp ettiniz ama”)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400"/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en-US" sz="2600"/>
              <a:t>&lt;/script&gt;</a:t>
            </a:r>
            <a:endParaRPr lang="tr-TR" altLang="en-US" sz="2400"/>
          </a:p>
        </p:txBody>
      </p:sp>
    </p:spTree>
    <p:extLst>
      <p:ext uri="{BB962C8B-B14F-4D97-AF65-F5344CB8AC3E}">
        <p14:creationId xmlns:p14="http://schemas.microsoft.com/office/powerpoint/2010/main" val="39408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altLang="en-US" sz="4000"/>
              <a:t>Conditional Statements Examples - 3</a:t>
            </a:r>
          </a:p>
        </p:txBody>
      </p:sp>
      <p:sp>
        <p:nvSpPr>
          <p:cNvPr id="10342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tr-TR" altLang="en-US" sz="2400"/>
              <a:t>&lt;script&gt;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/>
              <a:t>p=prompt("Ankara'nın plaka numarası nedir?", " ")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/>
              <a:t>if(p=="06")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/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/>
              <a:t>alert("Doğru")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/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/>
              <a:t>else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/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/>
              <a:t>alert("Yanlış")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/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 sz="240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50771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790</Words>
  <Application>Microsoft Office PowerPoint</Application>
  <PresentationFormat>Widescreen</PresentationFormat>
  <Paragraphs>173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Calibri Light</vt:lpstr>
      <vt:lpstr>Courier New</vt:lpstr>
      <vt:lpstr>Helvetica</vt:lpstr>
      <vt:lpstr>Lucida Grande</vt:lpstr>
      <vt:lpstr>Symbol</vt:lpstr>
      <vt:lpstr>Retrospect</vt:lpstr>
      <vt:lpstr>PowerPoint Presentation</vt:lpstr>
      <vt:lpstr>Variables</vt:lpstr>
      <vt:lpstr>Modifying a document</vt:lpstr>
      <vt:lpstr>Formatting Strings</vt:lpstr>
      <vt:lpstr>Functions</vt:lpstr>
      <vt:lpstr>More Programming Constructs</vt:lpstr>
      <vt:lpstr>Interaction</vt:lpstr>
      <vt:lpstr>Learning from Others</vt:lpstr>
      <vt:lpstr>Example</vt:lpstr>
      <vt:lpstr>JS Examples -1</vt:lpstr>
      <vt:lpstr>Examples -2</vt:lpstr>
      <vt:lpstr>Examples -3</vt:lpstr>
      <vt:lpstr>Conditional Statements</vt:lpstr>
      <vt:lpstr>Conditional Statements - 2</vt:lpstr>
      <vt:lpstr>Conditional Statements Examples</vt:lpstr>
      <vt:lpstr>Conditional Statements Examples - 2</vt:lpstr>
      <vt:lpstr>Conditional Statements Examples - 3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1</cp:revision>
  <dcterms:created xsi:type="dcterms:W3CDTF">2019-11-19T15:57:15Z</dcterms:created>
  <dcterms:modified xsi:type="dcterms:W3CDTF">2019-11-19T15:57:51Z</dcterms:modified>
</cp:coreProperties>
</file>