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B131-D0B7-40B0-ABD0-5E7B39C1A40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E2676-3E9F-4F24-8476-64CAB151F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2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D783E0-EF53-4AC5-AED4-20ECE3D1BF5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3312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66825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437DD8-DF03-4B6F-8DB0-8C73E21883C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34147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9100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96B5AA-AADA-4677-9E2F-90B7DF6EDD00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35171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6113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55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35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4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5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8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4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6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30AD7E-78DB-41B5-B67F-16E5B91FCAF8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8977A7B-A1C7-4640-961B-5F62A256AA8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322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Object Hierarchy</a:t>
            </a:r>
          </a:p>
        </p:txBody>
      </p:sp>
      <p:sp>
        <p:nvSpPr>
          <p:cNvPr id="45059" name="Text Box 5"/>
          <p:cNvSpPr txBox="1">
            <a:spLocks noChangeArrowheads="1"/>
          </p:cNvSpPr>
          <p:nvPr/>
        </p:nvSpPr>
        <p:spPr bwMode="auto">
          <a:xfrm>
            <a:off x="5029200" y="236220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window</a:t>
            </a:r>
          </a:p>
        </p:txBody>
      </p:sp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2590800" y="38100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link</a:t>
            </a:r>
          </a:p>
        </p:txBody>
      </p:sp>
      <p:sp>
        <p:nvSpPr>
          <p:cNvPr id="45061" name="Text Box 7"/>
          <p:cNvSpPr txBox="1">
            <a:spLocks noChangeArrowheads="1"/>
          </p:cNvSpPr>
          <p:nvPr/>
        </p:nvSpPr>
        <p:spPr bwMode="auto">
          <a:xfrm>
            <a:off x="3657600" y="38100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anchor</a:t>
            </a:r>
          </a:p>
        </p:txBody>
      </p:sp>
      <p:sp>
        <p:nvSpPr>
          <p:cNvPr id="45062" name="Text Box 8"/>
          <p:cNvSpPr txBox="1">
            <a:spLocks noChangeArrowheads="1"/>
          </p:cNvSpPr>
          <p:nvPr/>
        </p:nvSpPr>
        <p:spPr bwMode="auto">
          <a:xfrm>
            <a:off x="4648200" y="38100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layer</a:t>
            </a:r>
          </a:p>
        </p:txBody>
      </p:sp>
      <p:sp>
        <p:nvSpPr>
          <p:cNvPr id="45063" name="Text Box 9"/>
          <p:cNvSpPr txBox="1">
            <a:spLocks noChangeArrowheads="1"/>
          </p:cNvSpPr>
          <p:nvPr/>
        </p:nvSpPr>
        <p:spPr bwMode="auto">
          <a:xfrm>
            <a:off x="5410200" y="38100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form</a:t>
            </a:r>
          </a:p>
        </p:txBody>
      </p:sp>
      <p:sp>
        <p:nvSpPr>
          <p:cNvPr id="45064" name="Text Box 10"/>
          <p:cNvSpPr txBox="1">
            <a:spLocks noChangeArrowheads="1"/>
          </p:cNvSpPr>
          <p:nvPr/>
        </p:nvSpPr>
        <p:spPr bwMode="auto">
          <a:xfrm>
            <a:off x="6248400" y="38100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applet</a:t>
            </a:r>
          </a:p>
        </p:txBody>
      </p:sp>
      <p:sp>
        <p:nvSpPr>
          <p:cNvPr id="45065" name="Text Box 11"/>
          <p:cNvSpPr txBox="1">
            <a:spLocks noChangeArrowheads="1"/>
          </p:cNvSpPr>
          <p:nvPr/>
        </p:nvSpPr>
        <p:spPr bwMode="auto">
          <a:xfrm>
            <a:off x="7162800" y="38100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image</a:t>
            </a:r>
          </a:p>
        </p:txBody>
      </p:sp>
      <p:sp>
        <p:nvSpPr>
          <p:cNvPr id="45066" name="Text Box 12"/>
          <p:cNvSpPr txBox="1">
            <a:spLocks noChangeArrowheads="1"/>
          </p:cNvSpPr>
          <p:nvPr/>
        </p:nvSpPr>
        <p:spPr bwMode="auto">
          <a:xfrm>
            <a:off x="8458200" y="38100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area</a:t>
            </a:r>
          </a:p>
        </p:txBody>
      </p:sp>
      <p:sp>
        <p:nvSpPr>
          <p:cNvPr id="45067" name="Text Box 13"/>
          <p:cNvSpPr txBox="1">
            <a:spLocks noChangeArrowheads="1"/>
          </p:cNvSpPr>
          <p:nvPr/>
        </p:nvSpPr>
        <p:spPr bwMode="auto">
          <a:xfrm>
            <a:off x="4191000" y="31242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history</a:t>
            </a:r>
          </a:p>
        </p:txBody>
      </p:sp>
      <p:sp>
        <p:nvSpPr>
          <p:cNvPr id="45068" name="Text Box 14"/>
          <p:cNvSpPr txBox="1">
            <a:spLocks noChangeArrowheads="1"/>
          </p:cNvSpPr>
          <p:nvPr/>
        </p:nvSpPr>
        <p:spPr bwMode="auto">
          <a:xfrm>
            <a:off x="5257800" y="31242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document</a:t>
            </a:r>
          </a:p>
        </p:txBody>
      </p:sp>
      <p:sp>
        <p:nvSpPr>
          <p:cNvPr id="45069" name="Text Box 15"/>
          <p:cNvSpPr txBox="1">
            <a:spLocks noChangeArrowheads="1"/>
          </p:cNvSpPr>
          <p:nvPr/>
        </p:nvSpPr>
        <p:spPr bwMode="auto">
          <a:xfrm>
            <a:off x="6553200" y="31242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location</a:t>
            </a:r>
          </a:p>
        </p:txBody>
      </p:sp>
      <p:sp>
        <p:nvSpPr>
          <p:cNvPr id="45070" name="Text Box 16"/>
          <p:cNvSpPr txBox="1">
            <a:spLocks noChangeArrowheads="1"/>
          </p:cNvSpPr>
          <p:nvPr/>
        </p:nvSpPr>
        <p:spPr bwMode="auto">
          <a:xfrm>
            <a:off x="7543800" y="31242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link</a:t>
            </a:r>
          </a:p>
        </p:txBody>
      </p:sp>
      <p:sp>
        <p:nvSpPr>
          <p:cNvPr id="45071" name="Line 17"/>
          <p:cNvSpPr>
            <a:spLocks noChangeShapeType="1"/>
          </p:cNvSpPr>
          <p:nvPr/>
        </p:nvSpPr>
        <p:spPr bwMode="auto">
          <a:xfrm>
            <a:off x="4495800" y="28956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Line 18"/>
          <p:cNvSpPr>
            <a:spLocks noChangeShapeType="1"/>
          </p:cNvSpPr>
          <p:nvPr/>
        </p:nvSpPr>
        <p:spPr bwMode="auto">
          <a:xfrm>
            <a:off x="5638800" y="26670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Line 19"/>
          <p:cNvSpPr>
            <a:spLocks noChangeShapeType="1"/>
          </p:cNvSpPr>
          <p:nvPr/>
        </p:nvSpPr>
        <p:spPr bwMode="auto">
          <a:xfrm>
            <a:off x="4495800" y="2895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4" name="Line 20"/>
          <p:cNvSpPr>
            <a:spLocks noChangeShapeType="1"/>
          </p:cNvSpPr>
          <p:nvPr/>
        </p:nvSpPr>
        <p:spPr bwMode="auto">
          <a:xfrm>
            <a:off x="5638800" y="2895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5" name="Line 21"/>
          <p:cNvSpPr>
            <a:spLocks noChangeShapeType="1"/>
          </p:cNvSpPr>
          <p:nvPr/>
        </p:nvSpPr>
        <p:spPr bwMode="auto">
          <a:xfrm>
            <a:off x="6934200" y="2895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6" name="Line 22"/>
          <p:cNvSpPr>
            <a:spLocks noChangeShapeType="1"/>
          </p:cNvSpPr>
          <p:nvPr/>
        </p:nvSpPr>
        <p:spPr bwMode="auto">
          <a:xfrm>
            <a:off x="7848600" y="2895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7" name="Line 23"/>
          <p:cNvSpPr>
            <a:spLocks noChangeShapeType="1"/>
          </p:cNvSpPr>
          <p:nvPr/>
        </p:nvSpPr>
        <p:spPr bwMode="auto">
          <a:xfrm>
            <a:off x="2895600" y="3657600"/>
            <a:ext cx="586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8" name="Line 24"/>
          <p:cNvSpPr>
            <a:spLocks noChangeShapeType="1"/>
          </p:cNvSpPr>
          <p:nvPr/>
        </p:nvSpPr>
        <p:spPr bwMode="auto">
          <a:xfrm>
            <a:off x="5638800" y="3429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9" name="Line 25"/>
          <p:cNvSpPr>
            <a:spLocks noChangeShapeType="1"/>
          </p:cNvSpPr>
          <p:nvPr/>
        </p:nvSpPr>
        <p:spPr bwMode="auto">
          <a:xfrm>
            <a:off x="2895600" y="3657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0" name="Line 26"/>
          <p:cNvSpPr>
            <a:spLocks noChangeShapeType="1"/>
          </p:cNvSpPr>
          <p:nvPr/>
        </p:nvSpPr>
        <p:spPr bwMode="auto">
          <a:xfrm>
            <a:off x="3962400" y="3657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1" name="Line 27"/>
          <p:cNvSpPr>
            <a:spLocks noChangeShapeType="1"/>
          </p:cNvSpPr>
          <p:nvPr/>
        </p:nvSpPr>
        <p:spPr bwMode="auto">
          <a:xfrm>
            <a:off x="4953000" y="3657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2" name="Line 28"/>
          <p:cNvSpPr>
            <a:spLocks noChangeShapeType="1"/>
          </p:cNvSpPr>
          <p:nvPr/>
        </p:nvSpPr>
        <p:spPr bwMode="auto">
          <a:xfrm>
            <a:off x="6553200" y="3657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3" name="Line 29"/>
          <p:cNvSpPr>
            <a:spLocks noChangeShapeType="1"/>
          </p:cNvSpPr>
          <p:nvPr/>
        </p:nvSpPr>
        <p:spPr bwMode="auto">
          <a:xfrm>
            <a:off x="7543800" y="3657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4" name="Line 30"/>
          <p:cNvSpPr>
            <a:spLocks noChangeShapeType="1"/>
          </p:cNvSpPr>
          <p:nvPr/>
        </p:nvSpPr>
        <p:spPr bwMode="auto">
          <a:xfrm>
            <a:off x="8763000" y="3657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5" name="Line 31"/>
          <p:cNvSpPr>
            <a:spLocks noChangeShapeType="1"/>
          </p:cNvSpPr>
          <p:nvPr/>
        </p:nvSpPr>
        <p:spPr bwMode="auto">
          <a:xfrm>
            <a:off x="3962400" y="441960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6" name="Text Box 32"/>
          <p:cNvSpPr txBox="1">
            <a:spLocks noChangeArrowheads="1"/>
          </p:cNvSpPr>
          <p:nvPr/>
        </p:nvSpPr>
        <p:spPr bwMode="auto">
          <a:xfrm>
            <a:off x="3657600" y="47244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text</a:t>
            </a:r>
          </a:p>
        </p:txBody>
      </p:sp>
      <p:sp>
        <p:nvSpPr>
          <p:cNvPr id="45087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radio</a:t>
            </a:r>
          </a:p>
        </p:txBody>
      </p:sp>
      <p:sp>
        <p:nvSpPr>
          <p:cNvPr id="45088" name="Text Box 34"/>
          <p:cNvSpPr txBox="1">
            <a:spLocks noChangeArrowheads="1"/>
          </p:cNvSpPr>
          <p:nvPr/>
        </p:nvSpPr>
        <p:spPr bwMode="auto">
          <a:xfrm>
            <a:off x="5410200" y="47244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button</a:t>
            </a:r>
          </a:p>
        </p:txBody>
      </p:sp>
      <p:sp>
        <p:nvSpPr>
          <p:cNvPr id="45089" name="Text Box 35"/>
          <p:cNvSpPr txBox="1">
            <a:spLocks noChangeArrowheads="1"/>
          </p:cNvSpPr>
          <p:nvPr/>
        </p:nvSpPr>
        <p:spPr bwMode="auto">
          <a:xfrm>
            <a:off x="6324600" y="4724400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fileUpload</a:t>
            </a:r>
          </a:p>
        </p:txBody>
      </p:sp>
      <p:sp>
        <p:nvSpPr>
          <p:cNvPr id="45090" name="Text Box 36"/>
          <p:cNvSpPr txBox="1">
            <a:spLocks noChangeArrowheads="1"/>
          </p:cNvSpPr>
          <p:nvPr/>
        </p:nvSpPr>
        <p:spPr bwMode="auto">
          <a:xfrm>
            <a:off x="7543800" y="47244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select</a:t>
            </a:r>
          </a:p>
        </p:txBody>
      </p:sp>
      <p:sp>
        <p:nvSpPr>
          <p:cNvPr id="45091" name="Line 38"/>
          <p:cNvSpPr>
            <a:spLocks noChangeShapeType="1"/>
          </p:cNvSpPr>
          <p:nvPr/>
        </p:nvSpPr>
        <p:spPr bwMode="auto">
          <a:xfrm>
            <a:off x="3962400" y="4419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2" name="Line 39"/>
          <p:cNvSpPr>
            <a:spLocks noChangeShapeType="1"/>
          </p:cNvSpPr>
          <p:nvPr/>
        </p:nvSpPr>
        <p:spPr bwMode="auto">
          <a:xfrm>
            <a:off x="4876800" y="4419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3" name="Line 40"/>
          <p:cNvSpPr>
            <a:spLocks noChangeShapeType="1"/>
          </p:cNvSpPr>
          <p:nvPr/>
        </p:nvSpPr>
        <p:spPr bwMode="auto">
          <a:xfrm>
            <a:off x="6629400" y="4419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4" name="Line 41"/>
          <p:cNvSpPr>
            <a:spLocks noChangeShapeType="1"/>
          </p:cNvSpPr>
          <p:nvPr/>
        </p:nvSpPr>
        <p:spPr bwMode="auto">
          <a:xfrm>
            <a:off x="7848600" y="4419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5" name="Line 42"/>
          <p:cNvSpPr>
            <a:spLocks noChangeShapeType="1"/>
          </p:cNvSpPr>
          <p:nvPr/>
        </p:nvSpPr>
        <p:spPr bwMode="auto">
          <a:xfrm>
            <a:off x="5638800" y="4114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6" name="Text Box 43"/>
          <p:cNvSpPr txBox="1">
            <a:spLocks noChangeArrowheads="1"/>
          </p:cNvSpPr>
          <p:nvPr/>
        </p:nvSpPr>
        <p:spPr bwMode="auto">
          <a:xfrm>
            <a:off x="3505200" y="525780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textarea</a:t>
            </a:r>
          </a:p>
        </p:txBody>
      </p:sp>
      <p:sp>
        <p:nvSpPr>
          <p:cNvPr id="45097" name="Text Box 44"/>
          <p:cNvSpPr txBox="1">
            <a:spLocks noChangeArrowheads="1"/>
          </p:cNvSpPr>
          <p:nvPr/>
        </p:nvSpPr>
        <p:spPr bwMode="auto">
          <a:xfrm>
            <a:off x="3505200" y="57150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password</a:t>
            </a:r>
          </a:p>
        </p:txBody>
      </p:sp>
      <p:sp>
        <p:nvSpPr>
          <p:cNvPr id="45098" name="Text Box 45"/>
          <p:cNvSpPr txBox="1">
            <a:spLocks noChangeArrowheads="1"/>
          </p:cNvSpPr>
          <p:nvPr/>
        </p:nvSpPr>
        <p:spPr bwMode="auto">
          <a:xfrm>
            <a:off x="4419600" y="5257800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checkbox</a:t>
            </a:r>
          </a:p>
        </p:txBody>
      </p:sp>
      <p:sp>
        <p:nvSpPr>
          <p:cNvPr id="45099" name="Text Box 46"/>
          <p:cNvSpPr txBox="1">
            <a:spLocks noChangeArrowheads="1"/>
          </p:cNvSpPr>
          <p:nvPr/>
        </p:nvSpPr>
        <p:spPr bwMode="auto">
          <a:xfrm>
            <a:off x="5486400" y="52578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reset</a:t>
            </a:r>
          </a:p>
        </p:txBody>
      </p:sp>
      <p:sp>
        <p:nvSpPr>
          <p:cNvPr id="45100" name="Text Box 47"/>
          <p:cNvSpPr txBox="1">
            <a:spLocks noChangeArrowheads="1"/>
          </p:cNvSpPr>
          <p:nvPr/>
        </p:nvSpPr>
        <p:spPr bwMode="auto">
          <a:xfrm>
            <a:off x="5410200" y="57912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submit</a:t>
            </a:r>
          </a:p>
        </p:txBody>
      </p:sp>
      <p:sp>
        <p:nvSpPr>
          <p:cNvPr id="45101" name="Text Box 49"/>
          <p:cNvSpPr txBox="1">
            <a:spLocks noChangeArrowheads="1"/>
          </p:cNvSpPr>
          <p:nvPr/>
        </p:nvSpPr>
        <p:spPr bwMode="auto">
          <a:xfrm>
            <a:off x="7467600" y="52578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option</a:t>
            </a:r>
          </a:p>
        </p:txBody>
      </p:sp>
    </p:spTree>
    <p:extLst>
      <p:ext uri="{BB962C8B-B14F-4D97-AF65-F5344CB8AC3E}">
        <p14:creationId xmlns:p14="http://schemas.microsoft.com/office/powerpoint/2010/main" val="130318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altLang="en-US" smtClean="0"/>
              <a:t>Objects in JavaScript</a:t>
            </a:r>
            <a:endParaRPr lang="en-US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CA" altLang="en-US"/>
              <a:t>An object is a complex type of variable that contains its own variables (properties), and has its own functions (methods)</a:t>
            </a:r>
          </a:p>
          <a:p>
            <a:pPr lvl="1">
              <a:lnSpc>
                <a:spcPct val="80000"/>
              </a:lnSpc>
            </a:pPr>
            <a:r>
              <a:rPr lang="en-CA" altLang="en-US"/>
              <a:t>Properties</a:t>
            </a:r>
          </a:p>
          <a:p>
            <a:pPr lvl="2">
              <a:lnSpc>
                <a:spcPct val="80000"/>
              </a:lnSpc>
            </a:pPr>
            <a:r>
              <a:rPr lang="en-CA" altLang="en-US"/>
              <a:t>The variables of an object</a:t>
            </a:r>
          </a:p>
          <a:p>
            <a:pPr lvl="2">
              <a:lnSpc>
                <a:spcPct val="80000"/>
              </a:lnSpc>
            </a:pPr>
            <a:r>
              <a:rPr lang="en-CA" altLang="en-US"/>
              <a:t>Can also be other objects</a:t>
            </a:r>
          </a:p>
          <a:p>
            <a:pPr lvl="1">
              <a:lnSpc>
                <a:spcPct val="80000"/>
              </a:lnSpc>
            </a:pPr>
            <a:r>
              <a:rPr lang="en-CA" altLang="en-US"/>
              <a:t>Methods</a:t>
            </a:r>
          </a:p>
          <a:p>
            <a:pPr lvl="2">
              <a:lnSpc>
                <a:spcPct val="80000"/>
              </a:lnSpc>
            </a:pPr>
            <a:r>
              <a:rPr lang="en-CA" altLang="en-US"/>
              <a:t>The functions that belong to an object</a:t>
            </a:r>
          </a:p>
          <a:p>
            <a:pPr lvl="3">
              <a:lnSpc>
                <a:spcPct val="80000"/>
              </a:lnSpc>
            </a:pPr>
            <a:r>
              <a:rPr lang="en-CA" altLang="en-US"/>
              <a:t>e.g. document.bgColor, window.location</a:t>
            </a:r>
          </a:p>
          <a:p>
            <a:pPr>
              <a:lnSpc>
                <a:spcPct val="80000"/>
              </a:lnSpc>
            </a:pPr>
            <a:r>
              <a:rPr lang="en-CA" altLang="en-US"/>
              <a:t>You can also define your own objects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9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Objects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/>
              <a:t>window - the current browser window</a:t>
            </a:r>
          </a:p>
          <a:p>
            <a:r>
              <a:rPr lang="en-US" altLang="en-US" sz="2400"/>
              <a:t>window.history - the Netscape history list</a:t>
            </a:r>
          </a:p>
          <a:p>
            <a:r>
              <a:rPr lang="en-US" altLang="en-US" sz="2400"/>
              <a:t>window.document - the html document currently in the browser client area</a:t>
            </a:r>
          </a:p>
          <a:p>
            <a:r>
              <a:rPr lang="en-US" altLang="en-US" sz="2400"/>
              <a:t>window.location - the browser location field</a:t>
            </a:r>
          </a:p>
          <a:p>
            <a:r>
              <a:rPr lang="en-US" altLang="en-US" sz="2400"/>
              <a:t>window.toolbar - the browser toolbar</a:t>
            </a:r>
          </a:p>
          <a:p>
            <a:r>
              <a:rPr lang="en-US" altLang="en-US" sz="2400"/>
              <a:t>window.document.link - an array containing all of the links in the document</a:t>
            </a:r>
          </a:p>
          <a:p>
            <a:r>
              <a:rPr lang="en-US" altLang="en-US" sz="2400"/>
              <a:t>window.document.anchor - an array of all the anchor points in the document 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094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Objects (more…)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/>
              <a:t>Window.document.layer - a named document layer</a:t>
            </a:r>
          </a:p>
          <a:p>
            <a:r>
              <a:rPr lang="en-US" altLang="en-US" sz="2400"/>
              <a:t>window.document.applet - a named java applet area</a:t>
            </a:r>
          </a:p>
          <a:p>
            <a:r>
              <a:rPr lang="en-US" altLang="en-US" sz="2400"/>
              <a:t>window.document.image- a named image tag</a:t>
            </a:r>
          </a:p>
          <a:p>
            <a:r>
              <a:rPr lang="en-US" altLang="en-US" sz="2400"/>
              <a:t>window.document.area - a named area</a:t>
            </a:r>
          </a:p>
          <a:p>
            <a:r>
              <a:rPr lang="en-US" altLang="en-US" sz="2400"/>
              <a:t>window.document.form - a named form or the default form</a:t>
            </a:r>
          </a:p>
          <a:p>
            <a:r>
              <a:rPr lang="en-US" altLang="en-US" sz="2400"/>
              <a:t>ect, ect</a:t>
            </a:r>
          </a:p>
        </p:txBody>
      </p:sp>
    </p:spTree>
    <p:extLst>
      <p:ext uri="{BB962C8B-B14F-4D97-AF65-F5344CB8AC3E}">
        <p14:creationId xmlns:p14="http://schemas.microsoft.com/office/powerpoint/2010/main" val="48212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A few examples...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window.location = “http://www.yahoo.com”</a:t>
            </a:r>
          </a:p>
          <a:p>
            <a:pPr lvl="1"/>
            <a:r>
              <a:rPr lang="en-US" altLang="en-US" sz="2000"/>
              <a:t>will take you to the specified URL (like a goto)</a:t>
            </a:r>
          </a:p>
          <a:p>
            <a:r>
              <a:rPr lang="en-US" altLang="en-US" sz="2400"/>
              <a:t>window.history.back()</a:t>
            </a:r>
          </a:p>
          <a:p>
            <a:pPr lvl="1"/>
            <a:r>
              <a:rPr lang="en-US" altLang="en-US" sz="2000"/>
              <a:t>back() is a method on history</a:t>
            </a:r>
          </a:p>
          <a:p>
            <a:pPr lvl="1"/>
            <a:r>
              <a:rPr lang="en-US" altLang="en-US" sz="2000"/>
              <a:t>will be like clicking the back button in Nav 3 </a:t>
            </a:r>
          </a:p>
          <a:p>
            <a:pPr lvl="1"/>
            <a:r>
              <a:rPr lang="en-US" altLang="en-US" sz="2000"/>
              <a:t>in Nav 4 will take you back to prev window</a:t>
            </a:r>
          </a:p>
          <a:p>
            <a:r>
              <a:rPr lang="en-US" altLang="en-US" sz="2400"/>
              <a:t>window.history.goto(1)</a:t>
            </a:r>
          </a:p>
          <a:p>
            <a:pPr lvl="1"/>
            <a:r>
              <a:rPr lang="en-US" altLang="en-US" sz="2000"/>
              <a:t>takes you back to first URL in history array </a:t>
            </a:r>
          </a:p>
          <a:p>
            <a:endParaRPr lang="en-US" altLang="en-US" sz="2400"/>
          </a:p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86603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The Object Model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It is very important to understand the object model</a:t>
            </a:r>
          </a:p>
          <a:p>
            <a:r>
              <a:rPr lang="en-US" altLang="en-US" smtClean="0"/>
              <a:t>each object has its own properties, some of which are read only some of which you can set directly by assignment (as location) </a:t>
            </a:r>
          </a:p>
          <a:p>
            <a:r>
              <a:rPr lang="en-US" altLang="en-US" smtClean="0"/>
              <a:t>each object also has a set of behaviors called methods </a:t>
            </a:r>
          </a:p>
        </p:txBody>
      </p:sp>
    </p:spTree>
    <p:extLst>
      <p:ext uri="{BB962C8B-B14F-4D97-AF65-F5344CB8AC3E}">
        <p14:creationId xmlns:p14="http://schemas.microsoft.com/office/powerpoint/2010/main" val="160864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Object Model</a:t>
            </a:r>
          </a:p>
        </p:txBody>
      </p:sp>
      <p:sp>
        <p:nvSpPr>
          <p:cNvPr id="51203" name="Oval 3"/>
          <p:cNvSpPr>
            <a:spLocks noChangeArrowheads="1"/>
          </p:cNvSpPr>
          <p:nvPr/>
        </p:nvSpPr>
        <p:spPr bwMode="auto">
          <a:xfrm>
            <a:off x="3124200" y="2209800"/>
            <a:ext cx="4800600" cy="4419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4572000" y="3657600"/>
            <a:ext cx="1828800" cy="1752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4953000" y="2286000"/>
            <a:ext cx="38100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 flipH="1">
            <a:off x="6096000" y="3048000"/>
            <a:ext cx="1295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4953000" y="3810000"/>
            <a:ext cx="11430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defaultValue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form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name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type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value</a:t>
            </a:r>
            <a:endParaRPr lang="en-US" altLang="en-US"/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8305800" y="51054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/>
              <a:t>Red - gettable and settable</a:t>
            </a: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5562600" y="2743200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=</a:t>
            </a: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6172200" y="5105400"/>
            <a:ext cx="9144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 flipH="1">
            <a:off x="4419600" y="5257800"/>
            <a:ext cx="60960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 flipH="1" flipV="1">
            <a:off x="3124200" y="4343400"/>
            <a:ext cx="1447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3733800" y="35052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 l u r ()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3505200" y="50292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focus()</a:t>
            </a:r>
          </a:p>
        </p:txBody>
      </p:sp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5029200" y="5867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handleEvent</a:t>
            </a: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6553200" y="44196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Select()</a:t>
            </a:r>
          </a:p>
        </p:txBody>
      </p:sp>
      <p:sp>
        <p:nvSpPr>
          <p:cNvPr id="51217" name="Text Box 17"/>
          <p:cNvSpPr txBox="1">
            <a:spLocks noChangeArrowheads="1"/>
          </p:cNvSpPr>
          <p:nvPr/>
        </p:nvSpPr>
        <p:spPr bwMode="auto">
          <a:xfrm>
            <a:off x="8077200" y="2590801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Text Object</a:t>
            </a:r>
          </a:p>
          <a:p>
            <a:pPr>
              <a:spcBef>
                <a:spcPct val="50000"/>
              </a:spcBef>
            </a:pPr>
            <a:r>
              <a:rPr lang="en-US" altLang="en-US" sz="2000"/>
              <a:t>HTML text tag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11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Object Event Handlers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/>
              <a:t>Most objects respond to asynchronous, user generated events through  predefined event handlers that handle the event and transfer control to a user written event handling function  </a:t>
            </a:r>
          </a:p>
          <a:p>
            <a:r>
              <a:rPr lang="en-US" altLang="en-US" sz="2400"/>
              <a:t>Each object has particular events that they will respond to</a:t>
            </a:r>
          </a:p>
          <a:p>
            <a:r>
              <a:rPr lang="en-US" altLang="en-US" sz="2400"/>
              <a:t>the way you specify an event handler is by adding an additional attribute to the HTML tag that specifies the particular handler</a:t>
            </a:r>
          </a:p>
          <a:p>
            <a:r>
              <a:rPr lang="en-US" altLang="en-US" sz="2400"/>
              <a:t>&lt;input name=bt1 type=button value=ok onClick=“acb();”&gt;</a:t>
            </a:r>
          </a:p>
        </p:txBody>
      </p:sp>
    </p:spTree>
    <p:extLst>
      <p:ext uri="{BB962C8B-B14F-4D97-AF65-F5344CB8AC3E}">
        <p14:creationId xmlns:p14="http://schemas.microsoft.com/office/powerpoint/2010/main" val="43514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Events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en-US" sz="1800"/>
              <a:t>onAbort</a:t>
            </a:r>
          </a:p>
          <a:p>
            <a:r>
              <a:rPr lang="en-US" altLang="en-US" sz="1800"/>
              <a:t>onBlur</a:t>
            </a:r>
          </a:p>
          <a:p>
            <a:r>
              <a:rPr lang="en-US" altLang="en-US" sz="1800"/>
              <a:t>onChange</a:t>
            </a:r>
          </a:p>
          <a:p>
            <a:r>
              <a:rPr lang="en-US" altLang="en-US" sz="1800"/>
              <a:t>onClick</a:t>
            </a:r>
          </a:p>
          <a:p>
            <a:r>
              <a:rPr lang="en-US" altLang="en-US" sz="1800"/>
              <a:t>onError</a:t>
            </a:r>
          </a:p>
          <a:p>
            <a:r>
              <a:rPr lang="en-US" altLang="en-US" sz="1800"/>
              <a:t>onFocus</a:t>
            </a:r>
          </a:p>
          <a:p>
            <a:r>
              <a:rPr lang="en-US" altLang="en-US" sz="1800"/>
              <a:t>onLoad</a:t>
            </a:r>
          </a:p>
          <a:p>
            <a:r>
              <a:rPr lang="en-US" altLang="en-US" sz="1800"/>
              <a:t>onMouseOut</a:t>
            </a:r>
          </a:p>
          <a:p>
            <a:r>
              <a:rPr lang="en-US" altLang="en-US" sz="1800"/>
              <a:t>onMouseOver</a:t>
            </a:r>
          </a:p>
          <a:p>
            <a:r>
              <a:rPr lang="en-US" altLang="en-US" sz="1800"/>
              <a:t>onReset</a:t>
            </a:r>
          </a:p>
          <a:p>
            <a:r>
              <a:rPr lang="en-US" altLang="en-US" sz="1800"/>
              <a:t>onSelect</a:t>
            </a:r>
          </a:p>
          <a:p>
            <a:r>
              <a:rPr lang="en-US" altLang="en-US" sz="1800"/>
              <a:t>onSubmit</a:t>
            </a:r>
          </a:p>
          <a:p>
            <a:r>
              <a:rPr lang="en-US" altLang="en-US" sz="1800"/>
              <a:t>onUnload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244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onAbort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Activated when a user aborts the loading of an image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895600" y="3810001"/>
            <a:ext cx="6781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400"/>
              <a:t>&lt;img name=ball src=images/ball.gif onAbort=“alert(‘You missed a nice picture’)”&gt;</a:t>
            </a:r>
          </a:p>
        </p:txBody>
      </p:sp>
    </p:spTree>
    <p:extLst>
      <p:ext uri="{BB962C8B-B14F-4D97-AF65-F5344CB8AC3E}">
        <p14:creationId xmlns:p14="http://schemas.microsoft.com/office/powerpoint/2010/main" val="212868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onBlur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frame, select, text, textarea and window objects</a:t>
            </a:r>
          </a:p>
          <a:p>
            <a:r>
              <a:rPr lang="en-US" altLang="en-US" smtClean="0"/>
              <a:t>invoked when an object loses the focus</a:t>
            </a:r>
          </a:p>
          <a:p>
            <a:r>
              <a:rPr lang="en-US" altLang="en-US" smtClean="0"/>
              <a:t>use with select, text and textarea for data validation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8000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onChange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select, text and textarea objects</a:t>
            </a:r>
          </a:p>
          <a:p>
            <a:r>
              <a:rPr lang="en-US" altLang="en-US" smtClean="0"/>
              <a:t>use instead of onBlur to validate only if a value has changed</a:t>
            </a:r>
          </a:p>
        </p:txBody>
      </p:sp>
      <p:sp>
        <p:nvSpPr>
          <p:cNvPr id="56324" name="Text Box 5"/>
          <p:cNvSpPr txBox="1">
            <a:spLocks noChangeArrowheads="1"/>
          </p:cNvSpPr>
          <p:nvPr/>
        </p:nvSpPr>
        <p:spPr bwMode="auto">
          <a:xfrm>
            <a:off x="2819400" y="3733800"/>
            <a:ext cx="69342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000"/>
              <a:t>&lt;form&gt;</a:t>
            </a:r>
          </a:p>
          <a:p>
            <a:pPr algn="l">
              <a:spcBef>
                <a:spcPct val="50000"/>
              </a:spcBef>
            </a:pPr>
            <a:r>
              <a:rPr lang="en-US" altLang="en-US" sz="2000"/>
              <a:t>Color: &lt;select onChange=“processSelection()”&gt;</a:t>
            </a:r>
          </a:p>
          <a:p>
            <a:pPr algn="l">
              <a:spcBef>
                <a:spcPct val="50000"/>
              </a:spcBef>
            </a:pPr>
            <a:r>
              <a:rPr lang="en-US" altLang="en-US" sz="2000"/>
              <a:t>&lt;option value=“R”&gt;Red</a:t>
            </a:r>
          </a:p>
          <a:p>
            <a:pPr algn="l">
              <a:spcBef>
                <a:spcPct val="50000"/>
              </a:spcBef>
            </a:pPr>
            <a:r>
              <a:rPr lang="en-US" altLang="en-US" sz="2000"/>
              <a:t>&lt;option value=“G”&gt;Green</a:t>
            </a:r>
          </a:p>
          <a:p>
            <a:pPr algn="l">
              <a:spcBef>
                <a:spcPct val="50000"/>
              </a:spcBef>
            </a:pPr>
            <a:r>
              <a:rPr lang="en-US" altLang="en-US" sz="2000"/>
              <a:t>&lt;option value=“B”&gt;Blue</a:t>
            </a:r>
          </a:p>
          <a:p>
            <a:pPr algn="l">
              <a:spcBef>
                <a:spcPct val="50000"/>
              </a:spcBef>
            </a:pPr>
            <a:r>
              <a:rPr lang="en-US" altLang="en-US" sz="2000"/>
              <a:t>&lt;/select&gt;</a:t>
            </a:r>
          </a:p>
          <a:p>
            <a:pPr algn="l">
              <a:spcBef>
                <a:spcPct val="50000"/>
              </a:spcBef>
            </a:pPr>
            <a:r>
              <a:rPr lang="en-US" altLang="en-US" sz="200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43496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onClick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button, checkbox,link, radio, reset, and submit objects.</a:t>
            </a:r>
          </a:p>
          <a:p>
            <a:endParaRPr lang="en-US" altLang="en-US" smtClean="0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2743201" y="3810000"/>
            <a:ext cx="6689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&lt;input type=button name=btn1 value=“Click Me”  onClick=“alert(‘button was clicked’;” &gt;</a:t>
            </a:r>
          </a:p>
        </p:txBody>
      </p:sp>
    </p:spTree>
    <p:extLst>
      <p:ext uri="{BB962C8B-B14F-4D97-AF65-F5344CB8AC3E}">
        <p14:creationId xmlns:p14="http://schemas.microsoft.com/office/powerpoint/2010/main" val="34826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onError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image and window objects to invoke a handler if an error occurs while an image or window is loading.</a:t>
            </a:r>
          </a:p>
          <a:p>
            <a:r>
              <a:rPr lang="en-US" altLang="en-US" smtClean="0"/>
              <a:t>Setting window.onerror = null will prevent users from seeing JavaScript generated errors</a:t>
            </a:r>
          </a:p>
        </p:txBody>
      </p:sp>
    </p:spTree>
    <p:extLst>
      <p:ext uri="{BB962C8B-B14F-4D97-AF65-F5344CB8AC3E}">
        <p14:creationId xmlns:p14="http://schemas.microsoft.com/office/powerpoint/2010/main" val="247324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onFocus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frame, select, text, textarea and window objects.</a:t>
            </a:r>
          </a:p>
          <a:p>
            <a:r>
              <a:rPr lang="en-US" altLang="en-US" smtClean="0"/>
              <a:t>Just the opposite of onBlur; i.e. invoked when the object gets focus. 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128839" y="4724400"/>
            <a:ext cx="7769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&lt;body bgcolor=“lightgrey” onBlur=“document.bgColor=‘black’ onFocus=“document.bgColor=‘white’” &gt;</a:t>
            </a:r>
          </a:p>
        </p:txBody>
      </p:sp>
    </p:spTree>
    <p:extLst>
      <p:ext uri="{BB962C8B-B14F-4D97-AF65-F5344CB8AC3E}">
        <p14:creationId xmlns:p14="http://schemas.microsoft.com/office/powerpoint/2010/main" val="294690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onLoad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Used with window, frame and image objects (use with &lt;body ….&gt;&lt;frameset ….&gt; and &lt;img ...&gt;)</a:t>
            </a:r>
            <a:r>
              <a:rPr lang="en-US" altLang="en-US" smtClean="0"/>
              <a:t> </a:t>
            </a:r>
          </a:p>
          <a:p>
            <a:endParaRPr lang="en-US" altLang="en-US" smtClean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3119438" y="4114800"/>
            <a:ext cx="57832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&lt;img name=spinball src=images/spinball.gig onLoad=“startAnimation(this)”&gt;</a:t>
            </a:r>
          </a:p>
        </p:txBody>
      </p:sp>
    </p:spTree>
    <p:extLst>
      <p:ext uri="{BB962C8B-B14F-4D97-AF65-F5344CB8AC3E}">
        <p14:creationId xmlns:p14="http://schemas.microsoft.com/office/powerpoint/2010/main" val="148305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onMouseOut and onMouseOver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area and link objects</a:t>
            </a:r>
          </a:p>
          <a:p>
            <a:r>
              <a:rPr lang="en-US" altLang="en-US" smtClean="0"/>
              <a:t>user moves mouse off of an area or link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2971800" y="3581400"/>
            <a:ext cx="68580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/>
              <a:t>&lt;map name=flower&gt;</a:t>
            </a:r>
          </a:p>
          <a:p>
            <a:pPr algn="l">
              <a:spcBef>
                <a:spcPct val="50000"/>
              </a:spcBef>
            </a:pPr>
            <a:r>
              <a:rPr lang="en-US" altLang="en-US"/>
              <a:t>&lt;area name=top  coords=“0,0,200,300 href=“javascript:displayMessage()”</a:t>
            </a:r>
          </a:p>
          <a:p>
            <a:pPr algn="l">
              <a:spcBef>
                <a:spcPct val="50000"/>
              </a:spcBef>
            </a:pPr>
            <a:r>
              <a:rPr lang="en-US" altLang="en-US"/>
              <a:t>        onMouseOver=“self.status=‘when you see this message click your left mouse button’ ;</a:t>
            </a:r>
          </a:p>
          <a:p>
            <a:pPr algn="l">
              <a:spcBef>
                <a:spcPct val="50000"/>
              </a:spcBef>
            </a:pPr>
            <a:r>
              <a:rPr lang="en-US" altLang="en-US"/>
              <a:t>        return true”</a:t>
            </a:r>
          </a:p>
          <a:p>
            <a:pPr algn="l">
              <a:spcBef>
                <a:spcPct val="50000"/>
              </a:spcBef>
            </a:pPr>
            <a:r>
              <a:rPr lang="en-US" altLang="en-US"/>
              <a:t>        onMouseOut=“self.status = ‘’ ; return true”&gt;</a:t>
            </a:r>
          </a:p>
        </p:txBody>
      </p:sp>
    </p:spTree>
    <p:extLst>
      <p:ext uri="{BB962C8B-B14F-4D97-AF65-F5344CB8AC3E}">
        <p14:creationId xmlns:p14="http://schemas.microsoft.com/office/powerpoint/2010/main" val="16814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onReset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form objects</a:t>
            </a:r>
          </a:p>
          <a:p>
            <a:endParaRPr lang="en-US" altLang="en-US" smtClean="0"/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4152901" y="3886200"/>
            <a:ext cx="3852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&lt;form onReset=“alert(‘the form has been reset’)” &gt;</a:t>
            </a:r>
          </a:p>
        </p:txBody>
      </p:sp>
    </p:spTree>
    <p:extLst>
      <p:ext uri="{BB962C8B-B14F-4D97-AF65-F5344CB8AC3E}">
        <p14:creationId xmlns:p14="http://schemas.microsoft.com/office/powerpoint/2010/main" val="249534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onSelect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Used with text and textarea objects</a:t>
            </a:r>
          </a:p>
          <a:p>
            <a:r>
              <a:rPr lang="en-US" altLang="en-US" smtClean="0"/>
              <a:t>run some JavaScript whenever a user selects a piece of text in a text or textarea object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3948113" y="4495800"/>
            <a:ext cx="4108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&lt;input type=text name=line  onSelect=“showHelp()” &gt;</a:t>
            </a:r>
          </a:p>
        </p:txBody>
      </p:sp>
    </p:spTree>
    <p:extLst>
      <p:ext uri="{BB962C8B-B14F-4D97-AF65-F5344CB8AC3E}">
        <p14:creationId xmlns:p14="http://schemas.microsoft.com/office/powerpoint/2010/main" val="398160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onSubmit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 with form objects to run a handler whenever a form has been submitted.</a:t>
            </a:r>
          </a:p>
          <a:p>
            <a:r>
              <a:rPr lang="en-US" altLang="en-US" smtClean="0"/>
              <a:t>Useful to validate all fields prior to actual submission</a:t>
            </a:r>
          </a:p>
        </p:txBody>
      </p:sp>
    </p:spTree>
    <p:extLst>
      <p:ext uri="{BB962C8B-B14F-4D97-AF65-F5344CB8AC3E}">
        <p14:creationId xmlns:p14="http://schemas.microsoft.com/office/powerpoint/2010/main" val="96317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onUnload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Just like onLoad but the handler is run when the window/frame is exited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4762501" y="3886200"/>
            <a:ext cx="2460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&lt;body onUnload=“cleanup()” &gt;</a:t>
            </a:r>
          </a:p>
        </p:txBody>
      </p:sp>
    </p:spTree>
    <p:extLst>
      <p:ext uri="{BB962C8B-B14F-4D97-AF65-F5344CB8AC3E}">
        <p14:creationId xmlns:p14="http://schemas.microsoft.com/office/powerpoint/2010/main" val="276630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/>
          </p:cNvGraphicFramePr>
          <p:nvPr/>
        </p:nvGraphicFramePr>
        <p:xfrm>
          <a:off x="1524001" y="-630238"/>
          <a:ext cx="6900863" cy="5845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7047702" imgH="5961670" progId="Word.Document.8">
                  <p:embed/>
                </p:oleObj>
              </mc:Choice>
              <mc:Fallback>
                <p:oleObj name="Document" r:id="rId4" imgW="7047702" imgH="5961670" progId="Word.Document.8">
                  <p:embed/>
                  <p:pic>
                    <p:nvPicPr>
                      <p:cNvPr id="66562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-630238"/>
                        <a:ext cx="6900863" cy="5845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8686800" y="152401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u="sng">
                <a:solidFill>
                  <a:srgbClr val="000000"/>
                </a:solidFill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6564" name="Rectangle 7"/>
          <p:cNvSpPr>
            <a:spLocks noChangeArrowheads="1"/>
          </p:cNvSpPr>
          <p:nvPr/>
        </p:nvSpPr>
        <p:spPr bwMode="auto">
          <a:xfrm>
            <a:off x="8607425" y="839788"/>
            <a:ext cx="2057400" cy="479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400">
                <a:solidFill>
                  <a:schemeClr val="tx2"/>
                </a:solidFill>
              </a:rPr>
              <a:t>all.html</a:t>
            </a:r>
            <a:br>
              <a:rPr lang="en-US" altLang="en-US" sz="4400">
                <a:solidFill>
                  <a:schemeClr val="tx2"/>
                </a:solidFill>
              </a:rPr>
            </a:br>
            <a:r>
              <a:rPr lang="en-US" altLang="en-US" sz="4400">
                <a:solidFill>
                  <a:schemeClr val="tx2"/>
                </a:solidFill>
              </a:rPr>
              <a:t>(1 of 2)</a:t>
            </a:r>
          </a:p>
        </p:txBody>
      </p:sp>
      <p:graphicFrame>
        <p:nvGraphicFramePr>
          <p:cNvPr id="66565" name="Object 3"/>
          <p:cNvGraphicFramePr>
            <a:graphicFrameLocks noChangeAspect="1"/>
          </p:cNvGraphicFramePr>
          <p:nvPr/>
        </p:nvGraphicFramePr>
        <p:xfrm>
          <a:off x="1524000" y="5011738"/>
          <a:ext cx="6965950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6" imgW="7059168" imgH="1874520" progId="Word.Document.8">
                  <p:embed/>
                </p:oleObj>
              </mc:Choice>
              <mc:Fallback>
                <p:oleObj name="Document" r:id="rId6" imgW="7059168" imgH="1874520" progId="Word.Document.8">
                  <p:embed/>
                  <p:pic>
                    <p:nvPicPr>
                      <p:cNvPr id="6656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011738"/>
                        <a:ext cx="6965950" cy="18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566" name="Picture 9" descr="13_0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63" y="949325"/>
            <a:ext cx="7459662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141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4A12B1-3393-4192-8C3E-26400ECD9AC0}" type="slidenum">
              <a:rPr lang="en-US" altLang="en-US">
                <a:latin typeface="Arial" panose="020B0604020202020204" pitchFamily="34" charset="0"/>
              </a:rPr>
              <a:pPr/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8686800" y="152401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u="sng">
                <a:solidFill>
                  <a:srgbClr val="000000"/>
                </a:solidFill>
                <a:cs typeface="Times New Roman" panose="02020603050405020304" pitchFamily="18" charset="0"/>
              </a:rPr>
              <a:t>Outline</a:t>
            </a:r>
          </a:p>
        </p:txBody>
      </p:sp>
      <p:graphicFrame>
        <p:nvGraphicFramePr>
          <p:cNvPr id="67588" name="Object 2"/>
          <p:cNvGraphicFramePr>
            <a:graphicFrameLocks/>
          </p:cNvGraphicFramePr>
          <p:nvPr/>
        </p:nvGraphicFramePr>
        <p:xfrm>
          <a:off x="1524000" y="-2371725"/>
          <a:ext cx="5848350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ocument" r:id="rId4" imgW="7114032" imgH="5248656" progId="Word.Document.8">
                  <p:embed/>
                </p:oleObj>
              </mc:Choice>
              <mc:Fallback>
                <p:oleObj name="Document" r:id="rId4" imgW="7114032" imgH="5248656" progId="Word.Document.8">
                  <p:embed/>
                  <p:pic>
                    <p:nvPicPr>
                      <p:cNvPr id="67588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-2371725"/>
                        <a:ext cx="5848350" cy="443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3"/>
          <p:cNvGraphicFramePr>
            <a:graphicFrameLocks/>
          </p:cNvGraphicFramePr>
          <p:nvPr/>
        </p:nvGraphicFramePr>
        <p:xfrm>
          <a:off x="1524000" y="1714500"/>
          <a:ext cx="5848350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cument" r:id="rId6" imgW="7120128" imgH="4072128" progId="Word.Document.8">
                  <p:embed/>
                </p:oleObj>
              </mc:Choice>
              <mc:Fallback>
                <p:oleObj name="Document" r:id="rId6" imgW="7120128" imgH="4072128" progId="Word.Document.8">
                  <p:embed/>
                  <p:pic>
                    <p:nvPicPr>
                      <p:cNvPr id="67589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14500"/>
                        <a:ext cx="5848350" cy="339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4"/>
          <p:cNvGraphicFramePr>
            <a:graphicFrameLocks/>
          </p:cNvGraphicFramePr>
          <p:nvPr/>
        </p:nvGraphicFramePr>
        <p:xfrm>
          <a:off x="1524000" y="4754564"/>
          <a:ext cx="5848350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Document" r:id="rId8" imgW="7112508" imgH="3080004" progId="Word.Document.8">
                  <p:embed/>
                </p:oleObj>
              </mc:Choice>
              <mc:Fallback>
                <p:oleObj name="Document" r:id="rId8" imgW="7112508" imgH="3080004" progId="Word.Document.8">
                  <p:embed/>
                  <p:pic>
                    <p:nvPicPr>
                      <p:cNvPr id="6759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54564"/>
                        <a:ext cx="5848350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91" name="Picture 8" descr="13_0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5" y="1917701"/>
            <a:ext cx="6211888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007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831</Words>
  <Application>Microsoft Office PowerPoint</Application>
  <PresentationFormat>Widescreen</PresentationFormat>
  <Paragraphs>152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Retrospect</vt:lpstr>
      <vt:lpstr>Microsoft Word Document</vt:lpstr>
      <vt:lpstr>PowerPoint Presentation</vt:lpstr>
      <vt:lpstr>Object Hierarchy</vt:lpstr>
      <vt:lpstr>Objects in JavaScript</vt:lpstr>
      <vt:lpstr>Objects</vt:lpstr>
      <vt:lpstr>Objects (more…)</vt:lpstr>
      <vt:lpstr>A few examples...</vt:lpstr>
      <vt:lpstr>The Object Model</vt:lpstr>
      <vt:lpstr>Object Model</vt:lpstr>
      <vt:lpstr>Object Event Handlers</vt:lpstr>
      <vt:lpstr>Events</vt:lpstr>
      <vt:lpstr>onAbort</vt:lpstr>
      <vt:lpstr>onBlur</vt:lpstr>
      <vt:lpstr>onChange</vt:lpstr>
      <vt:lpstr>onClick</vt:lpstr>
      <vt:lpstr>onError</vt:lpstr>
      <vt:lpstr>onFocus</vt:lpstr>
      <vt:lpstr>onLoad</vt:lpstr>
      <vt:lpstr>onMouseOut and onMouseOver</vt:lpstr>
      <vt:lpstr>onReset</vt:lpstr>
      <vt:lpstr>onSelect</vt:lpstr>
      <vt:lpstr>onSubmit</vt:lpstr>
      <vt:lpstr>onUnload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1</cp:revision>
  <dcterms:created xsi:type="dcterms:W3CDTF">2019-11-19T15:55:34Z</dcterms:created>
  <dcterms:modified xsi:type="dcterms:W3CDTF">2019-11-19T15:55:59Z</dcterms:modified>
</cp:coreProperties>
</file>