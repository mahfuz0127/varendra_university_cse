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59" r:id="rId5"/>
    <p:sldId id="267" r:id="rId6"/>
    <p:sldId id="265" r:id="rId7"/>
    <p:sldId id="264" r:id="rId8"/>
    <p:sldId id="268" r:id="rId9"/>
    <p:sldId id="269" r:id="rId10"/>
    <p:sldId id="266" r:id="rId11"/>
    <p:sldId id="270" r:id="rId12"/>
    <p:sldId id="271" r:id="rId13"/>
    <p:sldId id="261" r:id="rId14"/>
    <p:sldId id="262"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624"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64D51-4A20-4236-AA75-C68CBC6036D1}"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764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64D51-4A20-4236-AA75-C68CBC6036D1}" type="slidenum">
              <a:rPr lang="en-US" smtClean="0"/>
              <a:pPr/>
              <a:t>‹#›</a:t>
            </a:fld>
            <a:endParaRPr lang="en-US"/>
          </a:p>
        </p:txBody>
      </p:sp>
    </p:spTree>
    <p:extLst>
      <p:ext uri="{BB962C8B-B14F-4D97-AF65-F5344CB8AC3E}">
        <p14:creationId xmlns:p14="http://schemas.microsoft.com/office/powerpoint/2010/main" val="3263573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64D51-4A20-4236-AA75-C68CBC6036D1}"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168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E64D51-4A20-4236-AA75-C68CBC6036D1}" type="slidenum">
              <a:rPr lang="en-US" smtClean="0"/>
              <a:pPr/>
              <a:t>‹#›</a:t>
            </a:fld>
            <a:endParaRPr lang="en-US"/>
          </a:p>
        </p:txBody>
      </p:sp>
    </p:spTree>
    <p:extLst>
      <p:ext uri="{BB962C8B-B14F-4D97-AF65-F5344CB8AC3E}">
        <p14:creationId xmlns:p14="http://schemas.microsoft.com/office/powerpoint/2010/main" val="3784303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E64D51-4A20-4236-AA75-C68CBC6036D1}" type="slidenum">
              <a:rPr lang="en-US" smtClean="0"/>
              <a:pPr/>
              <a:t>‹#›</a:t>
            </a:fld>
            <a:endParaRPr lang="en-US"/>
          </a:p>
        </p:txBody>
      </p:sp>
    </p:spTree>
    <p:extLst>
      <p:ext uri="{BB962C8B-B14F-4D97-AF65-F5344CB8AC3E}">
        <p14:creationId xmlns:p14="http://schemas.microsoft.com/office/powerpoint/2010/main" val="3832847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E64D51-4A20-4236-AA75-C68CBC6036D1}" type="slidenum">
              <a:rPr lang="en-US" smtClean="0"/>
              <a:pPr/>
              <a:t>‹#›</a:t>
            </a:fld>
            <a:endParaRPr lang="en-US"/>
          </a:p>
        </p:txBody>
      </p:sp>
    </p:spTree>
    <p:extLst>
      <p:ext uri="{BB962C8B-B14F-4D97-AF65-F5344CB8AC3E}">
        <p14:creationId xmlns:p14="http://schemas.microsoft.com/office/powerpoint/2010/main" val="2992876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E64D51-4A20-4236-AA75-C68CBC6036D1}" type="slidenum">
              <a:rPr lang="en-US" smtClean="0"/>
              <a:pPr/>
              <a:t>‹#›</a:t>
            </a:fld>
            <a:endParaRPr lang="en-US"/>
          </a:p>
        </p:txBody>
      </p:sp>
    </p:spTree>
    <p:extLst>
      <p:ext uri="{BB962C8B-B14F-4D97-AF65-F5344CB8AC3E}">
        <p14:creationId xmlns:p14="http://schemas.microsoft.com/office/powerpoint/2010/main" val="4142459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4DABAF6-3B2A-4548-9F53-A019BFA00348}" type="datetimeFigureOut">
              <a:rPr lang="en-US" smtClean="0"/>
              <a:pPr/>
              <a:t>11/17/2019</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E64D51-4A20-4236-AA75-C68CBC6036D1}" type="slidenum">
              <a:rPr lang="en-US" smtClean="0"/>
              <a:pPr/>
              <a:t>‹#›</a:t>
            </a:fld>
            <a:endParaRPr lang="en-US"/>
          </a:p>
        </p:txBody>
      </p:sp>
    </p:spTree>
    <p:extLst>
      <p:ext uri="{BB962C8B-B14F-4D97-AF65-F5344CB8AC3E}">
        <p14:creationId xmlns:p14="http://schemas.microsoft.com/office/powerpoint/2010/main" val="2729406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E64D51-4A20-4236-AA75-C68CBC6036D1}" type="slidenum">
              <a:rPr lang="en-US" smtClean="0"/>
              <a:pPr/>
              <a:t>‹#›</a:t>
            </a:fld>
            <a:endParaRPr lang="en-US"/>
          </a:p>
        </p:txBody>
      </p:sp>
    </p:spTree>
    <p:extLst>
      <p:ext uri="{BB962C8B-B14F-4D97-AF65-F5344CB8AC3E}">
        <p14:creationId xmlns:p14="http://schemas.microsoft.com/office/powerpoint/2010/main" val="1492835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64D51-4A20-4236-AA75-C68CBC6036D1}" type="slidenum">
              <a:rPr lang="en-US" smtClean="0"/>
              <a:pPr/>
              <a:t>‹#›</a:t>
            </a:fld>
            <a:endParaRPr lang="en-US"/>
          </a:p>
        </p:txBody>
      </p:sp>
    </p:spTree>
    <p:extLst>
      <p:ext uri="{BB962C8B-B14F-4D97-AF65-F5344CB8AC3E}">
        <p14:creationId xmlns:p14="http://schemas.microsoft.com/office/powerpoint/2010/main" val="2608261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4DABAF6-3B2A-4548-9F53-A019BFA00348}" type="datetimeFigureOut">
              <a:rPr lang="en-US" smtClean="0"/>
              <a:pPr/>
              <a:t>11/17/2019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64D51-4A20-4236-AA75-C68CBC6036D1}" type="slidenum">
              <a:rPr lang="en-US" smtClean="0"/>
              <a:pPr/>
              <a:t>‹#›</a:t>
            </a:fld>
            <a:endParaRPr lang="en-US"/>
          </a:p>
        </p:txBody>
      </p:sp>
    </p:spTree>
    <p:extLst>
      <p:ext uri="{BB962C8B-B14F-4D97-AF65-F5344CB8AC3E}">
        <p14:creationId xmlns:p14="http://schemas.microsoft.com/office/powerpoint/2010/main" val="1177868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4DABAF6-3B2A-4548-9F53-A019BFA00348}" type="datetimeFigureOut">
              <a:rPr lang="en-US" smtClean="0"/>
              <a:pPr/>
              <a:t>11/17/2019</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1E64D51-4A20-4236-AA75-C68CBC6036D1}"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655007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biztechconsultancy.com/php-development.ht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biztechconsultancy.com/magento.htm" TargetMode="External"/><Relationship Id="rId2" Type="http://schemas.openxmlformats.org/officeDocument/2006/relationships/hyperlink" Target="http://www.biztechconsultancy.com/wordpress-development.ht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PHP - Introduction</a:t>
            </a:r>
            <a:br>
              <a:rPr lang="en-US" dirty="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8293839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History and Necessity</a:t>
            </a:r>
            <a:endParaRPr lang="en-US" dirty="0"/>
          </a:p>
        </p:txBody>
      </p:sp>
      <p:sp>
        <p:nvSpPr>
          <p:cNvPr id="3" name="Content Placeholder 2"/>
          <p:cNvSpPr>
            <a:spLocks noGrp="1"/>
          </p:cNvSpPr>
          <p:nvPr>
            <p:ph idx="1"/>
          </p:nvPr>
        </p:nvSpPr>
        <p:spPr/>
        <p:txBody>
          <a:bodyPr>
            <a:normAutofit/>
          </a:bodyPr>
          <a:lstStyle/>
          <a:p>
            <a:r>
              <a:rPr lang="en-US" dirty="0"/>
              <a:t>PHP started out as a small open source project that evolved as more and more people found out how useful it was. </a:t>
            </a:r>
            <a:r>
              <a:rPr lang="en-US" dirty="0" err="1"/>
              <a:t>Rasmus</a:t>
            </a:r>
            <a:r>
              <a:rPr lang="en-US" dirty="0"/>
              <a:t> </a:t>
            </a:r>
            <a:r>
              <a:rPr lang="en-US" dirty="0" err="1"/>
              <a:t>Lerdorf</a:t>
            </a:r>
            <a:r>
              <a:rPr lang="en-US" dirty="0"/>
              <a:t> unleashed the first version of PHP way back in 1994.</a:t>
            </a:r>
          </a:p>
          <a:p>
            <a:r>
              <a:rPr lang="en-US" dirty="0"/>
              <a:t>PHP is a recursive acronym for "PHP: Hypertext Preprocessor".</a:t>
            </a:r>
          </a:p>
          <a:p>
            <a:r>
              <a:rPr lang="en-US" dirty="0"/>
              <a:t>PHP is a </a:t>
            </a:r>
            <a:r>
              <a:rPr lang="en-US" b="1" dirty="0"/>
              <a:t>server side scripting language</a:t>
            </a:r>
            <a:r>
              <a:rPr lang="en-US" dirty="0"/>
              <a:t> that is embedded in HTML. It is used to manage dynamic content, databases, session tracking, even build entire e-commerce sites.</a:t>
            </a:r>
          </a:p>
          <a:p>
            <a:r>
              <a:rPr lang="en-US" dirty="0"/>
              <a:t>It is integrated with a number of popular databases, including </a:t>
            </a:r>
            <a:r>
              <a:rPr lang="en-US" b="1" dirty="0"/>
              <a:t>MySQL</a:t>
            </a:r>
            <a:r>
              <a:rPr lang="en-US" dirty="0"/>
              <a:t>, PostgreSQL, </a:t>
            </a:r>
            <a:r>
              <a:rPr lang="en-US" b="1" dirty="0"/>
              <a:t>Oracle</a:t>
            </a:r>
            <a:r>
              <a:rPr lang="en-US" dirty="0"/>
              <a:t>, Sybase, Informix, and Microsoft SQL Server.</a:t>
            </a:r>
          </a:p>
          <a:p>
            <a:endParaRPr lang="en-US" dirty="0"/>
          </a:p>
        </p:txBody>
      </p:sp>
    </p:spTree>
    <p:extLst>
      <p:ext uri="{BB962C8B-B14F-4D97-AF65-F5344CB8AC3E}">
        <p14:creationId xmlns:p14="http://schemas.microsoft.com/office/powerpoint/2010/main" val="21997046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Good sides of PHP</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smtClean="0"/>
              <a:t>PHP </a:t>
            </a:r>
            <a:r>
              <a:rPr lang="en-US" dirty="0"/>
              <a:t>is pleasingly zippy in its execution, especially when compiled as an Apache module on the Unix side. The MySQL server, once started, executes even very complex queries with huge result sets in record-setting time.</a:t>
            </a:r>
          </a:p>
          <a:p>
            <a:pPr>
              <a:buFont typeface="Wingdings" panose="05000000000000000000" pitchFamily="2" charset="2"/>
              <a:buChar char="v"/>
            </a:pPr>
            <a:r>
              <a:rPr lang="en-US" dirty="0"/>
              <a:t>PHP supports a large number of major protocols such as POP3, IMAP, and LDAP. PHP4 added support for Java and distributed object architectures (COM and CORBA), making n-tier development a possibility for the first time.</a:t>
            </a:r>
          </a:p>
          <a:p>
            <a:pPr>
              <a:buFont typeface="Wingdings" panose="05000000000000000000" pitchFamily="2" charset="2"/>
              <a:buChar char="v"/>
            </a:pPr>
            <a:r>
              <a:rPr lang="en-US" dirty="0"/>
              <a:t>PHP is forgiving: PHP language tries to be as forgiving as possible.</a:t>
            </a:r>
          </a:p>
          <a:p>
            <a:pPr>
              <a:buFont typeface="Wingdings" panose="05000000000000000000" pitchFamily="2" charset="2"/>
              <a:buChar char="v"/>
            </a:pPr>
            <a:r>
              <a:rPr lang="en-US" dirty="0"/>
              <a:t>PHP Syntax is C-Like.</a:t>
            </a:r>
          </a:p>
          <a:p>
            <a:endParaRPr lang="en-US" dirty="0"/>
          </a:p>
        </p:txBody>
      </p:sp>
    </p:spTree>
    <p:extLst>
      <p:ext uri="{BB962C8B-B14F-4D97-AF65-F5344CB8AC3E}">
        <p14:creationId xmlns:p14="http://schemas.microsoft.com/office/powerpoint/2010/main" val="5862284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Common uses of </a:t>
            </a:r>
            <a:r>
              <a:rPr lang="en-US" dirty="0" smtClean="0"/>
              <a:t>PHP</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smtClean="0"/>
              <a:t>PHP </a:t>
            </a:r>
            <a:r>
              <a:rPr lang="en-US" dirty="0"/>
              <a:t>performs system functions, i.e. from files on a system it can create, open, read, write, and close them.</a:t>
            </a:r>
          </a:p>
          <a:p>
            <a:pPr>
              <a:buFont typeface="Arial" panose="020B0604020202020204" pitchFamily="34" charset="0"/>
              <a:buChar char="•"/>
            </a:pPr>
            <a:r>
              <a:rPr lang="en-US" dirty="0"/>
              <a:t>PHP can handle forms, i.e. gather data from files, save data to a file, through email you can send data, return data to the user.</a:t>
            </a:r>
          </a:p>
          <a:p>
            <a:pPr>
              <a:buFont typeface="Arial" panose="020B0604020202020204" pitchFamily="34" charset="0"/>
              <a:buChar char="•"/>
            </a:pPr>
            <a:r>
              <a:rPr lang="en-US" dirty="0"/>
              <a:t>You add, delete, modify elements within your database through PHP.</a:t>
            </a:r>
          </a:p>
          <a:p>
            <a:pPr>
              <a:buFont typeface="Arial" panose="020B0604020202020204" pitchFamily="34" charset="0"/>
              <a:buChar char="•"/>
            </a:pPr>
            <a:r>
              <a:rPr lang="en-US" dirty="0"/>
              <a:t>Access cookies variables and set cookies.</a:t>
            </a:r>
          </a:p>
          <a:p>
            <a:pPr>
              <a:buFont typeface="Arial" panose="020B0604020202020204" pitchFamily="34" charset="0"/>
              <a:buChar char="•"/>
            </a:pPr>
            <a:r>
              <a:rPr lang="en-US" dirty="0"/>
              <a:t>Using PHP, you can restrict users to access some pages of your website.</a:t>
            </a:r>
          </a:p>
          <a:p>
            <a:pPr>
              <a:buFont typeface="Arial" panose="020B0604020202020204" pitchFamily="34" charset="0"/>
              <a:buChar char="•"/>
            </a:pPr>
            <a:r>
              <a:rPr lang="en-US" dirty="0"/>
              <a:t>It can encrypt data</a:t>
            </a:r>
            <a:r>
              <a:rPr lang="en-US" dirty="0" smtClean="0"/>
              <a:t>.</a:t>
            </a:r>
          </a:p>
          <a:p>
            <a:pPr>
              <a:buFont typeface="Arial" panose="020B0604020202020204" pitchFamily="34" charset="0"/>
              <a:buChar char="•"/>
            </a:pPr>
            <a:r>
              <a:rPr lang="en-US" b="1" dirty="0"/>
              <a:t>Cross platform –</a:t>
            </a:r>
            <a:r>
              <a:rPr lang="en-US" dirty="0"/>
              <a:t> </a:t>
            </a:r>
            <a:r>
              <a:rPr lang="en-US" dirty="0"/>
              <a:t> PHP </a:t>
            </a:r>
            <a:r>
              <a:rPr lang="en-US" dirty="0" smtClean="0"/>
              <a:t>can </a:t>
            </a:r>
            <a:r>
              <a:rPr lang="en-US" dirty="0"/>
              <a:t>run </a:t>
            </a:r>
            <a:r>
              <a:rPr lang="en-US" dirty="0" smtClean="0"/>
              <a:t>scripts </a:t>
            </a:r>
            <a:r>
              <a:rPr lang="en-US" dirty="0"/>
              <a:t>on any platform like windows, Linux, Mac, Solaris and other.</a:t>
            </a:r>
            <a:endParaRPr lang="en-US" dirty="0"/>
          </a:p>
          <a:p>
            <a:endParaRPr lang="en-US" dirty="0"/>
          </a:p>
        </p:txBody>
      </p:sp>
    </p:spTree>
    <p:extLst>
      <p:ext uri="{BB962C8B-B14F-4D97-AF65-F5344CB8AC3E}">
        <p14:creationId xmlns:p14="http://schemas.microsoft.com/office/powerpoint/2010/main" val="12640369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a:t>
            </a:r>
            <a:r>
              <a:rPr lang="en-US" b="1" dirty="0" smtClean="0"/>
              <a:t>PHP</a:t>
            </a:r>
            <a:endParaRPr lang="en-US" dirty="0"/>
          </a:p>
        </p:txBody>
      </p:sp>
      <p:sp>
        <p:nvSpPr>
          <p:cNvPr id="3" name="Content Placeholder 2"/>
          <p:cNvSpPr>
            <a:spLocks noGrp="1"/>
          </p:cNvSpPr>
          <p:nvPr>
            <p:ph idx="1"/>
          </p:nvPr>
        </p:nvSpPr>
        <p:spPr/>
        <p:txBody>
          <a:bodyPr/>
          <a:lstStyle/>
          <a:p>
            <a:r>
              <a:rPr lang="en-US" dirty="0" smtClean="0"/>
              <a:t>There </a:t>
            </a:r>
            <a:r>
              <a:rPr lang="en-US" dirty="0"/>
              <a:t>are many features given by PHP. All Features discussed below one by one.</a:t>
            </a:r>
          </a:p>
          <a:p>
            <a:pPr marL="457200" indent="-457200">
              <a:buFont typeface="+mj-lt"/>
              <a:buAutoNum type="arabicPeriod"/>
            </a:pPr>
            <a:r>
              <a:rPr lang="en-US" dirty="0"/>
              <a:t>Familiarity</a:t>
            </a:r>
          </a:p>
          <a:p>
            <a:pPr marL="457200" indent="-457200">
              <a:buFont typeface="+mj-lt"/>
              <a:buAutoNum type="arabicPeriod"/>
            </a:pPr>
            <a:r>
              <a:rPr lang="en-US" dirty="0"/>
              <a:t>Simplicity</a:t>
            </a:r>
          </a:p>
          <a:p>
            <a:pPr marL="457200" indent="-457200">
              <a:buFont typeface="+mj-lt"/>
              <a:buAutoNum type="arabicPeriod"/>
            </a:pPr>
            <a:r>
              <a:rPr lang="en-US" dirty="0"/>
              <a:t>Efficiency</a:t>
            </a:r>
          </a:p>
          <a:p>
            <a:pPr marL="457200" indent="-457200">
              <a:buFont typeface="+mj-lt"/>
              <a:buAutoNum type="arabicPeriod"/>
            </a:pPr>
            <a:r>
              <a:rPr lang="en-US" dirty="0"/>
              <a:t>Security</a:t>
            </a:r>
          </a:p>
          <a:p>
            <a:pPr marL="457200" indent="-457200">
              <a:buFont typeface="+mj-lt"/>
              <a:buAutoNum type="arabicPeriod"/>
            </a:pPr>
            <a:r>
              <a:rPr lang="en-US" dirty="0"/>
              <a:t>Flexibility</a:t>
            </a:r>
          </a:p>
          <a:p>
            <a:pPr marL="457200" indent="-457200">
              <a:buFont typeface="+mj-lt"/>
              <a:buAutoNum type="arabicPeriod"/>
            </a:pPr>
            <a:r>
              <a:rPr lang="en-US" dirty="0"/>
              <a:t>Open source</a:t>
            </a:r>
          </a:p>
          <a:p>
            <a:pPr marL="457200" indent="-457200">
              <a:buFont typeface="+mj-lt"/>
              <a:buAutoNum type="arabicPeriod"/>
            </a:pPr>
            <a:r>
              <a:rPr lang="en-US" dirty="0"/>
              <a:t>Object Oriented</a:t>
            </a:r>
          </a:p>
          <a:p>
            <a:endParaRPr lang="en-US" dirty="0"/>
          </a:p>
        </p:txBody>
      </p:sp>
    </p:spTree>
    <p:extLst>
      <p:ext uri="{BB962C8B-B14F-4D97-AF65-F5344CB8AC3E}">
        <p14:creationId xmlns:p14="http://schemas.microsoft.com/office/powerpoint/2010/main" val="3668639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Characteristics of </a:t>
            </a:r>
            <a:r>
              <a:rPr lang="en-US" dirty="0" smtClean="0"/>
              <a:t>PHP</a:t>
            </a:r>
            <a:endParaRPr lang="en-US" dirty="0"/>
          </a:p>
        </p:txBody>
      </p:sp>
      <p:sp>
        <p:nvSpPr>
          <p:cNvPr id="3" name="Content Placeholder 2"/>
          <p:cNvSpPr>
            <a:spLocks noGrp="1"/>
          </p:cNvSpPr>
          <p:nvPr>
            <p:ph idx="1"/>
          </p:nvPr>
        </p:nvSpPr>
        <p:spPr/>
        <p:txBody>
          <a:bodyPr>
            <a:normAutofit/>
          </a:bodyPr>
          <a:lstStyle/>
          <a:p>
            <a:r>
              <a:rPr lang="en-US" dirty="0" smtClean="0"/>
              <a:t>Five </a:t>
            </a:r>
            <a:r>
              <a:rPr lang="en-US" dirty="0"/>
              <a:t>important characteristics make PHP's practical nature possible −</a:t>
            </a:r>
          </a:p>
          <a:p>
            <a:pPr marL="0" indent="0">
              <a:buNone/>
            </a:pPr>
            <a:r>
              <a:rPr lang="en-US" dirty="0" smtClean="0"/>
              <a:t>1. Familiarity:</a:t>
            </a:r>
          </a:p>
          <a:p>
            <a:r>
              <a:rPr lang="en-US" dirty="0"/>
              <a:t>The PHP language gets such popularity just because of its outstanding characteristics, as general it has the features like security, effectiveness, flexibility etc. If we wonder form the side of developer then no any language is as easier as PHP, which is because </a:t>
            </a:r>
            <a:r>
              <a:rPr lang="en-US" b="1" dirty="0">
                <a:hlinkClick r:id="rId2"/>
              </a:rPr>
              <a:t>PHP development</a:t>
            </a:r>
            <a:r>
              <a:rPr lang="en-US" dirty="0"/>
              <a:t> is bit easy form the previous concept of programming languages</a:t>
            </a:r>
            <a:r>
              <a:rPr lang="en-US" dirty="0" smtClean="0"/>
              <a:t>.</a:t>
            </a:r>
          </a:p>
          <a:p>
            <a:endParaRPr lang="en-US" dirty="0"/>
          </a:p>
          <a:p>
            <a:r>
              <a:rPr lang="en-US" dirty="0"/>
              <a:t/>
            </a:r>
            <a:br>
              <a:rPr lang="en-US" dirty="0"/>
            </a:br>
            <a:endParaRPr lang="en-US" dirty="0"/>
          </a:p>
          <a:p>
            <a:endParaRPr lang="en-US" dirty="0"/>
          </a:p>
        </p:txBody>
      </p:sp>
    </p:spTree>
    <p:extLst>
      <p:ext uri="{BB962C8B-B14F-4D97-AF65-F5344CB8AC3E}">
        <p14:creationId xmlns:p14="http://schemas.microsoft.com/office/powerpoint/2010/main" val="8777549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Characteristics of </a:t>
            </a:r>
            <a:r>
              <a:rPr lang="en-US" dirty="0" smtClean="0"/>
              <a:t>PHP</a:t>
            </a:r>
            <a:endParaRPr lang="en-US" dirty="0"/>
          </a:p>
        </p:txBody>
      </p:sp>
      <p:sp>
        <p:nvSpPr>
          <p:cNvPr id="3" name="Content Placeholder 2"/>
          <p:cNvSpPr>
            <a:spLocks noGrp="1"/>
          </p:cNvSpPr>
          <p:nvPr>
            <p:ph idx="1"/>
          </p:nvPr>
        </p:nvSpPr>
        <p:spPr/>
        <p:txBody>
          <a:bodyPr/>
          <a:lstStyle/>
          <a:p>
            <a:r>
              <a:rPr lang="en-US" dirty="0" smtClean="0"/>
              <a:t>Five </a:t>
            </a:r>
            <a:r>
              <a:rPr lang="en-US" dirty="0"/>
              <a:t>important characteristics make PHP's practical nature possible −</a:t>
            </a:r>
          </a:p>
          <a:p>
            <a:r>
              <a:rPr lang="en-US" dirty="0" smtClean="0"/>
              <a:t>2. Simplicity</a:t>
            </a:r>
            <a:r>
              <a:rPr lang="en-US" dirty="0" smtClean="0"/>
              <a:t>:</a:t>
            </a:r>
          </a:p>
          <a:p>
            <a:r>
              <a:rPr lang="en-US" dirty="0"/>
              <a:t>The scripting language can easily make communication with dynamic data coordination in web applications as well also supports all commonly used databases like My-SQL, Oracle and more.</a:t>
            </a:r>
            <a:endParaRPr lang="en-US" dirty="0"/>
          </a:p>
        </p:txBody>
      </p:sp>
    </p:spTree>
    <p:extLst>
      <p:ext uri="{BB962C8B-B14F-4D97-AF65-F5344CB8AC3E}">
        <p14:creationId xmlns:p14="http://schemas.microsoft.com/office/powerpoint/2010/main" val="5699102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Characteristics of </a:t>
            </a:r>
            <a:r>
              <a:rPr lang="en-US" dirty="0" smtClean="0"/>
              <a:t>PHP</a:t>
            </a:r>
            <a:endParaRPr lang="en-US" dirty="0"/>
          </a:p>
        </p:txBody>
      </p:sp>
      <p:sp>
        <p:nvSpPr>
          <p:cNvPr id="3" name="Content Placeholder 2"/>
          <p:cNvSpPr>
            <a:spLocks noGrp="1"/>
          </p:cNvSpPr>
          <p:nvPr>
            <p:ph idx="1"/>
          </p:nvPr>
        </p:nvSpPr>
        <p:spPr/>
        <p:txBody>
          <a:bodyPr/>
          <a:lstStyle/>
          <a:p>
            <a:r>
              <a:rPr lang="en-US" dirty="0" smtClean="0"/>
              <a:t>Five </a:t>
            </a:r>
            <a:r>
              <a:rPr lang="en-US" dirty="0"/>
              <a:t>important characteristics make PHP's practical nature possible −</a:t>
            </a:r>
          </a:p>
          <a:p>
            <a:r>
              <a:rPr lang="en-US" dirty="0" smtClean="0"/>
              <a:t>3</a:t>
            </a:r>
            <a:r>
              <a:rPr lang="en-US" dirty="0"/>
              <a:t>. Efficiency </a:t>
            </a:r>
            <a:r>
              <a:rPr lang="en-US" dirty="0" smtClean="0"/>
              <a:t>:</a:t>
            </a:r>
          </a:p>
          <a:p>
            <a:r>
              <a:rPr lang="en-US" dirty="0"/>
              <a:t>The scripting language can easily make communication with dynamic data coordination in web applications as well also supports all commonly used databases like My-SQL, Oracle and more.</a:t>
            </a:r>
            <a:endParaRPr lang="en-US" dirty="0"/>
          </a:p>
        </p:txBody>
      </p:sp>
    </p:spTree>
    <p:extLst>
      <p:ext uri="{BB962C8B-B14F-4D97-AF65-F5344CB8AC3E}">
        <p14:creationId xmlns:p14="http://schemas.microsoft.com/office/powerpoint/2010/main" val="15996430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Characteristics of PHP</a:t>
            </a:r>
          </a:p>
        </p:txBody>
      </p:sp>
      <p:sp>
        <p:nvSpPr>
          <p:cNvPr id="3" name="Content Placeholder 2"/>
          <p:cNvSpPr>
            <a:spLocks noGrp="1"/>
          </p:cNvSpPr>
          <p:nvPr>
            <p:ph idx="1"/>
          </p:nvPr>
        </p:nvSpPr>
        <p:spPr/>
        <p:txBody>
          <a:bodyPr/>
          <a:lstStyle/>
          <a:p>
            <a:r>
              <a:rPr lang="en-US" sz="2400" dirty="0"/>
              <a:t>Five important characteristics make PHP's practical nature possible −</a:t>
            </a:r>
          </a:p>
          <a:p>
            <a:r>
              <a:rPr lang="en-US" sz="2400" b="1" dirty="0" smtClean="0"/>
              <a:t>4. </a:t>
            </a:r>
            <a:r>
              <a:rPr lang="en-US" sz="2400" b="1" dirty="0"/>
              <a:t>Security </a:t>
            </a:r>
            <a:r>
              <a:rPr lang="en-US" sz="2400" b="1" dirty="0" smtClean="0"/>
              <a:t>:</a:t>
            </a:r>
          </a:p>
          <a:p>
            <a:r>
              <a:rPr lang="en-US" dirty="0" smtClean="0"/>
              <a:t>One of the </a:t>
            </a:r>
            <a:r>
              <a:rPr lang="en-US" dirty="0"/>
              <a:t>most powerful characteristics of the language. The language offers developers and administrators with a supple and efficient set of security</a:t>
            </a:r>
            <a:r>
              <a:rPr lang="en-US" dirty="0" smtClean="0"/>
              <a:t>. </a:t>
            </a:r>
            <a:endParaRPr lang="en-US" dirty="0"/>
          </a:p>
        </p:txBody>
      </p:sp>
    </p:spTree>
    <p:extLst>
      <p:ext uri="{BB962C8B-B14F-4D97-AF65-F5344CB8AC3E}">
        <p14:creationId xmlns:p14="http://schemas.microsoft.com/office/powerpoint/2010/main" val="129582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Characteristics of </a:t>
            </a:r>
            <a:r>
              <a:rPr lang="en-US" dirty="0" smtClean="0"/>
              <a:t>PHP</a:t>
            </a:r>
            <a:endParaRPr lang="en-US" dirty="0"/>
          </a:p>
        </p:txBody>
      </p:sp>
      <p:sp>
        <p:nvSpPr>
          <p:cNvPr id="3" name="Content Placeholder 2"/>
          <p:cNvSpPr>
            <a:spLocks noGrp="1"/>
          </p:cNvSpPr>
          <p:nvPr>
            <p:ph idx="1"/>
          </p:nvPr>
        </p:nvSpPr>
        <p:spPr/>
        <p:txBody>
          <a:bodyPr/>
          <a:lstStyle/>
          <a:p>
            <a:r>
              <a:rPr lang="en-US" dirty="0" smtClean="0"/>
              <a:t>Five </a:t>
            </a:r>
            <a:r>
              <a:rPr lang="en-US" dirty="0"/>
              <a:t>important characteristics make PHP's practical nature possible −</a:t>
            </a:r>
          </a:p>
          <a:p>
            <a:r>
              <a:rPr lang="en-US" dirty="0" smtClean="0"/>
              <a:t>5. Flexibility</a:t>
            </a:r>
            <a:r>
              <a:rPr lang="en-US" dirty="0" smtClean="0"/>
              <a:t>:</a:t>
            </a:r>
          </a:p>
          <a:p>
            <a:r>
              <a:rPr lang="en-US" dirty="0"/>
              <a:t>The other important feature is its HTML support. PHP has awesome feature to co operate with other programming languages like </a:t>
            </a:r>
            <a:r>
              <a:rPr lang="en-US" dirty="0" err="1"/>
              <a:t>.net</a:t>
            </a:r>
            <a:r>
              <a:rPr lang="en-US" dirty="0"/>
              <a:t>, Java and more. As because of its open source feature PHP is very useful in CMS and ecommerce developments like </a:t>
            </a:r>
            <a:r>
              <a:rPr lang="en-US" b="1" dirty="0" err="1">
                <a:hlinkClick r:id="rId2"/>
              </a:rPr>
              <a:t>WordPress</a:t>
            </a:r>
            <a:r>
              <a:rPr lang="en-US" b="1" dirty="0">
                <a:hlinkClick r:id="rId2"/>
              </a:rPr>
              <a:t> development</a:t>
            </a:r>
            <a:r>
              <a:rPr lang="en-US" dirty="0"/>
              <a:t>, Joomla development, </a:t>
            </a:r>
            <a:r>
              <a:rPr lang="en-US" b="1" dirty="0" err="1">
                <a:hlinkClick r:id="rId3"/>
              </a:rPr>
              <a:t>Magento</a:t>
            </a:r>
            <a:r>
              <a:rPr lang="en-US" b="1" dirty="0">
                <a:hlinkClick r:id="rId3"/>
              </a:rPr>
              <a:t> development</a:t>
            </a:r>
            <a:r>
              <a:rPr lang="en-US" dirty="0"/>
              <a:t> and more.</a:t>
            </a:r>
            <a:endParaRPr lang="en-US" dirty="0"/>
          </a:p>
        </p:txBody>
      </p:sp>
    </p:spTree>
    <p:extLst>
      <p:ext uri="{BB962C8B-B14F-4D97-AF65-F5344CB8AC3E}">
        <p14:creationId xmlns:p14="http://schemas.microsoft.com/office/powerpoint/2010/main" val="15769869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Characteristics of </a:t>
            </a:r>
            <a:r>
              <a:rPr lang="en-US" dirty="0" smtClean="0"/>
              <a:t>PHP</a:t>
            </a:r>
            <a:endParaRPr lang="en-US" dirty="0"/>
          </a:p>
        </p:txBody>
      </p:sp>
      <p:sp>
        <p:nvSpPr>
          <p:cNvPr id="3" name="Content Placeholder 2"/>
          <p:cNvSpPr>
            <a:spLocks noGrp="1"/>
          </p:cNvSpPr>
          <p:nvPr>
            <p:ph idx="1"/>
          </p:nvPr>
        </p:nvSpPr>
        <p:spPr/>
        <p:txBody>
          <a:bodyPr/>
          <a:lstStyle/>
          <a:p>
            <a:r>
              <a:rPr lang="en-US" dirty="0" smtClean="0"/>
              <a:t>Five </a:t>
            </a:r>
            <a:r>
              <a:rPr lang="en-US" dirty="0"/>
              <a:t>important characteristics make PHP's practical nature possible −</a:t>
            </a:r>
          </a:p>
          <a:p>
            <a:r>
              <a:rPr lang="en-US" dirty="0"/>
              <a:t>6. Open </a:t>
            </a:r>
            <a:r>
              <a:rPr lang="en-US" dirty="0" smtClean="0"/>
              <a:t>source:</a:t>
            </a:r>
          </a:p>
          <a:p>
            <a:r>
              <a:rPr lang="en-US" dirty="0"/>
              <a:t>PHP is an open source programming language so you can download freely there is no need to buy a </a:t>
            </a:r>
            <a:r>
              <a:rPr lang="en-US" dirty="0" err="1"/>
              <a:t>licence</a:t>
            </a:r>
            <a:r>
              <a:rPr lang="en-US" dirty="0"/>
              <a:t> or anything.</a:t>
            </a:r>
          </a:p>
        </p:txBody>
      </p:sp>
    </p:spTree>
    <p:extLst>
      <p:ext uri="{BB962C8B-B14F-4D97-AF65-F5344CB8AC3E}">
        <p14:creationId xmlns:p14="http://schemas.microsoft.com/office/powerpoint/2010/main" val="12941145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Characteristics of </a:t>
            </a:r>
            <a:r>
              <a:rPr lang="en-US" dirty="0" smtClean="0"/>
              <a:t>PHP</a:t>
            </a:r>
            <a:endParaRPr lang="en-US" dirty="0"/>
          </a:p>
        </p:txBody>
      </p:sp>
      <p:sp>
        <p:nvSpPr>
          <p:cNvPr id="3" name="Content Placeholder 2"/>
          <p:cNvSpPr>
            <a:spLocks noGrp="1"/>
          </p:cNvSpPr>
          <p:nvPr>
            <p:ph idx="1"/>
          </p:nvPr>
        </p:nvSpPr>
        <p:spPr/>
        <p:txBody>
          <a:bodyPr/>
          <a:lstStyle/>
          <a:p>
            <a:r>
              <a:rPr lang="en-US" dirty="0" smtClean="0"/>
              <a:t>Five </a:t>
            </a:r>
            <a:r>
              <a:rPr lang="en-US" dirty="0"/>
              <a:t>important characteristics make PHP's practical nature possible −</a:t>
            </a:r>
          </a:p>
          <a:p>
            <a:r>
              <a:rPr lang="en-US" b="1" dirty="0" smtClean="0"/>
              <a:t>7. Object </a:t>
            </a:r>
            <a:r>
              <a:rPr lang="en-US" b="1" dirty="0"/>
              <a:t>Oriented: -</a:t>
            </a:r>
          </a:p>
          <a:p>
            <a:r>
              <a:rPr lang="en-US" dirty="0"/>
              <a:t>PHP has added some object-oriented programming features, and Object Oriented programming became possible with PHP 4. With the introduction of PHP 5, the PHP developers have really beefed up the object-oriented features of PHP, resulting in both more speed and added features.</a:t>
            </a:r>
          </a:p>
        </p:txBody>
      </p:sp>
    </p:spTree>
    <p:extLst>
      <p:ext uri="{BB962C8B-B14F-4D97-AF65-F5344CB8AC3E}">
        <p14:creationId xmlns:p14="http://schemas.microsoft.com/office/powerpoint/2010/main" val="13848200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"Hello World" Script in </a:t>
            </a:r>
            <a:r>
              <a:rPr lang="en-US" dirty="0" smtClean="0"/>
              <a:t>PHP</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latin typeface="Consolas" panose="020B0609020204030204" pitchFamily="49" charset="0"/>
              </a:rPr>
              <a:t>&lt;</a:t>
            </a:r>
            <a:r>
              <a:rPr lang="en-US" dirty="0">
                <a:latin typeface="Consolas" panose="020B0609020204030204" pitchFamily="49" charset="0"/>
              </a:rPr>
              <a:t>html&gt;</a:t>
            </a:r>
          </a:p>
          <a:p>
            <a:r>
              <a:rPr lang="en-US" dirty="0">
                <a:latin typeface="Consolas" panose="020B0609020204030204" pitchFamily="49" charset="0"/>
              </a:rPr>
              <a:t>   </a:t>
            </a:r>
          </a:p>
          <a:p>
            <a:r>
              <a:rPr lang="en-US" dirty="0">
                <a:latin typeface="Consolas" panose="020B0609020204030204" pitchFamily="49" charset="0"/>
              </a:rPr>
              <a:t>   &lt;head&gt;</a:t>
            </a:r>
          </a:p>
          <a:p>
            <a:r>
              <a:rPr lang="en-US" dirty="0">
                <a:latin typeface="Consolas" panose="020B0609020204030204" pitchFamily="49" charset="0"/>
              </a:rPr>
              <a:t>      &lt;title&gt;Hello World&lt;/title&gt;</a:t>
            </a:r>
          </a:p>
          <a:p>
            <a:r>
              <a:rPr lang="en-US" dirty="0">
                <a:latin typeface="Consolas" panose="020B0609020204030204" pitchFamily="49" charset="0"/>
              </a:rPr>
              <a:t>   &lt;/head&gt;</a:t>
            </a:r>
          </a:p>
          <a:p>
            <a:r>
              <a:rPr lang="en-US" dirty="0">
                <a:latin typeface="Consolas" panose="020B0609020204030204" pitchFamily="49" charset="0"/>
              </a:rPr>
              <a:t>   </a:t>
            </a:r>
          </a:p>
          <a:p>
            <a:r>
              <a:rPr lang="en-US" dirty="0">
                <a:latin typeface="Consolas" panose="020B0609020204030204" pitchFamily="49" charset="0"/>
              </a:rPr>
              <a:t>   &lt;body&gt;</a:t>
            </a:r>
          </a:p>
          <a:p>
            <a:r>
              <a:rPr lang="en-US" dirty="0">
                <a:latin typeface="Consolas" panose="020B0609020204030204" pitchFamily="49" charset="0"/>
              </a:rPr>
              <a:t>      &lt;?php echo "Hello, World!";?&gt;</a:t>
            </a:r>
          </a:p>
          <a:p>
            <a:r>
              <a:rPr lang="en-US" dirty="0">
                <a:latin typeface="Consolas" panose="020B0609020204030204" pitchFamily="49" charset="0"/>
              </a:rPr>
              <a:t>   &lt;/body&gt;</a:t>
            </a:r>
          </a:p>
          <a:p>
            <a:endParaRPr lang="en-US" dirty="0">
              <a:latin typeface="Consolas" panose="020B0609020204030204" pitchFamily="49" charset="0"/>
            </a:endParaRPr>
          </a:p>
          <a:p>
            <a:r>
              <a:rPr lang="en-US" dirty="0">
                <a:latin typeface="Consolas" panose="020B0609020204030204" pitchFamily="49" charset="0"/>
              </a:rPr>
              <a:t>&lt;/html&gt;</a:t>
            </a:r>
          </a:p>
        </p:txBody>
      </p:sp>
    </p:spTree>
    <p:extLst>
      <p:ext uri="{BB962C8B-B14F-4D97-AF65-F5344CB8AC3E}">
        <p14:creationId xmlns:p14="http://schemas.microsoft.com/office/powerpoint/2010/main" val="22759856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Point to be noted</a:t>
            </a:r>
            <a:endParaRPr lang="en-US" dirty="0"/>
          </a:p>
        </p:txBody>
      </p:sp>
      <p:sp>
        <p:nvSpPr>
          <p:cNvPr id="3" name="Content Placeholder 2"/>
          <p:cNvSpPr>
            <a:spLocks noGrp="1"/>
          </p:cNvSpPr>
          <p:nvPr>
            <p:ph idx="1"/>
          </p:nvPr>
        </p:nvSpPr>
        <p:spPr/>
        <p:txBody>
          <a:bodyPr/>
          <a:lstStyle/>
          <a:p>
            <a:r>
              <a:rPr lang="en-US" dirty="0"/>
              <a:t>If you examine the HTML output of the above example</a:t>
            </a:r>
            <a:r>
              <a:rPr lang="en-US" b="1" dirty="0"/>
              <a:t>, you'll notice that the PHP code is not present in the file sent from the server to your Web browser</a:t>
            </a:r>
            <a:r>
              <a:rPr lang="en-US" dirty="0"/>
              <a:t>. All of the PHP present in the Web page is processed and stripped from the page; the only thing returned to the client from the Web server is pure HTML output.</a:t>
            </a:r>
          </a:p>
          <a:p>
            <a:r>
              <a:rPr lang="en-US" dirty="0"/>
              <a:t>All PHP code must be included inside one of the three special markup tags ATE are </a:t>
            </a:r>
            <a:r>
              <a:rPr lang="en-US" dirty="0" err="1"/>
              <a:t>recognised</a:t>
            </a:r>
            <a:r>
              <a:rPr lang="en-US" dirty="0"/>
              <a:t> by the PHP Parser</a:t>
            </a:r>
            <a:r>
              <a:rPr lang="en-US" dirty="0" smtClean="0"/>
              <a:t>. Their description is given in the following slide.</a:t>
            </a:r>
            <a:endParaRPr lang="en-US" dirty="0"/>
          </a:p>
          <a:p>
            <a:endParaRPr lang="en-US" dirty="0"/>
          </a:p>
        </p:txBody>
      </p:sp>
    </p:spTree>
    <p:extLst>
      <p:ext uri="{BB962C8B-B14F-4D97-AF65-F5344CB8AC3E}">
        <p14:creationId xmlns:p14="http://schemas.microsoft.com/office/powerpoint/2010/main" val="25566566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How to write PHP code</a:t>
            </a:r>
            <a:endParaRPr lang="en-US" dirty="0"/>
          </a:p>
        </p:txBody>
      </p:sp>
      <p:sp>
        <p:nvSpPr>
          <p:cNvPr id="3" name="Content Placeholder 2"/>
          <p:cNvSpPr>
            <a:spLocks noGrp="1"/>
          </p:cNvSpPr>
          <p:nvPr>
            <p:ph idx="1"/>
          </p:nvPr>
        </p:nvSpPr>
        <p:spPr/>
        <p:txBody>
          <a:bodyPr/>
          <a:lstStyle/>
          <a:p>
            <a:r>
              <a:rPr lang="en-US" dirty="0">
                <a:latin typeface="Consolas" panose="020B0609020204030204" pitchFamily="49" charset="0"/>
              </a:rPr>
              <a:t>&lt;?php </a:t>
            </a:r>
            <a:r>
              <a:rPr lang="en-US" dirty="0" err="1">
                <a:latin typeface="Consolas" panose="020B0609020204030204" pitchFamily="49" charset="0"/>
              </a:rPr>
              <a:t>PHP</a:t>
            </a:r>
            <a:r>
              <a:rPr lang="en-US" dirty="0">
                <a:latin typeface="Consolas" panose="020B0609020204030204" pitchFamily="49" charset="0"/>
              </a:rPr>
              <a:t> code goes here ?&gt;</a:t>
            </a:r>
          </a:p>
          <a:p>
            <a:endParaRPr lang="en-US" dirty="0">
              <a:latin typeface="Consolas" panose="020B0609020204030204" pitchFamily="49" charset="0"/>
            </a:endParaRPr>
          </a:p>
          <a:p>
            <a:r>
              <a:rPr lang="en-US" dirty="0">
                <a:latin typeface="Consolas" panose="020B0609020204030204" pitchFamily="49" charset="0"/>
              </a:rPr>
              <a:t>&lt;?    PHP code goes here ?&gt;</a:t>
            </a:r>
          </a:p>
          <a:p>
            <a:endParaRPr lang="en-US" dirty="0">
              <a:latin typeface="Consolas" panose="020B0609020204030204" pitchFamily="49" charset="0"/>
            </a:endParaRPr>
          </a:p>
          <a:p>
            <a:r>
              <a:rPr lang="en-US" dirty="0">
                <a:latin typeface="Consolas" panose="020B0609020204030204" pitchFamily="49" charset="0"/>
              </a:rPr>
              <a:t>&lt;script language = "php"&gt; PHP code goes here &lt;/script&gt;</a:t>
            </a:r>
          </a:p>
          <a:p>
            <a:r>
              <a:rPr lang="en-US" dirty="0"/>
              <a:t>A most common tag is the &lt;?php...?&gt; and we will also use the same tag in our tutorial.</a:t>
            </a:r>
          </a:p>
          <a:p>
            <a:endParaRPr lang="en-US" dirty="0"/>
          </a:p>
          <a:p>
            <a:r>
              <a:rPr lang="en-US" dirty="0"/>
              <a:t>From the next chapter we will start with PHP Environment Setup on your machine and then we will dig out almost all concepts related to PHP to make you comfortable with the PHP language.</a:t>
            </a:r>
          </a:p>
        </p:txBody>
      </p:sp>
    </p:spTree>
    <p:extLst>
      <p:ext uri="{BB962C8B-B14F-4D97-AF65-F5344CB8AC3E}">
        <p14:creationId xmlns:p14="http://schemas.microsoft.com/office/powerpoint/2010/main" val="1806438836"/>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78</TotalTime>
  <Words>902</Words>
  <Application>Microsoft Office PowerPoint</Application>
  <PresentationFormat>Widescreen</PresentationFormat>
  <Paragraphs>82</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Consolas</vt:lpstr>
      <vt:lpstr>Wingdings</vt:lpstr>
      <vt:lpstr>Retrospect</vt:lpstr>
      <vt:lpstr>PHP - Introduction </vt:lpstr>
      <vt:lpstr>History and Necessity</vt:lpstr>
      <vt:lpstr>Good sides of PHP</vt:lpstr>
      <vt:lpstr>Common uses of PHP</vt:lpstr>
      <vt:lpstr>Characteristics Of PHP</vt:lpstr>
      <vt:lpstr>Characteristics of PHP</vt:lpstr>
      <vt:lpstr>Characteristics of PHP</vt:lpstr>
      <vt:lpstr>Characteristics of PHP</vt:lpstr>
      <vt:lpstr>Characteristics of PHP</vt:lpstr>
      <vt:lpstr>Characteristics of PHP</vt:lpstr>
      <vt:lpstr>Characteristics of PHP</vt:lpstr>
      <vt:lpstr>Characteristics of PHP</vt:lpstr>
      <vt:lpstr>"Hello World" Script in PHP</vt:lpstr>
      <vt:lpstr>Point to be noted</vt:lpstr>
      <vt:lpstr>How to write PHP code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 - Introduction </dc:title>
  <dc:creator>Head_CSE</dc:creator>
  <cp:lastModifiedBy>user</cp:lastModifiedBy>
  <cp:revision>38</cp:revision>
  <dcterms:created xsi:type="dcterms:W3CDTF">2019-11-06T09:00:43Z</dcterms:created>
  <dcterms:modified xsi:type="dcterms:W3CDTF">2019-11-17T17:46:28Z</dcterms:modified>
</cp:coreProperties>
</file>