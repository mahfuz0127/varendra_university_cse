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8"/>
  </p:notesMasterIdLst>
  <p:handoutMasterIdLst>
    <p:handoutMasterId r:id="rId119"/>
  </p:handoutMasterIdLst>
  <p:sldIdLst>
    <p:sldId id="264" r:id="rId2"/>
    <p:sldId id="265" r:id="rId3"/>
    <p:sldId id="346" r:id="rId4"/>
    <p:sldId id="347" r:id="rId5"/>
    <p:sldId id="348" r:id="rId6"/>
    <p:sldId id="350" r:id="rId7"/>
    <p:sldId id="427" r:id="rId8"/>
    <p:sldId id="428" r:id="rId9"/>
    <p:sldId id="429" r:id="rId10"/>
    <p:sldId id="430" r:id="rId11"/>
    <p:sldId id="351" r:id="rId12"/>
    <p:sldId id="352" r:id="rId13"/>
    <p:sldId id="353" r:id="rId14"/>
    <p:sldId id="354" r:id="rId15"/>
    <p:sldId id="355" r:id="rId16"/>
    <p:sldId id="267" r:id="rId17"/>
    <p:sldId id="431" r:id="rId18"/>
    <p:sldId id="384" r:id="rId19"/>
    <p:sldId id="269" r:id="rId20"/>
    <p:sldId id="382" r:id="rId21"/>
    <p:sldId id="337" r:id="rId22"/>
    <p:sldId id="338" r:id="rId23"/>
    <p:sldId id="339" r:id="rId24"/>
    <p:sldId id="340" r:id="rId25"/>
    <p:sldId id="341" r:id="rId26"/>
    <p:sldId id="432" r:id="rId27"/>
    <p:sldId id="433" r:id="rId28"/>
    <p:sldId id="434" r:id="rId29"/>
    <p:sldId id="435" r:id="rId30"/>
    <p:sldId id="436" r:id="rId31"/>
    <p:sldId id="438" r:id="rId32"/>
    <p:sldId id="439" r:id="rId33"/>
    <p:sldId id="440" r:id="rId34"/>
    <p:sldId id="441" r:id="rId35"/>
    <p:sldId id="442" r:id="rId36"/>
    <p:sldId id="443" r:id="rId37"/>
    <p:sldId id="444" r:id="rId38"/>
    <p:sldId id="466" r:id="rId39"/>
    <p:sldId id="467" r:id="rId40"/>
    <p:sldId id="479" r:id="rId41"/>
    <p:sldId id="473" r:id="rId42"/>
    <p:sldId id="474" r:id="rId43"/>
    <p:sldId id="475" r:id="rId44"/>
    <p:sldId id="477" r:id="rId45"/>
    <p:sldId id="478" r:id="rId46"/>
    <p:sldId id="468" r:id="rId47"/>
    <p:sldId id="471" r:id="rId48"/>
    <p:sldId id="472" r:id="rId49"/>
    <p:sldId id="388" r:id="rId50"/>
    <p:sldId id="313" r:id="rId51"/>
    <p:sldId id="445" r:id="rId52"/>
    <p:sldId id="446" r:id="rId53"/>
    <p:sldId id="447" r:id="rId54"/>
    <p:sldId id="450" r:id="rId55"/>
    <p:sldId id="451" r:id="rId56"/>
    <p:sldId id="452" r:id="rId57"/>
    <p:sldId id="453" r:id="rId58"/>
    <p:sldId id="454" r:id="rId59"/>
    <p:sldId id="455" r:id="rId60"/>
    <p:sldId id="456" r:id="rId61"/>
    <p:sldId id="457" r:id="rId62"/>
    <p:sldId id="458" r:id="rId63"/>
    <p:sldId id="459" r:id="rId64"/>
    <p:sldId id="480" r:id="rId65"/>
    <p:sldId id="481" r:id="rId66"/>
    <p:sldId id="482" r:id="rId67"/>
    <p:sldId id="483" r:id="rId68"/>
    <p:sldId id="485" r:id="rId69"/>
    <p:sldId id="486" r:id="rId70"/>
    <p:sldId id="460" r:id="rId71"/>
    <p:sldId id="463" r:id="rId72"/>
    <p:sldId id="464" r:id="rId73"/>
    <p:sldId id="465" r:id="rId74"/>
    <p:sldId id="409" r:id="rId75"/>
    <p:sldId id="410" r:id="rId76"/>
    <p:sldId id="413" r:id="rId77"/>
    <p:sldId id="414" r:id="rId78"/>
    <p:sldId id="418" r:id="rId79"/>
    <p:sldId id="419" r:id="rId80"/>
    <p:sldId id="420" r:id="rId81"/>
    <p:sldId id="421" r:id="rId82"/>
    <p:sldId id="422" r:id="rId83"/>
    <p:sldId id="391" r:id="rId84"/>
    <p:sldId id="392" r:id="rId85"/>
    <p:sldId id="393" r:id="rId86"/>
    <p:sldId id="394" r:id="rId87"/>
    <p:sldId id="395" r:id="rId88"/>
    <p:sldId id="396" r:id="rId89"/>
    <p:sldId id="397" r:id="rId90"/>
    <p:sldId id="317" r:id="rId91"/>
    <p:sldId id="318" r:id="rId92"/>
    <p:sldId id="324" r:id="rId93"/>
    <p:sldId id="366" r:id="rId94"/>
    <p:sldId id="423" r:id="rId95"/>
    <p:sldId id="424" r:id="rId96"/>
    <p:sldId id="425" r:id="rId97"/>
    <p:sldId id="426" r:id="rId98"/>
    <p:sldId id="493" r:id="rId99"/>
    <p:sldId id="494" r:id="rId100"/>
    <p:sldId id="497" r:id="rId101"/>
    <p:sldId id="491" r:id="rId102"/>
    <p:sldId id="492" r:id="rId103"/>
    <p:sldId id="487" r:id="rId104"/>
    <p:sldId id="488" r:id="rId105"/>
    <p:sldId id="489" r:id="rId106"/>
    <p:sldId id="490" r:id="rId107"/>
    <p:sldId id="381" r:id="rId108"/>
    <p:sldId id="498" r:id="rId109"/>
    <p:sldId id="499" r:id="rId110"/>
    <p:sldId id="500" r:id="rId111"/>
    <p:sldId id="501" r:id="rId112"/>
    <p:sldId id="502" r:id="rId113"/>
    <p:sldId id="503" r:id="rId114"/>
    <p:sldId id="504" r:id="rId115"/>
    <p:sldId id="505" r:id="rId116"/>
    <p:sldId id="506" r:id="rId117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400" kern="1200">
        <a:solidFill>
          <a:schemeClr val="bg1"/>
        </a:solidFill>
        <a:latin typeface="Times New Roman" pitchFamily="18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4400" kern="1200">
        <a:solidFill>
          <a:schemeClr val="bg1"/>
        </a:solidFill>
        <a:latin typeface="Times New Roman" pitchFamily="18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4400" kern="1200">
        <a:solidFill>
          <a:schemeClr val="bg1"/>
        </a:solidFill>
        <a:latin typeface="Times New Roman" pitchFamily="18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4400" kern="1200">
        <a:solidFill>
          <a:schemeClr val="bg1"/>
        </a:solidFill>
        <a:latin typeface="Times New Roman" pitchFamily="18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4400" kern="1200">
        <a:solidFill>
          <a:schemeClr val="bg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4400" kern="1200">
        <a:solidFill>
          <a:schemeClr val="bg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4400" kern="1200">
        <a:solidFill>
          <a:schemeClr val="bg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4400" kern="1200">
        <a:solidFill>
          <a:schemeClr val="bg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4400" kern="1200">
        <a:solidFill>
          <a:schemeClr val="bg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9FF"/>
    <a:srgbClr val="FF91FF"/>
    <a:srgbClr val="FF95FF"/>
    <a:srgbClr val="FF66FF"/>
    <a:srgbClr val="FF0066"/>
    <a:srgbClr val="00FF00"/>
    <a:srgbClr val="FF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64" autoAdjust="0"/>
    <p:restoredTop sz="94638" autoAdjust="0"/>
  </p:normalViewPr>
  <p:slideViewPr>
    <p:cSldViewPr>
      <p:cViewPr varScale="1">
        <p:scale>
          <a:sx n="74" d="100"/>
          <a:sy n="74" d="100"/>
        </p:scale>
        <p:origin x="-133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29699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29700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29701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0763437-6F62-4FE9-B1E8-D9AE5B058CF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966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35ACBBF-97F1-4791-A4BF-50C934F6590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2621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E259D8-FEDB-41B2-8FEB-361FE4264273}" type="slidenum">
              <a:rPr lang="en-US"/>
              <a:pPr/>
              <a:t>1</a:t>
            </a:fld>
            <a:endParaRPr lang="en-US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E259D8-FEDB-41B2-8FEB-361FE4264273}" type="slidenum">
              <a:rPr lang="en-US"/>
              <a:pPr/>
              <a:t>2</a:t>
            </a:fld>
            <a:endParaRPr lang="en-US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0C8ADA-CDE1-434E-A808-BE3B910003A8}" type="slidenum">
              <a:rPr lang="en-US"/>
              <a:pPr/>
              <a:t>3</a:t>
            </a:fld>
            <a:endParaRPr lang="en-US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1E3D13-537C-47BB-AC97-922B23BFC9D1}" type="slidenum">
              <a:rPr lang="en-US"/>
              <a:pPr/>
              <a:t>4</a:t>
            </a:fld>
            <a:endParaRPr lang="en-US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CD32C5-019C-4D2D-AC94-AB4820013998}" type="slidenum">
              <a:rPr lang="en-US"/>
              <a:pPr/>
              <a:t>5</a:t>
            </a:fld>
            <a:endParaRPr lang="en-US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5C0314-358B-4412-B450-5934CCA137C1}" type="slidenum">
              <a:rPr lang="en-US"/>
              <a:pPr/>
              <a:t>11</a:t>
            </a:fld>
            <a:endParaRPr lang="en-US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Selector: the thing I want to make styled: a paragraph, a table, a header, etc.</a:t>
            </a:r>
          </a:p>
          <a:p>
            <a:r>
              <a:rPr lang="en-US"/>
              <a:t>Declaration: what I want to do to my paragraph, table, header, etc.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76ADB1-159C-4CBF-97E9-DFBA59249FFD}" type="slidenum">
              <a:rPr lang="en-US"/>
              <a:pPr/>
              <a:t>12</a:t>
            </a:fld>
            <a:endParaRPr lang="en-US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D382B4-286A-496B-86D1-817B2A528718}" type="slidenum">
              <a:rPr lang="en-US"/>
              <a:pPr/>
              <a:t>13</a:t>
            </a:fld>
            <a:endParaRPr lang="en-US"/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CB958B-B525-47EA-B8CC-95B9FE95D976}" type="slidenum">
              <a:rPr lang="en-US"/>
              <a:pPr/>
              <a:t>14</a:t>
            </a:fld>
            <a:endParaRPr lang="en-US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if you are writing an embedded style rule!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627293-34E2-44AE-8B00-6779F2BAAD7E}" type="slidenum">
              <a:rPr lang="en-US"/>
              <a:pPr/>
              <a:t>15</a:t>
            </a:fld>
            <a:endParaRPr lang="en-US"/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if you are writing an embedded style rule!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E259D8-FEDB-41B2-8FEB-361FE4264273}" type="slidenum">
              <a:rPr lang="en-US"/>
              <a:pPr/>
              <a:t>16</a:t>
            </a:fld>
            <a:endParaRPr lang="en-US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E259D8-FEDB-41B2-8FEB-361FE4264273}" type="slidenum">
              <a:rPr lang="en-US"/>
              <a:pPr/>
              <a:t>19</a:t>
            </a:fld>
            <a:endParaRPr lang="en-US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B20CE2-5856-47FD-BB99-03C56C8B0A32}" type="slidenum">
              <a:rPr lang="en-US"/>
              <a:pPr/>
              <a:t>21</a:t>
            </a:fld>
            <a:endParaRPr lang="en-US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1CA637-9972-4C18-9813-018D239190B0}" type="slidenum">
              <a:rPr lang="en-US"/>
              <a:pPr/>
              <a:t>22</a:t>
            </a:fld>
            <a:endParaRPr lang="en-US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310CBB-A266-458D-95BB-D945A403736F}" type="slidenum">
              <a:rPr lang="en-US"/>
              <a:pPr/>
              <a:t>23</a:t>
            </a:fld>
            <a:endParaRPr lang="en-US"/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389ACE-CB12-4FEC-A8AF-F71BC7FACBA3}" type="slidenum">
              <a:rPr lang="en-US"/>
              <a:pPr/>
              <a:t>24</a:t>
            </a:fld>
            <a:endParaRPr lang="en-US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5BC747-23D3-4ACB-A606-15ADDE2C0518}" type="slidenum">
              <a:rPr lang="en-US"/>
              <a:pPr/>
              <a:t>25</a:t>
            </a:fld>
            <a:endParaRPr lang="en-US"/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D923BF9-438D-4536-882C-AE593895B955}" type="slidenum">
              <a:rPr lang="en-GB"/>
              <a:pPr/>
              <a:t>38</a:t>
            </a:fld>
            <a:endParaRPr lang="en-GB"/>
          </a:p>
        </p:txBody>
      </p:sp>
      <p:sp>
        <p:nvSpPr>
          <p:cNvPr id="8601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1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78463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B925A31-ABBE-4575-8659-985BC6C1DD7A}" type="slidenum">
              <a:rPr lang="en-GB"/>
              <a:pPr/>
              <a:t>39</a:t>
            </a:fld>
            <a:endParaRPr lang="en-GB"/>
          </a:p>
        </p:txBody>
      </p:sp>
      <p:sp>
        <p:nvSpPr>
          <p:cNvPr id="87041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78463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04EAD9D-A6BE-4E34-B9C0-B55FE5F7E6CF}" type="slidenum">
              <a:rPr lang="en-GB"/>
              <a:pPr/>
              <a:t>46</a:t>
            </a:fld>
            <a:endParaRPr lang="en-GB"/>
          </a:p>
        </p:txBody>
      </p:sp>
      <p:sp>
        <p:nvSpPr>
          <p:cNvPr id="88065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0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78463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5527430-2E54-4895-841C-0A04F1AB3230}" type="slidenum">
              <a:rPr lang="en-GB"/>
              <a:pPr/>
              <a:t>47</a:t>
            </a:fld>
            <a:endParaRPr lang="en-GB"/>
          </a:p>
        </p:txBody>
      </p:sp>
      <p:sp>
        <p:nvSpPr>
          <p:cNvPr id="9113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13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78463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90358AD-3A92-4F3F-AF67-F17004C2CA7A}" type="slidenum">
              <a:rPr lang="en-GB"/>
              <a:pPr/>
              <a:t>48</a:t>
            </a:fld>
            <a:endParaRPr lang="en-GB"/>
          </a:p>
        </p:txBody>
      </p:sp>
      <p:sp>
        <p:nvSpPr>
          <p:cNvPr id="9625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5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78463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Dalhousie CS4173  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Lecture: CSS Essentials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Winter 2006 version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C064DD-22C1-4360-A020-6E14D32C9539}" type="slidenum">
              <a:rPr lang="en-US"/>
              <a:pPr/>
              <a:t>50</a:t>
            </a:fld>
            <a:endParaRPr lang="en-US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52C1C6-9F07-45AC-B718-3E4FB5BAF4A9}" type="slidenum">
              <a:rPr lang="en-US"/>
              <a:pPr/>
              <a:t>64</a:t>
            </a:fld>
            <a:endParaRPr lang="en-US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9EE9FD-CF48-4266-BFA2-898FA77C4B57}" type="slidenum">
              <a:rPr lang="en-US"/>
              <a:pPr/>
              <a:t>65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FFA0CD-9912-4D2D-A83C-602548BBA98B}" type="slidenum">
              <a:rPr lang="en-US"/>
              <a:pPr/>
              <a:t>66</a:t>
            </a:fld>
            <a:endParaRPr lang="en-US"/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751199-547A-4D8B-A0C6-19B3F0A0F329}" type="slidenum">
              <a:rPr lang="en-US"/>
              <a:pPr/>
              <a:t>74</a:t>
            </a:fld>
            <a:endParaRPr lang="en-US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6028E1-81B8-4D4E-9F5D-2343E114CDE5}" type="slidenum">
              <a:rPr lang="en-US"/>
              <a:pPr/>
              <a:t>75</a:t>
            </a:fld>
            <a:endParaRPr lang="en-US"/>
          </a:p>
        </p:txBody>
      </p:sp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355334-8106-4158-A90E-BB59620B7B14}" type="slidenum">
              <a:rPr lang="en-US"/>
              <a:pPr/>
              <a:t>76</a:t>
            </a:fld>
            <a:endParaRPr lang="en-US"/>
          </a:p>
        </p:txBody>
      </p:sp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D4018D-9115-431F-9EC9-607A0B3562EA}" type="slidenum">
              <a:rPr lang="en-US"/>
              <a:pPr/>
              <a:t>77</a:t>
            </a:fld>
            <a:endParaRPr lang="en-US"/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00095E-D23E-466E-9C49-E61D4DED1A4E}" type="slidenum">
              <a:rPr lang="en-US"/>
              <a:pPr/>
              <a:t>78</a:t>
            </a:fld>
            <a:endParaRPr lang="en-US"/>
          </a:p>
        </p:txBody>
      </p:sp>
      <p:sp>
        <p:nvSpPr>
          <p:cNvPr id="2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B7D8CE-18DA-467D-97AF-70C0B87C5218}" type="slidenum">
              <a:rPr lang="en-US"/>
              <a:pPr/>
              <a:t>79</a:t>
            </a:fld>
            <a:endParaRPr lang="en-US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A81A10-ABE9-40C2-878D-AB1BB6D3B182}" type="slidenum">
              <a:rPr lang="en-US"/>
              <a:pPr/>
              <a:t>80</a:t>
            </a:fld>
            <a:endParaRPr lang="en-US"/>
          </a:p>
        </p:txBody>
      </p:sp>
      <p:sp>
        <p:nvSpPr>
          <p:cNvPr id="248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95CB3C-9060-4374-99EB-57B79425DF5F}" type="slidenum">
              <a:rPr lang="en-US"/>
              <a:pPr/>
              <a:t>81</a:t>
            </a:fld>
            <a:endParaRPr lang="en-US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1BFEA0-B4E0-41CC-889A-FF7089CD7457}" type="slidenum">
              <a:rPr lang="en-US"/>
              <a:pPr/>
              <a:t>82</a:t>
            </a:fld>
            <a:endParaRPr lang="en-US"/>
          </a:p>
        </p:txBody>
      </p:sp>
      <p:sp>
        <p:nvSpPr>
          <p:cNvPr id="250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Dalhousie CS4173  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Lecture: CSS Essentials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Winter 2006 version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8582E3-5305-403C-8D9A-B109E9EAACC1}" type="slidenum">
              <a:rPr lang="en-US"/>
              <a:pPr/>
              <a:t>90</a:t>
            </a:fld>
            <a:endParaRPr lang="en-US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Dalhousie CS4173  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Lecture: CSS Essentials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Winter 2006 version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949D62-59B8-4A72-8B9A-FAB15D4166E6}" type="slidenum">
              <a:rPr lang="en-US"/>
              <a:pPr/>
              <a:t>91</a:t>
            </a:fld>
            <a:endParaRPr lang="en-US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Dalhousie CS4173  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Lecture: CSS Essentials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Winter 2006 version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E10784-3688-488C-9F56-B9AB5DF960E6}" type="slidenum">
              <a:rPr lang="en-US"/>
              <a:pPr/>
              <a:t>92</a:t>
            </a:fld>
            <a:endParaRPr lang="en-US"/>
          </a:p>
        </p:txBody>
      </p:sp>
      <p:sp>
        <p:nvSpPr>
          <p:cNvPr id="147458" name="Rectangle 102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7459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4102CBF-9768-4D93-BA6B-939FF1509840}" type="slidenum">
              <a:rPr lang="en-US" smtClean="0"/>
              <a:pPr>
                <a:defRPr/>
              </a:pPr>
              <a:t>94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013F43-0BE9-4B92-B3A3-32E0D6D98156}" type="slidenum">
              <a:rPr lang="en-US" smtClean="0"/>
              <a:pPr>
                <a:defRPr/>
              </a:pPr>
              <a:t>95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49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BC473C-76C6-4E57-B851-F53DB2D88FF0}" type="slidenum">
              <a:rPr lang="en-US" smtClean="0"/>
              <a:pPr>
                <a:defRPr/>
              </a:pPr>
              <a:t>96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20131F7-EF23-412B-8A84-F63A8D7FEE18}" type="slidenum">
              <a:rPr lang="en-US" smtClean="0"/>
              <a:pPr>
                <a:defRPr/>
              </a:pPr>
              <a:t>97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E259D8-FEDB-41B2-8FEB-361FE4264273}" type="slidenum">
              <a:rPr lang="en-US"/>
              <a:pPr/>
              <a:t>98</a:t>
            </a:fld>
            <a:endParaRPr lang="en-US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E259D8-FEDB-41B2-8FEB-361FE4264273}" type="slidenum">
              <a:rPr lang="en-US"/>
              <a:pPr/>
              <a:t>99</a:t>
            </a:fld>
            <a:endParaRPr lang="en-US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E259D8-FEDB-41B2-8FEB-361FE4264273}" type="slidenum">
              <a:rPr lang="en-US"/>
              <a:pPr/>
              <a:t>100</a:t>
            </a:fld>
            <a:endParaRPr lang="en-US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4001E85-26D2-41D0-B661-177D95CA31E1}" type="slidenum">
              <a:rPr lang="en-GB"/>
              <a:pPr/>
              <a:t>103</a:t>
            </a:fld>
            <a:endParaRPr lang="en-GB"/>
          </a:p>
        </p:txBody>
      </p:sp>
      <p:sp>
        <p:nvSpPr>
          <p:cNvPr id="10649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4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78463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7C5EB79-6C14-4409-9711-1945565938F3}" type="slidenum">
              <a:rPr lang="en-GB"/>
              <a:pPr/>
              <a:t>104</a:t>
            </a:fld>
            <a:endParaRPr lang="en-GB"/>
          </a:p>
        </p:txBody>
      </p:sp>
      <p:sp>
        <p:nvSpPr>
          <p:cNvPr id="107521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2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78463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DF85C27-1D9F-43FA-B5C4-8E46281409ED}" type="slidenum">
              <a:rPr lang="en-GB"/>
              <a:pPr/>
              <a:t>105</a:t>
            </a:fld>
            <a:endParaRPr lang="en-GB"/>
          </a:p>
        </p:txBody>
      </p:sp>
      <p:sp>
        <p:nvSpPr>
          <p:cNvPr id="108545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4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78463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6C99562-6646-4D60-88DD-F7CE6D56AB7C}" type="slidenum">
              <a:rPr lang="en-GB"/>
              <a:pPr/>
              <a:t>106</a:t>
            </a:fld>
            <a:endParaRPr lang="en-GB"/>
          </a:p>
        </p:txBody>
      </p:sp>
      <p:sp>
        <p:nvSpPr>
          <p:cNvPr id="109569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57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78463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936002-1A64-4D4C-8774-84A7367AFE7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D91522-6C66-47B3-BA3B-A36203CE70A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41D37B-B698-4E73-AECD-9696A1001DC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9203C1-9751-475A-8BAC-63D0810E4FA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4D396C-A240-43A6-98DA-95EFCBFE55A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810110-3C01-4EEE-B9EE-853E00C122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1169D4-6755-469B-9D33-E3D5DF791A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EB50F6-C424-46D6-B5FC-7CE9F4337EE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CAF309-CCE7-4D4E-BE70-354DA459CD9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8867CF-D532-4894-85F5-2A126FDC473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FB8DC2-489A-4F50-9789-3B425DA554F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5E6C4D5-2A28-46D4-813E-E382D192457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2B4E55F-9E6C-46F4-8675-A906722A3CD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40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9.xml"/><Relationship Id="rId4" Type="http://schemas.openxmlformats.org/officeDocument/2006/relationships/slide" Target="slide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wm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0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://cita.rehab.uiuc.edu/courses/2003-02-REHAB711NC/lec09/slide20.html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w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2.png"/><Relationship Id="rId4" Type="http://schemas.openxmlformats.org/officeDocument/2006/relationships/image" Target="../media/image55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685800" y="3810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dirty="0" smtClean="0">
                <a:solidFill>
                  <a:schemeClr val="accent2"/>
                </a:solidFill>
              </a:rPr>
              <a:t>CSS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2819400"/>
            <a:ext cx="7772400" cy="3048000"/>
          </a:xfrm>
          <a:ln/>
        </p:spPr>
        <p:txBody>
          <a:bodyPr/>
          <a:lstStyle/>
          <a:p>
            <a:pPr algn="ctr">
              <a:buFontTx/>
              <a:buNone/>
            </a:pPr>
            <a:r>
              <a:rPr lang="en-US" sz="4000" dirty="0">
                <a:solidFill>
                  <a:schemeClr val="bg1"/>
                </a:solidFill>
              </a:rPr>
              <a:t>Cascading Style </a:t>
            </a:r>
            <a:r>
              <a:rPr lang="en-US" sz="4000" dirty="0" smtClean="0">
                <a:solidFill>
                  <a:schemeClr val="bg1"/>
                </a:solidFill>
              </a:rPr>
              <a:t>Sheets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685800" y="3810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dirty="0" smtClean="0">
                <a:solidFill>
                  <a:schemeClr val="accent2"/>
                </a:solidFill>
              </a:rPr>
              <a:t>CSS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5943600" cy="3048000"/>
          </a:xfrm>
          <a:ln/>
        </p:spPr>
        <p:txBody>
          <a:bodyPr/>
          <a:lstStyle/>
          <a:p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Cascading Style Sheets</a:t>
            </a:r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 (</a:t>
            </a:r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CSS</a:t>
            </a:r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): is a simple mechanism for </a:t>
            </a:r>
            <a:r>
              <a:rPr lang="en-US" altLang="zh-CN" i="1" dirty="0" smtClean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adding style</a:t>
            </a:r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 (e.g. fonts, colors, layouts) to Web documents. </a:t>
            </a:r>
          </a:p>
          <a:p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Styles provide </a:t>
            </a:r>
            <a:r>
              <a:rPr lang="en-US" altLang="zh-CN" i="1" dirty="0" smtClean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powerful control</a:t>
            </a:r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 over the </a:t>
            </a:r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presentation</a:t>
            </a:r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 of web pages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4" name="Picture 4" descr="275px-CS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48401" y="1524000"/>
            <a:ext cx="2895600" cy="29813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What is CSS? (1)</a:t>
            </a: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685800" y="6858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>
                <a:solidFill>
                  <a:schemeClr val="accent2"/>
                </a:solidFill>
              </a:rPr>
              <a:t>What is CSS?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>
                <a:solidFill>
                  <a:schemeClr val="bg1"/>
                </a:solidFill>
              </a:rPr>
              <a:t>CSS stands for “Cascading Style Sheets”</a:t>
            </a:r>
          </a:p>
          <a:p>
            <a:pPr>
              <a:buFontTx/>
              <a:buNone/>
            </a:pPr>
            <a:endParaRPr lang="en-US">
              <a:solidFill>
                <a:schemeClr val="bg1"/>
              </a:solidFill>
            </a:endParaRPr>
          </a:p>
          <a:p>
            <a:pPr>
              <a:buFontTx/>
              <a:buNone/>
            </a:pPr>
            <a:r>
              <a:rPr lang="en-US" u="sng">
                <a:solidFill>
                  <a:schemeClr val="bg1"/>
                </a:solidFill>
              </a:rPr>
              <a:t>Cascading</a:t>
            </a:r>
            <a:r>
              <a:rPr lang="en-US">
                <a:solidFill>
                  <a:schemeClr val="bg1"/>
                </a:solidFill>
              </a:rPr>
              <a:t>:  refers to the procedure that determines which style will apply to a certain section, if you have more than one style rule.</a:t>
            </a:r>
          </a:p>
          <a:p>
            <a:pPr>
              <a:buFontTx/>
              <a:buNone/>
            </a:pP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What is CSS? (2)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685800" y="6858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>
                <a:solidFill>
                  <a:schemeClr val="accent2"/>
                </a:solidFill>
              </a:rPr>
              <a:t>What is CSS?</a:t>
            </a:r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>
                <a:solidFill>
                  <a:schemeClr val="bg1"/>
                </a:solidFill>
              </a:rPr>
              <a:t>CSS stands for “Cascading Style Sheets”</a:t>
            </a:r>
          </a:p>
          <a:p>
            <a:pPr>
              <a:buFontTx/>
              <a:buNone/>
            </a:pPr>
            <a:endParaRPr lang="en-US">
              <a:solidFill>
                <a:schemeClr val="bg1"/>
              </a:solidFill>
            </a:endParaRPr>
          </a:p>
          <a:p>
            <a:pPr>
              <a:buFontTx/>
              <a:buNone/>
            </a:pPr>
            <a:r>
              <a:rPr lang="en-US" u="sng">
                <a:solidFill>
                  <a:schemeClr val="bg1"/>
                </a:solidFill>
              </a:rPr>
              <a:t>Style</a:t>
            </a:r>
            <a:r>
              <a:rPr lang="en-US">
                <a:solidFill>
                  <a:schemeClr val="bg1"/>
                </a:solidFill>
              </a:rPr>
              <a:t>: how you want a certain part of your page to look.  You can set things like color, margins, font, etc for things like tables, paragraphs, and headings.</a:t>
            </a:r>
          </a:p>
          <a:p>
            <a:pPr>
              <a:buFontTx/>
              <a:buNone/>
            </a:pP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What is CSS? (3)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685800" y="6858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>
                <a:solidFill>
                  <a:schemeClr val="accent2"/>
                </a:solidFill>
              </a:rPr>
              <a:t>What is CSS?</a:t>
            </a: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876800"/>
          </a:xfrm>
        </p:spPr>
        <p:txBody>
          <a:bodyPr/>
          <a:lstStyle/>
          <a:p>
            <a:pPr>
              <a:buFontTx/>
              <a:buNone/>
            </a:pPr>
            <a:r>
              <a:rPr lang="en-US" dirty="0">
                <a:solidFill>
                  <a:schemeClr val="bg1"/>
                </a:solidFill>
              </a:rPr>
              <a:t>CSS stands for “Cascading Style Sheets”</a:t>
            </a:r>
          </a:p>
          <a:p>
            <a:pPr>
              <a:buFontTx/>
              <a:buNone/>
            </a:pPr>
            <a:r>
              <a:rPr lang="en-US" u="sng" dirty="0" smtClean="0">
                <a:solidFill>
                  <a:schemeClr val="bg1"/>
                </a:solidFill>
              </a:rPr>
              <a:t>Sheets</a:t>
            </a:r>
            <a:r>
              <a:rPr lang="en-US" dirty="0">
                <a:solidFill>
                  <a:schemeClr val="bg1"/>
                </a:solidFill>
              </a:rPr>
              <a:t>: the “sheets” are like templates, or a set of rules, for determining how the webpage will look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pPr>
              <a:buFontTx/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So, CSS (all together) is a </a:t>
            </a:r>
            <a:r>
              <a:rPr lang="en-US" i="1" dirty="0" smtClean="0">
                <a:solidFill>
                  <a:schemeClr val="bg1"/>
                </a:solidFill>
              </a:rPr>
              <a:t>styling language</a:t>
            </a:r>
            <a:r>
              <a:rPr lang="en-US" dirty="0" smtClean="0">
                <a:solidFill>
                  <a:schemeClr val="bg1"/>
                </a:solidFill>
              </a:rPr>
              <a:t> – a set of rules to tell browsers how your webpage should look.</a:t>
            </a:r>
          </a:p>
          <a:p>
            <a:pPr>
              <a:buFontTx/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FontTx/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What is “Style”?</a:t>
            </a: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685800" y="6858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>
                <a:solidFill>
                  <a:schemeClr val="accent2"/>
                </a:solidFill>
              </a:rPr>
              <a:t>What is “Style”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>
                <a:solidFill>
                  <a:schemeClr val="bg1"/>
                </a:solidFill>
              </a:rPr>
              <a:t>“Style” is a command that you set to tell the browser how a certain section of your webpage should look.</a:t>
            </a:r>
          </a:p>
          <a:p>
            <a:pPr>
              <a:buFontTx/>
              <a:buNone/>
            </a:pPr>
            <a:endParaRPr lang="en-US">
              <a:solidFill>
                <a:schemeClr val="bg1"/>
              </a:solidFill>
            </a:endParaRPr>
          </a:p>
          <a:p>
            <a:pPr>
              <a:buFontTx/>
              <a:buNone/>
            </a:pPr>
            <a:r>
              <a:rPr lang="en-US">
                <a:solidFill>
                  <a:schemeClr val="bg1"/>
                </a:solidFill>
              </a:rPr>
              <a:t>You can use style on many HTML “elements”</a:t>
            </a:r>
          </a:p>
          <a:p>
            <a:pPr>
              <a:buFontTx/>
              <a:buNone/>
            </a:pPr>
            <a:r>
              <a:rPr lang="en-US">
                <a:solidFill>
                  <a:schemeClr val="bg1"/>
                </a:solidFill>
              </a:rPr>
              <a:t>(like &lt;p&gt; &lt;h1&gt; &lt;table&gt; etc)</a:t>
            </a:r>
          </a:p>
          <a:p>
            <a:pPr>
              <a:buFontTx/>
              <a:buNone/>
            </a:pP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What is “Style”?</a:t>
            </a: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685800" y="6858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dirty="0" smtClean="0">
                <a:solidFill>
                  <a:schemeClr val="accent2"/>
                </a:solidFill>
              </a:rPr>
              <a:t>Enter CSS Timeline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5613" lvl="1" indent="1588" eaLnBrk="1" hangingPunct="1">
              <a:buFont typeface="Arial" charset="0"/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CSS1- December </a:t>
            </a:r>
            <a:r>
              <a:rPr lang="en-US" sz="2400" dirty="0">
                <a:solidFill>
                  <a:schemeClr val="bg1"/>
                </a:solidFill>
              </a:rPr>
              <a:t>1996</a:t>
            </a:r>
          </a:p>
          <a:p>
            <a:pPr marL="455613" lvl="1" indent="1588" eaLnBrk="1" hangingPunct="1">
              <a:buFont typeface="Arial" charset="0"/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455613" lvl="1" indent="1588" eaLnBrk="1" hangingPunct="1">
              <a:buFont typeface="Arial" charset="0"/>
              <a:buNone/>
            </a:pPr>
            <a:r>
              <a:rPr lang="en-US" sz="2400" dirty="0">
                <a:solidFill>
                  <a:schemeClr val="bg1"/>
                </a:solidFill>
              </a:rPr>
              <a:t>CSS </a:t>
            </a:r>
            <a:r>
              <a:rPr lang="en-US" sz="2400" dirty="0" smtClean="0">
                <a:solidFill>
                  <a:schemeClr val="bg1"/>
                </a:solidFill>
              </a:rPr>
              <a:t>2- Became </a:t>
            </a:r>
            <a:r>
              <a:rPr lang="en-US" sz="2400" dirty="0">
                <a:solidFill>
                  <a:schemeClr val="bg1"/>
                </a:solidFill>
              </a:rPr>
              <a:t>a W3C Recommendation in May 1998</a:t>
            </a:r>
          </a:p>
          <a:p>
            <a:pPr marL="455613" lvl="1" indent="1588" eaLnBrk="1" hangingPunct="1">
              <a:buFont typeface="Arial" charset="0"/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455613" lvl="1" indent="1588" eaLnBrk="1" hangingPunct="1">
              <a:buFont typeface="Arial" charset="0"/>
              <a:buNone/>
            </a:pPr>
            <a:r>
              <a:rPr lang="en-US" sz="2400" dirty="0">
                <a:solidFill>
                  <a:schemeClr val="bg1"/>
                </a:solidFill>
              </a:rPr>
              <a:t>CSS </a:t>
            </a:r>
            <a:r>
              <a:rPr lang="en-US" sz="2400" dirty="0" smtClean="0">
                <a:solidFill>
                  <a:schemeClr val="bg1"/>
                </a:solidFill>
              </a:rPr>
              <a:t>3- CSS </a:t>
            </a:r>
            <a:r>
              <a:rPr lang="en-US" sz="2400" dirty="0">
                <a:solidFill>
                  <a:schemeClr val="bg1"/>
                </a:solidFill>
              </a:rPr>
              <a:t>level 3 has been under development since December 15, 2005</a:t>
            </a:r>
          </a:p>
          <a:p>
            <a:pPr>
              <a:buFontTx/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85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What is “Style”?</a:t>
            </a: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685800" y="6858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dirty="0" smtClean="0">
                <a:solidFill>
                  <a:schemeClr val="accent2"/>
                </a:solidFill>
              </a:rPr>
              <a:t>CSS Versions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 dirty="0" smtClean="0">
                <a:solidFill>
                  <a:schemeClr val="bg1"/>
                </a:solidFill>
              </a:rPr>
              <a:t>CSS </a:t>
            </a:r>
            <a:r>
              <a:rPr lang="en-US" sz="1800" b="1" dirty="0">
                <a:solidFill>
                  <a:schemeClr val="bg1"/>
                </a:solidFill>
              </a:rPr>
              <a:t>1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Font properties such as typeface and emphasis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Color of text, backgrounds, and other elements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Text attributes such as spacing between words, letters, and lines of text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Alignment of text, images, tables and other elements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Margin, border, padding, and positioning for most elements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Unique identification and generic classification of groups of attributes</a:t>
            </a:r>
          </a:p>
          <a:p>
            <a:r>
              <a:rPr lang="en-US" sz="1800" dirty="0">
                <a:solidFill>
                  <a:schemeClr val="bg1"/>
                </a:solidFill>
              </a:rPr>
              <a:t>CSS2 </a:t>
            </a:r>
          </a:p>
          <a:p>
            <a:pPr lvl="1">
              <a:buFont typeface="Arial" charset="0"/>
              <a:buNone/>
            </a:pPr>
            <a:r>
              <a:rPr lang="en-US" sz="1800" dirty="0">
                <a:solidFill>
                  <a:schemeClr val="bg1"/>
                </a:solidFill>
              </a:rPr>
              <a:t>includes a number of new capabilities like 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absolute, relative, and fixed positioning of elements and z-index, 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the concept of media types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support for aural style sheets and bidirectional text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new font properties such as shadows.</a:t>
            </a:r>
          </a:p>
        </p:txBody>
      </p:sp>
    </p:spTree>
    <p:extLst>
      <p:ext uri="{BB962C8B-B14F-4D97-AF65-F5344CB8AC3E}">
        <p14:creationId xmlns:p14="http://schemas.microsoft.com/office/powerpoint/2010/main" val="257885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What is “Style”?</a:t>
            </a: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685800" y="6858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dirty="0" smtClean="0">
                <a:solidFill>
                  <a:schemeClr val="accent2"/>
                </a:solidFill>
              </a:rPr>
              <a:t>CSS Versions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>
                <a:solidFill>
                  <a:schemeClr val="bg1"/>
                </a:solidFill>
              </a:rPr>
              <a:t>CSS3</a:t>
            </a:r>
          </a:p>
          <a:p>
            <a:pPr>
              <a:buFont typeface="Arial" charset="0"/>
              <a:buNone/>
            </a:pPr>
            <a:r>
              <a:rPr lang="en-US" sz="1800" dirty="0">
                <a:solidFill>
                  <a:schemeClr val="bg1"/>
                </a:solidFill>
              </a:rPr>
              <a:t>	Modules include:</a:t>
            </a:r>
          </a:p>
          <a:p>
            <a:pPr lvl="1"/>
            <a:r>
              <a:rPr lang="en-US" sz="1800" b="1" dirty="0">
                <a:solidFill>
                  <a:schemeClr val="bg1"/>
                </a:solidFill>
              </a:rPr>
              <a:t>Borders (</a:t>
            </a:r>
            <a:r>
              <a:rPr lang="en-US" sz="1800" dirty="0">
                <a:solidFill>
                  <a:schemeClr val="bg1"/>
                </a:solidFill>
              </a:rPr>
              <a:t>border-radius, box-shadow)</a:t>
            </a:r>
          </a:p>
          <a:p>
            <a:pPr lvl="1"/>
            <a:r>
              <a:rPr lang="en-US" sz="1800" b="1" dirty="0">
                <a:solidFill>
                  <a:schemeClr val="bg1"/>
                </a:solidFill>
              </a:rPr>
              <a:t>Backgrounds (m</a:t>
            </a:r>
            <a:r>
              <a:rPr lang="en-US" sz="1800" dirty="0">
                <a:solidFill>
                  <a:schemeClr val="bg1"/>
                </a:solidFill>
              </a:rPr>
              <a:t>ultiple backgrounds)</a:t>
            </a:r>
          </a:p>
          <a:p>
            <a:pPr lvl="1"/>
            <a:r>
              <a:rPr lang="en-US" sz="1800" b="1" dirty="0">
                <a:solidFill>
                  <a:schemeClr val="bg1"/>
                </a:solidFill>
              </a:rPr>
              <a:t>Color (</a:t>
            </a:r>
            <a:r>
              <a:rPr lang="en-US" sz="1800" dirty="0">
                <a:solidFill>
                  <a:schemeClr val="bg1"/>
                </a:solidFill>
              </a:rPr>
              <a:t>HSL colors, HSLA colors, opacity, RGBA colors)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Also: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media queries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multi-column layout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Web fonts</a:t>
            </a:r>
          </a:p>
        </p:txBody>
      </p:sp>
    </p:spTree>
    <p:extLst>
      <p:ext uri="{BB962C8B-B14F-4D97-AF65-F5344CB8AC3E}">
        <p14:creationId xmlns:p14="http://schemas.microsoft.com/office/powerpoint/2010/main" val="2710371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What is “Style”?</a:t>
            </a: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685800" y="6858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</a:rPr>
              <a:t>The Separation of Style, Content and Behavior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Core Concept of web development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HTML + CSS + JavaScript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Content + Style + Behavior</a:t>
            </a:r>
          </a:p>
        </p:txBody>
      </p:sp>
    </p:spTree>
    <p:extLst>
      <p:ext uri="{BB962C8B-B14F-4D97-AF65-F5344CB8AC3E}">
        <p14:creationId xmlns:p14="http://schemas.microsoft.com/office/powerpoint/2010/main" val="2089211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How to write style rules (1)</a:t>
            </a:r>
          </a:p>
        </p:txBody>
      </p:sp>
      <p:sp>
        <p:nvSpPr>
          <p:cNvPr id="76803" name="Rectangle 3"/>
          <p:cNvSpPr>
            <a:spLocks noChangeArrowheads="1"/>
          </p:cNvSpPr>
          <p:nvPr/>
        </p:nvSpPr>
        <p:spPr bwMode="auto">
          <a:xfrm>
            <a:off x="685800" y="6858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>
                <a:solidFill>
                  <a:schemeClr val="accent2"/>
                </a:solidFill>
              </a:rPr>
              <a:t>How to write style rules</a:t>
            </a:r>
          </a:p>
        </p:txBody>
      </p:sp>
      <p:sp>
        <p:nvSpPr>
          <p:cNvPr id="7680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>
                <a:solidFill>
                  <a:schemeClr val="bg1"/>
                </a:solidFill>
              </a:rPr>
              <a:t>Two parts: (1) selector  and  (2) declaration.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>
                <a:solidFill>
                  <a:schemeClr val="bg1"/>
                </a:solidFill>
              </a:rPr>
              <a:t>	</a:t>
            </a:r>
            <a:r>
              <a:rPr lang="en-US" u="sng">
                <a:solidFill>
                  <a:schemeClr val="bg1"/>
                </a:solidFill>
              </a:rPr>
              <a:t>Selector</a:t>
            </a:r>
            <a:r>
              <a:rPr lang="en-US">
                <a:solidFill>
                  <a:schemeClr val="bg1"/>
                </a:solidFill>
              </a:rPr>
              <a:t>: the HTML element you want to add style to.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>
                <a:solidFill>
                  <a:schemeClr val="bg1"/>
                </a:solidFill>
              </a:rPr>
              <a:t>		&lt;p&gt;  &lt;h1&gt;  &lt;table&gt;  etc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>
                <a:solidFill>
                  <a:schemeClr val="bg1"/>
                </a:solidFill>
              </a:rPr>
              <a:t>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>
                <a:solidFill>
                  <a:schemeClr val="bg1"/>
                </a:solidFill>
              </a:rPr>
              <a:t>	</a:t>
            </a:r>
            <a:r>
              <a:rPr lang="en-US" u="sng">
                <a:solidFill>
                  <a:schemeClr val="bg1"/>
                </a:solidFill>
              </a:rPr>
              <a:t>Declaration</a:t>
            </a:r>
            <a:r>
              <a:rPr lang="en-US">
                <a:solidFill>
                  <a:schemeClr val="bg1"/>
                </a:solidFill>
              </a:rPr>
              <a:t>: the statement of style for that element.  Made up of </a:t>
            </a:r>
            <a:r>
              <a:rPr lang="en-US" i="1">
                <a:solidFill>
                  <a:schemeClr val="bg1"/>
                </a:solidFill>
              </a:rPr>
              <a:t>property</a:t>
            </a:r>
            <a:r>
              <a:rPr lang="en-US">
                <a:solidFill>
                  <a:schemeClr val="bg1"/>
                </a:solidFill>
              </a:rPr>
              <a:t> and </a:t>
            </a:r>
            <a:r>
              <a:rPr lang="en-US" i="1">
                <a:solidFill>
                  <a:schemeClr val="bg1"/>
                </a:solidFill>
              </a:rPr>
              <a:t>value</a:t>
            </a:r>
            <a:r>
              <a:rPr lang="en-US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How to write style rules (2)</a:t>
            </a:r>
          </a:p>
        </p:txBody>
      </p:sp>
      <p:sp>
        <p:nvSpPr>
          <p:cNvPr id="78851" name="Rectangle 3"/>
          <p:cNvSpPr>
            <a:spLocks noChangeArrowheads="1"/>
          </p:cNvSpPr>
          <p:nvPr/>
        </p:nvSpPr>
        <p:spPr bwMode="auto">
          <a:xfrm>
            <a:off x="685800" y="6858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>
                <a:solidFill>
                  <a:schemeClr val="accent2"/>
                </a:solidFill>
              </a:rPr>
              <a:t>How to write style rules</a:t>
            </a: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en-US" sz="2800" dirty="0">
                <a:solidFill>
                  <a:schemeClr val="bg1"/>
                </a:solidFill>
              </a:rPr>
              <a:t>Selector {declaration;}</a:t>
            </a:r>
          </a:p>
          <a:p>
            <a:pPr>
              <a:buFontTx/>
              <a:buNone/>
            </a:pPr>
            <a:r>
              <a:rPr lang="en-US" sz="2800" dirty="0">
                <a:solidFill>
                  <a:schemeClr val="bg1"/>
                </a:solidFill>
              </a:rPr>
              <a:t>Declaration = {property: value;}</a:t>
            </a:r>
          </a:p>
          <a:p>
            <a:pPr>
              <a:buFontTx/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>
              <a:buFontTx/>
              <a:buNone/>
            </a:pPr>
            <a:r>
              <a:rPr lang="en-US" sz="2800" dirty="0">
                <a:solidFill>
                  <a:schemeClr val="bg1"/>
                </a:solidFill>
              </a:rPr>
              <a:t>Property: what aspect you want to change</a:t>
            </a:r>
          </a:p>
          <a:p>
            <a:pPr>
              <a:buFontTx/>
              <a:buNone/>
            </a:pPr>
            <a:r>
              <a:rPr lang="en-US" sz="2800" dirty="0">
                <a:solidFill>
                  <a:schemeClr val="bg1"/>
                </a:solidFill>
              </a:rPr>
              <a:t>	ex: color, font, margins, etc.</a:t>
            </a:r>
          </a:p>
          <a:p>
            <a:pPr>
              <a:buFontTx/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>
              <a:buFontTx/>
              <a:buNone/>
            </a:pPr>
            <a:r>
              <a:rPr lang="en-US" sz="2800" dirty="0">
                <a:solidFill>
                  <a:schemeClr val="bg1"/>
                </a:solidFill>
              </a:rPr>
              <a:t>Value: the exact setting for that aspect.</a:t>
            </a:r>
          </a:p>
          <a:p>
            <a:pPr>
              <a:buFontTx/>
              <a:buNone/>
            </a:pPr>
            <a:r>
              <a:rPr lang="en-US" sz="2800" dirty="0">
                <a:solidFill>
                  <a:schemeClr val="bg1"/>
                </a:solidFill>
              </a:rPr>
              <a:t>	ex: red, italic, 40px, etc.</a:t>
            </a:r>
          </a:p>
          <a:p>
            <a:pPr>
              <a:buFontTx/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How to write style rules (2)</a:t>
            </a:r>
          </a:p>
        </p:txBody>
      </p:sp>
      <p:sp>
        <p:nvSpPr>
          <p:cNvPr id="80899" name="Rectangle 3"/>
          <p:cNvSpPr>
            <a:spLocks noChangeArrowheads="1"/>
          </p:cNvSpPr>
          <p:nvPr/>
        </p:nvSpPr>
        <p:spPr bwMode="auto">
          <a:xfrm>
            <a:off x="685800" y="6858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>
                <a:solidFill>
                  <a:schemeClr val="accent2"/>
                </a:solidFill>
              </a:rPr>
              <a:t>How to write style rules</a:t>
            </a:r>
          </a:p>
        </p:txBody>
      </p:sp>
      <p:sp>
        <p:nvSpPr>
          <p:cNvPr id="80900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en-US" dirty="0">
                <a:solidFill>
                  <a:schemeClr val="bg1"/>
                </a:solidFill>
              </a:rPr>
              <a:t>selector {property: value;}</a:t>
            </a:r>
          </a:p>
          <a:p>
            <a:pPr algn="ctr">
              <a:buFontTx/>
              <a:buNone/>
            </a:pPr>
            <a:endParaRPr lang="en-US" dirty="0">
              <a:solidFill>
                <a:schemeClr val="bg1"/>
              </a:solidFill>
            </a:endParaRPr>
          </a:p>
          <a:p>
            <a:pPr algn="ctr">
              <a:buFontTx/>
              <a:buNone/>
            </a:pPr>
            <a:r>
              <a:rPr lang="en-US" dirty="0">
                <a:solidFill>
                  <a:schemeClr val="bg1"/>
                </a:solidFill>
              </a:rPr>
              <a:t>Essentially means:</a:t>
            </a:r>
          </a:p>
          <a:p>
            <a:pPr algn="ctr">
              <a:buFontTx/>
              <a:buNone/>
            </a:pPr>
            <a:endParaRPr lang="en-US" dirty="0">
              <a:solidFill>
                <a:schemeClr val="bg1"/>
              </a:solidFill>
            </a:endParaRPr>
          </a:p>
          <a:p>
            <a:pPr algn="ctr">
              <a:buFontTx/>
              <a:buNone/>
            </a:pPr>
            <a:r>
              <a:rPr lang="en-US" dirty="0">
                <a:solidFill>
                  <a:schemeClr val="bg1"/>
                </a:solidFill>
              </a:rPr>
              <a:t>The thing I want to change </a:t>
            </a:r>
          </a:p>
          <a:p>
            <a:pPr algn="ctr">
              <a:buFontTx/>
              <a:buNone/>
            </a:pPr>
            <a:r>
              <a:rPr lang="en-US" dirty="0">
                <a:solidFill>
                  <a:schemeClr val="bg1"/>
                </a:solidFill>
              </a:rPr>
              <a:t>{the aspect of that thing I want to change: what I want it to be;}</a:t>
            </a:r>
          </a:p>
          <a:p>
            <a:pPr algn="ctr">
              <a:buFontTx/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How to write style rules (3)</a:t>
            </a:r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685800" y="6858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>
                <a:solidFill>
                  <a:schemeClr val="accent2"/>
                </a:solidFill>
              </a:rPr>
              <a:t>How to write style rules</a:t>
            </a:r>
          </a:p>
        </p:txBody>
      </p:sp>
      <p:sp>
        <p:nvSpPr>
          <p:cNvPr id="8294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en-US" dirty="0">
                <a:solidFill>
                  <a:schemeClr val="bg1"/>
                </a:solidFill>
              </a:rPr>
              <a:t>Selector  {property: value;}</a:t>
            </a:r>
          </a:p>
          <a:p>
            <a:pPr>
              <a:buFontTx/>
              <a:buNone/>
            </a:pPr>
            <a:endParaRPr lang="en-US" dirty="0">
              <a:solidFill>
                <a:schemeClr val="bg1"/>
              </a:solidFill>
            </a:endParaRPr>
          </a:p>
          <a:p>
            <a:pPr algn="ctr">
              <a:buFontTx/>
              <a:buNone/>
            </a:pPr>
            <a:r>
              <a:rPr lang="en-US" dirty="0">
                <a:solidFill>
                  <a:schemeClr val="bg1"/>
                </a:solidFill>
              </a:rPr>
              <a:t>h1  {color: red;} </a:t>
            </a:r>
          </a:p>
          <a:p>
            <a:pPr>
              <a:buFontTx/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FontTx/>
              <a:buNone/>
            </a:pPr>
            <a:r>
              <a:rPr lang="en-US" dirty="0">
                <a:solidFill>
                  <a:schemeClr val="bg1"/>
                </a:solidFill>
              </a:rPr>
              <a:t>Means: I want the text color of my heading1 to be red.</a:t>
            </a:r>
          </a:p>
          <a:p>
            <a:pPr>
              <a:buFontTx/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How to write style rules (3)</a:t>
            </a:r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685800" y="6858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>
                <a:solidFill>
                  <a:schemeClr val="accent2"/>
                </a:solidFill>
              </a:rPr>
              <a:t>How to write style rules</a:t>
            </a:r>
          </a:p>
        </p:txBody>
      </p:sp>
      <p:sp>
        <p:nvSpPr>
          <p:cNvPr id="849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1981200"/>
            <a:ext cx="7772400" cy="1752600"/>
          </a:xfrm>
        </p:spPr>
        <p:txBody>
          <a:bodyPr/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US" dirty="0">
                <a:solidFill>
                  <a:schemeClr val="bg1"/>
                </a:solidFill>
              </a:rPr>
              <a:t>Selector  {property: value;}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 dirty="0">
                <a:solidFill>
                  <a:schemeClr val="bg1"/>
                </a:solidFill>
              </a:rPr>
              <a:t>I want the color of the text in my paragraph to be yellow</a:t>
            </a:r>
            <a:r>
              <a:rPr lang="en-US" sz="2800" dirty="0" smtClean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800" dirty="0" smtClean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			       P{color: yellow;}</a:t>
            </a:r>
            <a:endParaRPr lang="en-US" sz="2800" dirty="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85000" name="Text Box 8"/>
          <p:cNvSpPr txBox="1">
            <a:spLocks noChangeArrowheads="1"/>
          </p:cNvSpPr>
          <p:nvPr/>
        </p:nvSpPr>
        <p:spPr bwMode="auto">
          <a:xfrm>
            <a:off x="1066800" y="5105400"/>
            <a:ext cx="6705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rgbClr val="FFFF00"/>
                </a:solidFill>
              </a:rPr>
              <a:t>This is the text in this paragraph.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0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685800" y="3810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dirty="0" smtClean="0">
                <a:solidFill>
                  <a:schemeClr val="accent2"/>
                </a:solidFill>
              </a:rPr>
              <a:t>CSS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495800"/>
          </a:xfrm>
          <a:ln/>
        </p:spPr>
        <p:txBody>
          <a:bodyPr/>
          <a:lstStyle/>
          <a:p>
            <a:pPr algn="ctr">
              <a:buFontTx/>
              <a:buNone/>
            </a:pP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4" name="Picture 5" descr="internal_CSS_exampl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2133600"/>
            <a:ext cx="7620000" cy="3071812"/>
          </a:xfrm>
          <a:prstGeom prst="rect">
            <a:avLst/>
          </a:prstGeom>
          <a:noFill/>
        </p:spPr>
      </p:pic>
      <p:sp>
        <p:nvSpPr>
          <p:cNvPr id="5" name="Line 6"/>
          <p:cNvSpPr>
            <a:spLocks noChangeShapeType="1"/>
          </p:cNvSpPr>
          <p:nvPr/>
        </p:nvSpPr>
        <p:spPr bwMode="auto">
          <a:xfrm flipV="1">
            <a:off x="1219200" y="1676400"/>
            <a:ext cx="228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219200" y="1295400"/>
            <a:ext cx="1219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 dirty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selector</a:t>
            </a:r>
            <a:endParaRPr lang="zh-CN" altLang="en-US" sz="2400" b="1" i="1" dirty="0">
              <a:solidFill>
                <a:schemeClr val="bg1">
                  <a:lumMod val="95000"/>
                </a:schemeClr>
              </a:solidFill>
              <a:ea typeface="宋体" pitchFamily="2" charset="-122"/>
            </a:endParaRPr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auto">
          <a:xfrm flipV="1">
            <a:off x="2667000" y="1828800"/>
            <a:ext cx="457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2667000" y="1295400"/>
            <a:ext cx="137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 dirty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property</a:t>
            </a:r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 flipV="1">
            <a:off x="4572000" y="18288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572000" y="1371600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 dirty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value</a:t>
            </a:r>
          </a:p>
        </p:txBody>
      </p:sp>
      <p:sp>
        <p:nvSpPr>
          <p:cNvPr id="11" name="AutoShape 13"/>
          <p:cNvSpPr>
            <a:spLocks noChangeArrowheads="1"/>
          </p:cNvSpPr>
          <p:nvPr/>
        </p:nvSpPr>
        <p:spPr bwMode="auto">
          <a:xfrm>
            <a:off x="762000" y="2438400"/>
            <a:ext cx="4267200" cy="762000"/>
          </a:xfrm>
          <a:prstGeom prst="bracePair">
            <a:avLst>
              <a:gd name="adj" fmla="val 833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 flipV="1">
            <a:off x="5105400" y="1828800"/>
            <a:ext cx="762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5791200" y="1447800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 dirty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rule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 styled HTML document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produced by the style sheet </a:t>
            </a:r>
            <a:r>
              <a:rPr lang="en-US" dirty="0">
                <a:solidFill>
                  <a:schemeClr val="bg1"/>
                </a:solidFill>
                <a:latin typeface="Lucida Sans Typewriter" pitchFamily="49" charset="0"/>
              </a:rPr>
              <a:t>style1.css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pic>
        <p:nvPicPr>
          <p:cNvPr id="242692" name="Picture 4" descr="CSSHelloWorld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819400"/>
            <a:ext cx="3810000" cy="169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6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5715000"/>
            <a:ext cx="4114800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269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6096000"/>
            <a:ext cx="6781800" cy="29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5800" y="3810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dirty="0" smtClean="0">
                <a:solidFill>
                  <a:schemeClr val="accent2"/>
                </a:solidFill>
              </a:rPr>
              <a:t>CSS 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422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Text Box 4"/>
          <p:cNvSpPr txBox="1">
            <a:spLocks noChangeArrowheads="1"/>
          </p:cNvSpPr>
          <p:nvPr/>
        </p:nvSpPr>
        <p:spPr bwMode="auto">
          <a:xfrm>
            <a:off x="288925" y="985838"/>
            <a:ext cx="3752246" cy="427809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700" dirty="0"/>
              <a:t>body {</a:t>
            </a:r>
          </a:p>
          <a:p>
            <a:pPr algn="l"/>
            <a:r>
              <a:rPr lang="en-US" sz="1700" dirty="0"/>
              <a:t>    font-family: Tahoma, Arial, sans-serif;</a:t>
            </a:r>
          </a:p>
          <a:p>
            <a:pPr algn="l"/>
            <a:r>
              <a:rPr lang="en-US" sz="1700" dirty="0"/>
              <a:t>    font-size: 13px;</a:t>
            </a:r>
          </a:p>
          <a:p>
            <a:pPr algn="l"/>
            <a:r>
              <a:rPr lang="en-US" sz="1700" dirty="0"/>
              <a:t>    color: black;</a:t>
            </a:r>
          </a:p>
          <a:p>
            <a:pPr algn="l"/>
            <a:r>
              <a:rPr lang="en-US" sz="1700" dirty="0"/>
              <a:t>    background: white;</a:t>
            </a:r>
          </a:p>
          <a:p>
            <a:pPr algn="l"/>
            <a:r>
              <a:rPr lang="en-US" sz="1700" dirty="0"/>
              <a:t>    margin: 8px;</a:t>
            </a:r>
          </a:p>
          <a:p>
            <a:pPr algn="l"/>
            <a:r>
              <a:rPr lang="en-US" sz="1700" dirty="0"/>
              <a:t>}</a:t>
            </a:r>
          </a:p>
          <a:p>
            <a:pPr algn="l"/>
            <a:r>
              <a:rPr lang="en-US" sz="1700" dirty="0"/>
              <a:t>h1 {</a:t>
            </a:r>
          </a:p>
          <a:p>
            <a:pPr algn="l"/>
            <a:r>
              <a:rPr lang="en-US" sz="1700" dirty="0"/>
              <a:t>    font-size: 19px;</a:t>
            </a:r>
          </a:p>
          <a:p>
            <a:pPr algn="l"/>
            <a:r>
              <a:rPr lang="en-US" sz="1700" dirty="0"/>
              <a:t>    margin-top: 15px;</a:t>
            </a:r>
          </a:p>
          <a:p>
            <a:pPr algn="l"/>
            <a:r>
              <a:rPr lang="en-US" sz="1700" dirty="0"/>
              <a:t>    margin-bottom: 5px;</a:t>
            </a:r>
          </a:p>
          <a:p>
            <a:pPr algn="l"/>
            <a:r>
              <a:rPr lang="en-US" sz="1700" dirty="0"/>
              <a:t>    border-bottom: 1px solid black</a:t>
            </a:r>
          </a:p>
          <a:p>
            <a:pPr algn="l"/>
            <a:r>
              <a:rPr lang="en-US" sz="1700" dirty="0"/>
              <a:t>}</a:t>
            </a:r>
          </a:p>
          <a:p>
            <a:pPr algn="l"/>
            <a:r>
              <a:rPr lang="en-US" sz="1700" dirty="0"/>
              <a:t>.shaded {</a:t>
            </a:r>
          </a:p>
          <a:p>
            <a:pPr algn="l"/>
            <a:r>
              <a:rPr lang="en-US" sz="1700" dirty="0"/>
              <a:t>    background: #d0d0ff;</a:t>
            </a:r>
          </a:p>
          <a:p>
            <a:pPr algn="l"/>
            <a:r>
              <a:rPr lang="en-US" sz="1700" dirty="0"/>
              <a:t>}</a:t>
            </a:r>
          </a:p>
        </p:txBody>
      </p:sp>
      <p:sp>
        <p:nvSpPr>
          <p:cNvPr id="72709" name="Text Box 5"/>
          <p:cNvSpPr txBox="1">
            <a:spLocks noChangeArrowheads="1"/>
          </p:cNvSpPr>
          <p:nvPr/>
        </p:nvSpPr>
        <p:spPr bwMode="auto">
          <a:xfrm>
            <a:off x="4572000" y="985838"/>
            <a:ext cx="4343400" cy="45005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230188" algn="l"/>
                <a:tab pos="517525" algn="l"/>
                <a:tab pos="684213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>
              <a:tabLst>
                <a:tab pos="230188" algn="l"/>
                <a:tab pos="517525" algn="l"/>
                <a:tab pos="684213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>
              <a:tabLst>
                <a:tab pos="230188" algn="l"/>
                <a:tab pos="517525" algn="l"/>
                <a:tab pos="684213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>
              <a:tabLst>
                <a:tab pos="230188" algn="l"/>
                <a:tab pos="517525" algn="l"/>
                <a:tab pos="684213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>
              <a:tabLst>
                <a:tab pos="230188" algn="l"/>
                <a:tab pos="517525" algn="l"/>
                <a:tab pos="684213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30188" algn="l"/>
                <a:tab pos="517525" algn="l"/>
                <a:tab pos="684213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30188" algn="l"/>
                <a:tab pos="517525" algn="l"/>
                <a:tab pos="684213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30188" algn="l"/>
                <a:tab pos="517525" algn="l"/>
                <a:tab pos="684213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30188" algn="l"/>
                <a:tab pos="517525" algn="l"/>
                <a:tab pos="684213" algn="l"/>
                <a:tab pos="914400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/>
            <a:r>
              <a:rPr lang="en-US" sz="1700" dirty="0"/>
              <a:t>&lt;</a:t>
            </a:r>
            <a:r>
              <a:rPr lang="en-US" sz="1700" dirty="0">
                <a:solidFill>
                  <a:schemeClr val="bg1"/>
                </a:solidFill>
              </a:rPr>
              <a:t>body&gt;</a:t>
            </a:r>
          </a:p>
          <a:p>
            <a:pPr algn="l"/>
            <a:r>
              <a:rPr lang="en-US" sz="1700" dirty="0">
                <a:solidFill>
                  <a:schemeClr val="bg1"/>
                </a:solidFill>
              </a:rPr>
              <a:t>	&lt;h1&gt;First Section Heading&lt;/h1&gt;</a:t>
            </a:r>
          </a:p>
          <a:p>
            <a:pPr algn="l"/>
            <a:r>
              <a:rPr lang="en-US" sz="1700" dirty="0">
                <a:solidFill>
                  <a:schemeClr val="bg1"/>
                </a:solidFill>
              </a:rPr>
              <a:t>	&lt;p&gt;</a:t>
            </a:r>
          </a:p>
          <a:p>
            <a:pPr algn="l"/>
            <a:r>
              <a:rPr lang="en-US" sz="1700" dirty="0">
                <a:solidFill>
                  <a:schemeClr val="bg1"/>
                </a:solidFill>
              </a:rPr>
              <a:t>		Here is the first paragraph, containing</a:t>
            </a:r>
          </a:p>
          <a:p>
            <a:pPr algn="l"/>
            <a:r>
              <a:rPr lang="en-US" sz="1700" dirty="0">
                <a:solidFill>
                  <a:schemeClr val="bg1"/>
                </a:solidFill>
              </a:rPr>
              <a:t>		text that really doesn't have any use</a:t>
            </a:r>
          </a:p>
          <a:p>
            <a:pPr algn="l"/>
            <a:r>
              <a:rPr lang="en-US" sz="1700" dirty="0">
                <a:solidFill>
                  <a:schemeClr val="bg1"/>
                </a:solidFill>
              </a:rPr>
              <a:t>		or meaning; it just prattles on and on,</a:t>
            </a:r>
          </a:p>
          <a:p>
            <a:pPr algn="l"/>
            <a:r>
              <a:rPr lang="en-US" sz="1700" dirty="0">
                <a:solidFill>
                  <a:schemeClr val="bg1"/>
                </a:solidFill>
              </a:rPr>
              <a:t>		with no end whatsoever, no point to</a:t>
            </a:r>
          </a:p>
          <a:p>
            <a:pPr algn="l"/>
            <a:r>
              <a:rPr lang="en-US" sz="1700" dirty="0">
                <a:solidFill>
                  <a:schemeClr val="bg1"/>
                </a:solidFill>
              </a:rPr>
              <a:t>		make, really no purpose for existence</a:t>
            </a:r>
          </a:p>
          <a:p>
            <a:pPr algn="l"/>
            <a:r>
              <a:rPr lang="en-US" sz="1700" dirty="0">
                <a:solidFill>
                  <a:schemeClr val="bg1"/>
                </a:solidFill>
              </a:rPr>
              <a:t>		at all.</a:t>
            </a:r>
          </a:p>
          <a:p>
            <a:pPr algn="l"/>
            <a:r>
              <a:rPr lang="en-US" sz="1700" dirty="0">
                <a:solidFill>
                  <a:schemeClr val="bg1"/>
                </a:solidFill>
              </a:rPr>
              <a:t>	&lt;/p&gt;</a:t>
            </a:r>
          </a:p>
          <a:p>
            <a:pPr algn="l"/>
            <a:r>
              <a:rPr lang="en-US" sz="1700" dirty="0">
                <a:solidFill>
                  <a:schemeClr val="bg1"/>
                </a:solidFill>
              </a:rPr>
              <a:t>	&lt;div class="shaded"&gt;</a:t>
            </a:r>
          </a:p>
          <a:p>
            <a:pPr algn="l"/>
            <a:r>
              <a:rPr lang="en-US" sz="1700" dirty="0">
                <a:solidFill>
                  <a:schemeClr val="bg1"/>
                </a:solidFill>
              </a:rPr>
              <a:t>		&lt;h1&gt;Another Section Heading&lt;/h1&gt;</a:t>
            </a:r>
          </a:p>
          <a:p>
            <a:pPr algn="l"/>
            <a:r>
              <a:rPr lang="en-US" sz="1700" dirty="0">
                <a:solidFill>
                  <a:schemeClr val="bg1"/>
                </a:solidFill>
              </a:rPr>
              <a:t>		&lt;p&gt;</a:t>
            </a:r>
          </a:p>
          <a:p>
            <a:pPr algn="l"/>
            <a:r>
              <a:rPr lang="en-US" sz="1700" dirty="0">
                <a:solidFill>
                  <a:schemeClr val="bg1"/>
                </a:solidFill>
              </a:rPr>
              <a:t>			Another paragraph.</a:t>
            </a:r>
          </a:p>
          <a:p>
            <a:pPr algn="l"/>
            <a:r>
              <a:rPr lang="en-US" sz="1700" dirty="0">
                <a:solidFill>
                  <a:schemeClr val="bg1"/>
                </a:solidFill>
              </a:rPr>
              <a:t>		&lt;/p&gt;</a:t>
            </a:r>
          </a:p>
          <a:p>
            <a:pPr algn="l"/>
            <a:r>
              <a:rPr lang="en-US" sz="1700" dirty="0">
                <a:solidFill>
                  <a:schemeClr val="bg1"/>
                </a:solidFill>
              </a:rPr>
              <a:t>	&lt;/div&gt;</a:t>
            </a:r>
          </a:p>
          <a:p>
            <a:pPr algn="l"/>
            <a:r>
              <a:rPr lang="en-US" sz="1700" dirty="0">
                <a:solidFill>
                  <a:schemeClr val="bg1"/>
                </a:solidFill>
              </a:rPr>
              <a:t>&lt;/body&gt;</a:t>
            </a:r>
          </a:p>
        </p:txBody>
      </p:sp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381000" y="457200"/>
            <a:ext cx="895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folHlink"/>
                </a:solidFill>
              </a:rPr>
              <a:t>CSS:</a:t>
            </a:r>
          </a:p>
        </p:txBody>
      </p:sp>
      <p:sp>
        <p:nvSpPr>
          <p:cNvPr id="72711" name="Text Box 7"/>
          <p:cNvSpPr txBox="1">
            <a:spLocks noChangeArrowheads="1"/>
          </p:cNvSpPr>
          <p:nvPr/>
        </p:nvSpPr>
        <p:spPr bwMode="auto">
          <a:xfrm>
            <a:off x="4591050" y="457200"/>
            <a:ext cx="1098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folHlink"/>
                </a:solidFill>
              </a:rPr>
              <a:t>HTML:</a:t>
            </a:r>
          </a:p>
        </p:txBody>
      </p:sp>
    </p:spTree>
    <p:extLst>
      <p:ext uri="{BB962C8B-B14F-4D97-AF65-F5344CB8AC3E}">
        <p14:creationId xmlns:p14="http://schemas.microsoft.com/office/powerpoint/2010/main" val="1518986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685800" y="3810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dirty="0" smtClean="0">
                <a:solidFill>
                  <a:schemeClr val="accent2"/>
                </a:solidFill>
                <a:ea typeface="宋体" pitchFamily="2" charset="-122"/>
              </a:rPr>
              <a:t>Three Different Scopes of CSS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762000" y="1447800"/>
            <a:ext cx="7772400" cy="3048000"/>
          </a:xfrm>
          <a:ln/>
        </p:spPr>
        <p:txBody>
          <a:bodyPr/>
          <a:lstStyle/>
          <a:p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Local</a:t>
            </a:r>
          </a:p>
          <a:p>
            <a:pPr lvl="1"/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confined to a </a:t>
            </a:r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single element (tag)</a:t>
            </a:r>
          </a:p>
          <a:p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Internal</a:t>
            </a:r>
          </a:p>
          <a:p>
            <a:pPr lvl="1"/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affect elements in an </a:t>
            </a:r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entire page</a:t>
            </a:r>
          </a:p>
          <a:p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External</a:t>
            </a:r>
          </a:p>
          <a:p>
            <a:pPr lvl="1"/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can affect </a:t>
            </a:r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multiple pages</a:t>
            </a:r>
          </a:p>
          <a:p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Precedence</a:t>
            </a:r>
          </a:p>
          <a:p>
            <a:pPr lvl="1"/>
            <a:r>
              <a:rPr lang="en-US" altLang="zh-CN" b="1" dirty="0" smtClean="0">
                <a:solidFill>
                  <a:schemeClr val="bg1">
                    <a:lumMod val="95000"/>
                  </a:schemeClr>
                </a:solidFill>
                <a:ea typeface="宋体" pitchFamily="2" charset="-122"/>
              </a:rPr>
              <a:t>Local &gt; Internal &gt; External</a:t>
            </a:r>
          </a:p>
          <a:p>
            <a:pPr algn="ctr">
              <a:buFontTx/>
              <a:buNone/>
            </a:pPr>
            <a:endParaRPr lang="en-US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11" name="Object 3"/>
          <p:cNvGraphicFramePr>
            <a:graphicFrameLocks noGrp="1" noChangeAspect="1"/>
          </p:cNvGraphicFramePr>
          <p:nvPr>
            <p:ph sz="half" idx="2"/>
          </p:nvPr>
        </p:nvGraphicFramePr>
        <p:xfrm>
          <a:off x="2151063" y="1625600"/>
          <a:ext cx="5083175" cy="433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2" name="Image" r:id="rId3" imgW="2237047" imgH="1834434" progId="">
                  <p:embed/>
                </p:oleObj>
              </mc:Choice>
              <mc:Fallback>
                <p:oleObj name="Image" r:id="rId3" imgW="2237047" imgH="1834434" progId="">
                  <p:embed/>
                  <p:pic>
                    <p:nvPicPr>
                      <p:cNvPr id="0" name="Picture 16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1063" y="1625600"/>
                        <a:ext cx="5083175" cy="433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85800" y="3810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2000" b="1" dirty="0" smtClean="0">
                <a:solidFill>
                  <a:schemeClr val="accent2">
                    <a:lumMod val="75000"/>
                  </a:schemeClr>
                </a:solidFill>
              </a:rPr>
              <a:t>Applying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a single style sheet to multiple documents</a:t>
            </a:r>
          </a:p>
        </p:txBody>
      </p:sp>
    </p:spTree>
    <p:extLst>
      <p:ext uri="{BB962C8B-B14F-4D97-AF65-F5344CB8AC3E}">
        <p14:creationId xmlns:p14="http://schemas.microsoft.com/office/powerpoint/2010/main" val="3698593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21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00200"/>
            <a:ext cx="7772400" cy="44196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>
                <a:solidFill>
                  <a:schemeClr val="bg1"/>
                </a:solidFill>
              </a:rPr>
              <a:t>&lt;html&gt;</a:t>
            </a:r>
          </a:p>
          <a:p>
            <a:pPr>
              <a:buFontTx/>
              <a:buNone/>
            </a:pPr>
            <a:r>
              <a:rPr lang="en-US">
                <a:solidFill>
                  <a:schemeClr val="bg1"/>
                </a:solidFill>
              </a:rPr>
              <a:t>&lt;head&gt;&lt;title&gt;My Wonderful Example&lt;/title&gt;</a:t>
            </a:r>
          </a:p>
          <a:p>
            <a:pPr>
              <a:buFontTx/>
              <a:buNone/>
            </a:pPr>
            <a:r>
              <a:rPr lang="en-US">
                <a:solidFill>
                  <a:schemeClr val="bg1"/>
                </a:solidFill>
              </a:rPr>
              <a:t>&lt;/head&gt;</a:t>
            </a:r>
          </a:p>
          <a:p>
            <a:pPr>
              <a:buFontTx/>
              <a:buNone/>
            </a:pPr>
            <a:r>
              <a:rPr lang="en-US" b="1">
                <a:solidFill>
                  <a:schemeClr val="bg1"/>
                </a:solidFill>
              </a:rPr>
              <a:t>&lt;body&gt;</a:t>
            </a:r>
            <a:r>
              <a:rPr lang="en-US" b="1">
                <a:solidFill>
                  <a:srgbClr val="FF95FF"/>
                </a:solidFill>
              </a:rPr>
              <a:t> </a:t>
            </a:r>
          </a:p>
          <a:p>
            <a:pPr>
              <a:buFontTx/>
              <a:buNone/>
            </a:pPr>
            <a:r>
              <a:rPr lang="en-US">
                <a:solidFill>
                  <a:schemeClr val="bg1"/>
                </a:solidFill>
              </a:rPr>
              <a:t>		 </a:t>
            </a:r>
            <a:r>
              <a:rPr lang="en-US" b="1">
                <a:solidFill>
                  <a:srgbClr val="FFFF00"/>
                </a:solidFill>
              </a:rPr>
              <a:t>&lt;p&gt;</a:t>
            </a:r>
            <a:r>
              <a:rPr lang="en-US">
                <a:solidFill>
                  <a:schemeClr val="bg1"/>
                </a:solidFill>
              </a:rPr>
              <a:t>What was I thinking?&lt;/p&gt;</a:t>
            </a:r>
            <a:r>
              <a:rPr lang="en-US" b="1">
                <a:solidFill>
                  <a:schemeClr val="bg1"/>
                </a:solidFill>
              </a:rPr>
              <a:t> </a:t>
            </a:r>
          </a:p>
          <a:p>
            <a:pPr>
              <a:buFontTx/>
              <a:buNone/>
            </a:pPr>
            <a:r>
              <a:rPr lang="en-US" b="1">
                <a:solidFill>
                  <a:schemeClr val="bg1"/>
                </a:solidFill>
              </a:rPr>
              <a:t>&lt;/body&gt;</a:t>
            </a:r>
          </a:p>
          <a:p>
            <a:pPr>
              <a:buFontTx/>
              <a:buNone/>
            </a:pPr>
            <a:r>
              <a:rPr lang="en-US">
                <a:solidFill>
                  <a:schemeClr val="bg1"/>
                </a:solidFill>
              </a:rPr>
              <a:t>&lt;/html&gt;</a:t>
            </a:r>
          </a:p>
          <a:p>
            <a:pPr>
              <a:buFontTx/>
              <a:buNone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64514" name="Rectangle 2"/>
          <p:cNvSpPr>
            <a:spLocks noChangeArrowheads="1"/>
          </p:cNvSpPr>
          <p:nvPr/>
        </p:nvSpPr>
        <p:spPr bwMode="auto">
          <a:xfrm>
            <a:off x="685800" y="3810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>
                <a:solidFill>
                  <a:schemeClr val="accent2"/>
                </a:solidFill>
              </a:rPr>
              <a:t>a) Inlined example-1</a:t>
            </a:r>
          </a:p>
        </p:txBody>
      </p:sp>
      <p:sp>
        <p:nvSpPr>
          <p:cNvPr id="64520" name="AutoShape 8"/>
          <p:cNvSpPr>
            <a:spLocks noChangeArrowheads="1"/>
          </p:cNvSpPr>
          <p:nvPr/>
        </p:nvSpPr>
        <p:spPr bwMode="auto">
          <a:xfrm>
            <a:off x="4572000" y="4724400"/>
            <a:ext cx="4267200" cy="1492250"/>
          </a:xfrm>
          <a:prstGeom prst="wedgeEllipseCallout">
            <a:avLst>
              <a:gd name="adj1" fmla="val -42301"/>
              <a:gd name="adj2" fmla="val -62764"/>
            </a:avLst>
          </a:prstGeom>
          <a:noFill/>
          <a:ln w="190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3200"/>
              <a:t>Original html code</a:t>
            </a:r>
          </a:p>
        </p:txBody>
      </p:sp>
      <p:sp>
        <p:nvSpPr>
          <p:cNvPr id="64522" name="Oval 10"/>
          <p:cNvSpPr>
            <a:spLocks noChangeArrowheads="1"/>
          </p:cNvSpPr>
          <p:nvPr/>
        </p:nvSpPr>
        <p:spPr bwMode="auto">
          <a:xfrm>
            <a:off x="1524000" y="3886200"/>
            <a:ext cx="990600" cy="762000"/>
          </a:xfrm>
          <a:prstGeom prst="ellipse">
            <a:avLst/>
          </a:prstGeom>
          <a:noFill/>
          <a:ln w="19050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ChangeArrowheads="1"/>
          </p:cNvSpPr>
          <p:nvPr/>
        </p:nvSpPr>
        <p:spPr bwMode="auto">
          <a:xfrm>
            <a:off x="685800" y="3810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>
                <a:solidFill>
                  <a:schemeClr val="accent2"/>
                </a:solidFill>
              </a:rPr>
              <a:t>a) Inlined example-2</a:t>
            </a:r>
          </a:p>
        </p:txBody>
      </p:sp>
      <p:sp>
        <p:nvSpPr>
          <p:cNvPr id="99331" name="Text Box 3"/>
          <p:cNvSpPr txBox="1">
            <a:spLocks noChangeArrowheads="1"/>
          </p:cNvSpPr>
          <p:nvPr/>
        </p:nvSpPr>
        <p:spPr bwMode="auto">
          <a:xfrm>
            <a:off x="685800" y="1981200"/>
            <a:ext cx="4521200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endParaRPr lang="en-US"/>
          </a:p>
          <a:p>
            <a:endParaRPr lang="en-US"/>
          </a:p>
        </p:txBody>
      </p:sp>
      <p:sp>
        <p:nvSpPr>
          <p:cNvPr id="99332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00200"/>
            <a:ext cx="7772400" cy="46482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>
                <a:solidFill>
                  <a:schemeClr val="bg1"/>
                </a:solidFill>
              </a:rPr>
              <a:t>&lt;body&gt;</a:t>
            </a:r>
            <a:r>
              <a:rPr lang="en-US" b="1">
                <a:solidFill>
                  <a:srgbClr val="FF95FF"/>
                </a:solidFill>
              </a:rPr>
              <a:t> </a:t>
            </a:r>
          </a:p>
          <a:p>
            <a:pPr>
              <a:buFontTx/>
              <a:buNone/>
            </a:pPr>
            <a:r>
              <a:rPr lang="en-US">
                <a:solidFill>
                  <a:schemeClr val="bg1"/>
                </a:solidFill>
              </a:rPr>
              <a:t>		 </a:t>
            </a:r>
            <a:r>
              <a:rPr lang="en-US">
                <a:solidFill>
                  <a:srgbClr val="FFFF00"/>
                </a:solidFill>
              </a:rPr>
              <a:t>&lt;p</a:t>
            </a:r>
            <a:r>
              <a:rPr lang="en-US" b="1">
                <a:solidFill>
                  <a:srgbClr val="FFFF00"/>
                </a:solidFill>
              </a:rPr>
              <a:t> </a:t>
            </a:r>
            <a:r>
              <a:rPr lang="en-US">
                <a:solidFill>
                  <a:srgbClr val="FFFF00"/>
                </a:solidFill>
              </a:rPr>
              <a:t>style=“text-align: center; font-	weight: bold; color: yellow;”&gt;</a:t>
            </a:r>
            <a:r>
              <a:rPr lang="en-US">
                <a:solidFill>
                  <a:schemeClr val="bg1"/>
                </a:solidFill>
              </a:rPr>
              <a:t>What 	was I thinking?</a:t>
            </a:r>
            <a:r>
              <a:rPr lang="en-US">
                <a:solidFill>
                  <a:srgbClr val="FFFF00"/>
                </a:solidFill>
              </a:rPr>
              <a:t>&lt;/p&gt;</a:t>
            </a:r>
            <a:r>
              <a:rPr lang="en-US" b="1">
                <a:solidFill>
                  <a:srgbClr val="FF95FF"/>
                </a:solidFill>
              </a:rPr>
              <a:t> </a:t>
            </a:r>
          </a:p>
          <a:p>
            <a:pPr>
              <a:buFontTx/>
              <a:buNone/>
            </a:pPr>
            <a:r>
              <a:rPr lang="en-US" b="1">
                <a:solidFill>
                  <a:schemeClr val="bg1"/>
                </a:solidFill>
              </a:rPr>
              <a:t>&lt;/body&gt;</a:t>
            </a:r>
          </a:p>
          <a:p>
            <a:pPr>
              <a:buFontTx/>
              <a:buNone/>
            </a:pPr>
            <a:endParaRPr lang="en-US">
              <a:solidFill>
                <a:schemeClr val="bg1"/>
              </a:solidFill>
            </a:endParaRPr>
          </a:p>
          <a:p>
            <a:pPr algn="ctr">
              <a:buFontTx/>
              <a:buNone/>
            </a:pPr>
            <a:r>
              <a:rPr lang="en-US" b="1">
                <a:solidFill>
                  <a:srgbClr val="FFFF00"/>
                </a:solidFill>
              </a:rPr>
              <a:t>What was I thinking?</a:t>
            </a:r>
          </a:p>
          <a:p>
            <a:pPr>
              <a:buFontTx/>
              <a:buNone/>
            </a:pP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Text Box 3"/>
          <p:cNvSpPr txBox="1">
            <a:spLocks noChangeArrowheads="1"/>
          </p:cNvSpPr>
          <p:nvPr/>
        </p:nvSpPr>
        <p:spPr bwMode="auto">
          <a:xfrm>
            <a:off x="685800" y="1600200"/>
            <a:ext cx="7772400" cy="399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3200" b="1" dirty="0"/>
              <a:t>&lt;head&gt;</a:t>
            </a:r>
            <a:r>
              <a:rPr lang="en-US" sz="3200" dirty="0"/>
              <a:t>&lt;title&gt;My Wonderful Example&lt;/title&gt;</a:t>
            </a:r>
          </a:p>
          <a:p>
            <a:pPr algn="l"/>
            <a:r>
              <a:rPr lang="en-US" sz="3200" dirty="0"/>
              <a:t>  	</a:t>
            </a:r>
            <a:r>
              <a:rPr lang="en-US" sz="3200" dirty="0">
                <a:solidFill>
                  <a:srgbClr val="FFFF00"/>
                </a:solidFill>
              </a:rPr>
              <a:t>&lt;style type=“text/</a:t>
            </a:r>
            <a:r>
              <a:rPr lang="en-US" sz="3200" dirty="0" err="1">
                <a:solidFill>
                  <a:srgbClr val="FFFF00"/>
                </a:solidFill>
              </a:rPr>
              <a:t>css</a:t>
            </a:r>
            <a:r>
              <a:rPr lang="en-US" sz="3200" dirty="0">
                <a:solidFill>
                  <a:srgbClr val="FFFF00"/>
                </a:solidFill>
              </a:rPr>
              <a:t>”&gt;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</a:rPr>
              <a:t>     		body 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</a:rPr>
              <a:t>			{text-align: left;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</a:rPr>
              <a:t>			font-family: trebuchet, 				</a:t>
            </a:r>
            <a:r>
              <a:rPr lang="en-US" sz="3200" dirty="0" err="1">
                <a:solidFill>
                  <a:srgbClr val="FFFF00"/>
                </a:solidFill>
              </a:rPr>
              <a:t>verdana</a:t>
            </a:r>
            <a:r>
              <a:rPr lang="en-US" sz="3200" dirty="0">
                <a:solidFill>
                  <a:srgbClr val="FFFF00"/>
                </a:solidFill>
              </a:rPr>
              <a:t>;}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</a:rPr>
              <a:t>  	&lt;/style&gt;</a:t>
            </a:r>
          </a:p>
          <a:p>
            <a:pPr algn="l"/>
            <a:r>
              <a:rPr lang="en-US" sz="3200" b="1" dirty="0"/>
              <a:t>&lt;/head&gt;</a:t>
            </a:r>
          </a:p>
        </p:txBody>
      </p:sp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685800" y="3810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>
                <a:solidFill>
                  <a:schemeClr val="accent2"/>
                </a:solidFill>
              </a:rPr>
              <a:t>b) Embedded/Internal-1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ChangeArrowheads="1"/>
          </p:cNvSpPr>
          <p:nvPr/>
        </p:nvSpPr>
        <p:spPr bwMode="auto">
          <a:xfrm>
            <a:off x="685800" y="3810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>
                <a:solidFill>
                  <a:schemeClr val="accent2"/>
                </a:solidFill>
              </a:rPr>
              <a:t>b) Embedded/Internal-2</a:t>
            </a:r>
          </a:p>
        </p:txBody>
      </p:sp>
      <p:sp>
        <p:nvSpPr>
          <p:cNvPr id="102403" name="Text Box 3"/>
          <p:cNvSpPr txBox="1">
            <a:spLocks noChangeArrowheads="1"/>
          </p:cNvSpPr>
          <p:nvPr/>
        </p:nvSpPr>
        <p:spPr bwMode="auto">
          <a:xfrm>
            <a:off x="685800" y="1600200"/>
            <a:ext cx="7772400" cy="496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3200" b="1" dirty="0"/>
              <a:t>&lt;head&gt;</a:t>
            </a:r>
            <a:r>
              <a:rPr lang="en-US" sz="3200" dirty="0"/>
              <a:t>&lt;title&gt;My Wonderful Example&lt;/title&gt;</a:t>
            </a:r>
          </a:p>
          <a:p>
            <a:pPr algn="l"/>
            <a:r>
              <a:rPr lang="en-US" sz="3200" dirty="0"/>
              <a:t>  	</a:t>
            </a:r>
            <a:r>
              <a:rPr lang="en-US" sz="3200" dirty="0">
                <a:solidFill>
                  <a:srgbClr val="FFFF00"/>
                </a:solidFill>
              </a:rPr>
              <a:t>&lt;style type=“text/</a:t>
            </a:r>
            <a:r>
              <a:rPr lang="en-US" sz="3200" dirty="0" err="1">
                <a:solidFill>
                  <a:srgbClr val="FFFF00"/>
                </a:solidFill>
              </a:rPr>
              <a:t>css</a:t>
            </a:r>
            <a:r>
              <a:rPr lang="en-US" sz="3200" dirty="0">
                <a:solidFill>
                  <a:srgbClr val="FFFF00"/>
                </a:solidFill>
              </a:rPr>
              <a:t>”&gt;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</a:rPr>
              <a:t>     		body 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</a:rPr>
              <a:t>			{</a:t>
            </a:r>
            <a:br>
              <a:rPr lang="en-US" sz="3200" dirty="0">
                <a:solidFill>
                  <a:srgbClr val="FFFF00"/>
                </a:solidFill>
              </a:rPr>
            </a:br>
            <a:r>
              <a:rPr lang="en-US" sz="3200" dirty="0">
                <a:solidFill>
                  <a:srgbClr val="FFFF00"/>
                </a:solidFill>
              </a:rPr>
              <a:t>			text-align: left;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</a:rPr>
              <a:t>			font-family: Trebuchet, 				</a:t>
            </a:r>
            <a:r>
              <a:rPr lang="en-US" sz="3200" dirty="0" err="1">
                <a:solidFill>
                  <a:srgbClr val="FFFF00"/>
                </a:solidFill>
              </a:rPr>
              <a:t>verdana</a:t>
            </a:r>
            <a:r>
              <a:rPr lang="en-US" sz="3200" dirty="0">
                <a:solidFill>
                  <a:srgbClr val="FFFF00"/>
                </a:solidFill>
              </a:rPr>
              <a:t>;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</a:rPr>
              <a:t>			}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</a:rPr>
              <a:t>  	&lt;/style&gt;</a:t>
            </a:r>
          </a:p>
          <a:p>
            <a:pPr algn="l"/>
            <a:r>
              <a:rPr lang="en-US" sz="3200" b="1" dirty="0"/>
              <a:t>&lt;/head&gt;</a:t>
            </a:r>
          </a:p>
        </p:txBody>
      </p:sp>
      <p:sp>
        <p:nvSpPr>
          <p:cNvPr id="102404" name="Oval 4"/>
          <p:cNvSpPr>
            <a:spLocks noChangeArrowheads="1"/>
          </p:cNvSpPr>
          <p:nvPr/>
        </p:nvSpPr>
        <p:spPr bwMode="auto">
          <a:xfrm>
            <a:off x="1447800" y="2057400"/>
            <a:ext cx="4267200" cy="685800"/>
          </a:xfrm>
          <a:prstGeom prst="ellips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FFFF00"/>
              </a:solidFill>
            </a:endParaRPr>
          </a:p>
        </p:txBody>
      </p:sp>
      <p:sp>
        <p:nvSpPr>
          <p:cNvPr id="102405" name="Oval 5"/>
          <p:cNvSpPr>
            <a:spLocks noChangeArrowheads="1"/>
          </p:cNvSpPr>
          <p:nvPr/>
        </p:nvSpPr>
        <p:spPr bwMode="auto">
          <a:xfrm>
            <a:off x="2133600" y="2667000"/>
            <a:ext cx="1524000" cy="533400"/>
          </a:xfrm>
          <a:prstGeom prst="ellips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06" name="Oval 6"/>
          <p:cNvSpPr>
            <a:spLocks noChangeArrowheads="1"/>
          </p:cNvSpPr>
          <p:nvPr/>
        </p:nvSpPr>
        <p:spPr bwMode="auto">
          <a:xfrm>
            <a:off x="2743200" y="2743200"/>
            <a:ext cx="4800600" cy="3429000"/>
          </a:xfrm>
          <a:prstGeom prst="ellips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6248400" y="1981201"/>
            <a:ext cx="2895600" cy="1687890"/>
          </a:xfrm>
          <a:prstGeom prst="wedgeEllipseCallout">
            <a:avLst>
              <a:gd name="adj1" fmla="val -69336"/>
              <a:gd name="adj2" fmla="val -21583"/>
            </a:avLst>
          </a:prstGeom>
          <a:noFill/>
          <a:ln w="190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/>
              <a:t>this is a style sheet (style type) written (text) in </a:t>
            </a:r>
            <a:r>
              <a:rPr lang="en-US" sz="1800" dirty="0" err="1"/>
              <a:t>css</a:t>
            </a:r>
            <a:r>
              <a:rPr lang="en-US" sz="1800" dirty="0"/>
              <a:t> (CSS) language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" y="3276600"/>
            <a:ext cx="2590800" cy="1687890"/>
          </a:xfrm>
          <a:prstGeom prst="wedgeEllipseCallout">
            <a:avLst>
              <a:gd name="adj1" fmla="val 78473"/>
              <a:gd name="adj2" fmla="val -15007"/>
            </a:avLst>
          </a:prstGeom>
          <a:noFill/>
          <a:ln w="190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800" dirty="0"/>
              <a:t>I want the “align text” </a:t>
            </a:r>
            <a:r>
              <a:rPr lang="en-US" sz="1800" dirty="0">
                <a:solidFill>
                  <a:srgbClr val="FFFF00"/>
                </a:solidFill>
              </a:rPr>
              <a:t>property</a:t>
            </a:r>
            <a:r>
              <a:rPr lang="en-US" sz="1800" dirty="0"/>
              <a:t> to be given the  </a:t>
            </a:r>
            <a:r>
              <a:rPr lang="en-US" sz="1800" dirty="0">
                <a:solidFill>
                  <a:srgbClr val="FFFF00"/>
                </a:solidFill>
              </a:rPr>
              <a:t>value</a:t>
            </a:r>
            <a:r>
              <a:rPr lang="en-US" sz="1800" dirty="0"/>
              <a:t> of “left”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685800" y="3810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dirty="0">
                <a:solidFill>
                  <a:schemeClr val="accent2"/>
                </a:solidFill>
              </a:rPr>
              <a:t>c) External </a:t>
            </a:r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685800" y="1981200"/>
            <a:ext cx="4521200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endParaRPr lang="en-US"/>
          </a:p>
          <a:p>
            <a:endParaRPr lang="en-US"/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00200"/>
            <a:ext cx="7772400" cy="4419600"/>
          </a:xfrm>
          <a:noFill/>
          <a:ln/>
        </p:spPr>
        <p:txBody>
          <a:bodyPr/>
          <a:lstStyle/>
          <a:p>
            <a:pPr eaLnBrk="0" hangingPunct="0">
              <a:spcBef>
                <a:spcPct val="0"/>
              </a:spcBef>
              <a:buFontTx/>
              <a:buNone/>
            </a:pPr>
            <a:r>
              <a:rPr lang="en-US">
                <a:solidFill>
                  <a:schemeClr val="bg1"/>
                </a:solidFill>
              </a:rPr>
              <a:t>&lt;html&gt;</a:t>
            </a:r>
          </a:p>
          <a:p>
            <a:pPr eaLnBrk="0" hangingPunct="0">
              <a:spcBef>
                <a:spcPct val="0"/>
              </a:spcBef>
              <a:buFontTx/>
              <a:buNone/>
            </a:pPr>
            <a:r>
              <a:rPr lang="en-US" b="1">
                <a:solidFill>
                  <a:schemeClr val="bg1"/>
                </a:solidFill>
              </a:rPr>
              <a:t>&lt;head&gt;</a:t>
            </a:r>
            <a:r>
              <a:rPr lang="en-US">
                <a:solidFill>
                  <a:schemeClr val="bg1"/>
                </a:solidFill>
              </a:rPr>
              <a:t>&lt;title&gt;My Way&lt;/title&gt;</a:t>
            </a:r>
          </a:p>
          <a:p>
            <a:pPr eaLnBrk="0" hangingPunct="0">
              <a:spcBef>
                <a:spcPct val="0"/>
              </a:spcBef>
              <a:buFontTx/>
              <a:buNone/>
            </a:pPr>
            <a:r>
              <a:rPr lang="en-US">
                <a:solidFill>
                  <a:srgbClr val="FFFF00"/>
                </a:solidFill>
              </a:rPr>
              <a:t>		&lt;link rel="stylesheet" 	href="http://www2.hawaii.edu/~myway.	css" 	type="text/css“&gt;</a:t>
            </a:r>
          </a:p>
          <a:p>
            <a:pPr eaLnBrk="0" hangingPunct="0">
              <a:spcBef>
                <a:spcPct val="0"/>
              </a:spcBef>
              <a:buFontTx/>
              <a:buNone/>
            </a:pPr>
            <a:r>
              <a:rPr lang="en-US" b="1">
                <a:solidFill>
                  <a:schemeClr val="bg1"/>
                </a:solidFill>
              </a:rPr>
              <a:t>&lt;/head&gt;</a:t>
            </a:r>
          </a:p>
          <a:p>
            <a:pPr eaLnBrk="0" hangingPunct="0">
              <a:spcBef>
                <a:spcPct val="0"/>
              </a:spcBef>
              <a:buFontTx/>
              <a:buNone/>
            </a:pPr>
            <a:r>
              <a:rPr lang="en-US">
                <a:solidFill>
                  <a:schemeClr val="bg1"/>
                </a:solidFill>
              </a:rPr>
              <a:t>&lt;body&gt; &lt;/body&gt;</a:t>
            </a:r>
          </a:p>
          <a:p>
            <a:pPr eaLnBrk="0" hangingPunct="0">
              <a:spcBef>
                <a:spcPct val="0"/>
              </a:spcBef>
              <a:buFontTx/>
              <a:buNone/>
            </a:pPr>
            <a:r>
              <a:rPr lang="en-US">
                <a:solidFill>
                  <a:schemeClr val="bg1"/>
                </a:solidFill>
              </a:rPr>
              <a:t>&lt;/html&gt;</a:t>
            </a:r>
          </a:p>
        </p:txBody>
      </p:sp>
      <p:sp>
        <p:nvSpPr>
          <p:cNvPr id="66565" name="AutoShape 5"/>
          <p:cNvSpPr>
            <a:spLocks noChangeArrowheads="1"/>
          </p:cNvSpPr>
          <p:nvPr/>
        </p:nvSpPr>
        <p:spPr bwMode="auto">
          <a:xfrm>
            <a:off x="4419600" y="4832350"/>
            <a:ext cx="4267200" cy="1492250"/>
          </a:xfrm>
          <a:prstGeom prst="wedgeEllipseCallout">
            <a:avLst>
              <a:gd name="adj1" fmla="val -19384"/>
              <a:gd name="adj2" fmla="val -120000"/>
            </a:avLst>
          </a:prstGeom>
          <a:noFill/>
          <a:ln w="190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3200">
                <a:solidFill>
                  <a:srgbClr val="FFFF00"/>
                </a:solidFill>
              </a:rPr>
              <a:t>Link to a separate css page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7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84300"/>
            <a:ext cx="7543800" cy="467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3717" name="Oval 5"/>
          <p:cNvSpPr>
            <a:spLocks noChangeArrowheads="1"/>
          </p:cNvSpPr>
          <p:nvPr/>
        </p:nvSpPr>
        <p:spPr bwMode="auto">
          <a:xfrm>
            <a:off x="1143000" y="3276600"/>
            <a:ext cx="2667000" cy="3810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3718" name="Text Box 6"/>
          <p:cNvSpPr txBox="1">
            <a:spLocks noChangeArrowheads="1"/>
          </p:cNvSpPr>
          <p:nvPr/>
        </p:nvSpPr>
        <p:spPr bwMode="auto">
          <a:xfrm>
            <a:off x="3623248" y="2932113"/>
            <a:ext cx="46089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008080"/>
                </a:solidFill>
                <a:latin typeface="Lucida Sans Typewriter" pitchFamily="49" charset="0"/>
              </a:rPr>
              <a:t>link</a:t>
            </a:r>
            <a:r>
              <a:rPr lang="en-US" sz="1800" b="1" dirty="0">
                <a:solidFill>
                  <a:srgbClr val="008080"/>
                </a:solidFill>
              </a:rPr>
              <a:t> element associates style sheet with doc.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85800" y="3810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dirty="0" smtClean="0">
                <a:solidFill>
                  <a:schemeClr val="accent2"/>
                </a:solidFill>
              </a:rPr>
              <a:t>CSS 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950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84300"/>
            <a:ext cx="7543800" cy="467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5765" name="Text Box 5"/>
          <p:cNvSpPr txBox="1">
            <a:spLocks noChangeArrowheads="1"/>
          </p:cNvSpPr>
          <p:nvPr/>
        </p:nvSpPr>
        <p:spPr bwMode="auto">
          <a:xfrm>
            <a:off x="3572943" y="2932113"/>
            <a:ext cx="45063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008080"/>
                </a:solidFill>
                <a:latin typeface="Lucida Sans Typewriter" pitchFamily="49" charset="0"/>
              </a:rPr>
              <a:t>type</a:t>
            </a:r>
            <a:r>
              <a:rPr lang="en-US" sz="1800" b="1" dirty="0">
                <a:solidFill>
                  <a:srgbClr val="008080"/>
                </a:solidFill>
              </a:rPr>
              <a:t> attribute specifies style language used</a:t>
            </a:r>
          </a:p>
        </p:txBody>
      </p:sp>
      <p:sp>
        <p:nvSpPr>
          <p:cNvPr id="245767" name="Oval 7"/>
          <p:cNvSpPr>
            <a:spLocks noChangeArrowheads="1"/>
          </p:cNvSpPr>
          <p:nvPr/>
        </p:nvSpPr>
        <p:spPr bwMode="auto">
          <a:xfrm>
            <a:off x="3733800" y="3276600"/>
            <a:ext cx="1752600" cy="3810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85800" y="3810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dirty="0" smtClean="0">
                <a:solidFill>
                  <a:schemeClr val="accent2"/>
                </a:solidFill>
              </a:rPr>
              <a:t>CSS 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794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7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84300"/>
            <a:ext cx="7543800" cy="467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6788" name="Text Box 4"/>
          <p:cNvSpPr txBox="1">
            <a:spLocks noChangeArrowheads="1"/>
          </p:cNvSpPr>
          <p:nvPr/>
        </p:nvSpPr>
        <p:spPr bwMode="auto">
          <a:xfrm>
            <a:off x="3513078" y="2932113"/>
            <a:ext cx="41815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 dirty="0" err="1">
                <a:solidFill>
                  <a:srgbClr val="008080"/>
                </a:solidFill>
                <a:latin typeface="Lucida Sans Typewriter" pitchFamily="49" charset="0"/>
              </a:rPr>
              <a:t>href</a:t>
            </a:r>
            <a:r>
              <a:rPr lang="en-US" sz="1800" b="1" dirty="0">
                <a:solidFill>
                  <a:srgbClr val="008080"/>
                </a:solidFill>
              </a:rPr>
              <a:t> attribute provides style sheet URL</a:t>
            </a:r>
          </a:p>
        </p:txBody>
      </p:sp>
      <p:sp>
        <p:nvSpPr>
          <p:cNvPr id="246790" name="Oval 6"/>
          <p:cNvSpPr>
            <a:spLocks noChangeArrowheads="1"/>
          </p:cNvSpPr>
          <p:nvPr/>
        </p:nvSpPr>
        <p:spPr bwMode="auto">
          <a:xfrm>
            <a:off x="5410200" y="3276600"/>
            <a:ext cx="1981200" cy="4572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85800" y="3810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dirty="0" smtClean="0">
                <a:solidFill>
                  <a:schemeClr val="accent2"/>
                </a:solidFill>
              </a:rPr>
              <a:t>CSS 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936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8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84300"/>
            <a:ext cx="7543800" cy="467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7812" name="Text Box 4"/>
          <p:cNvSpPr txBox="1">
            <a:spLocks noChangeArrowheads="1"/>
          </p:cNvSpPr>
          <p:nvPr/>
        </p:nvSpPr>
        <p:spPr bwMode="auto">
          <a:xfrm>
            <a:off x="3543906" y="2932113"/>
            <a:ext cx="43723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008080"/>
                </a:solidFill>
                <a:latin typeface="Lucida Sans Typewriter" pitchFamily="49" charset="0"/>
              </a:rPr>
              <a:t>title</a:t>
            </a:r>
            <a:r>
              <a:rPr lang="en-US" sz="1800" b="1" dirty="0">
                <a:solidFill>
                  <a:srgbClr val="008080"/>
                </a:solidFill>
              </a:rPr>
              <a:t> attribute provides style sheet name</a:t>
            </a:r>
          </a:p>
        </p:txBody>
      </p:sp>
      <p:sp>
        <p:nvSpPr>
          <p:cNvPr id="247814" name="Oval 6"/>
          <p:cNvSpPr>
            <a:spLocks noChangeArrowheads="1"/>
          </p:cNvSpPr>
          <p:nvPr/>
        </p:nvSpPr>
        <p:spPr bwMode="auto">
          <a:xfrm>
            <a:off x="1905000" y="3581400"/>
            <a:ext cx="1828800" cy="3048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7815" name="Line 7"/>
          <p:cNvSpPr>
            <a:spLocks noChangeShapeType="1"/>
          </p:cNvSpPr>
          <p:nvPr/>
        </p:nvSpPr>
        <p:spPr bwMode="auto">
          <a:xfrm flipH="1">
            <a:off x="3657600" y="3276600"/>
            <a:ext cx="457200" cy="304800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85800" y="3810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dirty="0" smtClean="0">
                <a:solidFill>
                  <a:schemeClr val="accent2"/>
                </a:solidFill>
              </a:rPr>
              <a:t>CSS 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85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8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84300"/>
            <a:ext cx="7543800" cy="467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0887" name="Oval 7"/>
          <p:cNvSpPr>
            <a:spLocks noChangeArrowheads="1"/>
          </p:cNvSpPr>
          <p:nvPr/>
        </p:nvSpPr>
        <p:spPr bwMode="auto">
          <a:xfrm>
            <a:off x="1905000" y="3810000"/>
            <a:ext cx="2895600" cy="3048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0888" name="Text Box 8"/>
          <p:cNvSpPr txBox="1">
            <a:spLocks noChangeArrowheads="1"/>
          </p:cNvSpPr>
          <p:nvPr/>
        </p:nvSpPr>
        <p:spPr bwMode="auto">
          <a:xfrm>
            <a:off x="4123577" y="4075113"/>
            <a:ext cx="39956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008080"/>
                </a:solidFill>
              </a:rPr>
              <a:t>Alternative, user selectable style sheets</a:t>
            </a:r>
          </a:p>
          <a:p>
            <a:r>
              <a:rPr lang="en-US" sz="1800" b="1" dirty="0">
                <a:solidFill>
                  <a:srgbClr val="008080"/>
                </a:solidFill>
              </a:rPr>
              <a:t>can be specified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85800" y="3810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dirty="0" smtClean="0">
                <a:solidFill>
                  <a:schemeClr val="accent2"/>
                </a:solidFill>
              </a:rPr>
              <a:t>CSS 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727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 styled HTML document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produced by the style sheet </a:t>
            </a:r>
            <a:r>
              <a:rPr lang="en-US" dirty="0">
                <a:solidFill>
                  <a:schemeClr val="bg1"/>
                </a:solidFill>
                <a:latin typeface="Lucida Sans Typewriter" pitchFamily="49" charset="0"/>
              </a:rPr>
              <a:t>style2.css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pic>
        <p:nvPicPr>
          <p:cNvPr id="251908" name="Picture 4" descr="CSSHelloWorld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892425"/>
            <a:ext cx="4114800" cy="183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90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764213"/>
            <a:ext cx="6019800" cy="331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85800" y="3810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dirty="0" smtClean="0">
                <a:solidFill>
                  <a:schemeClr val="accent2"/>
                </a:solidFill>
              </a:rPr>
              <a:t>CSS 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830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CSS Syntax</a:t>
            </a:r>
            <a:r>
              <a:rPr lang="en-US" sz="3200" b="1" dirty="0" smtClean="0">
                <a:solidFill>
                  <a:schemeClr val="bg1"/>
                </a:solidFill>
              </a:rPr>
              <a:t>:  </a:t>
            </a:r>
            <a:r>
              <a:rPr lang="en-US" sz="3200" b="1" dirty="0">
                <a:solidFill>
                  <a:schemeClr val="bg1"/>
                </a:solidFill>
              </a:rPr>
              <a:t>Selector Strings</a:t>
            </a:r>
          </a:p>
        </p:txBody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Source anchor elements: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Element types that are </a:t>
            </a:r>
            <a:r>
              <a:rPr lang="en-US" dirty="0" err="1">
                <a:solidFill>
                  <a:schemeClr val="bg1"/>
                </a:solidFill>
              </a:rPr>
              <a:t>descendents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pic>
        <p:nvPicPr>
          <p:cNvPr id="2693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895600"/>
            <a:ext cx="3565525" cy="126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9317" name="AutoShape 5"/>
          <p:cNvSpPr>
            <a:spLocks noChangeArrowheads="1"/>
          </p:cNvSpPr>
          <p:nvPr/>
        </p:nvSpPr>
        <p:spPr bwMode="auto">
          <a:xfrm>
            <a:off x="1143000" y="2819400"/>
            <a:ext cx="1295400" cy="1447800"/>
          </a:xfrm>
          <a:prstGeom prst="roundRect">
            <a:avLst>
              <a:gd name="adj" fmla="val 16667"/>
            </a:avLst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9318" name="Text Box 6"/>
          <p:cNvSpPr txBox="1">
            <a:spLocks noChangeArrowheads="1"/>
          </p:cNvSpPr>
          <p:nvPr/>
        </p:nvSpPr>
        <p:spPr bwMode="auto">
          <a:xfrm>
            <a:off x="1600200" y="4114800"/>
            <a:ext cx="20842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1" dirty="0"/>
              <a:t>pseudo-classes</a:t>
            </a:r>
          </a:p>
        </p:txBody>
      </p:sp>
      <p:pic>
        <p:nvPicPr>
          <p:cNvPr id="26931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257800"/>
            <a:ext cx="4724400" cy="46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8860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CSS Syntax</a:t>
            </a:r>
            <a:r>
              <a:rPr lang="en-US" sz="3200" b="1" dirty="0" smtClean="0">
                <a:solidFill>
                  <a:schemeClr val="bg1"/>
                </a:solidFill>
              </a:rPr>
              <a:t>: </a:t>
            </a:r>
            <a:r>
              <a:rPr lang="en-US" sz="3200" b="1" dirty="0">
                <a:solidFill>
                  <a:schemeClr val="bg1"/>
                </a:solidFill>
              </a:rPr>
              <a:t>Selector Strings</a:t>
            </a:r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anchor elements: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Element types that are </a:t>
            </a:r>
            <a:r>
              <a:rPr lang="en-US" dirty="0">
                <a:solidFill>
                  <a:schemeClr val="hlink"/>
                </a:solidFill>
              </a:rPr>
              <a:t>descendants</a:t>
            </a:r>
            <a:r>
              <a:rPr lang="en-US" dirty="0"/>
              <a:t>:</a:t>
            </a:r>
          </a:p>
        </p:txBody>
      </p:sp>
      <p:pic>
        <p:nvPicPr>
          <p:cNvPr id="2703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819400"/>
            <a:ext cx="3565525" cy="126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034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181600"/>
            <a:ext cx="4724400" cy="46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0344" name="Oval 8"/>
          <p:cNvSpPr>
            <a:spLocks noChangeArrowheads="1"/>
          </p:cNvSpPr>
          <p:nvPr/>
        </p:nvSpPr>
        <p:spPr bwMode="auto">
          <a:xfrm>
            <a:off x="2133600" y="5181600"/>
            <a:ext cx="457200" cy="3810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0345" name="Text Box 9"/>
          <p:cNvSpPr txBox="1">
            <a:spLocks noChangeArrowheads="1"/>
          </p:cNvSpPr>
          <p:nvPr/>
        </p:nvSpPr>
        <p:spPr bwMode="auto">
          <a:xfrm>
            <a:off x="2136678" y="5522913"/>
            <a:ext cx="376256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dirty="0"/>
              <a:t>rule applies to </a:t>
            </a:r>
            <a:r>
              <a:rPr lang="en-US" sz="2000" b="1" dirty="0">
                <a:latin typeface="Lucida Sans Typewriter" pitchFamily="49" charset="0"/>
              </a:rPr>
              <a:t>li</a:t>
            </a:r>
            <a:r>
              <a:rPr lang="en-US" sz="2000" b="1" dirty="0"/>
              <a:t> element that is</a:t>
            </a:r>
          </a:p>
        </p:txBody>
      </p:sp>
    </p:spTree>
    <p:extLst>
      <p:ext uri="{BB962C8B-B14F-4D97-AF65-F5344CB8AC3E}">
        <p14:creationId xmlns:p14="http://schemas.microsoft.com/office/powerpoint/2010/main" val="1386972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CSS Syntax</a:t>
            </a:r>
            <a:r>
              <a:rPr lang="en-US" sz="3200" b="1" dirty="0" smtClean="0">
                <a:solidFill>
                  <a:schemeClr val="bg1"/>
                </a:solidFill>
              </a:rPr>
              <a:t>: </a:t>
            </a:r>
            <a:r>
              <a:rPr lang="en-US" sz="3200" b="1" dirty="0">
                <a:solidFill>
                  <a:schemeClr val="bg1"/>
                </a:solidFill>
              </a:rPr>
              <a:t>Selector Strings</a:t>
            </a:r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anchor elements: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Element types that are </a:t>
            </a:r>
            <a:r>
              <a:rPr lang="en-US" dirty="0">
                <a:solidFill>
                  <a:schemeClr val="hlink"/>
                </a:solidFill>
              </a:rPr>
              <a:t>descendants</a:t>
            </a:r>
            <a:r>
              <a:rPr lang="en-US" dirty="0"/>
              <a:t>:</a:t>
            </a:r>
          </a:p>
        </p:txBody>
      </p:sp>
      <p:pic>
        <p:nvPicPr>
          <p:cNvPr id="2754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819400"/>
            <a:ext cx="3565525" cy="126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546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181600"/>
            <a:ext cx="4724400" cy="46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5463" name="Text Box 7"/>
          <p:cNvSpPr txBox="1">
            <a:spLocks noChangeArrowheads="1"/>
          </p:cNvSpPr>
          <p:nvPr/>
        </p:nvSpPr>
        <p:spPr bwMode="auto">
          <a:xfrm>
            <a:off x="2119900" y="5522913"/>
            <a:ext cx="411362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dirty="0"/>
              <a:t>rule applies to </a:t>
            </a:r>
            <a:r>
              <a:rPr lang="en-US" sz="2000" b="1" dirty="0">
                <a:latin typeface="Lucida Sans Typewriter" pitchFamily="49" charset="0"/>
              </a:rPr>
              <a:t>li</a:t>
            </a:r>
            <a:r>
              <a:rPr lang="en-US" sz="2000" b="1" dirty="0"/>
              <a:t> element that is</a:t>
            </a:r>
          </a:p>
          <a:p>
            <a:r>
              <a:rPr lang="en-US" sz="2000" b="1" dirty="0"/>
              <a:t>part of the content of an </a:t>
            </a:r>
            <a:r>
              <a:rPr lang="en-US" sz="2000" b="1" dirty="0" err="1">
                <a:latin typeface="Lucida Sans Typewriter" pitchFamily="49" charset="0"/>
              </a:rPr>
              <a:t>ol</a:t>
            </a:r>
            <a:r>
              <a:rPr lang="en-US" sz="2000" b="1" dirty="0"/>
              <a:t> element</a:t>
            </a:r>
          </a:p>
        </p:txBody>
      </p:sp>
      <p:sp>
        <p:nvSpPr>
          <p:cNvPr id="275464" name="Oval 8"/>
          <p:cNvSpPr>
            <a:spLocks noChangeArrowheads="1"/>
          </p:cNvSpPr>
          <p:nvPr/>
        </p:nvSpPr>
        <p:spPr bwMode="auto">
          <a:xfrm>
            <a:off x="1752600" y="5181600"/>
            <a:ext cx="457200" cy="3810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50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bg1"/>
                </a:solidFill>
              </a:rPr>
              <a:t>CSS Syntax:</a:t>
            </a: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 Selector Strings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anchor elements: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Element types that are </a:t>
            </a:r>
            <a:r>
              <a:rPr lang="en-US" dirty="0">
                <a:solidFill>
                  <a:schemeClr val="hlink"/>
                </a:solidFill>
              </a:rPr>
              <a:t>descendants</a:t>
            </a:r>
            <a:r>
              <a:rPr lang="en-US" dirty="0"/>
              <a:t>:</a:t>
            </a:r>
          </a:p>
        </p:txBody>
      </p:sp>
      <p:pic>
        <p:nvPicPr>
          <p:cNvPr id="27648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781300"/>
            <a:ext cx="3565525" cy="126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48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143500"/>
            <a:ext cx="4724400" cy="46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6486" name="Text Box 6"/>
          <p:cNvSpPr txBox="1">
            <a:spLocks noChangeArrowheads="1"/>
          </p:cNvSpPr>
          <p:nvPr/>
        </p:nvSpPr>
        <p:spPr bwMode="auto">
          <a:xfrm>
            <a:off x="2094791" y="5484813"/>
            <a:ext cx="470994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/>
              <a:t>rule applies to </a:t>
            </a:r>
            <a:r>
              <a:rPr lang="en-US" sz="2000" dirty="0">
                <a:latin typeface="Lucida Sans Typewriter" pitchFamily="49" charset="0"/>
              </a:rPr>
              <a:t>li</a:t>
            </a:r>
            <a:r>
              <a:rPr lang="en-US" sz="2000" dirty="0"/>
              <a:t> element that is</a:t>
            </a:r>
          </a:p>
          <a:p>
            <a:r>
              <a:rPr lang="en-US" sz="2000" dirty="0"/>
              <a:t>part of the content of an </a:t>
            </a:r>
            <a:r>
              <a:rPr lang="en-US" sz="2000" dirty="0" err="1">
                <a:latin typeface="Lucida Sans Typewriter" pitchFamily="49" charset="0"/>
              </a:rPr>
              <a:t>ol</a:t>
            </a:r>
            <a:r>
              <a:rPr lang="en-US" sz="2000" dirty="0"/>
              <a:t> element</a:t>
            </a:r>
          </a:p>
          <a:p>
            <a:r>
              <a:rPr lang="en-US" sz="2000" b="1" dirty="0"/>
              <a:t>that is part of the content of a </a:t>
            </a:r>
            <a:r>
              <a:rPr lang="en-US" sz="2000" b="1" dirty="0" err="1">
                <a:latin typeface="Lucida Sans Typewriter" pitchFamily="49" charset="0"/>
              </a:rPr>
              <a:t>ul</a:t>
            </a:r>
            <a:r>
              <a:rPr lang="en-US" sz="2000" b="1" dirty="0"/>
              <a:t> element</a:t>
            </a:r>
          </a:p>
        </p:txBody>
      </p:sp>
      <p:sp>
        <p:nvSpPr>
          <p:cNvPr id="276487" name="Oval 7"/>
          <p:cNvSpPr>
            <a:spLocks noChangeArrowheads="1"/>
          </p:cNvSpPr>
          <p:nvPr/>
        </p:nvSpPr>
        <p:spPr bwMode="auto">
          <a:xfrm>
            <a:off x="1295400" y="5143500"/>
            <a:ext cx="457200" cy="3810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CSS Syntax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Style rules covered thus far follow </a:t>
            </a:r>
            <a:r>
              <a:rPr lang="en-US" dirty="0" err="1">
                <a:solidFill>
                  <a:schemeClr val="hlink"/>
                </a:solidFill>
              </a:rPr>
              <a:t>ruleset</a:t>
            </a:r>
            <a:r>
              <a:rPr lang="en-US" dirty="0"/>
              <a:t> syntax</a:t>
            </a:r>
          </a:p>
          <a:p>
            <a:r>
              <a:rPr lang="en-US" dirty="0">
                <a:solidFill>
                  <a:schemeClr val="hlink"/>
                </a:solidFill>
              </a:rPr>
              <a:t>At-rule</a:t>
            </a:r>
            <a:r>
              <a:rPr lang="en-US" dirty="0"/>
              <a:t> is a second type of rule</a:t>
            </a:r>
          </a:p>
          <a:p>
            <a:endParaRPr lang="en-US" dirty="0"/>
          </a:p>
          <a:p>
            <a:pPr lvl="1"/>
            <a:r>
              <a:rPr lang="en-US" dirty="0"/>
              <a:t>Reads style rules from specified URL</a:t>
            </a:r>
          </a:p>
          <a:p>
            <a:pPr lvl="1"/>
            <a:r>
              <a:rPr lang="en-US" dirty="0"/>
              <a:t>Must appear at beginning of style sheet</a:t>
            </a:r>
          </a:p>
        </p:txBody>
      </p:sp>
      <p:pic>
        <p:nvPicPr>
          <p:cNvPr id="277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038600"/>
            <a:ext cx="45339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7509" name="Oval 5"/>
          <p:cNvSpPr>
            <a:spLocks noChangeArrowheads="1"/>
          </p:cNvSpPr>
          <p:nvPr/>
        </p:nvSpPr>
        <p:spPr bwMode="auto">
          <a:xfrm>
            <a:off x="3048000" y="4038600"/>
            <a:ext cx="2362200" cy="4572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10" name="Text Box 6"/>
          <p:cNvSpPr txBox="1">
            <a:spLocks noChangeArrowheads="1"/>
          </p:cNvSpPr>
          <p:nvPr/>
        </p:nvSpPr>
        <p:spPr bwMode="auto">
          <a:xfrm>
            <a:off x="4876800" y="3581400"/>
            <a:ext cx="366202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dirty="0"/>
              <a:t>URL relative to style sheet URL</a:t>
            </a:r>
          </a:p>
        </p:txBody>
      </p:sp>
    </p:spTree>
    <p:extLst>
      <p:ext uri="{BB962C8B-B14F-4D97-AF65-F5344CB8AC3E}">
        <p14:creationId xmlns:p14="http://schemas.microsoft.com/office/powerpoint/2010/main" val="23843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330200"/>
            <a:ext cx="7772400" cy="9652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CSS Inheritance</a:t>
            </a:r>
          </a:p>
        </p:txBody>
      </p:sp>
      <p:pic>
        <p:nvPicPr>
          <p:cNvPr id="2938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76400"/>
            <a:ext cx="3581400" cy="113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389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421063"/>
            <a:ext cx="7467600" cy="2620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3894" name="Picture 6" descr="Inheri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447800"/>
            <a:ext cx="4267200" cy="259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328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ext Box 1"/>
          <p:cNvSpPr txBox="1">
            <a:spLocks noChangeArrowheads="1"/>
          </p:cNvSpPr>
          <p:nvPr/>
        </p:nvSpPr>
        <p:spPr bwMode="auto">
          <a:xfrm>
            <a:off x="1943100" y="0"/>
            <a:ext cx="63246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230312" y="1370013"/>
            <a:ext cx="7075487" cy="4954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55600" indent="-355600"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 marL="820738" indent="-282575"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 algn="l">
              <a:lnSpc>
                <a:spcPct val="92000"/>
              </a:lnSpc>
              <a:spcBef>
                <a:spcPts val="700"/>
              </a:spcBef>
              <a:buClr>
                <a:srgbClr val="6E0605"/>
              </a:buClr>
              <a:buFont typeface="Wingdings" charset="2"/>
              <a:buChar char=""/>
            </a:pPr>
            <a:r>
              <a:rPr lang="en-GB" sz="2800" u="none" dirty="0">
                <a:solidFill>
                  <a:schemeClr val="bg1"/>
                </a:solidFill>
                <a:latin typeface="+mj-lt"/>
              </a:rPr>
              <a:t>3 types of selectors</a:t>
            </a:r>
          </a:p>
          <a:p>
            <a:pPr lvl="1" algn="l">
              <a:lnSpc>
                <a:spcPct val="92000"/>
              </a:lnSpc>
              <a:spcBef>
                <a:spcPts val="550"/>
              </a:spcBef>
              <a:buSzPct val="45000"/>
              <a:buFont typeface="starbats" charset="2"/>
              <a:buChar char=""/>
            </a:pPr>
            <a:r>
              <a:rPr lang="en-GB" sz="2800" u="none" dirty="0">
                <a:solidFill>
                  <a:schemeClr val="bg1"/>
                </a:solidFill>
                <a:latin typeface="+mj-lt"/>
              </a:rPr>
              <a:t>Tag selectors</a:t>
            </a:r>
          </a:p>
          <a:p>
            <a:pPr lvl="1" algn="l">
              <a:lnSpc>
                <a:spcPct val="92000"/>
              </a:lnSpc>
              <a:spcBef>
                <a:spcPts val="550"/>
              </a:spcBef>
              <a:buSzPct val="45000"/>
              <a:buFont typeface="starbats" charset="2"/>
              <a:buChar char=""/>
            </a:pPr>
            <a:r>
              <a:rPr lang="en-GB" sz="2800" u="none" dirty="0">
                <a:solidFill>
                  <a:schemeClr val="bg1"/>
                </a:solidFill>
                <a:latin typeface="+mj-lt"/>
              </a:rPr>
              <a:t>ID selectors</a:t>
            </a:r>
          </a:p>
          <a:p>
            <a:pPr lvl="1" algn="l">
              <a:lnSpc>
                <a:spcPct val="92000"/>
              </a:lnSpc>
              <a:spcBef>
                <a:spcPts val="550"/>
              </a:spcBef>
              <a:buSzPct val="45000"/>
              <a:buFont typeface="starbats" charset="2"/>
              <a:buChar char=""/>
            </a:pPr>
            <a:r>
              <a:rPr lang="en-GB" sz="2800" u="none" dirty="0">
                <a:solidFill>
                  <a:schemeClr val="bg1"/>
                </a:solidFill>
                <a:latin typeface="+mj-lt"/>
              </a:rPr>
              <a:t>Class selectors</a:t>
            </a:r>
          </a:p>
          <a:p>
            <a:pPr algn="l">
              <a:lnSpc>
                <a:spcPct val="92000"/>
              </a:lnSpc>
              <a:spcBef>
                <a:spcPts val="700"/>
              </a:spcBef>
              <a:buClr>
                <a:srgbClr val="6E0605"/>
              </a:buClr>
              <a:buFont typeface="Wingdings" charset="2"/>
              <a:buChar char=""/>
            </a:pPr>
            <a:r>
              <a:rPr lang="en-GB" sz="2800" u="none" dirty="0">
                <a:solidFill>
                  <a:schemeClr val="bg1"/>
                </a:solidFill>
                <a:latin typeface="+mj-lt"/>
              </a:rPr>
              <a:t>Selectors should never start with a number, nor should they have spaces in them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457200" y="317500"/>
            <a:ext cx="8226425" cy="105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 algn="ctr">
              <a:lnSpc>
                <a:spcPct val="88000"/>
              </a:lnSpc>
            </a:pPr>
            <a:r>
              <a:rPr lang="en-GB" sz="3200" b="1" u="none" dirty="0">
                <a:solidFill>
                  <a:srgbClr val="FFFFFF"/>
                </a:solidFill>
                <a:latin typeface="DIN-Medium" pitchFamily="32" charset="0"/>
              </a:rPr>
              <a:t>Selectors</a:t>
            </a:r>
          </a:p>
        </p:txBody>
      </p:sp>
    </p:spTree>
    <p:extLst>
      <p:ext uri="{BB962C8B-B14F-4D97-AF65-F5344CB8AC3E}">
        <p14:creationId xmlns:p14="http://schemas.microsoft.com/office/powerpoint/2010/main" val="19806033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 Box 1"/>
          <p:cNvSpPr txBox="1">
            <a:spLocks noChangeArrowheads="1"/>
          </p:cNvSpPr>
          <p:nvPr/>
        </p:nvSpPr>
        <p:spPr bwMode="auto">
          <a:xfrm>
            <a:off x="1955800" y="0"/>
            <a:ext cx="63246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1228724" y="1763713"/>
            <a:ext cx="6797675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55600" indent="-355600"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 marL="820738" indent="-282575"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 algn="l">
              <a:lnSpc>
                <a:spcPct val="92000"/>
              </a:lnSpc>
              <a:spcBef>
                <a:spcPts val="700"/>
              </a:spcBef>
              <a:buClr>
                <a:srgbClr val="6E0605"/>
              </a:buClr>
              <a:buFont typeface="Wingdings" charset="2"/>
              <a:buChar char=""/>
            </a:pPr>
            <a:r>
              <a:rPr lang="en-GB" sz="3200" u="none" dirty="0">
                <a:solidFill>
                  <a:schemeClr val="bg1"/>
                </a:solidFill>
                <a:latin typeface="+mj-lt"/>
              </a:rPr>
              <a:t>Can be any type of HTML element</a:t>
            </a:r>
          </a:p>
          <a:p>
            <a:pPr lvl="1" algn="l">
              <a:lnSpc>
                <a:spcPct val="92000"/>
              </a:lnSpc>
              <a:spcBef>
                <a:spcPts val="550"/>
              </a:spcBef>
              <a:buSzPct val="45000"/>
              <a:buFont typeface="starbats" charset="2"/>
              <a:buChar char=""/>
            </a:pPr>
            <a:r>
              <a:rPr lang="en-GB" sz="3200" u="none" dirty="0">
                <a:solidFill>
                  <a:schemeClr val="bg1"/>
                </a:solidFill>
                <a:latin typeface="+mj-lt"/>
              </a:rPr>
              <a:t>body</a:t>
            </a:r>
          </a:p>
          <a:p>
            <a:pPr lvl="1" algn="l">
              <a:lnSpc>
                <a:spcPct val="92000"/>
              </a:lnSpc>
              <a:spcBef>
                <a:spcPts val="550"/>
              </a:spcBef>
              <a:buSzPct val="45000"/>
              <a:buFont typeface="starbats" charset="2"/>
              <a:buChar char=""/>
            </a:pPr>
            <a:r>
              <a:rPr lang="en-GB" sz="3200" u="none" dirty="0">
                <a:solidFill>
                  <a:schemeClr val="bg1"/>
                </a:solidFill>
                <a:latin typeface="+mj-lt"/>
              </a:rPr>
              <a:t>p</a:t>
            </a:r>
          </a:p>
          <a:p>
            <a:pPr lvl="1" algn="l">
              <a:lnSpc>
                <a:spcPct val="92000"/>
              </a:lnSpc>
              <a:spcBef>
                <a:spcPts val="550"/>
              </a:spcBef>
              <a:buSzPct val="45000"/>
              <a:buFont typeface="starbats" charset="2"/>
              <a:buChar char=""/>
            </a:pPr>
            <a:r>
              <a:rPr lang="en-GB" sz="3200" u="none" dirty="0">
                <a:solidFill>
                  <a:schemeClr val="bg1"/>
                </a:solidFill>
                <a:latin typeface="+mj-lt"/>
              </a:rPr>
              <a:t>div</a:t>
            </a:r>
          </a:p>
          <a:p>
            <a:pPr>
              <a:lnSpc>
                <a:spcPct val="92000"/>
              </a:lnSpc>
              <a:spcBef>
                <a:spcPts val="700"/>
              </a:spcBef>
              <a:buClr>
                <a:srgbClr val="DD8047"/>
              </a:buClr>
              <a:buFont typeface="Wingdings" charset="2"/>
              <a:buNone/>
            </a:pPr>
            <a:endParaRPr lang="en-GB" sz="2400" b="1" u="none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ct val="92000"/>
              </a:lnSpc>
              <a:spcBef>
                <a:spcPts val="700"/>
              </a:spcBef>
              <a:buClr>
                <a:srgbClr val="DD8047"/>
              </a:buClr>
              <a:buFont typeface="Wingdings" charset="2"/>
              <a:buNone/>
            </a:pPr>
            <a:r>
              <a:rPr lang="en-GB" sz="2400" b="1" u="none" dirty="0">
                <a:solidFill>
                  <a:schemeClr val="bg1"/>
                </a:solidFill>
                <a:latin typeface="+mj-lt"/>
              </a:rPr>
              <a:t>p {</a:t>
            </a:r>
          </a:p>
          <a:p>
            <a:pPr>
              <a:lnSpc>
                <a:spcPct val="92000"/>
              </a:lnSpc>
              <a:spcBef>
                <a:spcPts val="700"/>
              </a:spcBef>
              <a:buClr>
                <a:srgbClr val="DD8047"/>
              </a:buClr>
              <a:buFont typeface="Wingdings" charset="2"/>
              <a:buNone/>
            </a:pPr>
            <a:r>
              <a:rPr lang="en-GB" sz="2400" b="1" u="none" dirty="0">
                <a:solidFill>
                  <a:schemeClr val="bg1"/>
                </a:solidFill>
                <a:latin typeface="+mj-lt"/>
              </a:rPr>
              <a:t>	background-</a:t>
            </a:r>
            <a:r>
              <a:rPr lang="en-GB" sz="2400" b="1" u="none" dirty="0" err="1">
                <a:solidFill>
                  <a:schemeClr val="bg1"/>
                </a:solidFill>
                <a:latin typeface="+mj-lt"/>
              </a:rPr>
              <a:t>color</a:t>
            </a:r>
            <a:r>
              <a:rPr lang="en-GB" sz="2400" b="1" u="none" dirty="0">
                <a:solidFill>
                  <a:schemeClr val="bg1"/>
                </a:solidFill>
                <a:latin typeface="+mj-lt"/>
              </a:rPr>
              <a:t>: red;</a:t>
            </a:r>
          </a:p>
          <a:p>
            <a:pPr>
              <a:lnSpc>
                <a:spcPct val="92000"/>
              </a:lnSpc>
              <a:spcBef>
                <a:spcPts val="700"/>
              </a:spcBef>
              <a:buClr>
                <a:srgbClr val="DD8047"/>
              </a:buClr>
              <a:buFont typeface="Wingdings" charset="2"/>
              <a:buNone/>
            </a:pPr>
            <a:r>
              <a:rPr lang="en-GB" sz="2400" b="1" u="none" dirty="0">
                <a:solidFill>
                  <a:schemeClr val="bg1"/>
                </a:solidFill>
                <a:latin typeface="+mj-lt"/>
              </a:rPr>
              <a:t>}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457200" y="317500"/>
            <a:ext cx="8226425" cy="105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 algn="ctr">
              <a:lnSpc>
                <a:spcPct val="88000"/>
              </a:lnSpc>
            </a:pPr>
            <a:r>
              <a:rPr lang="en-GB" sz="3200" b="1" u="none" dirty="0" smtClean="0">
                <a:solidFill>
                  <a:srgbClr val="FFFFFF"/>
                </a:solidFill>
                <a:latin typeface="+mj-lt"/>
              </a:rPr>
              <a:t>Tag Selectors</a:t>
            </a:r>
            <a:endParaRPr lang="en-GB" sz="3200" b="1" u="none" dirty="0">
              <a:solidFill>
                <a:srgbClr val="FFFF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616317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chemeClr val="bg1"/>
                </a:solidFill>
              </a:rPr>
              <a:t>{ The class Selector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972050"/>
          </a:xfrm>
        </p:spPr>
        <p:txBody>
          <a:bodyPr/>
          <a:lstStyle/>
          <a:p>
            <a:pPr eaLnBrk="1" hangingPunct="1"/>
            <a:r>
              <a:rPr lang="en-US" dirty="0" smtClean="0"/>
              <a:t>With the class selector you can define different styles for the same type of HTML element.</a:t>
            </a:r>
          </a:p>
          <a:p>
            <a:pPr lvl="1" eaLnBrk="1" hangingPunct="1">
              <a:buFont typeface="Wingdings 3" pitchFamily="18" charset="2"/>
              <a:buNone/>
            </a:pPr>
            <a:r>
              <a:rPr lang="en-US" dirty="0" err="1" smtClean="0">
                <a:solidFill>
                  <a:schemeClr val="bg1"/>
                </a:solidFill>
                <a:latin typeface="Consolas" pitchFamily="49" charset="0"/>
              </a:rPr>
              <a:t>p.right</a:t>
            </a: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 {text-align: right} </a:t>
            </a:r>
          </a:p>
          <a:p>
            <a:pPr lvl="1" eaLnBrk="1" hangingPunct="1">
              <a:buFont typeface="Wingdings 3" pitchFamily="18" charset="2"/>
              <a:buNone/>
            </a:pPr>
            <a:r>
              <a:rPr lang="en-US" dirty="0" err="1" smtClean="0">
                <a:solidFill>
                  <a:schemeClr val="bg1"/>
                </a:solidFill>
                <a:latin typeface="Consolas" pitchFamily="49" charset="0"/>
              </a:rPr>
              <a:t>p.center</a:t>
            </a: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 {text-align: center}</a:t>
            </a:r>
          </a:p>
          <a:p>
            <a:pPr eaLnBrk="1" hangingPunct="1"/>
            <a:r>
              <a:rPr lang="en-US" dirty="0" smtClean="0">
                <a:latin typeface="Consolas" pitchFamily="49" charset="0"/>
              </a:rPr>
              <a:t>Using the class argument in (X)HTML: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sz="2400" dirty="0" smtClean="0">
                <a:solidFill>
                  <a:schemeClr val="bg1"/>
                </a:solidFill>
                <a:latin typeface="Consolas" pitchFamily="49" charset="0"/>
              </a:rPr>
              <a:t>&lt;p class="right"&gt; This paragraph will be right-aligned. &lt;/p&gt; 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sz="2400" dirty="0" smtClean="0">
                <a:solidFill>
                  <a:schemeClr val="bg1"/>
                </a:solidFill>
                <a:latin typeface="Consolas" pitchFamily="49" charset="0"/>
              </a:rPr>
              <a:t>&lt;p class="center"&gt; This paragraph will be center-aligned. &lt;/p&gt;</a:t>
            </a:r>
          </a:p>
        </p:txBody>
      </p:sp>
    </p:spTree>
    <p:extLst>
      <p:ext uri="{BB962C8B-B14F-4D97-AF65-F5344CB8AC3E}">
        <p14:creationId xmlns:p14="http://schemas.microsoft.com/office/powerpoint/2010/main" val="3589551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12530-034F-4933-AA6B-B1A0FB8E479D}" type="slidenum">
              <a:rPr lang="en-US"/>
              <a:pPr/>
              <a:t>41</a:t>
            </a:fld>
            <a:endParaRPr 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bg1"/>
                </a:solidFill>
              </a:rPr>
              <a:t>The class Selector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dirty="0"/>
              <a:t>defines different styles for the same element:</a:t>
            </a:r>
          </a:p>
          <a:p>
            <a:pPr algn="ctr">
              <a:buFontTx/>
              <a:buNone/>
            </a:pPr>
            <a:r>
              <a:rPr lang="en-GB" i="1" dirty="0">
                <a:solidFill>
                  <a:schemeClr val="bg1"/>
                </a:solidFill>
              </a:rPr>
              <a:t>p. </a:t>
            </a:r>
            <a:r>
              <a:rPr lang="en-GB" i="1" dirty="0" err="1">
                <a:solidFill>
                  <a:schemeClr val="bg1"/>
                </a:solidFill>
              </a:rPr>
              <a:t>center</a:t>
            </a:r>
            <a:r>
              <a:rPr lang="en-GB" i="1" dirty="0">
                <a:solidFill>
                  <a:schemeClr val="bg1"/>
                </a:solidFill>
              </a:rPr>
              <a:t> {text-align: </a:t>
            </a:r>
            <a:r>
              <a:rPr lang="en-GB" i="1" dirty="0" err="1">
                <a:solidFill>
                  <a:schemeClr val="bg1"/>
                </a:solidFill>
              </a:rPr>
              <a:t>center</a:t>
            </a:r>
            <a:r>
              <a:rPr lang="en-GB" i="1" dirty="0">
                <a:solidFill>
                  <a:schemeClr val="bg1"/>
                </a:solidFill>
              </a:rPr>
              <a:t>}</a:t>
            </a:r>
          </a:p>
          <a:p>
            <a:pPr algn="ctr">
              <a:buFontTx/>
              <a:buNone/>
            </a:pPr>
            <a:endParaRPr lang="en-GB" i="1" dirty="0"/>
          </a:p>
          <a:p>
            <a:pPr>
              <a:buFontTx/>
              <a:buNone/>
            </a:pPr>
            <a:r>
              <a:rPr lang="en-GB" dirty="0"/>
              <a:t>in HTML document:</a:t>
            </a:r>
          </a:p>
          <a:p>
            <a:pPr algn="ctr">
              <a:buFontTx/>
              <a:buNone/>
            </a:pPr>
            <a:r>
              <a:rPr lang="en-GB" i="1" dirty="0">
                <a:solidFill>
                  <a:schemeClr val="bg1"/>
                </a:solidFill>
              </a:rPr>
              <a:t>&lt;p class=“</a:t>
            </a:r>
            <a:r>
              <a:rPr lang="en-GB" i="1" dirty="0" err="1">
                <a:solidFill>
                  <a:schemeClr val="bg1"/>
                </a:solidFill>
              </a:rPr>
              <a:t>center</a:t>
            </a:r>
            <a:r>
              <a:rPr lang="en-GB" i="1" dirty="0">
                <a:solidFill>
                  <a:schemeClr val="bg1"/>
                </a:solidFill>
              </a:rPr>
              <a:t>”&gt;Paragraph&lt;/p&gt;</a:t>
            </a:r>
          </a:p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3269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7A0C0-17EA-440E-BD9C-797411101C1E}" type="slidenum">
              <a:rPr lang="en-US"/>
              <a:pPr/>
              <a:t>42</a:t>
            </a:fld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bg1"/>
                </a:solidFill>
              </a:rPr>
              <a:t>The class Selector</a:t>
            </a:r>
            <a:endParaRPr lang="en-GB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en-GB" i="1" dirty="0">
                <a:solidFill>
                  <a:schemeClr val="bg1"/>
                </a:solidFill>
              </a:rPr>
              <a:t>.</a:t>
            </a:r>
            <a:r>
              <a:rPr lang="en-GB" i="1" dirty="0" err="1">
                <a:solidFill>
                  <a:schemeClr val="bg1"/>
                </a:solidFill>
              </a:rPr>
              <a:t>center</a:t>
            </a:r>
            <a:r>
              <a:rPr lang="en-GB" i="1" dirty="0">
                <a:solidFill>
                  <a:schemeClr val="bg1"/>
                </a:solidFill>
              </a:rPr>
              <a:t> {text-align: </a:t>
            </a:r>
            <a:r>
              <a:rPr lang="en-GB" i="1" dirty="0" err="1">
                <a:solidFill>
                  <a:schemeClr val="bg1"/>
                </a:solidFill>
              </a:rPr>
              <a:t>center</a:t>
            </a:r>
            <a:r>
              <a:rPr lang="en-GB" i="1" dirty="0">
                <a:solidFill>
                  <a:schemeClr val="bg1"/>
                </a:solidFill>
              </a:rPr>
              <a:t>}</a:t>
            </a:r>
            <a:endParaRPr lang="en-GB" dirty="0">
              <a:solidFill>
                <a:schemeClr val="bg1"/>
              </a:solidFill>
            </a:endParaRPr>
          </a:p>
          <a:p>
            <a:pPr>
              <a:buFontTx/>
              <a:buNone/>
            </a:pPr>
            <a:endParaRPr lang="en-GB" dirty="0"/>
          </a:p>
          <a:p>
            <a:pPr algn="ctr">
              <a:buFontTx/>
              <a:buNone/>
            </a:pPr>
            <a:r>
              <a:rPr lang="en-GB" dirty="0"/>
              <a:t>means:</a:t>
            </a:r>
          </a:p>
          <a:p>
            <a:pPr>
              <a:buFontTx/>
              <a:buNone/>
            </a:pPr>
            <a:r>
              <a:rPr lang="en-GB" sz="2800" i="1" dirty="0">
                <a:solidFill>
                  <a:schemeClr val="bg1"/>
                </a:solidFill>
              </a:rPr>
              <a:t>    &lt;h1 class="</a:t>
            </a:r>
            <a:r>
              <a:rPr lang="en-GB" sz="2800" i="1" dirty="0" err="1">
                <a:solidFill>
                  <a:schemeClr val="bg1"/>
                </a:solidFill>
              </a:rPr>
              <a:t>center</a:t>
            </a:r>
            <a:r>
              <a:rPr lang="en-GB" sz="2800" i="1" dirty="0">
                <a:solidFill>
                  <a:schemeClr val="bg1"/>
                </a:solidFill>
              </a:rPr>
              <a:t>"&gt;Heading is </a:t>
            </a:r>
            <a:r>
              <a:rPr lang="en-GB" sz="2800" i="1" dirty="0" err="1">
                <a:solidFill>
                  <a:schemeClr val="bg1"/>
                </a:solidFill>
              </a:rPr>
              <a:t>centered</a:t>
            </a:r>
            <a:r>
              <a:rPr lang="en-GB" sz="2800" i="1" dirty="0">
                <a:solidFill>
                  <a:schemeClr val="bg1"/>
                </a:solidFill>
              </a:rPr>
              <a:t>&lt;/h1&gt;</a:t>
            </a:r>
          </a:p>
          <a:p>
            <a:pPr algn="ctr">
              <a:buFontTx/>
              <a:buNone/>
            </a:pPr>
            <a:r>
              <a:rPr lang="en-GB" sz="2800" i="1" dirty="0">
                <a:solidFill>
                  <a:schemeClr val="bg1"/>
                </a:solidFill>
              </a:rPr>
              <a:t>&lt;p class="</a:t>
            </a:r>
            <a:r>
              <a:rPr lang="en-GB" sz="2800" i="1" dirty="0" err="1">
                <a:solidFill>
                  <a:schemeClr val="bg1"/>
                </a:solidFill>
              </a:rPr>
              <a:t>center</a:t>
            </a:r>
            <a:r>
              <a:rPr lang="en-GB" sz="2800" i="1" dirty="0">
                <a:solidFill>
                  <a:schemeClr val="bg1"/>
                </a:solidFill>
              </a:rPr>
              <a:t>"&gt;Paragraph is </a:t>
            </a:r>
            <a:r>
              <a:rPr lang="en-GB" sz="2800" i="1" dirty="0" err="1">
                <a:solidFill>
                  <a:schemeClr val="bg1"/>
                </a:solidFill>
              </a:rPr>
              <a:t>centered</a:t>
            </a:r>
            <a:r>
              <a:rPr lang="en-GB" sz="2800" i="1" dirty="0">
                <a:solidFill>
                  <a:schemeClr val="bg1"/>
                </a:solidFill>
              </a:rPr>
              <a:t>&lt;/p&gt;</a:t>
            </a:r>
            <a:endParaRPr lang="en-GB" dirty="0">
              <a:solidFill>
                <a:schemeClr val="bg1"/>
              </a:solidFill>
            </a:endParaRPr>
          </a:p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7444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The class Selector</a:t>
            </a:r>
            <a:endParaRPr 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Class Selectors</a:t>
            </a:r>
            <a:endParaRPr lang="en-US" dirty="0"/>
          </a:p>
          <a:p>
            <a:pPr lvl="1">
              <a:buFont typeface="Wingdings" pitchFamily="2" charset="2"/>
              <a:buNone/>
            </a:pPr>
            <a:r>
              <a:rPr lang="en-US" dirty="0">
                <a:solidFill>
                  <a:schemeClr val="bg1"/>
                </a:solidFill>
              </a:rPr>
              <a:t>&lt;H1 CLASS=“warning”&gt;Danger!&lt;/H1&gt;</a:t>
            </a:r>
          </a:p>
          <a:p>
            <a:pPr lvl="1">
              <a:buFont typeface="Wingdings" pitchFamily="2" charset="2"/>
              <a:buNone/>
            </a:pPr>
            <a:r>
              <a:rPr lang="en-US" dirty="0">
                <a:solidFill>
                  <a:schemeClr val="bg1"/>
                </a:solidFill>
              </a:rPr>
              <a:t>&lt;P CLASS=“warning”&gt;Be careful…&lt;/P&gt;</a:t>
            </a:r>
          </a:p>
          <a:p>
            <a:pPr lvl="1">
              <a:buFont typeface="Wingdings" pitchFamily="2" charset="2"/>
              <a:buNone/>
            </a:pPr>
            <a:r>
              <a:rPr lang="en-US" dirty="0"/>
              <a:t>…….</a:t>
            </a:r>
          </a:p>
          <a:p>
            <a:pPr lvl="1">
              <a:buFont typeface="Wingdings" pitchFamily="2" charset="2"/>
              <a:buNone/>
            </a:pPr>
            <a:r>
              <a:rPr lang="en-US" b="1" u="sng" dirty="0"/>
              <a:t>In your HTML code</a:t>
            </a:r>
            <a:r>
              <a:rPr lang="en-US" b="1" dirty="0"/>
              <a:t> -</a:t>
            </a:r>
          </a:p>
          <a:p>
            <a:pPr lvl="1">
              <a:buFont typeface="Wingdings" pitchFamily="2" charset="2"/>
              <a:buNone/>
            </a:pPr>
            <a:r>
              <a:rPr lang="en-US" dirty="0">
                <a:solidFill>
                  <a:schemeClr val="bg1"/>
                </a:solidFill>
              </a:rPr>
              <a:t>H1.warning {color: red;}</a:t>
            </a:r>
          </a:p>
          <a:p>
            <a:pPr lvl="1">
              <a:buFont typeface="Wingdings" pitchFamily="2" charset="2"/>
              <a:buNone/>
            </a:pPr>
            <a:r>
              <a:rPr lang="en-US" dirty="0">
                <a:solidFill>
                  <a:schemeClr val="bg1"/>
                </a:solidFill>
              </a:rPr>
              <a:t>			</a:t>
            </a:r>
            <a:r>
              <a:rPr lang="en-US" b="1" dirty="0">
                <a:solidFill>
                  <a:schemeClr val="bg1"/>
                </a:solidFill>
              </a:rPr>
              <a:t>OR to an entire class…</a:t>
            </a:r>
          </a:p>
          <a:p>
            <a:pPr lvl="1">
              <a:buFont typeface="Wingdings" pitchFamily="2" charset="2"/>
              <a:buNone/>
            </a:pPr>
            <a:r>
              <a:rPr lang="en-US" dirty="0">
                <a:solidFill>
                  <a:schemeClr val="bg1"/>
                </a:solidFill>
              </a:rPr>
              <a:t>.warning {</a:t>
            </a:r>
            <a:r>
              <a:rPr lang="en-US" dirty="0" err="1">
                <a:solidFill>
                  <a:schemeClr val="bg1"/>
                </a:solidFill>
              </a:rPr>
              <a:t>color:red</a:t>
            </a:r>
            <a:r>
              <a:rPr lang="en-US" dirty="0">
                <a:solidFill>
                  <a:schemeClr val="bg1"/>
                </a:solidFill>
              </a:rPr>
              <a:t>;}</a:t>
            </a:r>
          </a:p>
          <a:p>
            <a:pPr>
              <a:buFont typeface="Wingdings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16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3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38200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chemeClr val="bg1"/>
                </a:solidFill>
              </a:rPr>
              <a:t>{ Text color 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sz="quarter" idx="1"/>
          </p:nvPr>
        </p:nvSpPr>
        <p:spPr>
          <a:xfrm>
            <a:off x="428625" y="1571625"/>
            <a:ext cx="4038600" cy="5114925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sz="2000" dirty="0" smtClean="0">
                <a:solidFill>
                  <a:schemeClr val="bg1"/>
                </a:solidFill>
                <a:latin typeface="Consolas" pitchFamily="49" charset="0"/>
              </a:rPr>
              <a:t>&lt;html&gt;&lt;head&gt;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nsolas" pitchFamily="49" charset="0"/>
              </a:rPr>
              <a:t>&lt;style type="text/</a:t>
            </a:r>
            <a:r>
              <a:rPr lang="en-US" sz="2000" b="1" dirty="0" err="1" smtClean="0">
                <a:solidFill>
                  <a:schemeClr val="bg1"/>
                </a:solidFill>
                <a:latin typeface="Consolas" pitchFamily="49" charset="0"/>
              </a:rPr>
              <a:t>css</a:t>
            </a:r>
            <a:r>
              <a:rPr lang="en-US" sz="2000" b="1" dirty="0" smtClean="0">
                <a:solidFill>
                  <a:schemeClr val="bg1"/>
                </a:solidFill>
                <a:latin typeface="Consolas" pitchFamily="49" charset="0"/>
              </a:rPr>
              <a:t>"&gt;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nsolas" pitchFamily="49" charset="0"/>
              </a:rPr>
              <a:t>	h1 {color: green}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nsolas" pitchFamily="49" charset="0"/>
              </a:rPr>
              <a:t> 	h2 {color: #dda0dd}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nsolas" pitchFamily="49" charset="0"/>
              </a:rPr>
              <a:t> 	p {color: </a:t>
            </a:r>
            <a:r>
              <a:rPr lang="en-US" sz="2000" b="1" dirty="0" err="1" smtClean="0">
                <a:solidFill>
                  <a:schemeClr val="bg1"/>
                </a:solidFill>
                <a:latin typeface="Consolas" pitchFamily="49" charset="0"/>
              </a:rPr>
              <a:t>rgb</a:t>
            </a:r>
            <a:r>
              <a:rPr lang="en-US" sz="2000" b="1" dirty="0" smtClean="0">
                <a:solidFill>
                  <a:schemeClr val="bg1"/>
                </a:solidFill>
                <a:latin typeface="Consolas" pitchFamily="49" charset="0"/>
              </a:rPr>
              <a:t>(0,0,255)}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nsolas" pitchFamily="49" charset="0"/>
              </a:rPr>
              <a:t>&lt;/style&gt;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sz="2000" dirty="0" smtClean="0">
                <a:solidFill>
                  <a:schemeClr val="bg1"/>
                </a:solidFill>
                <a:latin typeface="Consolas" pitchFamily="49" charset="0"/>
              </a:rPr>
              <a:t>&lt;/head&gt;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sz="2000" dirty="0" smtClean="0">
                <a:solidFill>
                  <a:schemeClr val="bg1"/>
                </a:solidFill>
                <a:latin typeface="Consolas" pitchFamily="49" charset="0"/>
              </a:rPr>
              <a:t>&lt;body&gt;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sz="2000" dirty="0" smtClean="0">
                <a:solidFill>
                  <a:schemeClr val="bg1"/>
                </a:solidFill>
                <a:latin typeface="Consolas" pitchFamily="49" charset="0"/>
              </a:rPr>
              <a:t> 	</a:t>
            </a:r>
            <a:r>
              <a:rPr lang="en-US" sz="2000" b="1" dirty="0" smtClean="0">
                <a:solidFill>
                  <a:schemeClr val="bg1"/>
                </a:solidFill>
                <a:latin typeface="Consolas" pitchFamily="49" charset="0"/>
              </a:rPr>
              <a:t>&lt;h1&gt;This is header 1&lt;/h1&gt;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nsolas" pitchFamily="49" charset="0"/>
              </a:rPr>
              <a:t> 	&lt;h2&gt;This is header 2&lt;/h2&gt;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nsolas" pitchFamily="49" charset="0"/>
              </a:rPr>
              <a:t> 	&lt;p&gt;This is a paragraph&lt;/p&gt;</a:t>
            </a:r>
            <a:endParaRPr lang="en-US" sz="2000" dirty="0" smtClean="0">
              <a:solidFill>
                <a:schemeClr val="bg1"/>
              </a:solidFill>
              <a:latin typeface="Consolas" pitchFamily="49" charset="0"/>
            </a:endParaRPr>
          </a:p>
          <a:p>
            <a:pPr eaLnBrk="1" hangingPunct="1">
              <a:buFont typeface="Wingdings 3" pitchFamily="18" charset="2"/>
              <a:buNone/>
            </a:pPr>
            <a:r>
              <a:rPr lang="en-US" sz="2000" dirty="0" smtClean="0">
                <a:solidFill>
                  <a:schemeClr val="bg1"/>
                </a:solidFill>
                <a:latin typeface="Consolas" pitchFamily="49" charset="0"/>
              </a:rPr>
              <a:t>&lt;/body&gt;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sz="2000" dirty="0" smtClean="0">
                <a:solidFill>
                  <a:schemeClr val="bg1"/>
                </a:solidFill>
                <a:latin typeface="Consolas" pitchFamily="49" charset="0"/>
              </a:rPr>
              <a:t>&lt;/html&gt;</a:t>
            </a:r>
          </a:p>
        </p:txBody>
      </p:sp>
      <p:sp>
        <p:nvSpPr>
          <p:cNvPr id="19460" name="Content Placeholder 4"/>
          <p:cNvSpPr>
            <a:spLocks noGrp="1"/>
          </p:cNvSpPr>
          <p:nvPr>
            <p:ph sz="quarter" idx="2"/>
          </p:nvPr>
        </p:nvSpPr>
        <p:spPr>
          <a:xfrm>
            <a:off x="4632325" y="1216025"/>
            <a:ext cx="4041775" cy="4937125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endParaRPr lang="en-US" sz="4000" b="1" dirty="0" smtClean="0">
              <a:solidFill>
                <a:srgbClr val="00B050"/>
              </a:solidFill>
            </a:endParaRPr>
          </a:p>
          <a:p>
            <a:pPr eaLnBrk="1" hangingPunct="1">
              <a:buFont typeface="Wingdings 3" pitchFamily="18" charset="2"/>
              <a:buNone/>
            </a:pPr>
            <a:r>
              <a:rPr lang="en-US" sz="40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This is header 1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sz="3200" b="1" dirty="0" smtClean="0">
                <a:solidFill>
                  <a:srgbClr val="E574FC"/>
                </a:solidFill>
                <a:latin typeface="Times New Roman" pitchFamily="18" charset="0"/>
                <a:cs typeface="Times New Roman" pitchFamily="18" charset="0"/>
              </a:rPr>
              <a:t>This is header 2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This is a paragraph</a:t>
            </a:r>
          </a:p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94942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65CE-B911-4076-910F-B78BDF7761DD}" type="slidenum">
              <a:rPr lang="en-US"/>
              <a:pPr/>
              <a:t>45</a:t>
            </a:fld>
            <a:endParaRPr lang="en-US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b="1" dirty="0">
                <a:solidFill>
                  <a:schemeClr val="bg1"/>
                </a:solidFill>
              </a:rPr>
              <a:t>ID Attribute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dirty="0"/>
              <a:t> there can be only one element with a given </a:t>
            </a:r>
            <a:r>
              <a:rPr lang="en-GB" b="1" dirty="0"/>
              <a:t>id </a:t>
            </a:r>
            <a:r>
              <a:rPr lang="en-GB" dirty="0"/>
              <a:t>in a document:</a:t>
            </a:r>
          </a:p>
          <a:p>
            <a:pPr>
              <a:buFontTx/>
              <a:buNone/>
            </a:pPr>
            <a:endParaRPr lang="en-GB" sz="1800" dirty="0"/>
          </a:p>
          <a:p>
            <a:r>
              <a:rPr lang="en-GB" dirty="0"/>
              <a:t>to match all elements with a id:</a:t>
            </a:r>
          </a:p>
          <a:p>
            <a:pPr lvl="1"/>
            <a:r>
              <a:rPr lang="en-GB" i="1" dirty="0">
                <a:solidFill>
                  <a:schemeClr val="bg1"/>
                </a:solidFill>
              </a:rPr>
              <a:t>#intro {font-</a:t>
            </a:r>
            <a:r>
              <a:rPr lang="en-GB" i="1" dirty="0" err="1">
                <a:solidFill>
                  <a:schemeClr val="bg1"/>
                </a:solidFill>
              </a:rPr>
              <a:t>weight:bold</a:t>
            </a:r>
            <a:r>
              <a:rPr lang="en-GB" i="1" dirty="0">
                <a:solidFill>
                  <a:schemeClr val="bg1"/>
                </a:solidFill>
              </a:rPr>
              <a:t>; </a:t>
            </a:r>
            <a:r>
              <a:rPr lang="en-GB" i="1" dirty="0" err="1">
                <a:solidFill>
                  <a:schemeClr val="bg1"/>
                </a:solidFill>
              </a:rPr>
              <a:t>color</a:t>
            </a:r>
            <a:r>
              <a:rPr lang="en-GB" i="1" dirty="0">
                <a:solidFill>
                  <a:schemeClr val="bg1"/>
                </a:solidFill>
              </a:rPr>
              <a:t>: #0000ff}</a:t>
            </a:r>
          </a:p>
          <a:p>
            <a:r>
              <a:rPr lang="en-GB" dirty="0"/>
              <a:t>only elements with id="intro":</a:t>
            </a:r>
          </a:p>
          <a:p>
            <a:pPr lvl="1"/>
            <a:r>
              <a:rPr lang="en-GB" i="1" dirty="0" err="1">
                <a:solidFill>
                  <a:schemeClr val="bg1"/>
                </a:solidFill>
              </a:rPr>
              <a:t>p#intro</a:t>
            </a:r>
            <a:r>
              <a:rPr lang="en-GB" i="1" dirty="0">
                <a:solidFill>
                  <a:schemeClr val="bg1"/>
                </a:solidFill>
              </a:rPr>
              <a:t> {font- </a:t>
            </a:r>
            <a:r>
              <a:rPr lang="en-GB" i="1" dirty="0" err="1">
                <a:solidFill>
                  <a:schemeClr val="bg1"/>
                </a:solidFill>
              </a:rPr>
              <a:t>weight:bold</a:t>
            </a:r>
            <a:r>
              <a:rPr lang="en-GB" i="1" dirty="0">
                <a:solidFill>
                  <a:schemeClr val="bg1"/>
                </a:solidFill>
              </a:rPr>
              <a:t>; </a:t>
            </a:r>
            <a:r>
              <a:rPr lang="en-GB" i="1" dirty="0" err="1">
                <a:solidFill>
                  <a:schemeClr val="bg1"/>
                </a:solidFill>
              </a:rPr>
              <a:t>color</a:t>
            </a:r>
            <a:r>
              <a:rPr lang="en-GB" i="1" dirty="0">
                <a:solidFill>
                  <a:schemeClr val="bg1"/>
                </a:solidFill>
              </a:rPr>
              <a:t>:#0000ff;}</a:t>
            </a:r>
          </a:p>
        </p:txBody>
      </p:sp>
    </p:spTree>
    <p:extLst>
      <p:ext uri="{BB962C8B-B14F-4D97-AF65-F5344CB8AC3E}">
        <p14:creationId xmlns:p14="http://schemas.microsoft.com/office/powerpoint/2010/main" val="484102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 Box 1"/>
          <p:cNvSpPr txBox="1">
            <a:spLocks noChangeArrowheads="1"/>
          </p:cNvSpPr>
          <p:nvPr/>
        </p:nvSpPr>
        <p:spPr bwMode="auto">
          <a:xfrm>
            <a:off x="1943100" y="0"/>
            <a:ext cx="63246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785813" y="1846263"/>
            <a:ext cx="7391400" cy="422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55600" indent="-355600"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 algn="l">
              <a:lnSpc>
                <a:spcPct val="92000"/>
              </a:lnSpc>
              <a:spcBef>
                <a:spcPts val="700"/>
              </a:spcBef>
              <a:buClr>
                <a:srgbClr val="6E0605"/>
              </a:buClr>
              <a:buFont typeface="Wingdings" charset="2"/>
              <a:buChar char=""/>
            </a:pPr>
            <a:r>
              <a:rPr lang="en-GB" sz="3200" u="none" dirty="0">
                <a:solidFill>
                  <a:schemeClr val="bg1"/>
                </a:solidFill>
                <a:latin typeface="+mj-lt"/>
              </a:rPr>
              <a:t>ID's vs. Classes... an epic battle.</a:t>
            </a:r>
          </a:p>
          <a:p>
            <a:pPr algn="l">
              <a:lnSpc>
                <a:spcPct val="92000"/>
              </a:lnSpc>
              <a:spcBef>
                <a:spcPts val="700"/>
              </a:spcBef>
              <a:buClr>
                <a:srgbClr val="6E0605"/>
              </a:buClr>
              <a:buFont typeface="Wingdings" charset="2"/>
              <a:buChar char=""/>
            </a:pPr>
            <a:r>
              <a:rPr lang="en-GB" sz="3200" u="none" dirty="0" smtClean="0">
                <a:solidFill>
                  <a:schemeClr val="bg1"/>
                </a:solidFill>
                <a:latin typeface="+mj-lt"/>
              </a:rPr>
              <a:t>You </a:t>
            </a:r>
            <a:r>
              <a:rPr lang="en-GB" sz="3200" u="none" dirty="0">
                <a:solidFill>
                  <a:schemeClr val="bg1"/>
                </a:solidFill>
                <a:latin typeface="+mj-lt"/>
              </a:rPr>
              <a:t>can not have two elements on one page with the same ID</a:t>
            </a:r>
          </a:p>
          <a:p>
            <a:pPr>
              <a:lnSpc>
                <a:spcPct val="92000"/>
              </a:lnSpc>
              <a:spcBef>
                <a:spcPts val="700"/>
              </a:spcBef>
              <a:buClr>
                <a:srgbClr val="DD8047"/>
              </a:buClr>
              <a:buFont typeface="Wingdings" charset="2"/>
              <a:buNone/>
            </a:pPr>
            <a:endParaRPr lang="en-GB" sz="1600" b="1" dirty="0">
              <a:solidFill>
                <a:schemeClr val="bg1"/>
              </a:solidFill>
            </a:endParaRPr>
          </a:p>
          <a:p>
            <a:pPr>
              <a:lnSpc>
                <a:spcPct val="92000"/>
              </a:lnSpc>
              <a:spcBef>
                <a:spcPts val="700"/>
              </a:spcBef>
              <a:buClr>
                <a:srgbClr val="DD8047"/>
              </a:buClr>
              <a:buFont typeface="Wingdings" charset="2"/>
              <a:buNone/>
            </a:pPr>
            <a:r>
              <a:rPr lang="en-GB" sz="2400" b="1" u="none" dirty="0">
                <a:solidFill>
                  <a:schemeClr val="bg1"/>
                </a:solidFill>
                <a:latin typeface="+mj-lt"/>
              </a:rPr>
              <a:t>#sidebar {</a:t>
            </a:r>
          </a:p>
          <a:p>
            <a:pPr>
              <a:lnSpc>
                <a:spcPct val="92000"/>
              </a:lnSpc>
              <a:spcBef>
                <a:spcPts val="700"/>
              </a:spcBef>
              <a:buClr>
                <a:srgbClr val="DD8047"/>
              </a:buClr>
              <a:buFont typeface="Wingdings" charset="2"/>
              <a:buNone/>
            </a:pPr>
            <a:r>
              <a:rPr lang="en-GB" sz="2400" b="1" u="none" dirty="0">
                <a:solidFill>
                  <a:schemeClr val="bg1"/>
                </a:solidFill>
                <a:latin typeface="+mj-lt"/>
              </a:rPr>
              <a:t>	background-</a:t>
            </a:r>
            <a:r>
              <a:rPr lang="en-GB" sz="2400" b="1" u="none" dirty="0" err="1">
                <a:solidFill>
                  <a:schemeClr val="bg1"/>
                </a:solidFill>
                <a:latin typeface="+mj-lt"/>
              </a:rPr>
              <a:t>color</a:t>
            </a:r>
            <a:r>
              <a:rPr lang="en-GB" sz="2400" b="1" u="none" dirty="0">
                <a:solidFill>
                  <a:schemeClr val="bg1"/>
                </a:solidFill>
                <a:latin typeface="+mj-lt"/>
              </a:rPr>
              <a:t>: blue</a:t>
            </a:r>
            <a:r>
              <a:rPr lang="en-GB" sz="2400" b="1" dirty="0">
                <a:solidFill>
                  <a:schemeClr val="bg1"/>
                </a:solidFill>
              </a:rPr>
              <a:t>;</a:t>
            </a:r>
          </a:p>
          <a:p>
            <a:pPr>
              <a:lnSpc>
                <a:spcPct val="92000"/>
              </a:lnSpc>
              <a:spcBef>
                <a:spcPts val="700"/>
              </a:spcBef>
              <a:buClr>
                <a:srgbClr val="DD8047"/>
              </a:buClr>
              <a:buFont typeface="Wingdings" charset="2"/>
              <a:buNone/>
            </a:pPr>
            <a:r>
              <a:rPr lang="en-GB" sz="2400" b="1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457200" y="317500"/>
            <a:ext cx="8226425" cy="105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 algn="ctr">
              <a:lnSpc>
                <a:spcPct val="88000"/>
              </a:lnSpc>
            </a:pPr>
            <a:r>
              <a:rPr lang="en-GB" sz="3200" b="1" u="none" dirty="0">
                <a:solidFill>
                  <a:srgbClr val="FFFFFF"/>
                </a:solidFill>
                <a:latin typeface="DIN-Medium" pitchFamily="32" charset="0"/>
              </a:rPr>
              <a:t>ID Selectors</a:t>
            </a:r>
          </a:p>
        </p:txBody>
      </p:sp>
    </p:spTree>
    <p:extLst>
      <p:ext uri="{BB962C8B-B14F-4D97-AF65-F5344CB8AC3E}">
        <p14:creationId xmlns:p14="http://schemas.microsoft.com/office/powerpoint/2010/main" val="23090066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ext Box 1"/>
          <p:cNvSpPr txBox="1">
            <a:spLocks noChangeArrowheads="1"/>
          </p:cNvSpPr>
          <p:nvPr/>
        </p:nvSpPr>
        <p:spPr bwMode="auto">
          <a:xfrm>
            <a:off x="1943100" y="0"/>
            <a:ext cx="63246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1397000" y="1946275"/>
            <a:ext cx="6962775" cy="431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55600" indent="-355600"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 algn="l">
              <a:lnSpc>
                <a:spcPct val="82000"/>
              </a:lnSpc>
              <a:spcBef>
                <a:spcPts val="700"/>
              </a:spcBef>
              <a:buClr>
                <a:srgbClr val="6E0605"/>
              </a:buClr>
              <a:buFont typeface="Wingdings" charset="2"/>
              <a:buChar char=""/>
            </a:pPr>
            <a:r>
              <a:rPr lang="en-GB" sz="3200" u="none" dirty="0">
                <a:solidFill>
                  <a:schemeClr val="bg1"/>
                </a:solidFill>
                <a:latin typeface="+mj-lt"/>
              </a:rPr>
              <a:t>You can group selectors together as well with commas</a:t>
            </a:r>
          </a:p>
          <a:p>
            <a:pPr algn="l">
              <a:lnSpc>
                <a:spcPct val="80000"/>
              </a:lnSpc>
              <a:spcBef>
                <a:spcPts val="700"/>
              </a:spcBef>
              <a:buClr>
                <a:srgbClr val="DD8047"/>
              </a:buClr>
              <a:buFont typeface="Wingdings" charset="2"/>
              <a:buNone/>
            </a:pPr>
            <a:endParaRPr lang="en-GB" sz="1600" u="none" dirty="0">
              <a:solidFill>
                <a:schemeClr val="bg1"/>
              </a:solidFill>
              <a:latin typeface="+mj-lt"/>
            </a:endParaRPr>
          </a:p>
          <a:p>
            <a:pPr algn="l">
              <a:lnSpc>
                <a:spcPct val="82000"/>
              </a:lnSpc>
              <a:spcBef>
                <a:spcPts val="700"/>
              </a:spcBef>
              <a:buClr>
                <a:srgbClr val="DD8047"/>
              </a:buClr>
              <a:buFont typeface="Wingdings" charset="2"/>
              <a:buNone/>
            </a:pPr>
            <a:r>
              <a:rPr lang="en-GB" sz="3200" b="1" u="none" dirty="0" err="1">
                <a:solidFill>
                  <a:schemeClr val="bg1"/>
                </a:solidFill>
                <a:latin typeface="+mj-lt"/>
              </a:rPr>
              <a:t>p.warning</a:t>
            </a:r>
            <a:r>
              <a:rPr lang="en-GB" sz="3200" b="1" u="none" dirty="0">
                <a:solidFill>
                  <a:schemeClr val="bg1"/>
                </a:solidFill>
                <a:latin typeface="+mj-lt"/>
              </a:rPr>
              <a:t>, </a:t>
            </a:r>
            <a:r>
              <a:rPr lang="en-GB" sz="3200" b="1" u="none" dirty="0" err="1">
                <a:solidFill>
                  <a:schemeClr val="bg1"/>
                </a:solidFill>
                <a:latin typeface="+mj-lt"/>
              </a:rPr>
              <a:t>p.special</a:t>
            </a:r>
            <a:r>
              <a:rPr lang="en-GB" sz="3200" b="1" u="none" dirty="0">
                <a:solidFill>
                  <a:schemeClr val="bg1"/>
                </a:solidFill>
                <a:latin typeface="+mj-lt"/>
              </a:rPr>
              <a:t> {</a:t>
            </a:r>
          </a:p>
          <a:p>
            <a:pPr algn="l">
              <a:lnSpc>
                <a:spcPct val="82000"/>
              </a:lnSpc>
              <a:spcBef>
                <a:spcPts val="700"/>
              </a:spcBef>
              <a:buClr>
                <a:srgbClr val="DD8047"/>
              </a:buClr>
              <a:buFont typeface="Wingdings" charset="2"/>
              <a:buNone/>
            </a:pPr>
            <a:r>
              <a:rPr lang="en-GB" sz="3200" b="1" u="none" dirty="0">
                <a:solidFill>
                  <a:schemeClr val="bg1"/>
                </a:solidFill>
                <a:latin typeface="+mj-lt"/>
              </a:rPr>
              <a:t>	</a:t>
            </a:r>
            <a:r>
              <a:rPr lang="en-GB" sz="3200" b="1" u="none" dirty="0" err="1">
                <a:solidFill>
                  <a:schemeClr val="bg1"/>
                </a:solidFill>
                <a:latin typeface="+mj-lt"/>
              </a:rPr>
              <a:t>color</a:t>
            </a:r>
            <a:r>
              <a:rPr lang="en-GB" sz="3200" b="1" u="none" dirty="0">
                <a:solidFill>
                  <a:schemeClr val="bg1"/>
                </a:solidFill>
                <a:latin typeface="+mj-lt"/>
              </a:rPr>
              <a:t>: red;</a:t>
            </a:r>
          </a:p>
          <a:p>
            <a:pPr algn="l">
              <a:lnSpc>
                <a:spcPct val="82000"/>
              </a:lnSpc>
              <a:spcBef>
                <a:spcPts val="700"/>
              </a:spcBef>
              <a:buClr>
                <a:srgbClr val="DD8047"/>
              </a:buClr>
              <a:buFont typeface="Wingdings" charset="2"/>
              <a:buNone/>
            </a:pPr>
            <a:r>
              <a:rPr lang="en-GB" sz="3200" b="1" u="none" dirty="0">
                <a:solidFill>
                  <a:schemeClr val="bg1"/>
                </a:solidFill>
                <a:latin typeface="+mj-lt"/>
              </a:rPr>
              <a:t>}</a:t>
            </a:r>
          </a:p>
          <a:p>
            <a:pPr algn="l">
              <a:lnSpc>
                <a:spcPct val="82000"/>
              </a:lnSpc>
              <a:spcBef>
                <a:spcPts val="700"/>
              </a:spcBef>
              <a:buClr>
                <a:srgbClr val="DD8047"/>
              </a:buClr>
              <a:buFont typeface="Wingdings" charset="2"/>
              <a:buNone/>
            </a:pPr>
            <a:endParaRPr lang="en-GB" sz="1600" u="none" dirty="0">
              <a:solidFill>
                <a:schemeClr val="bg1"/>
              </a:solidFill>
              <a:latin typeface="+mj-lt"/>
            </a:endParaRPr>
          </a:p>
          <a:p>
            <a:pPr algn="l">
              <a:lnSpc>
                <a:spcPct val="82000"/>
              </a:lnSpc>
              <a:spcBef>
                <a:spcPts val="700"/>
              </a:spcBef>
              <a:buClr>
                <a:srgbClr val="DD8047"/>
              </a:buClr>
              <a:buFont typeface="Wingdings" charset="2"/>
              <a:buNone/>
            </a:pPr>
            <a:r>
              <a:rPr lang="en-GB" sz="3200" u="none" dirty="0">
                <a:solidFill>
                  <a:schemeClr val="bg1"/>
                </a:solidFill>
                <a:latin typeface="+mj-lt"/>
              </a:rPr>
              <a:t>Now both classes, warning and special, will have red text.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17500"/>
            <a:ext cx="8226425" cy="1054100"/>
          </a:xfrm>
          <a:ln/>
        </p:spPr>
        <p:txBody>
          <a:bodyPr/>
          <a:lstStyle/>
          <a:p>
            <a:pPr hangingPunct="1">
              <a:lnSpc>
                <a:spcPct val="88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 b="1" dirty="0">
                <a:solidFill>
                  <a:schemeClr val="bg1"/>
                </a:solidFill>
              </a:rPr>
              <a:t>Grouping Selectors</a:t>
            </a:r>
          </a:p>
        </p:txBody>
      </p:sp>
    </p:spTree>
    <p:extLst>
      <p:ext uri="{BB962C8B-B14F-4D97-AF65-F5344CB8AC3E}">
        <p14:creationId xmlns:p14="http://schemas.microsoft.com/office/powerpoint/2010/main" val="9554577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ext Box 1"/>
          <p:cNvSpPr txBox="1">
            <a:spLocks noChangeArrowheads="1"/>
          </p:cNvSpPr>
          <p:nvPr/>
        </p:nvSpPr>
        <p:spPr bwMode="auto">
          <a:xfrm>
            <a:off x="266700" y="1595438"/>
            <a:ext cx="7312025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55600" indent="-355600"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 marL="733425" indent="-276225"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 algn="l">
              <a:lnSpc>
                <a:spcPct val="74000"/>
              </a:lnSpc>
              <a:spcBef>
                <a:spcPts val="250"/>
              </a:spcBef>
              <a:buClr>
                <a:srgbClr val="6E0605"/>
              </a:buClr>
              <a:buFont typeface="Wingdings" charset="2"/>
              <a:buNone/>
            </a:pPr>
            <a:endParaRPr lang="en-GB" sz="1000" dirty="0">
              <a:latin typeface="Segoe" charset="0"/>
            </a:endParaRPr>
          </a:p>
          <a:p>
            <a:pPr lvl="1" algn="l">
              <a:lnSpc>
                <a:spcPct val="74000"/>
              </a:lnSpc>
              <a:spcBef>
                <a:spcPts val="225"/>
              </a:spcBef>
              <a:buSzPct val="45000"/>
              <a:buFont typeface="starbats" charset="2"/>
              <a:buNone/>
            </a:pPr>
            <a:r>
              <a:rPr lang="en-GB" sz="2200" b="1" dirty="0"/>
              <a:t>/* Normalizes margin, padding */</a:t>
            </a:r>
          </a:p>
          <a:p>
            <a:pPr lvl="1" algn="l">
              <a:lnSpc>
                <a:spcPct val="74000"/>
              </a:lnSpc>
              <a:spcBef>
                <a:spcPts val="225"/>
              </a:spcBef>
              <a:buSzPct val="45000"/>
              <a:buFont typeface="starbats" charset="2"/>
              <a:buNone/>
            </a:pPr>
            <a:r>
              <a:rPr lang="en-GB" sz="2200" b="1" u="none" dirty="0" err="1" smtClean="0">
                <a:solidFill>
                  <a:schemeClr val="bg1"/>
                </a:solidFill>
              </a:rPr>
              <a:t>bodv</a:t>
            </a:r>
            <a:r>
              <a:rPr lang="en-GB" sz="2200" b="1" u="none" dirty="0">
                <a:solidFill>
                  <a:schemeClr val="bg1"/>
                </a:solidFill>
              </a:rPr>
              <a:t>, h1, h2, h3, h4, h5, h6, p, </a:t>
            </a:r>
            <a:r>
              <a:rPr lang="en-GB" sz="2200" b="1" u="none" dirty="0" err="1">
                <a:solidFill>
                  <a:schemeClr val="bg1"/>
                </a:solidFill>
              </a:rPr>
              <a:t>ol</a:t>
            </a:r>
            <a:r>
              <a:rPr lang="en-GB" sz="2200" b="1" u="none" dirty="0">
                <a:solidFill>
                  <a:schemeClr val="bg1"/>
                </a:solidFill>
              </a:rPr>
              <a:t>, </a:t>
            </a:r>
            <a:r>
              <a:rPr lang="en-GB" sz="2200" b="1" u="none" dirty="0" err="1">
                <a:solidFill>
                  <a:schemeClr val="bg1"/>
                </a:solidFill>
              </a:rPr>
              <a:t>ul</a:t>
            </a:r>
            <a:r>
              <a:rPr lang="en-GB" sz="2200" b="1" u="none" dirty="0">
                <a:solidFill>
                  <a:schemeClr val="bg1"/>
                </a:solidFill>
              </a:rPr>
              <a:t>, </a:t>
            </a:r>
            <a:r>
              <a:rPr lang="en-GB" sz="2200" b="1" u="none" dirty="0" err="1">
                <a:solidFill>
                  <a:schemeClr val="bg1"/>
                </a:solidFill>
              </a:rPr>
              <a:t>dt</a:t>
            </a:r>
            <a:r>
              <a:rPr lang="en-GB" sz="2200" b="1" u="none" dirty="0">
                <a:solidFill>
                  <a:schemeClr val="bg1"/>
                </a:solidFill>
              </a:rPr>
              <a:t>, dl, </a:t>
            </a:r>
            <a:r>
              <a:rPr lang="en-GB" sz="2200" b="1" u="none" dirty="0" err="1">
                <a:solidFill>
                  <a:schemeClr val="bg1"/>
                </a:solidFill>
              </a:rPr>
              <a:t>dd</a:t>
            </a:r>
            <a:r>
              <a:rPr lang="en-GB" sz="2200" b="1" u="none" dirty="0">
                <a:solidFill>
                  <a:schemeClr val="bg1"/>
                </a:solidFill>
              </a:rPr>
              <a:t>, </a:t>
            </a:r>
            <a:r>
              <a:rPr lang="en-GB" sz="2200" b="1" u="none" dirty="0" err="1" smtClean="0">
                <a:solidFill>
                  <a:schemeClr val="bg1"/>
                </a:solidFill>
              </a:rPr>
              <a:t>fo</a:t>
            </a:r>
            <a:r>
              <a:rPr lang="en-GB" sz="2200" b="1" u="none" dirty="0" smtClean="0">
                <a:solidFill>
                  <a:schemeClr val="bg1"/>
                </a:solidFill>
              </a:rPr>
              <a:t>, </a:t>
            </a:r>
            <a:r>
              <a:rPr lang="en-GB" sz="2200" b="1" u="none" dirty="0" err="1">
                <a:solidFill>
                  <a:schemeClr val="bg1"/>
                </a:solidFill>
              </a:rPr>
              <a:t>blockquote</a:t>
            </a:r>
            <a:r>
              <a:rPr lang="en-GB" sz="2200" b="1" u="none" dirty="0">
                <a:solidFill>
                  <a:schemeClr val="bg1"/>
                </a:solidFill>
              </a:rPr>
              <a:t>, </a:t>
            </a:r>
            <a:r>
              <a:rPr lang="en-GB" sz="2200" b="1" u="none" dirty="0" err="1">
                <a:solidFill>
                  <a:schemeClr val="bg1"/>
                </a:solidFill>
              </a:rPr>
              <a:t>fieldset</a:t>
            </a:r>
            <a:r>
              <a:rPr lang="en-GB" sz="2200" b="1" u="none" dirty="0">
                <a:solidFill>
                  <a:schemeClr val="bg1"/>
                </a:solidFill>
              </a:rPr>
              <a:t>, input { padding: 0; margin: 0; }</a:t>
            </a:r>
          </a:p>
          <a:p>
            <a:pPr lvl="1" algn="l">
              <a:lnSpc>
                <a:spcPct val="74000"/>
              </a:lnSpc>
              <a:spcBef>
                <a:spcPts val="225"/>
              </a:spcBef>
              <a:buSzPct val="45000"/>
              <a:buFont typeface="starbats" charset="2"/>
              <a:buNone/>
            </a:pPr>
            <a:endParaRPr lang="en-GB" sz="2200" b="1" dirty="0">
              <a:solidFill>
                <a:srgbClr val="3333CC"/>
              </a:solidFill>
            </a:endParaRPr>
          </a:p>
          <a:p>
            <a:pPr lvl="1" algn="l">
              <a:lnSpc>
                <a:spcPct val="74000"/>
              </a:lnSpc>
              <a:spcBef>
                <a:spcPts val="225"/>
              </a:spcBef>
              <a:buSzPct val="45000"/>
              <a:buFont typeface="starbats" charset="2"/>
              <a:buNone/>
            </a:pPr>
            <a:r>
              <a:rPr lang="en-GB" sz="2200" b="1" dirty="0"/>
              <a:t>/* Normalizes font-size for headers */</a:t>
            </a:r>
          </a:p>
          <a:p>
            <a:pPr lvl="1" algn="l">
              <a:lnSpc>
                <a:spcPct val="74000"/>
              </a:lnSpc>
              <a:spcBef>
                <a:spcPts val="225"/>
              </a:spcBef>
              <a:buSzPct val="45000"/>
              <a:buFont typeface="starbats" charset="2"/>
              <a:buNone/>
            </a:pPr>
            <a:r>
              <a:rPr lang="en-GB" sz="2200" b="1" dirty="0">
                <a:solidFill>
                  <a:srgbClr val="3333CC"/>
                </a:solidFill>
              </a:rPr>
              <a:t>h1, </a:t>
            </a:r>
            <a:r>
              <a:rPr lang="en-GB" sz="2200" b="1" u="none" dirty="0">
                <a:solidFill>
                  <a:schemeClr val="bg1"/>
                </a:solidFill>
              </a:rPr>
              <a:t>h2, h3, h4, h5, h6 { font-size: 1em; }</a:t>
            </a:r>
          </a:p>
          <a:p>
            <a:pPr lvl="1" algn="l">
              <a:lnSpc>
                <a:spcPct val="74000"/>
              </a:lnSpc>
              <a:spcBef>
                <a:spcPts val="225"/>
              </a:spcBef>
              <a:buSzPct val="45000"/>
              <a:buFont typeface="starbats" charset="2"/>
              <a:buNone/>
            </a:pPr>
            <a:endParaRPr lang="en-GB" sz="2200" b="1" dirty="0">
              <a:solidFill>
                <a:srgbClr val="3333CC"/>
              </a:solidFill>
            </a:endParaRPr>
          </a:p>
          <a:p>
            <a:pPr lvl="1" algn="l">
              <a:lnSpc>
                <a:spcPct val="74000"/>
              </a:lnSpc>
              <a:spcBef>
                <a:spcPts val="225"/>
              </a:spcBef>
              <a:buSzPct val="45000"/>
              <a:buFont typeface="starbats" charset="2"/>
              <a:buNone/>
            </a:pPr>
            <a:r>
              <a:rPr lang="en-GB" sz="2200" b="1" dirty="0"/>
              <a:t>/* Removes list-style from lists */</a:t>
            </a:r>
          </a:p>
          <a:p>
            <a:pPr lvl="1" algn="l">
              <a:lnSpc>
                <a:spcPct val="74000"/>
              </a:lnSpc>
              <a:spcBef>
                <a:spcPts val="225"/>
              </a:spcBef>
              <a:buSzPct val="45000"/>
              <a:buFont typeface="starbats" charset="2"/>
              <a:buNone/>
            </a:pPr>
            <a:r>
              <a:rPr lang="en-GB" sz="2200" b="1" u="none" dirty="0" err="1">
                <a:solidFill>
                  <a:schemeClr val="bg1"/>
                </a:solidFill>
              </a:rPr>
              <a:t>ol</a:t>
            </a:r>
            <a:r>
              <a:rPr lang="en-GB" sz="2200" b="1" u="none" dirty="0">
                <a:solidFill>
                  <a:schemeClr val="bg1"/>
                </a:solidFill>
              </a:rPr>
              <a:t>, </a:t>
            </a:r>
            <a:r>
              <a:rPr lang="en-GB" sz="2200" b="1" u="none" dirty="0" err="1">
                <a:solidFill>
                  <a:schemeClr val="bg1"/>
                </a:solidFill>
              </a:rPr>
              <a:t>ul</a:t>
            </a:r>
            <a:r>
              <a:rPr lang="en-GB" sz="2200" b="1" u="none" dirty="0">
                <a:solidFill>
                  <a:schemeClr val="bg1"/>
                </a:solidFill>
              </a:rPr>
              <a:t> { list-style: none; }</a:t>
            </a:r>
          </a:p>
          <a:p>
            <a:pPr lvl="1" algn="l">
              <a:lnSpc>
                <a:spcPct val="74000"/>
              </a:lnSpc>
              <a:spcBef>
                <a:spcPts val="225"/>
              </a:spcBef>
              <a:buSzPct val="45000"/>
              <a:buFont typeface="starbats" charset="2"/>
              <a:buNone/>
            </a:pPr>
            <a:endParaRPr lang="en-GB" sz="2200" b="1" dirty="0">
              <a:solidFill>
                <a:srgbClr val="3333CC"/>
              </a:solidFill>
            </a:endParaRPr>
          </a:p>
          <a:p>
            <a:pPr lvl="1" algn="l">
              <a:lnSpc>
                <a:spcPct val="74000"/>
              </a:lnSpc>
              <a:spcBef>
                <a:spcPts val="225"/>
              </a:spcBef>
              <a:buSzPct val="45000"/>
              <a:buFont typeface="starbats" charset="2"/>
              <a:buNone/>
            </a:pPr>
            <a:r>
              <a:rPr lang="en-GB" sz="2200" b="1" dirty="0"/>
              <a:t>/* Removes text-decoration from links */</a:t>
            </a:r>
          </a:p>
          <a:p>
            <a:pPr lvl="1" algn="l">
              <a:lnSpc>
                <a:spcPct val="74000"/>
              </a:lnSpc>
              <a:spcBef>
                <a:spcPts val="225"/>
              </a:spcBef>
              <a:buSzPct val="45000"/>
              <a:buFont typeface="starbats" charset="2"/>
              <a:buNone/>
            </a:pPr>
            <a:r>
              <a:rPr lang="en-GB" sz="2200" b="1" u="none" dirty="0">
                <a:solidFill>
                  <a:schemeClr val="bg1"/>
                </a:solidFill>
              </a:rPr>
              <a:t>a { text-decoration: none; }</a:t>
            </a:r>
          </a:p>
          <a:p>
            <a:pPr lvl="1" algn="l">
              <a:lnSpc>
                <a:spcPct val="74000"/>
              </a:lnSpc>
              <a:spcBef>
                <a:spcPts val="225"/>
              </a:spcBef>
              <a:buSzPct val="45000"/>
              <a:buFont typeface="starbats" charset="2"/>
              <a:buNone/>
            </a:pPr>
            <a:endParaRPr lang="en-GB" sz="2200" b="1" dirty="0">
              <a:solidFill>
                <a:srgbClr val="3333CC"/>
              </a:solidFill>
            </a:endParaRPr>
          </a:p>
          <a:p>
            <a:pPr lvl="1" algn="l">
              <a:lnSpc>
                <a:spcPct val="74000"/>
              </a:lnSpc>
              <a:spcBef>
                <a:spcPts val="225"/>
              </a:spcBef>
              <a:buSzPct val="45000"/>
              <a:buFont typeface="starbats" charset="2"/>
              <a:buNone/>
            </a:pPr>
            <a:r>
              <a:rPr lang="en-GB" sz="2200" b="1" dirty="0"/>
              <a:t>/* Removes border from </a:t>
            </a:r>
            <a:r>
              <a:rPr lang="en-GB" sz="2200" b="1" dirty="0" err="1"/>
              <a:t>img</a:t>
            </a:r>
            <a:r>
              <a:rPr lang="en-GB" sz="2200" b="1" dirty="0"/>
              <a:t> */</a:t>
            </a:r>
          </a:p>
          <a:p>
            <a:pPr lvl="1" algn="l">
              <a:lnSpc>
                <a:spcPct val="74000"/>
              </a:lnSpc>
              <a:spcBef>
                <a:spcPts val="225"/>
              </a:spcBef>
              <a:buSzPct val="45000"/>
              <a:buFont typeface="starbats" charset="2"/>
              <a:buNone/>
            </a:pPr>
            <a:r>
              <a:rPr lang="en-GB" sz="2200" b="1" u="none" dirty="0">
                <a:solidFill>
                  <a:schemeClr val="bg1"/>
                </a:solidFill>
              </a:rPr>
              <a:t>a </a:t>
            </a:r>
            <a:r>
              <a:rPr lang="en-GB" sz="2200" b="1" u="none" dirty="0" err="1">
                <a:solidFill>
                  <a:schemeClr val="bg1"/>
                </a:solidFill>
              </a:rPr>
              <a:t>img</a:t>
            </a:r>
            <a:r>
              <a:rPr lang="en-GB" sz="2200" b="1" u="none" dirty="0">
                <a:solidFill>
                  <a:schemeClr val="bg1"/>
                </a:solidFill>
              </a:rPr>
              <a:t> { border: none; }</a:t>
            </a:r>
          </a:p>
        </p:txBody>
      </p:sp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905000" y="0"/>
            <a:ext cx="65024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17500"/>
            <a:ext cx="8226425" cy="1054100"/>
          </a:xfrm>
          <a:ln/>
        </p:spPr>
        <p:txBody>
          <a:bodyPr/>
          <a:lstStyle/>
          <a:p>
            <a:pPr hangingPunct="1">
              <a:lnSpc>
                <a:spcPct val="88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 b="1" dirty="0">
                <a:solidFill>
                  <a:schemeClr val="bg1"/>
                </a:solidFill>
              </a:rPr>
              <a:t>Reset the Styling</a:t>
            </a:r>
          </a:p>
        </p:txBody>
      </p:sp>
    </p:spTree>
    <p:extLst>
      <p:ext uri="{BB962C8B-B14F-4D97-AF65-F5344CB8AC3E}">
        <p14:creationId xmlns:p14="http://schemas.microsoft.com/office/powerpoint/2010/main" val="26316072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762000" y="381000"/>
            <a:ext cx="7772400" cy="533400"/>
          </a:xfrm>
        </p:spPr>
        <p:txBody>
          <a:bodyPr/>
          <a:lstStyle/>
          <a:p>
            <a:pPr eaLnBrk="1" hangingPunct="1"/>
            <a:r>
              <a:rPr lang="en-US" sz="3200" b="1" dirty="0" smtClean="0">
                <a:solidFill>
                  <a:schemeClr val="bg1"/>
                </a:solidFill>
              </a:rPr>
              <a:t>{ Grouping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pPr lvl="2" eaLnBrk="1" hangingPunct="1">
              <a:buFont typeface="Wingdings 3" pitchFamily="18" charset="2"/>
              <a:buNone/>
            </a:pP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h1,h2,h3,h4,h5,h6 </a:t>
            </a:r>
          </a:p>
          <a:p>
            <a:pPr lvl="2" eaLnBrk="1" hangingPunct="1">
              <a:buFont typeface="Wingdings 3" pitchFamily="18" charset="2"/>
              <a:buNone/>
            </a:pP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{ </a:t>
            </a:r>
          </a:p>
          <a:p>
            <a:pPr lvl="2" eaLnBrk="1" hangingPunct="1">
              <a:buFont typeface="Wingdings 3" pitchFamily="18" charset="2"/>
              <a:buNone/>
            </a:pP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color: green </a:t>
            </a:r>
          </a:p>
          <a:p>
            <a:pPr lvl="2" eaLnBrk="1" hangingPunct="1">
              <a:buFont typeface="Wingdings 3" pitchFamily="18" charset="2"/>
              <a:buNone/>
            </a:pP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}</a:t>
            </a:r>
          </a:p>
          <a:p>
            <a:pPr eaLnBrk="1" hangingPunct="1"/>
            <a:r>
              <a:rPr lang="en-US" dirty="0" smtClean="0"/>
              <a:t>All header elements will be displayed in green text color</a:t>
            </a:r>
          </a:p>
          <a:p>
            <a:pPr lvl="1" eaLnBrk="1" hangingPunct="1">
              <a:buFont typeface="Wingdings 3" pitchFamily="18" charset="2"/>
              <a:buNone/>
            </a:pPr>
            <a:r>
              <a:rPr lang="en-US" sz="32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This is header h1</a:t>
            </a:r>
          </a:p>
          <a:p>
            <a:pPr lvl="1" eaLnBrk="1" hangingPunct="1">
              <a:buFont typeface="Wingdings 3" pitchFamily="18" charset="2"/>
              <a:buNone/>
            </a:pPr>
            <a:r>
              <a:rPr lang="en-US" sz="28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This is header h2</a:t>
            </a:r>
          </a:p>
          <a:p>
            <a:pPr lvl="1" eaLnBrk="1" hangingPunct="1">
              <a:buFont typeface="Wingdings 3" pitchFamily="18" charset="2"/>
              <a:buNone/>
            </a:pPr>
            <a:r>
              <a:rPr lang="en-US" sz="24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This is header h3</a:t>
            </a:r>
          </a:p>
          <a:p>
            <a:pPr lvl="1" eaLnBrk="1" hangingPunct="1">
              <a:buFont typeface="Wingdings 3" pitchFamily="18" charset="2"/>
              <a:buNone/>
            </a:pPr>
            <a:r>
              <a:rPr lang="en-US" sz="18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This is header h4</a:t>
            </a:r>
          </a:p>
          <a:p>
            <a:pPr>
              <a:buFontTx/>
              <a:buNone/>
            </a:pPr>
            <a:r>
              <a:rPr lang="en-GB" sz="2800" i="1" dirty="0">
                <a:solidFill>
                  <a:schemeClr val="bg1"/>
                </a:solidFill>
              </a:rPr>
              <a:t>Note: </a:t>
            </a:r>
            <a:br>
              <a:rPr lang="en-GB" sz="2800" i="1" dirty="0">
                <a:solidFill>
                  <a:schemeClr val="bg1"/>
                </a:solidFill>
              </a:rPr>
            </a:br>
            <a:r>
              <a:rPr lang="en-GB" sz="2800" i="1" dirty="0">
                <a:solidFill>
                  <a:schemeClr val="bg1"/>
                </a:solidFill>
              </a:rPr>
              <a:t>each selector has been separated with a comma.</a:t>
            </a:r>
            <a:r>
              <a:rPr lang="en-GB" sz="2800" dirty="0">
                <a:solidFill>
                  <a:schemeClr val="bg1"/>
                </a:solidFill>
              </a:rPr>
              <a:t> </a:t>
            </a:r>
          </a:p>
          <a:p>
            <a:pPr algn="ctr">
              <a:buFontTx/>
              <a:buNone/>
            </a:pPr>
            <a:endParaRPr lang="en-GB" i="1" dirty="0"/>
          </a:p>
          <a:p>
            <a:pPr lvl="1" eaLnBrk="1" hangingPunct="1">
              <a:buFont typeface="Wingdings 3" pitchFamily="18" charset="2"/>
              <a:buNone/>
            </a:pPr>
            <a:endParaRPr lang="en-US" sz="1800" dirty="0" smtClean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5907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296D2-E8EE-412B-B700-8439EE679B8A}" type="slidenum">
              <a:rPr lang="en-US"/>
              <a:pPr/>
              <a:t>50</a:t>
            </a:fld>
            <a:endParaRPr lang="en-US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Formatting</a:t>
            </a:r>
          </a:p>
          <a:p>
            <a:pPr lvl="1"/>
            <a:r>
              <a:rPr lang="en-US" dirty="0">
                <a:hlinkClick r:id="rId3" action="ppaction://hlinksldjump"/>
              </a:rPr>
              <a:t>Fonts</a:t>
            </a:r>
            <a:endParaRPr lang="en-US" dirty="0"/>
          </a:p>
          <a:p>
            <a:pPr lvl="1"/>
            <a:r>
              <a:rPr lang="en-US" dirty="0" err="1">
                <a:hlinkClick r:id="rId4" action="ppaction://hlinksldjump"/>
              </a:rPr>
              <a:t>Colours</a:t>
            </a:r>
            <a:endParaRPr lang="en-US" dirty="0"/>
          </a:p>
          <a:p>
            <a:pPr lvl="1"/>
            <a:r>
              <a:rPr lang="en-US" dirty="0">
                <a:hlinkClick r:id="rId5" action="ppaction://hlinksldjump"/>
              </a:rPr>
              <a:t>Position</a:t>
            </a:r>
            <a:endParaRPr lang="en-US" dirty="0"/>
          </a:p>
          <a:p>
            <a:pPr lvl="1"/>
            <a:r>
              <a:rPr lang="en-US" dirty="0">
                <a:hlinkClick r:id="rId5" action="ppaction://hlinksldjump"/>
              </a:rPr>
              <a:t>Box model and Borders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85800" y="3810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3200" b="1" dirty="0" smtClean="0">
                <a:solidFill>
                  <a:schemeClr val="accent2"/>
                </a:solidFill>
              </a:rPr>
              <a:t>A Very Brief Overview of</a:t>
            </a:r>
            <a:br>
              <a:rPr lang="en-US" sz="3200" b="1" dirty="0" smtClean="0">
                <a:solidFill>
                  <a:schemeClr val="accent2"/>
                </a:solidFill>
              </a:rPr>
            </a:br>
            <a:r>
              <a:rPr lang="en-US" sz="3200" b="1" dirty="0" smtClean="0">
                <a:solidFill>
                  <a:schemeClr val="accent2"/>
                </a:solidFill>
              </a:rPr>
              <a:t>Visual Formatting With CSS</a:t>
            </a:r>
            <a:endParaRPr lang="en-US" sz="3200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CSS Font Properties</a:t>
            </a:r>
          </a:p>
        </p:txBody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chemeClr val="hlink"/>
                </a:solidFill>
              </a:rPr>
              <a:t>font family</a:t>
            </a:r>
            <a:r>
              <a:rPr lang="en-US" dirty="0"/>
              <a:t> is a collection of related fonts (typically differ in size, weight, etc.)</a:t>
            </a:r>
          </a:p>
          <a:p>
            <a:endParaRPr lang="en-US" dirty="0"/>
          </a:p>
          <a:p>
            <a:r>
              <a:rPr lang="en-US" dirty="0"/>
              <a:t>font-family property can accept a list of families, including </a:t>
            </a:r>
            <a:r>
              <a:rPr lang="en-US" dirty="0">
                <a:solidFill>
                  <a:schemeClr val="hlink"/>
                </a:solidFill>
              </a:rPr>
              <a:t>generic</a:t>
            </a:r>
            <a:r>
              <a:rPr lang="en-US" dirty="0"/>
              <a:t> font families</a:t>
            </a:r>
          </a:p>
        </p:txBody>
      </p:sp>
      <p:pic>
        <p:nvPicPr>
          <p:cNvPr id="30208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427413"/>
            <a:ext cx="5002213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208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119688"/>
            <a:ext cx="7650163" cy="407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2086" name="Oval 6"/>
          <p:cNvSpPr>
            <a:spLocks noChangeArrowheads="1"/>
          </p:cNvSpPr>
          <p:nvPr/>
        </p:nvSpPr>
        <p:spPr bwMode="auto">
          <a:xfrm>
            <a:off x="2133600" y="5119688"/>
            <a:ext cx="2743200" cy="3810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2087" name="Text Box 7"/>
          <p:cNvSpPr txBox="1">
            <a:spLocks noChangeArrowheads="1"/>
          </p:cNvSpPr>
          <p:nvPr/>
        </p:nvSpPr>
        <p:spPr bwMode="auto">
          <a:xfrm>
            <a:off x="2181371" y="5576888"/>
            <a:ext cx="22349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1" dirty="0"/>
              <a:t>first choice font</a:t>
            </a:r>
          </a:p>
        </p:txBody>
      </p:sp>
    </p:spTree>
    <p:extLst>
      <p:ext uri="{BB962C8B-B14F-4D97-AF65-F5344CB8AC3E}">
        <p14:creationId xmlns:p14="http://schemas.microsoft.com/office/powerpoint/2010/main" val="2570281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CSS Font Properties</a:t>
            </a: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</a:t>
            </a:r>
            <a:r>
              <a:rPr lang="en-US">
                <a:solidFill>
                  <a:schemeClr val="hlink"/>
                </a:solidFill>
              </a:rPr>
              <a:t>font family</a:t>
            </a:r>
            <a:r>
              <a:rPr lang="en-US"/>
              <a:t> is a collection of related fonts (typically differ in size, weight, etc.)</a:t>
            </a:r>
          </a:p>
          <a:p>
            <a:endParaRPr lang="en-US"/>
          </a:p>
          <a:p>
            <a:r>
              <a:rPr lang="en-US"/>
              <a:t>font-family property can accept a list of families, including </a:t>
            </a:r>
            <a:r>
              <a:rPr lang="en-US">
                <a:solidFill>
                  <a:schemeClr val="hlink"/>
                </a:solidFill>
              </a:rPr>
              <a:t>generic</a:t>
            </a:r>
            <a:r>
              <a:rPr lang="en-US"/>
              <a:t> font families</a:t>
            </a:r>
          </a:p>
        </p:txBody>
      </p:sp>
      <p:pic>
        <p:nvPicPr>
          <p:cNvPr id="3031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427413"/>
            <a:ext cx="5002213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310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181600"/>
            <a:ext cx="7650163" cy="407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3110" name="Oval 6"/>
          <p:cNvSpPr>
            <a:spLocks noChangeArrowheads="1"/>
          </p:cNvSpPr>
          <p:nvPr/>
        </p:nvSpPr>
        <p:spPr bwMode="auto">
          <a:xfrm>
            <a:off x="4953000" y="5181600"/>
            <a:ext cx="2209800" cy="3810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3111" name="Text Box 7"/>
          <p:cNvSpPr txBox="1">
            <a:spLocks noChangeArrowheads="1"/>
          </p:cNvSpPr>
          <p:nvPr/>
        </p:nvSpPr>
        <p:spPr bwMode="auto">
          <a:xfrm>
            <a:off x="4861000" y="5638800"/>
            <a:ext cx="25779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1" dirty="0"/>
              <a:t>second choice font</a:t>
            </a:r>
          </a:p>
        </p:txBody>
      </p:sp>
    </p:spTree>
    <p:extLst>
      <p:ext uri="{BB962C8B-B14F-4D97-AF65-F5344CB8AC3E}">
        <p14:creationId xmlns:p14="http://schemas.microsoft.com/office/powerpoint/2010/main" val="1970502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CSS Font Properties</a:t>
            </a:r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chemeClr val="hlink"/>
                </a:solidFill>
              </a:rPr>
              <a:t>font family</a:t>
            </a:r>
            <a:r>
              <a:rPr lang="en-US" dirty="0"/>
              <a:t> is a collection of related fonts (typically differ in size, weight, etc.)</a:t>
            </a:r>
          </a:p>
          <a:p>
            <a:endParaRPr lang="en-US" dirty="0"/>
          </a:p>
          <a:p>
            <a:r>
              <a:rPr lang="en-US" dirty="0"/>
              <a:t>font-family property can accept a list of families, including </a:t>
            </a:r>
            <a:r>
              <a:rPr lang="en-US" dirty="0">
                <a:solidFill>
                  <a:schemeClr val="hlink"/>
                </a:solidFill>
              </a:rPr>
              <a:t>generic</a:t>
            </a:r>
            <a:r>
              <a:rPr lang="en-US" dirty="0"/>
              <a:t> font families</a:t>
            </a:r>
          </a:p>
        </p:txBody>
      </p:sp>
      <p:pic>
        <p:nvPicPr>
          <p:cNvPr id="3041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427413"/>
            <a:ext cx="5002213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413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257800"/>
            <a:ext cx="7650163" cy="407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4134" name="Oval 6"/>
          <p:cNvSpPr>
            <a:spLocks noChangeArrowheads="1"/>
          </p:cNvSpPr>
          <p:nvPr/>
        </p:nvSpPr>
        <p:spPr bwMode="auto">
          <a:xfrm>
            <a:off x="7239000" y="5257800"/>
            <a:ext cx="990600" cy="3810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4135" name="Text Box 7"/>
          <p:cNvSpPr txBox="1">
            <a:spLocks noChangeArrowheads="1"/>
          </p:cNvSpPr>
          <p:nvPr/>
        </p:nvSpPr>
        <p:spPr bwMode="auto">
          <a:xfrm>
            <a:off x="7135697" y="5638800"/>
            <a:ext cx="114005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b="1" dirty="0"/>
              <a:t>generic</a:t>
            </a:r>
          </a:p>
        </p:txBody>
      </p:sp>
    </p:spTree>
    <p:extLst>
      <p:ext uri="{BB962C8B-B14F-4D97-AF65-F5344CB8AC3E}">
        <p14:creationId xmlns:p14="http://schemas.microsoft.com/office/powerpoint/2010/main" val="3429027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85800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</a:rPr>
              <a:t>CSS Font Properties</a:t>
            </a:r>
          </a:p>
        </p:txBody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r>
              <a:rPr lang="en-US" sz="2400" dirty="0"/>
              <a:t>Many properties, such as </a:t>
            </a:r>
            <a:r>
              <a:rPr lang="en-US" sz="2400" dirty="0">
                <a:latin typeface="Lucida Sans Typewriter" pitchFamily="49" charset="0"/>
              </a:rPr>
              <a:t>font-size</a:t>
            </a:r>
            <a:r>
              <a:rPr lang="en-US" sz="2400" dirty="0"/>
              <a:t>, have a value that is a </a:t>
            </a:r>
            <a:r>
              <a:rPr lang="en-US" sz="2400" dirty="0">
                <a:solidFill>
                  <a:schemeClr val="hlink"/>
                </a:solidFill>
              </a:rPr>
              <a:t>CSS length</a:t>
            </a:r>
          </a:p>
          <a:p>
            <a:r>
              <a:rPr lang="en-US" sz="2400" dirty="0"/>
              <a:t>All CSS length values except 0 need units</a:t>
            </a:r>
          </a:p>
        </p:txBody>
      </p:sp>
      <p:pic>
        <p:nvPicPr>
          <p:cNvPr id="3072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819400"/>
            <a:ext cx="6781800" cy="327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7863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CSS Font Properties</a:t>
            </a:r>
          </a:p>
        </p:txBody>
      </p:sp>
      <p:pic>
        <p:nvPicPr>
          <p:cNvPr id="308228" name="Picture 4" descr="FontQuantiti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438400"/>
            <a:ext cx="7620000" cy="280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229" name="Oval 5"/>
          <p:cNvSpPr>
            <a:spLocks noChangeArrowheads="1"/>
          </p:cNvSpPr>
          <p:nvPr/>
        </p:nvSpPr>
        <p:spPr bwMode="auto">
          <a:xfrm>
            <a:off x="1524000" y="3124200"/>
            <a:ext cx="685800" cy="5334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230" name="Text Box 6"/>
          <p:cNvSpPr txBox="1">
            <a:spLocks noChangeArrowheads="1"/>
          </p:cNvSpPr>
          <p:nvPr/>
        </p:nvSpPr>
        <p:spPr bwMode="auto">
          <a:xfrm>
            <a:off x="-98035" y="2438400"/>
            <a:ext cx="162203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</a:rPr>
              <a:t>Computed value</a:t>
            </a:r>
          </a:p>
          <a:p>
            <a:r>
              <a:rPr lang="en-US" sz="2400" b="1" dirty="0">
                <a:latin typeface="+mj-lt"/>
              </a:rPr>
              <a:t>of font-size </a:t>
            </a:r>
            <a:br>
              <a:rPr lang="en-US" sz="2400" b="1" dirty="0">
                <a:latin typeface="+mj-lt"/>
              </a:rPr>
            </a:br>
            <a:r>
              <a:rPr lang="en-US" sz="2400" b="1" dirty="0">
                <a:latin typeface="+mj-lt"/>
              </a:rPr>
              <a:t>property</a:t>
            </a:r>
          </a:p>
        </p:txBody>
      </p:sp>
    </p:spTree>
    <p:extLst>
      <p:ext uri="{BB962C8B-B14F-4D97-AF65-F5344CB8AC3E}">
        <p14:creationId xmlns:p14="http://schemas.microsoft.com/office/powerpoint/2010/main" val="2131346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85800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</a:rPr>
              <a:t>CSS Font Properties</a:t>
            </a:r>
          </a:p>
        </p:txBody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Reference font</a:t>
            </a:r>
            <a:r>
              <a:rPr lang="en-US" dirty="0"/>
              <a:t> defines </a:t>
            </a:r>
            <a:r>
              <a:rPr lang="en-US" dirty="0" err="1"/>
              <a:t>em</a:t>
            </a:r>
            <a:r>
              <a:rPr lang="en-US" dirty="0"/>
              <a:t> and ex units</a:t>
            </a:r>
          </a:p>
          <a:p>
            <a:pPr lvl="1"/>
            <a:r>
              <a:rPr lang="en-US" dirty="0"/>
              <a:t>Normally, reference font is the font of the element being styled</a:t>
            </a:r>
          </a:p>
          <a:p>
            <a:pPr lvl="1"/>
            <a:r>
              <a:rPr lang="en-US" dirty="0"/>
              <a:t>Exception: Using </a:t>
            </a:r>
            <a:r>
              <a:rPr lang="en-US" dirty="0" err="1"/>
              <a:t>em</a:t>
            </a:r>
            <a:r>
              <a:rPr lang="en-US" dirty="0"/>
              <a:t>/ex to specify value for </a:t>
            </a:r>
            <a:r>
              <a:rPr lang="en-US" dirty="0">
                <a:latin typeface="Lucida Sans Typewriter" pitchFamily="49" charset="0"/>
              </a:rPr>
              <a:t>font-size</a:t>
            </a:r>
          </a:p>
        </p:txBody>
      </p:sp>
      <p:pic>
        <p:nvPicPr>
          <p:cNvPr id="3102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800600"/>
            <a:ext cx="5257800" cy="681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0277" name="Oval 5"/>
          <p:cNvSpPr>
            <a:spLocks noChangeArrowheads="1"/>
          </p:cNvSpPr>
          <p:nvPr/>
        </p:nvSpPr>
        <p:spPr bwMode="auto">
          <a:xfrm>
            <a:off x="6172200" y="5105400"/>
            <a:ext cx="533400" cy="3810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0278" name="Text Box 6"/>
          <p:cNvSpPr txBox="1">
            <a:spLocks noChangeArrowheads="1"/>
          </p:cNvSpPr>
          <p:nvPr/>
        </p:nvSpPr>
        <p:spPr bwMode="auto">
          <a:xfrm>
            <a:off x="5146616" y="5599113"/>
            <a:ext cx="273696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dirty="0"/>
              <a:t>parent element’s font is</a:t>
            </a:r>
          </a:p>
          <a:p>
            <a:r>
              <a:rPr lang="en-US" sz="2000" b="1" dirty="0"/>
              <a:t>reference font</a:t>
            </a:r>
          </a:p>
        </p:txBody>
      </p:sp>
    </p:spTree>
    <p:extLst>
      <p:ext uri="{BB962C8B-B14F-4D97-AF65-F5344CB8AC3E}">
        <p14:creationId xmlns:p14="http://schemas.microsoft.com/office/powerpoint/2010/main" val="978624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5334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CSS Font Properties</a:t>
            </a:r>
          </a:p>
        </p:txBody>
      </p:sp>
      <p:sp>
        <p:nvSpPr>
          <p:cNvPr id="311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Other ways to specify value for </a:t>
            </a:r>
            <a:br>
              <a:rPr lang="en-US" sz="2800" dirty="0"/>
            </a:br>
            <a:r>
              <a:rPr lang="en-US" sz="2800" dirty="0">
                <a:latin typeface="Lucida Sans Typewriter" pitchFamily="49" charset="0"/>
              </a:rPr>
              <a:t>font-size</a:t>
            </a:r>
            <a:r>
              <a:rPr lang="en-US" sz="2800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hlink"/>
                </a:solidFill>
              </a:rPr>
              <a:t>Percentage</a:t>
            </a:r>
            <a:r>
              <a:rPr lang="en-US" dirty="0"/>
              <a:t> (of parent </a:t>
            </a:r>
            <a:r>
              <a:rPr lang="en-US" dirty="0">
                <a:latin typeface="Lucida Sans Typewriter" pitchFamily="49" charset="0"/>
              </a:rPr>
              <a:t>font-size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hlink"/>
                </a:solidFill>
              </a:rPr>
              <a:t>Absolute size</a:t>
            </a:r>
            <a:r>
              <a:rPr lang="en-US" dirty="0"/>
              <a:t> keyword: </a:t>
            </a:r>
            <a:r>
              <a:rPr lang="en-US" dirty="0">
                <a:latin typeface="Lucida Sans Typewriter" pitchFamily="49" charset="0"/>
              </a:rPr>
              <a:t>xx-small</a:t>
            </a:r>
            <a:r>
              <a:rPr lang="en-US" dirty="0"/>
              <a:t>, </a:t>
            </a:r>
            <a:r>
              <a:rPr lang="en-US" dirty="0">
                <a:latin typeface="Lucida Sans Typewriter" pitchFamily="49" charset="0"/>
              </a:rPr>
              <a:t>x-small</a:t>
            </a:r>
            <a:r>
              <a:rPr lang="en-US" dirty="0"/>
              <a:t>, </a:t>
            </a:r>
            <a:r>
              <a:rPr lang="en-US" dirty="0">
                <a:latin typeface="Lucida Sans Typewriter" pitchFamily="49" charset="0"/>
              </a:rPr>
              <a:t>small</a:t>
            </a:r>
            <a:r>
              <a:rPr lang="en-US" dirty="0"/>
              <a:t>, </a:t>
            </a:r>
            <a:r>
              <a:rPr lang="en-US" dirty="0">
                <a:latin typeface="Lucida Sans Typewriter" pitchFamily="49" charset="0"/>
              </a:rPr>
              <a:t>medium</a:t>
            </a:r>
            <a:r>
              <a:rPr lang="en-US" dirty="0"/>
              <a:t> (initial value), </a:t>
            </a:r>
            <a:r>
              <a:rPr lang="en-US" dirty="0">
                <a:latin typeface="Lucida Sans Typewriter" pitchFamily="49" charset="0"/>
              </a:rPr>
              <a:t>large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>
                <a:latin typeface="Lucida Sans Typewriter" pitchFamily="49" charset="0"/>
              </a:rPr>
              <a:t>x-large</a:t>
            </a:r>
            <a:r>
              <a:rPr lang="en-US" dirty="0"/>
              <a:t>, </a:t>
            </a:r>
            <a:r>
              <a:rPr lang="en-US" dirty="0">
                <a:latin typeface="Lucida Sans Typewriter" pitchFamily="49" charset="0"/>
              </a:rPr>
              <a:t>xx-large</a:t>
            </a:r>
          </a:p>
          <a:p>
            <a:pPr lvl="2">
              <a:lnSpc>
                <a:spcPct val="90000"/>
              </a:lnSpc>
            </a:pPr>
            <a:r>
              <a:rPr lang="en-US" sz="2800" dirty="0"/>
              <a:t>User agent specific; should differ by ~ 20%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chemeClr val="hlink"/>
                </a:solidFill>
              </a:rPr>
              <a:t>Relative size</a:t>
            </a:r>
            <a:r>
              <a:rPr lang="en-US" dirty="0"/>
              <a:t> keyword: </a:t>
            </a:r>
            <a:r>
              <a:rPr lang="en-US" dirty="0">
                <a:latin typeface="Lucida Sans Typewriter" pitchFamily="49" charset="0"/>
              </a:rPr>
              <a:t>smaller</a:t>
            </a:r>
            <a:r>
              <a:rPr lang="en-US" dirty="0"/>
              <a:t>, </a:t>
            </a:r>
            <a:r>
              <a:rPr lang="en-US" dirty="0">
                <a:latin typeface="Lucida Sans Typewriter" pitchFamily="49" charset="0"/>
              </a:rPr>
              <a:t>larger</a:t>
            </a:r>
          </a:p>
          <a:p>
            <a:pPr lvl="2">
              <a:lnSpc>
                <a:spcPct val="90000"/>
              </a:lnSpc>
            </a:pPr>
            <a:r>
              <a:rPr lang="en-US" sz="2800" dirty="0"/>
              <a:t>Relative to parent element’s font</a:t>
            </a:r>
            <a:endParaRPr lang="en-US" sz="2800" dirty="0">
              <a:latin typeface="Lucida Sans Typewriter" pitchFamily="49" charset="0"/>
            </a:endParaRPr>
          </a:p>
        </p:txBody>
      </p:sp>
      <p:pic>
        <p:nvPicPr>
          <p:cNvPr id="3113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3021811"/>
            <a:ext cx="1906588" cy="331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500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CSS Font Properties</a:t>
            </a:r>
          </a:p>
        </p:txBody>
      </p:sp>
      <p:pic>
        <p:nvPicPr>
          <p:cNvPr id="3123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027238"/>
            <a:ext cx="8229600" cy="346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856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</a:rPr>
              <a:t>CSS Font Properties</a:t>
            </a:r>
          </a:p>
        </p:txBody>
      </p:sp>
      <p:sp>
        <p:nvSpPr>
          <p:cNvPr id="314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Text is rendered using line boxes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sz="2800" dirty="0"/>
              <a:t>Height of line box given by </a:t>
            </a:r>
            <a:r>
              <a:rPr lang="en-US" sz="2800" dirty="0">
                <a:solidFill>
                  <a:schemeClr val="accent2"/>
                </a:solidFill>
                <a:latin typeface="Lucida Sans Typewriter" pitchFamily="49" charset="0"/>
              </a:rPr>
              <a:t>line-height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Initial value: </a:t>
            </a:r>
            <a:r>
              <a:rPr lang="en-US" sz="2400" dirty="0">
                <a:latin typeface="Lucida Sans Typewriter" pitchFamily="49" charset="0"/>
              </a:rPr>
              <a:t>normal</a:t>
            </a:r>
            <a:r>
              <a:rPr lang="en-US" sz="2400" dirty="0"/>
              <a:t> (</a:t>
            </a:r>
            <a:r>
              <a:rPr lang="en-US" sz="2400" i="1" dirty="0"/>
              <a:t>i.e.</a:t>
            </a:r>
            <a:r>
              <a:rPr lang="en-US" sz="2400" dirty="0"/>
              <a:t>, cell height; relationship with </a:t>
            </a:r>
            <a:r>
              <a:rPr lang="en-US" sz="2400" dirty="0" err="1"/>
              <a:t>em</a:t>
            </a:r>
            <a:r>
              <a:rPr lang="en-US" sz="2400" dirty="0"/>
              <a:t> height is font-specific)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Other values (following are equivalent):</a:t>
            </a:r>
            <a:br>
              <a:rPr lang="en-US" sz="2400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314372" name="Picture 4" descr="LineBoxAndCel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2590800"/>
            <a:ext cx="3448050" cy="80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3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278438"/>
            <a:ext cx="3276600" cy="1274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0426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</a:rPr>
              <a:t>CSS Font Properties</a:t>
            </a:r>
          </a:p>
        </p:txBody>
      </p:sp>
      <p:sp>
        <p:nvSpPr>
          <p:cNvPr id="31539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</a:t>
            </a:r>
            <a:r>
              <a:rPr lang="en-US" dirty="0">
                <a:latin typeface="Lucida Sans Typewriter" pitchFamily="49" charset="0"/>
              </a:rPr>
              <a:t>line-height</a:t>
            </a:r>
            <a:r>
              <a:rPr lang="en-US" dirty="0"/>
              <a:t> is greater than cell height: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Inheritance of </a:t>
            </a:r>
            <a:r>
              <a:rPr lang="en-US" dirty="0">
                <a:latin typeface="Lucida Sans Typewriter" pitchFamily="49" charset="0"/>
              </a:rPr>
              <a:t>line-height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Specified value if </a:t>
            </a:r>
            <a:r>
              <a:rPr lang="en-US" dirty="0">
                <a:latin typeface="Lucida Sans Typewriter" pitchFamily="49" charset="0"/>
              </a:rPr>
              <a:t>normal</a:t>
            </a:r>
            <a:r>
              <a:rPr lang="en-US" dirty="0"/>
              <a:t> or unit-less number</a:t>
            </a:r>
          </a:p>
          <a:p>
            <a:pPr lvl="1"/>
            <a:r>
              <a:rPr lang="en-US" dirty="0"/>
              <a:t>Computed value otherwise</a:t>
            </a:r>
          </a:p>
        </p:txBody>
      </p:sp>
      <p:pic>
        <p:nvPicPr>
          <p:cNvPr id="315396" name="Picture 4" descr="HalfLead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863850"/>
            <a:ext cx="5181600" cy="178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7770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CSS Font Properties</a:t>
            </a:r>
          </a:p>
        </p:txBody>
      </p:sp>
      <p:sp>
        <p:nvSpPr>
          <p:cNvPr id="31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Lucida Sans Typewriter" pitchFamily="49" charset="0"/>
              </a:rPr>
              <a:t>font</a:t>
            </a:r>
            <a:r>
              <a:rPr lang="en-US"/>
              <a:t> </a:t>
            </a:r>
            <a:r>
              <a:rPr lang="en-US">
                <a:solidFill>
                  <a:schemeClr val="hlink"/>
                </a:solidFill>
              </a:rPr>
              <a:t>shortcut property</a:t>
            </a:r>
            <a:r>
              <a:rPr lang="en-US"/>
              <a:t>:</a:t>
            </a:r>
          </a:p>
        </p:txBody>
      </p:sp>
      <p:pic>
        <p:nvPicPr>
          <p:cNvPr id="3184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48000"/>
            <a:ext cx="5603875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846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86200"/>
            <a:ext cx="4724400" cy="17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8470" name="AutoShape 6"/>
          <p:cNvSpPr>
            <a:spLocks noChangeArrowheads="1"/>
          </p:cNvSpPr>
          <p:nvPr/>
        </p:nvSpPr>
        <p:spPr bwMode="auto">
          <a:xfrm>
            <a:off x="2209800" y="3505200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1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CSS Font Properties</a:t>
            </a:r>
          </a:p>
        </p:txBody>
      </p:sp>
      <p:sp>
        <p:nvSpPr>
          <p:cNvPr id="323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Lucida Sans Typewriter" pitchFamily="49" charset="0"/>
              </a:rPr>
              <a:t>font</a:t>
            </a:r>
            <a:r>
              <a:rPr lang="en-US" dirty="0"/>
              <a:t> </a:t>
            </a:r>
            <a:r>
              <a:rPr lang="en-US" dirty="0">
                <a:solidFill>
                  <a:schemeClr val="hlink"/>
                </a:solidFill>
              </a:rPr>
              <a:t>shortcut property</a:t>
            </a:r>
            <a:r>
              <a:rPr lang="en-US" dirty="0"/>
              <a:t>:</a:t>
            </a:r>
          </a:p>
        </p:txBody>
      </p:sp>
      <p:pic>
        <p:nvPicPr>
          <p:cNvPr id="3235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48000"/>
            <a:ext cx="5603875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35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86200"/>
            <a:ext cx="4724400" cy="17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3590" name="AutoShape 6"/>
          <p:cNvSpPr>
            <a:spLocks noChangeArrowheads="1"/>
          </p:cNvSpPr>
          <p:nvPr/>
        </p:nvSpPr>
        <p:spPr bwMode="auto">
          <a:xfrm>
            <a:off x="2209800" y="3505200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323591" name="Oval 7"/>
          <p:cNvSpPr>
            <a:spLocks noChangeArrowheads="1"/>
          </p:cNvSpPr>
          <p:nvPr/>
        </p:nvSpPr>
        <p:spPr bwMode="auto">
          <a:xfrm>
            <a:off x="2743200" y="4191000"/>
            <a:ext cx="762000" cy="3048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3592" name="Oval 8"/>
          <p:cNvSpPr>
            <a:spLocks noChangeArrowheads="1"/>
          </p:cNvSpPr>
          <p:nvPr/>
        </p:nvSpPr>
        <p:spPr bwMode="auto">
          <a:xfrm>
            <a:off x="2590800" y="5029200"/>
            <a:ext cx="914400" cy="3048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3593" name="Text Box 9"/>
          <p:cNvSpPr txBox="1">
            <a:spLocks noChangeArrowheads="1"/>
          </p:cNvSpPr>
          <p:nvPr/>
        </p:nvSpPr>
        <p:spPr bwMode="auto">
          <a:xfrm>
            <a:off x="3581400" y="4419600"/>
            <a:ext cx="533671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Initial values used if no value specified in </a:t>
            </a:r>
            <a:r>
              <a:rPr lang="en-US" sz="2000" b="1" dirty="0">
                <a:solidFill>
                  <a:schemeClr val="tx1"/>
                </a:solidFill>
                <a:latin typeface="Lucida Sans Typewriter" pitchFamily="49" charset="0"/>
              </a:rPr>
              <a:t>font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property list (that is, potentially reset)</a:t>
            </a:r>
          </a:p>
        </p:txBody>
      </p:sp>
    </p:spTree>
    <p:extLst>
      <p:ext uri="{BB962C8B-B14F-4D97-AF65-F5344CB8AC3E}">
        <p14:creationId xmlns:p14="http://schemas.microsoft.com/office/powerpoint/2010/main" val="114335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Font Properties</a:t>
            </a:r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Lucida Sans Typewriter" pitchFamily="49" charset="0"/>
              </a:rPr>
              <a:t>font</a:t>
            </a:r>
            <a:r>
              <a:rPr lang="en-US" dirty="0"/>
              <a:t> </a:t>
            </a:r>
            <a:r>
              <a:rPr lang="en-US" dirty="0">
                <a:solidFill>
                  <a:schemeClr val="hlink"/>
                </a:solidFill>
              </a:rPr>
              <a:t>shortcut property</a:t>
            </a:r>
            <a:r>
              <a:rPr lang="en-US" dirty="0"/>
              <a:t>:</a:t>
            </a:r>
          </a:p>
        </p:txBody>
      </p:sp>
      <p:pic>
        <p:nvPicPr>
          <p:cNvPr id="3246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667000"/>
            <a:ext cx="5603875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46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505200"/>
            <a:ext cx="4724400" cy="17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4614" name="AutoShape 6"/>
          <p:cNvSpPr>
            <a:spLocks noChangeArrowheads="1"/>
          </p:cNvSpPr>
          <p:nvPr/>
        </p:nvSpPr>
        <p:spPr bwMode="auto">
          <a:xfrm>
            <a:off x="2590800" y="3124200"/>
            <a:ext cx="228600" cy="381000"/>
          </a:xfrm>
          <a:prstGeom prst="upDownArrow">
            <a:avLst>
              <a:gd name="adj1" fmla="val 50000"/>
              <a:gd name="adj2" fmla="val 3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pic>
        <p:nvPicPr>
          <p:cNvPr id="32461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562600"/>
            <a:ext cx="75438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4616" name="Oval 8"/>
          <p:cNvSpPr>
            <a:spLocks noChangeArrowheads="1"/>
          </p:cNvSpPr>
          <p:nvPr/>
        </p:nvSpPr>
        <p:spPr bwMode="auto">
          <a:xfrm>
            <a:off x="5410200" y="5562600"/>
            <a:ext cx="304800" cy="3810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4617" name="Text Box 9"/>
          <p:cNvSpPr txBox="1">
            <a:spLocks noChangeArrowheads="1"/>
          </p:cNvSpPr>
          <p:nvPr/>
        </p:nvSpPr>
        <p:spPr bwMode="auto">
          <a:xfrm>
            <a:off x="3505200" y="5181600"/>
            <a:ext cx="5181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specifying line-height (here, twice cell height)</a:t>
            </a:r>
          </a:p>
        </p:txBody>
      </p:sp>
      <p:sp>
        <p:nvSpPr>
          <p:cNvPr id="324618" name="AutoShape 10"/>
          <p:cNvSpPr>
            <a:spLocks/>
          </p:cNvSpPr>
          <p:nvPr/>
        </p:nvSpPr>
        <p:spPr bwMode="auto">
          <a:xfrm rot="16200000">
            <a:off x="3505200" y="4648200"/>
            <a:ext cx="76200" cy="2667000"/>
          </a:xfrm>
          <a:prstGeom prst="leftBrace">
            <a:avLst>
              <a:gd name="adj1" fmla="val 291667"/>
              <a:gd name="adj2" fmla="val 50000"/>
            </a:avLst>
          </a:prstGeom>
          <a:noFill/>
          <a:ln w="9525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>
              <a:solidFill>
                <a:srgbClr val="008080"/>
              </a:solidFill>
            </a:endParaRPr>
          </a:p>
        </p:txBody>
      </p:sp>
      <p:sp>
        <p:nvSpPr>
          <p:cNvPr id="324619" name="Text Box 11"/>
          <p:cNvSpPr txBox="1">
            <a:spLocks noChangeArrowheads="1"/>
          </p:cNvSpPr>
          <p:nvPr/>
        </p:nvSpPr>
        <p:spPr bwMode="auto">
          <a:xfrm>
            <a:off x="2929371" y="5980113"/>
            <a:ext cx="126028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any order</a:t>
            </a:r>
          </a:p>
        </p:txBody>
      </p:sp>
      <p:sp>
        <p:nvSpPr>
          <p:cNvPr id="324620" name="AutoShape 12"/>
          <p:cNvSpPr>
            <a:spLocks/>
          </p:cNvSpPr>
          <p:nvPr/>
        </p:nvSpPr>
        <p:spPr bwMode="auto">
          <a:xfrm rot="16200000">
            <a:off x="6705600" y="4267200"/>
            <a:ext cx="76200" cy="3429000"/>
          </a:xfrm>
          <a:prstGeom prst="leftBrace">
            <a:avLst>
              <a:gd name="adj1" fmla="val 375000"/>
              <a:gd name="adj2" fmla="val 50000"/>
            </a:avLst>
          </a:prstGeom>
          <a:noFill/>
          <a:ln w="9525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lang="en-US">
              <a:solidFill>
                <a:srgbClr val="008080"/>
              </a:solidFill>
            </a:endParaRPr>
          </a:p>
        </p:txBody>
      </p:sp>
      <p:sp>
        <p:nvSpPr>
          <p:cNvPr id="324621" name="Text Box 13"/>
          <p:cNvSpPr txBox="1">
            <a:spLocks noChangeArrowheads="1"/>
          </p:cNvSpPr>
          <p:nvPr/>
        </p:nvSpPr>
        <p:spPr bwMode="auto">
          <a:xfrm>
            <a:off x="5326714" y="6019800"/>
            <a:ext cx="289252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size and family required,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order-dependent</a:t>
            </a:r>
          </a:p>
        </p:txBody>
      </p:sp>
    </p:spTree>
    <p:extLst>
      <p:ext uri="{BB962C8B-B14F-4D97-AF65-F5344CB8AC3E}">
        <p14:creationId xmlns:p14="http://schemas.microsoft.com/office/powerpoint/2010/main" val="1255066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ChangeArrowheads="1"/>
          </p:cNvSpPr>
          <p:nvPr/>
        </p:nvSpPr>
        <p:spPr bwMode="auto">
          <a:xfrm>
            <a:off x="685800" y="3810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>
                <a:solidFill>
                  <a:schemeClr val="accent2"/>
                </a:solidFill>
              </a:rPr>
              <a:t>Colors</a:t>
            </a:r>
          </a:p>
        </p:txBody>
      </p:sp>
      <p:sp>
        <p:nvSpPr>
          <p:cNvPr id="107523" name="Text Box 3"/>
          <p:cNvSpPr txBox="1">
            <a:spLocks noChangeArrowheads="1"/>
          </p:cNvSpPr>
          <p:nvPr/>
        </p:nvSpPr>
        <p:spPr bwMode="auto">
          <a:xfrm>
            <a:off x="685800" y="1981200"/>
            <a:ext cx="4521200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endParaRPr lang="en-US"/>
          </a:p>
          <a:p>
            <a:endParaRPr lang="en-US"/>
          </a:p>
        </p:txBody>
      </p:sp>
      <p:sp>
        <p:nvSpPr>
          <p:cNvPr id="107524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00200"/>
            <a:ext cx="7772400" cy="4419600"/>
          </a:xfrm>
          <a:noFill/>
          <a:ln/>
        </p:spPr>
        <p:txBody>
          <a:bodyPr/>
          <a:lstStyle/>
          <a:p>
            <a:pPr eaLnBrk="0" hangingPunct="0">
              <a:spcBef>
                <a:spcPct val="0"/>
              </a:spcBef>
              <a:buFontTx/>
              <a:buNone/>
            </a:pPr>
            <a:r>
              <a:rPr lang="en-US" sz="2800">
                <a:solidFill>
                  <a:schemeClr val="bg1"/>
                </a:solidFill>
              </a:rPr>
              <a:t>There are sixteen pre-defined colors in HTML: </a:t>
            </a:r>
          </a:p>
          <a:p>
            <a:pPr eaLnBrk="0" hangingPunct="0">
              <a:spcBef>
                <a:spcPct val="0"/>
              </a:spcBef>
              <a:buFontTx/>
              <a:buNone/>
            </a:pPr>
            <a:endParaRPr lang="en-US" sz="2800">
              <a:solidFill>
                <a:schemeClr val="bg1"/>
              </a:solidFill>
            </a:endParaRPr>
          </a:p>
          <a:p>
            <a:pPr eaLnBrk="0" hangingPunct="0">
              <a:spcBef>
                <a:spcPct val="0"/>
              </a:spcBef>
              <a:buFontTx/>
              <a:buNone/>
            </a:pPr>
            <a:r>
              <a:rPr lang="en-US" sz="2800">
                <a:solidFill>
                  <a:schemeClr val="bg1"/>
                </a:solidFill>
              </a:rPr>
              <a:t>aqua, black, blue, fuchsia, gray, green, lime, maroon, navy, olive, purple, red, silver, teal, white, and yellow</a:t>
            </a:r>
          </a:p>
          <a:p>
            <a:pPr eaLnBrk="0" hangingPunct="0">
              <a:spcBef>
                <a:spcPct val="0"/>
              </a:spcBef>
              <a:buFontTx/>
              <a:buNone/>
            </a:pPr>
            <a:endParaRPr lang="en-US" sz="2800">
              <a:solidFill>
                <a:schemeClr val="bg1"/>
              </a:solidFill>
            </a:endParaRPr>
          </a:p>
          <a:p>
            <a:pPr eaLnBrk="0" hangingPunct="0">
              <a:spcBef>
                <a:spcPct val="0"/>
              </a:spcBef>
              <a:buFontTx/>
              <a:buNone/>
            </a:pPr>
            <a:r>
              <a:rPr lang="en-US" sz="2800">
                <a:solidFill>
                  <a:schemeClr val="bg1"/>
                </a:solidFill>
              </a:rPr>
              <a:t>Which means you can just type the word “blue” into your code, and the browser will give you the default color for blue </a:t>
            </a:r>
          </a:p>
        </p:txBody>
      </p:sp>
    </p:spTree>
    <p:extLst>
      <p:ext uri="{BB962C8B-B14F-4D97-AF65-F5344CB8AC3E}">
        <p14:creationId xmlns:p14="http://schemas.microsoft.com/office/powerpoint/2010/main" val="349950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685800" y="3810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>
                <a:solidFill>
                  <a:schemeClr val="accent2"/>
                </a:solidFill>
              </a:rPr>
              <a:t>Colors</a:t>
            </a:r>
          </a:p>
        </p:txBody>
      </p:sp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685800" y="1981200"/>
            <a:ext cx="4521200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endParaRPr lang="en-US"/>
          </a:p>
          <a:p>
            <a:endParaRPr lang="en-US"/>
          </a:p>
        </p:txBody>
      </p:sp>
      <p:sp>
        <p:nvSpPr>
          <p:cNvPr id="109572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00200"/>
            <a:ext cx="7772400" cy="4724400"/>
          </a:xfrm>
          <a:noFill/>
          <a:ln/>
        </p:spPr>
        <p:txBody>
          <a:bodyPr/>
          <a:lstStyle/>
          <a:p>
            <a:pPr eaLnBrk="0" hangingPunct="0">
              <a:spcBef>
                <a:spcPct val="0"/>
              </a:spcBef>
              <a:buFontTx/>
              <a:buNone/>
            </a:pPr>
            <a:r>
              <a:rPr lang="en-US" sz="2800">
                <a:solidFill>
                  <a:schemeClr val="bg1"/>
                </a:solidFill>
              </a:rPr>
              <a:t>If you want more variety or nuance, there are also 216 “web safe colors” that all browsers should be able to read accurately. </a:t>
            </a:r>
          </a:p>
          <a:p>
            <a:pPr eaLnBrk="0" hangingPunct="0">
              <a:spcBef>
                <a:spcPct val="0"/>
              </a:spcBef>
              <a:buFontTx/>
              <a:buNone/>
            </a:pPr>
            <a:r>
              <a:rPr lang="en-US" sz="2800">
                <a:solidFill>
                  <a:schemeClr val="bg1"/>
                </a:solidFill>
              </a:rPr>
              <a:t>These are the “HEX” color code system, i.e.</a:t>
            </a:r>
          </a:p>
          <a:p>
            <a:pPr>
              <a:buFontTx/>
              <a:buNone/>
            </a:pPr>
            <a:endParaRPr lang="en-US" sz="2800">
              <a:solidFill>
                <a:schemeClr val="bg1"/>
              </a:solidFill>
            </a:endParaRPr>
          </a:p>
          <a:p>
            <a:pPr>
              <a:buFontTx/>
              <a:buNone/>
            </a:pPr>
            <a:r>
              <a:rPr lang="en-US" sz="2800">
                <a:solidFill>
                  <a:schemeClr val="bg1"/>
                </a:solidFill>
              </a:rPr>
              <a:t>#000000 = black (total absence of color)</a:t>
            </a:r>
          </a:p>
          <a:p>
            <a:pPr>
              <a:buFontTx/>
              <a:buNone/>
            </a:pPr>
            <a:r>
              <a:rPr lang="en-US" sz="2800">
                <a:solidFill>
                  <a:schemeClr val="bg1"/>
                </a:solidFill>
              </a:rPr>
              <a:t>#FFFFFF = white (presence of all colors)</a:t>
            </a:r>
          </a:p>
          <a:p>
            <a:pPr>
              <a:buFontTx/>
              <a:buNone/>
            </a:pPr>
            <a:r>
              <a:rPr lang="en-US" sz="2800">
                <a:solidFill>
                  <a:schemeClr val="bg1"/>
                </a:solidFill>
              </a:rPr>
              <a:t>#FF0000 = red (the red section at full level)		</a:t>
            </a:r>
          </a:p>
          <a:p>
            <a:pPr>
              <a:buFontTx/>
              <a:buNone/>
            </a:pPr>
            <a:r>
              <a:rPr lang="en-US" sz="2800">
                <a:solidFill>
                  <a:schemeClr val="bg1"/>
                </a:solidFill>
              </a:rPr>
              <a:t>#FF8800 = a shade of orange (red plus green) </a:t>
            </a:r>
          </a:p>
        </p:txBody>
      </p:sp>
    </p:spTree>
    <p:extLst>
      <p:ext uri="{BB962C8B-B14F-4D97-AF65-F5344CB8AC3E}">
        <p14:creationId xmlns:p14="http://schemas.microsoft.com/office/powerpoint/2010/main" val="3361795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ChangeArrowheads="1"/>
          </p:cNvSpPr>
          <p:nvPr/>
        </p:nvSpPr>
        <p:spPr bwMode="auto">
          <a:xfrm>
            <a:off x="685800" y="3810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>
                <a:solidFill>
                  <a:schemeClr val="accent2"/>
                </a:solidFill>
              </a:rPr>
              <a:t>Colors</a:t>
            </a:r>
          </a:p>
        </p:txBody>
      </p:sp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685800" y="1981200"/>
            <a:ext cx="4521200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endParaRPr lang="en-US"/>
          </a:p>
          <a:p>
            <a:endParaRPr lang="en-US"/>
          </a:p>
        </p:txBody>
      </p:sp>
      <p:sp>
        <p:nvSpPr>
          <p:cNvPr id="80900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00200"/>
            <a:ext cx="7772400" cy="4419600"/>
          </a:xfrm>
          <a:noFill/>
          <a:ln/>
        </p:spPr>
        <p:txBody>
          <a:bodyPr/>
          <a:lstStyle/>
          <a:p>
            <a:pPr eaLnBrk="0" hangingPunct="0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chemeClr val="bg1"/>
                </a:solidFill>
              </a:rPr>
              <a:t>Body</a:t>
            </a:r>
          </a:p>
          <a:p>
            <a:pPr eaLnBrk="0" hangingPunct="0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chemeClr val="bg1"/>
                </a:solidFill>
              </a:rPr>
              <a:t>	{</a:t>
            </a:r>
          </a:p>
          <a:p>
            <a:pPr eaLnBrk="0" hangingPunct="0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chemeClr val="bg1"/>
                </a:solidFill>
              </a:rPr>
              <a:t>	color: black;</a:t>
            </a:r>
          </a:p>
          <a:p>
            <a:pPr eaLnBrk="0" hangingPunct="0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chemeClr val="bg1"/>
                </a:solidFill>
              </a:rPr>
              <a:t>	background: white;</a:t>
            </a:r>
          </a:p>
          <a:p>
            <a:pPr eaLnBrk="0" hangingPunct="0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chemeClr val="bg1"/>
                </a:solidFill>
              </a:rPr>
              <a:t>	}</a:t>
            </a:r>
          </a:p>
          <a:p>
            <a:pPr eaLnBrk="0" hangingPunct="0">
              <a:spcBef>
                <a:spcPct val="0"/>
              </a:spcBef>
              <a:buFontTx/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eaLnBrk="0" hangingPunct="0"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chemeClr val="bg1"/>
                </a:solidFill>
              </a:rPr>
              <a:t>= text color is black, background color is white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" y="4419600"/>
            <a:ext cx="718185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809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 142 Lecture Notes: CSS</a:t>
            </a:r>
          </a:p>
        </p:txBody>
      </p:sp>
      <p:sp>
        <p:nvSpPr>
          <p:cNvPr id="73745" name="Rectangle 17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458200" cy="4800600"/>
          </a:xfrm>
        </p:spPr>
        <p:txBody>
          <a:bodyPr/>
          <a:lstStyle/>
          <a:p>
            <a:r>
              <a:rPr lang="en-US" dirty="0"/>
              <a:t>Predefined names:</a:t>
            </a:r>
          </a:p>
          <a:p>
            <a:pPr lvl="1">
              <a:buFont typeface="Wingdings" pitchFamily="2" charset="2"/>
              <a:buNone/>
            </a:pPr>
            <a:r>
              <a:rPr lang="en-US" b="1" dirty="0" smtClean="0">
                <a:solidFill>
                  <a:schemeClr val="accent2"/>
                </a:solidFill>
                <a:latin typeface="Courier New" pitchFamily="49" charset="0"/>
              </a:rPr>
              <a:t>white </a:t>
            </a: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red …</a:t>
            </a:r>
          </a:p>
          <a:p>
            <a:endParaRPr lang="en-US" dirty="0" smtClean="0"/>
          </a:p>
          <a:p>
            <a:r>
              <a:rPr lang="en-US" dirty="0" smtClean="0"/>
              <a:t>8-bit </a:t>
            </a:r>
            <a:r>
              <a:rPr lang="en-US" dirty="0"/>
              <a:t>hexadecimal intensities for red, green, blue:</a:t>
            </a:r>
          </a:p>
          <a:p>
            <a:endParaRPr lang="en-US" dirty="0"/>
          </a:p>
          <a:p>
            <a:endParaRPr lang="en-US" b="0" dirty="0"/>
          </a:p>
          <a:p>
            <a:pPr>
              <a:spcBef>
                <a:spcPct val="0"/>
              </a:spcBef>
            </a:pPr>
            <a:r>
              <a:rPr lang="en-US" dirty="0"/>
              <a:t>0-255 decimal intensities:</a:t>
            </a:r>
          </a:p>
          <a:p>
            <a:pPr>
              <a:spcBef>
                <a:spcPct val="0"/>
              </a:spcBef>
            </a:pPr>
            <a:endParaRPr lang="en-US" dirty="0"/>
          </a:p>
          <a:p>
            <a:pPr marL="0" indent="0">
              <a:spcBef>
                <a:spcPct val="0"/>
              </a:spcBef>
              <a:buNone/>
            </a:pPr>
            <a:endParaRPr lang="en-US" dirty="0"/>
          </a:p>
          <a:p>
            <a:pPr>
              <a:spcBef>
                <a:spcPct val="70000"/>
              </a:spcBef>
            </a:pPr>
            <a:r>
              <a:rPr lang="en-US" dirty="0"/>
              <a:t>Percentage intensities:</a:t>
            </a:r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CSS Color </a:t>
            </a:r>
            <a:r>
              <a:rPr lang="en-US" b="1" dirty="0" err="1">
                <a:solidFill>
                  <a:schemeClr val="bg1"/>
                </a:solidFill>
              </a:rPr>
              <a:t>Specifiers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809625" y="2057400"/>
            <a:ext cx="2365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Courier New" pitchFamily="49" charset="0"/>
              </a:rPr>
              <a:t>#ff0000</a:t>
            </a:r>
          </a:p>
        </p:txBody>
      </p:sp>
      <p:grpSp>
        <p:nvGrpSpPr>
          <p:cNvPr id="73765" name="Group 37"/>
          <p:cNvGrpSpPr>
            <a:grpSpLocks/>
          </p:cNvGrpSpPr>
          <p:nvPr/>
        </p:nvGrpSpPr>
        <p:grpSpPr bwMode="auto">
          <a:xfrm>
            <a:off x="1520826" y="2482857"/>
            <a:ext cx="1143000" cy="541337"/>
            <a:chOff x="724" y="1927"/>
            <a:chExt cx="720" cy="341"/>
          </a:xfrm>
        </p:grpSpPr>
        <p:sp>
          <p:nvSpPr>
            <p:cNvPr id="73734" name="Freeform 6"/>
            <p:cNvSpPr>
              <a:spLocks/>
            </p:cNvSpPr>
            <p:nvPr/>
          </p:nvSpPr>
          <p:spPr bwMode="auto">
            <a:xfrm>
              <a:off x="724" y="1927"/>
              <a:ext cx="240" cy="96"/>
            </a:xfrm>
            <a:custGeom>
              <a:avLst/>
              <a:gdLst>
                <a:gd name="T0" fmla="*/ 0 w 240"/>
                <a:gd name="T1" fmla="*/ 0 h 96"/>
                <a:gd name="T2" fmla="*/ 0 w 240"/>
                <a:gd name="T3" fmla="*/ 96 h 96"/>
                <a:gd name="T4" fmla="*/ 240 w 240"/>
                <a:gd name="T5" fmla="*/ 96 h 96"/>
                <a:gd name="T6" fmla="*/ 240 w 240"/>
                <a:gd name="T7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0" h="96">
                  <a:moveTo>
                    <a:pt x="0" y="0"/>
                  </a:moveTo>
                  <a:lnTo>
                    <a:pt x="0" y="96"/>
                  </a:lnTo>
                  <a:lnTo>
                    <a:pt x="240" y="96"/>
                  </a:lnTo>
                  <a:lnTo>
                    <a:pt x="240" y="0"/>
                  </a:lnTo>
                </a:path>
              </a:pathLst>
            </a:custGeom>
            <a:noFill/>
            <a:ln w="190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35" name="Freeform 7"/>
            <p:cNvSpPr>
              <a:spLocks/>
            </p:cNvSpPr>
            <p:nvPr/>
          </p:nvSpPr>
          <p:spPr bwMode="auto">
            <a:xfrm>
              <a:off x="964" y="1927"/>
              <a:ext cx="240" cy="96"/>
            </a:xfrm>
            <a:custGeom>
              <a:avLst/>
              <a:gdLst>
                <a:gd name="T0" fmla="*/ 0 w 240"/>
                <a:gd name="T1" fmla="*/ 0 h 96"/>
                <a:gd name="T2" fmla="*/ 0 w 240"/>
                <a:gd name="T3" fmla="*/ 96 h 96"/>
                <a:gd name="T4" fmla="*/ 240 w 240"/>
                <a:gd name="T5" fmla="*/ 96 h 96"/>
                <a:gd name="T6" fmla="*/ 240 w 240"/>
                <a:gd name="T7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0" h="96">
                  <a:moveTo>
                    <a:pt x="0" y="0"/>
                  </a:moveTo>
                  <a:lnTo>
                    <a:pt x="0" y="96"/>
                  </a:lnTo>
                  <a:lnTo>
                    <a:pt x="240" y="96"/>
                  </a:lnTo>
                  <a:lnTo>
                    <a:pt x="240" y="0"/>
                  </a:lnTo>
                </a:path>
              </a:pathLst>
            </a:custGeom>
            <a:noFill/>
            <a:ln w="190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36" name="Freeform 8"/>
            <p:cNvSpPr>
              <a:spLocks/>
            </p:cNvSpPr>
            <p:nvPr/>
          </p:nvSpPr>
          <p:spPr bwMode="auto">
            <a:xfrm>
              <a:off x="1204" y="1927"/>
              <a:ext cx="240" cy="96"/>
            </a:xfrm>
            <a:custGeom>
              <a:avLst/>
              <a:gdLst>
                <a:gd name="T0" fmla="*/ 0 w 240"/>
                <a:gd name="T1" fmla="*/ 0 h 96"/>
                <a:gd name="T2" fmla="*/ 0 w 240"/>
                <a:gd name="T3" fmla="*/ 96 h 96"/>
                <a:gd name="T4" fmla="*/ 240 w 240"/>
                <a:gd name="T5" fmla="*/ 96 h 96"/>
                <a:gd name="T6" fmla="*/ 240 w 240"/>
                <a:gd name="T7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0" h="96">
                  <a:moveTo>
                    <a:pt x="0" y="0"/>
                  </a:moveTo>
                  <a:lnTo>
                    <a:pt x="0" y="96"/>
                  </a:lnTo>
                  <a:lnTo>
                    <a:pt x="240" y="96"/>
                  </a:lnTo>
                  <a:lnTo>
                    <a:pt x="240" y="0"/>
                  </a:lnTo>
                </a:path>
              </a:pathLst>
            </a:custGeom>
            <a:noFill/>
            <a:ln w="190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38" name="Text Box 10"/>
            <p:cNvSpPr txBox="1">
              <a:spLocks noChangeArrowheads="1"/>
            </p:cNvSpPr>
            <p:nvPr/>
          </p:nvSpPr>
          <p:spPr bwMode="auto">
            <a:xfrm>
              <a:off x="774" y="2035"/>
              <a:ext cx="1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schemeClr val="folHlink"/>
                  </a:solidFill>
                </a:rPr>
                <a:t>R</a:t>
              </a:r>
            </a:p>
          </p:txBody>
        </p:sp>
        <p:sp>
          <p:nvSpPr>
            <p:cNvPr id="73739" name="Text Box 11"/>
            <p:cNvSpPr txBox="1">
              <a:spLocks noChangeArrowheads="1"/>
            </p:cNvSpPr>
            <p:nvPr/>
          </p:nvSpPr>
          <p:spPr bwMode="auto">
            <a:xfrm>
              <a:off x="1009" y="2035"/>
              <a:ext cx="15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schemeClr val="folHlink"/>
                  </a:solidFill>
                </a:rPr>
                <a:t>G</a:t>
              </a:r>
            </a:p>
          </p:txBody>
        </p:sp>
        <p:sp>
          <p:nvSpPr>
            <p:cNvPr id="73740" name="Text Box 12"/>
            <p:cNvSpPr txBox="1">
              <a:spLocks noChangeArrowheads="1"/>
            </p:cNvSpPr>
            <p:nvPr/>
          </p:nvSpPr>
          <p:spPr bwMode="auto">
            <a:xfrm>
              <a:off x="1259" y="2035"/>
              <a:ext cx="1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schemeClr val="folHlink"/>
                  </a:solidFill>
                </a:rPr>
                <a:t>B</a:t>
              </a:r>
            </a:p>
          </p:txBody>
        </p:sp>
      </p:grpSp>
      <p:sp>
        <p:nvSpPr>
          <p:cNvPr id="73741" name="Line 13"/>
          <p:cNvSpPr>
            <a:spLocks noChangeShapeType="1"/>
          </p:cNvSpPr>
          <p:nvPr/>
        </p:nvSpPr>
        <p:spPr bwMode="auto">
          <a:xfrm>
            <a:off x="2831253" y="2297113"/>
            <a:ext cx="2736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42" name="Rectangle 14"/>
          <p:cNvSpPr>
            <a:spLocks noChangeArrowheads="1"/>
          </p:cNvSpPr>
          <p:nvPr/>
        </p:nvSpPr>
        <p:spPr bwMode="auto">
          <a:xfrm>
            <a:off x="5568103" y="1981200"/>
            <a:ext cx="914400" cy="5334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6" name="Text Box 18"/>
          <p:cNvSpPr txBox="1">
            <a:spLocks noChangeArrowheads="1"/>
          </p:cNvSpPr>
          <p:nvPr/>
        </p:nvSpPr>
        <p:spPr bwMode="auto">
          <a:xfrm>
            <a:off x="914400" y="4087813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 dirty="0" err="1">
                <a:solidFill>
                  <a:schemeClr val="tx1"/>
                </a:solidFill>
                <a:latin typeface="Courier New" pitchFamily="49" charset="0"/>
              </a:rPr>
              <a:t>rgb</a:t>
            </a:r>
            <a:r>
              <a:rPr lang="en-US" sz="2400" b="1" dirty="0">
                <a:solidFill>
                  <a:schemeClr val="tx1"/>
                </a:solidFill>
                <a:latin typeface="Courier New" pitchFamily="49" charset="0"/>
              </a:rPr>
              <a:t>(255,255,0)</a:t>
            </a:r>
          </a:p>
        </p:txBody>
      </p:sp>
      <p:sp>
        <p:nvSpPr>
          <p:cNvPr id="73747" name="Freeform 19"/>
          <p:cNvSpPr>
            <a:spLocks/>
          </p:cNvSpPr>
          <p:nvPr/>
        </p:nvSpPr>
        <p:spPr bwMode="auto">
          <a:xfrm>
            <a:off x="1752600" y="4478338"/>
            <a:ext cx="625475" cy="152400"/>
          </a:xfrm>
          <a:custGeom>
            <a:avLst/>
            <a:gdLst>
              <a:gd name="T0" fmla="*/ 0 w 240"/>
              <a:gd name="T1" fmla="*/ 0 h 96"/>
              <a:gd name="T2" fmla="*/ 0 w 240"/>
              <a:gd name="T3" fmla="*/ 96 h 96"/>
              <a:gd name="T4" fmla="*/ 240 w 240"/>
              <a:gd name="T5" fmla="*/ 96 h 96"/>
              <a:gd name="T6" fmla="*/ 240 w 240"/>
              <a:gd name="T7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0" h="96">
                <a:moveTo>
                  <a:pt x="0" y="0"/>
                </a:moveTo>
                <a:lnTo>
                  <a:pt x="0" y="96"/>
                </a:lnTo>
                <a:lnTo>
                  <a:pt x="240" y="96"/>
                </a:lnTo>
                <a:lnTo>
                  <a:pt x="240" y="0"/>
                </a:lnTo>
              </a:path>
            </a:pathLst>
          </a:custGeom>
          <a:noFill/>
          <a:ln w="1905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48" name="Freeform 20"/>
          <p:cNvSpPr>
            <a:spLocks/>
          </p:cNvSpPr>
          <p:nvPr/>
        </p:nvSpPr>
        <p:spPr bwMode="auto">
          <a:xfrm>
            <a:off x="2378075" y="4478338"/>
            <a:ext cx="627063" cy="152400"/>
          </a:xfrm>
          <a:custGeom>
            <a:avLst/>
            <a:gdLst>
              <a:gd name="T0" fmla="*/ 0 w 240"/>
              <a:gd name="T1" fmla="*/ 0 h 96"/>
              <a:gd name="T2" fmla="*/ 0 w 240"/>
              <a:gd name="T3" fmla="*/ 96 h 96"/>
              <a:gd name="T4" fmla="*/ 240 w 240"/>
              <a:gd name="T5" fmla="*/ 96 h 96"/>
              <a:gd name="T6" fmla="*/ 240 w 240"/>
              <a:gd name="T7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0" h="96">
                <a:moveTo>
                  <a:pt x="0" y="0"/>
                </a:moveTo>
                <a:lnTo>
                  <a:pt x="0" y="96"/>
                </a:lnTo>
                <a:lnTo>
                  <a:pt x="240" y="96"/>
                </a:lnTo>
                <a:lnTo>
                  <a:pt x="240" y="0"/>
                </a:lnTo>
              </a:path>
            </a:pathLst>
          </a:custGeom>
          <a:noFill/>
          <a:ln w="1905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49" name="Freeform 21"/>
          <p:cNvSpPr>
            <a:spLocks/>
          </p:cNvSpPr>
          <p:nvPr/>
        </p:nvSpPr>
        <p:spPr bwMode="auto">
          <a:xfrm>
            <a:off x="3005138" y="4467225"/>
            <a:ext cx="411162" cy="163513"/>
          </a:xfrm>
          <a:custGeom>
            <a:avLst/>
            <a:gdLst>
              <a:gd name="T0" fmla="*/ 0 w 240"/>
              <a:gd name="T1" fmla="*/ 0 h 96"/>
              <a:gd name="T2" fmla="*/ 0 w 240"/>
              <a:gd name="T3" fmla="*/ 96 h 96"/>
              <a:gd name="T4" fmla="*/ 240 w 240"/>
              <a:gd name="T5" fmla="*/ 96 h 96"/>
              <a:gd name="T6" fmla="*/ 240 w 240"/>
              <a:gd name="T7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0" h="96">
                <a:moveTo>
                  <a:pt x="0" y="0"/>
                </a:moveTo>
                <a:lnTo>
                  <a:pt x="0" y="96"/>
                </a:lnTo>
                <a:lnTo>
                  <a:pt x="240" y="96"/>
                </a:lnTo>
                <a:lnTo>
                  <a:pt x="240" y="0"/>
                </a:lnTo>
              </a:path>
            </a:pathLst>
          </a:custGeom>
          <a:noFill/>
          <a:ln w="1905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50" name="Text Box 22"/>
          <p:cNvSpPr txBox="1">
            <a:spLocks noChangeArrowheads="1"/>
          </p:cNvSpPr>
          <p:nvPr/>
        </p:nvSpPr>
        <p:spPr bwMode="auto">
          <a:xfrm>
            <a:off x="1930400" y="4649788"/>
            <a:ext cx="16351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folHlink"/>
                </a:solidFill>
              </a:rPr>
              <a:t>R</a:t>
            </a:r>
          </a:p>
        </p:txBody>
      </p:sp>
      <p:sp>
        <p:nvSpPr>
          <p:cNvPr id="73751" name="Text Box 23"/>
          <p:cNvSpPr txBox="1">
            <a:spLocks noChangeArrowheads="1"/>
          </p:cNvSpPr>
          <p:nvPr/>
        </p:nvSpPr>
        <p:spPr bwMode="auto">
          <a:xfrm>
            <a:off x="2544763" y="4649788"/>
            <a:ext cx="177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b="1">
                <a:solidFill>
                  <a:schemeClr val="folHlink"/>
                </a:solidFill>
              </a:rPr>
              <a:t>G</a:t>
            </a:r>
          </a:p>
        </p:txBody>
      </p:sp>
      <p:sp>
        <p:nvSpPr>
          <p:cNvPr id="73752" name="Text Box 24"/>
          <p:cNvSpPr txBox="1">
            <a:spLocks noChangeArrowheads="1"/>
          </p:cNvSpPr>
          <p:nvPr/>
        </p:nvSpPr>
        <p:spPr bwMode="auto">
          <a:xfrm>
            <a:off x="3128963" y="4649788"/>
            <a:ext cx="1651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b="1" dirty="0">
                <a:solidFill>
                  <a:schemeClr val="folHlink"/>
                </a:solidFill>
              </a:rPr>
              <a:t>B</a:t>
            </a:r>
          </a:p>
        </p:txBody>
      </p:sp>
      <p:sp>
        <p:nvSpPr>
          <p:cNvPr id="73753" name="Line 25"/>
          <p:cNvSpPr>
            <a:spLocks noChangeShapeType="1"/>
          </p:cNvSpPr>
          <p:nvPr/>
        </p:nvSpPr>
        <p:spPr bwMode="auto">
          <a:xfrm>
            <a:off x="4076700" y="4325938"/>
            <a:ext cx="1447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54" name="Rectangle 26"/>
          <p:cNvSpPr>
            <a:spLocks noChangeArrowheads="1"/>
          </p:cNvSpPr>
          <p:nvPr/>
        </p:nvSpPr>
        <p:spPr bwMode="auto">
          <a:xfrm>
            <a:off x="5562600" y="4049713"/>
            <a:ext cx="914400" cy="5334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56" name="Text Box 28"/>
          <p:cNvSpPr txBox="1">
            <a:spLocks noChangeArrowheads="1"/>
          </p:cNvSpPr>
          <p:nvPr/>
        </p:nvSpPr>
        <p:spPr bwMode="auto">
          <a:xfrm>
            <a:off x="914400" y="5487988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400" b="1" dirty="0" err="1">
                <a:solidFill>
                  <a:schemeClr val="tx1"/>
                </a:solidFill>
                <a:latin typeface="Courier New" pitchFamily="49" charset="0"/>
              </a:rPr>
              <a:t>rgb</a:t>
            </a:r>
            <a:r>
              <a:rPr lang="en-US" sz="2400" b="1" dirty="0">
                <a:solidFill>
                  <a:schemeClr val="tx1"/>
                </a:solidFill>
                <a:latin typeface="Courier New" pitchFamily="49" charset="0"/>
              </a:rPr>
              <a:t>(80%,80%,100%)</a:t>
            </a:r>
          </a:p>
        </p:txBody>
      </p:sp>
      <p:sp>
        <p:nvSpPr>
          <p:cNvPr id="73763" name="Line 35"/>
          <p:cNvSpPr>
            <a:spLocks noChangeShapeType="1"/>
          </p:cNvSpPr>
          <p:nvPr/>
        </p:nvSpPr>
        <p:spPr bwMode="auto">
          <a:xfrm>
            <a:off x="4419600" y="5726113"/>
            <a:ext cx="762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64" name="Rectangle 36"/>
          <p:cNvSpPr>
            <a:spLocks noChangeArrowheads="1"/>
          </p:cNvSpPr>
          <p:nvPr/>
        </p:nvSpPr>
        <p:spPr bwMode="auto">
          <a:xfrm>
            <a:off x="5562600" y="5449888"/>
            <a:ext cx="914400" cy="533400"/>
          </a:xfrm>
          <a:prstGeom prst="rect">
            <a:avLst/>
          </a:prstGeom>
          <a:solidFill>
            <a:srgbClr val="CDC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3766" name="Group 38"/>
          <p:cNvGrpSpPr>
            <a:grpSpLocks/>
          </p:cNvGrpSpPr>
          <p:nvPr/>
        </p:nvGrpSpPr>
        <p:grpSpPr bwMode="auto">
          <a:xfrm>
            <a:off x="1943100" y="5878514"/>
            <a:ext cx="2133600" cy="541337"/>
            <a:chOff x="724" y="1927"/>
            <a:chExt cx="720" cy="341"/>
          </a:xfrm>
        </p:grpSpPr>
        <p:sp>
          <p:nvSpPr>
            <p:cNvPr id="73767" name="Freeform 39"/>
            <p:cNvSpPr>
              <a:spLocks/>
            </p:cNvSpPr>
            <p:nvPr/>
          </p:nvSpPr>
          <p:spPr bwMode="auto">
            <a:xfrm>
              <a:off x="724" y="1927"/>
              <a:ext cx="240" cy="96"/>
            </a:xfrm>
            <a:custGeom>
              <a:avLst/>
              <a:gdLst>
                <a:gd name="T0" fmla="*/ 0 w 240"/>
                <a:gd name="T1" fmla="*/ 0 h 96"/>
                <a:gd name="T2" fmla="*/ 0 w 240"/>
                <a:gd name="T3" fmla="*/ 96 h 96"/>
                <a:gd name="T4" fmla="*/ 240 w 240"/>
                <a:gd name="T5" fmla="*/ 96 h 96"/>
                <a:gd name="T6" fmla="*/ 240 w 240"/>
                <a:gd name="T7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0" h="96">
                  <a:moveTo>
                    <a:pt x="0" y="0"/>
                  </a:moveTo>
                  <a:lnTo>
                    <a:pt x="0" y="96"/>
                  </a:lnTo>
                  <a:lnTo>
                    <a:pt x="240" y="96"/>
                  </a:lnTo>
                  <a:lnTo>
                    <a:pt x="240" y="0"/>
                  </a:lnTo>
                </a:path>
              </a:pathLst>
            </a:custGeom>
            <a:noFill/>
            <a:ln w="190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68" name="Freeform 40"/>
            <p:cNvSpPr>
              <a:spLocks/>
            </p:cNvSpPr>
            <p:nvPr/>
          </p:nvSpPr>
          <p:spPr bwMode="auto">
            <a:xfrm>
              <a:off x="964" y="1927"/>
              <a:ext cx="240" cy="96"/>
            </a:xfrm>
            <a:custGeom>
              <a:avLst/>
              <a:gdLst>
                <a:gd name="T0" fmla="*/ 0 w 240"/>
                <a:gd name="T1" fmla="*/ 0 h 96"/>
                <a:gd name="T2" fmla="*/ 0 w 240"/>
                <a:gd name="T3" fmla="*/ 96 h 96"/>
                <a:gd name="T4" fmla="*/ 240 w 240"/>
                <a:gd name="T5" fmla="*/ 96 h 96"/>
                <a:gd name="T6" fmla="*/ 240 w 240"/>
                <a:gd name="T7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0" h="96">
                  <a:moveTo>
                    <a:pt x="0" y="0"/>
                  </a:moveTo>
                  <a:lnTo>
                    <a:pt x="0" y="96"/>
                  </a:lnTo>
                  <a:lnTo>
                    <a:pt x="240" y="96"/>
                  </a:lnTo>
                  <a:lnTo>
                    <a:pt x="240" y="0"/>
                  </a:lnTo>
                </a:path>
              </a:pathLst>
            </a:custGeom>
            <a:noFill/>
            <a:ln w="190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69" name="Freeform 41"/>
            <p:cNvSpPr>
              <a:spLocks/>
            </p:cNvSpPr>
            <p:nvPr/>
          </p:nvSpPr>
          <p:spPr bwMode="auto">
            <a:xfrm>
              <a:off x="1204" y="1927"/>
              <a:ext cx="240" cy="96"/>
            </a:xfrm>
            <a:custGeom>
              <a:avLst/>
              <a:gdLst>
                <a:gd name="T0" fmla="*/ 0 w 240"/>
                <a:gd name="T1" fmla="*/ 0 h 96"/>
                <a:gd name="T2" fmla="*/ 0 w 240"/>
                <a:gd name="T3" fmla="*/ 96 h 96"/>
                <a:gd name="T4" fmla="*/ 240 w 240"/>
                <a:gd name="T5" fmla="*/ 96 h 96"/>
                <a:gd name="T6" fmla="*/ 240 w 240"/>
                <a:gd name="T7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0" h="96">
                  <a:moveTo>
                    <a:pt x="0" y="0"/>
                  </a:moveTo>
                  <a:lnTo>
                    <a:pt x="0" y="96"/>
                  </a:lnTo>
                  <a:lnTo>
                    <a:pt x="240" y="96"/>
                  </a:lnTo>
                  <a:lnTo>
                    <a:pt x="240" y="0"/>
                  </a:lnTo>
                </a:path>
              </a:pathLst>
            </a:custGeom>
            <a:noFill/>
            <a:ln w="190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70" name="Text Box 42"/>
            <p:cNvSpPr txBox="1">
              <a:spLocks noChangeArrowheads="1"/>
            </p:cNvSpPr>
            <p:nvPr/>
          </p:nvSpPr>
          <p:spPr bwMode="auto">
            <a:xfrm>
              <a:off x="792" y="2035"/>
              <a:ext cx="5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 dirty="0">
                  <a:solidFill>
                    <a:schemeClr val="folHlink"/>
                  </a:solidFill>
                </a:rPr>
                <a:t>R</a:t>
              </a:r>
            </a:p>
          </p:txBody>
        </p:sp>
        <p:sp>
          <p:nvSpPr>
            <p:cNvPr id="73771" name="Text Box 43"/>
            <p:cNvSpPr txBox="1">
              <a:spLocks noChangeArrowheads="1"/>
            </p:cNvSpPr>
            <p:nvPr/>
          </p:nvSpPr>
          <p:spPr bwMode="auto">
            <a:xfrm>
              <a:off x="1028" y="2035"/>
              <a:ext cx="60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800" b="1" dirty="0">
                  <a:solidFill>
                    <a:schemeClr val="folHlink"/>
                  </a:solidFill>
                </a:rPr>
                <a:t>G</a:t>
              </a:r>
            </a:p>
          </p:txBody>
        </p:sp>
        <p:sp>
          <p:nvSpPr>
            <p:cNvPr id="73772" name="Text Box 44"/>
            <p:cNvSpPr txBox="1">
              <a:spLocks noChangeArrowheads="1"/>
            </p:cNvSpPr>
            <p:nvPr/>
          </p:nvSpPr>
          <p:spPr bwMode="auto">
            <a:xfrm>
              <a:off x="1265" y="2035"/>
              <a:ext cx="6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schemeClr val="folHlink"/>
                  </a:solidFill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744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8382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Common CSS Properties</a:t>
            </a:r>
          </a:p>
        </p:txBody>
      </p:sp>
      <p:graphicFrame>
        <p:nvGraphicFramePr>
          <p:cNvPr id="14339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533400" y="1828800"/>
          <a:ext cx="8382000" cy="369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0" name="Bitmap Image" r:id="rId3" imgW="6095238" imgH="2685714" progId="PBrush">
                  <p:embed/>
                </p:oleObj>
              </mc:Choice>
              <mc:Fallback>
                <p:oleObj name="Bitmap Image" r:id="rId3" imgW="6095238" imgH="2685714" progId="PBrush">
                  <p:embed/>
                  <p:pic>
                    <p:nvPicPr>
                      <p:cNvPr id="0" name="Picture 4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828800"/>
                        <a:ext cx="8382000" cy="3692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2892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8382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Common CSS Properties</a:t>
            </a:r>
          </a:p>
        </p:txBody>
      </p:sp>
      <p:graphicFrame>
        <p:nvGraphicFramePr>
          <p:cNvPr id="14339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457200" y="1676400"/>
          <a:ext cx="8382000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4" name="Bitmap Image" r:id="rId3" imgW="6095238" imgH="2685714" progId="PBrush">
                  <p:embed/>
                </p:oleObj>
              </mc:Choice>
              <mc:Fallback>
                <p:oleObj name="Bitmap Image" r:id="rId3" imgW="6095238" imgH="2685714" progId="PBrush">
                  <p:embed/>
                  <p:pic>
                    <p:nvPicPr>
                      <p:cNvPr id="0" name="Picture 4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76400"/>
                        <a:ext cx="8382000" cy="396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881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81000"/>
            <a:ext cx="7772400" cy="6858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CSS Text Formatting</a:t>
            </a:r>
          </a:p>
        </p:txBody>
      </p:sp>
      <p:pic>
        <p:nvPicPr>
          <p:cNvPr id="3256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7696199" cy="494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450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Guy-Vincent Jourdan :: CSI 3140 :: based on Jeffrey C. Jackson’s slides</a:t>
            </a:r>
            <a:endParaRPr lang="en-CA"/>
          </a:p>
        </p:txBody>
      </p:sp>
      <p:sp>
        <p:nvSpPr>
          <p:cNvPr id="330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12787" y="457200"/>
            <a:ext cx="7772400" cy="609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CSS Text Color</a:t>
            </a:r>
          </a:p>
        </p:txBody>
      </p:sp>
      <p:pic>
        <p:nvPicPr>
          <p:cNvPr id="3307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71600"/>
            <a:ext cx="7924800" cy="512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9447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CSS Box Model</a:t>
            </a:r>
          </a:p>
        </p:txBody>
      </p:sp>
      <p:sp>
        <p:nvSpPr>
          <p:cNvPr id="332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rendered element occupies a box:</a:t>
            </a:r>
          </a:p>
        </p:txBody>
      </p:sp>
      <p:pic>
        <p:nvPicPr>
          <p:cNvPr id="332804" name="Picture 4" descr="BoxMod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025775"/>
            <a:ext cx="5562600" cy="329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2805" name="Text Box 5"/>
          <p:cNvSpPr txBox="1">
            <a:spLocks noChangeArrowheads="1"/>
          </p:cNvSpPr>
          <p:nvPr/>
        </p:nvSpPr>
        <p:spPr bwMode="auto">
          <a:xfrm>
            <a:off x="5373239" y="6034088"/>
            <a:ext cx="178786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(or </a:t>
            </a:r>
            <a:r>
              <a:rPr lang="en-US" sz="2000" b="1" i="1" dirty="0">
                <a:solidFill>
                  <a:schemeClr val="tx1"/>
                </a:solidFill>
              </a:rPr>
              <a:t>inner</a:t>
            </a:r>
            <a:r>
              <a:rPr lang="en-US" sz="2000" b="1" dirty="0">
                <a:solidFill>
                  <a:schemeClr val="tx1"/>
                </a:solidFill>
              </a:rPr>
              <a:t> edge)</a:t>
            </a:r>
          </a:p>
        </p:txBody>
      </p:sp>
      <p:sp>
        <p:nvSpPr>
          <p:cNvPr id="332806" name="Text Box 6"/>
          <p:cNvSpPr txBox="1">
            <a:spLocks noChangeArrowheads="1"/>
          </p:cNvSpPr>
          <p:nvPr/>
        </p:nvSpPr>
        <p:spPr bwMode="auto">
          <a:xfrm>
            <a:off x="6757389" y="2949575"/>
            <a:ext cx="183755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</a:rPr>
              <a:t>(</a:t>
            </a:r>
            <a:r>
              <a:rPr lang="en-US" sz="2000" b="1" dirty="0">
                <a:solidFill>
                  <a:schemeClr val="tx1"/>
                </a:solidFill>
              </a:rPr>
              <a:t>or </a:t>
            </a:r>
            <a:r>
              <a:rPr lang="en-US" sz="2000" b="1" i="1" dirty="0">
                <a:solidFill>
                  <a:schemeClr val="tx1"/>
                </a:solidFill>
              </a:rPr>
              <a:t>outer</a:t>
            </a:r>
            <a:r>
              <a:rPr lang="en-US" sz="2000" b="1" dirty="0">
                <a:solidFill>
                  <a:schemeClr val="tx1"/>
                </a:solidFill>
              </a:rPr>
              <a:t> edge)</a:t>
            </a:r>
          </a:p>
        </p:txBody>
      </p:sp>
    </p:spTree>
    <p:extLst>
      <p:ext uri="{BB962C8B-B14F-4D97-AF65-F5344CB8AC3E}">
        <p14:creationId xmlns:p14="http://schemas.microsoft.com/office/powerpoint/2010/main" val="355158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CSS Box Model</a:t>
            </a:r>
          </a:p>
        </p:txBody>
      </p:sp>
      <p:pic>
        <p:nvPicPr>
          <p:cNvPr id="333828" name="Picture 4" descr="BoxModel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05063"/>
            <a:ext cx="8305800" cy="310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51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2246B-A829-47A9-B337-2F34F984DA61}" type="slidenum">
              <a:rPr lang="en-US"/>
              <a:pPr/>
              <a:t>74</a:t>
            </a:fld>
            <a:endParaRPr lang="en-US"/>
          </a:p>
        </p:txBody>
      </p:sp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The CSS Box Model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828800"/>
            <a:ext cx="7704138" cy="3308350"/>
          </a:xfrm>
        </p:spPr>
        <p:txBody>
          <a:bodyPr/>
          <a:lstStyle/>
          <a:p>
            <a:pPr marL="0"/>
            <a:r>
              <a:rPr lang="en-US" dirty="0">
                <a:solidFill>
                  <a:schemeClr val="bg1"/>
                </a:solidFill>
              </a:rPr>
              <a:t>Every CSS box is divided into </a:t>
            </a:r>
            <a:r>
              <a:rPr lang="en-US" u="sng" dirty="0">
                <a:solidFill>
                  <a:schemeClr val="bg1"/>
                </a:solidFill>
              </a:rPr>
              <a:t>regions</a:t>
            </a:r>
            <a:r>
              <a:rPr lang="en-US" dirty="0">
                <a:solidFill>
                  <a:schemeClr val="bg1"/>
                </a:solidFill>
              </a:rPr>
              <a:t>, consisting of:</a:t>
            </a:r>
          </a:p>
          <a:p>
            <a:pPr marL="1068388" lvl="1" indent="-304800">
              <a:buFont typeface="Arial" charset="0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Content</a:t>
            </a:r>
          </a:p>
          <a:p>
            <a:pPr marL="1068388" lvl="1" indent="-304800">
              <a:buFont typeface="Arial" charset="0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Padding</a:t>
            </a:r>
          </a:p>
          <a:p>
            <a:pPr marL="1068388" lvl="1" indent="-304800">
              <a:buFont typeface="Arial" charset="0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Border</a:t>
            </a:r>
          </a:p>
          <a:p>
            <a:pPr marL="1068388" lvl="1" indent="-304800">
              <a:buFont typeface="Arial" charset="0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Margins</a:t>
            </a:r>
            <a:endParaRPr lang="en-US" dirty="0">
              <a:solidFill>
                <a:schemeClr val="bg1"/>
              </a:solidFill>
              <a:latin typeface="Univers 55" pitchFamily="6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66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098A0-FE20-4A45-B7B0-5BFB654869DC}" type="slidenum">
              <a:rPr lang="en-US"/>
              <a:pPr/>
              <a:t>75</a:t>
            </a:fld>
            <a:endParaRPr lang="en-US"/>
          </a:p>
        </p:txBody>
      </p:sp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41350" y="519112"/>
            <a:ext cx="7772400" cy="70008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CSS Box Model</a:t>
            </a:r>
          </a:p>
        </p:txBody>
      </p:sp>
      <p:sp>
        <p:nvSpPr>
          <p:cNvPr id="175112" name="Rectangle 8"/>
          <p:cNvSpPr>
            <a:spLocks noChangeArrowheads="1"/>
          </p:cNvSpPr>
          <p:nvPr/>
        </p:nvSpPr>
        <p:spPr bwMode="auto">
          <a:xfrm>
            <a:off x="976313" y="1309688"/>
            <a:ext cx="7437437" cy="4889500"/>
          </a:xfrm>
          <a:prstGeom prst="rect">
            <a:avLst/>
          </a:prstGeom>
          <a:solidFill>
            <a:srgbClr val="9CB4C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5113" name="Rectangle 9"/>
          <p:cNvSpPr>
            <a:spLocks noChangeArrowheads="1"/>
          </p:cNvSpPr>
          <p:nvPr/>
        </p:nvSpPr>
        <p:spPr bwMode="auto">
          <a:xfrm>
            <a:off x="1452563" y="1774825"/>
            <a:ext cx="6484937" cy="3944938"/>
          </a:xfrm>
          <a:prstGeom prst="rect">
            <a:avLst/>
          </a:prstGeom>
          <a:solidFill>
            <a:srgbClr val="D27B6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5114" name="Rectangle 10"/>
          <p:cNvSpPr>
            <a:spLocks noChangeArrowheads="1"/>
          </p:cNvSpPr>
          <p:nvPr/>
        </p:nvSpPr>
        <p:spPr bwMode="auto">
          <a:xfrm>
            <a:off x="1646238" y="1976438"/>
            <a:ext cx="6099175" cy="3541712"/>
          </a:xfrm>
          <a:prstGeom prst="rect">
            <a:avLst/>
          </a:prstGeom>
          <a:solidFill>
            <a:srgbClr val="E3C2A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5115" name="Rectangle 11"/>
          <p:cNvSpPr>
            <a:spLocks noChangeArrowheads="1"/>
          </p:cNvSpPr>
          <p:nvPr/>
        </p:nvSpPr>
        <p:spPr bwMode="auto">
          <a:xfrm>
            <a:off x="2135188" y="2468563"/>
            <a:ext cx="5121275" cy="2555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5116" name="Text Box 12"/>
          <p:cNvSpPr txBox="1">
            <a:spLocks noChangeArrowheads="1"/>
          </p:cNvSpPr>
          <p:nvPr/>
        </p:nvSpPr>
        <p:spPr bwMode="auto">
          <a:xfrm>
            <a:off x="3841750" y="3484563"/>
            <a:ext cx="17541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/>
              <a:t>Content</a:t>
            </a:r>
          </a:p>
        </p:txBody>
      </p:sp>
      <p:sp>
        <p:nvSpPr>
          <p:cNvPr id="175117" name="Text Box 13"/>
          <p:cNvSpPr txBox="1">
            <a:spLocks noChangeArrowheads="1"/>
          </p:cNvSpPr>
          <p:nvPr/>
        </p:nvSpPr>
        <p:spPr bwMode="auto">
          <a:xfrm>
            <a:off x="3841750" y="2017713"/>
            <a:ext cx="17541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/>
              <a:t>Padding</a:t>
            </a:r>
          </a:p>
        </p:txBody>
      </p:sp>
      <p:sp>
        <p:nvSpPr>
          <p:cNvPr id="175120" name="Text Box 16"/>
          <p:cNvSpPr txBox="1">
            <a:spLocks noChangeArrowheads="1"/>
          </p:cNvSpPr>
          <p:nvPr/>
        </p:nvSpPr>
        <p:spPr bwMode="auto">
          <a:xfrm>
            <a:off x="3841750" y="1685925"/>
            <a:ext cx="17541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/>
              <a:t>Border</a:t>
            </a:r>
          </a:p>
        </p:txBody>
      </p:sp>
      <p:sp>
        <p:nvSpPr>
          <p:cNvPr id="175121" name="Text Box 17"/>
          <p:cNvSpPr txBox="1">
            <a:spLocks noChangeArrowheads="1"/>
          </p:cNvSpPr>
          <p:nvPr/>
        </p:nvSpPr>
        <p:spPr bwMode="auto">
          <a:xfrm>
            <a:off x="3841750" y="1330325"/>
            <a:ext cx="17541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/>
              <a:t>Margin</a:t>
            </a:r>
          </a:p>
        </p:txBody>
      </p:sp>
    </p:spTree>
    <p:extLst>
      <p:ext uri="{BB962C8B-B14F-4D97-AF65-F5344CB8AC3E}">
        <p14:creationId xmlns:p14="http://schemas.microsoft.com/office/powerpoint/2010/main" val="2727065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B21F8-1154-44E4-A1E4-9F21E16BFDEC}" type="slidenum">
              <a:rPr lang="en-US"/>
              <a:pPr/>
              <a:t>76</a:t>
            </a:fld>
            <a:endParaRPr lang="en-US"/>
          </a:p>
        </p:txBody>
      </p:sp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5334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Margins &amp; Padding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305800" cy="4495800"/>
          </a:xfrm>
        </p:spPr>
        <p:txBody>
          <a:bodyPr/>
          <a:lstStyle/>
          <a:p>
            <a:r>
              <a:rPr lang="en-US" b="1" dirty="0"/>
              <a:t>Margins</a:t>
            </a:r>
            <a:endParaRPr lang="en-US" dirty="0"/>
          </a:p>
          <a:p>
            <a:r>
              <a:rPr lang="en-US" sz="2400" dirty="0">
                <a:solidFill>
                  <a:schemeClr val="bg1"/>
                </a:solidFill>
              </a:rPr>
              <a:t>Margins define the space around elements </a:t>
            </a:r>
            <a:r>
              <a:rPr lang="en-US" sz="2400" u="sng" dirty="0">
                <a:solidFill>
                  <a:schemeClr val="bg1"/>
                </a:solidFill>
              </a:rPr>
              <a:t>outside</a:t>
            </a:r>
            <a:r>
              <a:rPr lang="en-US" sz="2400" dirty="0">
                <a:solidFill>
                  <a:schemeClr val="bg1"/>
                </a:solidFill>
              </a:rPr>
              <a:t> the border</a:t>
            </a:r>
          </a:p>
          <a:p>
            <a:r>
              <a:rPr lang="en-US" sz="2400" dirty="0">
                <a:solidFill>
                  <a:schemeClr val="bg1"/>
                </a:solidFill>
              </a:rPr>
              <a:t>Margin properties can have </a:t>
            </a:r>
            <a:r>
              <a:rPr lang="en-US" sz="2400" u="sng" dirty="0">
                <a:solidFill>
                  <a:schemeClr val="bg1"/>
                </a:solidFill>
              </a:rPr>
              <a:t>negative values</a:t>
            </a:r>
            <a:r>
              <a:rPr lang="en-US" sz="2400" dirty="0">
                <a:solidFill>
                  <a:schemeClr val="bg1"/>
                </a:solidFill>
              </a:rPr>
              <a:t> in order to deliberately overlap content</a:t>
            </a:r>
          </a:p>
          <a:p>
            <a:r>
              <a:rPr lang="en-US" sz="2400" dirty="0">
                <a:solidFill>
                  <a:schemeClr val="bg1"/>
                </a:solidFill>
              </a:rPr>
              <a:t>Margin properties will affect the </a:t>
            </a:r>
            <a:r>
              <a:rPr lang="en-US" sz="2400" u="sng" dirty="0">
                <a:solidFill>
                  <a:schemeClr val="bg1"/>
                </a:solidFill>
              </a:rPr>
              <a:t>position of background elements</a:t>
            </a:r>
            <a:r>
              <a:rPr lang="en-US" sz="2400" dirty="0">
                <a:solidFill>
                  <a:schemeClr val="bg1"/>
                </a:solidFill>
              </a:rPr>
              <a:t> (graphics and/or </a:t>
            </a:r>
            <a:r>
              <a:rPr lang="en-US" sz="2400" dirty="0" err="1">
                <a:solidFill>
                  <a:schemeClr val="bg1"/>
                </a:solidFill>
              </a:rPr>
              <a:t>colours</a:t>
            </a:r>
            <a:r>
              <a:rPr lang="en-US" sz="2400" dirty="0">
                <a:solidFill>
                  <a:schemeClr val="bg1"/>
                </a:solidFill>
              </a:rPr>
              <a:t>) in relation to the edges of the containing block element</a:t>
            </a:r>
          </a:p>
          <a:p>
            <a:r>
              <a:rPr lang="en-US" sz="2400" dirty="0">
                <a:solidFill>
                  <a:schemeClr val="bg1"/>
                </a:solidFill>
              </a:rPr>
              <a:t>Margin properties can be defined independently on top, right, bottom and left, or all-at-once using CSS shorthand</a:t>
            </a:r>
          </a:p>
        </p:txBody>
      </p:sp>
    </p:spTree>
    <p:extLst>
      <p:ext uri="{BB962C8B-B14F-4D97-AF65-F5344CB8AC3E}">
        <p14:creationId xmlns:p14="http://schemas.microsoft.com/office/powerpoint/2010/main" val="3451146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5D0B-54A9-4E44-95EA-AB325AAED3AF}" type="slidenum">
              <a:rPr lang="en-US"/>
              <a:pPr/>
              <a:t>77</a:t>
            </a:fld>
            <a:endParaRPr lang="en-US"/>
          </a:p>
        </p:txBody>
      </p:sp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858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Margins &amp; Padding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305800" cy="4654550"/>
          </a:xfrm>
        </p:spPr>
        <p:txBody>
          <a:bodyPr/>
          <a:lstStyle/>
          <a:p>
            <a:r>
              <a:rPr lang="en-US" b="1" dirty="0"/>
              <a:t>Padding</a:t>
            </a:r>
            <a:endParaRPr lang="en-US" sz="2400" dirty="0"/>
          </a:p>
          <a:p>
            <a:r>
              <a:rPr lang="en-US" sz="2400" dirty="0">
                <a:solidFill>
                  <a:schemeClr val="bg1"/>
                </a:solidFill>
              </a:rPr>
              <a:t>Padding defines the space around elements </a:t>
            </a:r>
            <a:r>
              <a:rPr lang="en-US" sz="2400" u="sng" dirty="0">
                <a:solidFill>
                  <a:schemeClr val="bg1"/>
                </a:solidFill>
              </a:rPr>
              <a:t>inside</a:t>
            </a:r>
            <a:r>
              <a:rPr lang="en-US" sz="2400" dirty="0">
                <a:solidFill>
                  <a:schemeClr val="bg1"/>
                </a:solidFill>
              </a:rPr>
              <a:t> the border; </a:t>
            </a:r>
            <a:r>
              <a:rPr lang="en-US" sz="2400" dirty="0" err="1">
                <a:solidFill>
                  <a:schemeClr val="bg1"/>
                </a:solidFill>
              </a:rPr>
              <a:t>i.e</a:t>
            </a:r>
            <a:r>
              <a:rPr lang="en-US" sz="2400" dirty="0">
                <a:solidFill>
                  <a:schemeClr val="bg1"/>
                </a:solidFill>
              </a:rPr>
              <a:t> between the border and the content itself</a:t>
            </a:r>
          </a:p>
          <a:p>
            <a:r>
              <a:rPr lang="en-US" sz="2400" dirty="0">
                <a:solidFill>
                  <a:schemeClr val="bg1"/>
                </a:solidFill>
              </a:rPr>
              <a:t>Padding properties cannot have </a:t>
            </a:r>
            <a:r>
              <a:rPr lang="en-US" sz="2400" u="sng" dirty="0">
                <a:solidFill>
                  <a:schemeClr val="bg1"/>
                </a:solidFill>
              </a:rPr>
              <a:t>negative values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r>
              <a:rPr lang="en-US" sz="2400" dirty="0">
                <a:solidFill>
                  <a:schemeClr val="bg1"/>
                </a:solidFill>
              </a:rPr>
              <a:t>Padding properties do not affect the </a:t>
            </a:r>
            <a:r>
              <a:rPr lang="en-US" sz="2400" u="sng" dirty="0">
                <a:solidFill>
                  <a:schemeClr val="bg1"/>
                </a:solidFill>
              </a:rPr>
              <a:t>position of background elements</a:t>
            </a:r>
            <a:r>
              <a:rPr lang="en-US" sz="2400" dirty="0">
                <a:solidFill>
                  <a:schemeClr val="bg1"/>
                </a:solidFill>
              </a:rPr>
              <a:t> (graphics and/or </a:t>
            </a:r>
            <a:r>
              <a:rPr lang="en-US" sz="2400" dirty="0" err="1">
                <a:solidFill>
                  <a:schemeClr val="bg1"/>
                </a:solidFill>
              </a:rPr>
              <a:t>colours</a:t>
            </a:r>
            <a:r>
              <a:rPr lang="en-US" sz="2400" dirty="0">
                <a:solidFill>
                  <a:schemeClr val="bg1"/>
                </a:solidFill>
              </a:rPr>
              <a:t>) in the containing block element; only the position of content.</a:t>
            </a:r>
          </a:p>
          <a:p>
            <a:r>
              <a:rPr lang="en-US" sz="2400" dirty="0">
                <a:solidFill>
                  <a:schemeClr val="bg1"/>
                </a:solidFill>
              </a:rPr>
              <a:t>Padding properties can be defined independently on top, right, bottom and left, or all-at-once using CSS shorthand</a:t>
            </a:r>
          </a:p>
        </p:txBody>
      </p:sp>
    </p:spTree>
    <p:extLst>
      <p:ext uri="{BB962C8B-B14F-4D97-AF65-F5344CB8AC3E}">
        <p14:creationId xmlns:p14="http://schemas.microsoft.com/office/powerpoint/2010/main" val="316876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00A16-B0E1-4CA8-9D8B-15F925C1970E}" type="slidenum">
              <a:rPr lang="en-US"/>
              <a:pPr/>
              <a:t>78</a:t>
            </a:fld>
            <a:endParaRPr lang="en-US"/>
          </a:p>
        </p:txBody>
      </p:sp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CSS Shorthand: Margin &amp; Padding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1"/>
            <a:ext cx="8305800" cy="5029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BB3932"/>
                </a:solidFill>
              </a14:hiddenFill>
            </a:ext>
          </a:extLst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For margin and padding (and others), CSS provides a number of shorthand properties that can save on writing lines and lines of code. Instead of writing this: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bg1"/>
                </a:solidFill>
              </a:rPr>
              <a:t>#container {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	margin-top: 0;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	margin-right: 5px;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	margin-bottom: 6px;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	margin-left: 5px;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	padding-top: 20px;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	padding-right: 10px;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	padding-bottom: 30px;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	padding-left: 12px;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238596" name="Rectangle 4"/>
          <p:cNvSpPr>
            <a:spLocks noChangeArrowheads="1"/>
          </p:cNvSpPr>
          <p:nvPr/>
        </p:nvSpPr>
        <p:spPr bwMode="auto">
          <a:xfrm>
            <a:off x="5133975" y="2857500"/>
            <a:ext cx="3714750" cy="30241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8597" name="Rectangle 5"/>
          <p:cNvSpPr>
            <a:spLocks noChangeArrowheads="1"/>
          </p:cNvSpPr>
          <p:nvPr/>
        </p:nvSpPr>
        <p:spPr bwMode="auto">
          <a:xfrm>
            <a:off x="5329238" y="2860675"/>
            <a:ext cx="3336925" cy="2740025"/>
          </a:xfrm>
          <a:prstGeom prst="rect">
            <a:avLst/>
          </a:prstGeom>
          <a:solidFill>
            <a:srgbClr val="D27B6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8598" name="Rectangle 6"/>
          <p:cNvSpPr>
            <a:spLocks noChangeArrowheads="1"/>
          </p:cNvSpPr>
          <p:nvPr/>
        </p:nvSpPr>
        <p:spPr bwMode="auto">
          <a:xfrm>
            <a:off x="5619750" y="3352800"/>
            <a:ext cx="2741613" cy="1612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8599" name="Text Box 7"/>
          <p:cNvSpPr txBox="1">
            <a:spLocks noChangeArrowheads="1"/>
          </p:cNvSpPr>
          <p:nvPr/>
        </p:nvSpPr>
        <p:spPr bwMode="auto">
          <a:xfrm>
            <a:off x="5907088" y="4008438"/>
            <a:ext cx="2152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Content Area</a:t>
            </a:r>
          </a:p>
        </p:txBody>
      </p:sp>
      <p:sp>
        <p:nvSpPr>
          <p:cNvPr id="238601" name="Text Box 9"/>
          <p:cNvSpPr txBox="1">
            <a:spLocks noChangeArrowheads="1"/>
          </p:cNvSpPr>
          <p:nvPr/>
        </p:nvSpPr>
        <p:spPr bwMode="auto">
          <a:xfrm>
            <a:off x="6634163" y="5584825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dirty="0"/>
              <a:t>6</a:t>
            </a:r>
          </a:p>
        </p:txBody>
      </p:sp>
      <p:sp>
        <p:nvSpPr>
          <p:cNvPr id="238602" name="Text Box 10"/>
          <p:cNvSpPr txBox="1">
            <a:spLocks noChangeArrowheads="1"/>
          </p:cNvSpPr>
          <p:nvPr/>
        </p:nvSpPr>
        <p:spPr bwMode="auto">
          <a:xfrm>
            <a:off x="4810125" y="4318000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5</a:t>
            </a:r>
          </a:p>
        </p:txBody>
      </p:sp>
      <p:sp>
        <p:nvSpPr>
          <p:cNvPr id="238603" name="Text Box 11"/>
          <p:cNvSpPr txBox="1">
            <a:spLocks noChangeArrowheads="1"/>
          </p:cNvSpPr>
          <p:nvPr/>
        </p:nvSpPr>
        <p:spPr bwMode="auto">
          <a:xfrm>
            <a:off x="8326438" y="4316413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5</a:t>
            </a:r>
          </a:p>
        </p:txBody>
      </p:sp>
      <p:sp>
        <p:nvSpPr>
          <p:cNvPr id="238604" name="Text Box 12"/>
          <p:cNvSpPr txBox="1">
            <a:spLocks noChangeArrowheads="1"/>
          </p:cNvSpPr>
          <p:nvPr/>
        </p:nvSpPr>
        <p:spPr bwMode="auto">
          <a:xfrm>
            <a:off x="5041900" y="4438650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238605" name="Text Box 13"/>
          <p:cNvSpPr txBox="1">
            <a:spLocks noChangeArrowheads="1"/>
          </p:cNvSpPr>
          <p:nvPr/>
        </p:nvSpPr>
        <p:spPr bwMode="auto">
          <a:xfrm>
            <a:off x="8066088" y="4437063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238606" name="Text Box 14"/>
          <p:cNvSpPr txBox="1">
            <a:spLocks noChangeArrowheads="1"/>
          </p:cNvSpPr>
          <p:nvPr/>
        </p:nvSpPr>
        <p:spPr bwMode="auto">
          <a:xfrm>
            <a:off x="6599238" y="5122863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238607" name="Text Box 15"/>
          <p:cNvSpPr txBox="1">
            <a:spLocks noChangeArrowheads="1"/>
          </p:cNvSpPr>
          <p:nvPr/>
        </p:nvSpPr>
        <p:spPr bwMode="auto">
          <a:xfrm>
            <a:off x="6624638" y="2957513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238608" name="Text Box 16"/>
          <p:cNvSpPr txBox="1">
            <a:spLocks noChangeArrowheads="1"/>
          </p:cNvSpPr>
          <p:nvPr/>
        </p:nvSpPr>
        <p:spPr bwMode="auto">
          <a:xfrm>
            <a:off x="6621463" y="2628900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84842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33F93-490E-44D5-8A4B-7C367BDD3F41}" type="slidenum">
              <a:rPr lang="en-US"/>
              <a:pPr/>
              <a:t>79</a:t>
            </a:fld>
            <a:endParaRPr lang="en-US"/>
          </a:p>
        </p:txBody>
      </p:sp>
      <p:sp>
        <p:nvSpPr>
          <p:cNvPr id="239646" name="AutoShape 30"/>
          <p:cNvSpPr>
            <a:spLocks noChangeArrowheads="1"/>
          </p:cNvSpPr>
          <p:nvPr/>
        </p:nvSpPr>
        <p:spPr bwMode="auto">
          <a:xfrm rot="-8394298">
            <a:off x="2392363" y="4322763"/>
            <a:ext cx="2273300" cy="2263775"/>
          </a:xfrm>
          <a:custGeom>
            <a:avLst/>
            <a:gdLst>
              <a:gd name="G0" fmla="+- 0 0 0"/>
              <a:gd name="G1" fmla="+- 6993775 0 0"/>
              <a:gd name="G2" fmla="+- 0 0 6993775"/>
              <a:gd name="G3" fmla="+- 10800 0 0"/>
              <a:gd name="G4" fmla="+- 0 0 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5400 0 0"/>
              <a:gd name="G9" fmla="+- 0 0 6993775"/>
              <a:gd name="G10" fmla="+- 5400 0 2700"/>
              <a:gd name="G11" fmla="cos G10 0"/>
              <a:gd name="G12" fmla="sin G10 0"/>
              <a:gd name="G13" fmla="cos 13500 0"/>
              <a:gd name="G14" fmla="sin 13500 0"/>
              <a:gd name="G15" fmla="+- G11 10800 0"/>
              <a:gd name="G16" fmla="+- G12 10800 0"/>
              <a:gd name="G17" fmla="+- G13 10800 0"/>
              <a:gd name="G18" fmla="+- G14 10800 0"/>
              <a:gd name="G19" fmla="*/ 5400 1 2"/>
              <a:gd name="G20" fmla="+- G19 5400 0"/>
              <a:gd name="G21" fmla="cos G20 0"/>
              <a:gd name="G22" fmla="sin G20 0"/>
              <a:gd name="G23" fmla="+- G21 10800 0"/>
              <a:gd name="G24" fmla="+- G12 G23 G22"/>
              <a:gd name="G25" fmla="+- G22 G23 G11"/>
              <a:gd name="G26" fmla="cos 10800 0"/>
              <a:gd name="G27" fmla="sin 10800 0"/>
              <a:gd name="G28" fmla="cos 5400 0"/>
              <a:gd name="G29" fmla="sin 5400 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6993775"/>
              <a:gd name="G36" fmla="sin G34 6993775"/>
              <a:gd name="G37" fmla="+/ 6993775 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5400 G39"/>
              <a:gd name="G43" fmla="sin 54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4354 w 21600"/>
              <a:gd name="T5" fmla="*/ 2134 h 21600"/>
              <a:gd name="T6" fmla="*/ 8470 w 21600"/>
              <a:gd name="T7" fmla="*/ 18557 h 21600"/>
              <a:gd name="T8" fmla="*/ 7577 w 21600"/>
              <a:gd name="T9" fmla="*/ 6467 h 21600"/>
              <a:gd name="T10" fmla="*/ 24300 w 21600"/>
              <a:gd name="T11" fmla="*/ 10800 h 21600"/>
              <a:gd name="T12" fmla="*/ 18900 w 21600"/>
              <a:gd name="T13" fmla="*/ 16200 h 21600"/>
              <a:gd name="T14" fmla="*/ 13500 w 21600"/>
              <a:gd name="T15" fmla="*/ 10800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6200" y="10800"/>
                </a:moveTo>
                <a:cubicBezTo>
                  <a:pt x="16200" y="7817"/>
                  <a:pt x="13782" y="5400"/>
                  <a:pt x="10800" y="5400"/>
                </a:cubicBezTo>
                <a:cubicBezTo>
                  <a:pt x="7817" y="5400"/>
                  <a:pt x="5400" y="7817"/>
                  <a:pt x="5400" y="10800"/>
                </a:cubicBezTo>
                <a:cubicBezTo>
                  <a:pt x="5399" y="13184"/>
                  <a:pt x="6963" y="15286"/>
                  <a:pt x="9246" y="15971"/>
                </a:cubicBezTo>
                <a:lnTo>
                  <a:pt x="7693" y="21143"/>
                </a:lnTo>
                <a:cubicBezTo>
                  <a:pt x="3126" y="19772"/>
                  <a:pt x="0" y="15568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4" y="-1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85800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</a:rPr>
              <a:t>CSS Shorthand: Margin &amp; Padding</a:t>
            </a:r>
          </a:p>
        </p:txBody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305800" cy="32321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…Its much easier to write this: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bg1"/>
                </a:solidFill>
              </a:rPr>
              <a:t>#container {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	padding: 20px 10px 30px 12px;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	margin: 0px 5px 6px 5px;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}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The sequence order is always </a:t>
            </a:r>
            <a:br>
              <a:rPr lang="en-US" sz="2400" dirty="0"/>
            </a:br>
            <a:r>
              <a:rPr lang="en-US" sz="2400" u="sng" dirty="0"/>
              <a:t>clockwise</a:t>
            </a:r>
            <a:r>
              <a:rPr lang="en-US" sz="2400" dirty="0"/>
              <a:t>, starting from the top</a:t>
            </a:r>
          </a:p>
        </p:txBody>
      </p:sp>
      <p:grpSp>
        <p:nvGrpSpPr>
          <p:cNvPr id="239633" name="Group 17"/>
          <p:cNvGrpSpPr>
            <a:grpSpLocks/>
          </p:cNvGrpSpPr>
          <p:nvPr/>
        </p:nvGrpSpPr>
        <p:grpSpPr bwMode="auto">
          <a:xfrm>
            <a:off x="4802188" y="2684463"/>
            <a:ext cx="4373562" cy="3260725"/>
            <a:chOff x="3025" y="1691"/>
            <a:chExt cx="2755" cy="2054"/>
          </a:xfrm>
        </p:grpSpPr>
        <p:sp>
          <p:nvSpPr>
            <p:cNvPr id="239620" name="Rectangle 4"/>
            <p:cNvSpPr>
              <a:spLocks noChangeArrowheads="1"/>
            </p:cNvSpPr>
            <p:nvPr/>
          </p:nvSpPr>
          <p:spPr bwMode="auto">
            <a:xfrm>
              <a:off x="3229" y="1835"/>
              <a:ext cx="2340" cy="1905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9621" name="Rectangle 5"/>
            <p:cNvSpPr>
              <a:spLocks noChangeArrowheads="1"/>
            </p:cNvSpPr>
            <p:nvPr/>
          </p:nvSpPr>
          <p:spPr bwMode="auto">
            <a:xfrm>
              <a:off x="3352" y="1837"/>
              <a:ext cx="2102" cy="1726"/>
            </a:xfrm>
            <a:prstGeom prst="rect">
              <a:avLst/>
            </a:prstGeom>
            <a:solidFill>
              <a:srgbClr val="D27B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9622" name="Rectangle 6"/>
            <p:cNvSpPr>
              <a:spLocks noChangeArrowheads="1"/>
            </p:cNvSpPr>
            <p:nvPr/>
          </p:nvSpPr>
          <p:spPr bwMode="auto">
            <a:xfrm>
              <a:off x="3535" y="2147"/>
              <a:ext cx="1727" cy="10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9623" name="Text Box 7"/>
            <p:cNvSpPr txBox="1">
              <a:spLocks noChangeArrowheads="1"/>
            </p:cNvSpPr>
            <p:nvPr/>
          </p:nvSpPr>
          <p:spPr bwMode="auto">
            <a:xfrm>
              <a:off x="3716" y="2560"/>
              <a:ext cx="135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/>
                <a:t>Content Area</a:t>
              </a:r>
            </a:p>
          </p:txBody>
        </p:sp>
        <p:sp>
          <p:nvSpPr>
            <p:cNvPr id="239624" name="Text Box 8"/>
            <p:cNvSpPr txBox="1">
              <a:spLocks noChangeArrowheads="1"/>
            </p:cNvSpPr>
            <p:nvPr/>
          </p:nvSpPr>
          <p:spPr bwMode="auto">
            <a:xfrm>
              <a:off x="4174" y="3553"/>
              <a:ext cx="5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/>
                <a:t>6</a:t>
              </a:r>
            </a:p>
          </p:txBody>
        </p:sp>
        <p:sp>
          <p:nvSpPr>
            <p:cNvPr id="239625" name="Text Box 9"/>
            <p:cNvSpPr txBox="1">
              <a:spLocks noChangeArrowheads="1"/>
            </p:cNvSpPr>
            <p:nvPr/>
          </p:nvSpPr>
          <p:spPr bwMode="auto">
            <a:xfrm>
              <a:off x="3025" y="2755"/>
              <a:ext cx="5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/>
                <a:t>5</a:t>
              </a:r>
            </a:p>
          </p:txBody>
        </p:sp>
        <p:sp>
          <p:nvSpPr>
            <p:cNvPr id="239626" name="Text Box 10"/>
            <p:cNvSpPr txBox="1">
              <a:spLocks noChangeArrowheads="1"/>
            </p:cNvSpPr>
            <p:nvPr/>
          </p:nvSpPr>
          <p:spPr bwMode="auto">
            <a:xfrm>
              <a:off x="5240" y="2754"/>
              <a:ext cx="5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/>
                <a:t>5</a:t>
              </a:r>
            </a:p>
          </p:txBody>
        </p:sp>
        <p:sp>
          <p:nvSpPr>
            <p:cNvPr id="239627" name="Text Box 11"/>
            <p:cNvSpPr txBox="1">
              <a:spLocks noChangeArrowheads="1"/>
            </p:cNvSpPr>
            <p:nvPr/>
          </p:nvSpPr>
          <p:spPr bwMode="auto">
            <a:xfrm>
              <a:off x="3171" y="2831"/>
              <a:ext cx="5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>
                  <a:solidFill>
                    <a:schemeClr val="bg1"/>
                  </a:solidFill>
                </a:rPr>
                <a:t>12</a:t>
              </a:r>
            </a:p>
          </p:txBody>
        </p:sp>
        <p:sp>
          <p:nvSpPr>
            <p:cNvPr id="239628" name="Text Box 12"/>
            <p:cNvSpPr txBox="1">
              <a:spLocks noChangeArrowheads="1"/>
            </p:cNvSpPr>
            <p:nvPr/>
          </p:nvSpPr>
          <p:spPr bwMode="auto">
            <a:xfrm>
              <a:off x="5076" y="2830"/>
              <a:ext cx="5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239629" name="Text Box 13"/>
            <p:cNvSpPr txBox="1">
              <a:spLocks noChangeArrowheads="1"/>
            </p:cNvSpPr>
            <p:nvPr/>
          </p:nvSpPr>
          <p:spPr bwMode="auto">
            <a:xfrm>
              <a:off x="4152" y="3262"/>
              <a:ext cx="5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>
                  <a:solidFill>
                    <a:schemeClr val="bg1"/>
                  </a:solidFill>
                </a:rPr>
                <a:t>30</a:t>
              </a:r>
            </a:p>
          </p:txBody>
        </p:sp>
        <p:sp>
          <p:nvSpPr>
            <p:cNvPr id="239630" name="Text Box 14"/>
            <p:cNvSpPr txBox="1">
              <a:spLocks noChangeArrowheads="1"/>
            </p:cNvSpPr>
            <p:nvPr/>
          </p:nvSpPr>
          <p:spPr bwMode="auto">
            <a:xfrm>
              <a:off x="4168" y="1898"/>
              <a:ext cx="5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>
                  <a:solidFill>
                    <a:schemeClr val="bg1"/>
                  </a:solidFill>
                </a:rPr>
                <a:t>20</a:t>
              </a:r>
            </a:p>
          </p:txBody>
        </p:sp>
        <p:sp>
          <p:nvSpPr>
            <p:cNvPr id="239631" name="Text Box 15"/>
            <p:cNvSpPr txBox="1">
              <a:spLocks noChangeArrowheads="1"/>
            </p:cNvSpPr>
            <p:nvPr/>
          </p:nvSpPr>
          <p:spPr bwMode="auto">
            <a:xfrm>
              <a:off x="4166" y="1691"/>
              <a:ext cx="5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/>
                <a:t>0</a:t>
              </a:r>
            </a:p>
          </p:txBody>
        </p:sp>
      </p:grpSp>
      <p:grpSp>
        <p:nvGrpSpPr>
          <p:cNvPr id="239639" name="Group 23"/>
          <p:cNvGrpSpPr>
            <a:grpSpLocks/>
          </p:cNvGrpSpPr>
          <p:nvPr/>
        </p:nvGrpSpPr>
        <p:grpSpPr bwMode="auto">
          <a:xfrm>
            <a:off x="5254625" y="3095625"/>
            <a:ext cx="3444875" cy="2682875"/>
            <a:chOff x="3310" y="1950"/>
            <a:chExt cx="2170" cy="1690"/>
          </a:xfrm>
        </p:grpSpPr>
        <p:sp>
          <p:nvSpPr>
            <p:cNvPr id="239634" name="Arc 18"/>
            <p:cNvSpPr>
              <a:spLocks/>
            </p:cNvSpPr>
            <p:nvPr/>
          </p:nvSpPr>
          <p:spPr bwMode="auto">
            <a:xfrm>
              <a:off x="4635" y="1950"/>
              <a:ext cx="845" cy="76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444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9636" name="Arc 20"/>
            <p:cNvSpPr>
              <a:spLocks/>
            </p:cNvSpPr>
            <p:nvPr/>
          </p:nvSpPr>
          <p:spPr bwMode="auto">
            <a:xfrm flipH="1">
              <a:off x="3310" y="1950"/>
              <a:ext cx="980" cy="75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444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9637" name="Arc 21"/>
            <p:cNvSpPr>
              <a:spLocks/>
            </p:cNvSpPr>
            <p:nvPr/>
          </p:nvSpPr>
          <p:spPr bwMode="auto">
            <a:xfrm flipH="1" flipV="1">
              <a:off x="3310" y="2960"/>
              <a:ext cx="1035" cy="67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444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9638" name="Arc 22"/>
            <p:cNvSpPr>
              <a:spLocks/>
            </p:cNvSpPr>
            <p:nvPr/>
          </p:nvSpPr>
          <p:spPr bwMode="auto">
            <a:xfrm flipV="1">
              <a:off x="4580" y="3005"/>
              <a:ext cx="885" cy="63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444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9647" name="Group 31"/>
          <p:cNvGrpSpPr>
            <a:grpSpLocks/>
          </p:cNvGrpSpPr>
          <p:nvPr/>
        </p:nvGrpSpPr>
        <p:grpSpPr bwMode="auto">
          <a:xfrm>
            <a:off x="2936875" y="4889500"/>
            <a:ext cx="1182688" cy="1182688"/>
            <a:chOff x="1730" y="2985"/>
            <a:chExt cx="990" cy="990"/>
          </a:xfrm>
        </p:grpSpPr>
        <p:sp>
          <p:nvSpPr>
            <p:cNvPr id="239640" name="Oval 24"/>
            <p:cNvSpPr>
              <a:spLocks noChangeArrowheads="1"/>
            </p:cNvSpPr>
            <p:nvPr/>
          </p:nvSpPr>
          <p:spPr bwMode="auto">
            <a:xfrm>
              <a:off x="1730" y="2985"/>
              <a:ext cx="990" cy="99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>
              <a:outerShdw blurRad="137160" dist="35921" dir="2700000" algn="ctr" rotWithShape="0">
                <a:srgbClr val="808080">
                  <a:alpha val="46001"/>
                </a:srgb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9641" name="Line 25"/>
            <p:cNvSpPr>
              <a:spLocks noChangeShapeType="1"/>
            </p:cNvSpPr>
            <p:nvPr/>
          </p:nvSpPr>
          <p:spPr bwMode="auto">
            <a:xfrm>
              <a:off x="1965" y="3270"/>
              <a:ext cx="26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>
              <a:outerShdw blurRad="137160" dist="35921" dir="2700000" algn="ctr" rotWithShape="0">
                <a:srgbClr val="808080">
                  <a:alpha val="46001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9642" name="Line 26"/>
            <p:cNvSpPr>
              <a:spLocks noChangeShapeType="1"/>
            </p:cNvSpPr>
            <p:nvPr/>
          </p:nvSpPr>
          <p:spPr bwMode="auto">
            <a:xfrm flipH="1">
              <a:off x="2220" y="3215"/>
              <a:ext cx="290" cy="29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>
              <a:outerShdw blurRad="137160" dist="35921" dir="2700000" algn="ctr" rotWithShape="0">
                <a:srgbClr val="808080">
                  <a:alpha val="46001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5774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95F4-3B1E-4601-8AB3-C5D581B42058}" type="slidenum">
              <a:rPr lang="en-US"/>
              <a:pPr/>
              <a:t>80</a:t>
            </a:fld>
            <a:endParaRPr lang="en-US"/>
          </a:p>
        </p:txBody>
      </p:sp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bg1"/>
                </a:solidFill>
              </a:rPr>
              <a:t>CSS Shorthand: Margin and Padding</a:t>
            </a:r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305800" cy="3568700"/>
          </a:xfrm>
        </p:spPr>
        <p:txBody>
          <a:bodyPr/>
          <a:lstStyle/>
          <a:p>
            <a:r>
              <a:rPr lang="en-US" dirty="0"/>
              <a:t>You can also apply just </a:t>
            </a:r>
            <a:r>
              <a:rPr lang="en-US" u="sng" dirty="0"/>
              <a:t>one</a:t>
            </a:r>
            <a:r>
              <a:rPr lang="en-US" dirty="0"/>
              <a:t> value, example:</a:t>
            </a:r>
          </a:p>
          <a:p>
            <a:r>
              <a:rPr lang="en-US" sz="2400" dirty="0">
                <a:solidFill>
                  <a:schemeClr val="bg1"/>
                </a:solidFill>
              </a:rPr>
              <a:t>#container {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	padding: 20px;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	margin: 5px;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}</a:t>
            </a:r>
          </a:p>
          <a:p>
            <a:r>
              <a:rPr lang="en-US" sz="2400" dirty="0"/>
              <a:t>Which will apply the value </a:t>
            </a:r>
            <a:br>
              <a:rPr lang="en-US" sz="2400" dirty="0"/>
            </a:br>
            <a:r>
              <a:rPr lang="en-US" sz="2400" dirty="0"/>
              <a:t>specified equally on all 4 sides</a:t>
            </a:r>
          </a:p>
        </p:txBody>
      </p:sp>
      <p:sp>
        <p:nvSpPr>
          <p:cNvPr id="240644" name="Rectangle 4"/>
          <p:cNvSpPr>
            <a:spLocks noChangeArrowheads="1"/>
          </p:cNvSpPr>
          <p:nvPr/>
        </p:nvSpPr>
        <p:spPr bwMode="auto">
          <a:xfrm>
            <a:off x="5094288" y="2468563"/>
            <a:ext cx="3714750" cy="311943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0645" name="Rectangle 5"/>
          <p:cNvSpPr>
            <a:spLocks noChangeArrowheads="1"/>
          </p:cNvSpPr>
          <p:nvPr/>
        </p:nvSpPr>
        <p:spPr bwMode="auto">
          <a:xfrm>
            <a:off x="5283200" y="2657475"/>
            <a:ext cx="3336925" cy="2740025"/>
          </a:xfrm>
          <a:prstGeom prst="rect">
            <a:avLst/>
          </a:prstGeom>
          <a:solidFill>
            <a:srgbClr val="D27B6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0646" name="Rectangle 6"/>
          <p:cNvSpPr>
            <a:spLocks noChangeArrowheads="1"/>
          </p:cNvSpPr>
          <p:nvPr/>
        </p:nvSpPr>
        <p:spPr bwMode="auto">
          <a:xfrm>
            <a:off x="5775325" y="3157538"/>
            <a:ext cx="2352675" cy="1739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0647" name="Text Box 7"/>
          <p:cNvSpPr txBox="1">
            <a:spLocks noChangeArrowheads="1"/>
          </p:cNvSpPr>
          <p:nvPr/>
        </p:nvSpPr>
        <p:spPr bwMode="auto">
          <a:xfrm>
            <a:off x="5883275" y="3865563"/>
            <a:ext cx="2152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Content Area</a:t>
            </a:r>
          </a:p>
        </p:txBody>
      </p:sp>
      <p:sp>
        <p:nvSpPr>
          <p:cNvPr id="240648" name="Text Box 8"/>
          <p:cNvSpPr txBox="1">
            <a:spLocks noChangeArrowheads="1"/>
          </p:cNvSpPr>
          <p:nvPr/>
        </p:nvSpPr>
        <p:spPr bwMode="auto">
          <a:xfrm>
            <a:off x="6594475" y="5314950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5</a:t>
            </a:r>
          </a:p>
        </p:txBody>
      </p:sp>
      <p:sp>
        <p:nvSpPr>
          <p:cNvPr id="240649" name="Text Box 9"/>
          <p:cNvSpPr txBox="1">
            <a:spLocks noChangeArrowheads="1"/>
          </p:cNvSpPr>
          <p:nvPr/>
        </p:nvSpPr>
        <p:spPr bwMode="auto">
          <a:xfrm>
            <a:off x="4770438" y="3976688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5</a:t>
            </a:r>
          </a:p>
        </p:txBody>
      </p:sp>
      <p:sp>
        <p:nvSpPr>
          <p:cNvPr id="240650" name="Text Box 10"/>
          <p:cNvSpPr txBox="1">
            <a:spLocks noChangeArrowheads="1"/>
          </p:cNvSpPr>
          <p:nvPr/>
        </p:nvSpPr>
        <p:spPr bwMode="auto">
          <a:xfrm>
            <a:off x="8286750" y="3975100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5</a:t>
            </a:r>
          </a:p>
        </p:txBody>
      </p:sp>
      <p:sp>
        <p:nvSpPr>
          <p:cNvPr id="240651" name="Text Box 11"/>
          <p:cNvSpPr txBox="1">
            <a:spLocks noChangeArrowheads="1"/>
          </p:cNvSpPr>
          <p:nvPr/>
        </p:nvSpPr>
        <p:spPr bwMode="auto">
          <a:xfrm>
            <a:off x="5097463" y="4097338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240652" name="Text Box 12"/>
          <p:cNvSpPr txBox="1">
            <a:spLocks noChangeArrowheads="1"/>
          </p:cNvSpPr>
          <p:nvPr/>
        </p:nvSpPr>
        <p:spPr bwMode="auto">
          <a:xfrm>
            <a:off x="7954963" y="4095750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240653" name="Text Box 13"/>
          <p:cNvSpPr txBox="1">
            <a:spLocks noChangeArrowheads="1"/>
          </p:cNvSpPr>
          <p:nvPr/>
        </p:nvSpPr>
        <p:spPr bwMode="auto">
          <a:xfrm>
            <a:off x="6559550" y="4964113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240654" name="Text Box 14"/>
          <p:cNvSpPr txBox="1">
            <a:spLocks noChangeArrowheads="1"/>
          </p:cNvSpPr>
          <p:nvPr/>
        </p:nvSpPr>
        <p:spPr bwMode="auto">
          <a:xfrm>
            <a:off x="6584950" y="2735263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240655" name="Text Box 15"/>
          <p:cNvSpPr txBox="1">
            <a:spLocks noChangeArrowheads="1"/>
          </p:cNvSpPr>
          <p:nvPr/>
        </p:nvSpPr>
        <p:spPr bwMode="auto">
          <a:xfrm>
            <a:off x="6581775" y="2422525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77961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6D28-BF46-48DD-9FE2-C847F6C13F27}" type="slidenum">
              <a:rPr lang="en-US"/>
              <a:pPr/>
              <a:t>81</a:t>
            </a:fld>
            <a:endParaRPr lang="en-US"/>
          </a:p>
        </p:txBody>
      </p:sp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CSS Shorthand: Margin and Padding</a:t>
            </a:r>
          </a:p>
        </p:txBody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305800" cy="4627563"/>
          </a:xfrm>
        </p:spPr>
        <p:txBody>
          <a:bodyPr/>
          <a:lstStyle/>
          <a:p>
            <a:r>
              <a:rPr lang="en-US" dirty="0"/>
              <a:t>And you can apply </a:t>
            </a:r>
            <a:r>
              <a:rPr lang="en-US" u="sng" dirty="0"/>
              <a:t>two</a:t>
            </a:r>
            <a:r>
              <a:rPr lang="en-US" dirty="0"/>
              <a:t> values, example:</a:t>
            </a:r>
          </a:p>
          <a:p>
            <a:r>
              <a:rPr lang="en-US" sz="2400" dirty="0">
                <a:solidFill>
                  <a:schemeClr val="bg1"/>
                </a:solidFill>
              </a:rPr>
              <a:t>#container {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	padding: 10px 20px;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	margin: 0px 5px;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}</a:t>
            </a:r>
          </a:p>
          <a:p>
            <a:r>
              <a:rPr lang="en-US" sz="2400" dirty="0"/>
              <a:t>The first value is applied to </a:t>
            </a:r>
            <a:br>
              <a:rPr lang="en-US" sz="2400" dirty="0"/>
            </a:br>
            <a:r>
              <a:rPr lang="en-US" sz="2400" dirty="0"/>
              <a:t>the top and bottom</a:t>
            </a:r>
          </a:p>
          <a:p>
            <a:r>
              <a:rPr lang="en-US" sz="2400" dirty="0"/>
              <a:t>The second value is applied to</a:t>
            </a:r>
            <a:br>
              <a:rPr lang="en-US" sz="2400" dirty="0"/>
            </a:br>
            <a:r>
              <a:rPr lang="en-US" sz="2400" dirty="0"/>
              <a:t>the left and right</a:t>
            </a:r>
          </a:p>
        </p:txBody>
      </p:sp>
      <p:sp>
        <p:nvSpPr>
          <p:cNvPr id="241668" name="Rectangle 4"/>
          <p:cNvSpPr>
            <a:spLocks noChangeArrowheads="1"/>
          </p:cNvSpPr>
          <p:nvPr/>
        </p:nvSpPr>
        <p:spPr bwMode="auto">
          <a:xfrm>
            <a:off x="5094288" y="2651125"/>
            <a:ext cx="3714750" cy="275431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1669" name="Rectangle 5"/>
          <p:cNvSpPr>
            <a:spLocks noChangeArrowheads="1"/>
          </p:cNvSpPr>
          <p:nvPr/>
        </p:nvSpPr>
        <p:spPr bwMode="auto">
          <a:xfrm>
            <a:off x="5283200" y="2657475"/>
            <a:ext cx="3336925" cy="2740025"/>
          </a:xfrm>
          <a:prstGeom prst="rect">
            <a:avLst/>
          </a:prstGeom>
          <a:solidFill>
            <a:srgbClr val="D27B6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1670" name="Rectangle 6"/>
          <p:cNvSpPr>
            <a:spLocks noChangeArrowheads="1"/>
          </p:cNvSpPr>
          <p:nvPr/>
        </p:nvSpPr>
        <p:spPr bwMode="auto">
          <a:xfrm>
            <a:off x="5775325" y="2990850"/>
            <a:ext cx="2352675" cy="2057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1671" name="Text Box 7"/>
          <p:cNvSpPr txBox="1">
            <a:spLocks noChangeArrowheads="1"/>
          </p:cNvSpPr>
          <p:nvPr/>
        </p:nvSpPr>
        <p:spPr bwMode="auto">
          <a:xfrm>
            <a:off x="5883275" y="3865563"/>
            <a:ext cx="2152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Content Area</a:t>
            </a:r>
          </a:p>
        </p:txBody>
      </p:sp>
      <p:sp>
        <p:nvSpPr>
          <p:cNvPr id="241672" name="Text Box 8"/>
          <p:cNvSpPr txBox="1">
            <a:spLocks noChangeArrowheads="1"/>
          </p:cNvSpPr>
          <p:nvPr/>
        </p:nvSpPr>
        <p:spPr bwMode="auto">
          <a:xfrm>
            <a:off x="6594475" y="5346700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0</a:t>
            </a:r>
          </a:p>
        </p:txBody>
      </p:sp>
      <p:sp>
        <p:nvSpPr>
          <p:cNvPr id="241673" name="Text Box 9"/>
          <p:cNvSpPr txBox="1">
            <a:spLocks noChangeArrowheads="1"/>
          </p:cNvSpPr>
          <p:nvPr/>
        </p:nvSpPr>
        <p:spPr bwMode="auto">
          <a:xfrm>
            <a:off x="4770438" y="3976688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5</a:t>
            </a:r>
          </a:p>
        </p:txBody>
      </p:sp>
      <p:sp>
        <p:nvSpPr>
          <p:cNvPr id="241674" name="Text Box 10"/>
          <p:cNvSpPr txBox="1">
            <a:spLocks noChangeArrowheads="1"/>
          </p:cNvSpPr>
          <p:nvPr/>
        </p:nvSpPr>
        <p:spPr bwMode="auto">
          <a:xfrm>
            <a:off x="8286750" y="3975100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5</a:t>
            </a:r>
          </a:p>
        </p:txBody>
      </p:sp>
      <p:sp>
        <p:nvSpPr>
          <p:cNvPr id="241675" name="Text Box 11"/>
          <p:cNvSpPr txBox="1">
            <a:spLocks noChangeArrowheads="1"/>
          </p:cNvSpPr>
          <p:nvPr/>
        </p:nvSpPr>
        <p:spPr bwMode="auto">
          <a:xfrm>
            <a:off x="5097463" y="4097338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241676" name="Text Box 12"/>
          <p:cNvSpPr txBox="1">
            <a:spLocks noChangeArrowheads="1"/>
          </p:cNvSpPr>
          <p:nvPr/>
        </p:nvSpPr>
        <p:spPr bwMode="auto">
          <a:xfrm>
            <a:off x="7954963" y="4095750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241677" name="Text Box 13"/>
          <p:cNvSpPr txBox="1">
            <a:spLocks noChangeArrowheads="1"/>
          </p:cNvSpPr>
          <p:nvPr/>
        </p:nvSpPr>
        <p:spPr bwMode="auto">
          <a:xfrm>
            <a:off x="6559550" y="5067300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241678" name="Text Box 14"/>
          <p:cNvSpPr txBox="1">
            <a:spLocks noChangeArrowheads="1"/>
          </p:cNvSpPr>
          <p:nvPr/>
        </p:nvSpPr>
        <p:spPr bwMode="auto">
          <a:xfrm>
            <a:off x="6584950" y="2679700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241679" name="Text Box 15"/>
          <p:cNvSpPr txBox="1">
            <a:spLocks noChangeArrowheads="1"/>
          </p:cNvSpPr>
          <p:nvPr/>
        </p:nvSpPr>
        <p:spPr bwMode="auto">
          <a:xfrm>
            <a:off x="6581775" y="2414588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021555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EB38-2307-46C2-86BA-D19BAAAA86E1}" type="slidenum">
              <a:rPr lang="en-US"/>
              <a:pPr/>
              <a:t>82</a:t>
            </a:fld>
            <a:endParaRPr lang="en-US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533400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CSS Shorthand: Margin and Padding: auto</a:t>
            </a:r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305800" cy="4773613"/>
          </a:xfrm>
        </p:spPr>
        <p:txBody>
          <a:bodyPr/>
          <a:lstStyle/>
          <a:p>
            <a:r>
              <a:rPr lang="en-US" dirty="0"/>
              <a:t>A useful value to remember is ‘</a:t>
            </a:r>
            <a:r>
              <a:rPr lang="en-US" u="sng" dirty="0"/>
              <a:t>auto</a:t>
            </a:r>
            <a:r>
              <a:rPr lang="en-US" dirty="0"/>
              <a:t>’:</a:t>
            </a:r>
          </a:p>
          <a:p>
            <a:r>
              <a:rPr lang="en-US" sz="2400" dirty="0">
                <a:solidFill>
                  <a:schemeClr val="bg1"/>
                </a:solidFill>
              </a:rPr>
              <a:t>#container {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	padding: 10px 20px;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	margin: 0px auto;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}</a:t>
            </a:r>
          </a:p>
          <a:p>
            <a:r>
              <a:rPr lang="en-US" sz="2400" dirty="0"/>
              <a:t>Usually applied to the left &amp;</a:t>
            </a:r>
            <a:br>
              <a:rPr lang="en-US" sz="2400" dirty="0"/>
            </a:br>
            <a:r>
              <a:rPr lang="en-US" sz="2400" dirty="0"/>
              <a:t>right areas of the margin</a:t>
            </a:r>
            <a:br>
              <a:rPr lang="en-US" sz="2400" dirty="0"/>
            </a:br>
            <a:r>
              <a:rPr lang="en-US" sz="2400" dirty="0"/>
              <a:t>property, </a:t>
            </a:r>
            <a:r>
              <a:rPr lang="en-US" sz="2400" u="sng" dirty="0"/>
              <a:t>auto</a:t>
            </a:r>
            <a:r>
              <a:rPr lang="en-US" sz="2400" dirty="0"/>
              <a:t> is useful for </a:t>
            </a:r>
            <a:br>
              <a:rPr lang="en-US" sz="2400" dirty="0"/>
            </a:br>
            <a:r>
              <a:rPr lang="en-US" sz="2400" dirty="0"/>
              <a:t>centering a block container</a:t>
            </a:r>
            <a:br>
              <a:rPr lang="en-US" sz="2400" dirty="0"/>
            </a:br>
            <a:r>
              <a:rPr lang="en-US" sz="2400" dirty="0"/>
              <a:t>element in the browser window</a:t>
            </a:r>
          </a:p>
        </p:txBody>
      </p:sp>
      <p:sp>
        <p:nvSpPr>
          <p:cNvPr id="242692" name="Rectangle 4"/>
          <p:cNvSpPr>
            <a:spLocks noChangeArrowheads="1"/>
          </p:cNvSpPr>
          <p:nvPr/>
        </p:nvSpPr>
        <p:spPr bwMode="auto">
          <a:xfrm>
            <a:off x="4879975" y="2651125"/>
            <a:ext cx="4119563" cy="275431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2693" name="Rectangle 5"/>
          <p:cNvSpPr>
            <a:spLocks noChangeArrowheads="1"/>
          </p:cNvSpPr>
          <p:nvPr/>
        </p:nvSpPr>
        <p:spPr bwMode="auto">
          <a:xfrm>
            <a:off x="5283200" y="2657475"/>
            <a:ext cx="3336925" cy="2740025"/>
          </a:xfrm>
          <a:prstGeom prst="rect">
            <a:avLst/>
          </a:prstGeom>
          <a:solidFill>
            <a:srgbClr val="D27B6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2694" name="Rectangle 6"/>
          <p:cNvSpPr>
            <a:spLocks noChangeArrowheads="1"/>
          </p:cNvSpPr>
          <p:nvPr/>
        </p:nvSpPr>
        <p:spPr bwMode="auto">
          <a:xfrm>
            <a:off x="5775325" y="2990850"/>
            <a:ext cx="2352675" cy="2057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2695" name="Text Box 7"/>
          <p:cNvSpPr txBox="1">
            <a:spLocks noChangeArrowheads="1"/>
          </p:cNvSpPr>
          <p:nvPr/>
        </p:nvSpPr>
        <p:spPr bwMode="auto">
          <a:xfrm>
            <a:off x="5883275" y="3865563"/>
            <a:ext cx="2152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Content Area</a:t>
            </a:r>
          </a:p>
        </p:txBody>
      </p:sp>
      <p:sp>
        <p:nvSpPr>
          <p:cNvPr id="242696" name="Text Box 8"/>
          <p:cNvSpPr txBox="1">
            <a:spLocks noChangeArrowheads="1"/>
          </p:cNvSpPr>
          <p:nvPr/>
        </p:nvSpPr>
        <p:spPr bwMode="auto">
          <a:xfrm>
            <a:off x="6594475" y="5346700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0</a:t>
            </a:r>
          </a:p>
        </p:txBody>
      </p:sp>
      <p:sp>
        <p:nvSpPr>
          <p:cNvPr id="242697" name="Text Box 9"/>
          <p:cNvSpPr txBox="1">
            <a:spLocks noChangeArrowheads="1"/>
          </p:cNvSpPr>
          <p:nvPr/>
        </p:nvSpPr>
        <p:spPr bwMode="auto">
          <a:xfrm>
            <a:off x="4659313" y="3952875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auto</a:t>
            </a:r>
          </a:p>
        </p:txBody>
      </p:sp>
      <p:sp>
        <p:nvSpPr>
          <p:cNvPr id="242698" name="Text Box 10"/>
          <p:cNvSpPr txBox="1">
            <a:spLocks noChangeArrowheads="1"/>
          </p:cNvSpPr>
          <p:nvPr/>
        </p:nvSpPr>
        <p:spPr bwMode="auto">
          <a:xfrm>
            <a:off x="8382000" y="3959225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auto</a:t>
            </a:r>
          </a:p>
        </p:txBody>
      </p:sp>
      <p:sp>
        <p:nvSpPr>
          <p:cNvPr id="242699" name="Text Box 11"/>
          <p:cNvSpPr txBox="1">
            <a:spLocks noChangeArrowheads="1"/>
          </p:cNvSpPr>
          <p:nvPr/>
        </p:nvSpPr>
        <p:spPr bwMode="auto">
          <a:xfrm>
            <a:off x="5097463" y="4097338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242700" name="Text Box 12"/>
          <p:cNvSpPr txBox="1">
            <a:spLocks noChangeArrowheads="1"/>
          </p:cNvSpPr>
          <p:nvPr/>
        </p:nvSpPr>
        <p:spPr bwMode="auto">
          <a:xfrm>
            <a:off x="7954963" y="4095750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242701" name="Text Box 13"/>
          <p:cNvSpPr txBox="1">
            <a:spLocks noChangeArrowheads="1"/>
          </p:cNvSpPr>
          <p:nvPr/>
        </p:nvSpPr>
        <p:spPr bwMode="auto">
          <a:xfrm>
            <a:off x="6559550" y="5067300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242702" name="Text Box 14"/>
          <p:cNvSpPr txBox="1">
            <a:spLocks noChangeArrowheads="1"/>
          </p:cNvSpPr>
          <p:nvPr/>
        </p:nvSpPr>
        <p:spPr bwMode="auto">
          <a:xfrm>
            <a:off x="6584950" y="2679700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242703" name="Text Box 15"/>
          <p:cNvSpPr txBox="1">
            <a:spLocks noChangeArrowheads="1"/>
          </p:cNvSpPr>
          <p:nvPr/>
        </p:nvSpPr>
        <p:spPr bwMode="auto">
          <a:xfrm>
            <a:off x="6581775" y="2414588"/>
            <a:ext cx="8572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0</a:t>
            </a:r>
          </a:p>
        </p:txBody>
      </p:sp>
      <p:sp>
        <p:nvSpPr>
          <p:cNvPr id="242704" name="Line 16"/>
          <p:cNvSpPr>
            <a:spLocks noChangeShapeType="1"/>
          </p:cNvSpPr>
          <p:nvPr/>
        </p:nvSpPr>
        <p:spPr bwMode="auto">
          <a:xfrm>
            <a:off x="4818063" y="2643188"/>
            <a:ext cx="0" cy="276225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2705" name="Line 17"/>
          <p:cNvSpPr>
            <a:spLocks noChangeShapeType="1"/>
          </p:cNvSpPr>
          <p:nvPr/>
        </p:nvSpPr>
        <p:spPr bwMode="auto">
          <a:xfrm>
            <a:off x="4962525" y="2652713"/>
            <a:ext cx="0" cy="276225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2706" name="Line 18"/>
          <p:cNvSpPr>
            <a:spLocks noChangeShapeType="1"/>
          </p:cNvSpPr>
          <p:nvPr/>
        </p:nvSpPr>
        <p:spPr bwMode="auto">
          <a:xfrm>
            <a:off x="8912225" y="2644775"/>
            <a:ext cx="0" cy="276225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2707" name="Line 19"/>
          <p:cNvSpPr>
            <a:spLocks noChangeShapeType="1"/>
          </p:cNvSpPr>
          <p:nvPr/>
        </p:nvSpPr>
        <p:spPr bwMode="auto">
          <a:xfrm>
            <a:off x="9056688" y="2654300"/>
            <a:ext cx="0" cy="276225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401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3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6858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chemeClr val="bg1"/>
                </a:solidFill>
              </a:rPr>
              <a:t>{ Background:</a:t>
            </a:r>
          </a:p>
        </p:txBody>
      </p:sp>
      <p:sp>
        <p:nvSpPr>
          <p:cNvPr id="26627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775" cy="4937125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 over the background color of an element</a:t>
            </a:r>
          </a:p>
          <a:p>
            <a:pPr eaLnBrk="1" hangingPunct="1"/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set an image as the background, </a:t>
            </a:r>
          </a:p>
          <a:p>
            <a:pPr eaLnBrk="1" hangingPunct="1"/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repeat a background image</a:t>
            </a:r>
          </a:p>
        </p:txBody>
      </p:sp>
      <p:sp>
        <p:nvSpPr>
          <p:cNvPr id="26628" name="Content Placeholder 9"/>
          <p:cNvSpPr>
            <a:spLocks noGrp="1"/>
          </p:cNvSpPr>
          <p:nvPr>
            <p:ph sz="quarter" idx="2"/>
          </p:nvPr>
        </p:nvSpPr>
        <p:spPr>
          <a:xfrm>
            <a:off x="4632325" y="1216025"/>
            <a:ext cx="4041775" cy="4937125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49" charset="0"/>
              </a:rPr>
              <a:t>background-color</a:t>
            </a:r>
          </a:p>
          <a:p>
            <a:pPr lvl="1" eaLnBrk="1" hangingPunct="1"/>
            <a:r>
              <a:rPr lang="en-US" sz="2000" i="1" dirty="0" smtClean="0">
                <a:solidFill>
                  <a:schemeClr val="bg1"/>
                </a:solidFill>
                <a:latin typeface="Consolas" pitchFamily="49" charset="0"/>
              </a:rPr>
              <a:t>color-</a:t>
            </a:r>
            <a:r>
              <a:rPr lang="en-US" sz="2000" i="1" dirty="0" err="1" smtClean="0">
                <a:solidFill>
                  <a:schemeClr val="bg1"/>
                </a:solidFill>
                <a:latin typeface="Consolas" pitchFamily="49" charset="0"/>
              </a:rPr>
              <a:t>rgb</a:t>
            </a:r>
            <a:r>
              <a:rPr lang="en-US" sz="2000" i="1" dirty="0" smtClean="0">
                <a:solidFill>
                  <a:schemeClr val="bg1"/>
                </a:solidFill>
                <a:latin typeface="Consolas" pitchFamily="49" charset="0"/>
              </a:rPr>
              <a:t/>
            </a:r>
            <a:br>
              <a:rPr lang="en-US" sz="2000" i="1" dirty="0" smtClean="0">
                <a:solidFill>
                  <a:schemeClr val="bg1"/>
                </a:solidFill>
                <a:latin typeface="Consolas" pitchFamily="49" charset="0"/>
              </a:rPr>
            </a:br>
            <a:r>
              <a:rPr lang="en-US" sz="2000" i="1" dirty="0" smtClean="0">
                <a:solidFill>
                  <a:schemeClr val="bg1"/>
                </a:solidFill>
                <a:latin typeface="Consolas" pitchFamily="49" charset="0"/>
              </a:rPr>
              <a:t>color-hex</a:t>
            </a:r>
            <a:br>
              <a:rPr lang="en-US" sz="2000" i="1" dirty="0" smtClean="0">
                <a:solidFill>
                  <a:schemeClr val="bg1"/>
                </a:solidFill>
                <a:latin typeface="Consolas" pitchFamily="49" charset="0"/>
              </a:rPr>
            </a:br>
            <a:r>
              <a:rPr lang="en-US" sz="2000" i="1" dirty="0" smtClean="0">
                <a:solidFill>
                  <a:schemeClr val="bg1"/>
                </a:solidFill>
                <a:latin typeface="Consolas" pitchFamily="49" charset="0"/>
              </a:rPr>
              <a:t>color-name</a:t>
            </a:r>
          </a:p>
          <a:p>
            <a:pPr eaLnBrk="1" hangingPunct="1"/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49" charset="0"/>
              </a:rPr>
              <a:t>background-image</a:t>
            </a:r>
          </a:p>
          <a:p>
            <a:pPr lvl="1" eaLnBrk="1" hangingPunct="1"/>
            <a:r>
              <a:rPr lang="en-US" sz="2000" dirty="0" err="1" smtClean="0">
                <a:solidFill>
                  <a:schemeClr val="bg1"/>
                </a:solidFill>
                <a:latin typeface="Consolas" pitchFamily="49" charset="0"/>
              </a:rPr>
              <a:t>url</a:t>
            </a:r>
            <a:r>
              <a:rPr lang="en-US" sz="2000" dirty="0" smtClean="0">
                <a:solidFill>
                  <a:schemeClr val="bg1"/>
                </a:solidFill>
                <a:latin typeface="Consolas" pitchFamily="49" charset="0"/>
              </a:rPr>
              <a:t>(URL)</a:t>
            </a:r>
            <a:br>
              <a:rPr lang="en-US" sz="2000" dirty="0" smtClean="0">
                <a:solidFill>
                  <a:schemeClr val="bg1"/>
                </a:solidFill>
                <a:latin typeface="Consolas" pitchFamily="49" charset="0"/>
              </a:rPr>
            </a:br>
            <a:r>
              <a:rPr lang="en-US" sz="2000" dirty="0" smtClean="0">
                <a:solidFill>
                  <a:schemeClr val="bg1"/>
                </a:solidFill>
                <a:latin typeface="Consolas" pitchFamily="49" charset="0"/>
              </a:rPr>
              <a:t>none</a:t>
            </a:r>
          </a:p>
          <a:p>
            <a:pPr eaLnBrk="1" hangingPunct="1"/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itchFamily="49" charset="0"/>
              </a:rPr>
              <a:t>background-repeat</a:t>
            </a:r>
          </a:p>
          <a:p>
            <a:pPr lvl="1" eaLnBrk="1" hangingPunct="1"/>
            <a:r>
              <a:rPr lang="en-US" sz="2000" dirty="0" smtClean="0">
                <a:solidFill>
                  <a:schemeClr val="bg1"/>
                </a:solidFill>
                <a:latin typeface="Consolas" pitchFamily="49" charset="0"/>
              </a:rPr>
              <a:t>repeat</a:t>
            </a:r>
            <a:br>
              <a:rPr lang="en-US" sz="2000" dirty="0" smtClean="0">
                <a:solidFill>
                  <a:schemeClr val="bg1"/>
                </a:solidFill>
                <a:latin typeface="Consolas" pitchFamily="49" charset="0"/>
              </a:rPr>
            </a:br>
            <a:r>
              <a:rPr lang="en-US" sz="2000" dirty="0" smtClean="0">
                <a:solidFill>
                  <a:schemeClr val="bg1"/>
                </a:solidFill>
                <a:latin typeface="Consolas" pitchFamily="49" charset="0"/>
              </a:rPr>
              <a:t>repeat-x</a:t>
            </a:r>
            <a:br>
              <a:rPr lang="en-US" sz="2000" dirty="0" smtClean="0">
                <a:solidFill>
                  <a:schemeClr val="bg1"/>
                </a:solidFill>
                <a:latin typeface="Consolas" pitchFamily="49" charset="0"/>
              </a:rPr>
            </a:br>
            <a:r>
              <a:rPr lang="en-US" sz="2000" dirty="0" smtClean="0">
                <a:solidFill>
                  <a:schemeClr val="bg1"/>
                </a:solidFill>
                <a:latin typeface="Consolas" pitchFamily="49" charset="0"/>
              </a:rPr>
              <a:t>repeat-y</a:t>
            </a:r>
            <a:br>
              <a:rPr lang="en-US" sz="2000" dirty="0" smtClean="0">
                <a:solidFill>
                  <a:schemeClr val="bg1"/>
                </a:solidFill>
                <a:latin typeface="Consolas" pitchFamily="49" charset="0"/>
              </a:rPr>
            </a:br>
            <a:r>
              <a:rPr lang="en-US" sz="2000" dirty="0" smtClean="0">
                <a:solidFill>
                  <a:schemeClr val="bg1"/>
                </a:solidFill>
                <a:latin typeface="Consolas" pitchFamily="49" charset="0"/>
              </a:rPr>
              <a:t>no-repeat</a:t>
            </a:r>
          </a:p>
        </p:txBody>
      </p:sp>
    </p:spTree>
    <p:extLst>
      <p:ext uri="{BB962C8B-B14F-4D97-AF65-F5344CB8AC3E}">
        <p14:creationId xmlns:p14="http://schemas.microsoft.com/office/powerpoint/2010/main" val="3292152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62" r="81013" b="33076"/>
          <a:stretch>
            <a:fillRect/>
          </a:stretch>
        </p:blipFill>
        <p:spPr bwMode="auto">
          <a:xfrm>
            <a:off x="0" y="0"/>
            <a:ext cx="4405313" cy="592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8438" r="3711" b="21875"/>
          <a:stretch>
            <a:fillRect/>
          </a:stretch>
        </p:blipFill>
        <p:spPr bwMode="auto">
          <a:xfrm>
            <a:off x="3500438" y="3071813"/>
            <a:ext cx="5643562" cy="378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3557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5334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chemeClr val="bg1"/>
                </a:solidFill>
              </a:rPr>
              <a:t>{Text: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775" cy="4937125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color</a:t>
            </a:r>
          </a:p>
          <a:p>
            <a:pPr eaLnBrk="1" hangingPunct="1"/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direction</a:t>
            </a:r>
          </a:p>
          <a:p>
            <a:pPr lvl="1" eaLnBrk="1" hangingPunct="1"/>
            <a:r>
              <a:rPr lang="en-US" dirty="0" err="1" smtClean="0">
                <a:solidFill>
                  <a:schemeClr val="bg1"/>
                </a:solidFill>
                <a:latin typeface="Consolas" pitchFamily="49" charset="0"/>
              </a:rPr>
              <a:t>ltr</a:t>
            </a: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Consolas" pitchFamily="49" charset="0"/>
              </a:rPr>
            </a:br>
            <a:r>
              <a:rPr lang="en-US" dirty="0" err="1" smtClean="0">
                <a:solidFill>
                  <a:schemeClr val="bg1"/>
                </a:solidFill>
                <a:latin typeface="Consolas" pitchFamily="49" charset="0"/>
              </a:rPr>
              <a:t>rtl</a:t>
            </a:r>
            <a:endParaRPr lang="en-US" dirty="0" smtClean="0">
              <a:solidFill>
                <a:schemeClr val="bg1"/>
              </a:solidFill>
              <a:latin typeface="Consolas" pitchFamily="49" charset="0"/>
            </a:endParaRPr>
          </a:p>
          <a:p>
            <a:pPr eaLnBrk="1" hangingPunct="1"/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word spacing</a:t>
            </a:r>
          </a:p>
          <a:p>
            <a:pPr lvl="1" eaLnBrk="1" hangingPunct="1"/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normal</a:t>
            </a:r>
            <a:br>
              <a:rPr lang="en-US" dirty="0" smtClean="0">
                <a:solidFill>
                  <a:schemeClr val="bg1"/>
                </a:solidFill>
                <a:latin typeface="Consolas" pitchFamily="49" charset="0"/>
              </a:rPr>
            </a:br>
            <a:r>
              <a:rPr lang="en-US" i="1" dirty="0" smtClean="0">
                <a:solidFill>
                  <a:schemeClr val="bg1"/>
                </a:solidFill>
                <a:latin typeface="Consolas" pitchFamily="49" charset="0"/>
              </a:rPr>
              <a:t>length</a:t>
            </a:r>
            <a:endParaRPr lang="en-US" dirty="0" smtClean="0">
              <a:solidFill>
                <a:schemeClr val="bg1"/>
              </a:solidFill>
              <a:latin typeface="Consolas" pitchFamily="49" charset="0"/>
            </a:endParaRPr>
          </a:p>
        </p:txBody>
      </p:sp>
      <p:sp>
        <p:nvSpPr>
          <p:cNvPr id="28676" name="Content Placeholder 3"/>
          <p:cNvSpPr>
            <a:spLocks noGrp="1"/>
          </p:cNvSpPr>
          <p:nvPr>
            <p:ph sz="quarter" idx="2"/>
          </p:nvPr>
        </p:nvSpPr>
        <p:spPr>
          <a:xfrm>
            <a:off x="4632325" y="1216025"/>
            <a:ext cx="4041775" cy="4937125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Consolas" pitchFamily="49" charset="0"/>
              </a:rPr>
              <a:t>text-decoration</a:t>
            </a:r>
          </a:p>
          <a:p>
            <a:pPr lvl="1" eaLnBrk="1" hangingPunct="1"/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none</a:t>
            </a:r>
            <a:br>
              <a:rPr lang="en-US" dirty="0" smtClean="0">
                <a:solidFill>
                  <a:schemeClr val="bg1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underline</a:t>
            </a:r>
            <a:br>
              <a:rPr lang="en-US" dirty="0" smtClean="0">
                <a:solidFill>
                  <a:schemeClr val="bg1"/>
                </a:solidFill>
                <a:latin typeface="Consolas" pitchFamily="49" charset="0"/>
              </a:rPr>
            </a:br>
            <a:r>
              <a:rPr lang="en-US" dirty="0" err="1" smtClean="0">
                <a:solidFill>
                  <a:schemeClr val="bg1"/>
                </a:solidFill>
                <a:latin typeface="Consolas" pitchFamily="49" charset="0"/>
              </a:rPr>
              <a:t>overline</a:t>
            </a: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/>
            </a:r>
            <a:br>
              <a:rPr lang="en-US" dirty="0" smtClean="0">
                <a:solidFill>
                  <a:schemeClr val="bg1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line-through</a:t>
            </a:r>
            <a:br>
              <a:rPr lang="en-US" dirty="0" smtClean="0">
                <a:solidFill>
                  <a:schemeClr val="bg1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blink</a:t>
            </a:r>
          </a:p>
          <a:p>
            <a:pPr eaLnBrk="1" hangingPunct="1"/>
            <a:r>
              <a:rPr lang="en-US" dirty="0" smtClean="0">
                <a:latin typeface="Consolas" pitchFamily="49" charset="0"/>
              </a:rPr>
              <a:t>text-align</a:t>
            </a:r>
          </a:p>
          <a:p>
            <a:pPr lvl="1" eaLnBrk="1" hangingPunct="1"/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left</a:t>
            </a:r>
            <a:br>
              <a:rPr lang="en-US" dirty="0" smtClean="0">
                <a:solidFill>
                  <a:schemeClr val="bg1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right</a:t>
            </a:r>
            <a:br>
              <a:rPr lang="en-US" dirty="0" smtClean="0">
                <a:solidFill>
                  <a:schemeClr val="bg1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center</a:t>
            </a:r>
            <a:br>
              <a:rPr lang="en-US" dirty="0" smtClean="0">
                <a:solidFill>
                  <a:schemeClr val="bg1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justify</a:t>
            </a:r>
          </a:p>
          <a:p>
            <a:pPr eaLnBrk="1" hangingPunct="1"/>
            <a:endParaRPr lang="en-US" dirty="0" smtClean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186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00" r="83594" b="38126"/>
          <a:stretch>
            <a:fillRect/>
          </a:stretch>
        </p:blipFill>
        <p:spPr bwMode="auto">
          <a:xfrm>
            <a:off x="0" y="0"/>
            <a:ext cx="37068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8436" b="20000"/>
          <a:stretch>
            <a:fillRect/>
          </a:stretch>
        </p:blipFill>
        <p:spPr bwMode="auto">
          <a:xfrm>
            <a:off x="3713163" y="3357563"/>
            <a:ext cx="5430837" cy="350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611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3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9144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chemeClr val="bg1"/>
                </a:solidFill>
              </a:rPr>
              <a:t>{Font: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775" cy="4937125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font-family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i="1" dirty="0" smtClean="0">
                <a:solidFill>
                  <a:schemeClr val="bg1"/>
                </a:solidFill>
                <a:latin typeface="Consolas" pitchFamily="49" charset="0"/>
              </a:rPr>
              <a:t>family-name</a:t>
            </a:r>
            <a:br>
              <a:rPr lang="en-US" i="1" dirty="0" smtClean="0">
                <a:solidFill>
                  <a:schemeClr val="bg1"/>
                </a:solidFill>
                <a:latin typeface="Consolas" pitchFamily="49" charset="0"/>
              </a:rPr>
            </a:br>
            <a:r>
              <a:rPr lang="en-US" i="1" dirty="0" smtClean="0">
                <a:solidFill>
                  <a:schemeClr val="bg1"/>
                </a:solidFill>
                <a:latin typeface="Consolas" pitchFamily="49" charset="0"/>
              </a:rPr>
              <a:t>generic-family</a:t>
            </a:r>
            <a:endParaRPr lang="en-US" dirty="0" smtClean="0">
              <a:solidFill>
                <a:schemeClr val="bg1"/>
              </a:solidFill>
              <a:latin typeface="Consolas" pitchFamily="49" charset="0"/>
            </a:endParaRPr>
          </a:p>
          <a:p>
            <a:pPr eaLnBrk="1" hangingPunct="1"/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font-size</a:t>
            </a:r>
          </a:p>
          <a:p>
            <a:pPr lvl="1" eaLnBrk="1" hangingPunct="1"/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xx-small</a:t>
            </a:r>
            <a:br>
              <a:rPr lang="en-US" dirty="0" smtClean="0">
                <a:solidFill>
                  <a:schemeClr val="bg1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x-small</a:t>
            </a:r>
            <a:br>
              <a:rPr lang="en-US" dirty="0" smtClean="0">
                <a:solidFill>
                  <a:schemeClr val="bg1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small</a:t>
            </a:r>
          </a:p>
          <a:p>
            <a:pPr lvl="1" eaLnBrk="1" hangingPunct="1"/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/etc./</a:t>
            </a:r>
          </a:p>
          <a:p>
            <a:pPr lvl="1" eaLnBrk="1" hangingPunct="1">
              <a:buFont typeface="Wingdings 3" pitchFamily="18" charset="2"/>
              <a:buNone/>
            </a:pPr>
            <a:endParaRPr lang="en-US" dirty="0" smtClean="0">
              <a:latin typeface="Consolas" pitchFamily="49" charset="0"/>
            </a:endParaRPr>
          </a:p>
          <a:p>
            <a:pPr eaLnBrk="1" hangingPunct="1"/>
            <a:endParaRPr lang="en-US" dirty="0" smtClean="0">
              <a:latin typeface="Consolas" pitchFamily="49" charset="0"/>
            </a:endParaRPr>
          </a:p>
        </p:txBody>
      </p:sp>
      <p:sp>
        <p:nvSpPr>
          <p:cNvPr id="30724" name="Content Placeholder 4"/>
          <p:cNvSpPr>
            <a:spLocks noGrp="1"/>
          </p:cNvSpPr>
          <p:nvPr>
            <p:ph sz="quarter" idx="2"/>
          </p:nvPr>
        </p:nvSpPr>
        <p:spPr>
          <a:xfrm>
            <a:off x="4632325" y="1216025"/>
            <a:ext cx="4041775" cy="4937125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font-weigh</a:t>
            </a:r>
          </a:p>
          <a:p>
            <a:pPr lvl="1" eaLnBrk="1" hangingPunct="1"/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normal</a:t>
            </a:r>
            <a:br>
              <a:rPr lang="en-US" dirty="0" smtClean="0">
                <a:solidFill>
                  <a:schemeClr val="bg1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bold</a:t>
            </a:r>
            <a:br>
              <a:rPr lang="en-US" dirty="0" smtClean="0">
                <a:solidFill>
                  <a:schemeClr val="bg1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bolder</a:t>
            </a:r>
            <a:br>
              <a:rPr lang="en-US" dirty="0" smtClean="0">
                <a:solidFill>
                  <a:schemeClr val="bg1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lighter</a:t>
            </a:r>
            <a:br>
              <a:rPr lang="en-US" dirty="0" smtClean="0">
                <a:solidFill>
                  <a:schemeClr val="bg1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100</a:t>
            </a:r>
          </a:p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72412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522288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chemeClr val="bg1"/>
                </a:solidFill>
              </a:rPr>
              <a:t>{Dimension</a:t>
            </a:r>
          </a:p>
        </p:txBody>
      </p:sp>
      <p:pic>
        <p:nvPicPr>
          <p:cNvPr id="3174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76" r="60156" b="21249"/>
          <a:stretch>
            <a:fillRect/>
          </a:stretch>
        </p:blipFill>
        <p:spPr bwMode="auto">
          <a:xfrm>
            <a:off x="0" y="1131888"/>
            <a:ext cx="7786688" cy="572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8436" r="195" b="19061"/>
          <a:stretch>
            <a:fillRect/>
          </a:stretch>
        </p:blipFill>
        <p:spPr bwMode="auto">
          <a:xfrm>
            <a:off x="3124200" y="1219200"/>
            <a:ext cx="5843587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3989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762000" y="381000"/>
            <a:ext cx="7772400" cy="5334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chemeClr val="bg1"/>
                </a:solidFill>
              </a:rPr>
              <a:t>{List: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972050" cy="4937125"/>
          </a:xfrm>
        </p:spPr>
        <p:txBody>
          <a:bodyPr>
            <a:normAutofit fontScale="625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&lt;head&gt;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&lt;style type="text/</a:t>
            </a:r>
            <a:r>
              <a:rPr lang="en-US" dirty="0" err="1" smtClean="0">
                <a:solidFill>
                  <a:schemeClr val="bg1"/>
                </a:solidFill>
                <a:latin typeface="Consolas" pitchFamily="49" charset="0"/>
              </a:rPr>
              <a:t>css</a:t>
            </a: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"&gt;</a:t>
            </a:r>
          </a:p>
          <a:p>
            <a:pPr marL="548640" lvl="1" indent="-27432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900" b="1" dirty="0" err="1" smtClean="0">
                <a:solidFill>
                  <a:schemeClr val="bg1"/>
                </a:solidFill>
                <a:latin typeface="Consolas" pitchFamily="49" charset="0"/>
              </a:rPr>
              <a:t>ul</a:t>
            </a:r>
            <a:r>
              <a:rPr lang="en-US" sz="2900" b="1" dirty="0" smtClean="0">
                <a:solidFill>
                  <a:schemeClr val="bg1"/>
                </a:solidFill>
                <a:latin typeface="Consolas" pitchFamily="49" charset="0"/>
              </a:rPr>
              <a:t> </a:t>
            </a:r>
          </a:p>
          <a:p>
            <a:pPr marL="548640" lvl="1" indent="-27432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900" b="1" dirty="0" smtClean="0">
                <a:solidFill>
                  <a:schemeClr val="bg1"/>
                </a:solidFill>
                <a:latin typeface="Consolas" pitchFamily="49" charset="0"/>
              </a:rPr>
              <a:t>{</a:t>
            </a:r>
          </a:p>
          <a:p>
            <a:pPr marL="548640" lvl="1" indent="-27432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900" b="1" dirty="0" smtClean="0">
                <a:solidFill>
                  <a:schemeClr val="bg1"/>
                </a:solidFill>
                <a:latin typeface="Consolas" pitchFamily="49" charset="0"/>
              </a:rPr>
              <a:t>list-style-image: </a:t>
            </a:r>
            <a:r>
              <a:rPr lang="en-US" sz="2900" b="1" dirty="0" err="1" smtClean="0">
                <a:solidFill>
                  <a:schemeClr val="bg1"/>
                </a:solidFill>
                <a:latin typeface="Consolas" pitchFamily="49" charset="0"/>
              </a:rPr>
              <a:t>url</a:t>
            </a:r>
            <a:r>
              <a:rPr lang="en-US" sz="2900" b="1" dirty="0" smtClean="0">
                <a:solidFill>
                  <a:schemeClr val="bg1"/>
                </a:solidFill>
                <a:latin typeface="Consolas" pitchFamily="49" charset="0"/>
              </a:rPr>
              <a:t>('arrow.gif')</a:t>
            </a:r>
          </a:p>
          <a:p>
            <a:pPr marL="548640" lvl="1" indent="-27432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900" b="1" dirty="0" smtClean="0">
                <a:solidFill>
                  <a:schemeClr val="bg1"/>
                </a:solidFill>
                <a:latin typeface="Consolas" pitchFamily="49" charset="0"/>
              </a:rPr>
              <a:t>}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&lt;/style&gt;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&lt;/head&gt;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dirty="0" smtClean="0">
              <a:solidFill>
                <a:schemeClr val="bg1"/>
              </a:solidFill>
              <a:latin typeface="Consolas" pitchFamily="49" charset="0"/>
            </a:endParaRPr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&lt;body&gt;</a:t>
            </a:r>
          </a:p>
          <a:p>
            <a:pPr marL="548640" lvl="1" indent="-27432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900" b="1" dirty="0" smtClean="0">
                <a:solidFill>
                  <a:schemeClr val="bg1"/>
                </a:solidFill>
                <a:latin typeface="Consolas" pitchFamily="49" charset="0"/>
              </a:rPr>
              <a:t>&lt;</a:t>
            </a:r>
            <a:r>
              <a:rPr lang="en-US" sz="2900" b="1" dirty="0" err="1" smtClean="0">
                <a:solidFill>
                  <a:schemeClr val="bg1"/>
                </a:solidFill>
                <a:latin typeface="Consolas" pitchFamily="49" charset="0"/>
              </a:rPr>
              <a:t>ul</a:t>
            </a:r>
            <a:r>
              <a:rPr lang="en-US" sz="2900" b="1" dirty="0" smtClean="0">
                <a:solidFill>
                  <a:schemeClr val="bg1"/>
                </a:solidFill>
                <a:latin typeface="Consolas" pitchFamily="49" charset="0"/>
              </a:rPr>
              <a:t>&gt;</a:t>
            </a:r>
          </a:p>
          <a:p>
            <a:pPr marL="548640" lvl="1" indent="-27432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900" b="1" dirty="0" smtClean="0">
                <a:solidFill>
                  <a:schemeClr val="bg1"/>
                </a:solidFill>
                <a:latin typeface="Consolas" pitchFamily="49" charset="0"/>
              </a:rPr>
              <a:t> &lt;</a:t>
            </a:r>
            <a:r>
              <a:rPr lang="en-US" sz="2900" b="1" dirty="0" err="1" smtClean="0">
                <a:solidFill>
                  <a:schemeClr val="bg1"/>
                </a:solidFill>
                <a:latin typeface="Consolas" pitchFamily="49" charset="0"/>
              </a:rPr>
              <a:t>li</a:t>
            </a:r>
            <a:r>
              <a:rPr lang="en-US" sz="2900" b="1" dirty="0" smtClean="0">
                <a:solidFill>
                  <a:schemeClr val="bg1"/>
                </a:solidFill>
                <a:latin typeface="Consolas" pitchFamily="49" charset="0"/>
              </a:rPr>
              <a:t>&gt;Coffee&lt;/</a:t>
            </a:r>
            <a:r>
              <a:rPr lang="en-US" sz="2900" b="1" dirty="0" err="1" smtClean="0">
                <a:solidFill>
                  <a:schemeClr val="bg1"/>
                </a:solidFill>
                <a:latin typeface="Consolas" pitchFamily="49" charset="0"/>
              </a:rPr>
              <a:t>li</a:t>
            </a:r>
            <a:r>
              <a:rPr lang="en-US" sz="2900" b="1" dirty="0" smtClean="0">
                <a:solidFill>
                  <a:schemeClr val="bg1"/>
                </a:solidFill>
                <a:latin typeface="Consolas" pitchFamily="49" charset="0"/>
              </a:rPr>
              <a:t>&gt;</a:t>
            </a:r>
          </a:p>
          <a:p>
            <a:pPr marL="548640" lvl="1" indent="-27432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900" b="1" dirty="0" smtClean="0">
                <a:solidFill>
                  <a:schemeClr val="bg1"/>
                </a:solidFill>
                <a:latin typeface="Consolas" pitchFamily="49" charset="0"/>
              </a:rPr>
              <a:t> &lt;</a:t>
            </a:r>
            <a:r>
              <a:rPr lang="en-US" sz="2900" b="1" dirty="0" err="1" smtClean="0">
                <a:solidFill>
                  <a:schemeClr val="bg1"/>
                </a:solidFill>
                <a:latin typeface="Consolas" pitchFamily="49" charset="0"/>
              </a:rPr>
              <a:t>li</a:t>
            </a:r>
            <a:r>
              <a:rPr lang="en-US" sz="2900" b="1" dirty="0" smtClean="0">
                <a:solidFill>
                  <a:schemeClr val="bg1"/>
                </a:solidFill>
                <a:latin typeface="Consolas" pitchFamily="49" charset="0"/>
              </a:rPr>
              <a:t>&gt;Tea&lt;/</a:t>
            </a:r>
            <a:r>
              <a:rPr lang="en-US" sz="2900" b="1" dirty="0" err="1" smtClean="0">
                <a:solidFill>
                  <a:schemeClr val="bg1"/>
                </a:solidFill>
                <a:latin typeface="Consolas" pitchFamily="49" charset="0"/>
              </a:rPr>
              <a:t>li</a:t>
            </a:r>
            <a:r>
              <a:rPr lang="en-US" sz="2900" b="1" dirty="0" smtClean="0">
                <a:solidFill>
                  <a:schemeClr val="bg1"/>
                </a:solidFill>
                <a:latin typeface="Consolas" pitchFamily="49" charset="0"/>
              </a:rPr>
              <a:t>&gt;</a:t>
            </a:r>
          </a:p>
          <a:p>
            <a:pPr marL="548640" lvl="1" indent="-27432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900" b="1" dirty="0" smtClean="0">
                <a:solidFill>
                  <a:schemeClr val="bg1"/>
                </a:solidFill>
                <a:latin typeface="Consolas" pitchFamily="49" charset="0"/>
              </a:rPr>
              <a:t> &lt;</a:t>
            </a:r>
            <a:r>
              <a:rPr lang="en-US" sz="2900" b="1" dirty="0" err="1" smtClean="0">
                <a:solidFill>
                  <a:schemeClr val="bg1"/>
                </a:solidFill>
                <a:latin typeface="Consolas" pitchFamily="49" charset="0"/>
              </a:rPr>
              <a:t>li</a:t>
            </a:r>
            <a:r>
              <a:rPr lang="en-US" sz="2900" b="1" dirty="0" smtClean="0">
                <a:solidFill>
                  <a:schemeClr val="bg1"/>
                </a:solidFill>
                <a:latin typeface="Consolas" pitchFamily="49" charset="0"/>
              </a:rPr>
              <a:t>&gt;Coca Cola&lt;/</a:t>
            </a:r>
            <a:r>
              <a:rPr lang="en-US" sz="2900" b="1" dirty="0" err="1" smtClean="0">
                <a:solidFill>
                  <a:schemeClr val="bg1"/>
                </a:solidFill>
                <a:latin typeface="Consolas" pitchFamily="49" charset="0"/>
              </a:rPr>
              <a:t>li</a:t>
            </a:r>
            <a:r>
              <a:rPr lang="en-US" sz="2900" b="1" dirty="0" smtClean="0">
                <a:solidFill>
                  <a:schemeClr val="bg1"/>
                </a:solidFill>
                <a:latin typeface="Consolas" pitchFamily="49" charset="0"/>
              </a:rPr>
              <a:t>&gt;</a:t>
            </a:r>
          </a:p>
          <a:p>
            <a:pPr marL="548640" lvl="1" indent="-27432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900" b="1" dirty="0" smtClean="0">
                <a:solidFill>
                  <a:schemeClr val="bg1"/>
                </a:solidFill>
                <a:latin typeface="Consolas" pitchFamily="49" charset="0"/>
              </a:rPr>
              <a:t>&lt;/</a:t>
            </a:r>
            <a:r>
              <a:rPr lang="en-US" sz="2900" b="1" dirty="0" err="1" smtClean="0">
                <a:solidFill>
                  <a:schemeClr val="bg1"/>
                </a:solidFill>
                <a:latin typeface="Consolas" pitchFamily="49" charset="0"/>
              </a:rPr>
              <a:t>ul</a:t>
            </a:r>
            <a:r>
              <a:rPr lang="en-US" sz="2900" b="1" dirty="0" smtClean="0">
                <a:solidFill>
                  <a:schemeClr val="bg1"/>
                </a:solidFill>
                <a:latin typeface="Consolas" pitchFamily="49" charset="0"/>
              </a:rPr>
              <a:t>&gt;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dirty="0" smtClean="0">
                <a:solidFill>
                  <a:schemeClr val="bg1"/>
                </a:solidFill>
                <a:latin typeface="Consolas" pitchFamily="49" charset="0"/>
              </a:rPr>
              <a:t>&lt;/body&gt;</a:t>
            </a:r>
            <a:endParaRPr lang="en-US" dirty="0">
              <a:solidFill>
                <a:schemeClr val="bg1"/>
              </a:solidFill>
              <a:latin typeface="Consolas" pitchFamily="49" charset="0"/>
            </a:endParaRPr>
          </a:p>
        </p:txBody>
      </p:sp>
      <p:pic>
        <p:nvPicPr>
          <p:cNvPr id="32772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6" t="30225" r="39630" b="54462"/>
          <a:stretch>
            <a:fillRect/>
          </a:stretch>
        </p:blipFill>
        <p:spPr>
          <a:xfrm>
            <a:off x="6143625" y="2143125"/>
            <a:ext cx="2428875" cy="2643188"/>
          </a:xfrm>
        </p:spPr>
      </p:pic>
    </p:spTree>
    <p:extLst>
      <p:ext uri="{BB962C8B-B14F-4D97-AF65-F5344CB8AC3E}">
        <p14:creationId xmlns:p14="http://schemas.microsoft.com/office/powerpoint/2010/main" val="2312336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</a:rPr>
              <a:t>Visual Formatting: Images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 New" pitchFamily="1" charset="0"/>
              </a:rPr>
              <a:t>position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lvl="1">
              <a:buFont typeface="Wingdings" pitchFamily="1" charset="2"/>
              <a:buNone/>
            </a:pPr>
            <a:r>
              <a:rPr lang="en-US" dirty="0">
                <a:solidFill>
                  <a:schemeClr val="bg1"/>
                </a:solidFill>
                <a:latin typeface="Courier New" pitchFamily="1" charset="0"/>
              </a:rPr>
              <a:t>static</a:t>
            </a:r>
            <a:r>
              <a:rPr lang="en-US" sz="2200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chemeClr val="bg1"/>
                </a:solidFill>
                <a:latin typeface="Courier New" pitchFamily="1" charset="0"/>
              </a:rPr>
              <a:t>relative</a:t>
            </a:r>
            <a:r>
              <a:rPr lang="en-US" sz="2200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chemeClr val="bg1"/>
                </a:solidFill>
                <a:latin typeface="Courier New" pitchFamily="1" charset="0"/>
              </a:rPr>
              <a:t>absolute</a:t>
            </a:r>
            <a:r>
              <a:rPr lang="en-US" sz="2200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chemeClr val="bg1"/>
                </a:solidFill>
                <a:latin typeface="Courier New" pitchFamily="1" charset="0"/>
              </a:rPr>
              <a:t>fixed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Static </a:t>
            </a:r>
            <a:r>
              <a:rPr lang="en-US" dirty="0">
                <a:solidFill>
                  <a:schemeClr val="bg1"/>
                </a:solidFill>
                <a:cs typeface="Tahoma" pitchFamily="1" charset="0"/>
              </a:rPr>
              <a:t>— normal elements</a:t>
            </a:r>
          </a:p>
          <a:p>
            <a:r>
              <a:rPr lang="en-US" dirty="0">
                <a:solidFill>
                  <a:schemeClr val="bg1"/>
                </a:solidFill>
                <a:cs typeface="Tahoma" pitchFamily="1" charset="0"/>
              </a:rPr>
              <a:t>Relative — translate from usual position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cs typeface="Tahoma" pitchFamily="1" charset="0"/>
              </a:rPr>
              <a:t>Absolute — scroll with the page</a:t>
            </a:r>
          </a:p>
          <a:p>
            <a:r>
              <a:rPr lang="en-US" dirty="0">
                <a:solidFill>
                  <a:schemeClr val="bg1"/>
                </a:solidFill>
                <a:cs typeface="Tahoma" pitchFamily="1" charset="0"/>
              </a:rPr>
              <a:t>Fixed — like absolute, but don't scroll away</a:t>
            </a:r>
          </a:p>
          <a:p>
            <a:r>
              <a:rPr lang="en-US" dirty="0">
                <a:solidFill>
                  <a:schemeClr val="bg1"/>
                </a:solidFill>
                <a:cs typeface="Tahoma" pitchFamily="1" charset="0"/>
              </a:rPr>
              <a:t>Example: </a:t>
            </a:r>
            <a:r>
              <a:rPr lang="en-US" dirty="0">
                <a:solidFill>
                  <a:schemeClr val="bg1"/>
                </a:solidFill>
                <a:cs typeface="Tahoma" pitchFamily="1" charset="0"/>
                <a:hlinkClick r:id="rId3"/>
              </a:rPr>
              <a:t>Jon Gunderson</a:t>
            </a:r>
            <a:endParaRPr lang="en-US" dirty="0">
              <a:solidFill>
                <a:schemeClr val="bg1"/>
              </a:solidFill>
              <a:cs typeface="Tahoma" pitchFamily="1" charset="0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Visual Formatting: Images </a:t>
            </a:r>
            <a:r>
              <a:rPr lang="en-US" sz="2000" b="1" dirty="0">
                <a:solidFill>
                  <a:schemeClr val="bg1"/>
                </a:solidFill>
              </a:rPr>
              <a:t>(cont.)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Courier New" pitchFamily="1" charset="0"/>
              </a:rPr>
              <a:t>z-index</a:t>
            </a:r>
            <a:r>
              <a:rPr lang="en-US" dirty="0">
                <a:solidFill>
                  <a:schemeClr val="bg1"/>
                </a:solidFill>
              </a:rPr>
              <a:t>: depth</a:t>
            </a:r>
          </a:p>
          <a:p>
            <a:pPr>
              <a:buFont typeface="Wingdings" pitchFamily="1" charset="2"/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itchFamily="1" charset="0"/>
              </a:rPr>
              <a:t>float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dirty="0">
                <a:solidFill>
                  <a:schemeClr val="bg1"/>
                </a:solidFill>
                <a:latin typeface="Courier New" pitchFamily="1" charset="0"/>
              </a:rPr>
              <a:t>clear</a:t>
            </a:r>
          </a:p>
          <a:p>
            <a:pPr lvl="1"/>
            <a:r>
              <a:rPr lang="en-US" sz="2200" dirty="0">
                <a:solidFill>
                  <a:schemeClr val="bg1"/>
                </a:solidFill>
                <a:latin typeface="Courier New" pitchFamily="1" charset="0"/>
              </a:rPr>
              <a:t>float: left</a:t>
            </a:r>
            <a:r>
              <a:rPr lang="en-US" sz="2200" dirty="0">
                <a:solidFill>
                  <a:schemeClr val="bg1"/>
                </a:solidFill>
              </a:rPr>
              <a:t> or </a:t>
            </a:r>
            <a:r>
              <a:rPr lang="en-US" sz="2200" dirty="0">
                <a:solidFill>
                  <a:schemeClr val="bg1"/>
                </a:solidFill>
                <a:latin typeface="Courier New" pitchFamily="1" charset="0"/>
              </a:rPr>
              <a:t>float: right</a:t>
            </a:r>
            <a:r>
              <a:rPr lang="en-US" sz="2200" dirty="0">
                <a:solidFill>
                  <a:schemeClr val="bg1"/>
                </a:solidFill>
              </a:rPr>
              <a:t> or </a:t>
            </a:r>
            <a:r>
              <a:rPr lang="en-US" sz="2200" dirty="0">
                <a:solidFill>
                  <a:schemeClr val="bg1"/>
                </a:solidFill>
                <a:latin typeface="Courier New" pitchFamily="1" charset="0"/>
              </a:rPr>
              <a:t>float: none</a:t>
            </a:r>
          </a:p>
          <a:p>
            <a:pPr lvl="2">
              <a:buFont typeface="Wingdings" pitchFamily="1" charset="2"/>
              <a:buNone/>
            </a:pPr>
            <a:r>
              <a:rPr lang="en-US" dirty="0">
                <a:solidFill>
                  <a:schemeClr val="bg1"/>
                </a:solidFill>
              </a:rPr>
              <a:t>Position relative to parent element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Reset with clear</a:t>
            </a:r>
          </a:p>
          <a:p>
            <a:pPr lvl="2">
              <a:buFont typeface="Wingdings" pitchFamily="1" charset="2"/>
              <a:buNone/>
            </a:pPr>
            <a:r>
              <a:rPr lang="en-US" sz="2800" dirty="0">
                <a:solidFill>
                  <a:schemeClr val="bg1"/>
                </a:solidFill>
                <a:latin typeface="Courier New" pitchFamily="1" charset="0"/>
              </a:rPr>
              <a:t>&lt;</a:t>
            </a:r>
            <a:r>
              <a:rPr lang="en-US" sz="2800" dirty="0" err="1">
                <a:solidFill>
                  <a:schemeClr val="bg1"/>
                </a:solidFill>
                <a:latin typeface="Courier New" pitchFamily="1" charset="0"/>
              </a:rPr>
              <a:t>br</a:t>
            </a:r>
            <a:r>
              <a:rPr lang="en-US" sz="2800" dirty="0">
                <a:solidFill>
                  <a:schemeClr val="bg1"/>
                </a:solidFill>
                <a:latin typeface="Courier New" pitchFamily="1" charset="0"/>
              </a:rPr>
              <a:t> style="</a:t>
            </a:r>
            <a:r>
              <a:rPr lang="en-US" sz="2800" dirty="0" err="1">
                <a:solidFill>
                  <a:schemeClr val="bg1"/>
                </a:solidFill>
                <a:latin typeface="Courier New" pitchFamily="1" charset="0"/>
              </a:rPr>
              <a:t>clear:both</a:t>
            </a:r>
            <a:r>
              <a:rPr lang="en-US" sz="2800" dirty="0">
                <a:solidFill>
                  <a:schemeClr val="bg1"/>
                </a:solidFill>
                <a:latin typeface="Courier New" pitchFamily="1" charset="0"/>
              </a:rPr>
              <a:t>" /&gt;</a:t>
            </a:r>
          </a:p>
          <a:p>
            <a:pPr lvl="2">
              <a:buFont typeface="Wingdings" pitchFamily="1" charset="2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990600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Basic Formatting of the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‘Jump Box’</a:t>
            </a:r>
          </a:p>
        </p:txBody>
      </p:sp>
      <p:sp>
        <p:nvSpPr>
          <p:cNvPr id="146435" name="Rectangle 1027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981200"/>
            <a:ext cx="4267200" cy="4114800"/>
          </a:xfrm>
          <a:noFill/>
          <a:ln>
            <a:solidFill>
              <a:schemeClr val="tx1"/>
            </a:solidFill>
          </a:ln>
        </p:spPr>
        <p:txBody>
          <a:bodyPr/>
          <a:lstStyle/>
          <a:p>
            <a:pPr algn="ctr">
              <a:buFont typeface="Wingdings" pitchFamily="1" charset="2"/>
              <a:buNone/>
            </a:pPr>
            <a:r>
              <a:rPr lang="en-US" sz="2600" b="1" u="sng" dirty="0">
                <a:solidFill>
                  <a:schemeClr val="bg1"/>
                </a:solidFill>
              </a:rPr>
              <a:t>Extract of CSS Rules</a:t>
            </a:r>
          </a:p>
          <a:p>
            <a:pPr>
              <a:buFont typeface="Wingdings" pitchFamily="1" charset="2"/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1" charset="0"/>
              </a:rPr>
              <a:t>body </a:t>
            </a:r>
          </a:p>
          <a:p>
            <a:pPr lvl="1">
              <a:buFont typeface="Wingdings" pitchFamily="1" charset="2"/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1" charset="0"/>
              </a:rPr>
              <a:t>{margin-left: 6.3em}</a:t>
            </a:r>
          </a:p>
          <a:p>
            <a:pPr>
              <a:buFont typeface="Wingdings" pitchFamily="1" charset="2"/>
              <a:buNone/>
            </a:pPr>
            <a:r>
              <a:rPr lang="en-US" sz="2200" dirty="0" err="1">
                <a:solidFill>
                  <a:schemeClr val="bg1"/>
                </a:solidFill>
                <a:latin typeface="Courier New" pitchFamily="1" charset="0"/>
              </a:rPr>
              <a:t>div.up</a:t>
            </a:r>
            <a:endParaRPr lang="en-US" sz="2200" dirty="0">
              <a:solidFill>
                <a:schemeClr val="bg1"/>
              </a:solidFill>
              <a:latin typeface="Courier New" pitchFamily="1" charset="0"/>
            </a:endParaRPr>
          </a:p>
          <a:p>
            <a:pPr lvl="1">
              <a:buFont typeface="Wingdings" pitchFamily="1" charset="2"/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1" charset="0"/>
              </a:rPr>
              <a:t>{position: fixed;</a:t>
            </a:r>
          </a:p>
          <a:p>
            <a:pPr lvl="1">
              <a:buFont typeface="Wingdings" pitchFamily="1" charset="2"/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1" charset="0"/>
              </a:rPr>
              <a:t>left: 1em;</a:t>
            </a:r>
          </a:p>
          <a:p>
            <a:pPr lvl="1">
              <a:buFont typeface="Wingdings" pitchFamily="1" charset="2"/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1" charset="0"/>
              </a:rPr>
              <a:t>top: 40%;</a:t>
            </a:r>
          </a:p>
          <a:p>
            <a:pPr lvl="1">
              <a:buFont typeface="Wingdings" pitchFamily="1" charset="2"/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1" charset="0"/>
              </a:rPr>
              <a:t>padding: .2ex;</a:t>
            </a:r>
          </a:p>
          <a:p>
            <a:pPr lvl="1">
              <a:buFont typeface="Wingdings" pitchFamily="1" charset="2"/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1" charset="0"/>
              </a:rPr>
              <a:t>min-width: 5.5ex }</a:t>
            </a:r>
          </a:p>
        </p:txBody>
      </p:sp>
      <p:sp>
        <p:nvSpPr>
          <p:cNvPr id="146436" name="Rectangle 1028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4033838" cy="4411662"/>
          </a:xfrm>
          <a:noFill/>
          <a:ln>
            <a:solidFill>
              <a:schemeClr val="tx1"/>
            </a:solidFill>
          </a:ln>
        </p:spPr>
        <p:txBody>
          <a:bodyPr/>
          <a:lstStyle/>
          <a:p>
            <a:pPr algn="ctr">
              <a:buFont typeface="Wingdings" pitchFamily="1" charset="2"/>
              <a:buNone/>
            </a:pPr>
            <a:r>
              <a:rPr lang="en-US" sz="2600" b="1" u="sng" dirty="0">
                <a:solidFill>
                  <a:schemeClr val="bg1"/>
                </a:solidFill>
              </a:rPr>
              <a:t>HTML Outline</a:t>
            </a:r>
          </a:p>
          <a:p>
            <a:pPr algn="ctr">
              <a:buFont typeface="Wingdings" pitchFamily="1" charset="2"/>
              <a:buNone/>
            </a:pPr>
            <a:endParaRPr lang="en-US" sz="2200" b="1" u="sng" dirty="0">
              <a:solidFill>
                <a:schemeClr val="bg1"/>
              </a:solidFill>
            </a:endParaRPr>
          </a:p>
          <a:p>
            <a:pPr>
              <a:buFont typeface="Wingdings" pitchFamily="1" charset="2"/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1" charset="0"/>
              </a:rPr>
              <a:t>&lt;body&gt;</a:t>
            </a:r>
          </a:p>
          <a:p>
            <a:pPr lvl="1">
              <a:buFont typeface="Wingdings" pitchFamily="1" charset="2"/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1" charset="0"/>
              </a:rPr>
              <a:t>&lt;!-- … --&gt;</a:t>
            </a:r>
          </a:p>
          <a:p>
            <a:pPr lvl="1">
              <a:buFont typeface="Wingdings" pitchFamily="1" charset="2"/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1" charset="0"/>
              </a:rPr>
              <a:t>&lt;div class="up"&gt;</a:t>
            </a:r>
          </a:p>
          <a:p>
            <a:pPr lvl="2">
              <a:buFont typeface="Wingdings" pitchFamily="1" charset="2"/>
              <a:buNone/>
            </a:pPr>
            <a:r>
              <a:rPr lang="en-US" sz="2100" dirty="0">
                <a:solidFill>
                  <a:schemeClr val="bg1"/>
                </a:solidFill>
                <a:latin typeface="Courier New" pitchFamily="1" charset="0"/>
              </a:rPr>
              <a:t>&lt;dl&gt;</a:t>
            </a:r>
          </a:p>
          <a:p>
            <a:pPr lvl="3">
              <a:buFont typeface="Wingdings" pitchFamily="1" charset="2"/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1" charset="0"/>
              </a:rPr>
              <a:t>&lt;</a:t>
            </a:r>
            <a:r>
              <a:rPr lang="en-US" sz="2000" dirty="0" err="1">
                <a:solidFill>
                  <a:schemeClr val="bg1"/>
                </a:solidFill>
                <a:latin typeface="Courier New" pitchFamily="1" charset="0"/>
              </a:rPr>
              <a:t>dt</a:t>
            </a:r>
            <a:r>
              <a:rPr lang="en-US" sz="2000" dirty="0">
                <a:solidFill>
                  <a:schemeClr val="bg1"/>
                </a:solidFill>
                <a:latin typeface="Courier New" pitchFamily="1" charset="0"/>
              </a:rPr>
              <a:t>&gt;Jump to top&lt;/</a:t>
            </a:r>
            <a:r>
              <a:rPr lang="en-US" sz="2000" dirty="0" err="1">
                <a:solidFill>
                  <a:schemeClr val="bg1"/>
                </a:solidFill>
                <a:latin typeface="Courier New" pitchFamily="1" charset="0"/>
              </a:rPr>
              <a:t>dt</a:t>
            </a:r>
            <a:r>
              <a:rPr lang="en-US" sz="2000" dirty="0">
                <a:solidFill>
                  <a:schemeClr val="bg1"/>
                </a:solidFill>
                <a:latin typeface="Courier New" pitchFamily="1" charset="0"/>
              </a:rPr>
              <a:t>&gt;</a:t>
            </a:r>
          </a:p>
          <a:p>
            <a:pPr lvl="2">
              <a:buFont typeface="Wingdings" pitchFamily="1" charset="2"/>
              <a:buNone/>
            </a:pPr>
            <a:r>
              <a:rPr lang="en-US" sz="2100" dirty="0">
                <a:solidFill>
                  <a:schemeClr val="bg1"/>
                </a:solidFill>
                <a:latin typeface="Courier New" pitchFamily="1" charset="0"/>
              </a:rPr>
              <a:t>&lt;!-- … --&gt;</a:t>
            </a:r>
          </a:p>
          <a:p>
            <a:pPr lvl="1">
              <a:buFont typeface="Wingdings" pitchFamily="1" charset="2"/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1" charset="0"/>
              </a:rPr>
              <a:t>&lt;/div&gt;</a:t>
            </a:r>
          </a:p>
          <a:p>
            <a:pPr>
              <a:buFont typeface="Wingdings" pitchFamily="1" charset="2"/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1" charset="0"/>
              </a:rPr>
              <a:t>&lt;/body&gt;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Relative and Absolute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Positioning</a:t>
            </a:r>
          </a:p>
        </p:txBody>
      </p:sp>
      <p:sp>
        <p:nvSpPr>
          <p:cNvPr id="65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</a:rPr>
              <a:t>position</a:t>
            </a:r>
            <a:r>
              <a:rPr lang="en-US" sz="2400" dirty="0">
                <a:solidFill>
                  <a:schemeClr val="bg1"/>
                </a:solidFill>
              </a:rPr>
              <a:t> property: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static – box is positioned according to normal flow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relative – box is positioned relative to where it would have been placed in the normal flow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absolute – box is positioned relative to its containing block; these boxes are taken out of flow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fixed – box is fixed in relation to the viewport (a browser window or a printed page)</a:t>
            </a:r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8382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Margin Styles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143000"/>
            <a:ext cx="7772400" cy="4724400"/>
          </a:xfrm>
        </p:spPr>
        <p:txBody>
          <a:bodyPr/>
          <a:lstStyle/>
          <a:p>
            <a:r>
              <a:rPr lang="en-US" sz="2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 your margins with the following four styles:</a:t>
            </a:r>
          </a:p>
          <a:p>
            <a:pPr lvl="1"/>
            <a:r>
              <a:rPr lang="en-US" sz="2100" b="1" dirty="0" smtClean="0">
                <a:solidFill>
                  <a:schemeClr val="bg1"/>
                </a:solidFill>
                <a:latin typeface="+mj-lt"/>
              </a:rPr>
              <a:t>margin-top: </a:t>
            </a:r>
            <a:r>
              <a:rPr lang="en-US" sz="2100" b="1" i="1" dirty="0" smtClean="0">
                <a:solidFill>
                  <a:schemeClr val="bg1"/>
                </a:solidFill>
                <a:latin typeface="+mj-lt"/>
              </a:rPr>
              <a:t>length</a:t>
            </a:r>
          </a:p>
          <a:p>
            <a:pPr lvl="1"/>
            <a:r>
              <a:rPr lang="en-US" sz="2100" b="1" dirty="0" smtClean="0">
                <a:solidFill>
                  <a:schemeClr val="bg1"/>
                </a:solidFill>
                <a:latin typeface="+mj-lt"/>
              </a:rPr>
              <a:t>margin-right: </a:t>
            </a:r>
            <a:r>
              <a:rPr lang="en-US" sz="2100" b="1" i="1" dirty="0" smtClean="0">
                <a:solidFill>
                  <a:schemeClr val="bg1"/>
                </a:solidFill>
                <a:latin typeface="+mj-lt"/>
              </a:rPr>
              <a:t>length</a:t>
            </a:r>
          </a:p>
          <a:p>
            <a:pPr lvl="1"/>
            <a:r>
              <a:rPr lang="en-US" sz="2100" b="1" dirty="0" smtClean="0">
                <a:solidFill>
                  <a:schemeClr val="bg1"/>
                </a:solidFill>
                <a:latin typeface="+mj-lt"/>
              </a:rPr>
              <a:t>margin-bottom: </a:t>
            </a:r>
            <a:r>
              <a:rPr lang="en-US" sz="2100" b="1" i="1" dirty="0" smtClean="0">
                <a:solidFill>
                  <a:schemeClr val="bg1"/>
                </a:solidFill>
                <a:latin typeface="+mj-lt"/>
              </a:rPr>
              <a:t>length</a:t>
            </a:r>
          </a:p>
          <a:p>
            <a:pPr lvl="1"/>
            <a:r>
              <a:rPr lang="en-US" sz="2100" b="1" dirty="0" smtClean="0">
                <a:solidFill>
                  <a:schemeClr val="bg1"/>
                </a:solidFill>
                <a:latin typeface="+mj-lt"/>
              </a:rPr>
              <a:t>margin-left: </a:t>
            </a:r>
            <a:r>
              <a:rPr lang="en-US" sz="2100" b="1" i="1" dirty="0" smtClean="0">
                <a:solidFill>
                  <a:schemeClr val="bg1"/>
                </a:solidFill>
                <a:latin typeface="+mj-lt"/>
              </a:rPr>
              <a:t>length</a:t>
            </a:r>
          </a:p>
          <a:p>
            <a:r>
              <a:rPr lang="en-US" sz="2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Margin values can also be negative. This creates an overlay effect by forcing the browser to render one element on top of another</a:t>
            </a:r>
          </a:p>
          <a:p>
            <a:r>
              <a:rPr lang="en-US" sz="2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You can also combine the four margin styles into a single style:</a:t>
            </a:r>
          </a:p>
          <a:p>
            <a:pPr lvl="1"/>
            <a:r>
              <a:rPr lang="en-US" sz="2400" b="1" i="1" dirty="0" smtClean="0">
                <a:solidFill>
                  <a:schemeClr val="bg1"/>
                </a:solidFill>
                <a:latin typeface="+mj-lt"/>
              </a:rPr>
              <a:t>margin: top right bottom left</a:t>
            </a:r>
            <a:endParaRPr lang="en-US" sz="2100" b="1" i="1" dirty="0" smtClean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39869504"/>
      </p:ext>
    </p:extLst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Padding Styles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/>
            <a:r>
              <a:rPr lang="en-US" dirty="0" smtClean="0"/>
              <a:t>Styles to set padding are similar to styles to set margins:</a:t>
            </a:r>
          </a:p>
          <a:p>
            <a:pPr marL="914400" lvl="1" indent="-457200"/>
            <a:r>
              <a:rPr lang="en-US" dirty="0" smtClean="0">
                <a:solidFill>
                  <a:schemeClr val="bg1"/>
                </a:solidFill>
                <a:latin typeface="Courier New" pitchFamily="49" charset="0"/>
              </a:rPr>
              <a:t>padding-top: </a:t>
            </a:r>
            <a:r>
              <a:rPr lang="en-US" i="1" dirty="0" smtClean="0">
                <a:solidFill>
                  <a:schemeClr val="bg1"/>
                </a:solidFill>
                <a:latin typeface="Courier New" pitchFamily="49" charset="0"/>
              </a:rPr>
              <a:t>value</a:t>
            </a:r>
          </a:p>
          <a:p>
            <a:pPr marL="914400" lvl="1" indent="-457200"/>
            <a:r>
              <a:rPr lang="en-US" dirty="0" smtClean="0">
                <a:solidFill>
                  <a:schemeClr val="bg1"/>
                </a:solidFill>
                <a:latin typeface="Courier New" pitchFamily="49" charset="0"/>
              </a:rPr>
              <a:t>padding-right: </a:t>
            </a:r>
            <a:r>
              <a:rPr lang="en-US" i="1" dirty="0" smtClean="0">
                <a:solidFill>
                  <a:schemeClr val="bg1"/>
                </a:solidFill>
                <a:latin typeface="Courier New" pitchFamily="49" charset="0"/>
              </a:rPr>
              <a:t>value</a:t>
            </a:r>
            <a:endParaRPr lang="en-US" dirty="0" smtClean="0">
              <a:solidFill>
                <a:schemeClr val="bg1"/>
              </a:solidFill>
              <a:latin typeface="Courier New" pitchFamily="49" charset="0"/>
            </a:endParaRPr>
          </a:p>
          <a:p>
            <a:pPr marL="914400" lvl="1" indent="-457200"/>
            <a:r>
              <a:rPr lang="en-US" dirty="0" smtClean="0">
                <a:solidFill>
                  <a:schemeClr val="bg1"/>
                </a:solidFill>
                <a:latin typeface="Courier New" pitchFamily="49" charset="0"/>
              </a:rPr>
              <a:t>padding-bottom: </a:t>
            </a:r>
            <a:r>
              <a:rPr lang="en-US" i="1" dirty="0" smtClean="0">
                <a:solidFill>
                  <a:schemeClr val="bg1"/>
                </a:solidFill>
                <a:latin typeface="Courier New" pitchFamily="49" charset="0"/>
              </a:rPr>
              <a:t>value</a:t>
            </a:r>
            <a:endParaRPr lang="en-US" dirty="0" smtClean="0">
              <a:solidFill>
                <a:schemeClr val="bg1"/>
              </a:solidFill>
              <a:latin typeface="Courier New" pitchFamily="49" charset="0"/>
            </a:endParaRPr>
          </a:p>
          <a:p>
            <a:pPr marL="914400" lvl="1" indent="-457200"/>
            <a:r>
              <a:rPr lang="en-US" dirty="0" smtClean="0">
                <a:solidFill>
                  <a:schemeClr val="bg1"/>
                </a:solidFill>
                <a:latin typeface="Courier New" pitchFamily="49" charset="0"/>
              </a:rPr>
              <a:t>padding-left: </a:t>
            </a:r>
            <a:r>
              <a:rPr lang="en-US" i="1" dirty="0" smtClean="0">
                <a:solidFill>
                  <a:schemeClr val="bg1"/>
                </a:solidFill>
                <a:latin typeface="Courier New" pitchFamily="49" charset="0"/>
              </a:rPr>
              <a:t>value</a:t>
            </a:r>
            <a:endParaRPr lang="en-US" dirty="0" smtClean="0">
              <a:solidFill>
                <a:schemeClr val="bg1"/>
              </a:solidFill>
              <a:latin typeface="Courier New" pitchFamily="49" charset="0"/>
            </a:endParaRPr>
          </a:p>
          <a:p>
            <a:pPr marL="914400" lvl="1" indent="-457200"/>
            <a:endParaRPr lang="en-US" b="1" dirty="0" smtClean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91023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7772400" cy="609600"/>
          </a:xfrm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Border Styles</a:t>
            </a:r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7772400" cy="4800600"/>
          </a:xfrm>
        </p:spPr>
        <p:txBody>
          <a:bodyPr/>
          <a:lstStyle/>
          <a:p>
            <a:r>
              <a:rPr lang="en-US" sz="2400" dirty="0" smtClean="0">
                <a:solidFill>
                  <a:schemeClr val="bg1"/>
                </a:solidFill>
              </a:rPr>
              <a:t>border-top-width: </a:t>
            </a:r>
            <a:r>
              <a:rPr lang="en-US" sz="2400" i="1" dirty="0" smtClean="0">
                <a:solidFill>
                  <a:schemeClr val="bg1"/>
                </a:solidFill>
              </a:rPr>
              <a:t>length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border-right-width: </a:t>
            </a:r>
            <a:r>
              <a:rPr lang="en-US" sz="2400" i="1" dirty="0" smtClean="0">
                <a:solidFill>
                  <a:schemeClr val="bg1"/>
                </a:solidFill>
              </a:rPr>
              <a:t>length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border-bottom-width: </a:t>
            </a:r>
            <a:r>
              <a:rPr lang="en-US" sz="2400" i="1" dirty="0" smtClean="0">
                <a:solidFill>
                  <a:schemeClr val="bg1"/>
                </a:solidFill>
              </a:rPr>
              <a:t>length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border-left-width: </a:t>
            </a:r>
            <a:r>
              <a:rPr lang="en-US" sz="2400" i="1" dirty="0" smtClean="0">
                <a:solidFill>
                  <a:schemeClr val="bg1"/>
                </a:solidFill>
              </a:rPr>
              <a:t>length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border-width: </a:t>
            </a:r>
            <a:r>
              <a:rPr lang="en-US" sz="2400" i="1" dirty="0" smtClean="0">
                <a:solidFill>
                  <a:schemeClr val="bg1"/>
                </a:solidFill>
              </a:rPr>
              <a:t>top right bottom left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border-top-color: </a:t>
            </a:r>
            <a:r>
              <a:rPr lang="en-US" sz="2400" i="1" dirty="0" smtClean="0">
                <a:solidFill>
                  <a:schemeClr val="bg1"/>
                </a:solidFill>
              </a:rPr>
              <a:t>color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border-right-color: </a:t>
            </a:r>
            <a:r>
              <a:rPr lang="en-US" sz="2400" i="1" dirty="0" smtClean="0">
                <a:solidFill>
                  <a:schemeClr val="bg1"/>
                </a:solidFill>
              </a:rPr>
              <a:t>color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border-bottom-color: </a:t>
            </a:r>
            <a:r>
              <a:rPr lang="en-US" sz="2400" i="1" dirty="0" smtClean="0">
                <a:solidFill>
                  <a:schemeClr val="bg1"/>
                </a:solidFill>
              </a:rPr>
              <a:t>color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border-left-color: </a:t>
            </a:r>
            <a:r>
              <a:rPr lang="en-US" sz="2400" i="1" dirty="0" smtClean="0">
                <a:solidFill>
                  <a:schemeClr val="bg1"/>
                </a:solidFill>
              </a:rPr>
              <a:t>color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border-color: </a:t>
            </a:r>
            <a:r>
              <a:rPr lang="en-US" sz="2400" i="1" dirty="0" smtClean="0">
                <a:solidFill>
                  <a:schemeClr val="bg1"/>
                </a:solidFill>
              </a:rPr>
              <a:t>top right bottom left</a:t>
            </a:r>
            <a:endParaRPr lang="en-US" sz="24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768687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Border Styles</a:t>
            </a:r>
          </a:p>
        </p:txBody>
      </p:sp>
      <p:sp>
        <p:nvSpPr>
          <p:cNvPr id="665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solidFill>
                  <a:schemeClr val="bg1"/>
                </a:solidFill>
              </a:rPr>
              <a:t>border-top-style: </a:t>
            </a:r>
            <a:r>
              <a:rPr lang="en-US" sz="2400" i="1" dirty="0" smtClean="0">
                <a:solidFill>
                  <a:schemeClr val="bg1"/>
                </a:solidFill>
              </a:rPr>
              <a:t>type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border-right-style: </a:t>
            </a:r>
            <a:r>
              <a:rPr lang="en-US" sz="2400" i="1" dirty="0" smtClean="0">
                <a:solidFill>
                  <a:schemeClr val="bg1"/>
                </a:solidFill>
              </a:rPr>
              <a:t>type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border-bottom-style: </a:t>
            </a:r>
            <a:r>
              <a:rPr lang="en-US" sz="2400" i="1" dirty="0" smtClean="0">
                <a:solidFill>
                  <a:schemeClr val="bg1"/>
                </a:solidFill>
              </a:rPr>
              <a:t>type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border-left-style: </a:t>
            </a:r>
            <a:r>
              <a:rPr lang="en-US" sz="2400" i="1" dirty="0" smtClean="0">
                <a:solidFill>
                  <a:schemeClr val="bg1"/>
                </a:solidFill>
              </a:rPr>
              <a:t>type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border-style: </a:t>
            </a:r>
            <a:r>
              <a:rPr lang="en-US" sz="2400" i="1" dirty="0" smtClean="0">
                <a:solidFill>
                  <a:schemeClr val="bg1"/>
                </a:solidFill>
              </a:rPr>
              <a:t>top right bottom left</a:t>
            </a:r>
            <a:endParaRPr lang="en-US" sz="24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58801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609600" y="381000"/>
            <a:ext cx="7772400" cy="609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dirty="0" smtClean="0">
                <a:solidFill>
                  <a:schemeClr val="accent2"/>
                </a:solidFill>
              </a:rPr>
              <a:t>Table Design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5029200"/>
          </a:xfrm>
          <a:ln/>
        </p:spPr>
        <p:txBody>
          <a:bodyPr/>
          <a:lstStyle/>
          <a:p>
            <a:r>
              <a:rPr lang="en-US" sz="2400" dirty="0" smtClean="0">
                <a:solidFill>
                  <a:schemeClr val="bg1"/>
                </a:solidFill>
              </a:rPr>
              <a:t>Tables can build a nice layout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Tables are predictable</a:t>
            </a:r>
          </a:p>
          <a:p>
            <a:pPr>
              <a:buNone/>
            </a:pPr>
            <a:r>
              <a:rPr lang="en-US" sz="2400" b="1" dirty="0" smtClean="0">
                <a:solidFill>
                  <a:schemeClr val="bg1"/>
                </a:solidFill>
              </a:rPr>
              <a:t>Alternative Design Method</a:t>
            </a:r>
          </a:p>
          <a:p>
            <a:pPr>
              <a:lnSpc>
                <a:spcPct val="90000"/>
              </a:lnSpc>
            </a:pPr>
            <a:r>
              <a:rPr lang="en-US" sz="2400" dirty="0" smtClean="0">
                <a:solidFill>
                  <a:schemeClr val="bg1"/>
                </a:solidFill>
              </a:rPr>
              <a:t>DIVs can be an alternate to </a:t>
            </a:r>
            <a:r>
              <a:rPr lang="en-US" sz="2400" dirty="0" smtClean="0">
                <a:solidFill>
                  <a:schemeClr val="bg1"/>
                </a:solidFill>
                <a:latin typeface="Courier" pitchFamily="49" charset="0"/>
              </a:rPr>
              <a:t>&lt;table&gt;</a:t>
            </a:r>
          </a:p>
          <a:p>
            <a:pPr>
              <a:lnSpc>
                <a:spcPct val="90000"/>
              </a:lnSpc>
            </a:pPr>
            <a:r>
              <a:rPr lang="en-US" sz="2400" dirty="0" smtClean="0">
                <a:solidFill>
                  <a:schemeClr val="bg1"/>
                </a:solidFill>
              </a:rPr>
              <a:t>DIVs are a container like a table cell</a:t>
            </a:r>
          </a:p>
          <a:p>
            <a:pPr>
              <a:lnSpc>
                <a:spcPct val="90000"/>
              </a:lnSpc>
            </a:pPr>
            <a:r>
              <a:rPr lang="en-US" sz="2400" dirty="0" smtClean="0">
                <a:solidFill>
                  <a:schemeClr val="bg1"/>
                </a:solidFill>
              </a:rPr>
              <a:t>CSS can position the DIV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dirty="0" smtClean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 smtClean="0">
                <a:solidFill>
                  <a:schemeClr val="bg1"/>
                </a:solidFill>
                <a:latin typeface="Courier" pitchFamily="49" charset="0"/>
              </a:rPr>
              <a:t>&lt;div id="article"&gt;xxx&lt;/div&gt;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 smtClean="0">
                <a:solidFill>
                  <a:schemeClr val="bg1"/>
                </a:solidFill>
                <a:latin typeface="Courier" pitchFamily="49" charset="0"/>
              </a:rPr>
              <a:t>#article{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 smtClean="0">
                <a:solidFill>
                  <a:schemeClr val="bg1"/>
                </a:solidFill>
                <a:latin typeface="Courier" pitchFamily="49" charset="0"/>
              </a:rPr>
              <a:t>	width:250px;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 smtClean="0">
                <a:solidFill>
                  <a:schemeClr val="bg1"/>
                </a:solidFill>
                <a:latin typeface="Courier" pitchFamily="49" charset="0"/>
              </a:rPr>
              <a:t>	padding:5px;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 smtClean="0">
                <a:solidFill>
                  <a:schemeClr val="bg1"/>
                </a:solidFill>
                <a:latin typeface="Courier" pitchFamily="49" charset="0"/>
              </a:rPr>
              <a:t>	</a:t>
            </a:r>
            <a:r>
              <a:rPr lang="en-US" sz="2400" dirty="0" err="1" smtClean="0">
                <a:solidFill>
                  <a:schemeClr val="bg1"/>
                </a:solidFill>
                <a:latin typeface="Courier" pitchFamily="49" charset="0"/>
              </a:rPr>
              <a:t>float:right</a:t>
            </a:r>
            <a:r>
              <a:rPr lang="en-US" sz="2400" dirty="0" smtClean="0">
                <a:solidFill>
                  <a:schemeClr val="bg1"/>
                </a:solidFill>
                <a:latin typeface="Courier" pitchFamily="49" charset="0"/>
              </a:rPr>
              <a:t>;} </a:t>
            </a:r>
          </a:p>
          <a:p>
            <a:pPr>
              <a:buNone/>
            </a:pP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421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685800" y="3810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dirty="0" smtClean="0">
                <a:solidFill>
                  <a:schemeClr val="accent2"/>
                </a:solidFill>
              </a:rPr>
              <a:t>DIV Design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2819400"/>
            <a:ext cx="7772400" cy="3048000"/>
          </a:xfrm>
          <a:ln/>
        </p:spPr>
        <p:txBody>
          <a:bodyPr/>
          <a:lstStyle/>
          <a:p>
            <a:pPr>
              <a:buFontTx/>
              <a:buNone/>
            </a:pPr>
            <a:r>
              <a:rPr lang="en-US" dirty="0">
                <a:solidFill>
                  <a:schemeClr val="bg1"/>
                </a:solidFill>
              </a:rPr>
              <a:t>Use DIVs to create the skeleton of the page.</a:t>
            </a:r>
          </a:p>
          <a:p>
            <a:r>
              <a:rPr lang="en-US" dirty="0">
                <a:solidFill>
                  <a:schemeClr val="bg1"/>
                </a:solidFill>
              </a:rPr>
              <a:t>There should be no display-specific information in the XHTML</a:t>
            </a:r>
          </a:p>
          <a:p>
            <a:r>
              <a:rPr lang="en-US" b="1" i="1" dirty="0">
                <a:solidFill>
                  <a:schemeClr val="bg1"/>
                </a:solidFill>
              </a:rPr>
              <a:t>The Goal</a:t>
            </a:r>
            <a:r>
              <a:rPr lang="en-US" dirty="0">
                <a:solidFill>
                  <a:schemeClr val="bg1"/>
                </a:solidFill>
              </a:rPr>
              <a:t>: separate the information from the layout / presentation of the page</a:t>
            </a:r>
          </a:p>
          <a:p>
            <a:r>
              <a:rPr lang="en-US" dirty="0">
                <a:solidFill>
                  <a:schemeClr val="bg1"/>
                </a:solidFill>
              </a:rPr>
              <a:t>Layout is entirely controlled by CSS</a:t>
            </a:r>
          </a:p>
          <a:p>
            <a:pPr algn="ctr">
              <a:buFontTx/>
              <a:buNone/>
            </a:pP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421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685800" y="381000"/>
            <a:ext cx="7772400" cy="990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dirty="0" smtClean="0">
                <a:solidFill>
                  <a:schemeClr val="accent2"/>
                </a:solidFill>
              </a:rPr>
              <a:t>CSS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2819400"/>
            <a:ext cx="7772400" cy="3048000"/>
          </a:xfrm>
          <a:ln/>
        </p:spPr>
        <p:txBody>
          <a:bodyPr/>
          <a:lstStyle/>
          <a:p>
            <a:pPr algn="ctr">
              <a:buFontTx/>
              <a:buNone/>
            </a:pP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4" name="Picture 9" descr="S:\WGroups\Web_Development\Documents\WebDevShare\images\templat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3421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Normal Flow Layout</a:t>
            </a:r>
          </a:p>
        </p:txBody>
      </p:sp>
      <p:pic>
        <p:nvPicPr>
          <p:cNvPr id="3553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733800"/>
            <a:ext cx="5910263" cy="2290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533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600200"/>
            <a:ext cx="6896100" cy="170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5334" name="Text Box 6"/>
          <p:cNvSpPr txBox="1">
            <a:spLocks noChangeArrowheads="1"/>
          </p:cNvSpPr>
          <p:nvPr/>
        </p:nvSpPr>
        <p:spPr bwMode="auto">
          <a:xfrm>
            <a:off x="457200" y="4191000"/>
            <a:ext cx="111125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80"/>
                </a:solidFill>
              </a:rPr>
              <a:t>Block</a:t>
            </a:r>
          </a:p>
          <a:p>
            <a:r>
              <a:rPr lang="en-US">
                <a:solidFill>
                  <a:srgbClr val="008080"/>
                </a:solidFill>
              </a:rPr>
              <a:t>elements</a:t>
            </a:r>
          </a:p>
          <a:p>
            <a:r>
              <a:rPr lang="en-US">
                <a:solidFill>
                  <a:srgbClr val="008080"/>
                </a:solidFill>
              </a:rPr>
              <a:t>only</a:t>
            </a:r>
          </a:p>
        </p:txBody>
      </p:sp>
    </p:spTree>
    <p:extLst>
      <p:ext uri="{BB962C8B-B14F-4D97-AF65-F5344CB8AC3E}">
        <p14:creationId xmlns:p14="http://schemas.microsoft.com/office/powerpoint/2010/main" val="55062262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Guy-Vincent </a:t>
            </a:r>
            <a:r>
              <a:rPr lang="en-US" dirty="0" err="1"/>
              <a:t>Jourdan</a:t>
            </a:r>
            <a:r>
              <a:rPr lang="en-US" dirty="0"/>
              <a:t> :: CSI 3140 :: based on Jeffrey C. Jackson’s slides</a:t>
            </a:r>
            <a:endParaRPr lang="en-CA" dirty="0"/>
          </a:p>
        </p:txBody>
      </p:sp>
      <p:sp>
        <p:nvSpPr>
          <p:cNvPr id="357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Flow Layout</a:t>
            </a:r>
          </a:p>
        </p:txBody>
      </p:sp>
      <p:pic>
        <p:nvPicPr>
          <p:cNvPr id="357380" name="Picture 4" descr="BlockBox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2588" y="1524000"/>
            <a:ext cx="2862262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7381" name="Text Box 5"/>
          <p:cNvSpPr txBox="1">
            <a:spLocks noChangeArrowheads="1"/>
          </p:cNvSpPr>
          <p:nvPr/>
        </p:nvSpPr>
        <p:spPr bwMode="auto">
          <a:xfrm>
            <a:off x="1143000" y="1981200"/>
            <a:ext cx="615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html</a:t>
            </a:r>
          </a:p>
        </p:txBody>
      </p:sp>
      <p:sp>
        <p:nvSpPr>
          <p:cNvPr id="357382" name="Line 6"/>
          <p:cNvSpPr>
            <a:spLocks noChangeShapeType="1"/>
          </p:cNvSpPr>
          <p:nvPr/>
        </p:nvSpPr>
        <p:spPr bwMode="auto">
          <a:xfrm>
            <a:off x="1692275" y="2173288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7383" name="Text Box 7"/>
          <p:cNvSpPr txBox="1">
            <a:spLocks noChangeArrowheads="1"/>
          </p:cNvSpPr>
          <p:nvPr/>
        </p:nvSpPr>
        <p:spPr bwMode="auto">
          <a:xfrm>
            <a:off x="955120" y="2209800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800" dirty="0"/>
              <a:t>body</a:t>
            </a:r>
          </a:p>
        </p:txBody>
      </p:sp>
      <p:sp>
        <p:nvSpPr>
          <p:cNvPr id="357384" name="Line 8"/>
          <p:cNvSpPr>
            <a:spLocks noChangeShapeType="1"/>
          </p:cNvSpPr>
          <p:nvPr/>
        </p:nvSpPr>
        <p:spPr bwMode="auto">
          <a:xfrm>
            <a:off x="1692275" y="2478088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7386" name="Text Box 10"/>
          <p:cNvSpPr txBox="1">
            <a:spLocks noChangeArrowheads="1"/>
          </p:cNvSpPr>
          <p:nvPr/>
        </p:nvSpPr>
        <p:spPr bwMode="auto">
          <a:xfrm>
            <a:off x="1066800" y="2514600"/>
            <a:ext cx="793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div d1</a:t>
            </a:r>
          </a:p>
        </p:txBody>
      </p:sp>
      <p:sp>
        <p:nvSpPr>
          <p:cNvPr id="357387" name="Line 11"/>
          <p:cNvSpPr>
            <a:spLocks noChangeShapeType="1"/>
          </p:cNvSpPr>
          <p:nvPr/>
        </p:nvSpPr>
        <p:spPr bwMode="auto">
          <a:xfrm>
            <a:off x="1828800" y="2743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7388" name="Text Box 12"/>
          <p:cNvSpPr txBox="1">
            <a:spLocks noChangeArrowheads="1"/>
          </p:cNvSpPr>
          <p:nvPr/>
        </p:nvSpPr>
        <p:spPr bwMode="auto">
          <a:xfrm>
            <a:off x="1050925" y="2855913"/>
            <a:ext cx="793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div d2</a:t>
            </a:r>
          </a:p>
        </p:txBody>
      </p:sp>
      <p:sp>
        <p:nvSpPr>
          <p:cNvPr id="357389" name="Line 13"/>
          <p:cNvSpPr>
            <a:spLocks noChangeShapeType="1"/>
          </p:cNvSpPr>
          <p:nvPr/>
        </p:nvSpPr>
        <p:spPr bwMode="auto">
          <a:xfrm>
            <a:off x="1828800" y="30480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7390" name="Text Box 14"/>
          <p:cNvSpPr txBox="1">
            <a:spLocks noChangeArrowheads="1"/>
          </p:cNvSpPr>
          <p:nvPr/>
        </p:nvSpPr>
        <p:spPr bwMode="auto">
          <a:xfrm>
            <a:off x="1050925" y="3236913"/>
            <a:ext cx="793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div d3</a:t>
            </a:r>
          </a:p>
        </p:txBody>
      </p:sp>
      <p:sp>
        <p:nvSpPr>
          <p:cNvPr id="357391" name="Line 15"/>
          <p:cNvSpPr>
            <a:spLocks noChangeShapeType="1"/>
          </p:cNvSpPr>
          <p:nvPr/>
        </p:nvSpPr>
        <p:spPr bwMode="auto">
          <a:xfrm>
            <a:off x="1828800" y="34290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7392" name="Text Box 16"/>
          <p:cNvSpPr txBox="1">
            <a:spLocks noChangeArrowheads="1"/>
          </p:cNvSpPr>
          <p:nvPr/>
        </p:nvSpPr>
        <p:spPr bwMode="auto">
          <a:xfrm>
            <a:off x="1066800" y="3962400"/>
            <a:ext cx="793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div d4</a:t>
            </a:r>
          </a:p>
        </p:txBody>
      </p:sp>
      <p:sp>
        <p:nvSpPr>
          <p:cNvPr id="357393" name="Line 17"/>
          <p:cNvSpPr>
            <a:spLocks noChangeShapeType="1"/>
          </p:cNvSpPr>
          <p:nvPr/>
        </p:nvSpPr>
        <p:spPr bwMode="auto">
          <a:xfrm>
            <a:off x="1920875" y="4154488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7394" name="Text Box 18"/>
          <p:cNvSpPr txBox="1">
            <a:spLocks noChangeArrowheads="1"/>
          </p:cNvSpPr>
          <p:nvPr/>
        </p:nvSpPr>
        <p:spPr bwMode="auto">
          <a:xfrm>
            <a:off x="517525" y="4532313"/>
            <a:ext cx="20256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8080"/>
                </a:solidFill>
              </a:rPr>
              <a:t>Top edges of</a:t>
            </a:r>
          </a:p>
          <a:p>
            <a:r>
              <a:rPr lang="en-US" dirty="0">
                <a:solidFill>
                  <a:srgbClr val="008080"/>
                </a:solidFill>
              </a:rPr>
              <a:t>block boxes are</a:t>
            </a:r>
          </a:p>
          <a:p>
            <a:r>
              <a:rPr lang="en-US" dirty="0">
                <a:solidFill>
                  <a:srgbClr val="008080"/>
                </a:solidFill>
              </a:rPr>
              <a:t>in document order</a:t>
            </a:r>
          </a:p>
        </p:txBody>
      </p:sp>
    </p:spTree>
    <p:extLst>
      <p:ext uri="{BB962C8B-B14F-4D97-AF65-F5344CB8AC3E}">
        <p14:creationId xmlns:p14="http://schemas.microsoft.com/office/powerpoint/2010/main" val="149135188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ext Box 1"/>
          <p:cNvSpPr txBox="1">
            <a:spLocks noChangeArrowheads="1"/>
          </p:cNvSpPr>
          <p:nvPr/>
        </p:nvSpPr>
        <p:spPr bwMode="auto">
          <a:xfrm>
            <a:off x="1014413" y="1974850"/>
            <a:ext cx="6997700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55600" indent="-355600"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lnSpc>
                <a:spcPct val="92000"/>
              </a:lnSpc>
              <a:spcBef>
                <a:spcPts val="800"/>
              </a:spcBef>
              <a:buClr>
                <a:srgbClr val="6E0605"/>
              </a:buClr>
              <a:buFont typeface="Wingdings" charset="2"/>
              <a:buChar char=""/>
            </a:pPr>
            <a:r>
              <a:rPr lang="en-GB" sz="3200">
                <a:solidFill>
                  <a:srgbClr val="333333"/>
                </a:solidFill>
                <a:latin typeface="Segoe" charset="0"/>
              </a:rPr>
              <a:t>At heart, a navigation bar is nothing more than a bunch of links. More specifically, it’s actually a </a:t>
            </a:r>
            <a:r>
              <a:rPr lang="en-GB" sz="3200" i="1">
                <a:solidFill>
                  <a:srgbClr val="3333CC"/>
                </a:solidFill>
                <a:latin typeface="Segoe" charset="0"/>
              </a:rPr>
              <a:t>list</a:t>
            </a:r>
            <a:r>
              <a:rPr lang="en-GB" sz="3200">
                <a:solidFill>
                  <a:srgbClr val="333333"/>
                </a:solidFill>
                <a:latin typeface="Segoe" charset="0"/>
              </a:rPr>
              <a:t> of the different sections of a site. Lists provide us with a way of grouping related elements and, by doing so, we give them meaning and structure. </a:t>
            </a:r>
          </a:p>
        </p:txBody>
      </p:sp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457200" y="317500"/>
            <a:ext cx="8226425" cy="105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 algn="ctr">
              <a:lnSpc>
                <a:spcPct val="88000"/>
              </a:lnSpc>
            </a:pPr>
            <a:r>
              <a:rPr lang="en-GB" sz="3200" b="1">
                <a:solidFill>
                  <a:srgbClr val="FFFFFF"/>
                </a:solidFill>
                <a:latin typeface="DIN-Medium" pitchFamily="32" charset="0"/>
              </a:rPr>
              <a:t>Building Navigation Bars</a:t>
            </a:r>
          </a:p>
        </p:txBody>
      </p:sp>
    </p:spTree>
    <p:extLst>
      <p:ext uri="{BB962C8B-B14F-4D97-AF65-F5344CB8AC3E}">
        <p14:creationId xmlns:p14="http://schemas.microsoft.com/office/powerpoint/2010/main" val="38807281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ext Box 1"/>
          <p:cNvSpPr txBox="1">
            <a:spLocks noChangeArrowheads="1"/>
          </p:cNvSpPr>
          <p:nvPr/>
        </p:nvSpPr>
        <p:spPr bwMode="auto">
          <a:xfrm>
            <a:off x="1066800" y="1835150"/>
            <a:ext cx="7302500" cy="4649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55600" indent="-355600"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lnSpc>
                <a:spcPct val="82000"/>
              </a:lnSpc>
              <a:spcBef>
                <a:spcPts val="800"/>
              </a:spcBef>
              <a:buClr>
                <a:srgbClr val="6E0605"/>
              </a:buClr>
              <a:buFont typeface="Wingdings" charset="2"/>
              <a:buChar char=""/>
            </a:pPr>
            <a:r>
              <a:rPr lang="en-GB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" charset="0"/>
              </a:rPr>
              <a:t> </a:t>
            </a:r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" charset="0"/>
              </a:rPr>
              <a:t>A navigation menu is based on a simple </a:t>
            </a:r>
            <a:r>
              <a:rPr lang="en-GB" sz="32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" charset="0"/>
              </a:rPr>
              <a:t>list</a:t>
            </a:r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" charset="0"/>
              </a:rPr>
              <a:t> inside a div, like this:</a:t>
            </a:r>
            <a:r>
              <a:rPr lang="en-GB" sz="1600" dirty="0">
                <a:solidFill>
                  <a:srgbClr val="333333"/>
                </a:solidFill>
                <a:latin typeface="Segoe" charset="0"/>
              </a:rPr>
              <a:t/>
            </a:r>
            <a:br>
              <a:rPr lang="en-GB" sz="1600" dirty="0">
                <a:solidFill>
                  <a:srgbClr val="333333"/>
                </a:solidFill>
                <a:latin typeface="Segoe" charset="0"/>
              </a:rPr>
            </a:br>
            <a:endParaRPr lang="en-GB" sz="1600" dirty="0">
              <a:solidFill>
                <a:srgbClr val="333333"/>
              </a:solidFill>
              <a:latin typeface="Segoe" charset="0"/>
            </a:endParaRPr>
          </a:p>
          <a:p>
            <a:pPr>
              <a:lnSpc>
                <a:spcPct val="92000"/>
              </a:lnSpc>
              <a:spcBef>
                <a:spcPts val="500"/>
              </a:spcBef>
            </a:pPr>
            <a:r>
              <a:rPr lang="en-GB" sz="2600" b="1" dirty="0">
                <a:solidFill>
                  <a:srgbClr val="3333CC"/>
                </a:solidFill>
              </a:rPr>
              <a:t>&lt;</a:t>
            </a:r>
            <a:r>
              <a:rPr lang="en-GB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div id=“</a:t>
            </a:r>
            <a:r>
              <a:rPr lang="en-GB" sz="26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NavBar</a:t>
            </a:r>
            <a:r>
              <a:rPr lang="en-GB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"&gt;</a:t>
            </a:r>
          </a:p>
          <a:p>
            <a:pPr>
              <a:lnSpc>
                <a:spcPct val="92000"/>
              </a:lnSpc>
              <a:spcBef>
                <a:spcPts val="500"/>
              </a:spcBef>
            </a:pPr>
            <a:r>
              <a:rPr lang="en-GB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&lt;</a:t>
            </a:r>
            <a:r>
              <a:rPr lang="en-GB" sz="26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ul</a:t>
            </a:r>
            <a:r>
              <a:rPr lang="en-GB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&gt;</a:t>
            </a:r>
          </a:p>
          <a:p>
            <a:pPr>
              <a:lnSpc>
                <a:spcPct val="92000"/>
              </a:lnSpc>
              <a:spcBef>
                <a:spcPts val="500"/>
              </a:spcBef>
            </a:pPr>
            <a:r>
              <a:rPr lang="en-GB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&lt;li&gt;&lt;a </a:t>
            </a:r>
            <a:r>
              <a:rPr lang="en-GB" sz="26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href</a:t>
            </a:r>
            <a:r>
              <a:rPr lang="en-GB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="#"&gt;Home&lt;/a&gt;&lt;/li&gt;</a:t>
            </a:r>
          </a:p>
          <a:p>
            <a:pPr>
              <a:lnSpc>
                <a:spcPct val="92000"/>
              </a:lnSpc>
              <a:spcBef>
                <a:spcPts val="500"/>
              </a:spcBef>
            </a:pPr>
            <a:r>
              <a:rPr lang="en-GB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&lt;li&gt;&lt;a </a:t>
            </a:r>
            <a:r>
              <a:rPr lang="en-GB" sz="26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href</a:t>
            </a:r>
            <a:r>
              <a:rPr lang="en-GB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="#"&gt;About&lt;/a&gt;&lt;/li&gt;</a:t>
            </a:r>
          </a:p>
          <a:p>
            <a:pPr>
              <a:lnSpc>
                <a:spcPct val="92000"/>
              </a:lnSpc>
              <a:spcBef>
                <a:spcPts val="500"/>
              </a:spcBef>
            </a:pPr>
            <a:r>
              <a:rPr lang="en-GB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&lt;li&gt;&lt;a </a:t>
            </a:r>
            <a:r>
              <a:rPr lang="en-GB" sz="26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href</a:t>
            </a:r>
            <a:r>
              <a:rPr lang="en-GB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="#"&gt;Events&lt;a/&gt;&lt;/li&gt;</a:t>
            </a:r>
          </a:p>
          <a:p>
            <a:pPr>
              <a:lnSpc>
                <a:spcPct val="92000"/>
              </a:lnSpc>
              <a:spcBef>
                <a:spcPts val="500"/>
              </a:spcBef>
            </a:pPr>
            <a:r>
              <a:rPr lang="en-GB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&lt;li&gt;&lt;a </a:t>
            </a:r>
            <a:r>
              <a:rPr lang="en-GB" sz="26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href</a:t>
            </a:r>
            <a:r>
              <a:rPr lang="en-GB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="#"&gt;Forum&lt;/a&gt;&lt;/li&gt;</a:t>
            </a:r>
          </a:p>
          <a:p>
            <a:pPr>
              <a:lnSpc>
                <a:spcPct val="92000"/>
              </a:lnSpc>
              <a:spcBef>
                <a:spcPts val="500"/>
              </a:spcBef>
            </a:pPr>
            <a:r>
              <a:rPr lang="en-GB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&lt;/</a:t>
            </a:r>
            <a:r>
              <a:rPr lang="en-GB" sz="26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ul</a:t>
            </a:r>
            <a:r>
              <a:rPr lang="en-GB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&gt;</a:t>
            </a:r>
          </a:p>
          <a:p>
            <a:pPr>
              <a:lnSpc>
                <a:spcPct val="92000"/>
              </a:lnSpc>
              <a:spcBef>
                <a:spcPts val="500"/>
              </a:spcBef>
            </a:pPr>
            <a:r>
              <a:rPr lang="en-GB" sz="2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&lt;/div&gt;</a:t>
            </a:r>
          </a:p>
        </p:txBody>
      </p:sp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457200" y="317500"/>
            <a:ext cx="8226425" cy="105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 algn="ctr">
              <a:lnSpc>
                <a:spcPct val="88000"/>
              </a:lnSpc>
            </a:pPr>
            <a:r>
              <a:rPr lang="en-GB" sz="3200" b="1">
                <a:solidFill>
                  <a:srgbClr val="FFFFFF"/>
                </a:solidFill>
                <a:latin typeface="DIN-Medium" pitchFamily="32" charset="0"/>
              </a:rPr>
              <a:t>Building Navigation Bars</a:t>
            </a:r>
          </a:p>
        </p:txBody>
      </p:sp>
    </p:spTree>
    <p:extLst>
      <p:ext uri="{BB962C8B-B14F-4D97-AF65-F5344CB8AC3E}">
        <p14:creationId xmlns:p14="http://schemas.microsoft.com/office/powerpoint/2010/main" val="42801830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ext Box 1"/>
          <p:cNvSpPr txBox="1">
            <a:spLocks noChangeArrowheads="1"/>
          </p:cNvSpPr>
          <p:nvPr/>
        </p:nvSpPr>
        <p:spPr bwMode="auto">
          <a:xfrm>
            <a:off x="846138" y="1943100"/>
            <a:ext cx="7340600" cy="470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55600" indent="-355600"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lnSpc>
                <a:spcPct val="82000"/>
              </a:lnSpc>
              <a:spcBef>
                <a:spcPts val="600"/>
              </a:spcBef>
              <a:buClr>
                <a:srgbClr val="6E0605"/>
              </a:buClr>
              <a:buFont typeface="Wingdings" charset="2"/>
              <a:buChar char=""/>
            </a:pPr>
            <a:r>
              <a:rPr lang="en-GB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Segoe" charset="0"/>
              </a:rPr>
              <a:t>Divs</a:t>
            </a:r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" charset="0"/>
              </a:rPr>
              <a:t> help add structure to a page. </a:t>
            </a:r>
            <a:r>
              <a:rPr lang="en-GB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Segoe" charset="0"/>
              </a:rPr>
              <a:t>Div</a:t>
            </a:r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" charset="0"/>
              </a:rPr>
              <a:t> stands for </a:t>
            </a:r>
            <a:r>
              <a:rPr lang="en-GB" sz="32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" charset="0"/>
              </a:rPr>
              <a:t>division</a:t>
            </a:r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" charset="0"/>
              </a:rPr>
              <a:t> and marks a logical group of elements on a page.</a:t>
            </a:r>
          </a:p>
          <a:p>
            <a:pPr>
              <a:lnSpc>
                <a:spcPct val="82000"/>
              </a:lnSpc>
              <a:spcBef>
                <a:spcPts val="600"/>
              </a:spcBef>
              <a:buClr>
                <a:srgbClr val="6E0605"/>
              </a:buClr>
              <a:buFont typeface="Wingdings" charset="2"/>
              <a:buChar char=""/>
            </a:pPr>
            <a:r>
              <a:rPr lang="en-GB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Segoe" charset="0"/>
              </a:rPr>
              <a:t>Divs</a:t>
            </a:r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" charset="0"/>
              </a:rPr>
              <a:t> divide the page into rectangular, box-like areas. Invisible unless you turn on borders or </a:t>
            </a:r>
            <a:r>
              <a:rPr lang="en-GB" sz="32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Segoe" charset="0"/>
              </a:rPr>
              <a:t>color</a:t>
            </a:r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" charset="0"/>
              </a:rPr>
              <a:t> background.</a:t>
            </a:r>
          </a:p>
          <a:p>
            <a:pPr>
              <a:lnSpc>
                <a:spcPct val="82000"/>
              </a:lnSpc>
              <a:spcBef>
                <a:spcPts val="600"/>
              </a:spcBef>
              <a:buClr>
                <a:srgbClr val="6E0605"/>
              </a:buClr>
              <a:buFont typeface="Wingdings" charset="2"/>
              <a:buChar char=""/>
            </a:pPr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" charset="0"/>
              </a:rPr>
              <a:t>Include &lt;div&gt; tags for all major regions of your page, such as header, main content, sidebar, etc.</a:t>
            </a:r>
          </a:p>
        </p:txBody>
      </p:sp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2247900" y="0"/>
            <a:ext cx="58420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17500"/>
            <a:ext cx="8226425" cy="1054100"/>
          </a:xfrm>
          <a:ln/>
        </p:spPr>
        <p:txBody>
          <a:bodyPr/>
          <a:lstStyle/>
          <a:p>
            <a:pPr hangingPunct="1">
              <a:lnSpc>
                <a:spcPct val="88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 b="1"/>
              <a:t>&lt;div class=”header”&gt;Title&lt;/div&gt;</a:t>
            </a:r>
          </a:p>
        </p:txBody>
      </p:sp>
    </p:spTree>
    <p:extLst>
      <p:ext uri="{BB962C8B-B14F-4D97-AF65-F5344CB8AC3E}">
        <p14:creationId xmlns:p14="http://schemas.microsoft.com/office/powerpoint/2010/main" val="32871113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ext Box 1"/>
          <p:cNvSpPr txBox="1">
            <a:spLocks noChangeArrowheads="1"/>
          </p:cNvSpPr>
          <p:nvPr/>
        </p:nvSpPr>
        <p:spPr bwMode="auto">
          <a:xfrm>
            <a:off x="1128713" y="1793875"/>
            <a:ext cx="6921500" cy="514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55600" indent="-355600"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defTabSz="457200" fontAlgn="base">
              <a:lnSpc>
                <a:spcPct val="7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355600" algn="l"/>
                <a:tab pos="812800" algn="l"/>
                <a:tab pos="1270000" algn="l"/>
                <a:tab pos="1727200" algn="l"/>
                <a:tab pos="2184400" algn="l"/>
                <a:tab pos="2641600" algn="l"/>
                <a:tab pos="3098800" algn="l"/>
                <a:tab pos="3556000" algn="l"/>
                <a:tab pos="4013200" algn="l"/>
                <a:tab pos="4470400" algn="l"/>
                <a:tab pos="4927600" algn="l"/>
                <a:tab pos="5384800" algn="l"/>
                <a:tab pos="5842000" algn="l"/>
                <a:tab pos="6299200" algn="l"/>
                <a:tab pos="6756400" algn="l"/>
                <a:tab pos="7213600" algn="l"/>
                <a:tab pos="7670800" algn="l"/>
                <a:tab pos="8128000" algn="l"/>
                <a:tab pos="8585200" algn="l"/>
                <a:tab pos="9042400" algn="l"/>
                <a:tab pos="9499600" algn="l"/>
              </a:tabLst>
              <a:defRPr u="sng"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lnSpc>
                <a:spcPct val="82000"/>
              </a:lnSpc>
              <a:spcBef>
                <a:spcPts val="600"/>
              </a:spcBef>
              <a:buClr>
                <a:srgbClr val="6E0605"/>
              </a:buClr>
              <a:buFont typeface="Wingdings" charset="2"/>
              <a:buChar char=""/>
            </a:pPr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" charset="0"/>
              </a:rPr>
              <a:t>Once your &lt;div&gt; tags are in place, add either a class or ID for styling each &lt;div&gt; separately.</a:t>
            </a:r>
          </a:p>
          <a:p>
            <a:pPr>
              <a:lnSpc>
                <a:spcPct val="82000"/>
              </a:lnSpc>
              <a:spcBef>
                <a:spcPts val="600"/>
              </a:spcBef>
              <a:buClr>
                <a:srgbClr val="6E0605"/>
              </a:buClr>
              <a:buFont typeface="Wingdings" charset="2"/>
              <a:buChar char=""/>
            </a:pPr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" charset="0"/>
              </a:rPr>
              <a:t>For parts of the page that appear only once and form the basic building blocks of the page, web designers usually use an ID.</a:t>
            </a:r>
          </a:p>
          <a:p>
            <a:pPr>
              <a:lnSpc>
                <a:spcPct val="82000"/>
              </a:lnSpc>
              <a:spcBef>
                <a:spcPts val="600"/>
              </a:spcBef>
              <a:buClr>
                <a:srgbClr val="6E0605"/>
              </a:buClr>
              <a:buFont typeface="Wingdings" charset="2"/>
              <a:buChar char=""/>
            </a:pPr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" charset="0"/>
              </a:rPr>
              <a:t>ID selectors are identified using a hash character (#); class selectors are identified with a period(.).</a:t>
            </a:r>
          </a:p>
          <a:p>
            <a:pPr>
              <a:lnSpc>
                <a:spcPct val="82000"/>
              </a:lnSpc>
              <a:spcBef>
                <a:spcPts val="600"/>
              </a:spcBef>
              <a:buClr>
                <a:srgbClr val="6E0605"/>
              </a:buClr>
              <a:buFont typeface="Wingdings" charset="2"/>
              <a:buNone/>
            </a:pPr>
            <a:endParaRPr lang="en-GB" sz="3200" dirty="0">
              <a:solidFill>
                <a:schemeClr val="accent1">
                  <a:lumMod val="60000"/>
                  <a:lumOff val="40000"/>
                </a:schemeClr>
              </a:solidFill>
              <a:latin typeface="Segoe" charset="0"/>
            </a:endParaRPr>
          </a:p>
        </p:txBody>
      </p:sp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2247900" y="0"/>
            <a:ext cx="58420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17500"/>
            <a:ext cx="8226425" cy="1054100"/>
          </a:xfrm>
          <a:ln/>
        </p:spPr>
        <p:txBody>
          <a:bodyPr/>
          <a:lstStyle/>
          <a:p>
            <a:pPr hangingPunct="1">
              <a:lnSpc>
                <a:spcPct val="88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32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Divs</a:t>
            </a:r>
            <a:r>
              <a:rPr lang="en-GB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&lt;div&gt;</a:t>
            </a:r>
          </a:p>
        </p:txBody>
      </p:sp>
    </p:spTree>
    <p:extLst>
      <p:ext uri="{BB962C8B-B14F-4D97-AF65-F5344CB8AC3E}">
        <p14:creationId xmlns:p14="http://schemas.microsoft.com/office/powerpoint/2010/main" val="33610885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10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44036" name="Rectangle 102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4037" name="Rectangle 1029"/>
          <p:cNvSpPr>
            <a:spLocks noChangeArrowheads="1"/>
          </p:cNvSpPr>
          <p:nvPr/>
        </p:nvSpPr>
        <p:spPr bwMode="auto">
          <a:xfrm>
            <a:off x="0" y="-152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en-US" sz="3200" i="1">
              <a:solidFill>
                <a:schemeClr val="tx2"/>
              </a:solidFill>
              <a:latin typeface="Arial" charset="0"/>
            </a:endParaRPr>
          </a:p>
        </p:txBody>
      </p:sp>
      <p:pic>
        <p:nvPicPr>
          <p:cNvPr id="44039" name="Picture 1031" descr="S:\WGroups\Web_Development\Documents\WebDevShare\images\himo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-457200"/>
            <a:ext cx="5233987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34824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Guy-Vincent Jourdan :: CSI 3140 :: based on Jeffrey C. Jackson’s slides</a:t>
            </a:r>
            <a:endParaRPr lang="en-CA"/>
          </a:p>
        </p:txBody>
      </p:sp>
      <p:sp>
        <p:nvSpPr>
          <p:cNvPr id="33587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CSS Box Model</a:t>
            </a:r>
          </a:p>
        </p:txBody>
      </p:sp>
      <p:pic>
        <p:nvPicPr>
          <p:cNvPr id="3358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524000"/>
            <a:ext cx="44910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58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209800"/>
            <a:ext cx="3881438" cy="201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5879" name="Picture 7" descr="SpanBoxStyl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267200"/>
            <a:ext cx="6553200" cy="192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68274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Guy-Vincent Jourdan :: CSI 3140 :: based on Jeffrey C. Jackson’s slides</a:t>
            </a:r>
            <a:endParaRPr lang="en-CA"/>
          </a:p>
        </p:txBody>
      </p:sp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CSS Box Model</a:t>
            </a:r>
          </a:p>
        </p:txBody>
      </p:sp>
      <p:pic>
        <p:nvPicPr>
          <p:cNvPr id="3379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524000"/>
            <a:ext cx="44910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79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209800"/>
            <a:ext cx="3881438" cy="201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7925" name="Picture 5" descr="SpanBoxStyl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267200"/>
            <a:ext cx="6553200" cy="192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7926" name="Oval 6"/>
          <p:cNvSpPr>
            <a:spLocks noChangeArrowheads="1"/>
          </p:cNvSpPr>
          <p:nvPr/>
        </p:nvSpPr>
        <p:spPr bwMode="auto">
          <a:xfrm>
            <a:off x="2667000" y="1524000"/>
            <a:ext cx="2438400" cy="3810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27" name="Line 7"/>
          <p:cNvSpPr>
            <a:spLocks noChangeShapeType="1"/>
          </p:cNvSpPr>
          <p:nvPr/>
        </p:nvSpPr>
        <p:spPr bwMode="auto">
          <a:xfrm flipH="1">
            <a:off x="2209800" y="1905000"/>
            <a:ext cx="914400" cy="3352800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28" name="Line 8"/>
          <p:cNvSpPr>
            <a:spLocks noChangeShapeType="1"/>
          </p:cNvSpPr>
          <p:nvPr/>
        </p:nvSpPr>
        <p:spPr bwMode="auto">
          <a:xfrm>
            <a:off x="4114800" y="1905000"/>
            <a:ext cx="914400" cy="3429000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1181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Guy-Vincent Jourdan :: CSI 3140 :: based on Jeffrey C. Jackson’s slides</a:t>
            </a:r>
            <a:endParaRPr lang="en-CA"/>
          </a:p>
        </p:txBody>
      </p:sp>
      <p:sp>
        <p:nvSpPr>
          <p:cNvPr id="338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CSS Box Model</a:t>
            </a:r>
          </a:p>
        </p:txBody>
      </p:sp>
      <p:pic>
        <p:nvPicPr>
          <p:cNvPr id="3389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524000"/>
            <a:ext cx="44910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89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209800"/>
            <a:ext cx="3881438" cy="2011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8949" name="Picture 5" descr="SpanBoxStyl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267200"/>
            <a:ext cx="6553200" cy="192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8950" name="Oval 6"/>
          <p:cNvSpPr>
            <a:spLocks noChangeArrowheads="1"/>
          </p:cNvSpPr>
          <p:nvPr/>
        </p:nvSpPr>
        <p:spPr bwMode="auto">
          <a:xfrm>
            <a:off x="2667000" y="2819400"/>
            <a:ext cx="2971800" cy="3810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951" name="Line 7"/>
          <p:cNvSpPr>
            <a:spLocks noChangeShapeType="1"/>
          </p:cNvSpPr>
          <p:nvPr/>
        </p:nvSpPr>
        <p:spPr bwMode="auto">
          <a:xfrm flipH="1">
            <a:off x="2971800" y="3200400"/>
            <a:ext cx="609600" cy="2057400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52" name="Line 8"/>
          <p:cNvSpPr>
            <a:spLocks noChangeShapeType="1"/>
          </p:cNvSpPr>
          <p:nvPr/>
        </p:nvSpPr>
        <p:spPr bwMode="auto">
          <a:xfrm>
            <a:off x="4724400" y="3200400"/>
            <a:ext cx="1066800" cy="2133600"/>
          </a:xfrm>
          <a:prstGeom prst="line">
            <a:avLst/>
          </a:prstGeom>
          <a:noFill/>
          <a:ln w="9525">
            <a:solidFill>
              <a:srgbClr val="00808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29859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Guy-Vincent Jourdan :: CSI 3140 :: based on Jeffrey C. Jackson’s slides</a:t>
            </a:r>
            <a:endParaRPr lang="en-CA"/>
          </a:p>
        </p:txBody>
      </p:sp>
      <p:sp>
        <p:nvSpPr>
          <p:cNvPr id="33997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CSS Box Model</a:t>
            </a:r>
          </a:p>
        </p:txBody>
      </p:sp>
      <p:pic>
        <p:nvPicPr>
          <p:cNvPr id="33997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371600"/>
            <a:ext cx="7254875" cy="1227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997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819400"/>
            <a:ext cx="6921500" cy="296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024117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Guy-Vincent Jourdan :: CSI 3140 :: based on Jeffrey C. Jackson’s slides</a:t>
            </a:r>
            <a:endParaRPr lang="en-CA"/>
          </a:p>
        </p:txBody>
      </p:sp>
      <p:sp>
        <p:nvSpPr>
          <p:cNvPr id="34406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CSS Box Model</a:t>
            </a:r>
          </a:p>
        </p:txBody>
      </p:sp>
      <p:pic>
        <p:nvPicPr>
          <p:cNvPr id="34406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5" y="2571750"/>
            <a:ext cx="7207250" cy="172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407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133600"/>
            <a:ext cx="70643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734156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Guy-Vincent Jourdan :: CSI 3140 :: based on Jeffrey C. Jackson’s slides</a:t>
            </a:r>
            <a:endParaRPr lang="en-CA"/>
          </a:p>
        </p:txBody>
      </p:sp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CSS Box Model</a:t>
            </a:r>
          </a:p>
        </p:txBody>
      </p:sp>
      <p:pic>
        <p:nvPicPr>
          <p:cNvPr id="3461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76400"/>
            <a:ext cx="7254875" cy="102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611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971800"/>
            <a:ext cx="4191000" cy="286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611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971800"/>
            <a:ext cx="4191000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6120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447800"/>
            <a:ext cx="70643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429977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Guy-Vincent </a:t>
            </a:r>
            <a:r>
              <a:rPr lang="en-US" dirty="0" err="1"/>
              <a:t>Jourdan</a:t>
            </a:r>
            <a:r>
              <a:rPr lang="en-US" dirty="0"/>
              <a:t> :: CSI 3140 :: based on Jeffrey C. Jackson’s slides</a:t>
            </a:r>
            <a:endParaRPr lang="en-CA" dirty="0"/>
          </a:p>
        </p:txBody>
      </p:sp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CSS Box Model</a:t>
            </a:r>
          </a:p>
        </p:txBody>
      </p:sp>
      <p:pic>
        <p:nvPicPr>
          <p:cNvPr id="34202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752600"/>
            <a:ext cx="70643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202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133600"/>
            <a:ext cx="720725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498202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Guy-Vincent Jourdan :: CSI 3140 :: based on Jeffrey C. Jackson’s slides</a:t>
            </a:r>
            <a:endParaRPr lang="en-CA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CSS Box Model</a:t>
            </a:r>
          </a:p>
        </p:txBody>
      </p:sp>
      <p:sp>
        <p:nvSpPr>
          <p:cNvPr id="348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If multiple declarations apply to a property, the last declaration overrides earlier specifications</a:t>
            </a:r>
          </a:p>
        </p:txBody>
      </p:sp>
      <p:pic>
        <p:nvPicPr>
          <p:cNvPr id="3481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178300"/>
            <a:ext cx="3833813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8165" name="Oval 5"/>
          <p:cNvSpPr>
            <a:spLocks noChangeArrowheads="1"/>
          </p:cNvSpPr>
          <p:nvPr/>
        </p:nvSpPr>
        <p:spPr bwMode="auto">
          <a:xfrm>
            <a:off x="1600200" y="4102100"/>
            <a:ext cx="3810000" cy="838200"/>
          </a:xfrm>
          <a:prstGeom prst="ellipse">
            <a:avLst/>
          </a:prstGeom>
          <a:solidFill>
            <a:srgbClr val="00808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166" name="Text Box 6"/>
          <p:cNvSpPr txBox="1">
            <a:spLocks noChangeArrowheads="1"/>
          </p:cNvSpPr>
          <p:nvPr/>
        </p:nvSpPr>
        <p:spPr bwMode="auto">
          <a:xfrm>
            <a:off x="5394325" y="4291013"/>
            <a:ext cx="2736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80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8080"/>
                </a:solidFill>
              </a:rPr>
              <a:t>Left border is 30px wide, </a:t>
            </a:r>
          </a:p>
          <a:p>
            <a:r>
              <a:rPr lang="en-US" dirty="0">
                <a:solidFill>
                  <a:srgbClr val="008080"/>
                </a:solidFill>
              </a:rPr>
              <a:t>inset style, and red</a:t>
            </a:r>
          </a:p>
        </p:txBody>
      </p:sp>
    </p:spTree>
    <p:extLst>
      <p:ext uri="{BB962C8B-B14F-4D97-AF65-F5344CB8AC3E}">
        <p14:creationId xmlns:p14="http://schemas.microsoft.com/office/powerpoint/2010/main" val="21331775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Guy-Vincent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Jourdan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:: CSI 3140 :: based on Jeffrey C. Jackson’s slides</a:t>
            </a:r>
            <a:endParaRPr lang="en-CA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Backgrounds</a:t>
            </a:r>
          </a:p>
        </p:txBody>
      </p:sp>
      <p:sp>
        <p:nvSpPr>
          <p:cNvPr id="34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hlink"/>
                </a:solidFill>
                <a:latin typeface="Lucida Sans Typewriter" pitchFamily="49" charset="0"/>
              </a:rPr>
              <a:t>background-color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Specifies background color for content, padding, and border areas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Margin area is always transparent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Not inherited; initial value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Sans Typewriter" pitchFamily="49" charset="0"/>
              </a:rPr>
              <a:t>transparent</a:t>
            </a:r>
          </a:p>
          <a:p>
            <a:r>
              <a:rPr lang="en-US" dirty="0">
                <a:solidFill>
                  <a:schemeClr val="hlink"/>
                </a:solidFill>
                <a:latin typeface="Lucida Sans Typewriter" pitchFamily="49" charset="0"/>
              </a:rPr>
              <a:t>background-image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Specifies (using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Lucida Sans Typewriter" pitchFamily="49" charset="0"/>
              </a:rPr>
              <a:t>url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Lucida Sans Typewriter" pitchFamily="49" charset="0"/>
              </a:rPr>
              <a:t>()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function) image that will be tiled over an element</a:t>
            </a:r>
          </a:p>
        </p:txBody>
      </p:sp>
    </p:spTree>
    <p:extLst>
      <p:ext uri="{BB962C8B-B14F-4D97-AF65-F5344CB8AC3E}">
        <p14:creationId xmlns:p14="http://schemas.microsoft.com/office/powerpoint/2010/main" val="376519765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1851</TotalTime>
  <Words>3640</Words>
  <Application>Microsoft Office PowerPoint</Application>
  <PresentationFormat>On-screen Show (4:3)</PresentationFormat>
  <Paragraphs>856</Paragraphs>
  <Slides>116</Slides>
  <Notes>49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116</vt:i4>
      </vt:variant>
    </vt:vector>
  </HeadingPairs>
  <TitlesOfParts>
    <vt:vector size="119" baseType="lpstr">
      <vt:lpstr>Default Design</vt:lpstr>
      <vt:lpstr>Image</vt:lpstr>
      <vt:lpstr>Bitmap Image</vt:lpstr>
      <vt:lpstr>PowerPoint Presentation</vt:lpstr>
      <vt:lpstr>PowerPoint Presentation</vt:lpstr>
      <vt:lpstr>What is CSS? (1)</vt:lpstr>
      <vt:lpstr>What is CSS? (2)</vt:lpstr>
      <vt:lpstr>What is CSS? (3)</vt:lpstr>
      <vt:lpstr>What is “Style”?</vt:lpstr>
      <vt:lpstr>What is “Style”?</vt:lpstr>
      <vt:lpstr>What is “Style”?</vt:lpstr>
      <vt:lpstr>What is “Style”?</vt:lpstr>
      <vt:lpstr>What is “Style”?</vt:lpstr>
      <vt:lpstr>How to write style rules (1)</vt:lpstr>
      <vt:lpstr>How to write style rules (2)</vt:lpstr>
      <vt:lpstr>How to write style rules (2)</vt:lpstr>
      <vt:lpstr>How to write style rules (3)</vt:lpstr>
      <vt:lpstr>How to write style rules (3)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CSS Syntax:  Selector Strings</vt:lpstr>
      <vt:lpstr>CSS Syntax: Selector Strings</vt:lpstr>
      <vt:lpstr>CSS Syntax: Selector Strings</vt:lpstr>
      <vt:lpstr>CSS Syntax:  Selector Strings</vt:lpstr>
      <vt:lpstr>CSS Syntax</vt:lpstr>
      <vt:lpstr>CSS Inheritance</vt:lpstr>
      <vt:lpstr>PowerPoint Presentation</vt:lpstr>
      <vt:lpstr>PowerPoint Presentation</vt:lpstr>
      <vt:lpstr>{ The class Selector</vt:lpstr>
      <vt:lpstr>The class Selector</vt:lpstr>
      <vt:lpstr>The class Selector</vt:lpstr>
      <vt:lpstr>The class Selector</vt:lpstr>
      <vt:lpstr>{ Text color </vt:lpstr>
      <vt:lpstr>ID Attribute</vt:lpstr>
      <vt:lpstr>PowerPoint Presentation</vt:lpstr>
      <vt:lpstr>Grouping Selectors</vt:lpstr>
      <vt:lpstr>Reset the Styling</vt:lpstr>
      <vt:lpstr>{ Grouping</vt:lpstr>
      <vt:lpstr>PowerPoint Presentation</vt:lpstr>
      <vt:lpstr>CSS Font Properties</vt:lpstr>
      <vt:lpstr>CSS Font Properties</vt:lpstr>
      <vt:lpstr>CSS Font Properties</vt:lpstr>
      <vt:lpstr>CSS Font Properties</vt:lpstr>
      <vt:lpstr>CSS Font Properties</vt:lpstr>
      <vt:lpstr>CSS Font Properties</vt:lpstr>
      <vt:lpstr>CSS Font Properties</vt:lpstr>
      <vt:lpstr>CSS Font Properties</vt:lpstr>
      <vt:lpstr>CSS Font Properties</vt:lpstr>
      <vt:lpstr>CSS Font Properties</vt:lpstr>
      <vt:lpstr>CSS Font Properties</vt:lpstr>
      <vt:lpstr>CSS Font Properties</vt:lpstr>
      <vt:lpstr>CSS Font Properties</vt:lpstr>
      <vt:lpstr>PowerPoint Presentation</vt:lpstr>
      <vt:lpstr>PowerPoint Presentation</vt:lpstr>
      <vt:lpstr>PowerPoint Presentation</vt:lpstr>
      <vt:lpstr>CSS Color Specifiers</vt:lpstr>
      <vt:lpstr>Common CSS Properties</vt:lpstr>
      <vt:lpstr>Common CSS Properties</vt:lpstr>
      <vt:lpstr>CSS Text Formatting</vt:lpstr>
      <vt:lpstr>CSS Text Color</vt:lpstr>
      <vt:lpstr>CSS Box Model</vt:lpstr>
      <vt:lpstr>CSS Box Model</vt:lpstr>
      <vt:lpstr>The CSS Box Model</vt:lpstr>
      <vt:lpstr>The CSS Box Model</vt:lpstr>
      <vt:lpstr>Margins &amp; Padding</vt:lpstr>
      <vt:lpstr>Margins &amp; Padding</vt:lpstr>
      <vt:lpstr>CSS Shorthand: Margin &amp; Padding</vt:lpstr>
      <vt:lpstr>CSS Shorthand: Margin &amp; Padding</vt:lpstr>
      <vt:lpstr>CSS Shorthand: Margin and Padding</vt:lpstr>
      <vt:lpstr>CSS Shorthand: Margin and Padding</vt:lpstr>
      <vt:lpstr>CSS Shorthand: Margin and Padding: auto</vt:lpstr>
      <vt:lpstr>{ Background:</vt:lpstr>
      <vt:lpstr>PowerPoint Presentation</vt:lpstr>
      <vt:lpstr>{Text:</vt:lpstr>
      <vt:lpstr>PowerPoint Presentation</vt:lpstr>
      <vt:lpstr>{Font:</vt:lpstr>
      <vt:lpstr>{Dimension</vt:lpstr>
      <vt:lpstr>{List:</vt:lpstr>
      <vt:lpstr>Visual Formatting: Images</vt:lpstr>
      <vt:lpstr>Visual Formatting: Images (cont.)</vt:lpstr>
      <vt:lpstr>Basic Formatting of the ‘Jump Box’</vt:lpstr>
      <vt:lpstr>Relative and Absolute Positioning</vt:lpstr>
      <vt:lpstr>Margin Styles</vt:lpstr>
      <vt:lpstr>Padding Styles</vt:lpstr>
      <vt:lpstr>Border Styles</vt:lpstr>
      <vt:lpstr>Border Styles</vt:lpstr>
      <vt:lpstr>PowerPoint Presentation</vt:lpstr>
      <vt:lpstr>PowerPoint Presentation</vt:lpstr>
      <vt:lpstr>PowerPoint Presentation</vt:lpstr>
      <vt:lpstr>Normal Flow Layout</vt:lpstr>
      <vt:lpstr>Normal Flow Layout</vt:lpstr>
      <vt:lpstr>PowerPoint Presentation</vt:lpstr>
      <vt:lpstr>PowerPoint Presentation</vt:lpstr>
      <vt:lpstr>&lt;div class=”header”&gt;Title&lt;/div&gt;</vt:lpstr>
      <vt:lpstr>Divs &lt;div&gt;</vt:lpstr>
      <vt:lpstr>PowerPoint Presentation</vt:lpstr>
      <vt:lpstr>CSS Box Model</vt:lpstr>
      <vt:lpstr>CSS Box Model</vt:lpstr>
      <vt:lpstr>CSS Box Model</vt:lpstr>
      <vt:lpstr>CSS Box Model</vt:lpstr>
      <vt:lpstr>CSS Box Model</vt:lpstr>
      <vt:lpstr>CSS Box Model</vt:lpstr>
      <vt:lpstr>CSS Box Model</vt:lpstr>
      <vt:lpstr>CSS Box Model</vt:lpstr>
      <vt:lpstr>Backgrounds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Mizanur</cp:lastModifiedBy>
  <cp:revision>388</cp:revision>
  <dcterms:created xsi:type="dcterms:W3CDTF">1601-01-01T00:00:00Z</dcterms:created>
  <dcterms:modified xsi:type="dcterms:W3CDTF">2017-08-21T10:34:42Z</dcterms:modified>
</cp:coreProperties>
</file>